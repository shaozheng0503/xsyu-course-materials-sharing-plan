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701" r:id="rId3"/>
    <p:sldMasterId id="2147483714" r:id="rId4"/>
    <p:sldMasterId id="2147483727" r:id="rId5"/>
  </p:sldMasterIdLst>
  <p:notesMasterIdLst>
    <p:notesMasterId r:id="rId112"/>
  </p:notesMasterIdLst>
  <p:sldIdLst>
    <p:sldId id="311" r:id="rId6"/>
    <p:sldId id="408" r:id="rId7"/>
    <p:sldId id="294" r:id="rId8"/>
    <p:sldId id="295" r:id="rId9"/>
    <p:sldId id="296" r:id="rId10"/>
    <p:sldId id="297" r:id="rId11"/>
    <p:sldId id="395" r:id="rId12"/>
    <p:sldId id="401" r:id="rId13"/>
    <p:sldId id="411" r:id="rId14"/>
    <p:sldId id="262" r:id="rId15"/>
    <p:sldId id="257" r:id="rId16"/>
    <p:sldId id="258" r:id="rId17"/>
    <p:sldId id="259" r:id="rId18"/>
    <p:sldId id="260" r:id="rId19"/>
    <p:sldId id="261" r:id="rId20"/>
    <p:sldId id="263" r:id="rId21"/>
    <p:sldId id="396" r:id="rId22"/>
    <p:sldId id="402" r:id="rId23"/>
    <p:sldId id="271" r:id="rId24"/>
    <p:sldId id="412" r:id="rId25"/>
    <p:sldId id="413" r:id="rId26"/>
    <p:sldId id="272" r:id="rId27"/>
    <p:sldId id="277" r:id="rId28"/>
    <p:sldId id="273" r:id="rId29"/>
    <p:sldId id="274" r:id="rId30"/>
    <p:sldId id="275" r:id="rId31"/>
    <p:sldId id="276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4694" r:id="rId44"/>
    <p:sldId id="4771" r:id="rId45"/>
    <p:sldId id="299" r:id="rId46"/>
    <p:sldId id="300" r:id="rId47"/>
    <p:sldId id="4773" r:id="rId48"/>
    <p:sldId id="4769" r:id="rId49"/>
    <p:sldId id="397" r:id="rId50"/>
    <p:sldId id="4763" r:id="rId51"/>
    <p:sldId id="4728" r:id="rId52"/>
    <p:sldId id="4772" r:id="rId53"/>
    <p:sldId id="4770" r:id="rId54"/>
    <p:sldId id="398" r:id="rId55"/>
    <p:sldId id="404" r:id="rId56"/>
    <p:sldId id="4774" r:id="rId57"/>
    <p:sldId id="4816" r:id="rId58"/>
    <p:sldId id="4792" r:id="rId59"/>
    <p:sldId id="4793" r:id="rId60"/>
    <p:sldId id="4776" r:id="rId61"/>
    <p:sldId id="4778" r:id="rId62"/>
    <p:sldId id="4779" r:id="rId63"/>
    <p:sldId id="4781" r:id="rId64"/>
    <p:sldId id="4780" r:id="rId65"/>
    <p:sldId id="4782" r:id="rId66"/>
    <p:sldId id="4783" r:id="rId67"/>
    <p:sldId id="399" r:id="rId68"/>
    <p:sldId id="405" r:id="rId69"/>
    <p:sldId id="4788" r:id="rId70"/>
    <p:sldId id="4787" r:id="rId71"/>
    <p:sldId id="4794" r:id="rId72"/>
    <p:sldId id="4790" r:id="rId73"/>
    <p:sldId id="4789" r:id="rId74"/>
    <p:sldId id="4791" r:id="rId75"/>
    <p:sldId id="4795" r:id="rId76"/>
    <p:sldId id="4796" r:id="rId77"/>
    <p:sldId id="4784" r:id="rId78"/>
    <p:sldId id="4797" r:id="rId79"/>
    <p:sldId id="4798" r:id="rId80"/>
    <p:sldId id="4646" r:id="rId81"/>
    <p:sldId id="4799" r:id="rId82"/>
    <p:sldId id="4804" r:id="rId83"/>
    <p:sldId id="4785" r:id="rId84"/>
    <p:sldId id="4800" r:id="rId85"/>
    <p:sldId id="4802" r:id="rId86"/>
    <p:sldId id="4803" r:id="rId87"/>
    <p:sldId id="4786" r:id="rId88"/>
    <p:sldId id="4805" r:id="rId89"/>
    <p:sldId id="4806" r:id="rId90"/>
    <p:sldId id="400" r:id="rId91"/>
    <p:sldId id="407" r:id="rId92"/>
    <p:sldId id="4629" r:id="rId93"/>
    <p:sldId id="4807" r:id="rId94"/>
    <p:sldId id="4809" r:id="rId95"/>
    <p:sldId id="4808" r:id="rId96"/>
    <p:sldId id="4810" r:id="rId97"/>
    <p:sldId id="4811" r:id="rId98"/>
    <p:sldId id="4815" r:id="rId99"/>
    <p:sldId id="4812" r:id="rId100"/>
    <p:sldId id="4643" r:id="rId101"/>
    <p:sldId id="4644" r:id="rId102"/>
    <p:sldId id="4814" r:id="rId103"/>
    <p:sldId id="4647" r:id="rId104"/>
    <p:sldId id="4713" r:id="rId105"/>
    <p:sldId id="4652" r:id="rId106"/>
    <p:sldId id="4653" r:id="rId107"/>
    <p:sldId id="4654" r:id="rId108"/>
    <p:sldId id="4655" r:id="rId109"/>
    <p:sldId id="4656" r:id="rId110"/>
    <p:sldId id="4657" r:id="rId11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83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19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1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113" Type="http://schemas.openxmlformats.org/officeDocument/2006/relationships/presProps" Target="presProps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slide" Target="slides/slide103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14" Type="http://schemas.openxmlformats.org/officeDocument/2006/relationships/viewProps" Target="viewProp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slide" Target="slides/slide10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slide" Target="slides/slide105.xml"/><Relationship Id="rId115" Type="http://schemas.openxmlformats.org/officeDocument/2006/relationships/theme" Target="theme/theme1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116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slide" Target="slides/slide106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4A0E2-0F15-49C5-9760-D805F94D1079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F5187D-4AAE-4AFB-AA31-8C38C5527A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941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5187D-4AAE-4AFB-AA31-8C38C5527AD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56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D768687-1ABF-46C5-A866-CB270343AD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54A408-AC5E-495C-8E79-DD3BBC5479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FFB0D99-F0DF-46C8-AAD9-A6F99CA960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ADB986-2EF7-42A5-AE27-5C18358CB0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0865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766055-30ED-4242-BC4C-79BEE8FB05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73B512-FF20-44C2-BA24-709FB72C00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FB3E826-6486-4142-A3E4-C28A4C6289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A97176-5438-4CE8-A9CC-0F116836B7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6757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CA7456-3E80-49DF-B1EF-AAA625D503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A47026-EB70-46CB-BD8A-1DFDA13281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D8958BE-DB9C-4B5A-937B-010B733ED0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542079-0342-431F-AA2B-C9001D5B5C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8836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C6AD25-5DD5-48E2-BFE8-83E54394C3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5E04EC-D0C0-45F9-8580-8950FCE413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722E2A-EC7C-49EA-ABFC-678DC40F04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9EC235-FAC1-4D5D-8ED6-F1DF59D845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2051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4E3490E-5E0A-402E-876F-154CDB210D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051F1C5-2E3D-4704-B8AA-B4728A95A9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19EC9EE-0F49-44DC-9B6B-75F7879EE3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C5B9AC-273C-4F55-9000-64FD096C99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511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2056B4F-FF0C-4481-B61A-3F04061214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5DD183D-659C-42D0-9FE5-9C47104E38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9C00B32-F60C-48BF-B716-1968C7ED98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EA0F32-0AF7-4C5F-8F09-F288A92521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145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6FFCE03-66C7-4DDC-B138-B4AB3CF48D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9B03627-FE65-4AA3-91BE-8D064DB40D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513CD95-11A9-4B66-AA79-DD0B84FF42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C0FAEA-4796-4162-804F-9CDC2FEEF6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3665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D96A58-A4FA-4B3D-BD37-3FF5015F92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0F6BC6-E015-4DAF-99A0-EE1BCFBFE7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BC7232-FBC7-4E99-B396-5A25F53F72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D5710-33C3-40CD-A616-7DA6737781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5301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1858BD-C1C6-4105-BD7B-D264299CE2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577C43-D463-4D7B-98F0-D088A0351B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DB1B6F-CFF0-4789-A089-30392C5133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D06D53-E054-496C-B7B6-07AF3BF916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0520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567467-07CD-431B-8A96-294BD989BC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F69B7B3-6DA1-4BAF-81F3-0A6CB7D9B8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BFE42AF-BA70-4B03-A0D0-E842A2F0CB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2F8DB6-6684-495F-BD04-030033912C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5068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8CD9D3-95C7-42EF-B0C0-DE5102628C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B104E41-0CFA-4FC7-9C90-B381E40EE2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57B610-09D8-4D3F-AB90-5FD7EB7A5A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314043-E944-48EB-9F0A-4F843AF73F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39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404181D-FF9C-4F54-A430-8B4F9F0139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660F22D-D9D8-45D4-B1B5-3A98D883C6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D0F6A0D-E45A-4ECF-88CC-67F2560B79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C01B1A-2EC6-4083-A73B-241AC272E8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6079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4FBBD8-88B4-4363-8591-7BEBF73938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6D39E7C-142E-40A6-96DB-05B5383692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EE74C6-3FF7-427A-B0E9-A7126322CA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226CFB-9519-4635-9254-0A6B247648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4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小节-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>
            <a:lvl1pPr marL="342900" indent="-342900">
              <a:buFont typeface="Wingdings" panose="05000000000000000000" pitchFamily="2" charset="2"/>
              <a:buChar char="Ø"/>
              <a:defRPr/>
            </a:lvl1pPr>
            <a:lvl4pPr marL="1600200" indent="-228600">
              <a:buFont typeface="Wingdings" panose="05000000000000000000" pitchFamily="2" charset="2"/>
              <a:buChar char="ü"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7AFD3C3-5EB0-4E3F-B142-59C41ED8B8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FDFB5F-CD1F-4A99-8459-C783924656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5C425B-2DF9-4B45-9C1D-BA0BD05565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2B25641-F2A2-4B0F-B688-1B058DFB81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18232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正文2-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7812360" cy="731837"/>
          </a:xfrm>
        </p:spPr>
        <p:txBody>
          <a:bodyPr/>
          <a:lstStyle>
            <a:lvl1pPr algn="l">
              <a:defRPr sz="36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836712"/>
            <a:ext cx="8712968" cy="5184576"/>
          </a:xfrm>
        </p:spPr>
        <p:txBody>
          <a:bodyPr/>
          <a:lstStyle>
            <a:lvl1pPr marL="457200" indent="-457200">
              <a:buClr>
                <a:srgbClr val="FF0000"/>
              </a:buClr>
              <a:buFont typeface="Wingdings" panose="05000000000000000000" pitchFamily="2" charset="2"/>
              <a:buChar char="n"/>
              <a:defRPr/>
            </a:lvl1pPr>
            <a:lvl2pPr marL="742950" indent="-285750">
              <a:buFont typeface="Wingdings" panose="05000000000000000000" pitchFamily="2" charset="2"/>
              <a:buChar char="Ø"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EB6F41B-A81B-4D1F-9A8B-6F69BC718E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B0A015-ECFE-406C-85B9-2BEB0CD8A2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4684AB3-0847-4673-B075-8C7A23A8DA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0580AE-9D0E-4AC4-B1B6-E2913CFC483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92132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94E6AD5-FC2B-4FBE-8478-C662F7C142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AC4B18-5EDF-4829-B23A-EB24424D40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45ABEB8-0E53-47D0-8E99-43BC0BA966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DFD1D5-5D41-4139-8EB8-2D6F0670A1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9310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8CC746-61C9-4E0F-B703-41A886E4F5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CDCEB1-1791-43CF-B177-F791039274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802ABD-FCB8-41C3-8290-668B3D0456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2E1ABE-1361-46BB-9EF5-DA397223BB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01476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EE8EA74-20D8-4251-97E9-E8115A4206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34006B4-2B5D-4B99-9CA9-A711CCE2A6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1D0CC36-28C4-4E03-8E78-CA673C5063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39F520-F4AB-47E3-BC46-CC16A8F529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76942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250284E-9487-4BFE-9C13-BF26B6D8EF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EAD162C-70AC-4C8E-956E-D9C70EF134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12280AE-73F7-4F7E-A6F5-FE45145ACA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68A78A-875D-420B-A41B-AE57F17F42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83825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1F30A62-AA20-4C75-B205-02E51ACFE1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7578626-7156-4772-83C9-A771B14466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0F15309-607A-4CC2-93D3-74710D4E99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308290-9AF1-45A1-AAD4-C7147C0012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10365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343EB4-3679-4C51-B01C-8CC95A23CE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43DF15-D9D1-4290-90FB-D91AE17849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AF6723-B2CD-4E6A-BE7C-9D1FDFD1FB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A42F19-F432-4480-9A0E-DE9CA3598B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98252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BEFE73-C61D-494B-AD57-F68D1EC6C0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7FD4C5-5823-4CEB-91FE-0ECF7EFAE3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BFF0F9-D7D1-49B5-AB74-7311601F70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F5174-03A2-4AA2-8DEC-FE7B5CBE5F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03151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3FC0ADC-BA1F-48B0-A6CA-F9DD2D175F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DCFB771-A613-41D2-8E73-E5BD612B2F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191060D-8F88-4601-AFC8-31986C3788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0EE2A3-4E75-4C9F-8B4C-D242517736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36027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EA549AD-3448-476D-87DC-0608FCD28F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7A79870-C127-43CB-9856-6992D6BADF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2FDB8FF-CFC0-4CE7-AF19-8190421ACB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E9DCD3-FC76-4009-AA42-81BDA18646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33561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1929D4-0B01-40B6-B57E-D6FF21F0E3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834BC1-7D1D-4B5A-B339-3CFE811185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D462DC-5806-4BF6-85B8-4766DFC913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F12487-856F-4146-9DDE-B89E46C013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64358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8701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5867" y="257615"/>
            <a:ext cx="3911896" cy="617641"/>
          </a:xfrm>
        </p:spPr>
        <p:txBody>
          <a:bodyPr>
            <a:normAutofit/>
          </a:bodyPr>
          <a:lstStyle>
            <a:lvl1pPr>
              <a:defRPr sz="21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365867" y="942764"/>
            <a:ext cx="7886699" cy="5637024"/>
          </a:xfrm>
          <a:prstGeom prst="rect">
            <a:avLst/>
          </a:prstGeom>
        </p:spPr>
        <p:txBody>
          <a:bodyPr/>
          <a:lstStyle>
            <a:lvl1pPr marL="257175" indent="-257175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  <a:defRPr sz="19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-2667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  <a:defRPr sz="15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857250" indent="-171450" algn="just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ü"/>
              <a:defRPr sz="15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just">
              <a:lnSpc>
                <a:spcPct val="150000"/>
              </a:lnSpc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just">
              <a:lnSpc>
                <a:spcPct val="150000"/>
              </a:lnSpc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83732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2586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2091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0698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4443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849132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8313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1246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6508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7839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DA9CF-03F6-42E8-909A-D8D840B3AC4D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504D-74F3-442C-BEA0-A4B04CBF96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8577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2687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3-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5867" y="257615"/>
            <a:ext cx="7886700" cy="617641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365867" y="942764"/>
            <a:ext cx="7886699" cy="5637024"/>
          </a:xfrm>
          <a:prstGeom prst="rect">
            <a:avLst/>
          </a:prstGeom>
        </p:spPr>
        <p:txBody>
          <a:bodyPr/>
          <a:lstStyle>
            <a:lvl1pPr marL="257175" indent="-257175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-2667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  <a:defRPr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857250" indent="-171450" algn="just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ü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just">
              <a:lnSpc>
                <a:spcPct val="150000"/>
              </a:lnSpc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just">
              <a:lnSpc>
                <a:spcPct val="150000"/>
              </a:lnSpc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82000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7775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7233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6849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05531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306852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4126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1190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63339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4469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DA9CF-03F6-42E8-909A-D8D840B3AC4D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504D-74F3-442C-BEA0-A4B04CBF96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8033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36846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5867" y="257615"/>
            <a:ext cx="7886700" cy="617641"/>
          </a:xfrm>
        </p:spPr>
        <p:txBody>
          <a:bodyPr>
            <a:normAutofit/>
          </a:bodyPr>
          <a:lstStyle>
            <a:lvl1pPr>
              <a:defRPr sz="21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365867" y="942764"/>
            <a:ext cx="7886699" cy="5637024"/>
          </a:xfrm>
          <a:prstGeom prst="rect">
            <a:avLst/>
          </a:prstGeom>
        </p:spPr>
        <p:txBody>
          <a:bodyPr/>
          <a:lstStyle>
            <a:lvl1pPr marL="257175" indent="-257175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  <a:defRPr sz="19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-2667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  <a:defRPr sz="15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857250" indent="-171450" algn="just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ü"/>
              <a:defRPr sz="15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just">
              <a:lnSpc>
                <a:spcPct val="150000"/>
              </a:lnSpc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just">
              <a:lnSpc>
                <a:spcPct val="150000"/>
              </a:lnSpc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88307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9441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92288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8393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19366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10228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45173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68453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39681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15087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DA9CF-03F6-42E8-909A-D8D840B3AC4D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504D-74F3-442C-BEA0-A4B04CBF96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74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1A1D737-149B-47F0-9980-0FDD46505C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3CC9581-C191-438E-B635-AB1DD3D70A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AF4BDF-7608-425D-81C3-4BAD64CCCF4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1064D35-62DC-4C47-8596-F12A229FAD6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5FF7153-F4CB-470E-9EC1-6357CF8E6D0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4D13906C-C8B9-411D-95A0-8C7385A597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410199D-127C-46D8-A825-EAB3107506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B8E03C3-08F8-4264-885B-13989D0A78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A5DDBC9-CDC5-473C-B0D7-D7A228EFD24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1B4BE29-6975-4861-BB88-7501EF57B91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40A5E26-58E4-46C5-A2CA-EED4963C649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6D95C57-D4F8-4D92-BF1C-CECC37103D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0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610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44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210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7" Type="http://schemas.openxmlformats.org/officeDocument/2006/relationships/slide" Target="slide87.xml"/><Relationship Id="rId2" Type="http://schemas.openxmlformats.org/officeDocument/2006/relationships/slide" Target="slide8.xml"/><Relationship Id="rId1" Type="http://schemas.openxmlformats.org/officeDocument/2006/relationships/slideLayout" Target="../slideLayouts/slideLayout15.xml"/><Relationship Id="rId6" Type="http://schemas.openxmlformats.org/officeDocument/2006/relationships/slide" Target="slide64.xml"/><Relationship Id="rId5" Type="http://schemas.openxmlformats.org/officeDocument/2006/relationships/slide" Target="slide51.xml"/><Relationship Id="rId4" Type="http://schemas.openxmlformats.org/officeDocument/2006/relationships/slide" Target="slide4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slideLayout" Target="../slideLayouts/slideLayout1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slideLayout" Target="../slideLayouts/slideLayout1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D4FBB3E-ED7A-45CF-9EDF-D6F6BC61E1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algn="ctr" eaLnBrk="1" hangingPunct="1"/>
            <a:r>
              <a:rPr lang="zh-CN" altLang="en-US" b="1"/>
              <a:t>第</a:t>
            </a:r>
            <a:r>
              <a:rPr lang="en-US" altLang="zh-CN" b="1"/>
              <a:t>5</a:t>
            </a:r>
            <a:r>
              <a:rPr lang="zh-CN" altLang="en-US" b="1"/>
              <a:t>章 指令系统</a:t>
            </a:r>
          </a:p>
        </p:txBody>
      </p:sp>
      <p:sp>
        <p:nvSpPr>
          <p:cNvPr id="4099" name="内容占位符 1">
            <a:extLst>
              <a:ext uri="{FF2B5EF4-FFF2-40B4-BE49-F238E27FC236}">
                <a16:creationId xmlns:a16="http://schemas.microsoft.com/office/drawing/2014/main" id="{4C1ACEFE-A55B-48FB-91A9-3906A3E66A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23975" y="1549400"/>
            <a:ext cx="7450138" cy="4525963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5.1</a:t>
            </a:r>
            <a:r>
              <a:rPr lang="zh-CN" altLang="en-US" dirty="0"/>
              <a:t>指令系统概述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hlinkClick r:id="rId2" action="ppaction://hlinksldjump"/>
              </a:rPr>
              <a:t>5.2 </a:t>
            </a:r>
            <a:r>
              <a:rPr lang="zh-CN" altLang="en-US" dirty="0">
                <a:hlinkClick r:id="rId2" action="ppaction://hlinksldjump"/>
              </a:rPr>
              <a:t>指令的格式 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hlinkClick r:id="rId3" action="ppaction://hlinksldjump"/>
              </a:rPr>
              <a:t>5.3</a:t>
            </a:r>
            <a:r>
              <a:rPr lang="zh-CN" altLang="en-US" dirty="0">
                <a:hlinkClick r:id="rId3" action="ppaction://hlinksldjump"/>
              </a:rPr>
              <a:t>寻址方式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hlinkClick r:id="rId4" action="ppaction://hlinksldjump"/>
              </a:rPr>
              <a:t>5.4 </a:t>
            </a:r>
            <a:r>
              <a:rPr lang="zh-CN" altLang="en-US" dirty="0">
                <a:hlinkClick r:id="rId4" action="ppaction://hlinksldjump"/>
              </a:rPr>
              <a:t>指令的分类 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hlinkClick r:id="rId5" action="ppaction://hlinksldjump"/>
              </a:rPr>
              <a:t>5.5 MIPS32</a:t>
            </a:r>
            <a:r>
              <a:rPr lang="zh-CN" altLang="en-US" dirty="0">
                <a:hlinkClick r:id="rId5" action="ppaction://hlinksldjump"/>
              </a:rPr>
              <a:t>指令简介 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hlinkClick r:id="rId6" action="ppaction://hlinksldjump"/>
              </a:rPr>
              <a:t>5.6</a:t>
            </a:r>
            <a:r>
              <a:rPr lang="zh-CN" altLang="en-US" dirty="0">
                <a:hlinkClick r:id="rId6" action="ppaction://hlinksldjump"/>
              </a:rPr>
              <a:t>常用</a:t>
            </a:r>
            <a:r>
              <a:rPr lang="en-US" altLang="zh-CN" dirty="0">
                <a:hlinkClick r:id="rId6" action="ppaction://hlinksldjump"/>
              </a:rPr>
              <a:t>MIPS</a:t>
            </a:r>
            <a:r>
              <a:rPr lang="zh-CN" altLang="en-US" dirty="0">
                <a:hlinkClick r:id="rId6" action="ppaction://hlinksldjump"/>
              </a:rPr>
              <a:t>汇编指令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hlinkClick r:id="rId7" action="ppaction://hlinksldjump"/>
              </a:rPr>
              <a:t>5.7 MISP</a:t>
            </a:r>
            <a:r>
              <a:rPr lang="zh-CN" altLang="en-US" dirty="0">
                <a:hlinkClick r:id="rId7" action="ppaction://hlinksldjump"/>
              </a:rPr>
              <a:t>指令与</a:t>
            </a:r>
            <a:r>
              <a:rPr lang="en-US" altLang="zh-CN" dirty="0">
                <a:hlinkClick r:id="rId7" action="ppaction://hlinksldjump"/>
              </a:rPr>
              <a:t>C</a:t>
            </a:r>
            <a:r>
              <a:rPr lang="zh-CN" altLang="en-US" dirty="0">
                <a:hlinkClick r:id="rId7" action="ppaction://hlinksldjump"/>
              </a:rPr>
              <a:t>语言程序的关系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D67CA4-03D2-4867-8379-5DE67C6D1C43}"/>
              </a:ext>
            </a:extLst>
          </p:cNvPr>
          <p:cNvSpPr/>
          <p:nvPr/>
        </p:nvSpPr>
        <p:spPr>
          <a:xfrm>
            <a:off x="1323975" y="1484313"/>
            <a:ext cx="3216275" cy="58578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200" kern="0" dirty="0">
                <a:solidFill>
                  <a:srgbClr val="000000"/>
                </a:solidFill>
              </a:rPr>
              <a:t>5.1</a:t>
            </a:r>
            <a:r>
              <a:rPr lang="zh-CN" altLang="en-US" sz="3200" kern="0" dirty="0">
                <a:solidFill>
                  <a:srgbClr val="000000"/>
                </a:solidFill>
              </a:rPr>
              <a:t>指令系统概述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FB1BD27-879A-45F1-9E74-691D644B3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</a:t>
            </a:r>
            <a:r>
              <a:rPr lang="zh-CN" altLang="en-US" dirty="0"/>
              <a:t>指令系统概述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11E7D50-BED7-4BAA-A25D-3A56A45B0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836712"/>
            <a:ext cx="8712968" cy="5760640"/>
          </a:xfrm>
        </p:spPr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基本概念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zh-CN" dirty="0">
                <a:solidFill>
                  <a:srgbClr val="FF0000"/>
                </a:solidFill>
              </a:rPr>
              <a:t>指令</a:t>
            </a:r>
            <a:r>
              <a:rPr lang="zh-CN" altLang="en-US" dirty="0"/>
              <a:t>：</a:t>
            </a:r>
            <a:r>
              <a:rPr lang="zh-CN" altLang="zh-CN" dirty="0"/>
              <a:t>是指示计算机硬件执行某项运算或操作的命令，是由二进制代码表示的。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zh-CN" dirty="0">
                <a:solidFill>
                  <a:srgbClr val="FF0000"/>
                </a:solidFill>
              </a:rPr>
              <a:t>指令系统</a:t>
            </a:r>
            <a:r>
              <a:rPr lang="zh-CN" altLang="en-US" dirty="0"/>
              <a:t>：</a:t>
            </a:r>
            <a:r>
              <a:rPr lang="zh-CN" altLang="zh-CN" dirty="0"/>
              <a:t>一台计算机能够识别的所有指令的集合。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程序</a:t>
            </a:r>
            <a:r>
              <a:rPr lang="zh-CN" altLang="en-US" dirty="0"/>
              <a:t>：</a:t>
            </a:r>
            <a:r>
              <a:rPr lang="zh-CN" altLang="zh-CN" dirty="0"/>
              <a:t>完成某种特定功能的指令的有序集合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5165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CBD07667-AAD4-47ED-9806-A70877340F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pPr algn="l" eaLnBrk="1" hangingPunct="1"/>
            <a:r>
              <a:rPr lang="en-US" altLang="zh-CN" sz="3600" dirty="0">
                <a:solidFill>
                  <a:srgbClr val="FF0000"/>
                </a:solidFill>
              </a:rPr>
              <a:t>5.1</a:t>
            </a:r>
            <a:r>
              <a:rPr lang="zh-CN" altLang="en-US" sz="3600" dirty="0">
                <a:solidFill>
                  <a:srgbClr val="FF0000"/>
                </a:solidFill>
              </a:rPr>
              <a:t>指令系统概述</a:t>
            </a:r>
            <a:endParaRPr lang="zh-CN" altLang="en-US" b="1" dirty="0"/>
          </a:p>
        </p:txBody>
      </p:sp>
      <p:sp>
        <p:nvSpPr>
          <p:cNvPr id="41987" name="Text Box 3">
            <a:extLst>
              <a:ext uri="{FF2B5EF4-FFF2-40B4-BE49-F238E27FC236}">
                <a16:creationId xmlns:a16="http://schemas.microsoft.com/office/drawing/2014/main" id="{FD641B11-B4F3-4CC9-BEA9-4BB67D6DD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173163"/>
            <a:ext cx="46482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指令系统发展 </a:t>
            </a:r>
          </a:p>
        </p:txBody>
      </p:sp>
      <p:sp>
        <p:nvSpPr>
          <p:cNvPr id="41988" name="Text Box 4">
            <a:extLst>
              <a:ext uri="{FF2B5EF4-FFF2-40B4-BE49-F238E27FC236}">
                <a16:creationId xmlns:a16="http://schemas.microsoft.com/office/drawing/2014/main" id="{5E40EE35-FCE1-4A48-A735-4B2EF227F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016250"/>
            <a:ext cx="2943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80 — 20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规律</a:t>
            </a:r>
          </a:p>
        </p:txBody>
      </p:sp>
      <p:sp>
        <p:nvSpPr>
          <p:cNvPr id="41989" name="Text Box 5">
            <a:extLst>
              <a:ext uri="{FF2B5EF4-FFF2-40B4-BE49-F238E27FC236}">
                <a16:creationId xmlns:a16="http://schemas.microsoft.com/office/drawing/2014/main" id="{31BFC411-3F98-4DA4-A0F7-D962BE4E5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549650"/>
            <a:ext cx="5867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典型程序中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80%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的语句仅仅使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用处理机中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20%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的指令</a:t>
            </a:r>
          </a:p>
        </p:txBody>
      </p:sp>
      <p:sp>
        <p:nvSpPr>
          <p:cNvPr id="41990" name="Text Box 6">
            <a:extLst>
              <a:ext uri="{FF2B5EF4-FFF2-40B4-BE49-F238E27FC236}">
                <a16:creationId xmlns:a16="http://schemas.microsoft.com/office/drawing/2014/main" id="{FC8E2056-CE13-499B-BF29-137B2F480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572000"/>
            <a:ext cx="7543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执行频度高的简单指令，因复杂指令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的存在，执行速度无法提高</a:t>
            </a:r>
          </a:p>
        </p:txBody>
      </p:sp>
      <p:sp>
        <p:nvSpPr>
          <p:cNvPr id="41991" name="Text Box 7">
            <a:extLst>
              <a:ext uri="{FF2B5EF4-FFF2-40B4-BE49-F238E27FC236}">
                <a16:creationId xmlns:a16="http://schemas.microsoft.com/office/drawing/2014/main" id="{F2F0D8E3-BAA7-4DA2-ADE8-1232F8F41F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879600"/>
            <a:ext cx="6092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RISC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Reduced Instruction Set Computer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41992" name="Text Box 8">
            <a:extLst>
              <a:ext uri="{FF2B5EF4-FFF2-40B4-BE49-F238E27FC236}">
                <a16:creationId xmlns:a16="http://schemas.microsoft.com/office/drawing/2014/main" id="{7501957D-6F82-4270-87A7-A2B4A3706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427288"/>
            <a:ext cx="6126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CISC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Complex Instruction Set Computer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41993" name="Text Box 9">
            <a:extLst>
              <a:ext uri="{FF2B5EF4-FFF2-40B4-BE49-F238E27FC236}">
                <a16:creationId xmlns:a16="http://schemas.microsoft.com/office/drawing/2014/main" id="{EF7AA948-6F5C-450A-866A-C5CA5505C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0075" y="3016250"/>
            <a:ext cx="2549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—— RISC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技术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6762ACF0-F4F5-4B8E-B340-D207AF74EB01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5454650"/>
            <a:ext cx="8153400" cy="1054100"/>
            <a:chOff x="432" y="3436"/>
            <a:chExt cx="5136" cy="664"/>
          </a:xfrm>
        </p:grpSpPr>
        <p:sp>
          <p:nvSpPr>
            <p:cNvPr id="69644" name="Text Box 11">
              <a:extLst>
                <a:ext uri="{FF2B5EF4-FFF2-40B4-BE49-F238E27FC236}">
                  <a16:creationId xmlns:a16="http://schemas.microsoft.com/office/drawing/2014/main" id="{783237DE-64EA-4FD6-BECB-1E5C6836A8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504"/>
              <a:ext cx="5136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</a:t>
              </a:r>
              <a:r>
                <a:rPr kumimoji="1" lang="en-US" altLang="zh-CN" sz="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能否用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20%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的简单指令组合不常用的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80%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的指令功能</a:t>
              </a:r>
            </a:p>
          </p:txBody>
        </p:sp>
        <p:sp>
          <p:nvSpPr>
            <p:cNvPr id="69645" name="Text Box 12">
              <a:extLst>
                <a:ext uri="{FF2B5EF4-FFF2-40B4-BE49-F238E27FC236}">
                  <a16:creationId xmlns:a16="http://schemas.microsoft.com/office/drawing/2014/main" id="{1CF263FF-2B58-4677-9D27-ED18B5D7F1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436"/>
              <a:ext cx="40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6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4209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1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autoUpdateAnimBg="0"/>
      <p:bldP spid="41988" grpId="0" autoUpdateAnimBg="0"/>
      <p:bldP spid="41989" grpId="0" autoUpdateAnimBg="0"/>
      <p:bldP spid="41990" grpId="0" autoUpdateAnimBg="0"/>
      <p:bldP spid="41991" grpId="0" autoUpdateAnimBg="0"/>
      <p:bldP spid="41992" grpId="0" autoUpdateAnimBg="0"/>
      <p:bldP spid="4199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2">
            <a:extLst>
              <a:ext uri="{FF2B5EF4-FFF2-40B4-BE49-F238E27FC236}">
                <a16:creationId xmlns:a16="http://schemas.microsoft.com/office/drawing/2014/main" id="{F380C373-4E07-423B-A443-252397D1E6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25450"/>
            <a:ext cx="55594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3.RISC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的主要特征 </a:t>
            </a:r>
          </a:p>
        </p:txBody>
      </p:sp>
      <p:sp>
        <p:nvSpPr>
          <p:cNvPr id="43011" name="Text Box 3">
            <a:extLst>
              <a:ext uri="{FF2B5EF4-FFF2-40B4-BE49-F238E27FC236}">
                <a16:creationId xmlns:a16="http://schemas.microsoft.com/office/drawing/2014/main" id="{1395D5AA-A2B1-43B6-B6FD-1EDB5DE94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371600"/>
            <a:ext cx="6705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选用使用频度较高的一些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简单指令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复杂指令的功能由简单指令来组合</a:t>
            </a:r>
          </a:p>
        </p:txBody>
      </p:sp>
      <p:sp>
        <p:nvSpPr>
          <p:cNvPr id="43012" name="Text Box 4">
            <a:extLst>
              <a:ext uri="{FF2B5EF4-FFF2-40B4-BE49-F238E27FC236}">
                <a16:creationId xmlns:a16="http://schemas.microsoft.com/office/drawing/2014/main" id="{7F42E87F-9CA8-4D1D-894F-2B9DFCE6D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519363"/>
            <a:ext cx="845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长度固定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指令格式种类少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寻址方式少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3" name="Text Box 5">
            <a:extLst>
              <a:ext uri="{FF2B5EF4-FFF2-40B4-BE49-F238E27FC236}">
                <a16:creationId xmlns:a16="http://schemas.microsoft.com/office/drawing/2014/main" id="{2A4123F2-DA39-442A-A14C-66DC54F6F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192463"/>
            <a:ext cx="556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只有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LOAD / STORE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指令访存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4" name="Text Box 6">
            <a:extLst>
              <a:ext uri="{FF2B5EF4-FFF2-40B4-BE49-F238E27FC236}">
                <a16:creationId xmlns:a16="http://schemas.microsoft.com/office/drawing/2014/main" id="{598F5B8C-D3EB-4F8B-8E77-104B8DCA0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540250"/>
            <a:ext cx="84597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采用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流水技术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一个时钟周期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内完成一条指令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5" name="Text Box 7">
            <a:extLst>
              <a:ext uri="{FF2B5EF4-FFF2-40B4-BE49-F238E27FC236}">
                <a16:creationId xmlns:a16="http://schemas.microsoft.com/office/drawing/2014/main" id="{ED4071EB-CBF4-42F6-B4CA-2C3786196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213350"/>
            <a:ext cx="6624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采用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组合逻辑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实现控制器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016" name="Text Box 8">
            <a:extLst>
              <a:ext uri="{FF2B5EF4-FFF2-40B4-BE49-F238E27FC236}">
                <a16:creationId xmlns:a16="http://schemas.microsoft.com/office/drawing/2014/main" id="{B8B3E780-809F-4D63-B438-60CE98F1D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865563"/>
            <a:ext cx="6334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CPU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中有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多个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通用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寄存器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017" name="Text Box 9">
            <a:extLst>
              <a:ext uri="{FF2B5EF4-FFF2-40B4-BE49-F238E27FC236}">
                <a16:creationId xmlns:a16="http://schemas.microsoft.com/office/drawing/2014/main" id="{FC32E7B6-73C2-4475-A16C-47D9B3D5F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888038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采用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优化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编译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程序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733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autoUpdateAnimBg="0"/>
      <p:bldP spid="43012" grpId="0" autoUpdateAnimBg="0"/>
      <p:bldP spid="43013" grpId="0" autoUpdateAnimBg="0"/>
      <p:bldP spid="43014" grpId="0" autoUpdateAnimBg="0"/>
      <p:bldP spid="43015" grpId="0" autoUpdateAnimBg="0"/>
      <p:bldP spid="43016" grpId="0" autoUpdateAnimBg="0"/>
      <p:bldP spid="4301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2">
            <a:extLst>
              <a:ext uri="{FF2B5EF4-FFF2-40B4-BE49-F238E27FC236}">
                <a16:creationId xmlns:a16="http://schemas.microsoft.com/office/drawing/2014/main" id="{4DF9BB44-31A4-4BC7-847D-8187D7688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25450"/>
            <a:ext cx="55594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4.CISC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的主要特征 </a:t>
            </a:r>
          </a:p>
        </p:txBody>
      </p:sp>
      <p:sp>
        <p:nvSpPr>
          <p:cNvPr id="44035" name="Text Box 3">
            <a:extLst>
              <a:ext uri="{FF2B5EF4-FFF2-40B4-BE49-F238E27FC236}">
                <a16:creationId xmlns:a16="http://schemas.microsoft.com/office/drawing/2014/main" id="{2EF67928-9B20-4804-A0C3-F588E6FDD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481138"/>
            <a:ext cx="8134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系统指令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复杂庞大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，各种指令使用频度相差大</a:t>
            </a:r>
          </a:p>
        </p:txBody>
      </p:sp>
      <p:sp>
        <p:nvSpPr>
          <p:cNvPr id="44036" name="Text Box 4">
            <a:extLst>
              <a:ext uri="{FF2B5EF4-FFF2-40B4-BE49-F238E27FC236}">
                <a16:creationId xmlns:a16="http://schemas.microsoft.com/office/drawing/2014/main" id="{3C191A36-684F-430E-97E3-88F8E6A61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65363"/>
            <a:ext cx="845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长度不固定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指令格式种类多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寻址方式多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7" name="Text Box 5">
            <a:extLst>
              <a:ext uri="{FF2B5EF4-FFF2-40B4-BE49-F238E27FC236}">
                <a16:creationId xmlns:a16="http://schemas.microsoft.com/office/drawing/2014/main" id="{D7ADB7A4-4BD1-42A0-B26B-3AFC49C5E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989263"/>
            <a:ext cx="474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访存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不受限制</a:t>
            </a:r>
          </a:p>
        </p:txBody>
      </p:sp>
      <p:sp>
        <p:nvSpPr>
          <p:cNvPr id="44038" name="Text Box 6">
            <a:extLst>
              <a:ext uri="{FF2B5EF4-FFF2-40B4-BE49-F238E27FC236}">
                <a16:creationId xmlns:a16="http://schemas.microsoft.com/office/drawing/2014/main" id="{40ADD09B-AAB6-4F35-95EC-0D347FCF2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438650"/>
            <a:ext cx="762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多数指令需要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多个时钟周期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执行完毕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9" name="Text Box 7">
            <a:extLst>
              <a:ext uri="{FF2B5EF4-FFF2-40B4-BE49-F238E27FC236}">
                <a16:creationId xmlns:a16="http://schemas.microsoft.com/office/drawing/2014/main" id="{2C7F5AC6-F502-481C-A0D9-D71059342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162550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采用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微程序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控制器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040" name="Text Box 8">
            <a:extLst>
              <a:ext uri="{FF2B5EF4-FFF2-40B4-BE49-F238E27FC236}">
                <a16:creationId xmlns:a16="http://schemas.microsoft.com/office/drawing/2014/main" id="{D591BC17-DD32-479C-9A09-D44588908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714750"/>
            <a:ext cx="6334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CPU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中设有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专用寄存器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041" name="Text Box 9">
            <a:extLst>
              <a:ext uri="{FF2B5EF4-FFF2-40B4-BE49-F238E27FC236}">
                <a16:creationId xmlns:a16="http://schemas.microsoft.com/office/drawing/2014/main" id="{BECDF71F-4A15-4FEE-BFB6-DDDDD3952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888038"/>
            <a:ext cx="7342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难以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用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优化编译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生成高效的目的代码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810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autoUpdateAnimBg="0"/>
      <p:bldP spid="44036" grpId="0" autoUpdateAnimBg="0"/>
      <p:bldP spid="44037" grpId="0" autoUpdateAnimBg="0"/>
      <p:bldP spid="44038" grpId="0" autoUpdateAnimBg="0"/>
      <p:bldP spid="44039" grpId="0" autoUpdateAnimBg="0"/>
      <p:bldP spid="44040" grpId="0" autoUpdateAnimBg="0"/>
      <p:bldP spid="44041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>
            <a:extLst>
              <a:ext uri="{FF2B5EF4-FFF2-40B4-BE49-F238E27FC236}">
                <a16:creationId xmlns:a16="http://schemas.microsoft.com/office/drawing/2014/main" id="{169DA1BA-C151-40AE-AF0A-441111B21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25450"/>
            <a:ext cx="72151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★</a:t>
            </a: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RISC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CISC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的比较 </a:t>
            </a:r>
          </a:p>
        </p:txBody>
      </p:sp>
      <p:sp>
        <p:nvSpPr>
          <p:cNvPr id="45059" name="Text Box 3">
            <a:extLst>
              <a:ext uri="{FF2B5EF4-FFF2-40B4-BE49-F238E27FC236}">
                <a16:creationId xmlns:a16="http://schemas.microsoft.com/office/drawing/2014/main" id="{90AEA629-08C8-4A28-9E65-ADF72F47C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700" y="1500188"/>
            <a:ext cx="6705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 RISC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更能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充分利用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VLSI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芯片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的面积</a:t>
            </a:r>
          </a:p>
        </p:txBody>
      </p:sp>
      <p:sp>
        <p:nvSpPr>
          <p:cNvPr id="45060" name="Text Box 4">
            <a:extLst>
              <a:ext uri="{FF2B5EF4-FFF2-40B4-BE49-F238E27FC236}">
                <a16:creationId xmlns:a16="http://schemas.microsoft.com/office/drawing/2014/main" id="{08793FEC-A1A2-46EF-B7FE-BDC87F973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700" y="2189163"/>
            <a:ext cx="78470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RISC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更能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提高计算机运算速度</a:t>
            </a:r>
          </a:p>
        </p:txBody>
      </p:sp>
      <p:sp>
        <p:nvSpPr>
          <p:cNvPr id="45061" name="Text Box 5">
            <a:extLst>
              <a:ext uri="{FF2B5EF4-FFF2-40B4-BE49-F238E27FC236}">
                <a16:creationId xmlns:a16="http://schemas.microsoft.com/office/drawing/2014/main" id="{4F716B38-40BF-4EDC-A4DA-7876F7448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25" y="2781300"/>
            <a:ext cx="6334125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指令数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指令格式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寻址方式少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通用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寄存器多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，采用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组合逻辑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，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便于实现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指令流水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62" name="Text Box 6">
            <a:extLst>
              <a:ext uri="{FF2B5EF4-FFF2-40B4-BE49-F238E27FC236}">
                <a16:creationId xmlns:a16="http://schemas.microsoft.com/office/drawing/2014/main" id="{24A02657-85D9-4D01-A870-375B72760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4514850"/>
            <a:ext cx="762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3. RISC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便于设计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，可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降低成本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，提高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可靠性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63" name="Text Box 7">
            <a:extLst>
              <a:ext uri="{FF2B5EF4-FFF2-40B4-BE49-F238E27FC236}">
                <a16:creationId xmlns:a16="http://schemas.microsoft.com/office/drawing/2014/main" id="{30E78200-2CA2-4B0D-A611-580769A40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187950"/>
            <a:ext cx="70564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RISC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有利于编译程序代码优化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5064" name="Text Box 8">
            <a:extLst>
              <a:ext uri="{FF2B5EF4-FFF2-40B4-BE49-F238E27FC236}">
                <a16:creationId xmlns:a16="http://schemas.microsoft.com/office/drawing/2014/main" id="{AF2390FA-7650-4DF5-BE0C-994009DEA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700" y="5862638"/>
            <a:ext cx="6838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RISC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不易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实现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指令系统兼容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984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autoUpdateAnimBg="0"/>
      <p:bldP spid="45060" grpId="0" autoUpdateAnimBg="0"/>
      <p:bldP spid="45061" grpId="0" autoUpdateAnimBg="0"/>
      <p:bldP spid="45062" grpId="0" autoUpdateAnimBg="0"/>
      <p:bldP spid="45063" grpId="0" autoUpdateAnimBg="0"/>
      <p:bldP spid="4506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9A64C2D-2523-4723-B621-1D86A046C7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algn="ctr" eaLnBrk="1" hangingPunct="1"/>
            <a:r>
              <a:rPr lang="zh-CN" altLang="en-US" b="1"/>
              <a:t>第</a:t>
            </a:r>
            <a:r>
              <a:rPr lang="en-US" altLang="zh-CN" b="1"/>
              <a:t>5</a:t>
            </a:r>
            <a:r>
              <a:rPr lang="zh-CN" altLang="en-US" b="1"/>
              <a:t>章 指令系统</a:t>
            </a:r>
          </a:p>
        </p:txBody>
      </p:sp>
      <p:sp>
        <p:nvSpPr>
          <p:cNvPr id="6147" name="内容占位符 1">
            <a:extLst>
              <a:ext uri="{FF2B5EF4-FFF2-40B4-BE49-F238E27FC236}">
                <a16:creationId xmlns:a16="http://schemas.microsoft.com/office/drawing/2014/main" id="{5E444D75-8DD2-4504-AA64-9C1E07A325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23975" y="1549400"/>
            <a:ext cx="7450138" cy="4525963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/>
              <a:t>5.1</a:t>
            </a:r>
            <a:r>
              <a:rPr lang="zh-CN" altLang="en-US"/>
              <a:t>指令系统概述</a:t>
            </a:r>
            <a:endParaRPr lang="en-US" altLang="zh-CN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/>
              <a:t>5.2 </a:t>
            </a:r>
            <a:r>
              <a:rPr lang="zh-CN" altLang="en-US"/>
              <a:t>指令的格式 </a:t>
            </a:r>
            <a:endParaRPr lang="en-US" altLang="zh-CN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/>
              <a:t>5.3</a:t>
            </a:r>
            <a:r>
              <a:rPr lang="zh-CN" altLang="en-US"/>
              <a:t>寻址方式</a:t>
            </a:r>
            <a:endParaRPr lang="en-US" altLang="zh-CN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/>
              <a:t>5.4 </a:t>
            </a:r>
            <a:r>
              <a:rPr lang="zh-CN" altLang="en-US"/>
              <a:t>指令的分类 </a:t>
            </a:r>
            <a:endParaRPr lang="en-US" altLang="zh-CN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/>
              <a:t>5.5 MIPS32</a:t>
            </a:r>
            <a:r>
              <a:rPr lang="zh-CN" altLang="en-US"/>
              <a:t>指令简介 </a:t>
            </a:r>
            <a:endParaRPr lang="en-US" altLang="zh-CN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/>
              <a:t>5.6</a:t>
            </a:r>
            <a:r>
              <a:rPr lang="zh-CN" altLang="en-US"/>
              <a:t>常用</a:t>
            </a:r>
            <a:r>
              <a:rPr lang="en-US" altLang="zh-CN"/>
              <a:t>MIPS</a:t>
            </a:r>
            <a:r>
              <a:rPr lang="zh-CN" altLang="en-US"/>
              <a:t>汇编指令</a:t>
            </a:r>
            <a:endParaRPr lang="en-US" altLang="zh-CN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/>
              <a:t>5.7 MISP</a:t>
            </a:r>
            <a:r>
              <a:rPr lang="zh-CN" altLang="en-US"/>
              <a:t>指令与</a:t>
            </a:r>
            <a:r>
              <a:rPr lang="en-US" altLang="zh-CN"/>
              <a:t>C</a:t>
            </a:r>
            <a:r>
              <a:rPr lang="zh-CN" altLang="en-US"/>
              <a:t>语言程序的关系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D67CA4-03D2-4867-8379-5DE67C6D1C43}"/>
              </a:ext>
            </a:extLst>
          </p:cNvPr>
          <p:cNvSpPr/>
          <p:nvPr/>
        </p:nvSpPr>
        <p:spPr>
          <a:xfrm>
            <a:off x="1323975" y="2133600"/>
            <a:ext cx="3033713" cy="584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5.2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指令的格式 </a:t>
            </a:r>
          </a:p>
        </p:txBody>
      </p:sp>
    </p:spTree>
    <p:extLst>
      <p:ext uri="{BB962C8B-B14F-4D97-AF65-F5344CB8AC3E}">
        <p14:creationId xmlns:p14="http://schemas.microsoft.com/office/powerpoint/2010/main" val="407373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2CC52647-1384-4B78-9360-C4997BD2EC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5.2 </a:t>
            </a:r>
            <a:r>
              <a:rPr lang="zh-CN" altLang="en-US"/>
              <a:t>指令的格式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45688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5.2.1 </a:t>
            </a:r>
            <a:r>
              <a:rPr lang="zh-CN" altLang="en-US" dirty="0"/>
              <a:t>指令的基本格式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5.2.2 </a:t>
            </a:r>
            <a:r>
              <a:rPr lang="zh-CN" altLang="en-US" dirty="0"/>
              <a:t>指令的操作码格式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5.2.3 </a:t>
            </a:r>
            <a:r>
              <a:rPr lang="zh-CN" altLang="en-US" dirty="0"/>
              <a:t>指令的地址码格式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6F32526-F390-4445-9DB9-9CCDC67F93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5.2.1 </a:t>
            </a:r>
            <a:r>
              <a:rPr lang="zh-CN" altLang="en-US" b="1" dirty="0"/>
              <a:t>指令的基本格式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C034ED0E-1842-4100-96C3-120DAD7665B3}"/>
              </a:ext>
            </a:extLst>
          </p:cNvPr>
          <p:cNvGrpSpPr>
            <a:grpSpLocks/>
          </p:cNvGrpSpPr>
          <p:nvPr/>
        </p:nvGrpSpPr>
        <p:grpSpPr bwMode="auto">
          <a:xfrm>
            <a:off x="1403648" y="2636912"/>
            <a:ext cx="4259263" cy="461963"/>
            <a:chOff x="1190" y="1344"/>
            <a:chExt cx="2683" cy="291"/>
          </a:xfrm>
        </p:grpSpPr>
        <p:sp>
          <p:nvSpPr>
            <p:cNvPr id="20495" name="Text Box 5">
              <a:extLst>
                <a:ext uri="{FF2B5EF4-FFF2-40B4-BE49-F238E27FC236}">
                  <a16:creationId xmlns:a16="http://schemas.microsoft.com/office/drawing/2014/main" id="{499BE377-B0DD-43C7-93AD-105D29AF12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0" y="1344"/>
              <a:ext cx="239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操作码字段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OP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地址码字段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496" name="Rectangle 6">
              <a:extLst>
                <a:ext uri="{FF2B5EF4-FFF2-40B4-BE49-F238E27FC236}">
                  <a16:creationId xmlns:a16="http://schemas.microsoft.com/office/drawing/2014/main" id="{CC7AE025-5E3B-4E19-8100-DE560711C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344"/>
              <a:ext cx="2673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497" name="Line 7">
              <a:extLst>
                <a:ext uri="{FF2B5EF4-FFF2-40B4-BE49-F238E27FC236}">
                  <a16:creationId xmlns:a16="http://schemas.microsoft.com/office/drawing/2014/main" id="{5D5A55A3-7553-4C10-8D5F-61FEF5C779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2" y="1344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104" name="Text Box 8">
            <a:extLst>
              <a:ext uri="{FF2B5EF4-FFF2-40B4-BE49-F238E27FC236}">
                <a16:creationId xmlns:a16="http://schemas.microsoft.com/office/drawing/2014/main" id="{E6CF6D3E-4AEF-4335-BDB8-630AB444C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448" y="3375098"/>
            <a:ext cx="143981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操作码</a:t>
            </a:r>
          </a:p>
        </p:txBody>
      </p:sp>
      <p:sp>
        <p:nvSpPr>
          <p:cNvPr id="4105" name="Text Box 9">
            <a:extLst>
              <a:ext uri="{FF2B5EF4-FFF2-40B4-BE49-F238E27FC236}">
                <a16:creationId xmlns:a16="http://schemas.microsoft.com/office/drawing/2014/main" id="{5BA10E0A-7A31-477C-8903-0656FD132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448" y="3424707"/>
            <a:ext cx="5349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反映机器做什么操作   （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What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18" name="Text Box 8">
            <a:extLst>
              <a:ext uri="{FF2B5EF4-FFF2-40B4-BE49-F238E27FC236}">
                <a16:creationId xmlns:a16="http://schemas.microsoft.com/office/drawing/2014/main" id="{4AEE214F-6207-4747-944A-DBFF0C2F8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677" y="4292428"/>
            <a:ext cx="153599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地址码</a:t>
            </a:r>
          </a:p>
        </p:txBody>
      </p:sp>
      <p:sp>
        <p:nvSpPr>
          <p:cNvPr id="19" name="Text Box 9">
            <a:extLst>
              <a:ext uri="{FF2B5EF4-FFF2-40B4-BE49-F238E27FC236}">
                <a16:creationId xmlns:a16="http://schemas.microsoft.com/office/drawing/2014/main" id="{D4A36D32-A98A-4EE3-8C6B-823F9741A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191" y="4411736"/>
            <a:ext cx="5349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指令的数据在什么位置 （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Where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20" name="Text Box 8">
            <a:extLst>
              <a:ext uri="{FF2B5EF4-FFF2-40B4-BE49-F238E27FC236}">
                <a16:creationId xmlns:a16="http://schemas.microsoft.com/office/drawing/2014/main" id="{1742287C-4C75-4C3F-84B9-2915F49F6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099022"/>
            <a:ext cx="250100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基本格式：</a:t>
            </a:r>
          </a:p>
        </p:txBody>
      </p:sp>
    </p:spTree>
    <p:extLst>
      <p:ext uri="{BB962C8B-B14F-4D97-AF65-F5344CB8AC3E}">
        <p14:creationId xmlns:p14="http://schemas.microsoft.com/office/powerpoint/2010/main" val="209318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4" grpId="0" autoUpdateAnimBg="0"/>
      <p:bldP spid="4105" grpId="0" autoUpdateAnimBg="0"/>
      <p:bldP spid="18" grpId="0" autoUpdateAnimBg="0"/>
      <p:bldP spid="19" grpId="0" autoUpdateAnimBg="0"/>
      <p:bldP spid="2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>
            <a:extLst>
              <a:ext uri="{FF2B5EF4-FFF2-40B4-BE49-F238E27FC236}">
                <a16:creationId xmlns:a16="http://schemas.microsoft.com/office/drawing/2014/main" id="{CD4A5894-B19C-4B53-AEA9-0090D6D19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319956"/>
            <a:ext cx="238398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指令字长</a:t>
            </a:r>
          </a:p>
        </p:txBody>
      </p:sp>
      <p:sp>
        <p:nvSpPr>
          <p:cNvPr id="9219" name="Text Box 3">
            <a:extLst>
              <a:ext uri="{FF2B5EF4-FFF2-40B4-BE49-F238E27FC236}">
                <a16:creationId xmlns:a16="http://schemas.microsoft.com/office/drawing/2014/main" id="{4EBA1861-15C0-4E95-853E-1CA97EFBA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9525" y="1876425"/>
            <a:ext cx="2684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指令字长决定于</a:t>
            </a:r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D3762D7C-86A0-44F3-AA81-2A22EDCA5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1150" y="1179513"/>
            <a:ext cx="2327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操作码的长度</a:t>
            </a:r>
          </a:p>
        </p:txBody>
      </p:sp>
      <p:sp>
        <p:nvSpPr>
          <p:cNvPr id="9221" name="Text Box 5">
            <a:extLst>
              <a:ext uri="{FF2B5EF4-FFF2-40B4-BE49-F238E27FC236}">
                <a16:creationId xmlns:a16="http://schemas.microsoft.com/office/drawing/2014/main" id="{9FC31ABA-EF17-4E3A-AB0C-732BC5315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550" y="4216400"/>
            <a:ext cx="3422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指令字长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存储字长</a:t>
            </a:r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ADE4330B-85F7-4170-A383-3100C6E69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003800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指令字长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可变</a:t>
            </a:r>
          </a:p>
        </p:txBody>
      </p:sp>
      <p:sp>
        <p:nvSpPr>
          <p:cNvPr id="9223" name="Text Box 7">
            <a:extLst>
              <a:ext uri="{FF2B5EF4-FFF2-40B4-BE49-F238E27FC236}">
                <a16:creationId xmlns:a16="http://schemas.microsoft.com/office/drawing/2014/main" id="{BAB4EC97-1850-42A1-AED8-BDFB13E9C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1150" y="1876425"/>
            <a:ext cx="304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操作数地址的长度</a:t>
            </a:r>
          </a:p>
        </p:txBody>
      </p:sp>
      <p:sp>
        <p:nvSpPr>
          <p:cNvPr id="9224" name="Text Box 8">
            <a:extLst>
              <a:ext uri="{FF2B5EF4-FFF2-40B4-BE49-F238E27FC236}">
                <a16:creationId xmlns:a16="http://schemas.microsoft.com/office/drawing/2014/main" id="{229232AB-68C0-47D6-9310-F64FDB197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1150" y="2528888"/>
            <a:ext cx="3041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操作数地址的个数</a:t>
            </a:r>
          </a:p>
        </p:txBody>
      </p:sp>
      <p:sp>
        <p:nvSpPr>
          <p:cNvPr id="9225" name="Text Box 9">
            <a:extLst>
              <a:ext uri="{FF2B5EF4-FFF2-40B4-BE49-F238E27FC236}">
                <a16:creationId xmlns:a16="http://schemas.microsoft.com/office/drawing/2014/main" id="{E166AE46-8879-4E31-BAA4-21EDDB15A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429000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指令字长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固定</a:t>
            </a:r>
          </a:p>
        </p:txBody>
      </p:sp>
      <p:sp>
        <p:nvSpPr>
          <p:cNvPr id="9226" name="Text Box 10">
            <a:extLst>
              <a:ext uri="{FF2B5EF4-FFF2-40B4-BE49-F238E27FC236}">
                <a16:creationId xmlns:a16="http://schemas.microsoft.com/office/drawing/2014/main" id="{1E10617B-06BA-4C93-8929-50D090222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550" y="5791200"/>
            <a:ext cx="304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按字节的倍数变化</a:t>
            </a:r>
          </a:p>
        </p:txBody>
      </p:sp>
      <p:sp>
        <p:nvSpPr>
          <p:cNvPr id="9227" name="AutoShape 11">
            <a:extLst>
              <a:ext uri="{FF2B5EF4-FFF2-40B4-BE49-F238E27FC236}">
                <a16:creationId xmlns:a16="http://schemas.microsoft.com/office/drawing/2014/main" id="{DF6D3637-F39A-4331-959A-2B6D6D88CD6C}"/>
              </a:ext>
            </a:extLst>
          </p:cNvPr>
          <p:cNvSpPr>
            <a:spLocks/>
          </p:cNvSpPr>
          <p:nvPr/>
        </p:nvSpPr>
        <p:spPr bwMode="auto">
          <a:xfrm>
            <a:off x="3962400" y="1371600"/>
            <a:ext cx="152400" cy="1524000"/>
          </a:xfrm>
          <a:prstGeom prst="leftBrace">
            <a:avLst>
              <a:gd name="adj1" fmla="val 83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1884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autoUpdateAnimBg="0"/>
      <p:bldP spid="9220" grpId="0" autoUpdateAnimBg="0"/>
      <p:bldP spid="9221" grpId="0" autoUpdateAnimBg="0"/>
      <p:bldP spid="9222" grpId="0" autoUpdateAnimBg="0"/>
      <p:bldP spid="9223" grpId="0" autoUpdateAnimBg="0"/>
      <p:bldP spid="9224" grpId="0" autoUpdateAnimBg="0"/>
      <p:bldP spid="9225" grpId="0" autoUpdateAnimBg="0"/>
      <p:bldP spid="9226" grpId="0" autoUpdateAnimBg="0"/>
      <p:bldP spid="92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6F32526-F390-4445-9DB9-9CCDC67F93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5.2.2 </a:t>
            </a:r>
            <a:r>
              <a:rPr lang="zh-CN" altLang="en-US" b="1" dirty="0"/>
              <a:t>指令的操作码格式</a:t>
            </a:r>
          </a:p>
        </p:txBody>
      </p:sp>
      <p:sp>
        <p:nvSpPr>
          <p:cNvPr id="4104" name="Text Box 8">
            <a:extLst>
              <a:ext uri="{FF2B5EF4-FFF2-40B4-BE49-F238E27FC236}">
                <a16:creationId xmlns:a16="http://schemas.microsoft.com/office/drawing/2014/main" id="{E6CF6D3E-4AEF-4335-BDB8-630AB444C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196752"/>
            <a:ext cx="250100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操作码编码</a:t>
            </a:r>
          </a:p>
        </p:txBody>
      </p:sp>
      <p:sp>
        <p:nvSpPr>
          <p:cNvPr id="4106" name="Text Box 10">
            <a:extLst>
              <a:ext uri="{FF2B5EF4-FFF2-40B4-BE49-F238E27FC236}">
                <a16:creationId xmlns:a16="http://schemas.microsoft.com/office/drawing/2014/main" id="{12215AAA-F4B0-41C6-BBCB-959F24E0D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219" y="1885727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(1)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长度固定</a:t>
            </a:r>
          </a:p>
        </p:txBody>
      </p:sp>
      <p:sp>
        <p:nvSpPr>
          <p:cNvPr id="4107" name="Text Box 11">
            <a:extLst>
              <a:ext uri="{FF2B5EF4-FFF2-40B4-BE49-F238E27FC236}">
                <a16:creationId xmlns:a16="http://schemas.microsoft.com/office/drawing/2014/main" id="{8F42CD90-6A83-4F45-A29F-09E2EBED7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219" y="3884389"/>
            <a:ext cx="2111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(2)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长度可变</a:t>
            </a:r>
          </a:p>
        </p:txBody>
      </p:sp>
      <p:sp>
        <p:nvSpPr>
          <p:cNvPr id="4108" name="Text Box 12">
            <a:extLst>
              <a:ext uri="{FF2B5EF4-FFF2-40B4-BE49-F238E27FC236}">
                <a16:creationId xmlns:a16="http://schemas.microsoft.com/office/drawing/2014/main" id="{5BC229D0-5B44-4BED-B2E1-7190D8240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6057" y="2530252"/>
            <a:ext cx="41132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用于指令字长较长的情况</a:t>
            </a:r>
          </a:p>
        </p:txBody>
      </p:sp>
      <p:sp>
        <p:nvSpPr>
          <p:cNvPr id="4109" name="Text Box 13">
            <a:extLst>
              <a:ext uri="{FF2B5EF4-FFF2-40B4-BE49-F238E27FC236}">
                <a16:creationId xmlns:a16="http://schemas.microsoft.com/office/drawing/2014/main" id="{4FBBEAC9-5EE4-4E93-9C2D-58368BE9A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0219" y="2552477"/>
            <a:ext cx="1390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RISC</a:t>
            </a:r>
          </a:p>
        </p:txBody>
      </p:sp>
      <p:sp>
        <p:nvSpPr>
          <p:cNvPr id="4110" name="Text Box 14">
            <a:extLst>
              <a:ext uri="{FF2B5EF4-FFF2-40B4-BE49-F238E27FC236}">
                <a16:creationId xmlns:a16="http://schemas.microsoft.com/office/drawing/2014/main" id="{D6B41B0D-E2FF-40B3-894D-B61819CCC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6057" y="3217639"/>
            <a:ext cx="27225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 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IBM  370</a:t>
            </a:r>
          </a:p>
        </p:txBody>
      </p:sp>
      <p:sp>
        <p:nvSpPr>
          <p:cNvPr id="4111" name="Text Box 15">
            <a:extLst>
              <a:ext uri="{FF2B5EF4-FFF2-40B4-BE49-F238E27FC236}">
                <a16:creationId xmlns:a16="http://schemas.microsoft.com/office/drawing/2014/main" id="{D4BA1A73-9DE6-41B5-ABA0-167DB8432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069" y="3217639"/>
            <a:ext cx="2139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操作码 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位</a:t>
            </a:r>
          </a:p>
        </p:txBody>
      </p:sp>
      <p:sp>
        <p:nvSpPr>
          <p:cNvPr id="4112" name="Text Box 16">
            <a:extLst>
              <a:ext uri="{FF2B5EF4-FFF2-40B4-BE49-F238E27FC236}">
                <a16:creationId xmlns:a16="http://schemas.microsoft.com/office/drawing/2014/main" id="{635535B0-86BB-4229-9A78-7EB58CFD2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6057" y="4551139"/>
            <a:ext cx="5541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操作码分散在指令字的不同字段中</a:t>
            </a:r>
          </a:p>
        </p:txBody>
      </p:sp>
    </p:spTree>
    <p:extLst>
      <p:ext uri="{BB962C8B-B14F-4D97-AF65-F5344CB8AC3E}">
        <p14:creationId xmlns:p14="http://schemas.microsoft.com/office/powerpoint/2010/main" val="273267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4" grpId="0" autoUpdateAnimBg="0"/>
      <p:bldP spid="4106" grpId="0" autoUpdateAnimBg="0"/>
      <p:bldP spid="4107" grpId="0" autoUpdateAnimBg="0"/>
      <p:bldP spid="4108" grpId="0" autoUpdateAnimBg="0"/>
      <p:bldP spid="4109" grpId="0" autoUpdateAnimBg="0"/>
      <p:bldP spid="4110" grpId="0" autoUpdateAnimBg="0"/>
      <p:bldP spid="4111" grpId="0" autoUpdateAnimBg="0"/>
      <p:bldP spid="411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>
            <a:extLst>
              <a:ext uri="{FF2B5EF4-FFF2-40B4-BE49-F238E27FC236}">
                <a16:creationId xmlns:a16="http://schemas.microsoft.com/office/drawing/2014/main" id="{B925D5F6-78C0-4A17-9166-BEF780C9B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463"/>
            <a:ext cx="408156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(3)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扩展操作码技术</a:t>
            </a:r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ADECC8DC-4DBE-4ADB-9A8C-D3027DAD8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762000"/>
            <a:ext cx="6613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操作码的位数随地址数的减少而增加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E9DB67BB-893B-41B2-9784-EBDC5DB1E61B}"/>
              </a:ext>
            </a:extLst>
          </p:cNvPr>
          <p:cNvGrpSpPr>
            <a:grpSpLocks/>
          </p:cNvGrpSpPr>
          <p:nvPr/>
        </p:nvGrpSpPr>
        <p:grpSpPr bwMode="auto">
          <a:xfrm>
            <a:off x="2752725" y="1295400"/>
            <a:ext cx="3114675" cy="457200"/>
            <a:chOff x="1686" y="1056"/>
            <a:chExt cx="1920" cy="288"/>
          </a:xfrm>
        </p:grpSpPr>
        <p:sp>
          <p:nvSpPr>
            <p:cNvPr id="21591" name="Text Box 5">
              <a:extLst>
                <a:ext uri="{FF2B5EF4-FFF2-40B4-BE49-F238E27FC236}">
                  <a16:creationId xmlns:a16="http://schemas.microsoft.com/office/drawing/2014/main" id="{0DB26D0C-2423-4948-AD82-D86C36EDD2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6" y="1056"/>
              <a:ext cx="3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OP</a:t>
              </a:r>
            </a:p>
          </p:txBody>
        </p:sp>
        <p:sp>
          <p:nvSpPr>
            <p:cNvPr id="21592" name="Text Box 6">
              <a:extLst>
                <a:ext uri="{FF2B5EF4-FFF2-40B4-BE49-F238E27FC236}">
                  <a16:creationId xmlns:a16="http://schemas.microsoft.com/office/drawing/2014/main" id="{8846EED4-DC6F-4DDF-A8C4-B807F22CB2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4" y="1056"/>
              <a:ext cx="3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A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21593" name="Text Box 7">
              <a:extLst>
                <a:ext uri="{FF2B5EF4-FFF2-40B4-BE49-F238E27FC236}">
                  <a16:creationId xmlns:a16="http://schemas.microsoft.com/office/drawing/2014/main" id="{D2B27B26-B4A5-48D7-BE80-C682479D93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1" y="1056"/>
              <a:ext cx="35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A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21594" name="Text Box 8">
              <a:extLst>
                <a:ext uri="{FF2B5EF4-FFF2-40B4-BE49-F238E27FC236}">
                  <a16:creationId xmlns:a16="http://schemas.microsoft.com/office/drawing/2014/main" id="{7718C64D-FA42-4378-8996-331A1C1DA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4" y="1056"/>
              <a:ext cx="3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A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21595" name="Rectangle 9">
              <a:extLst>
                <a:ext uri="{FF2B5EF4-FFF2-40B4-BE49-F238E27FC236}">
                  <a16:creationId xmlns:a16="http://schemas.microsoft.com/office/drawing/2014/main" id="{B5757753-C14B-411F-8E16-70E8DD7F4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6" y="1056"/>
              <a:ext cx="47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96" name="Rectangle 10">
              <a:extLst>
                <a:ext uri="{FF2B5EF4-FFF2-40B4-BE49-F238E27FC236}">
                  <a16:creationId xmlns:a16="http://schemas.microsoft.com/office/drawing/2014/main" id="{BE2E099E-CF41-44B3-A12D-BC151ADDA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8" y="1056"/>
              <a:ext cx="47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97" name="Rectangle 11">
              <a:extLst>
                <a:ext uri="{FF2B5EF4-FFF2-40B4-BE49-F238E27FC236}">
                  <a16:creationId xmlns:a16="http://schemas.microsoft.com/office/drawing/2014/main" id="{5D552AD7-0AF4-4D4C-B768-2E0219394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6" y="1056"/>
              <a:ext cx="47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98" name="Rectangle 12">
              <a:extLst>
                <a:ext uri="{FF2B5EF4-FFF2-40B4-BE49-F238E27FC236}">
                  <a16:creationId xmlns:a16="http://schemas.microsoft.com/office/drawing/2014/main" id="{A4CC4A7F-06CA-473F-B97E-67B6E7313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1056"/>
              <a:ext cx="47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id="{9A7B0253-4A73-414A-A755-DAE071EA01B1}"/>
              </a:ext>
            </a:extLst>
          </p:cNvPr>
          <p:cNvGrpSpPr>
            <a:grpSpLocks/>
          </p:cNvGrpSpPr>
          <p:nvPr/>
        </p:nvGrpSpPr>
        <p:grpSpPr bwMode="auto">
          <a:xfrm>
            <a:off x="2752725" y="1905000"/>
            <a:ext cx="3124200" cy="1143000"/>
            <a:chOff x="1686" y="1200"/>
            <a:chExt cx="1968" cy="720"/>
          </a:xfrm>
        </p:grpSpPr>
        <p:sp>
          <p:nvSpPr>
            <p:cNvPr id="21574" name="Rectangle 14">
              <a:extLst>
                <a:ext uri="{FF2B5EF4-FFF2-40B4-BE49-F238E27FC236}">
                  <a16:creationId xmlns:a16="http://schemas.microsoft.com/office/drawing/2014/main" id="{16DC7F8A-20D1-445F-AB52-A977E444A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6" y="1210"/>
              <a:ext cx="1968" cy="6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75" name="Text Box 15">
              <a:extLst>
                <a:ext uri="{FF2B5EF4-FFF2-40B4-BE49-F238E27FC236}">
                  <a16:creationId xmlns:a16="http://schemas.microsoft.com/office/drawing/2014/main" id="{F9ADF19F-019C-42E1-825E-A5DE9125E4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4" y="1200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0000</a:t>
              </a:r>
            </a:p>
          </p:txBody>
        </p:sp>
        <p:sp>
          <p:nvSpPr>
            <p:cNvPr id="21576" name="Text Box 16">
              <a:extLst>
                <a:ext uri="{FF2B5EF4-FFF2-40B4-BE49-F238E27FC236}">
                  <a16:creationId xmlns:a16="http://schemas.microsoft.com/office/drawing/2014/main" id="{8377F7A1-26F2-44CB-9E08-B8482B212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4" y="1354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0001</a:t>
              </a:r>
            </a:p>
          </p:txBody>
        </p:sp>
        <p:sp>
          <p:nvSpPr>
            <p:cNvPr id="21577" name="Text Box 17">
              <a:extLst>
                <a:ext uri="{FF2B5EF4-FFF2-40B4-BE49-F238E27FC236}">
                  <a16:creationId xmlns:a16="http://schemas.microsoft.com/office/drawing/2014/main" id="{A59CB953-D4AB-4192-A427-E7108ED32F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4" y="1670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1110</a:t>
              </a:r>
            </a:p>
          </p:txBody>
        </p:sp>
        <p:sp>
          <p:nvSpPr>
            <p:cNvPr id="21578" name="Text Box 18">
              <a:extLst>
                <a:ext uri="{FF2B5EF4-FFF2-40B4-BE49-F238E27FC236}">
                  <a16:creationId xmlns:a16="http://schemas.microsoft.com/office/drawing/2014/main" id="{7C16A8B5-5996-4350-AA73-6947C46A3A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0" y="1536"/>
              <a:ext cx="30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  <p:sp>
          <p:nvSpPr>
            <p:cNvPr id="21579" name="Text Box 19">
              <a:extLst>
                <a:ext uri="{FF2B5EF4-FFF2-40B4-BE49-F238E27FC236}">
                  <a16:creationId xmlns:a16="http://schemas.microsoft.com/office/drawing/2014/main" id="{03905364-5017-4851-9D37-E416AAFF17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0" y="1200"/>
              <a:ext cx="2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21580" name="Text Box 20">
              <a:extLst>
                <a:ext uri="{FF2B5EF4-FFF2-40B4-BE49-F238E27FC236}">
                  <a16:creationId xmlns:a16="http://schemas.microsoft.com/office/drawing/2014/main" id="{995E7BC1-10C2-4EA5-BDB9-8A84EBAA13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0" y="1344"/>
              <a:ext cx="2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21581" name="Text Box 21">
              <a:extLst>
                <a:ext uri="{FF2B5EF4-FFF2-40B4-BE49-F238E27FC236}">
                  <a16:creationId xmlns:a16="http://schemas.microsoft.com/office/drawing/2014/main" id="{0B3445E5-29CD-4DC5-A6B1-0C2DB79C90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0" y="1670"/>
              <a:ext cx="2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000" b="1" i="0" u="none" strike="noStrike" kern="1200" cap="none" spc="0" normalizeH="0" baseline="-1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21582" name="Text Box 22">
              <a:extLst>
                <a:ext uri="{FF2B5EF4-FFF2-40B4-BE49-F238E27FC236}">
                  <a16:creationId xmlns:a16="http://schemas.microsoft.com/office/drawing/2014/main" id="{9415B467-C600-4D43-9C53-B36199C1C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0" y="1536"/>
              <a:ext cx="30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  <p:sp>
          <p:nvSpPr>
            <p:cNvPr id="21583" name="Text Box 23">
              <a:extLst>
                <a:ext uri="{FF2B5EF4-FFF2-40B4-BE49-F238E27FC236}">
                  <a16:creationId xmlns:a16="http://schemas.microsoft.com/office/drawing/2014/main" id="{FC4D57B2-9F19-4F91-9B07-4CF4F68E84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0" y="1200"/>
              <a:ext cx="2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21584" name="Text Box 24">
              <a:extLst>
                <a:ext uri="{FF2B5EF4-FFF2-40B4-BE49-F238E27FC236}">
                  <a16:creationId xmlns:a16="http://schemas.microsoft.com/office/drawing/2014/main" id="{703E74CF-F936-45BC-BBE1-167734217A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0" y="1344"/>
              <a:ext cx="2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21585" name="Text Box 25">
              <a:extLst>
                <a:ext uri="{FF2B5EF4-FFF2-40B4-BE49-F238E27FC236}">
                  <a16:creationId xmlns:a16="http://schemas.microsoft.com/office/drawing/2014/main" id="{4CF0F1DA-CBEE-40CD-83B3-C5B888F462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0" y="1670"/>
              <a:ext cx="2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000" b="1" i="0" u="none" strike="noStrike" kern="1200" cap="none" spc="0" normalizeH="0" baseline="-1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21586" name="Text Box 26">
              <a:extLst>
                <a:ext uri="{FF2B5EF4-FFF2-40B4-BE49-F238E27FC236}">
                  <a16:creationId xmlns:a16="http://schemas.microsoft.com/office/drawing/2014/main" id="{9D577C90-5B08-4CD0-99F3-FB1537833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0" y="1536"/>
              <a:ext cx="30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  <p:sp>
          <p:nvSpPr>
            <p:cNvPr id="21587" name="Text Box 27">
              <a:extLst>
                <a:ext uri="{FF2B5EF4-FFF2-40B4-BE49-F238E27FC236}">
                  <a16:creationId xmlns:a16="http://schemas.microsoft.com/office/drawing/2014/main" id="{EE1AC492-684D-46CF-8978-8D3782A802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2" y="1200"/>
              <a:ext cx="2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21588" name="Text Box 28">
              <a:extLst>
                <a:ext uri="{FF2B5EF4-FFF2-40B4-BE49-F238E27FC236}">
                  <a16:creationId xmlns:a16="http://schemas.microsoft.com/office/drawing/2014/main" id="{3A3F4D24-6FD6-4553-91F5-BD89BACF8A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2" y="1344"/>
              <a:ext cx="2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21589" name="Text Box 29">
              <a:extLst>
                <a:ext uri="{FF2B5EF4-FFF2-40B4-BE49-F238E27FC236}">
                  <a16:creationId xmlns:a16="http://schemas.microsoft.com/office/drawing/2014/main" id="{CA28AB78-F4D0-4E5E-AE20-9777317AEA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2" y="1670"/>
              <a:ext cx="2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000" b="1" i="0" u="none" strike="noStrike" kern="1200" cap="none" spc="0" normalizeH="0" baseline="-1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21590" name="Text Box 30">
              <a:extLst>
                <a:ext uri="{FF2B5EF4-FFF2-40B4-BE49-F238E27FC236}">
                  <a16:creationId xmlns:a16="http://schemas.microsoft.com/office/drawing/2014/main" id="{C7D7B653-433F-45BD-85DF-BFB3B27848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2" y="1536"/>
              <a:ext cx="30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</p:grpSp>
      <p:grpSp>
        <p:nvGrpSpPr>
          <p:cNvPr id="4" name="Group 31">
            <a:extLst>
              <a:ext uri="{FF2B5EF4-FFF2-40B4-BE49-F238E27FC236}">
                <a16:creationId xmlns:a16="http://schemas.microsoft.com/office/drawing/2014/main" id="{5863BE73-974C-4550-BC93-A776BDACA98D}"/>
              </a:ext>
            </a:extLst>
          </p:cNvPr>
          <p:cNvGrpSpPr>
            <a:grpSpLocks/>
          </p:cNvGrpSpPr>
          <p:nvPr/>
        </p:nvGrpSpPr>
        <p:grpSpPr bwMode="auto">
          <a:xfrm>
            <a:off x="2752725" y="3124200"/>
            <a:ext cx="3124200" cy="1143000"/>
            <a:chOff x="1686" y="1968"/>
            <a:chExt cx="1968" cy="720"/>
          </a:xfrm>
        </p:grpSpPr>
        <p:sp>
          <p:nvSpPr>
            <p:cNvPr id="21557" name="Rectangle 32">
              <a:extLst>
                <a:ext uri="{FF2B5EF4-FFF2-40B4-BE49-F238E27FC236}">
                  <a16:creationId xmlns:a16="http://schemas.microsoft.com/office/drawing/2014/main" id="{7732183D-B3D7-43AF-BE46-AE3ECD1A30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6" y="1978"/>
              <a:ext cx="1968" cy="6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58" name="Text Box 33">
              <a:extLst>
                <a:ext uri="{FF2B5EF4-FFF2-40B4-BE49-F238E27FC236}">
                  <a16:creationId xmlns:a16="http://schemas.microsoft.com/office/drawing/2014/main" id="{9EA27383-C0F2-4FD1-A333-A9D7B66A8C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0" y="1968"/>
              <a:ext cx="2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21559" name="Text Box 34">
              <a:extLst>
                <a:ext uri="{FF2B5EF4-FFF2-40B4-BE49-F238E27FC236}">
                  <a16:creationId xmlns:a16="http://schemas.microsoft.com/office/drawing/2014/main" id="{7EA678C2-6B67-43FC-9242-0D6F8DD235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0" y="2112"/>
              <a:ext cx="2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21560" name="Text Box 35">
              <a:extLst>
                <a:ext uri="{FF2B5EF4-FFF2-40B4-BE49-F238E27FC236}">
                  <a16:creationId xmlns:a16="http://schemas.microsoft.com/office/drawing/2014/main" id="{3AE58058-1890-4424-8352-B28DEEC5C5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0" y="2438"/>
              <a:ext cx="2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000" b="1" i="0" u="none" strike="noStrike" kern="1200" cap="none" spc="0" normalizeH="0" baseline="-1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21561" name="Text Box 36">
              <a:extLst>
                <a:ext uri="{FF2B5EF4-FFF2-40B4-BE49-F238E27FC236}">
                  <a16:creationId xmlns:a16="http://schemas.microsoft.com/office/drawing/2014/main" id="{1C7B8B87-8FB6-4E75-B60B-67B6201D11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0" y="2304"/>
              <a:ext cx="30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  <p:sp>
          <p:nvSpPr>
            <p:cNvPr id="21562" name="Text Box 37">
              <a:extLst>
                <a:ext uri="{FF2B5EF4-FFF2-40B4-BE49-F238E27FC236}">
                  <a16:creationId xmlns:a16="http://schemas.microsoft.com/office/drawing/2014/main" id="{E5553C35-3A1C-4AAD-9445-BFCB861FB0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2" y="1968"/>
              <a:ext cx="2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21563" name="Text Box 38">
              <a:extLst>
                <a:ext uri="{FF2B5EF4-FFF2-40B4-BE49-F238E27FC236}">
                  <a16:creationId xmlns:a16="http://schemas.microsoft.com/office/drawing/2014/main" id="{77F2708F-1C2B-41B7-ABD7-C9932B6B0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2" y="2112"/>
              <a:ext cx="2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21564" name="Text Box 39">
              <a:extLst>
                <a:ext uri="{FF2B5EF4-FFF2-40B4-BE49-F238E27FC236}">
                  <a16:creationId xmlns:a16="http://schemas.microsoft.com/office/drawing/2014/main" id="{0097EECE-32F2-4996-9226-D46614978E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2" y="2438"/>
              <a:ext cx="2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000" b="1" i="0" u="none" strike="noStrike" kern="1200" cap="none" spc="0" normalizeH="0" baseline="-1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21565" name="Text Box 40">
              <a:extLst>
                <a:ext uri="{FF2B5EF4-FFF2-40B4-BE49-F238E27FC236}">
                  <a16:creationId xmlns:a16="http://schemas.microsoft.com/office/drawing/2014/main" id="{8F919A48-219A-45A2-A91C-5F8389A82B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2" y="2304"/>
              <a:ext cx="30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  <p:sp>
          <p:nvSpPr>
            <p:cNvPr id="21566" name="Text Box 41">
              <a:extLst>
                <a:ext uri="{FF2B5EF4-FFF2-40B4-BE49-F238E27FC236}">
                  <a16:creationId xmlns:a16="http://schemas.microsoft.com/office/drawing/2014/main" id="{4CE2E4EF-26D0-4016-98D6-B04B662070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4" y="1968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1111</a:t>
              </a:r>
            </a:p>
          </p:txBody>
        </p:sp>
        <p:sp>
          <p:nvSpPr>
            <p:cNvPr id="21567" name="Text Box 42">
              <a:extLst>
                <a:ext uri="{FF2B5EF4-FFF2-40B4-BE49-F238E27FC236}">
                  <a16:creationId xmlns:a16="http://schemas.microsoft.com/office/drawing/2014/main" id="{CF7976EF-3079-4B44-B980-3C45D3E883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4" y="2102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1111</a:t>
              </a:r>
            </a:p>
          </p:txBody>
        </p:sp>
        <p:sp>
          <p:nvSpPr>
            <p:cNvPr id="21568" name="Text Box 43">
              <a:extLst>
                <a:ext uri="{FF2B5EF4-FFF2-40B4-BE49-F238E27FC236}">
                  <a16:creationId xmlns:a16="http://schemas.microsoft.com/office/drawing/2014/main" id="{41775D08-77EE-41C5-9CFA-DFE0AA6BFA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4" y="2438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1111</a:t>
              </a:r>
            </a:p>
          </p:txBody>
        </p:sp>
        <p:sp>
          <p:nvSpPr>
            <p:cNvPr id="21569" name="Text Box 44">
              <a:extLst>
                <a:ext uri="{FF2B5EF4-FFF2-40B4-BE49-F238E27FC236}">
                  <a16:creationId xmlns:a16="http://schemas.microsoft.com/office/drawing/2014/main" id="{8685BD83-FDA7-42A7-A556-5617739163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0" y="2304"/>
              <a:ext cx="30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  <p:sp>
          <p:nvSpPr>
            <p:cNvPr id="21570" name="Text Box 45">
              <a:extLst>
                <a:ext uri="{FF2B5EF4-FFF2-40B4-BE49-F238E27FC236}">
                  <a16:creationId xmlns:a16="http://schemas.microsoft.com/office/drawing/2014/main" id="{7E14F172-5E00-4C86-A2C1-1DAFDFE552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4" y="1968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0000</a:t>
              </a:r>
            </a:p>
          </p:txBody>
        </p:sp>
        <p:sp>
          <p:nvSpPr>
            <p:cNvPr id="21571" name="Text Box 46">
              <a:extLst>
                <a:ext uri="{FF2B5EF4-FFF2-40B4-BE49-F238E27FC236}">
                  <a16:creationId xmlns:a16="http://schemas.microsoft.com/office/drawing/2014/main" id="{B0636C4F-7A24-48ED-BDF3-C09D7DDB8D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4" y="2102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0001</a:t>
              </a:r>
            </a:p>
          </p:txBody>
        </p:sp>
        <p:sp>
          <p:nvSpPr>
            <p:cNvPr id="21572" name="Text Box 47">
              <a:extLst>
                <a:ext uri="{FF2B5EF4-FFF2-40B4-BE49-F238E27FC236}">
                  <a16:creationId xmlns:a16="http://schemas.microsoft.com/office/drawing/2014/main" id="{EF293985-A726-45B6-93B1-43835D2A0B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4" y="2438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1110</a:t>
              </a:r>
            </a:p>
          </p:txBody>
        </p:sp>
        <p:sp>
          <p:nvSpPr>
            <p:cNvPr id="21573" name="Text Box 48">
              <a:extLst>
                <a:ext uri="{FF2B5EF4-FFF2-40B4-BE49-F238E27FC236}">
                  <a16:creationId xmlns:a16="http://schemas.microsoft.com/office/drawing/2014/main" id="{BC2ECB29-5EFB-4BDC-9F5F-FD5F110EA9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0" y="2304"/>
              <a:ext cx="30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</p:grpSp>
      <p:grpSp>
        <p:nvGrpSpPr>
          <p:cNvPr id="5" name="Group 49">
            <a:extLst>
              <a:ext uri="{FF2B5EF4-FFF2-40B4-BE49-F238E27FC236}">
                <a16:creationId xmlns:a16="http://schemas.microsoft.com/office/drawing/2014/main" id="{191A22B0-CA5C-4529-9460-DBBBB63C187A}"/>
              </a:ext>
            </a:extLst>
          </p:cNvPr>
          <p:cNvGrpSpPr>
            <a:grpSpLocks/>
          </p:cNvGrpSpPr>
          <p:nvPr/>
        </p:nvGrpSpPr>
        <p:grpSpPr bwMode="auto">
          <a:xfrm>
            <a:off x="2752725" y="5562600"/>
            <a:ext cx="3124200" cy="1143000"/>
            <a:chOff x="1686" y="3504"/>
            <a:chExt cx="1968" cy="720"/>
          </a:xfrm>
        </p:grpSpPr>
        <p:sp>
          <p:nvSpPr>
            <p:cNvPr id="21540" name="Rectangle 50">
              <a:extLst>
                <a:ext uri="{FF2B5EF4-FFF2-40B4-BE49-F238E27FC236}">
                  <a16:creationId xmlns:a16="http://schemas.microsoft.com/office/drawing/2014/main" id="{C9026A17-147E-4C4C-9AAC-8724E103F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6" y="3514"/>
              <a:ext cx="1968" cy="6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41" name="Text Box 51">
              <a:extLst>
                <a:ext uri="{FF2B5EF4-FFF2-40B4-BE49-F238E27FC236}">
                  <a16:creationId xmlns:a16="http://schemas.microsoft.com/office/drawing/2014/main" id="{064174C2-574D-4C01-B60F-3E090501BB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4" y="3504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1111</a:t>
              </a:r>
            </a:p>
          </p:txBody>
        </p:sp>
        <p:sp>
          <p:nvSpPr>
            <p:cNvPr id="21542" name="Text Box 52">
              <a:extLst>
                <a:ext uri="{FF2B5EF4-FFF2-40B4-BE49-F238E27FC236}">
                  <a16:creationId xmlns:a16="http://schemas.microsoft.com/office/drawing/2014/main" id="{00BF558C-00BC-4954-8354-71143EA24E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4" y="3638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1111</a:t>
              </a:r>
            </a:p>
          </p:txBody>
        </p:sp>
        <p:sp>
          <p:nvSpPr>
            <p:cNvPr id="21543" name="Text Box 53">
              <a:extLst>
                <a:ext uri="{FF2B5EF4-FFF2-40B4-BE49-F238E27FC236}">
                  <a16:creationId xmlns:a16="http://schemas.microsoft.com/office/drawing/2014/main" id="{2CF7AA56-B782-435F-B1AB-034D3F153F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4" y="3974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1111</a:t>
              </a:r>
            </a:p>
          </p:txBody>
        </p:sp>
        <p:sp>
          <p:nvSpPr>
            <p:cNvPr id="21544" name="Text Box 54">
              <a:extLst>
                <a:ext uri="{FF2B5EF4-FFF2-40B4-BE49-F238E27FC236}">
                  <a16:creationId xmlns:a16="http://schemas.microsoft.com/office/drawing/2014/main" id="{A0D385C7-5007-43AB-B5BB-EDE81003BA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0" y="3840"/>
              <a:ext cx="30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  <p:sp>
          <p:nvSpPr>
            <p:cNvPr id="21545" name="Text Box 55">
              <a:extLst>
                <a:ext uri="{FF2B5EF4-FFF2-40B4-BE49-F238E27FC236}">
                  <a16:creationId xmlns:a16="http://schemas.microsoft.com/office/drawing/2014/main" id="{0F2BC9E6-C3F7-4632-B9C3-B27AA0C4BE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4" y="3504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1111</a:t>
              </a:r>
            </a:p>
          </p:txBody>
        </p:sp>
        <p:sp>
          <p:nvSpPr>
            <p:cNvPr id="21546" name="Text Box 56">
              <a:extLst>
                <a:ext uri="{FF2B5EF4-FFF2-40B4-BE49-F238E27FC236}">
                  <a16:creationId xmlns:a16="http://schemas.microsoft.com/office/drawing/2014/main" id="{A3789863-BC41-462D-B073-A598A5CF6E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4" y="3638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1111</a:t>
              </a:r>
            </a:p>
          </p:txBody>
        </p:sp>
        <p:sp>
          <p:nvSpPr>
            <p:cNvPr id="21547" name="Text Box 57">
              <a:extLst>
                <a:ext uri="{FF2B5EF4-FFF2-40B4-BE49-F238E27FC236}">
                  <a16:creationId xmlns:a16="http://schemas.microsoft.com/office/drawing/2014/main" id="{ED731BB3-36F3-4AF9-8BC9-4E69C798E8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4" y="3974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1111</a:t>
              </a:r>
            </a:p>
          </p:txBody>
        </p:sp>
        <p:sp>
          <p:nvSpPr>
            <p:cNvPr id="21548" name="Text Box 58">
              <a:extLst>
                <a:ext uri="{FF2B5EF4-FFF2-40B4-BE49-F238E27FC236}">
                  <a16:creationId xmlns:a16="http://schemas.microsoft.com/office/drawing/2014/main" id="{27AF55A6-3CD8-402A-8477-93D8719EF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0" y="3840"/>
              <a:ext cx="30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  <p:sp>
          <p:nvSpPr>
            <p:cNvPr id="21549" name="Text Box 59">
              <a:extLst>
                <a:ext uri="{FF2B5EF4-FFF2-40B4-BE49-F238E27FC236}">
                  <a16:creationId xmlns:a16="http://schemas.microsoft.com/office/drawing/2014/main" id="{EAE7BEA3-8280-40A8-841D-DBD4E36AA3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0" y="3504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1111</a:t>
              </a:r>
            </a:p>
          </p:txBody>
        </p:sp>
        <p:sp>
          <p:nvSpPr>
            <p:cNvPr id="21550" name="Text Box 60">
              <a:extLst>
                <a:ext uri="{FF2B5EF4-FFF2-40B4-BE49-F238E27FC236}">
                  <a16:creationId xmlns:a16="http://schemas.microsoft.com/office/drawing/2014/main" id="{251A89FE-8818-48D3-AC94-61B0D91F4A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0" y="3638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1111</a:t>
              </a:r>
            </a:p>
          </p:txBody>
        </p:sp>
        <p:sp>
          <p:nvSpPr>
            <p:cNvPr id="21551" name="Text Box 61">
              <a:extLst>
                <a:ext uri="{FF2B5EF4-FFF2-40B4-BE49-F238E27FC236}">
                  <a16:creationId xmlns:a16="http://schemas.microsoft.com/office/drawing/2014/main" id="{9D044324-2738-4998-86E0-827C7856C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0" y="3974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1111</a:t>
              </a:r>
            </a:p>
          </p:txBody>
        </p:sp>
        <p:sp>
          <p:nvSpPr>
            <p:cNvPr id="21552" name="Text Box 62">
              <a:extLst>
                <a:ext uri="{FF2B5EF4-FFF2-40B4-BE49-F238E27FC236}">
                  <a16:creationId xmlns:a16="http://schemas.microsoft.com/office/drawing/2014/main" id="{87DF2E76-024C-4EE9-B943-2E0B32A7FF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6" y="3840"/>
              <a:ext cx="30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  <p:sp>
          <p:nvSpPr>
            <p:cNvPr id="21553" name="Text Box 63">
              <a:extLst>
                <a:ext uri="{FF2B5EF4-FFF2-40B4-BE49-F238E27FC236}">
                  <a16:creationId xmlns:a16="http://schemas.microsoft.com/office/drawing/2014/main" id="{37CADB53-980E-4C27-8955-68BFAAE9FE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0" y="3504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0000</a:t>
              </a:r>
            </a:p>
          </p:txBody>
        </p:sp>
        <p:sp>
          <p:nvSpPr>
            <p:cNvPr id="21554" name="Text Box 64">
              <a:extLst>
                <a:ext uri="{FF2B5EF4-FFF2-40B4-BE49-F238E27FC236}">
                  <a16:creationId xmlns:a16="http://schemas.microsoft.com/office/drawing/2014/main" id="{A152F749-EDAB-4267-9928-9B14CC7CCA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0" y="3638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0001</a:t>
              </a:r>
            </a:p>
          </p:txBody>
        </p:sp>
        <p:sp>
          <p:nvSpPr>
            <p:cNvPr id="21555" name="Text Box 65">
              <a:extLst>
                <a:ext uri="{FF2B5EF4-FFF2-40B4-BE49-F238E27FC236}">
                  <a16:creationId xmlns:a16="http://schemas.microsoft.com/office/drawing/2014/main" id="{F1E46497-8CD3-4143-B546-CFF39677B9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0" y="3974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1111</a:t>
              </a:r>
            </a:p>
          </p:txBody>
        </p:sp>
        <p:sp>
          <p:nvSpPr>
            <p:cNvPr id="21556" name="Text Box 66">
              <a:extLst>
                <a:ext uri="{FF2B5EF4-FFF2-40B4-BE49-F238E27FC236}">
                  <a16:creationId xmlns:a16="http://schemas.microsoft.com/office/drawing/2014/main" id="{6C912D51-AA69-48A6-9A07-FB26FD8BF4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6" y="3840"/>
              <a:ext cx="30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</p:grpSp>
      <p:grpSp>
        <p:nvGrpSpPr>
          <p:cNvPr id="6" name="Group 67">
            <a:extLst>
              <a:ext uri="{FF2B5EF4-FFF2-40B4-BE49-F238E27FC236}">
                <a16:creationId xmlns:a16="http://schemas.microsoft.com/office/drawing/2014/main" id="{544F39C3-D0CA-4A5B-B1D1-28882BE3268F}"/>
              </a:ext>
            </a:extLst>
          </p:cNvPr>
          <p:cNvGrpSpPr>
            <a:grpSpLocks/>
          </p:cNvGrpSpPr>
          <p:nvPr/>
        </p:nvGrpSpPr>
        <p:grpSpPr bwMode="auto">
          <a:xfrm>
            <a:off x="2752725" y="4343400"/>
            <a:ext cx="3124200" cy="1143000"/>
            <a:chOff x="1686" y="2736"/>
            <a:chExt cx="1968" cy="720"/>
          </a:xfrm>
        </p:grpSpPr>
        <p:sp>
          <p:nvSpPr>
            <p:cNvPr id="21523" name="Rectangle 68">
              <a:extLst>
                <a:ext uri="{FF2B5EF4-FFF2-40B4-BE49-F238E27FC236}">
                  <a16:creationId xmlns:a16="http://schemas.microsoft.com/office/drawing/2014/main" id="{BE37A9C7-07F4-40F0-B04B-6C961CBD8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6" y="2746"/>
              <a:ext cx="1968" cy="6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24" name="Text Box 69">
              <a:extLst>
                <a:ext uri="{FF2B5EF4-FFF2-40B4-BE49-F238E27FC236}">
                  <a16:creationId xmlns:a16="http://schemas.microsoft.com/office/drawing/2014/main" id="{FE266650-2DBC-45A7-93F2-1BE2BE081D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4" y="2736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1111</a:t>
              </a:r>
            </a:p>
          </p:txBody>
        </p:sp>
        <p:sp>
          <p:nvSpPr>
            <p:cNvPr id="21525" name="Text Box 70">
              <a:extLst>
                <a:ext uri="{FF2B5EF4-FFF2-40B4-BE49-F238E27FC236}">
                  <a16:creationId xmlns:a16="http://schemas.microsoft.com/office/drawing/2014/main" id="{4C17E1FE-44A9-4547-917E-A8B7A2D824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4" y="2870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1111</a:t>
              </a:r>
            </a:p>
          </p:txBody>
        </p:sp>
        <p:sp>
          <p:nvSpPr>
            <p:cNvPr id="21526" name="Text Box 71">
              <a:extLst>
                <a:ext uri="{FF2B5EF4-FFF2-40B4-BE49-F238E27FC236}">
                  <a16:creationId xmlns:a16="http://schemas.microsoft.com/office/drawing/2014/main" id="{13022E0F-7943-42C1-9BA6-2F17E68BEE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4" y="3206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1111</a:t>
              </a:r>
            </a:p>
          </p:txBody>
        </p:sp>
        <p:sp>
          <p:nvSpPr>
            <p:cNvPr id="21527" name="Text Box 72">
              <a:extLst>
                <a:ext uri="{FF2B5EF4-FFF2-40B4-BE49-F238E27FC236}">
                  <a16:creationId xmlns:a16="http://schemas.microsoft.com/office/drawing/2014/main" id="{F21E6639-4B86-4B23-88E4-0B9A83E85F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0" y="3072"/>
              <a:ext cx="30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  <p:sp>
          <p:nvSpPr>
            <p:cNvPr id="21528" name="Text Box 73">
              <a:extLst>
                <a:ext uri="{FF2B5EF4-FFF2-40B4-BE49-F238E27FC236}">
                  <a16:creationId xmlns:a16="http://schemas.microsoft.com/office/drawing/2014/main" id="{13BFCF68-EAEF-4545-B625-B38AFF4C5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4" y="2736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1111</a:t>
              </a:r>
            </a:p>
          </p:txBody>
        </p:sp>
        <p:sp>
          <p:nvSpPr>
            <p:cNvPr id="21529" name="Text Box 74">
              <a:extLst>
                <a:ext uri="{FF2B5EF4-FFF2-40B4-BE49-F238E27FC236}">
                  <a16:creationId xmlns:a16="http://schemas.microsoft.com/office/drawing/2014/main" id="{16463CD9-4768-4E62-A491-A92FE46906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4" y="2870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1111</a:t>
              </a:r>
            </a:p>
          </p:txBody>
        </p:sp>
        <p:sp>
          <p:nvSpPr>
            <p:cNvPr id="21530" name="Text Box 75">
              <a:extLst>
                <a:ext uri="{FF2B5EF4-FFF2-40B4-BE49-F238E27FC236}">
                  <a16:creationId xmlns:a16="http://schemas.microsoft.com/office/drawing/2014/main" id="{0F8D577C-1701-44E3-95CA-62EE01E30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4" y="3206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1111</a:t>
              </a:r>
            </a:p>
          </p:txBody>
        </p:sp>
        <p:sp>
          <p:nvSpPr>
            <p:cNvPr id="21531" name="Text Box 76">
              <a:extLst>
                <a:ext uri="{FF2B5EF4-FFF2-40B4-BE49-F238E27FC236}">
                  <a16:creationId xmlns:a16="http://schemas.microsoft.com/office/drawing/2014/main" id="{7FEB2E6D-3BE6-417A-AAA0-FCCE2BAD71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0" y="3072"/>
              <a:ext cx="30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  <p:sp>
          <p:nvSpPr>
            <p:cNvPr id="21532" name="Text Box 77">
              <a:extLst>
                <a:ext uri="{FF2B5EF4-FFF2-40B4-BE49-F238E27FC236}">
                  <a16:creationId xmlns:a16="http://schemas.microsoft.com/office/drawing/2014/main" id="{2C7EB7E7-4B85-40B2-9508-F96D534624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2" y="2736"/>
              <a:ext cx="2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21533" name="Text Box 78">
              <a:extLst>
                <a:ext uri="{FF2B5EF4-FFF2-40B4-BE49-F238E27FC236}">
                  <a16:creationId xmlns:a16="http://schemas.microsoft.com/office/drawing/2014/main" id="{2C2B8E32-363A-4849-A969-D4141EDB11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2" y="2880"/>
              <a:ext cx="2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21534" name="Text Box 79">
              <a:extLst>
                <a:ext uri="{FF2B5EF4-FFF2-40B4-BE49-F238E27FC236}">
                  <a16:creationId xmlns:a16="http://schemas.microsoft.com/office/drawing/2014/main" id="{F9E39E8E-7E79-4798-A76A-1FA0CE565E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2" y="3206"/>
              <a:ext cx="2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000" b="1" i="0" u="none" strike="noStrike" kern="1200" cap="none" spc="0" normalizeH="0" baseline="-1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21535" name="Text Box 80">
              <a:extLst>
                <a:ext uri="{FF2B5EF4-FFF2-40B4-BE49-F238E27FC236}">
                  <a16:creationId xmlns:a16="http://schemas.microsoft.com/office/drawing/2014/main" id="{CC7790F3-30D9-4E65-A8C4-B878B5FC4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2" y="3072"/>
              <a:ext cx="30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  <p:sp>
          <p:nvSpPr>
            <p:cNvPr id="21536" name="Text Box 81">
              <a:extLst>
                <a:ext uri="{FF2B5EF4-FFF2-40B4-BE49-F238E27FC236}">
                  <a16:creationId xmlns:a16="http://schemas.microsoft.com/office/drawing/2014/main" id="{001FCA84-8E57-4A7B-9ECA-BC0121D19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0" y="2736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0000</a:t>
              </a:r>
            </a:p>
          </p:txBody>
        </p:sp>
        <p:sp>
          <p:nvSpPr>
            <p:cNvPr id="21537" name="Text Box 82">
              <a:extLst>
                <a:ext uri="{FF2B5EF4-FFF2-40B4-BE49-F238E27FC236}">
                  <a16:creationId xmlns:a16="http://schemas.microsoft.com/office/drawing/2014/main" id="{71EB2DDC-3231-4513-BA19-DF5A78B4A7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0" y="2870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0001</a:t>
              </a:r>
            </a:p>
          </p:txBody>
        </p:sp>
        <p:sp>
          <p:nvSpPr>
            <p:cNvPr id="21538" name="Text Box 83">
              <a:extLst>
                <a:ext uri="{FF2B5EF4-FFF2-40B4-BE49-F238E27FC236}">
                  <a16:creationId xmlns:a16="http://schemas.microsoft.com/office/drawing/2014/main" id="{0EE8CE7F-CB8E-49AC-A796-D5924E89AE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0" y="3206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1110</a:t>
              </a:r>
            </a:p>
          </p:txBody>
        </p:sp>
        <p:sp>
          <p:nvSpPr>
            <p:cNvPr id="21539" name="Text Box 84">
              <a:extLst>
                <a:ext uri="{FF2B5EF4-FFF2-40B4-BE49-F238E27FC236}">
                  <a16:creationId xmlns:a16="http://schemas.microsoft.com/office/drawing/2014/main" id="{7A54A755-581E-4CA1-931E-E59B372F2F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6" y="3072"/>
              <a:ext cx="30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</p:grpSp>
      <p:sp>
        <p:nvSpPr>
          <p:cNvPr id="5205" name="Text Box 85">
            <a:extLst>
              <a:ext uri="{FF2B5EF4-FFF2-40B4-BE49-F238E27FC236}">
                <a16:creationId xmlns:a16="http://schemas.microsoft.com/office/drawing/2014/main" id="{BC7D9AC9-D0AE-42BB-865A-CF87EE6AE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600" y="2270125"/>
            <a:ext cx="139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位操作码</a:t>
            </a:r>
          </a:p>
        </p:txBody>
      </p:sp>
      <p:sp>
        <p:nvSpPr>
          <p:cNvPr id="5206" name="Text Box 86">
            <a:extLst>
              <a:ext uri="{FF2B5EF4-FFF2-40B4-BE49-F238E27FC236}">
                <a16:creationId xmlns:a16="http://schemas.microsoft.com/office/drawing/2014/main" id="{0E1C25D3-CEAE-489F-B16A-21D7B875A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600" y="3489325"/>
            <a:ext cx="139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位操作码</a:t>
            </a:r>
          </a:p>
        </p:txBody>
      </p:sp>
      <p:sp>
        <p:nvSpPr>
          <p:cNvPr id="5207" name="Text Box 87">
            <a:extLst>
              <a:ext uri="{FF2B5EF4-FFF2-40B4-BE49-F238E27FC236}">
                <a16:creationId xmlns:a16="http://schemas.microsoft.com/office/drawing/2014/main" id="{43E6218E-C8F6-4C53-A2ED-FB7C31CF1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724400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12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位操作码</a:t>
            </a:r>
          </a:p>
        </p:txBody>
      </p:sp>
      <p:sp>
        <p:nvSpPr>
          <p:cNvPr id="5208" name="Text Box 88">
            <a:extLst>
              <a:ext uri="{FF2B5EF4-FFF2-40B4-BE49-F238E27FC236}">
                <a16:creationId xmlns:a16="http://schemas.microsoft.com/office/drawing/2014/main" id="{1BFC9BB5-6B1F-44A3-B71D-CDCD4D501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927725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16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位操作码</a:t>
            </a:r>
          </a:p>
        </p:txBody>
      </p:sp>
      <p:sp>
        <p:nvSpPr>
          <p:cNvPr id="5209" name="Text Box 89">
            <a:extLst>
              <a:ext uri="{FF2B5EF4-FFF2-40B4-BE49-F238E27FC236}">
                <a16:creationId xmlns:a16="http://schemas.microsoft.com/office/drawing/2014/main" id="{6F537BD2-6495-46FE-AC18-263F5931D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9325" y="2270125"/>
            <a:ext cx="3114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最多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15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条三地址指令</a:t>
            </a:r>
          </a:p>
        </p:txBody>
      </p:sp>
      <p:sp>
        <p:nvSpPr>
          <p:cNvPr id="5210" name="Text Box 90">
            <a:extLst>
              <a:ext uri="{FF2B5EF4-FFF2-40B4-BE49-F238E27FC236}">
                <a16:creationId xmlns:a16="http://schemas.microsoft.com/office/drawing/2014/main" id="{62CF4D27-FF5F-4BA0-8578-7C14241B7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9325" y="3489325"/>
            <a:ext cx="27193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最多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15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条二地址指令</a:t>
            </a:r>
          </a:p>
        </p:txBody>
      </p:sp>
      <p:sp>
        <p:nvSpPr>
          <p:cNvPr id="5211" name="Text Box 91">
            <a:extLst>
              <a:ext uri="{FF2B5EF4-FFF2-40B4-BE49-F238E27FC236}">
                <a16:creationId xmlns:a16="http://schemas.microsoft.com/office/drawing/2014/main" id="{8D91CA4E-9FD4-4D24-AF76-6415FC1B8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9325" y="4724400"/>
            <a:ext cx="26463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最多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15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条一地址指令</a:t>
            </a:r>
          </a:p>
        </p:txBody>
      </p:sp>
      <p:sp>
        <p:nvSpPr>
          <p:cNvPr id="5212" name="Text Box 92">
            <a:extLst>
              <a:ext uri="{FF2B5EF4-FFF2-40B4-BE49-F238E27FC236}">
                <a16:creationId xmlns:a16="http://schemas.microsoft.com/office/drawing/2014/main" id="{11BEC25E-ED03-43A2-B720-EF1ABD0DD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9325" y="5927725"/>
            <a:ext cx="1971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条零地址指令</a:t>
            </a:r>
          </a:p>
        </p:txBody>
      </p:sp>
    </p:spTree>
    <p:extLst>
      <p:ext uri="{BB962C8B-B14F-4D97-AF65-F5344CB8AC3E}">
        <p14:creationId xmlns:p14="http://schemas.microsoft.com/office/powerpoint/2010/main" val="312495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autoUpdateAnimBg="0"/>
      <p:bldP spid="5205" grpId="0" autoUpdateAnimBg="0"/>
      <p:bldP spid="5206" grpId="0" autoUpdateAnimBg="0"/>
      <p:bldP spid="5207" grpId="0" autoUpdateAnimBg="0"/>
      <p:bldP spid="5208" grpId="0" autoUpdateAnimBg="0"/>
      <p:bldP spid="5209" grpId="0" autoUpdateAnimBg="0"/>
      <p:bldP spid="5210" grpId="0" autoUpdateAnimBg="0"/>
      <p:bldP spid="5211" grpId="0" autoUpdateAnimBg="0"/>
      <p:bldP spid="521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>
            <a:extLst>
              <a:ext uri="{FF2B5EF4-FFF2-40B4-BE49-F238E27FC236}">
                <a16:creationId xmlns:a16="http://schemas.microsoft.com/office/drawing/2014/main" id="{4FD726B4-CE24-4E51-8B0D-A36B0ED2FEDC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44463"/>
            <a:ext cx="7075488" cy="6561137"/>
            <a:chOff x="192" y="91"/>
            <a:chExt cx="4457" cy="4133"/>
          </a:xfrm>
        </p:grpSpPr>
        <p:sp>
          <p:nvSpPr>
            <p:cNvPr id="22535" name="Text Box 3">
              <a:extLst>
                <a:ext uri="{FF2B5EF4-FFF2-40B4-BE49-F238E27FC236}">
                  <a16:creationId xmlns:a16="http://schemas.microsoft.com/office/drawing/2014/main" id="{0586E89B-74B6-4406-94A5-6281757FBF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91"/>
              <a:ext cx="254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(3) </a:t>
              </a:r>
              <a:r>
                <a:rPr kumimoji="1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扩展操作码技术</a:t>
              </a:r>
            </a:p>
          </p:txBody>
        </p:sp>
        <p:sp>
          <p:nvSpPr>
            <p:cNvPr id="22536" name="Text Box 4">
              <a:extLst>
                <a:ext uri="{FF2B5EF4-FFF2-40B4-BE49-F238E27FC236}">
                  <a16:creationId xmlns:a16="http://schemas.microsoft.com/office/drawing/2014/main" id="{580B4571-0814-41B5-97B6-42B14B4ABA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480"/>
              <a:ext cx="412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操作码的位数随地址数的减少而增加</a:t>
              </a:r>
            </a:p>
          </p:txBody>
        </p:sp>
        <p:grpSp>
          <p:nvGrpSpPr>
            <p:cNvPr id="22537" name="Group 5">
              <a:extLst>
                <a:ext uri="{FF2B5EF4-FFF2-40B4-BE49-F238E27FC236}">
                  <a16:creationId xmlns:a16="http://schemas.microsoft.com/office/drawing/2014/main" id="{8D39B5AB-38C9-4A91-9F1A-6479F7ED92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816"/>
              <a:ext cx="3078" cy="3408"/>
              <a:chOff x="624" y="816"/>
              <a:chExt cx="3078" cy="3408"/>
            </a:xfrm>
          </p:grpSpPr>
          <p:grpSp>
            <p:nvGrpSpPr>
              <p:cNvPr id="22538" name="Group 6">
                <a:extLst>
                  <a:ext uri="{FF2B5EF4-FFF2-40B4-BE49-F238E27FC236}">
                    <a16:creationId xmlns:a16="http://schemas.microsoft.com/office/drawing/2014/main" id="{3529DDB7-EA33-472D-A1F8-96370DF5E3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4" y="816"/>
                <a:ext cx="1962" cy="288"/>
                <a:chOff x="1686" y="1056"/>
                <a:chExt cx="1920" cy="288"/>
              </a:xfrm>
            </p:grpSpPr>
            <p:sp>
              <p:nvSpPr>
                <p:cNvPr id="22615" name="Text Box 7">
                  <a:extLst>
                    <a:ext uri="{FF2B5EF4-FFF2-40B4-BE49-F238E27FC236}">
                      <a16:creationId xmlns:a16="http://schemas.microsoft.com/office/drawing/2014/main" id="{A40EA6ED-2CC4-4F82-9592-D0B87234FE3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36" y="1056"/>
                  <a:ext cx="374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OP</a:t>
                  </a:r>
                </a:p>
              </p:txBody>
            </p:sp>
            <p:sp>
              <p:nvSpPr>
                <p:cNvPr id="22616" name="Text Box 8">
                  <a:extLst>
                    <a:ext uri="{FF2B5EF4-FFF2-40B4-BE49-F238E27FC236}">
                      <a16:creationId xmlns:a16="http://schemas.microsoft.com/office/drawing/2014/main" id="{74E4584F-7975-4FA3-A315-1926DC4AF0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14" y="1056"/>
                  <a:ext cx="36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 A</a:t>
                  </a:r>
                  <a:r>
                    <a:rPr kumimoji="1" lang="en-US" altLang="zh-CN" sz="2400" b="1" i="0" u="none" strike="noStrike" kern="1200" cap="none" spc="0" normalizeH="0" baseline="-2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22617" name="Text Box 9">
                  <a:extLst>
                    <a:ext uri="{FF2B5EF4-FFF2-40B4-BE49-F238E27FC236}">
                      <a16:creationId xmlns:a16="http://schemas.microsoft.com/office/drawing/2014/main" id="{BB64E929-C0E1-4114-973A-339DE8DB80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11" y="1056"/>
                  <a:ext cx="359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 A</a:t>
                  </a:r>
                  <a:r>
                    <a:rPr kumimoji="1" lang="en-US" altLang="zh-CN" sz="2400" b="1" i="0" u="none" strike="noStrike" kern="1200" cap="none" spc="0" normalizeH="0" baseline="-2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22618" name="Text Box 10">
                  <a:extLst>
                    <a:ext uri="{FF2B5EF4-FFF2-40B4-BE49-F238E27FC236}">
                      <a16:creationId xmlns:a16="http://schemas.microsoft.com/office/drawing/2014/main" id="{5A6A5F97-6855-45A8-B93E-6AA0FEED001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74" y="1056"/>
                  <a:ext cx="36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 A</a:t>
                  </a:r>
                  <a:r>
                    <a:rPr kumimoji="1" lang="en-US" altLang="zh-CN" sz="2400" b="1" i="0" u="none" strike="noStrike" kern="1200" cap="none" spc="0" normalizeH="0" baseline="-2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22619" name="Rectangle 11">
                  <a:extLst>
                    <a:ext uri="{FF2B5EF4-FFF2-40B4-BE49-F238E27FC236}">
                      <a16:creationId xmlns:a16="http://schemas.microsoft.com/office/drawing/2014/main" id="{9B135571-F556-4354-8E3A-6385AF6273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6" y="1056"/>
                  <a:ext cx="478" cy="288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2620" name="Rectangle 12">
                  <a:extLst>
                    <a:ext uri="{FF2B5EF4-FFF2-40B4-BE49-F238E27FC236}">
                      <a16:creationId xmlns:a16="http://schemas.microsoft.com/office/drawing/2014/main" id="{CA84E719-E1E4-4477-A4B2-B387D080CB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8" y="1056"/>
                  <a:ext cx="478" cy="288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2621" name="Rectangle 13">
                  <a:extLst>
                    <a:ext uri="{FF2B5EF4-FFF2-40B4-BE49-F238E27FC236}">
                      <a16:creationId xmlns:a16="http://schemas.microsoft.com/office/drawing/2014/main" id="{32B9540B-5546-4D9B-A7BD-72DE3B25E5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6" y="1056"/>
                  <a:ext cx="478" cy="288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2622" name="Rectangle 14">
                  <a:extLst>
                    <a:ext uri="{FF2B5EF4-FFF2-40B4-BE49-F238E27FC236}">
                      <a16:creationId xmlns:a16="http://schemas.microsoft.com/office/drawing/2014/main" id="{603EDB89-90E5-4B84-9F09-5BE1567DE9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28" y="1056"/>
                  <a:ext cx="478" cy="288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2539" name="Group 15">
                <a:extLst>
                  <a:ext uri="{FF2B5EF4-FFF2-40B4-BE49-F238E27FC236}">
                    <a16:creationId xmlns:a16="http://schemas.microsoft.com/office/drawing/2014/main" id="{92E149E7-ED4C-4360-B816-D6A408BBD7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4" y="1200"/>
                <a:ext cx="1968" cy="720"/>
                <a:chOff x="1686" y="1200"/>
                <a:chExt cx="1968" cy="720"/>
              </a:xfrm>
            </p:grpSpPr>
            <p:sp>
              <p:nvSpPr>
                <p:cNvPr id="22598" name="Rectangle 16">
                  <a:extLst>
                    <a:ext uri="{FF2B5EF4-FFF2-40B4-BE49-F238E27FC236}">
                      <a16:creationId xmlns:a16="http://schemas.microsoft.com/office/drawing/2014/main" id="{1D21866D-F0E9-4B70-A4EB-41203856C8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6" y="1210"/>
                  <a:ext cx="1968" cy="67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2599" name="Text Box 17">
                  <a:extLst>
                    <a:ext uri="{FF2B5EF4-FFF2-40B4-BE49-F238E27FC236}">
                      <a16:creationId xmlns:a16="http://schemas.microsoft.com/office/drawing/2014/main" id="{2B2DDD64-A99F-4A17-A8FC-05CEEFE1E24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34" y="1200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0000</a:t>
                  </a:r>
                </a:p>
              </p:txBody>
            </p:sp>
            <p:sp>
              <p:nvSpPr>
                <p:cNvPr id="22600" name="Text Box 18">
                  <a:extLst>
                    <a:ext uri="{FF2B5EF4-FFF2-40B4-BE49-F238E27FC236}">
                      <a16:creationId xmlns:a16="http://schemas.microsoft.com/office/drawing/2014/main" id="{301A0426-959D-4819-9517-8B0A0B64039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34" y="1354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0001</a:t>
                  </a:r>
                </a:p>
              </p:txBody>
            </p:sp>
            <p:sp>
              <p:nvSpPr>
                <p:cNvPr id="22601" name="Text Box 19">
                  <a:extLst>
                    <a:ext uri="{FF2B5EF4-FFF2-40B4-BE49-F238E27FC236}">
                      <a16:creationId xmlns:a16="http://schemas.microsoft.com/office/drawing/2014/main" id="{FD256D13-45A8-4459-8B91-A25BEAFAD1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34" y="1670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1110</a:t>
                  </a:r>
                </a:p>
              </p:txBody>
            </p:sp>
            <p:sp>
              <p:nvSpPr>
                <p:cNvPr id="22602" name="Text Box 20">
                  <a:extLst>
                    <a:ext uri="{FF2B5EF4-FFF2-40B4-BE49-F238E27FC236}">
                      <a16:creationId xmlns:a16="http://schemas.microsoft.com/office/drawing/2014/main" id="{558B9967-94C0-4ED5-BA66-E1F4D10E72B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10" y="1536"/>
                  <a:ext cx="308" cy="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…</a:t>
                  </a:r>
                </a:p>
              </p:txBody>
            </p:sp>
            <p:sp>
              <p:nvSpPr>
                <p:cNvPr id="22603" name="Text Box 21">
                  <a:extLst>
                    <a:ext uri="{FF2B5EF4-FFF2-40B4-BE49-F238E27FC236}">
                      <a16:creationId xmlns:a16="http://schemas.microsoft.com/office/drawing/2014/main" id="{2A18F82C-9623-4A4B-8FD5-A67F3B16AD2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10" y="1200"/>
                  <a:ext cx="2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  <a:r>
                    <a:rPr kumimoji="1" lang="en-US" altLang="zh-CN" sz="2000" b="1" i="0" u="none" strike="noStrike" kern="1200" cap="none" spc="0" normalizeH="0" baseline="-2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22604" name="Text Box 22">
                  <a:extLst>
                    <a:ext uri="{FF2B5EF4-FFF2-40B4-BE49-F238E27FC236}">
                      <a16:creationId xmlns:a16="http://schemas.microsoft.com/office/drawing/2014/main" id="{382FA235-9A1E-41C8-B197-2C7FEB088D1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10" y="1344"/>
                  <a:ext cx="2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  <a:r>
                    <a:rPr kumimoji="1" lang="en-US" altLang="zh-CN" sz="2000" b="1" i="0" u="none" strike="noStrike" kern="1200" cap="none" spc="0" normalizeH="0" baseline="-2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22605" name="Text Box 23">
                  <a:extLst>
                    <a:ext uri="{FF2B5EF4-FFF2-40B4-BE49-F238E27FC236}">
                      <a16:creationId xmlns:a16="http://schemas.microsoft.com/office/drawing/2014/main" id="{63E75948-108F-4795-B030-615D5A510DF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10" y="1670"/>
                  <a:ext cx="2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  <a:r>
                    <a:rPr kumimoji="1" lang="en-US" altLang="zh-CN" sz="2000" b="1" i="0" u="none" strike="noStrike" kern="1200" cap="none" spc="0" normalizeH="0" baseline="-1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22606" name="Text Box 24">
                  <a:extLst>
                    <a:ext uri="{FF2B5EF4-FFF2-40B4-BE49-F238E27FC236}">
                      <a16:creationId xmlns:a16="http://schemas.microsoft.com/office/drawing/2014/main" id="{1AF1C5B0-53F5-4183-90D1-060828CFC48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10" y="1536"/>
                  <a:ext cx="308" cy="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…</a:t>
                  </a:r>
                </a:p>
              </p:txBody>
            </p:sp>
            <p:sp>
              <p:nvSpPr>
                <p:cNvPr id="22607" name="Text Box 25">
                  <a:extLst>
                    <a:ext uri="{FF2B5EF4-FFF2-40B4-BE49-F238E27FC236}">
                      <a16:creationId xmlns:a16="http://schemas.microsoft.com/office/drawing/2014/main" id="{C57A6B3F-1717-4CCA-BBE9-68553EC84B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70" y="1200"/>
                  <a:ext cx="2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  <a:r>
                    <a:rPr kumimoji="1" lang="en-US" altLang="zh-CN" sz="2000" b="1" i="0" u="none" strike="noStrike" kern="1200" cap="none" spc="0" normalizeH="0" baseline="-2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22608" name="Text Box 26">
                  <a:extLst>
                    <a:ext uri="{FF2B5EF4-FFF2-40B4-BE49-F238E27FC236}">
                      <a16:creationId xmlns:a16="http://schemas.microsoft.com/office/drawing/2014/main" id="{379A3DE9-1317-42C7-849D-1B6DACB6C65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70" y="1344"/>
                  <a:ext cx="2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  <a:r>
                    <a:rPr kumimoji="1" lang="en-US" altLang="zh-CN" sz="2000" b="1" i="0" u="none" strike="noStrike" kern="1200" cap="none" spc="0" normalizeH="0" baseline="-2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22609" name="Text Box 27">
                  <a:extLst>
                    <a:ext uri="{FF2B5EF4-FFF2-40B4-BE49-F238E27FC236}">
                      <a16:creationId xmlns:a16="http://schemas.microsoft.com/office/drawing/2014/main" id="{5B0C6A42-9980-4652-A0D0-9B49F4AF3EC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70" y="1670"/>
                  <a:ext cx="2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  <a:r>
                    <a:rPr kumimoji="1" lang="en-US" altLang="zh-CN" sz="2000" b="1" i="0" u="none" strike="noStrike" kern="1200" cap="none" spc="0" normalizeH="0" baseline="-1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22610" name="Text Box 28">
                  <a:extLst>
                    <a:ext uri="{FF2B5EF4-FFF2-40B4-BE49-F238E27FC236}">
                      <a16:creationId xmlns:a16="http://schemas.microsoft.com/office/drawing/2014/main" id="{5AFF11E0-51A1-4917-9BEA-12736146C09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70" y="1536"/>
                  <a:ext cx="308" cy="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…</a:t>
                  </a:r>
                </a:p>
              </p:txBody>
            </p:sp>
            <p:sp>
              <p:nvSpPr>
                <p:cNvPr id="22611" name="Text Box 29">
                  <a:extLst>
                    <a:ext uri="{FF2B5EF4-FFF2-40B4-BE49-F238E27FC236}">
                      <a16:creationId xmlns:a16="http://schemas.microsoft.com/office/drawing/2014/main" id="{CDFBF30C-BDF3-462D-85D0-D6AD9E5CC93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02" y="1200"/>
                  <a:ext cx="2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  <a:r>
                    <a:rPr kumimoji="1" lang="en-US" altLang="zh-CN" sz="2000" b="1" i="0" u="none" strike="noStrike" kern="1200" cap="none" spc="0" normalizeH="0" baseline="-2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22612" name="Text Box 30">
                  <a:extLst>
                    <a:ext uri="{FF2B5EF4-FFF2-40B4-BE49-F238E27FC236}">
                      <a16:creationId xmlns:a16="http://schemas.microsoft.com/office/drawing/2014/main" id="{10C13D87-D32D-427D-8CF3-6F38F9E664B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02" y="1344"/>
                  <a:ext cx="2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  <a:r>
                    <a:rPr kumimoji="1" lang="en-US" altLang="zh-CN" sz="2000" b="1" i="0" u="none" strike="noStrike" kern="1200" cap="none" spc="0" normalizeH="0" baseline="-2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22613" name="Text Box 31">
                  <a:extLst>
                    <a:ext uri="{FF2B5EF4-FFF2-40B4-BE49-F238E27FC236}">
                      <a16:creationId xmlns:a16="http://schemas.microsoft.com/office/drawing/2014/main" id="{C3A339AB-B46E-4A53-B211-A03532F4D8D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02" y="1670"/>
                  <a:ext cx="2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  <a:r>
                    <a:rPr kumimoji="1" lang="en-US" altLang="zh-CN" sz="2000" b="1" i="0" u="none" strike="noStrike" kern="1200" cap="none" spc="0" normalizeH="0" baseline="-1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22614" name="Text Box 32">
                  <a:extLst>
                    <a:ext uri="{FF2B5EF4-FFF2-40B4-BE49-F238E27FC236}">
                      <a16:creationId xmlns:a16="http://schemas.microsoft.com/office/drawing/2014/main" id="{3037FFA4-1434-458A-91B2-B0E8A18302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02" y="1536"/>
                  <a:ext cx="308" cy="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…</a:t>
                  </a:r>
                </a:p>
              </p:txBody>
            </p:sp>
          </p:grpSp>
          <p:grpSp>
            <p:nvGrpSpPr>
              <p:cNvPr id="22540" name="Group 33">
                <a:extLst>
                  <a:ext uri="{FF2B5EF4-FFF2-40B4-BE49-F238E27FC236}">
                    <a16:creationId xmlns:a16="http://schemas.microsoft.com/office/drawing/2014/main" id="{19FD6402-B708-47EE-8AF3-2A09C242AB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4" y="1968"/>
                <a:ext cx="1968" cy="720"/>
                <a:chOff x="1686" y="1968"/>
                <a:chExt cx="1968" cy="720"/>
              </a:xfrm>
            </p:grpSpPr>
            <p:sp>
              <p:nvSpPr>
                <p:cNvPr id="22581" name="Rectangle 34">
                  <a:extLst>
                    <a:ext uri="{FF2B5EF4-FFF2-40B4-BE49-F238E27FC236}">
                      <a16:creationId xmlns:a16="http://schemas.microsoft.com/office/drawing/2014/main" id="{AEF2EDB8-1452-40F8-8D99-2745C9F5B0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6" y="1978"/>
                  <a:ext cx="1968" cy="67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2582" name="Text Box 35">
                  <a:extLst>
                    <a:ext uri="{FF2B5EF4-FFF2-40B4-BE49-F238E27FC236}">
                      <a16:creationId xmlns:a16="http://schemas.microsoft.com/office/drawing/2014/main" id="{FF8EF789-A003-4361-A74C-7488BFAFCC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70" y="1968"/>
                  <a:ext cx="2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  <a:r>
                    <a:rPr kumimoji="1" lang="en-US" altLang="zh-CN" sz="2000" b="1" i="0" u="none" strike="noStrike" kern="1200" cap="none" spc="0" normalizeH="0" baseline="-2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22583" name="Text Box 36">
                  <a:extLst>
                    <a:ext uri="{FF2B5EF4-FFF2-40B4-BE49-F238E27FC236}">
                      <a16:creationId xmlns:a16="http://schemas.microsoft.com/office/drawing/2014/main" id="{9C9B254B-DDFB-4B00-8CB6-8E2D2AED25F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70" y="2112"/>
                  <a:ext cx="2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  <a:r>
                    <a:rPr kumimoji="1" lang="en-US" altLang="zh-CN" sz="2000" b="1" i="0" u="none" strike="noStrike" kern="1200" cap="none" spc="0" normalizeH="0" baseline="-2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22584" name="Text Box 37">
                  <a:extLst>
                    <a:ext uri="{FF2B5EF4-FFF2-40B4-BE49-F238E27FC236}">
                      <a16:creationId xmlns:a16="http://schemas.microsoft.com/office/drawing/2014/main" id="{7FFC4B05-AEE1-44A8-B533-8B95DCE450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70" y="2438"/>
                  <a:ext cx="2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  <a:r>
                    <a:rPr kumimoji="1" lang="en-US" altLang="zh-CN" sz="2000" b="1" i="0" u="none" strike="noStrike" kern="1200" cap="none" spc="0" normalizeH="0" baseline="-1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22585" name="Text Box 38">
                  <a:extLst>
                    <a:ext uri="{FF2B5EF4-FFF2-40B4-BE49-F238E27FC236}">
                      <a16:creationId xmlns:a16="http://schemas.microsoft.com/office/drawing/2014/main" id="{51D792EE-F5AA-45A9-8F96-D510EC00D7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70" y="2304"/>
                  <a:ext cx="308" cy="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…</a:t>
                  </a:r>
                </a:p>
              </p:txBody>
            </p:sp>
            <p:sp>
              <p:nvSpPr>
                <p:cNvPr id="22586" name="Text Box 39">
                  <a:extLst>
                    <a:ext uri="{FF2B5EF4-FFF2-40B4-BE49-F238E27FC236}">
                      <a16:creationId xmlns:a16="http://schemas.microsoft.com/office/drawing/2014/main" id="{EF8F8855-4930-42F0-AD80-A11C2868638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02" y="1968"/>
                  <a:ext cx="2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  <a:r>
                    <a:rPr kumimoji="1" lang="en-US" altLang="zh-CN" sz="2000" b="1" i="0" u="none" strike="noStrike" kern="1200" cap="none" spc="0" normalizeH="0" baseline="-2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22587" name="Text Box 40">
                  <a:extLst>
                    <a:ext uri="{FF2B5EF4-FFF2-40B4-BE49-F238E27FC236}">
                      <a16:creationId xmlns:a16="http://schemas.microsoft.com/office/drawing/2014/main" id="{3DC97E21-3482-4A17-9C6A-D5133186E1E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02" y="2112"/>
                  <a:ext cx="2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  <a:r>
                    <a:rPr kumimoji="1" lang="en-US" altLang="zh-CN" sz="2000" b="1" i="0" u="none" strike="noStrike" kern="1200" cap="none" spc="0" normalizeH="0" baseline="-2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22588" name="Text Box 41">
                  <a:extLst>
                    <a:ext uri="{FF2B5EF4-FFF2-40B4-BE49-F238E27FC236}">
                      <a16:creationId xmlns:a16="http://schemas.microsoft.com/office/drawing/2014/main" id="{8F5B161E-159B-41F2-B1FE-8218A86B75D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02" y="2438"/>
                  <a:ext cx="2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  <a:r>
                    <a:rPr kumimoji="1" lang="en-US" altLang="zh-CN" sz="2000" b="1" i="0" u="none" strike="noStrike" kern="1200" cap="none" spc="0" normalizeH="0" baseline="-1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22589" name="Text Box 42">
                  <a:extLst>
                    <a:ext uri="{FF2B5EF4-FFF2-40B4-BE49-F238E27FC236}">
                      <a16:creationId xmlns:a16="http://schemas.microsoft.com/office/drawing/2014/main" id="{031724C9-A69C-4D08-AF40-9BCF7BC81D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02" y="2304"/>
                  <a:ext cx="308" cy="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…</a:t>
                  </a:r>
                </a:p>
              </p:txBody>
            </p:sp>
            <p:sp>
              <p:nvSpPr>
                <p:cNvPr id="22590" name="Text Box 43">
                  <a:extLst>
                    <a:ext uri="{FF2B5EF4-FFF2-40B4-BE49-F238E27FC236}">
                      <a16:creationId xmlns:a16="http://schemas.microsoft.com/office/drawing/2014/main" id="{3B125DF9-9ABE-4116-BF53-B1EA224BD0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34" y="196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1111</a:t>
                  </a:r>
                </a:p>
              </p:txBody>
            </p:sp>
            <p:sp>
              <p:nvSpPr>
                <p:cNvPr id="22591" name="Text Box 44">
                  <a:extLst>
                    <a:ext uri="{FF2B5EF4-FFF2-40B4-BE49-F238E27FC236}">
                      <a16:creationId xmlns:a16="http://schemas.microsoft.com/office/drawing/2014/main" id="{44E0CB0C-39D7-4A5A-A894-A32D0AD2F79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34" y="2102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1111</a:t>
                  </a:r>
                </a:p>
              </p:txBody>
            </p:sp>
            <p:sp>
              <p:nvSpPr>
                <p:cNvPr id="22592" name="Text Box 45">
                  <a:extLst>
                    <a:ext uri="{FF2B5EF4-FFF2-40B4-BE49-F238E27FC236}">
                      <a16:creationId xmlns:a16="http://schemas.microsoft.com/office/drawing/2014/main" id="{1B91781D-4C15-48D3-881F-47A49DB6B6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34" y="243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1111</a:t>
                  </a:r>
                </a:p>
              </p:txBody>
            </p:sp>
            <p:sp>
              <p:nvSpPr>
                <p:cNvPr id="22593" name="Text Box 46">
                  <a:extLst>
                    <a:ext uri="{FF2B5EF4-FFF2-40B4-BE49-F238E27FC236}">
                      <a16:creationId xmlns:a16="http://schemas.microsoft.com/office/drawing/2014/main" id="{27029BE8-7E2B-4877-BA2D-37E8DDDD290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10" y="2304"/>
                  <a:ext cx="308" cy="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…</a:t>
                  </a:r>
                </a:p>
              </p:txBody>
            </p:sp>
            <p:sp>
              <p:nvSpPr>
                <p:cNvPr id="22594" name="Text Box 47">
                  <a:extLst>
                    <a:ext uri="{FF2B5EF4-FFF2-40B4-BE49-F238E27FC236}">
                      <a16:creationId xmlns:a16="http://schemas.microsoft.com/office/drawing/2014/main" id="{D4BBFE05-3A32-4F14-B304-EB5F8BFB2E5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14" y="196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0000</a:t>
                  </a:r>
                </a:p>
              </p:txBody>
            </p:sp>
            <p:sp>
              <p:nvSpPr>
                <p:cNvPr id="22595" name="Text Box 48">
                  <a:extLst>
                    <a:ext uri="{FF2B5EF4-FFF2-40B4-BE49-F238E27FC236}">
                      <a16:creationId xmlns:a16="http://schemas.microsoft.com/office/drawing/2014/main" id="{45AADE18-4477-4B30-9768-663BD2F5321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14" y="2102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0001</a:t>
                  </a:r>
                </a:p>
              </p:txBody>
            </p:sp>
            <p:sp>
              <p:nvSpPr>
                <p:cNvPr id="22596" name="Text Box 49">
                  <a:extLst>
                    <a:ext uri="{FF2B5EF4-FFF2-40B4-BE49-F238E27FC236}">
                      <a16:creationId xmlns:a16="http://schemas.microsoft.com/office/drawing/2014/main" id="{D959961B-0C4B-4020-BEAC-F5CA83411A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14" y="243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1110</a:t>
                  </a:r>
                </a:p>
              </p:txBody>
            </p:sp>
            <p:sp>
              <p:nvSpPr>
                <p:cNvPr id="22597" name="Text Box 50">
                  <a:extLst>
                    <a:ext uri="{FF2B5EF4-FFF2-40B4-BE49-F238E27FC236}">
                      <a16:creationId xmlns:a16="http://schemas.microsoft.com/office/drawing/2014/main" id="{FBF3744E-E3D4-4A2B-93F8-AD8570ABF4C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90" y="2304"/>
                  <a:ext cx="308" cy="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…</a:t>
                  </a:r>
                </a:p>
              </p:txBody>
            </p:sp>
          </p:grpSp>
          <p:grpSp>
            <p:nvGrpSpPr>
              <p:cNvPr id="22541" name="Group 51">
                <a:extLst>
                  <a:ext uri="{FF2B5EF4-FFF2-40B4-BE49-F238E27FC236}">
                    <a16:creationId xmlns:a16="http://schemas.microsoft.com/office/drawing/2014/main" id="{446D7DD1-C25D-4BE1-8DF7-3AF803D838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4" y="3504"/>
                <a:ext cx="1968" cy="720"/>
                <a:chOff x="1686" y="3504"/>
                <a:chExt cx="1968" cy="720"/>
              </a:xfrm>
            </p:grpSpPr>
            <p:sp>
              <p:nvSpPr>
                <p:cNvPr id="22564" name="Rectangle 52">
                  <a:extLst>
                    <a:ext uri="{FF2B5EF4-FFF2-40B4-BE49-F238E27FC236}">
                      <a16:creationId xmlns:a16="http://schemas.microsoft.com/office/drawing/2014/main" id="{26738C4C-C08B-4AAC-AC36-1DD44F7BB1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6" y="3514"/>
                  <a:ext cx="1968" cy="67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2565" name="Text Box 53">
                  <a:extLst>
                    <a:ext uri="{FF2B5EF4-FFF2-40B4-BE49-F238E27FC236}">
                      <a16:creationId xmlns:a16="http://schemas.microsoft.com/office/drawing/2014/main" id="{E5E1F3F0-98EB-47C3-8A56-07F477B99D6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34" y="3504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1111</a:t>
                  </a:r>
                </a:p>
              </p:txBody>
            </p:sp>
            <p:sp>
              <p:nvSpPr>
                <p:cNvPr id="22566" name="Text Box 54">
                  <a:extLst>
                    <a:ext uri="{FF2B5EF4-FFF2-40B4-BE49-F238E27FC236}">
                      <a16:creationId xmlns:a16="http://schemas.microsoft.com/office/drawing/2014/main" id="{55D8819B-D33E-479A-9B6B-41114CC5D7D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34" y="363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1111</a:t>
                  </a:r>
                </a:p>
              </p:txBody>
            </p:sp>
            <p:sp>
              <p:nvSpPr>
                <p:cNvPr id="22567" name="Text Box 55">
                  <a:extLst>
                    <a:ext uri="{FF2B5EF4-FFF2-40B4-BE49-F238E27FC236}">
                      <a16:creationId xmlns:a16="http://schemas.microsoft.com/office/drawing/2014/main" id="{6F14DAF3-0135-46B9-95E9-92AD07845D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34" y="3974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1111</a:t>
                  </a:r>
                </a:p>
              </p:txBody>
            </p:sp>
            <p:sp>
              <p:nvSpPr>
                <p:cNvPr id="22568" name="Text Box 56">
                  <a:extLst>
                    <a:ext uri="{FF2B5EF4-FFF2-40B4-BE49-F238E27FC236}">
                      <a16:creationId xmlns:a16="http://schemas.microsoft.com/office/drawing/2014/main" id="{58F2628D-7137-41CA-867F-EB75EB2CF2A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10" y="3840"/>
                  <a:ext cx="308" cy="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…</a:t>
                  </a:r>
                </a:p>
              </p:txBody>
            </p:sp>
            <p:sp>
              <p:nvSpPr>
                <p:cNvPr id="22569" name="Text Box 57">
                  <a:extLst>
                    <a:ext uri="{FF2B5EF4-FFF2-40B4-BE49-F238E27FC236}">
                      <a16:creationId xmlns:a16="http://schemas.microsoft.com/office/drawing/2014/main" id="{B08E6D02-9C44-4D26-AB63-D721CA9817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14" y="3504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1111</a:t>
                  </a:r>
                </a:p>
              </p:txBody>
            </p:sp>
            <p:sp>
              <p:nvSpPr>
                <p:cNvPr id="22570" name="Text Box 58">
                  <a:extLst>
                    <a:ext uri="{FF2B5EF4-FFF2-40B4-BE49-F238E27FC236}">
                      <a16:creationId xmlns:a16="http://schemas.microsoft.com/office/drawing/2014/main" id="{48638D40-9171-40C5-86A4-A70C33E213A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14" y="363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1111</a:t>
                  </a:r>
                </a:p>
              </p:txBody>
            </p:sp>
            <p:sp>
              <p:nvSpPr>
                <p:cNvPr id="22571" name="Text Box 59">
                  <a:extLst>
                    <a:ext uri="{FF2B5EF4-FFF2-40B4-BE49-F238E27FC236}">
                      <a16:creationId xmlns:a16="http://schemas.microsoft.com/office/drawing/2014/main" id="{A782C5B5-89C4-4824-8CB8-3119DC35364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14" y="3974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1111</a:t>
                  </a:r>
                </a:p>
              </p:txBody>
            </p:sp>
            <p:sp>
              <p:nvSpPr>
                <p:cNvPr id="22572" name="Text Box 60">
                  <a:extLst>
                    <a:ext uri="{FF2B5EF4-FFF2-40B4-BE49-F238E27FC236}">
                      <a16:creationId xmlns:a16="http://schemas.microsoft.com/office/drawing/2014/main" id="{BC371851-73FC-46C1-9E33-01891FA582E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90" y="3840"/>
                  <a:ext cx="308" cy="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…</a:t>
                  </a:r>
                </a:p>
              </p:txBody>
            </p:sp>
            <p:sp>
              <p:nvSpPr>
                <p:cNvPr id="22573" name="Text Box 61">
                  <a:extLst>
                    <a:ext uri="{FF2B5EF4-FFF2-40B4-BE49-F238E27FC236}">
                      <a16:creationId xmlns:a16="http://schemas.microsoft.com/office/drawing/2014/main" id="{50A42BE5-1D63-459C-A093-0A4CFD64A2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90" y="3504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1111</a:t>
                  </a:r>
                </a:p>
              </p:txBody>
            </p:sp>
            <p:sp>
              <p:nvSpPr>
                <p:cNvPr id="22574" name="Text Box 62">
                  <a:extLst>
                    <a:ext uri="{FF2B5EF4-FFF2-40B4-BE49-F238E27FC236}">
                      <a16:creationId xmlns:a16="http://schemas.microsoft.com/office/drawing/2014/main" id="{722C2A6E-C048-43AE-B31A-4725EB78B82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90" y="363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1111</a:t>
                  </a:r>
                </a:p>
              </p:txBody>
            </p:sp>
            <p:sp>
              <p:nvSpPr>
                <p:cNvPr id="22575" name="Text Box 63">
                  <a:extLst>
                    <a:ext uri="{FF2B5EF4-FFF2-40B4-BE49-F238E27FC236}">
                      <a16:creationId xmlns:a16="http://schemas.microsoft.com/office/drawing/2014/main" id="{FCF002E1-5632-4413-B0F6-B2B09BAF6E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90" y="3974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1111</a:t>
                  </a:r>
                </a:p>
              </p:txBody>
            </p:sp>
            <p:sp>
              <p:nvSpPr>
                <p:cNvPr id="22576" name="Text Box 64">
                  <a:extLst>
                    <a:ext uri="{FF2B5EF4-FFF2-40B4-BE49-F238E27FC236}">
                      <a16:creationId xmlns:a16="http://schemas.microsoft.com/office/drawing/2014/main" id="{814956FF-E2FC-4566-9970-D673954CF7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66" y="3840"/>
                  <a:ext cx="308" cy="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…</a:t>
                  </a:r>
                </a:p>
              </p:txBody>
            </p:sp>
            <p:sp>
              <p:nvSpPr>
                <p:cNvPr id="22577" name="Text Box 65">
                  <a:extLst>
                    <a:ext uri="{FF2B5EF4-FFF2-40B4-BE49-F238E27FC236}">
                      <a16:creationId xmlns:a16="http://schemas.microsoft.com/office/drawing/2014/main" id="{6C4A89A9-145D-4E2E-834F-BAA1904E7CE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70" y="3504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0000</a:t>
                  </a:r>
                </a:p>
              </p:txBody>
            </p:sp>
            <p:sp>
              <p:nvSpPr>
                <p:cNvPr id="22578" name="Text Box 66">
                  <a:extLst>
                    <a:ext uri="{FF2B5EF4-FFF2-40B4-BE49-F238E27FC236}">
                      <a16:creationId xmlns:a16="http://schemas.microsoft.com/office/drawing/2014/main" id="{CE74FFE9-EF35-4055-8B29-6447082E239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70" y="363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0001</a:t>
                  </a:r>
                </a:p>
              </p:txBody>
            </p:sp>
            <p:sp>
              <p:nvSpPr>
                <p:cNvPr id="22579" name="Text Box 67">
                  <a:extLst>
                    <a:ext uri="{FF2B5EF4-FFF2-40B4-BE49-F238E27FC236}">
                      <a16:creationId xmlns:a16="http://schemas.microsoft.com/office/drawing/2014/main" id="{DA06EF2A-23D1-4CBA-A8B0-C431DC30504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70" y="3974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1111</a:t>
                  </a:r>
                </a:p>
              </p:txBody>
            </p:sp>
            <p:sp>
              <p:nvSpPr>
                <p:cNvPr id="22580" name="Text Box 68">
                  <a:extLst>
                    <a:ext uri="{FF2B5EF4-FFF2-40B4-BE49-F238E27FC236}">
                      <a16:creationId xmlns:a16="http://schemas.microsoft.com/office/drawing/2014/main" id="{4F9FAE58-EF25-4736-AB3C-6C07E0A13E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46" y="3840"/>
                  <a:ext cx="308" cy="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…</a:t>
                  </a:r>
                </a:p>
              </p:txBody>
            </p:sp>
          </p:grpSp>
          <p:grpSp>
            <p:nvGrpSpPr>
              <p:cNvPr id="22542" name="Group 69">
                <a:extLst>
                  <a:ext uri="{FF2B5EF4-FFF2-40B4-BE49-F238E27FC236}">
                    <a16:creationId xmlns:a16="http://schemas.microsoft.com/office/drawing/2014/main" id="{6B75CA2C-CF43-4F95-B6AE-C1E554F338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4" y="2736"/>
                <a:ext cx="1968" cy="720"/>
                <a:chOff x="1686" y="2736"/>
                <a:chExt cx="1968" cy="720"/>
              </a:xfrm>
            </p:grpSpPr>
            <p:sp>
              <p:nvSpPr>
                <p:cNvPr id="22547" name="Rectangle 70">
                  <a:extLst>
                    <a:ext uri="{FF2B5EF4-FFF2-40B4-BE49-F238E27FC236}">
                      <a16:creationId xmlns:a16="http://schemas.microsoft.com/office/drawing/2014/main" id="{B3674979-8F2B-4B35-86FF-D7E8C2340E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6" y="2746"/>
                  <a:ext cx="1968" cy="67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2548" name="Text Box 71">
                  <a:extLst>
                    <a:ext uri="{FF2B5EF4-FFF2-40B4-BE49-F238E27FC236}">
                      <a16:creationId xmlns:a16="http://schemas.microsoft.com/office/drawing/2014/main" id="{819FDD30-72FF-45C9-A4AE-5134EE8A63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34" y="2736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1111</a:t>
                  </a:r>
                </a:p>
              </p:txBody>
            </p:sp>
            <p:sp>
              <p:nvSpPr>
                <p:cNvPr id="22549" name="Text Box 72">
                  <a:extLst>
                    <a:ext uri="{FF2B5EF4-FFF2-40B4-BE49-F238E27FC236}">
                      <a16:creationId xmlns:a16="http://schemas.microsoft.com/office/drawing/2014/main" id="{0D4F8EAD-5274-4489-8C1E-0C1D278375B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34" y="2870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1111</a:t>
                  </a:r>
                </a:p>
              </p:txBody>
            </p:sp>
            <p:sp>
              <p:nvSpPr>
                <p:cNvPr id="22550" name="Text Box 73">
                  <a:extLst>
                    <a:ext uri="{FF2B5EF4-FFF2-40B4-BE49-F238E27FC236}">
                      <a16:creationId xmlns:a16="http://schemas.microsoft.com/office/drawing/2014/main" id="{3EC2B328-2511-4BC8-8D4F-D890F89F2B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34" y="3206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1111</a:t>
                  </a:r>
                </a:p>
              </p:txBody>
            </p:sp>
            <p:sp>
              <p:nvSpPr>
                <p:cNvPr id="22551" name="Text Box 74">
                  <a:extLst>
                    <a:ext uri="{FF2B5EF4-FFF2-40B4-BE49-F238E27FC236}">
                      <a16:creationId xmlns:a16="http://schemas.microsoft.com/office/drawing/2014/main" id="{E618E369-5FF1-4C20-B256-00F2F18CAF7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10" y="3072"/>
                  <a:ext cx="308" cy="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…</a:t>
                  </a:r>
                </a:p>
              </p:txBody>
            </p:sp>
            <p:sp>
              <p:nvSpPr>
                <p:cNvPr id="22552" name="Text Box 75">
                  <a:extLst>
                    <a:ext uri="{FF2B5EF4-FFF2-40B4-BE49-F238E27FC236}">
                      <a16:creationId xmlns:a16="http://schemas.microsoft.com/office/drawing/2014/main" id="{02123AAF-AD77-4112-939B-D5851103A2F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14" y="2736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1111</a:t>
                  </a:r>
                </a:p>
              </p:txBody>
            </p:sp>
            <p:sp>
              <p:nvSpPr>
                <p:cNvPr id="22553" name="Text Box 76">
                  <a:extLst>
                    <a:ext uri="{FF2B5EF4-FFF2-40B4-BE49-F238E27FC236}">
                      <a16:creationId xmlns:a16="http://schemas.microsoft.com/office/drawing/2014/main" id="{C263D557-350D-408B-B1C4-7550FFDEF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14" y="2870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1111</a:t>
                  </a:r>
                </a:p>
              </p:txBody>
            </p:sp>
            <p:sp>
              <p:nvSpPr>
                <p:cNvPr id="22554" name="Text Box 77">
                  <a:extLst>
                    <a:ext uri="{FF2B5EF4-FFF2-40B4-BE49-F238E27FC236}">
                      <a16:creationId xmlns:a16="http://schemas.microsoft.com/office/drawing/2014/main" id="{76106444-59D7-4886-9EA5-8ED4A149E4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14" y="3206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1111</a:t>
                  </a:r>
                </a:p>
              </p:txBody>
            </p:sp>
            <p:sp>
              <p:nvSpPr>
                <p:cNvPr id="22555" name="Text Box 78">
                  <a:extLst>
                    <a:ext uri="{FF2B5EF4-FFF2-40B4-BE49-F238E27FC236}">
                      <a16:creationId xmlns:a16="http://schemas.microsoft.com/office/drawing/2014/main" id="{FD6488AC-8A1A-4833-B716-25B47DCED18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90" y="3072"/>
                  <a:ext cx="308" cy="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…</a:t>
                  </a:r>
                </a:p>
              </p:txBody>
            </p:sp>
            <p:sp>
              <p:nvSpPr>
                <p:cNvPr id="22556" name="Text Box 79">
                  <a:extLst>
                    <a:ext uri="{FF2B5EF4-FFF2-40B4-BE49-F238E27FC236}">
                      <a16:creationId xmlns:a16="http://schemas.microsoft.com/office/drawing/2014/main" id="{0B94AFC9-3463-46FC-8AB1-91CAFB12A4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02" y="2736"/>
                  <a:ext cx="2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  <a:r>
                    <a:rPr kumimoji="1" lang="en-US" altLang="zh-CN" sz="2000" b="1" i="0" u="none" strike="noStrike" kern="1200" cap="none" spc="0" normalizeH="0" baseline="-2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22557" name="Text Box 80">
                  <a:extLst>
                    <a:ext uri="{FF2B5EF4-FFF2-40B4-BE49-F238E27FC236}">
                      <a16:creationId xmlns:a16="http://schemas.microsoft.com/office/drawing/2014/main" id="{549CD78C-2540-4A2B-AA70-8107AFA341D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02" y="2880"/>
                  <a:ext cx="2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  <a:r>
                    <a:rPr kumimoji="1" lang="en-US" altLang="zh-CN" sz="2000" b="1" i="0" u="none" strike="noStrike" kern="1200" cap="none" spc="0" normalizeH="0" baseline="-2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22558" name="Text Box 81">
                  <a:extLst>
                    <a:ext uri="{FF2B5EF4-FFF2-40B4-BE49-F238E27FC236}">
                      <a16:creationId xmlns:a16="http://schemas.microsoft.com/office/drawing/2014/main" id="{1905C9D3-4078-4380-AB04-2FA878ACE89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02" y="3206"/>
                  <a:ext cx="2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  <a:r>
                    <a:rPr kumimoji="1" lang="en-US" altLang="zh-CN" sz="2000" b="1" i="0" u="none" strike="noStrike" kern="1200" cap="none" spc="0" normalizeH="0" baseline="-1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22559" name="Text Box 82">
                  <a:extLst>
                    <a:ext uri="{FF2B5EF4-FFF2-40B4-BE49-F238E27FC236}">
                      <a16:creationId xmlns:a16="http://schemas.microsoft.com/office/drawing/2014/main" id="{5BF21B14-3719-4077-AACF-E2043486F7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02" y="3072"/>
                  <a:ext cx="308" cy="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…</a:t>
                  </a:r>
                </a:p>
              </p:txBody>
            </p:sp>
            <p:sp>
              <p:nvSpPr>
                <p:cNvPr id="22560" name="Text Box 83">
                  <a:extLst>
                    <a:ext uri="{FF2B5EF4-FFF2-40B4-BE49-F238E27FC236}">
                      <a16:creationId xmlns:a16="http://schemas.microsoft.com/office/drawing/2014/main" id="{02E6975A-EFF5-41F9-B2B1-7315F16C355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90" y="2736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0000</a:t>
                  </a:r>
                </a:p>
              </p:txBody>
            </p:sp>
            <p:sp>
              <p:nvSpPr>
                <p:cNvPr id="22561" name="Text Box 84">
                  <a:extLst>
                    <a:ext uri="{FF2B5EF4-FFF2-40B4-BE49-F238E27FC236}">
                      <a16:creationId xmlns:a16="http://schemas.microsoft.com/office/drawing/2014/main" id="{F6787E5A-AD97-471F-A8B7-A4F71C1AAB8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90" y="2870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0001</a:t>
                  </a:r>
                </a:p>
              </p:txBody>
            </p:sp>
            <p:sp>
              <p:nvSpPr>
                <p:cNvPr id="22562" name="Text Box 85">
                  <a:extLst>
                    <a:ext uri="{FF2B5EF4-FFF2-40B4-BE49-F238E27FC236}">
                      <a16:creationId xmlns:a16="http://schemas.microsoft.com/office/drawing/2014/main" id="{5BFAD497-0AFC-43CD-86DA-50C3028A6B1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90" y="3206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1110</a:t>
                  </a:r>
                </a:p>
              </p:txBody>
            </p:sp>
            <p:sp>
              <p:nvSpPr>
                <p:cNvPr id="22563" name="Text Box 86">
                  <a:extLst>
                    <a:ext uri="{FF2B5EF4-FFF2-40B4-BE49-F238E27FC236}">
                      <a16:creationId xmlns:a16="http://schemas.microsoft.com/office/drawing/2014/main" id="{DC8B2B4E-FE86-467E-920A-E92A8F3FBA8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66" y="3072"/>
                  <a:ext cx="308" cy="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…</a:t>
                  </a:r>
                </a:p>
              </p:txBody>
            </p:sp>
          </p:grpSp>
          <p:sp>
            <p:nvSpPr>
              <p:cNvPr id="22543" name="Text Box 87">
                <a:extLst>
                  <a:ext uri="{FF2B5EF4-FFF2-40B4-BE49-F238E27FC236}">
                    <a16:creationId xmlns:a16="http://schemas.microsoft.com/office/drawing/2014/main" id="{D461D6A4-A20C-4424-8F2A-497709433F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4" y="1430"/>
                <a:ext cx="88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4 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位操作码</a:t>
                </a:r>
              </a:p>
            </p:txBody>
          </p:sp>
          <p:sp>
            <p:nvSpPr>
              <p:cNvPr id="22544" name="Text Box 88">
                <a:extLst>
                  <a:ext uri="{FF2B5EF4-FFF2-40B4-BE49-F238E27FC236}">
                    <a16:creationId xmlns:a16="http://schemas.microsoft.com/office/drawing/2014/main" id="{77991990-BA3E-49FA-AD32-A4542573A0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4" y="2198"/>
                <a:ext cx="88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8 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位操作码</a:t>
                </a:r>
              </a:p>
            </p:txBody>
          </p:sp>
          <p:sp>
            <p:nvSpPr>
              <p:cNvPr id="22545" name="Text Box 89">
                <a:extLst>
                  <a:ext uri="{FF2B5EF4-FFF2-40B4-BE49-F238E27FC236}">
                    <a16:creationId xmlns:a16="http://schemas.microsoft.com/office/drawing/2014/main" id="{637C01CD-ABD5-4890-9C40-F9B981B239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2976"/>
                <a:ext cx="96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12 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位操作码</a:t>
                </a:r>
              </a:p>
            </p:txBody>
          </p:sp>
          <p:sp>
            <p:nvSpPr>
              <p:cNvPr id="22546" name="Text Box 90">
                <a:extLst>
                  <a:ext uri="{FF2B5EF4-FFF2-40B4-BE49-F238E27FC236}">
                    <a16:creationId xmlns:a16="http://schemas.microsoft.com/office/drawing/2014/main" id="{D0C6CA38-A896-480E-8FEC-69D7021438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3734"/>
                <a:ext cx="96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16 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位操作码</a:t>
                </a:r>
              </a:p>
            </p:txBody>
          </p:sp>
        </p:grpSp>
      </p:grpSp>
      <p:sp>
        <p:nvSpPr>
          <p:cNvPr id="6235" name="Text Box 91">
            <a:extLst>
              <a:ext uri="{FF2B5EF4-FFF2-40B4-BE49-F238E27FC236}">
                <a16:creationId xmlns:a16="http://schemas.microsoft.com/office/drawing/2014/main" id="{10D7CBB1-FA02-404A-97A8-F4D8F9257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9325" y="2493963"/>
            <a:ext cx="31146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三地址指令操作码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每减少一种可多构成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0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种二地址指令</a:t>
            </a:r>
          </a:p>
        </p:txBody>
      </p:sp>
      <p:sp>
        <p:nvSpPr>
          <p:cNvPr id="6236" name="Text Box 92">
            <a:extLst>
              <a:ext uri="{FF2B5EF4-FFF2-40B4-BE49-F238E27FC236}">
                <a16:creationId xmlns:a16="http://schemas.microsoft.com/office/drawing/2014/main" id="{891E82BD-6D4B-410A-B737-9EAA481FE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9325" y="3789363"/>
            <a:ext cx="2719388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二地址指令操作码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每减少一种可多构成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0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种一地址指令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0154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5" grpId="0" autoUpdateAnimBg="0"/>
      <p:bldP spid="623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3BC079E4-7E0C-40DD-9531-7B6AE2398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152400"/>
            <a:ext cx="64349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0"/>
              </a:spcBef>
              <a:buNone/>
            </a:pPr>
            <a:r>
              <a:rPr kumimoji="1"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5.2.3 </a:t>
            </a:r>
            <a:r>
              <a:rPr kumimoji="1"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指令的地址码格式</a:t>
            </a:r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EE06ABF7-D818-44AB-B59A-E3EFE577F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762000"/>
            <a:ext cx="480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(1)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四地址</a:t>
            </a: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6840B17-2041-42F4-A54E-00AEE46AF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4343400"/>
            <a:ext cx="5045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(2)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三地址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42A1BE49-BE0D-46E0-9C77-6B68BD04ED68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1539875"/>
            <a:ext cx="3048000" cy="457200"/>
            <a:chOff x="1104" y="1066"/>
            <a:chExt cx="1920" cy="288"/>
          </a:xfrm>
        </p:grpSpPr>
        <p:grpSp>
          <p:nvGrpSpPr>
            <p:cNvPr id="23590" name="Group 6">
              <a:extLst>
                <a:ext uri="{FF2B5EF4-FFF2-40B4-BE49-F238E27FC236}">
                  <a16:creationId xmlns:a16="http://schemas.microsoft.com/office/drawing/2014/main" id="{20DD063E-0403-47F9-9CB9-6D06B6F716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1066"/>
              <a:ext cx="384" cy="288"/>
              <a:chOff x="1104" y="1008"/>
              <a:chExt cx="384" cy="288"/>
            </a:xfrm>
          </p:grpSpPr>
          <p:sp>
            <p:nvSpPr>
              <p:cNvPr id="23603" name="Text Box 7">
                <a:extLst>
                  <a:ext uri="{FF2B5EF4-FFF2-40B4-BE49-F238E27FC236}">
                    <a16:creationId xmlns:a16="http://schemas.microsoft.com/office/drawing/2014/main" id="{757E02F4-1254-4613-BDC6-8D70A78AE0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6" y="1008"/>
                <a:ext cx="38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OP</a:t>
                </a:r>
              </a:p>
            </p:txBody>
          </p:sp>
          <p:sp>
            <p:nvSpPr>
              <p:cNvPr id="23604" name="Rectangle 8">
                <a:extLst>
                  <a:ext uri="{FF2B5EF4-FFF2-40B4-BE49-F238E27FC236}">
                    <a16:creationId xmlns:a16="http://schemas.microsoft.com/office/drawing/2014/main" id="{3C9407AD-E39D-4515-920E-2158BA46EB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1008"/>
                <a:ext cx="384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3591" name="Group 9">
              <a:extLst>
                <a:ext uri="{FF2B5EF4-FFF2-40B4-BE49-F238E27FC236}">
                  <a16:creationId xmlns:a16="http://schemas.microsoft.com/office/drawing/2014/main" id="{ADB192DB-C0D4-4F77-97BE-096986B3E0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1066"/>
              <a:ext cx="384" cy="288"/>
              <a:chOff x="1104" y="1008"/>
              <a:chExt cx="384" cy="288"/>
            </a:xfrm>
          </p:grpSpPr>
          <p:sp>
            <p:nvSpPr>
              <p:cNvPr id="23601" name="Text Box 10">
                <a:extLst>
                  <a:ext uri="{FF2B5EF4-FFF2-40B4-BE49-F238E27FC236}">
                    <a16:creationId xmlns:a16="http://schemas.microsoft.com/office/drawing/2014/main" id="{96D70A02-C467-45B5-86AC-6063884EAB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6" y="1008"/>
                <a:ext cx="36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A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23602" name="Rectangle 11">
                <a:extLst>
                  <a:ext uri="{FF2B5EF4-FFF2-40B4-BE49-F238E27FC236}">
                    <a16:creationId xmlns:a16="http://schemas.microsoft.com/office/drawing/2014/main" id="{D479EE1D-A3C6-4BAC-9E10-A142B917B2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1008"/>
                <a:ext cx="384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3592" name="Group 12">
              <a:extLst>
                <a:ext uri="{FF2B5EF4-FFF2-40B4-BE49-F238E27FC236}">
                  <a16:creationId xmlns:a16="http://schemas.microsoft.com/office/drawing/2014/main" id="{7919DD86-D003-420F-BEE9-A5238D5D1D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1066"/>
              <a:ext cx="384" cy="288"/>
              <a:chOff x="1104" y="1008"/>
              <a:chExt cx="384" cy="288"/>
            </a:xfrm>
          </p:grpSpPr>
          <p:sp>
            <p:nvSpPr>
              <p:cNvPr id="23599" name="Text Box 13">
                <a:extLst>
                  <a:ext uri="{FF2B5EF4-FFF2-40B4-BE49-F238E27FC236}">
                    <a16:creationId xmlns:a16="http://schemas.microsoft.com/office/drawing/2014/main" id="{33666680-2639-4F89-A650-71C9214AE8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6" y="1008"/>
                <a:ext cx="36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A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23600" name="Rectangle 14">
                <a:extLst>
                  <a:ext uri="{FF2B5EF4-FFF2-40B4-BE49-F238E27FC236}">
                    <a16:creationId xmlns:a16="http://schemas.microsoft.com/office/drawing/2014/main" id="{EA96D466-AB0B-4E0E-8B15-937347AA12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1008"/>
                <a:ext cx="384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3593" name="Group 15">
              <a:extLst>
                <a:ext uri="{FF2B5EF4-FFF2-40B4-BE49-F238E27FC236}">
                  <a16:creationId xmlns:a16="http://schemas.microsoft.com/office/drawing/2014/main" id="{185867CB-3BD6-427F-BD2E-1180ECA865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1066"/>
              <a:ext cx="384" cy="288"/>
              <a:chOff x="1104" y="1008"/>
              <a:chExt cx="384" cy="288"/>
            </a:xfrm>
          </p:grpSpPr>
          <p:sp>
            <p:nvSpPr>
              <p:cNvPr id="23597" name="Text Box 16">
                <a:extLst>
                  <a:ext uri="{FF2B5EF4-FFF2-40B4-BE49-F238E27FC236}">
                    <a16:creationId xmlns:a16="http://schemas.microsoft.com/office/drawing/2014/main" id="{63A24698-8DE6-4A56-B900-0AD92884E0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6" y="1008"/>
                <a:ext cx="36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A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3</a:t>
                </a:r>
              </a:p>
            </p:txBody>
          </p:sp>
          <p:sp>
            <p:nvSpPr>
              <p:cNvPr id="23598" name="Rectangle 17">
                <a:extLst>
                  <a:ext uri="{FF2B5EF4-FFF2-40B4-BE49-F238E27FC236}">
                    <a16:creationId xmlns:a16="http://schemas.microsoft.com/office/drawing/2014/main" id="{35130B3B-78D5-4FF3-AEB7-F769BB221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1008"/>
                <a:ext cx="384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3594" name="Group 18">
              <a:extLst>
                <a:ext uri="{FF2B5EF4-FFF2-40B4-BE49-F238E27FC236}">
                  <a16:creationId xmlns:a16="http://schemas.microsoft.com/office/drawing/2014/main" id="{805D006D-ADC6-4D3C-8923-14926A9D2B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0" y="1066"/>
              <a:ext cx="384" cy="288"/>
              <a:chOff x="1104" y="1008"/>
              <a:chExt cx="384" cy="288"/>
            </a:xfrm>
          </p:grpSpPr>
          <p:sp>
            <p:nvSpPr>
              <p:cNvPr id="23595" name="Text Box 19">
                <a:extLst>
                  <a:ext uri="{FF2B5EF4-FFF2-40B4-BE49-F238E27FC236}">
                    <a16:creationId xmlns:a16="http://schemas.microsoft.com/office/drawing/2014/main" id="{2C5D7CF6-E698-4881-971B-D0A054C5BA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6" y="1008"/>
                <a:ext cx="36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A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4</a:t>
                </a:r>
              </a:p>
            </p:txBody>
          </p:sp>
          <p:sp>
            <p:nvSpPr>
              <p:cNvPr id="23596" name="Rectangle 20">
                <a:extLst>
                  <a:ext uri="{FF2B5EF4-FFF2-40B4-BE49-F238E27FC236}">
                    <a16:creationId xmlns:a16="http://schemas.microsoft.com/office/drawing/2014/main" id="{F34256EE-ED5C-4CC3-8B6C-DAB5E6374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1008"/>
                <a:ext cx="384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7189" name="Text Box 21">
            <a:extLst>
              <a:ext uri="{FF2B5EF4-FFF2-40B4-BE49-F238E27FC236}">
                <a16:creationId xmlns:a16="http://schemas.microsoft.com/office/drawing/2014/main" id="{C9C810D0-9F63-4369-8884-5B5EBA994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1350" y="1143000"/>
            <a:ext cx="2660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8       6        6       6       6</a:t>
            </a:r>
          </a:p>
        </p:txBody>
      </p:sp>
      <p:sp>
        <p:nvSpPr>
          <p:cNvPr id="7190" name="Text Box 22">
            <a:extLst>
              <a:ext uri="{FF2B5EF4-FFF2-40B4-BE49-F238E27FC236}">
                <a16:creationId xmlns:a16="http://schemas.microsoft.com/office/drawing/2014/main" id="{141FBFF1-4B09-42AF-9DDC-4C5E49810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133600"/>
            <a:ext cx="2895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第一操作数地址</a:t>
            </a:r>
          </a:p>
        </p:txBody>
      </p:sp>
      <p:sp>
        <p:nvSpPr>
          <p:cNvPr id="7191" name="Text Box 23">
            <a:extLst>
              <a:ext uri="{FF2B5EF4-FFF2-40B4-BE49-F238E27FC236}">
                <a16:creationId xmlns:a16="http://schemas.microsoft.com/office/drawing/2014/main" id="{370033C6-D710-445B-B550-A5371BD31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559050"/>
            <a:ext cx="2743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第二操作数地址</a:t>
            </a:r>
          </a:p>
        </p:txBody>
      </p:sp>
      <p:sp>
        <p:nvSpPr>
          <p:cNvPr id="7192" name="Text Box 24">
            <a:extLst>
              <a:ext uri="{FF2B5EF4-FFF2-40B4-BE49-F238E27FC236}">
                <a16:creationId xmlns:a16="http://schemas.microsoft.com/office/drawing/2014/main" id="{255186B4-1970-4CAC-A45F-2727E8B5F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986088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结果的地址</a:t>
            </a:r>
          </a:p>
        </p:txBody>
      </p:sp>
      <p:sp>
        <p:nvSpPr>
          <p:cNvPr id="7193" name="Text Box 25">
            <a:extLst>
              <a:ext uri="{FF2B5EF4-FFF2-40B4-BE49-F238E27FC236}">
                <a16:creationId xmlns:a16="http://schemas.microsoft.com/office/drawing/2014/main" id="{F1B15410-FBA5-4460-A7E5-585B3ACC3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413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下一条指令地址</a:t>
            </a:r>
          </a:p>
        </p:txBody>
      </p:sp>
      <p:sp>
        <p:nvSpPr>
          <p:cNvPr id="7194" name="Text Box 26">
            <a:extLst>
              <a:ext uri="{FF2B5EF4-FFF2-40B4-BE49-F238E27FC236}">
                <a16:creationId xmlns:a16="http://schemas.microsoft.com/office/drawing/2014/main" id="{3A5500F8-6CDC-4B65-8D52-8FB81E127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0338" y="3810000"/>
            <a:ext cx="2760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PC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代替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</a:p>
        </p:txBody>
      </p:sp>
      <p:grpSp>
        <p:nvGrpSpPr>
          <p:cNvPr id="8" name="Group 27">
            <a:extLst>
              <a:ext uri="{FF2B5EF4-FFF2-40B4-BE49-F238E27FC236}">
                <a16:creationId xmlns:a16="http://schemas.microsoft.com/office/drawing/2014/main" id="{5160E804-CA7B-4206-911E-D9C66A6E2119}"/>
              </a:ext>
            </a:extLst>
          </p:cNvPr>
          <p:cNvGrpSpPr>
            <a:grpSpLocks/>
          </p:cNvGrpSpPr>
          <p:nvPr/>
        </p:nvGrpSpPr>
        <p:grpSpPr bwMode="auto">
          <a:xfrm>
            <a:off x="1812925" y="3810000"/>
            <a:ext cx="2741613" cy="457200"/>
            <a:chOff x="1142" y="2378"/>
            <a:chExt cx="1727" cy="288"/>
          </a:xfrm>
        </p:grpSpPr>
        <p:sp>
          <p:nvSpPr>
            <p:cNvPr id="23588" name="Text Box 28">
              <a:extLst>
                <a:ext uri="{FF2B5EF4-FFF2-40B4-BE49-F238E27FC236}">
                  <a16:creationId xmlns:a16="http://schemas.microsoft.com/office/drawing/2014/main" id="{3F669BDD-E570-4713-B664-3FF4D91306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2" y="2378"/>
              <a:ext cx="17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(A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 OP (A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        A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23589" name="Line 29">
              <a:extLst>
                <a:ext uri="{FF2B5EF4-FFF2-40B4-BE49-F238E27FC236}">
                  <a16:creationId xmlns:a16="http://schemas.microsoft.com/office/drawing/2014/main" id="{213F45A5-76F2-4B21-9481-EE55DF6B7B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544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198" name="Text Box 30">
            <a:extLst>
              <a:ext uri="{FF2B5EF4-FFF2-40B4-BE49-F238E27FC236}">
                <a16:creationId xmlns:a16="http://schemas.microsoft.com/office/drawing/2014/main" id="{3D357FD4-BD3E-4334-AAAA-75DE44896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1350" y="4800600"/>
            <a:ext cx="2914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8            8           8         8   </a:t>
            </a:r>
          </a:p>
        </p:txBody>
      </p:sp>
      <p:grpSp>
        <p:nvGrpSpPr>
          <p:cNvPr id="9" name="Group 31">
            <a:extLst>
              <a:ext uri="{FF2B5EF4-FFF2-40B4-BE49-F238E27FC236}">
                <a16:creationId xmlns:a16="http://schemas.microsoft.com/office/drawing/2014/main" id="{004770CD-77B4-4841-90D7-116D9C722E9D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5181600"/>
            <a:ext cx="3048000" cy="457200"/>
            <a:chOff x="1104" y="3456"/>
            <a:chExt cx="1920" cy="288"/>
          </a:xfrm>
        </p:grpSpPr>
        <p:sp>
          <p:nvSpPr>
            <p:cNvPr id="23580" name="Text Box 32">
              <a:extLst>
                <a:ext uri="{FF2B5EF4-FFF2-40B4-BE49-F238E27FC236}">
                  <a16:creationId xmlns:a16="http://schemas.microsoft.com/office/drawing/2014/main" id="{CC5ABFA7-29F4-47FC-A404-8C80E10F05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4" y="3456"/>
              <a:ext cx="38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OP</a:t>
              </a:r>
            </a:p>
          </p:txBody>
        </p:sp>
        <p:sp>
          <p:nvSpPr>
            <p:cNvPr id="23581" name="Text Box 33">
              <a:extLst>
                <a:ext uri="{FF2B5EF4-FFF2-40B4-BE49-F238E27FC236}">
                  <a16:creationId xmlns:a16="http://schemas.microsoft.com/office/drawing/2014/main" id="{30ECB143-C703-47DC-9758-7E3E6F7A63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456"/>
              <a:ext cx="36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A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23582" name="Text Box 34">
              <a:extLst>
                <a:ext uri="{FF2B5EF4-FFF2-40B4-BE49-F238E27FC236}">
                  <a16:creationId xmlns:a16="http://schemas.microsoft.com/office/drawing/2014/main" id="{71F35568-9388-4EF3-B476-BC04DC40A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9" y="3456"/>
              <a:ext cx="36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A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23583" name="Text Box 35">
              <a:extLst>
                <a:ext uri="{FF2B5EF4-FFF2-40B4-BE49-F238E27FC236}">
                  <a16:creationId xmlns:a16="http://schemas.microsoft.com/office/drawing/2014/main" id="{2BA74B60-AABA-4786-862D-4C252F84DF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456"/>
              <a:ext cx="36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A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23584" name="Rectangle 36">
              <a:extLst>
                <a:ext uri="{FF2B5EF4-FFF2-40B4-BE49-F238E27FC236}">
                  <a16:creationId xmlns:a16="http://schemas.microsoft.com/office/drawing/2014/main" id="{0E0FD842-703A-41A0-BCF0-18747C9F6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456"/>
              <a:ext cx="47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585" name="Rectangle 37">
              <a:extLst>
                <a:ext uri="{FF2B5EF4-FFF2-40B4-BE49-F238E27FC236}">
                  <a16:creationId xmlns:a16="http://schemas.microsoft.com/office/drawing/2014/main" id="{5605F063-7646-4954-98C6-24C70AA10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6" y="3456"/>
              <a:ext cx="47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586" name="Rectangle 38">
              <a:extLst>
                <a:ext uri="{FF2B5EF4-FFF2-40B4-BE49-F238E27FC236}">
                  <a16:creationId xmlns:a16="http://schemas.microsoft.com/office/drawing/2014/main" id="{7B52BADD-15A3-4424-BEB8-7C735C85C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456"/>
              <a:ext cx="47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587" name="Rectangle 39">
              <a:extLst>
                <a:ext uri="{FF2B5EF4-FFF2-40B4-BE49-F238E27FC236}">
                  <a16:creationId xmlns:a16="http://schemas.microsoft.com/office/drawing/2014/main" id="{81641525-F162-4912-B4C7-265D763DC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6" y="3456"/>
              <a:ext cx="47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" name="Group 40">
            <a:extLst>
              <a:ext uri="{FF2B5EF4-FFF2-40B4-BE49-F238E27FC236}">
                <a16:creationId xmlns:a16="http://schemas.microsoft.com/office/drawing/2014/main" id="{F50014F7-FC8D-45EF-B608-FFDDD474B940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5867400"/>
            <a:ext cx="2741613" cy="457200"/>
            <a:chOff x="1142" y="2378"/>
            <a:chExt cx="1727" cy="288"/>
          </a:xfrm>
        </p:grpSpPr>
        <p:sp>
          <p:nvSpPr>
            <p:cNvPr id="23578" name="Text Box 41">
              <a:extLst>
                <a:ext uri="{FF2B5EF4-FFF2-40B4-BE49-F238E27FC236}">
                  <a16:creationId xmlns:a16="http://schemas.microsoft.com/office/drawing/2014/main" id="{77116BF9-0D83-45A7-AB4F-374434189F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2" y="2378"/>
              <a:ext cx="17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(A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 OP (A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        A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23579" name="Line 42">
              <a:extLst>
                <a:ext uri="{FF2B5EF4-FFF2-40B4-BE49-F238E27FC236}">
                  <a16:creationId xmlns:a16="http://schemas.microsoft.com/office/drawing/2014/main" id="{63AABDB0-D488-49EC-BCF0-A437B206EE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544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211" name="Text Box 43">
            <a:extLst>
              <a:ext uri="{FF2B5EF4-FFF2-40B4-BE49-F238E27FC236}">
                <a16:creationId xmlns:a16="http://schemas.microsoft.com/office/drawing/2014/main" id="{8CFD2F64-0196-4107-AF9F-36ABBD2BE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0338" y="2662238"/>
            <a:ext cx="2379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次访存</a:t>
            </a:r>
          </a:p>
        </p:txBody>
      </p:sp>
      <p:sp>
        <p:nvSpPr>
          <p:cNvPr id="7212" name="Text Box 44">
            <a:extLst>
              <a:ext uri="{FF2B5EF4-FFF2-40B4-BE49-F238E27FC236}">
                <a16:creationId xmlns:a16="http://schemas.microsoft.com/office/drawing/2014/main" id="{7CE5271F-C3A2-40B4-A193-C26CA4241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0338" y="5181600"/>
            <a:ext cx="2227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次访存</a:t>
            </a:r>
          </a:p>
        </p:txBody>
      </p:sp>
      <p:sp>
        <p:nvSpPr>
          <p:cNvPr id="7213" name="Text Box 45">
            <a:extLst>
              <a:ext uri="{FF2B5EF4-FFF2-40B4-BE49-F238E27FC236}">
                <a16:creationId xmlns:a16="http://schemas.microsoft.com/office/drawing/2014/main" id="{E6379116-6116-4350-BA60-7DC9CA2B4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0338" y="3235325"/>
            <a:ext cx="3217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寻址范围 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1" i="0" u="none" strike="noStrike" kern="1200" cap="none" spc="0" normalizeH="0" baseline="4500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64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14" name="Text Box 46">
            <a:extLst>
              <a:ext uri="{FF2B5EF4-FFF2-40B4-BE49-F238E27FC236}">
                <a16:creationId xmlns:a16="http://schemas.microsoft.com/office/drawing/2014/main" id="{515957DA-BB1E-41EC-B1F5-C77FE7FDC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0338" y="5676900"/>
            <a:ext cx="3141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寻址范围 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1" i="0" u="none" strike="noStrike" kern="1200" cap="none" spc="0" normalizeH="0" baseline="4500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256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15" name="Text Box 47">
            <a:extLst>
              <a:ext uri="{FF2B5EF4-FFF2-40B4-BE49-F238E27FC236}">
                <a16:creationId xmlns:a16="http://schemas.microsoft.com/office/drawing/2014/main" id="{3190F049-2A0B-4B46-A163-2BCD0050F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0338" y="6172200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用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或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代替</a:t>
            </a:r>
            <a:endParaRPr kumimoji="1" lang="zh-CN" altLang="en-US" sz="24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" name="Group 49">
            <a:extLst>
              <a:ext uri="{FF2B5EF4-FFF2-40B4-BE49-F238E27FC236}">
                <a16:creationId xmlns:a16="http://schemas.microsoft.com/office/drawing/2014/main" id="{52648E24-3C76-4A83-9C0E-85CCCC906D8C}"/>
              </a:ext>
            </a:extLst>
          </p:cNvPr>
          <p:cNvGrpSpPr>
            <a:grpSpLocks/>
          </p:cNvGrpSpPr>
          <p:nvPr/>
        </p:nvGrpSpPr>
        <p:grpSpPr bwMode="auto">
          <a:xfrm>
            <a:off x="5240338" y="1539875"/>
            <a:ext cx="3370262" cy="957263"/>
            <a:chOff x="3301" y="970"/>
            <a:chExt cx="2123" cy="603"/>
          </a:xfrm>
        </p:grpSpPr>
        <p:sp>
          <p:nvSpPr>
            <p:cNvPr id="23576" name="Text Box 50">
              <a:extLst>
                <a:ext uri="{FF2B5EF4-FFF2-40B4-BE49-F238E27FC236}">
                  <a16:creationId xmlns:a16="http://schemas.microsoft.com/office/drawing/2014/main" id="{D00A04E3-A2AD-49D1-8282-33F6988BE9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1" y="970"/>
              <a:ext cx="2123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设指令字长为 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32 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位</a:t>
              </a:r>
            </a:p>
          </p:txBody>
        </p:sp>
        <p:sp>
          <p:nvSpPr>
            <p:cNvPr id="23577" name="Text Box 51">
              <a:extLst>
                <a:ext uri="{FF2B5EF4-FFF2-40B4-BE49-F238E27FC236}">
                  <a16:creationId xmlns:a16="http://schemas.microsoft.com/office/drawing/2014/main" id="{2C104CEF-2546-4CB0-B02C-1E1653BD69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1" y="1308"/>
              <a:ext cx="2123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操作码固定为 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8 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736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7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7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7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7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autoUpdateAnimBg="0"/>
      <p:bldP spid="7172" grpId="0" autoUpdateAnimBg="0"/>
      <p:bldP spid="7189" grpId="0" autoUpdateAnimBg="0"/>
      <p:bldP spid="7190" grpId="0" autoUpdateAnimBg="0"/>
      <p:bldP spid="7191" grpId="0" autoUpdateAnimBg="0"/>
      <p:bldP spid="7192" grpId="0" autoUpdateAnimBg="0"/>
      <p:bldP spid="7193" grpId="0" autoUpdateAnimBg="0"/>
      <p:bldP spid="7194" grpId="0" autoUpdateAnimBg="0"/>
      <p:bldP spid="7198" grpId="0" autoUpdateAnimBg="0"/>
      <p:bldP spid="7211" grpId="0" autoUpdateAnimBg="0"/>
      <p:bldP spid="7212" grpId="0" autoUpdateAnimBg="0"/>
      <p:bldP spid="7213" grpId="0" autoUpdateAnimBg="0"/>
      <p:bldP spid="7214" grpId="0" autoUpdateAnimBg="0"/>
      <p:bldP spid="721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>
            <a:extLst>
              <a:ext uri="{FF2B5EF4-FFF2-40B4-BE49-F238E27FC236}">
                <a16:creationId xmlns:a16="http://schemas.microsoft.com/office/drawing/2014/main" id="{EA3CA96B-4A65-488A-BCC4-2ADE4B29B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47650"/>
            <a:ext cx="2667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(3)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二地址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00B75D32-6021-4DB5-B74A-226098E383F6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295400"/>
            <a:ext cx="3032125" cy="457200"/>
            <a:chOff x="816" y="864"/>
            <a:chExt cx="1910" cy="288"/>
          </a:xfrm>
        </p:grpSpPr>
        <p:sp>
          <p:nvSpPr>
            <p:cNvPr id="24609" name="Rectangle 4">
              <a:extLst>
                <a:ext uri="{FF2B5EF4-FFF2-40B4-BE49-F238E27FC236}">
                  <a16:creationId xmlns:a16="http://schemas.microsoft.com/office/drawing/2014/main" id="{43557DD0-F668-42A5-BF40-3F964E627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864"/>
              <a:ext cx="637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610" name="Rectangle 5">
              <a:extLst>
                <a:ext uri="{FF2B5EF4-FFF2-40B4-BE49-F238E27FC236}">
                  <a16:creationId xmlns:a16="http://schemas.microsoft.com/office/drawing/2014/main" id="{9B632C05-4586-4CA4-B5B5-FEA3184D2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3" y="864"/>
              <a:ext cx="637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611" name="Rectangle 6">
              <a:extLst>
                <a:ext uri="{FF2B5EF4-FFF2-40B4-BE49-F238E27FC236}">
                  <a16:creationId xmlns:a16="http://schemas.microsoft.com/office/drawing/2014/main" id="{250A26BC-EC75-4CB5-A74D-A6397BBE9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9" y="864"/>
              <a:ext cx="637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612" name="Text Box 7">
              <a:extLst>
                <a:ext uri="{FF2B5EF4-FFF2-40B4-BE49-F238E27FC236}">
                  <a16:creationId xmlns:a16="http://schemas.microsoft.com/office/drawing/2014/main" id="{95EB4A67-BAE1-404B-9484-3A45CA69C5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7" y="864"/>
              <a:ext cx="38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OP</a:t>
              </a:r>
            </a:p>
          </p:txBody>
        </p:sp>
        <p:sp>
          <p:nvSpPr>
            <p:cNvPr id="24613" name="Text Box 8">
              <a:extLst>
                <a:ext uri="{FF2B5EF4-FFF2-40B4-BE49-F238E27FC236}">
                  <a16:creationId xmlns:a16="http://schemas.microsoft.com/office/drawing/2014/main" id="{1142BB8B-DA51-4E95-B609-02EAFD01DA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7" y="864"/>
              <a:ext cx="36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A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24614" name="Text Box 9">
              <a:extLst>
                <a:ext uri="{FF2B5EF4-FFF2-40B4-BE49-F238E27FC236}">
                  <a16:creationId xmlns:a16="http://schemas.microsoft.com/office/drawing/2014/main" id="{6C9A4A33-C42E-4DA5-96BF-B613F0A078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1" y="864"/>
              <a:ext cx="36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A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</p:grpSp>
      <p:sp>
        <p:nvSpPr>
          <p:cNvPr id="8202" name="Text Box 10">
            <a:extLst>
              <a:ext uri="{FF2B5EF4-FFF2-40B4-BE49-F238E27FC236}">
                <a16:creationId xmlns:a16="http://schemas.microsoft.com/office/drawing/2014/main" id="{35403FBA-6C82-42AF-A7A0-355D6809C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4963" y="776288"/>
            <a:ext cx="2406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8              12           12</a:t>
            </a:r>
          </a:p>
        </p:txBody>
      </p:sp>
      <p:grpSp>
        <p:nvGrpSpPr>
          <p:cNvPr id="3" name="Group 11">
            <a:extLst>
              <a:ext uri="{FF2B5EF4-FFF2-40B4-BE49-F238E27FC236}">
                <a16:creationId xmlns:a16="http://schemas.microsoft.com/office/drawing/2014/main" id="{72909F69-F3C8-4A4B-A7C7-E9F8ACE72E0C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876425"/>
            <a:ext cx="2741613" cy="457200"/>
            <a:chOff x="1142" y="2378"/>
            <a:chExt cx="1727" cy="288"/>
          </a:xfrm>
        </p:grpSpPr>
        <p:sp>
          <p:nvSpPr>
            <p:cNvPr id="24607" name="Text Box 12">
              <a:extLst>
                <a:ext uri="{FF2B5EF4-FFF2-40B4-BE49-F238E27FC236}">
                  <a16:creationId xmlns:a16="http://schemas.microsoft.com/office/drawing/2014/main" id="{347A25B1-9578-4DAD-83B3-EA8D01274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2" y="2378"/>
              <a:ext cx="17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(A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 OP (A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        A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24608" name="Line 13">
              <a:extLst>
                <a:ext uri="{FF2B5EF4-FFF2-40B4-BE49-F238E27FC236}">
                  <a16:creationId xmlns:a16="http://schemas.microsoft.com/office/drawing/2014/main" id="{1ADFEC1B-18B2-45C3-84BB-5B35D1FF14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544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" name="Group 14">
            <a:extLst>
              <a:ext uri="{FF2B5EF4-FFF2-40B4-BE49-F238E27FC236}">
                <a16:creationId xmlns:a16="http://schemas.microsoft.com/office/drawing/2014/main" id="{89C7BA15-2459-4D20-A540-3E655CFBA2C2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457450"/>
            <a:ext cx="2741613" cy="457200"/>
            <a:chOff x="1142" y="2378"/>
            <a:chExt cx="1727" cy="288"/>
          </a:xfrm>
        </p:grpSpPr>
        <p:sp>
          <p:nvSpPr>
            <p:cNvPr id="24605" name="Text Box 15">
              <a:extLst>
                <a:ext uri="{FF2B5EF4-FFF2-40B4-BE49-F238E27FC236}">
                  <a16:creationId xmlns:a16="http://schemas.microsoft.com/office/drawing/2014/main" id="{9C63B242-84C2-4C11-A120-86DCBB62B2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2" y="2378"/>
              <a:ext cx="17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(A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 OP (A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        A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24606" name="Line 16">
              <a:extLst>
                <a:ext uri="{FF2B5EF4-FFF2-40B4-BE49-F238E27FC236}">
                  <a16:creationId xmlns:a16="http://schemas.microsoft.com/office/drawing/2014/main" id="{40F8B9CD-6BD1-4997-80DB-6B905D27AA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544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8209" name="Text Box 17">
            <a:extLst>
              <a:ext uri="{FF2B5EF4-FFF2-40B4-BE49-F238E27FC236}">
                <a16:creationId xmlns:a16="http://schemas.microsoft.com/office/drawing/2014/main" id="{4B4488E0-D27B-43F7-9330-AC3961F23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125663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或</a:t>
            </a:r>
          </a:p>
        </p:txBody>
      </p:sp>
      <p:sp>
        <p:nvSpPr>
          <p:cNvPr id="8210" name="Text Box 18">
            <a:extLst>
              <a:ext uri="{FF2B5EF4-FFF2-40B4-BE49-F238E27FC236}">
                <a16:creationId xmlns:a16="http://schemas.microsoft.com/office/drawing/2014/main" id="{F1977548-3571-4B86-AE19-EA7B69EE4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1925" y="1905000"/>
            <a:ext cx="2759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次访存</a:t>
            </a:r>
          </a:p>
        </p:txBody>
      </p:sp>
      <p:sp>
        <p:nvSpPr>
          <p:cNvPr id="8211" name="Text Box 19">
            <a:extLst>
              <a:ext uri="{FF2B5EF4-FFF2-40B4-BE49-F238E27FC236}">
                <a16:creationId xmlns:a16="http://schemas.microsoft.com/office/drawing/2014/main" id="{02FE50AB-F9C1-43A4-A8E3-31CDA673A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1925" y="3048000"/>
            <a:ext cx="3597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ACC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代替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（或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24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12" name="Text Box 20">
            <a:extLst>
              <a:ext uri="{FF2B5EF4-FFF2-40B4-BE49-F238E27FC236}">
                <a16:creationId xmlns:a16="http://schemas.microsoft.com/office/drawing/2014/main" id="{65F832E8-60A4-458B-8D93-6BC06F1FA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38475"/>
            <a:ext cx="2759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若结果存于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ACC    </a:t>
            </a:r>
          </a:p>
        </p:txBody>
      </p:sp>
      <p:sp>
        <p:nvSpPr>
          <p:cNvPr id="8213" name="Text Box 21">
            <a:extLst>
              <a:ext uri="{FF2B5EF4-FFF2-40B4-BE49-F238E27FC236}">
                <a16:creationId xmlns:a16="http://schemas.microsoft.com/office/drawing/2014/main" id="{5EDB758B-0ED5-4670-A15E-D3790162B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687763"/>
            <a:ext cx="2895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(4)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一地址</a:t>
            </a:r>
          </a:p>
        </p:txBody>
      </p:sp>
      <p:sp>
        <p:nvSpPr>
          <p:cNvPr id="8214" name="Text Box 22">
            <a:extLst>
              <a:ext uri="{FF2B5EF4-FFF2-40B4-BE49-F238E27FC236}">
                <a16:creationId xmlns:a16="http://schemas.microsoft.com/office/drawing/2014/main" id="{8F898A5A-E11E-4EC2-A9AD-5DDF9AADC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019800"/>
            <a:ext cx="2590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(5)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零地址</a:t>
            </a:r>
          </a:p>
        </p:txBody>
      </p:sp>
      <p:grpSp>
        <p:nvGrpSpPr>
          <p:cNvPr id="5" name="Group 23">
            <a:extLst>
              <a:ext uri="{FF2B5EF4-FFF2-40B4-BE49-F238E27FC236}">
                <a16:creationId xmlns:a16="http://schemas.microsoft.com/office/drawing/2014/main" id="{880EBB86-279F-4BCD-AEE3-3DE76C3DEB8A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786313"/>
            <a:ext cx="3048000" cy="471487"/>
            <a:chOff x="912" y="2833"/>
            <a:chExt cx="1920" cy="297"/>
          </a:xfrm>
        </p:grpSpPr>
        <p:sp>
          <p:nvSpPr>
            <p:cNvPr id="24601" name="Rectangle 24">
              <a:extLst>
                <a:ext uri="{FF2B5EF4-FFF2-40B4-BE49-F238E27FC236}">
                  <a16:creationId xmlns:a16="http://schemas.microsoft.com/office/drawing/2014/main" id="{F35EB38E-BE2E-49E7-823D-3D75802A3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842"/>
              <a:ext cx="637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602" name="Rectangle 25">
              <a:extLst>
                <a:ext uri="{FF2B5EF4-FFF2-40B4-BE49-F238E27FC236}">
                  <a16:creationId xmlns:a16="http://schemas.microsoft.com/office/drawing/2014/main" id="{3A8787EC-4D48-4560-BE85-B835CD4BA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9" y="2842"/>
              <a:ext cx="1283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603" name="Text Box 26">
              <a:extLst>
                <a:ext uri="{FF2B5EF4-FFF2-40B4-BE49-F238E27FC236}">
                  <a16:creationId xmlns:a16="http://schemas.microsoft.com/office/drawing/2014/main" id="{E2248C84-1013-47D4-A1E9-D9050B9AC4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3" y="2833"/>
              <a:ext cx="38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OP</a:t>
              </a:r>
            </a:p>
          </p:txBody>
        </p:sp>
        <p:sp>
          <p:nvSpPr>
            <p:cNvPr id="24604" name="Text Box 27">
              <a:extLst>
                <a:ext uri="{FF2B5EF4-FFF2-40B4-BE49-F238E27FC236}">
                  <a16:creationId xmlns:a16="http://schemas.microsoft.com/office/drawing/2014/main" id="{0EF14C82-B557-4CF1-A217-46894FEABA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5" y="2833"/>
              <a:ext cx="36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A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sp>
        <p:nvSpPr>
          <p:cNvPr id="8220" name="Text Box 28">
            <a:extLst>
              <a:ext uri="{FF2B5EF4-FFF2-40B4-BE49-F238E27FC236}">
                <a16:creationId xmlns:a16="http://schemas.microsoft.com/office/drawing/2014/main" id="{683BC1EF-88C9-4B20-897B-C3DDF7782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363" y="4327525"/>
            <a:ext cx="1898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8                     24</a:t>
            </a:r>
          </a:p>
        </p:txBody>
      </p:sp>
      <p:sp>
        <p:nvSpPr>
          <p:cNvPr id="8221" name="Text Box 29">
            <a:extLst>
              <a:ext uri="{FF2B5EF4-FFF2-40B4-BE49-F238E27FC236}">
                <a16:creationId xmlns:a16="http://schemas.microsoft.com/office/drawing/2014/main" id="{2139DA6E-E14E-4B75-9B75-1E0821524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25" y="6132513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无地址码</a:t>
            </a:r>
          </a:p>
        </p:txBody>
      </p:sp>
      <p:grpSp>
        <p:nvGrpSpPr>
          <p:cNvPr id="6" name="Group 30">
            <a:extLst>
              <a:ext uri="{FF2B5EF4-FFF2-40B4-BE49-F238E27FC236}">
                <a16:creationId xmlns:a16="http://schemas.microsoft.com/office/drawing/2014/main" id="{6309E264-6836-42A2-AD76-CAA916A5902D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5438775"/>
            <a:ext cx="3421063" cy="457200"/>
            <a:chOff x="864" y="3426"/>
            <a:chExt cx="2155" cy="288"/>
          </a:xfrm>
        </p:grpSpPr>
        <p:sp>
          <p:nvSpPr>
            <p:cNvPr id="24599" name="Text Box 31">
              <a:extLst>
                <a:ext uri="{FF2B5EF4-FFF2-40B4-BE49-F238E27FC236}">
                  <a16:creationId xmlns:a16="http://schemas.microsoft.com/office/drawing/2014/main" id="{27C34DBA-02AB-4791-876D-15D5043117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426"/>
              <a:ext cx="21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(ACC) OP (A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        ACC</a:t>
              </a:r>
              <a:endPara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600" name="Line 32">
              <a:extLst>
                <a:ext uri="{FF2B5EF4-FFF2-40B4-BE49-F238E27FC236}">
                  <a16:creationId xmlns:a16="http://schemas.microsoft.com/office/drawing/2014/main" id="{0A6C9481-C62D-4933-BDD6-7DEAC2E4DE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9" y="359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8225" name="Text Box 33">
            <a:extLst>
              <a:ext uri="{FF2B5EF4-FFF2-40B4-BE49-F238E27FC236}">
                <a16:creationId xmlns:a16="http://schemas.microsoft.com/office/drawing/2014/main" id="{24651ABF-73A1-4739-95E4-5A557FE82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1925" y="4800600"/>
            <a:ext cx="1331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次访存</a:t>
            </a:r>
          </a:p>
        </p:txBody>
      </p:sp>
      <p:sp>
        <p:nvSpPr>
          <p:cNvPr id="8226" name="Text Box 34">
            <a:extLst>
              <a:ext uri="{FF2B5EF4-FFF2-40B4-BE49-F238E27FC236}">
                <a16:creationId xmlns:a16="http://schemas.microsoft.com/office/drawing/2014/main" id="{D58D5B9E-7C57-4117-988F-B337EB964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1925" y="2514600"/>
            <a:ext cx="3140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寻址范围 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1" i="0" u="none" strike="noStrike" kern="1200" cap="none" spc="0" normalizeH="0" baseline="4500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12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4 K</a:t>
            </a:r>
          </a:p>
        </p:txBody>
      </p:sp>
      <p:sp>
        <p:nvSpPr>
          <p:cNvPr id="8227" name="Text Box 35">
            <a:extLst>
              <a:ext uri="{FF2B5EF4-FFF2-40B4-BE49-F238E27FC236}">
                <a16:creationId xmlns:a16="http://schemas.microsoft.com/office/drawing/2014/main" id="{993C522A-FEE7-4D8F-BC82-0DCBEDCFE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5410200"/>
            <a:ext cx="2987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寻址范围 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1" i="0" u="none" strike="noStrike" kern="1200" cap="none" spc="0" normalizeH="0" baseline="4500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24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16 M 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28" name="Text Box 36">
            <a:extLst>
              <a:ext uri="{FF2B5EF4-FFF2-40B4-BE49-F238E27FC236}">
                <a16:creationId xmlns:a16="http://schemas.microsoft.com/office/drawing/2014/main" id="{31AF5A9E-92D2-4E29-9C46-CA46F7E7E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038475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次访存</a:t>
            </a:r>
          </a:p>
        </p:txBody>
      </p:sp>
    </p:spTree>
    <p:extLst>
      <p:ext uri="{BB962C8B-B14F-4D97-AF65-F5344CB8AC3E}">
        <p14:creationId xmlns:p14="http://schemas.microsoft.com/office/powerpoint/2010/main" val="383899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8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8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8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2" grpId="0" autoUpdateAnimBg="0"/>
      <p:bldP spid="8209" grpId="0" autoUpdateAnimBg="0"/>
      <p:bldP spid="8210" grpId="0" autoUpdateAnimBg="0"/>
      <p:bldP spid="8211" grpId="0" autoUpdateAnimBg="0"/>
      <p:bldP spid="8212" grpId="0" autoUpdateAnimBg="0"/>
      <p:bldP spid="8213" grpId="0" autoUpdateAnimBg="0"/>
      <p:bldP spid="8214" grpId="0" autoUpdateAnimBg="0"/>
      <p:bldP spid="8220" grpId="0" autoUpdateAnimBg="0"/>
      <p:bldP spid="8221" grpId="0" autoUpdateAnimBg="0"/>
      <p:bldP spid="8225" grpId="0" autoUpdateAnimBg="0"/>
      <p:bldP spid="8226" grpId="0" autoUpdateAnimBg="0"/>
      <p:bldP spid="8227" grpId="0" autoUpdateAnimBg="0"/>
      <p:bldP spid="822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>
            <a:extLst>
              <a:ext uri="{FF2B5EF4-FFF2-40B4-BE49-F238E27FC236}">
                <a16:creationId xmlns:a16="http://schemas.microsoft.com/office/drawing/2014/main" id="{30F6FB1F-44A8-4FF8-9046-46A17FB9F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152400"/>
            <a:ext cx="296427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指令格式小结</a:t>
            </a: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C21095F8-6FFD-48D2-8B56-015D573EC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004888"/>
            <a:ext cx="8056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当用一些硬件资源代替指令字中的地址码字段后</a:t>
            </a:r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1A1025DA-A02C-4165-917F-507AC8E8B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316288"/>
            <a:ext cx="51990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当指令的地址字段为寄存器时</a:t>
            </a:r>
          </a:p>
        </p:txBody>
      </p:sp>
      <p:sp>
        <p:nvSpPr>
          <p:cNvPr id="10245" name="Text Box 5">
            <a:extLst>
              <a:ext uri="{FF2B5EF4-FFF2-40B4-BE49-F238E27FC236}">
                <a16:creationId xmlns:a16="http://schemas.microsoft.com/office/drawing/2014/main" id="{D4A0AEBD-9C27-4DEA-8E4B-B8D198794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1582738"/>
            <a:ext cx="5826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可扩大指令操作数的寻址范围</a:t>
            </a:r>
          </a:p>
        </p:txBody>
      </p:sp>
      <p:sp>
        <p:nvSpPr>
          <p:cNvPr id="10246" name="Text Box 6">
            <a:extLst>
              <a:ext uri="{FF2B5EF4-FFF2-40B4-BE49-F238E27FC236}">
                <a16:creationId xmlns:a16="http://schemas.microsoft.com/office/drawing/2014/main" id="{77B8EFB4-867E-4274-9A40-A4242C3FC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2160588"/>
            <a:ext cx="2897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可缩短指令字长</a:t>
            </a:r>
          </a:p>
        </p:txBody>
      </p:sp>
      <p:sp>
        <p:nvSpPr>
          <p:cNvPr id="10247" name="Text Box 7">
            <a:extLst>
              <a:ext uri="{FF2B5EF4-FFF2-40B4-BE49-F238E27FC236}">
                <a16:creationId xmlns:a16="http://schemas.microsoft.com/office/drawing/2014/main" id="{5C2DC357-E0C8-413A-8805-2571B5D75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2738438"/>
            <a:ext cx="2897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可减少访存次数</a:t>
            </a:r>
          </a:p>
        </p:txBody>
      </p:sp>
      <p:sp>
        <p:nvSpPr>
          <p:cNvPr id="10248" name="Text Box 8">
            <a:extLst>
              <a:ext uri="{FF2B5EF4-FFF2-40B4-BE49-F238E27FC236}">
                <a16:creationId xmlns:a16="http://schemas.microsoft.com/office/drawing/2014/main" id="{21E5D596-D6D8-4231-AA03-CAEF8E3D4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894138"/>
            <a:ext cx="4365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三地址    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OP   R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R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  R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</a:p>
        </p:txBody>
      </p:sp>
      <p:sp>
        <p:nvSpPr>
          <p:cNvPr id="10249" name="Text Box 9">
            <a:extLst>
              <a:ext uri="{FF2B5EF4-FFF2-40B4-BE49-F238E27FC236}">
                <a16:creationId xmlns:a16="http://schemas.microsoft.com/office/drawing/2014/main" id="{61CF22D6-6470-4289-B94F-2B417D506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471988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二地址    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OP   R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  R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endParaRPr kumimoji="1" lang="en-US" altLang="zh-CN" sz="2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50" name="Text Box 10">
            <a:extLst>
              <a:ext uri="{FF2B5EF4-FFF2-40B4-BE49-F238E27FC236}">
                <a16:creationId xmlns:a16="http://schemas.microsoft.com/office/drawing/2014/main" id="{448499FC-B37F-46D0-B753-B31C13DFA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049838"/>
            <a:ext cx="3194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一地址    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OP   R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endParaRPr kumimoji="1" lang="en-US" altLang="zh-CN" sz="2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51" name="Text Box 11">
            <a:extLst>
              <a:ext uri="{FF2B5EF4-FFF2-40B4-BE49-F238E27FC236}">
                <a16:creationId xmlns:a16="http://schemas.microsoft.com/office/drawing/2014/main" id="{47C60239-3628-41B4-BB7A-127AAE3DA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6172200"/>
            <a:ext cx="36115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指令执行阶段不访存</a:t>
            </a:r>
          </a:p>
        </p:txBody>
      </p:sp>
      <p:sp>
        <p:nvSpPr>
          <p:cNvPr id="10252" name="Text Box 12">
            <a:extLst>
              <a:ext uri="{FF2B5EF4-FFF2-40B4-BE49-F238E27FC236}">
                <a16:creationId xmlns:a16="http://schemas.microsoft.com/office/drawing/2014/main" id="{F1815075-6C66-4605-9B92-B93012CC8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5638800"/>
            <a:ext cx="28971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可缩短指令字长</a:t>
            </a:r>
          </a:p>
        </p:txBody>
      </p:sp>
    </p:spTree>
    <p:extLst>
      <p:ext uri="{BB962C8B-B14F-4D97-AF65-F5344CB8AC3E}">
        <p14:creationId xmlns:p14="http://schemas.microsoft.com/office/powerpoint/2010/main" val="340242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autoUpdateAnimBg="0"/>
      <p:bldP spid="10244" grpId="0" autoUpdateAnimBg="0"/>
      <p:bldP spid="10245" grpId="0" autoUpdateAnimBg="0"/>
      <p:bldP spid="10246" grpId="0" autoUpdateAnimBg="0"/>
      <p:bldP spid="10247" grpId="0" autoUpdateAnimBg="0"/>
      <p:bldP spid="10248" grpId="0" autoUpdateAnimBg="0"/>
      <p:bldP spid="10249" grpId="0" autoUpdateAnimBg="0"/>
      <p:bldP spid="10250" grpId="0" autoUpdateAnimBg="0"/>
      <p:bldP spid="10251" grpId="0" autoUpdateAnimBg="0"/>
      <p:bldP spid="1025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7A0C623-FBA1-481B-B208-4356AED796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algn="ctr" eaLnBrk="1" hangingPunct="1"/>
            <a:r>
              <a:rPr lang="zh-CN" altLang="en-US" b="1"/>
              <a:t>第</a:t>
            </a:r>
            <a:r>
              <a:rPr lang="en-US" altLang="zh-CN" b="1"/>
              <a:t>5</a:t>
            </a:r>
            <a:r>
              <a:rPr lang="zh-CN" altLang="en-US" b="1"/>
              <a:t>章 指令系统</a:t>
            </a:r>
          </a:p>
        </p:txBody>
      </p:sp>
      <p:sp>
        <p:nvSpPr>
          <p:cNvPr id="8195" name="内容占位符 1">
            <a:extLst>
              <a:ext uri="{FF2B5EF4-FFF2-40B4-BE49-F238E27FC236}">
                <a16:creationId xmlns:a16="http://schemas.microsoft.com/office/drawing/2014/main" id="{CFC2AED9-0AA1-438A-8A4E-866CCF65A7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23547" y="1549400"/>
            <a:ext cx="7450138" cy="4525963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/>
              <a:t>5.1</a:t>
            </a:r>
            <a:r>
              <a:rPr lang="zh-CN" altLang="en-US"/>
              <a:t>指令系统概述</a:t>
            </a:r>
            <a:endParaRPr lang="en-US" altLang="zh-CN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/>
              <a:t>5.2 </a:t>
            </a:r>
            <a:r>
              <a:rPr lang="zh-CN" altLang="en-US"/>
              <a:t>指令的格式 </a:t>
            </a:r>
            <a:endParaRPr lang="en-US" altLang="zh-CN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/>
              <a:t>5.3</a:t>
            </a:r>
            <a:r>
              <a:rPr lang="zh-CN" altLang="en-US"/>
              <a:t>寻址方式</a:t>
            </a:r>
            <a:endParaRPr lang="en-US" altLang="zh-CN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/>
              <a:t>5.4 </a:t>
            </a:r>
            <a:r>
              <a:rPr lang="zh-CN" altLang="en-US"/>
              <a:t>指令的分类 </a:t>
            </a:r>
            <a:endParaRPr lang="en-US" altLang="zh-CN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/>
              <a:t>5.5 MIPS32</a:t>
            </a:r>
            <a:r>
              <a:rPr lang="zh-CN" altLang="en-US"/>
              <a:t>指令简介 </a:t>
            </a:r>
            <a:endParaRPr lang="en-US" altLang="zh-CN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/>
              <a:t>5.6</a:t>
            </a:r>
            <a:r>
              <a:rPr lang="zh-CN" altLang="en-US"/>
              <a:t>常用</a:t>
            </a:r>
            <a:r>
              <a:rPr lang="en-US" altLang="zh-CN"/>
              <a:t>MIPS</a:t>
            </a:r>
            <a:r>
              <a:rPr lang="zh-CN" altLang="en-US"/>
              <a:t>汇编指令</a:t>
            </a:r>
            <a:endParaRPr lang="en-US" altLang="zh-CN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/>
              <a:t>5.7 MISP</a:t>
            </a:r>
            <a:r>
              <a:rPr lang="zh-CN" altLang="en-US"/>
              <a:t>指令与</a:t>
            </a:r>
            <a:r>
              <a:rPr lang="en-US" altLang="zh-CN"/>
              <a:t>C</a:t>
            </a:r>
            <a:r>
              <a:rPr lang="zh-CN" altLang="en-US"/>
              <a:t>语言程序的关系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D67CA4-03D2-4867-8379-5DE67C6D1C43}"/>
              </a:ext>
            </a:extLst>
          </p:cNvPr>
          <p:cNvSpPr/>
          <p:nvPr/>
        </p:nvSpPr>
        <p:spPr>
          <a:xfrm>
            <a:off x="1327150" y="2708275"/>
            <a:ext cx="2395538" cy="58578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200" kern="0" dirty="0">
                <a:solidFill>
                  <a:srgbClr val="000000"/>
                </a:solidFill>
              </a:rPr>
              <a:t>5.3</a:t>
            </a:r>
            <a:r>
              <a:rPr lang="zh-CN" altLang="en-US" sz="3200" kern="0" dirty="0">
                <a:solidFill>
                  <a:srgbClr val="000000"/>
                </a:solidFill>
              </a:rPr>
              <a:t>寻址方式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AF67BA60-D487-4433-9641-57AD5FC131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</a:t>
            </a:r>
            <a:r>
              <a:rPr lang="zh-CN" altLang="en-US" dirty="0"/>
              <a:t>寻址方式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45688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5.3.1 </a:t>
            </a:r>
            <a:r>
              <a:rPr lang="zh-CN" altLang="en-US" dirty="0"/>
              <a:t>指令寻址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5.3.2 </a:t>
            </a:r>
            <a:r>
              <a:rPr lang="zh-CN" altLang="en-US" dirty="0"/>
              <a:t>数据寻址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3003587C-AB09-47DD-B16D-768762DB43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pPr algn="l" eaLnBrk="1" hangingPunct="1"/>
            <a:r>
              <a:rPr lang="en-US" altLang="zh-CN" b="1" dirty="0">
                <a:solidFill>
                  <a:srgbClr val="FF0000"/>
                </a:solidFill>
              </a:rPr>
              <a:t>5.3.1</a:t>
            </a:r>
            <a:r>
              <a:rPr lang="zh-CN" altLang="en-US" b="1" dirty="0">
                <a:solidFill>
                  <a:srgbClr val="FF0000"/>
                </a:solidFill>
              </a:rPr>
              <a:t>指令寻址</a:t>
            </a: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C284E010-FDA8-490B-ACC2-A45B91FD8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120" y="1462559"/>
            <a:ext cx="898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顺序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E77F4D88-A12C-430D-B276-8E13B561D78C}"/>
              </a:ext>
            </a:extLst>
          </p:cNvPr>
          <p:cNvGrpSpPr>
            <a:grpSpLocks/>
          </p:cNvGrpSpPr>
          <p:nvPr/>
        </p:nvGrpSpPr>
        <p:grpSpPr bwMode="auto">
          <a:xfrm>
            <a:off x="2051720" y="1484784"/>
            <a:ext cx="3086100" cy="519112"/>
            <a:chOff x="1622" y="1223"/>
            <a:chExt cx="1944" cy="327"/>
          </a:xfrm>
        </p:grpSpPr>
        <p:sp>
          <p:nvSpPr>
            <p:cNvPr id="34871" name="Text Box 6">
              <a:extLst>
                <a:ext uri="{FF2B5EF4-FFF2-40B4-BE49-F238E27FC236}">
                  <a16:creationId xmlns:a16="http://schemas.microsoft.com/office/drawing/2014/main" id="{AA0DE3D5-E6C0-4C2E-A609-869824CA77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2" y="1223"/>
              <a:ext cx="19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 PC ) + 1           PC</a:t>
              </a:r>
            </a:p>
          </p:txBody>
        </p:sp>
        <p:sp>
          <p:nvSpPr>
            <p:cNvPr id="34872" name="Line 7">
              <a:extLst>
                <a:ext uri="{FF2B5EF4-FFF2-40B4-BE49-F238E27FC236}">
                  <a16:creationId xmlns:a16="http://schemas.microsoft.com/office/drawing/2014/main" id="{593BDA33-DE7D-4EED-94DB-540887B811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373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440" name="Text Box 8">
            <a:extLst>
              <a:ext uri="{FF2B5EF4-FFF2-40B4-BE49-F238E27FC236}">
                <a16:creationId xmlns:a16="http://schemas.microsoft.com/office/drawing/2014/main" id="{328A1C3F-DF0E-448D-877A-3850A47F4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120" y="1995959"/>
            <a:ext cx="898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跳跃</a:t>
            </a:r>
          </a:p>
        </p:txBody>
      </p:sp>
      <p:sp>
        <p:nvSpPr>
          <p:cNvPr id="18441" name="Text Box 9">
            <a:extLst>
              <a:ext uri="{FF2B5EF4-FFF2-40B4-BE49-F238E27FC236}">
                <a16:creationId xmlns:a16="http://schemas.microsoft.com/office/drawing/2014/main" id="{834DB260-2E17-486D-BBB1-919FD9190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7595" y="2026121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由转移指令指出</a:t>
            </a:r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49604B22-95E7-4B17-8DFE-C2D791FFC737}"/>
              </a:ext>
            </a:extLst>
          </p:cNvPr>
          <p:cNvGrpSpPr>
            <a:grpSpLocks/>
          </p:cNvGrpSpPr>
          <p:nvPr/>
        </p:nvGrpSpPr>
        <p:grpSpPr bwMode="auto">
          <a:xfrm>
            <a:off x="530895" y="2548259"/>
            <a:ext cx="8112125" cy="3594100"/>
            <a:chOff x="662" y="1912"/>
            <a:chExt cx="5110" cy="2264"/>
          </a:xfrm>
        </p:grpSpPr>
        <p:sp>
          <p:nvSpPr>
            <p:cNvPr id="34841" name="Rectangle 11">
              <a:extLst>
                <a:ext uri="{FF2B5EF4-FFF2-40B4-BE49-F238E27FC236}">
                  <a16:creationId xmlns:a16="http://schemas.microsoft.com/office/drawing/2014/main" id="{941F2EA5-4B17-401D-BD59-4E742C27A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168"/>
              <a:ext cx="1488" cy="197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2" name="Text Box 12">
              <a:extLst>
                <a:ext uri="{FF2B5EF4-FFF2-40B4-BE49-F238E27FC236}">
                  <a16:creationId xmlns:a16="http://schemas.microsoft.com/office/drawing/2014/main" id="{6AF02087-4F82-4FB7-85A1-57CCBD4DC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212"/>
              <a:ext cx="133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LDA              1000</a:t>
              </a:r>
            </a:p>
          </p:txBody>
        </p:sp>
        <p:sp>
          <p:nvSpPr>
            <p:cNvPr id="34843" name="Text Box 13">
              <a:extLst>
                <a:ext uri="{FF2B5EF4-FFF2-40B4-BE49-F238E27FC236}">
                  <a16:creationId xmlns:a16="http://schemas.microsoft.com/office/drawing/2014/main" id="{D2043D34-6CF8-4A22-8913-B41A0DDA61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403"/>
              <a:ext cx="1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ADD              1001</a:t>
              </a:r>
            </a:p>
          </p:txBody>
        </p:sp>
        <p:sp>
          <p:nvSpPr>
            <p:cNvPr id="34844" name="Text Box 14">
              <a:extLst>
                <a:ext uri="{FF2B5EF4-FFF2-40B4-BE49-F238E27FC236}">
                  <a16:creationId xmlns:a16="http://schemas.microsoft.com/office/drawing/2014/main" id="{85B62C8C-D86A-4D64-AB71-C5F3BFBA20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593"/>
              <a:ext cx="133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DEC              1200</a:t>
              </a:r>
            </a:p>
          </p:txBody>
        </p:sp>
        <p:sp>
          <p:nvSpPr>
            <p:cNvPr id="34845" name="Text Box 15">
              <a:extLst>
                <a:ext uri="{FF2B5EF4-FFF2-40B4-BE49-F238E27FC236}">
                  <a16:creationId xmlns:a16="http://schemas.microsoft.com/office/drawing/2014/main" id="{A589E2A4-6C1D-4C48-BD8B-C6C8D751B3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783"/>
              <a:ext cx="13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JMP                    7</a:t>
              </a:r>
            </a:p>
          </p:txBody>
        </p:sp>
        <p:sp>
          <p:nvSpPr>
            <p:cNvPr id="34846" name="Text Box 16">
              <a:extLst>
                <a:ext uri="{FF2B5EF4-FFF2-40B4-BE49-F238E27FC236}">
                  <a16:creationId xmlns:a16="http://schemas.microsoft.com/office/drawing/2014/main" id="{A9C77D8D-AD98-4286-A894-7417085B1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970"/>
              <a:ext cx="133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LDA              2000</a:t>
              </a:r>
            </a:p>
          </p:txBody>
        </p:sp>
        <p:sp>
          <p:nvSpPr>
            <p:cNvPr id="34847" name="Text Box 17">
              <a:extLst>
                <a:ext uri="{FF2B5EF4-FFF2-40B4-BE49-F238E27FC236}">
                  <a16:creationId xmlns:a16="http://schemas.microsoft.com/office/drawing/2014/main" id="{654285D8-415F-4DD5-BB14-0C57B83F67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3165"/>
              <a:ext cx="13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SUB               2001</a:t>
              </a:r>
            </a:p>
          </p:txBody>
        </p:sp>
        <p:sp>
          <p:nvSpPr>
            <p:cNvPr id="34848" name="Text Box 18">
              <a:extLst>
                <a:ext uri="{FF2B5EF4-FFF2-40B4-BE49-F238E27FC236}">
                  <a16:creationId xmlns:a16="http://schemas.microsoft.com/office/drawing/2014/main" id="{D280C9E3-B566-490D-9974-4EE27FA6FB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3355"/>
              <a:ext cx="41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INC</a:t>
              </a:r>
            </a:p>
          </p:txBody>
        </p:sp>
        <p:sp>
          <p:nvSpPr>
            <p:cNvPr id="34849" name="Text Box 19">
              <a:extLst>
                <a:ext uri="{FF2B5EF4-FFF2-40B4-BE49-F238E27FC236}">
                  <a16:creationId xmlns:a16="http://schemas.microsoft.com/office/drawing/2014/main" id="{0E197AE7-AD3A-437A-8EBB-06A2612743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3546"/>
              <a:ext cx="130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STA              2500</a:t>
              </a:r>
            </a:p>
          </p:txBody>
        </p:sp>
        <p:sp>
          <p:nvSpPr>
            <p:cNvPr id="34850" name="Text Box 20">
              <a:extLst>
                <a:ext uri="{FF2B5EF4-FFF2-40B4-BE49-F238E27FC236}">
                  <a16:creationId xmlns:a16="http://schemas.microsoft.com/office/drawing/2014/main" id="{02E7C549-9087-4E9D-91CB-3B7E824C48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3737"/>
              <a:ext cx="129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LDA             1100</a:t>
              </a:r>
            </a:p>
          </p:txBody>
        </p:sp>
        <p:sp>
          <p:nvSpPr>
            <p:cNvPr id="34851" name="Text Box 21">
              <a:extLst>
                <a:ext uri="{FF2B5EF4-FFF2-40B4-BE49-F238E27FC236}">
                  <a16:creationId xmlns:a16="http://schemas.microsoft.com/office/drawing/2014/main" id="{3E41EA39-67AB-4271-BB14-0F42142B93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940"/>
              <a:ext cx="308" cy="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...</a:t>
              </a:r>
            </a:p>
          </p:txBody>
        </p:sp>
        <p:sp>
          <p:nvSpPr>
            <p:cNvPr id="34852" name="Text Box 22">
              <a:extLst>
                <a:ext uri="{FF2B5EF4-FFF2-40B4-BE49-F238E27FC236}">
                  <a16:creationId xmlns:a16="http://schemas.microsoft.com/office/drawing/2014/main" id="{680EF37F-17ED-4C3D-B763-4A4FAF1C9D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8" y="2212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34853" name="Text Box 23">
              <a:extLst>
                <a:ext uri="{FF2B5EF4-FFF2-40B4-BE49-F238E27FC236}">
                  <a16:creationId xmlns:a16="http://schemas.microsoft.com/office/drawing/2014/main" id="{199B194E-0540-4243-8F0E-FCFC45533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8" y="2403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34854" name="Text Box 24">
              <a:extLst>
                <a:ext uri="{FF2B5EF4-FFF2-40B4-BE49-F238E27FC236}">
                  <a16:creationId xmlns:a16="http://schemas.microsoft.com/office/drawing/2014/main" id="{468F3D1E-C187-421F-AC38-77735364FE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8" y="2593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34855" name="Text Box 25">
              <a:extLst>
                <a:ext uri="{FF2B5EF4-FFF2-40B4-BE49-F238E27FC236}">
                  <a16:creationId xmlns:a16="http://schemas.microsoft.com/office/drawing/2014/main" id="{D470114C-0EBD-471A-8C38-E3B2720EBE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8" y="2783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34856" name="Text Box 26">
              <a:extLst>
                <a:ext uri="{FF2B5EF4-FFF2-40B4-BE49-F238E27FC236}">
                  <a16:creationId xmlns:a16="http://schemas.microsoft.com/office/drawing/2014/main" id="{4FD04EE0-EFC4-44D6-962D-13EC045CC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8" y="2970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</a:p>
          </p:txBody>
        </p:sp>
        <p:sp>
          <p:nvSpPr>
            <p:cNvPr id="34857" name="Text Box 27">
              <a:extLst>
                <a:ext uri="{FF2B5EF4-FFF2-40B4-BE49-F238E27FC236}">
                  <a16:creationId xmlns:a16="http://schemas.microsoft.com/office/drawing/2014/main" id="{5B505759-8CC1-4C51-99F3-27F2578300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8" y="3165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</a:p>
          </p:txBody>
        </p:sp>
        <p:sp>
          <p:nvSpPr>
            <p:cNvPr id="34858" name="Text Box 28">
              <a:extLst>
                <a:ext uri="{FF2B5EF4-FFF2-40B4-BE49-F238E27FC236}">
                  <a16:creationId xmlns:a16="http://schemas.microsoft.com/office/drawing/2014/main" id="{C144F6C0-949F-4FEB-9AA1-1EA74362D9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8" y="3355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</a:p>
          </p:txBody>
        </p:sp>
        <p:sp>
          <p:nvSpPr>
            <p:cNvPr id="34859" name="Text Box 29">
              <a:extLst>
                <a:ext uri="{FF2B5EF4-FFF2-40B4-BE49-F238E27FC236}">
                  <a16:creationId xmlns:a16="http://schemas.microsoft.com/office/drawing/2014/main" id="{626937AC-C5EC-435A-B078-0274327FFE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8" y="3546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7</a:t>
              </a:r>
            </a:p>
          </p:txBody>
        </p:sp>
        <p:sp>
          <p:nvSpPr>
            <p:cNvPr id="34860" name="Text Box 30">
              <a:extLst>
                <a:ext uri="{FF2B5EF4-FFF2-40B4-BE49-F238E27FC236}">
                  <a16:creationId xmlns:a16="http://schemas.microsoft.com/office/drawing/2014/main" id="{30C72804-3988-4985-AE0D-6B4014A520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8" y="373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8</a:t>
              </a:r>
            </a:p>
          </p:txBody>
        </p:sp>
        <p:sp>
          <p:nvSpPr>
            <p:cNvPr id="34861" name="Text Box 31">
              <a:extLst>
                <a:ext uri="{FF2B5EF4-FFF2-40B4-BE49-F238E27FC236}">
                  <a16:creationId xmlns:a16="http://schemas.microsoft.com/office/drawing/2014/main" id="{0F2DBD6D-9113-491B-8E55-858EC0386E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8" y="3926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9</a:t>
              </a:r>
            </a:p>
          </p:txBody>
        </p:sp>
        <p:sp>
          <p:nvSpPr>
            <p:cNvPr id="34862" name="Rectangle 32">
              <a:extLst>
                <a:ext uri="{FF2B5EF4-FFF2-40B4-BE49-F238E27FC236}">
                  <a16:creationId xmlns:a16="http://schemas.microsoft.com/office/drawing/2014/main" id="{E116E83E-9D17-4957-8FAF-AEB1A8C4B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168"/>
              <a:ext cx="528" cy="22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63" name="Text Box 33">
              <a:extLst>
                <a:ext uri="{FF2B5EF4-FFF2-40B4-BE49-F238E27FC236}">
                  <a16:creationId xmlns:a16="http://schemas.microsoft.com/office/drawing/2014/main" id="{87B6D4E2-9482-47FB-9F8B-68D5781AD1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160"/>
              <a:ext cx="3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PC</a:t>
              </a:r>
            </a:p>
          </p:txBody>
        </p:sp>
        <p:sp>
          <p:nvSpPr>
            <p:cNvPr id="34864" name="Line 34">
              <a:extLst>
                <a:ext uri="{FF2B5EF4-FFF2-40B4-BE49-F238E27FC236}">
                  <a16:creationId xmlns:a16="http://schemas.microsoft.com/office/drawing/2014/main" id="{F0840C7F-AFFD-448B-A9CF-405597CDFD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6" y="227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65" name="AutoShape 35">
              <a:extLst>
                <a:ext uri="{FF2B5EF4-FFF2-40B4-BE49-F238E27FC236}">
                  <a16:creationId xmlns:a16="http://schemas.microsoft.com/office/drawing/2014/main" id="{692FA099-4F0A-47D1-9081-CDCB8880523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300000">
              <a:off x="1000" y="2243"/>
              <a:ext cx="192" cy="330"/>
            </a:xfrm>
            <a:prstGeom prst="curvedLeftArrow">
              <a:avLst>
                <a:gd name="adj1" fmla="val 25996"/>
                <a:gd name="adj2" fmla="val 62026"/>
                <a:gd name="adj3" fmla="val 44569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66" name="Text Box 36">
              <a:extLst>
                <a:ext uri="{FF2B5EF4-FFF2-40B4-BE49-F238E27FC236}">
                  <a16:creationId xmlns:a16="http://schemas.microsoft.com/office/drawing/2014/main" id="{1C65A7B2-476D-49FD-B2C7-ECE1DABC1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" y="2322"/>
              <a:ext cx="28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+1</a:t>
              </a:r>
            </a:p>
          </p:txBody>
        </p:sp>
        <p:sp>
          <p:nvSpPr>
            <p:cNvPr id="34867" name="Freeform 37">
              <a:extLst>
                <a:ext uri="{FF2B5EF4-FFF2-40B4-BE49-F238E27FC236}">
                  <a16:creationId xmlns:a16="http://schemas.microsoft.com/office/drawing/2014/main" id="{C3D531D9-035F-410C-81A1-532602397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1912"/>
              <a:ext cx="2880" cy="952"/>
            </a:xfrm>
            <a:custGeom>
              <a:avLst/>
              <a:gdLst>
                <a:gd name="T0" fmla="*/ 2592 w 2880"/>
                <a:gd name="T1" fmla="*/ 952 h 1248"/>
                <a:gd name="T2" fmla="*/ 2880 w 2880"/>
                <a:gd name="T3" fmla="*/ 952 h 1248"/>
                <a:gd name="T4" fmla="*/ 2880 w 2880"/>
                <a:gd name="T5" fmla="*/ 0 h 1248"/>
                <a:gd name="T6" fmla="*/ 0 w 2880"/>
                <a:gd name="T7" fmla="*/ 0 h 1248"/>
                <a:gd name="T8" fmla="*/ 0 w 2880"/>
                <a:gd name="T9" fmla="*/ 256 h 12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80"/>
                <a:gd name="T16" fmla="*/ 0 h 1248"/>
                <a:gd name="T17" fmla="*/ 2880 w 2880"/>
                <a:gd name="T18" fmla="*/ 1248 h 12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80" h="1248">
                  <a:moveTo>
                    <a:pt x="2592" y="1248"/>
                  </a:moveTo>
                  <a:lnTo>
                    <a:pt x="2880" y="1248"/>
                  </a:lnTo>
                  <a:lnTo>
                    <a:pt x="2880" y="0"/>
                  </a:lnTo>
                  <a:lnTo>
                    <a:pt x="0" y="0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68" name="Text Box 38">
              <a:extLst>
                <a:ext uri="{FF2B5EF4-FFF2-40B4-BE49-F238E27FC236}">
                  <a16:creationId xmlns:a16="http://schemas.microsoft.com/office/drawing/2014/main" id="{1EAE9A0A-A914-42DB-A36F-CD1DE1942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1920"/>
              <a:ext cx="14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指令地址寻址方式</a:t>
              </a:r>
            </a:p>
          </p:txBody>
        </p:sp>
        <p:sp>
          <p:nvSpPr>
            <p:cNvPr id="34869" name="Text Box 39">
              <a:extLst>
                <a:ext uri="{FF2B5EF4-FFF2-40B4-BE49-F238E27FC236}">
                  <a16:creationId xmlns:a16="http://schemas.microsoft.com/office/drawing/2014/main" id="{A4D860EE-BB0B-49A8-AC74-21A68AB21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0" y="1918"/>
              <a:ext cx="7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指令地址</a:t>
              </a:r>
            </a:p>
          </p:txBody>
        </p:sp>
        <p:sp>
          <p:nvSpPr>
            <p:cNvPr id="34870" name="Text Box 40">
              <a:extLst>
                <a:ext uri="{FF2B5EF4-FFF2-40B4-BE49-F238E27FC236}">
                  <a16:creationId xmlns:a16="http://schemas.microsoft.com/office/drawing/2014/main" id="{87A4C859-59AC-44C5-AB9E-A0C5037F20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6" y="1918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指令</a:t>
              </a:r>
            </a:p>
          </p:txBody>
        </p:sp>
      </p:grpSp>
      <p:grpSp>
        <p:nvGrpSpPr>
          <p:cNvPr id="4" name="Group 41">
            <a:extLst>
              <a:ext uri="{FF2B5EF4-FFF2-40B4-BE49-F238E27FC236}">
                <a16:creationId xmlns:a16="http://schemas.microsoft.com/office/drawing/2014/main" id="{522AF4AB-4F2D-4802-BB4B-146B6E6507F8}"/>
              </a:ext>
            </a:extLst>
          </p:cNvPr>
          <p:cNvGrpSpPr>
            <a:grpSpLocks/>
          </p:cNvGrpSpPr>
          <p:nvPr/>
        </p:nvGrpSpPr>
        <p:grpSpPr bwMode="auto">
          <a:xfrm>
            <a:off x="2829595" y="3337396"/>
            <a:ext cx="4940300" cy="396875"/>
            <a:chOff x="2112" y="2390"/>
            <a:chExt cx="3112" cy="250"/>
          </a:xfrm>
        </p:grpSpPr>
        <p:sp>
          <p:nvSpPr>
            <p:cNvPr id="34839" name="Text Box 42">
              <a:extLst>
                <a:ext uri="{FF2B5EF4-FFF2-40B4-BE49-F238E27FC236}">
                  <a16:creationId xmlns:a16="http://schemas.microsoft.com/office/drawing/2014/main" id="{EB5C94D5-6133-4ADB-A0E0-A4AA93342A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390"/>
              <a:ext cx="7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顺序寻址</a:t>
              </a:r>
            </a:p>
          </p:txBody>
        </p:sp>
        <p:sp>
          <p:nvSpPr>
            <p:cNvPr id="34840" name="Rectangle 43">
              <a:extLst>
                <a:ext uri="{FF2B5EF4-FFF2-40B4-BE49-F238E27FC236}">
                  <a16:creationId xmlns:a16="http://schemas.microsoft.com/office/drawing/2014/main" id="{C4B0594D-768A-4D95-A642-EB0A64668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400"/>
              <a:ext cx="336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grpSp>
        <p:nvGrpSpPr>
          <p:cNvPr id="5" name="Group 44">
            <a:extLst>
              <a:ext uri="{FF2B5EF4-FFF2-40B4-BE49-F238E27FC236}">
                <a16:creationId xmlns:a16="http://schemas.microsoft.com/office/drawing/2014/main" id="{5705DC10-C4C0-4D81-AF06-30133E088D14}"/>
              </a:ext>
            </a:extLst>
          </p:cNvPr>
          <p:cNvGrpSpPr>
            <a:grpSpLocks/>
          </p:cNvGrpSpPr>
          <p:nvPr/>
        </p:nvGrpSpPr>
        <p:grpSpPr bwMode="auto">
          <a:xfrm>
            <a:off x="2829595" y="3642196"/>
            <a:ext cx="4940300" cy="396875"/>
            <a:chOff x="2112" y="2582"/>
            <a:chExt cx="3112" cy="250"/>
          </a:xfrm>
        </p:grpSpPr>
        <p:sp>
          <p:nvSpPr>
            <p:cNvPr id="34837" name="Text Box 45">
              <a:extLst>
                <a:ext uri="{FF2B5EF4-FFF2-40B4-BE49-F238E27FC236}">
                  <a16:creationId xmlns:a16="http://schemas.microsoft.com/office/drawing/2014/main" id="{9965CCED-DCE7-433F-8978-176AD47D03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582"/>
              <a:ext cx="7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顺序寻址</a:t>
              </a:r>
            </a:p>
          </p:txBody>
        </p:sp>
        <p:sp>
          <p:nvSpPr>
            <p:cNvPr id="34838" name="Rectangle 46">
              <a:extLst>
                <a:ext uri="{FF2B5EF4-FFF2-40B4-BE49-F238E27FC236}">
                  <a16:creationId xmlns:a16="http://schemas.microsoft.com/office/drawing/2014/main" id="{B18A85BB-D336-4267-AB1F-2B3597D29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592"/>
              <a:ext cx="336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</p:grpSp>
      <p:grpSp>
        <p:nvGrpSpPr>
          <p:cNvPr id="6" name="Group 47">
            <a:extLst>
              <a:ext uri="{FF2B5EF4-FFF2-40B4-BE49-F238E27FC236}">
                <a16:creationId xmlns:a16="http://schemas.microsoft.com/office/drawing/2014/main" id="{12C0D2F2-7AD7-4594-9ADC-E2920C46465F}"/>
              </a:ext>
            </a:extLst>
          </p:cNvPr>
          <p:cNvGrpSpPr>
            <a:grpSpLocks/>
          </p:cNvGrpSpPr>
          <p:nvPr/>
        </p:nvGrpSpPr>
        <p:grpSpPr bwMode="auto">
          <a:xfrm>
            <a:off x="2829595" y="3946996"/>
            <a:ext cx="4940300" cy="396875"/>
            <a:chOff x="2112" y="2774"/>
            <a:chExt cx="3112" cy="250"/>
          </a:xfrm>
        </p:grpSpPr>
        <p:sp>
          <p:nvSpPr>
            <p:cNvPr id="34835" name="Text Box 48">
              <a:extLst>
                <a:ext uri="{FF2B5EF4-FFF2-40B4-BE49-F238E27FC236}">
                  <a16:creationId xmlns:a16="http://schemas.microsoft.com/office/drawing/2014/main" id="{6D2BDDF4-63AD-4E87-80BA-96643D4D7B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774"/>
              <a:ext cx="7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顺序寻址</a:t>
              </a:r>
            </a:p>
          </p:txBody>
        </p:sp>
        <p:sp>
          <p:nvSpPr>
            <p:cNvPr id="34836" name="Rectangle 49">
              <a:extLst>
                <a:ext uri="{FF2B5EF4-FFF2-40B4-BE49-F238E27FC236}">
                  <a16:creationId xmlns:a16="http://schemas.microsoft.com/office/drawing/2014/main" id="{14DA4F64-BA9F-4F43-81D7-B505AA5B8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784"/>
              <a:ext cx="336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</p:grpSp>
      <p:grpSp>
        <p:nvGrpSpPr>
          <p:cNvPr id="7" name="Group 50">
            <a:extLst>
              <a:ext uri="{FF2B5EF4-FFF2-40B4-BE49-F238E27FC236}">
                <a16:creationId xmlns:a16="http://schemas.microsoft.com/office/drawing/2014/main" id="{C6D8ED9F-32D9-4DCA-87EC-B665CEEAB3FE}"/>
              </a:ext>
            </a:extLst>
          </p:cNvPr>
          <p:cNvGrpSpPr>
            <a:grpSpLocks/>
          </p:cNvGrpSpPr>
          <p:nvPr/>
        </p:nvGrpSpPr>
        <p:grpSpPr bwMode="auto">
          <a:xfrm>
            <a:off x="2829595" y="5166196"/>
            <a:ext cx="4940300" cy="396875"/>
            <a:chOff x="2112" y="3542"/>
            <a:chExt cx="3112" cy="250"/>
          </a:xfrm>
        </p:grpSpPr>
        <p:sp>
          <p:nvSpPr>
            <p:cNvPr id="34833" name="Text Box 51">
              <a:extLst>
                <a:ext uri="{FF2B5EF4-FFF2-40B4-BE49-F238E27FC236}">
                  <a16:creationId xmlns:a16="http://schemas.microsoft.com/office/drawing/2014/main" id="{1BD24BBB-C5AE-4767-B30C-ECC7B2B7A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3542"/>
              <a:ext cx="7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跳跃寻址</a:t>
              </a:r>
            </a:p>
          </p:txBody>
        </p:sp>
        <p:sp>
          <p:nvSpPr>
            <p:cNvPr id="34834" name="Rectangle 52">
              <a:extLst>
                <a:ext uri="{FF2B5EF4-FFF2-40B4-BE49-F238E27FC236}">
                  <a16:creationId xmlns:a16="http://schemas.microsoft.com/office/drawing/2014/main" id="{1D564138-EF1C-4407-8B1B-2782D5F2C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552"/>
              <a:ext cx="336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7</a:t>
              </a:r>
            </a:p>
          </p:txBody>
        </p:sp>
      </p:grpSp>
      <p:grpSp>
        <p:nvGrpSpPr>
          <p:cNvPr id="8" name="Group 53">
            <a:extLst>
              <a:ext uri="{FF2B5EF4-FFF2-40B4-BE49-F238E27FC236}">
                <a16:creationId xmlns:a16="http://schemas.microsoft.com/office/drawing/2014/main" id="{832BE02E-9856-4985-A91C-9D2DD915FDC1}"/>
              </a:ext>
            </a:extLst>
          </p:cNvPr>
          <p:cNvGrpSpPr>
            <a:grpSpLocks/>
          </p:cNvGrpSpPr>
          <p:nvPr/>
        </p:nvGrpSpPr>
        <p:grpSpPr bwMode="auto">
          <a:xfrm>
            <a:off x="2829595" y="5470996"/>
            <a:ext cx="4940300" cy="396875"/>
            <a:chOff x="2112" y="3734"/>
            <a:chExt cx="3112" cy="250"/>
          </a:xfrm>
        </p:grpSpPr>
        <p:sp>
          <p:nvSpPr>
            <p:cNvPr id="34831" name="Text Box 54">
              <a:extLst>
                <a:ext uri="{FF2B5EF4-FFF2-40B4-BE49-F238E27FC236}">
                  <a16:creationId xmlns:a16="http://schemas.microsoft.com/office/drawing/2014/main" id="{CF68D9E0-6549-455C-A0B1-69574B24D2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3734"/>
              <a:ext cx="7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顺序寻址</a:t>
              </a:r>
            </a:p>
          </p:txBody>
        </p:sp>
        <p:sp>
          <p:nvSpPr>
            <p:cNvPr id="34832" name="Rectangle 55">
              <a:extLst>
                <a:ext uri="{FF2B5EF4-FFF2-40B4-BE49-F238E27FC236}">
                  <a16:creationId xmlns:a16="http://schemas.microsoft.com/office/drawing/2014/main" id="{918A71A5-E00F-4295-92A9-37BEC56CD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744"/>
              <a:ext cx="336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0667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autoUpdateAnimBg="0"/>
      <p:bldP spid="18440" grpId="0" autoUpdateAnimBg="0"/>
      <p:bldP spid="18441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 Box 3">
            <a:extLst>
              <a:ext uri="{FF2B5EF4-FFF2-40B4-BE49-F238E27FC236}">
                <a16:creationId xmlns:a16="http://schemas.microsoft.com/office/drawing/2014/main" id="{E2DE3E63-DBB3-41F7-B95B-87759DAA8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0975" y="1828800"/>
            <a:ext cx="17219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形式地址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0E4175BA-C011-4589-8AB0-63F01AD1D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8538" y="1828800"/>
            <a:ext cx="2405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指令字中的地址 </a:t>
            </a:r>
          </a:p>
        </p:txBody>
      </p:sp>
      <p:sp>
        <p:nvSpPr>
          <p:cNvPr id="19461" name="Text Box 5">
            <a:extLst>
              <a:ext uri="{FF2B5EF4-FFF2-40B4-BE49-F238E27FC236}">
                <a16:creationId xmlns:a16="http://schemas.microsoft.com/office/drawing/2014/main" id="{ED7210AE-55D5-4509-994D-190BD923F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0975" y="2362200"/>
            <a:ext cx="19101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有效地址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EA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19462" name="Text Box 6">
            <a:extLst>
              <a:ext uri="{FF2B5EF4-FFF2-40B4-BE49-F238E27FC236}">
                <a16:creationId xmlns:a16="http://schemas.microsoft.com/office/drawing/2014/main" id="{2E3C7785-6F1F-498D-A088-E44E463F8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8538" y="2362200"/>
            <a:ext cx="2711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操作数的真实地址 </a:t>
            </a:r>
          </a:p>
        </p:txBody>
      </p:sp>
      <p:sp>
        <p:nvSpPr>
          <p:cNvPr id="19463" name="Text Box 7">
            <a:extLst>
              <a:ext uri="{FF2B5EF4-FFF2-40B4-BE49-F238E27FC236}">
                <a16:creationId xmlns:a16="http://schemas.microsoft.com/office/drawing/2014/main" id="{71EB4173-E1F5-4CB6-9AF6-B5B9D1FE0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0975" y="2895600"/>
            <a:ext cx="949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约定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</a:p>
        </p:txBody>
      </p:sp>
      <p:sp>
        <p:nvSpPr>
          <p:cNvPr id="19464" name="Text Box 8">
            <a:extLst>
              <a:ext uri="{FF2B5EF4-FFF2-40B4-BE49-F238E27FC236}">
                <a16:creationId xmlns:a16="http://schemas.microsoft.com/office/drawing/2014/main" id="{DB36CC45-9579-4D15-8D13-DDDB28F5D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8725" y="2895600"/>
            <a:ext cx="4511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指令字长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存储字长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机器字长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6B630B4-D916-4C3B-94C3-C80CBE6ADFCB}"/>
              </a:ext>
            </a:extLst>
          </p:cNvPr>
          <p:cNvSpPr/>
          <p:nvPr/>
        </p:nvSpPr>
        <p:spPr>
          <a:xfrm>
            <a:off x="373701" y="107848"/>
            <a:ext cx="31918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1" hangingPunct="1"/>
            <a:r>
              <a:rPr kumimoji="1"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5.3.2 </a:t>
            </a:r>
            <a:r>
              <a:rPr kumimoji="1"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数据寻址 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E9615A3-16CA-4787-84B9-9D1DBBB7DCEF}"/>
              </a:ext>
            </a:extLst>
          </p:cNvPr>
          <p:cNvGrpSpPr/>
          <p:nvPr/>
        </p:nvGrpSpPr>
        <p:grpSpPr>
          <a:xfrm>
            <a:off x="1331640" y="847320"/>
            <a:ext cx="6194883" cy="943380"/>
            <a:chOff x="2403017" y="4496937"/>
            <a:chExt cx="6194883" cy="943380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3C3CF5CD-C33F-4420-9BBD-FDD63D1C325C}"/>
                </a:ext>
              </a:extLst>
            </p:cNvPr>
            <p:cNvGrpSpPr/>
            <p:nvPr/>
          </p:nvGrpSpPr>
          <p:grpSpPr>
            <a:xfrm>
              <a:off x="2403017" y="4496937"/>
              <a:ext cx="6194883" cy="481013"/>
              <a:chOff x="3213172" y="4314057"/>
              <a:chExt cx="7210988" cy="481013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41" name="Rectangle 6">
                <a:extLst>
                  <a:ext uri="{FF2B5EF4-FFF2-40B4-BE49-F238E27FC236}">
                    <a16:creationId xmlns:a16="http://schemas.microsoft.com/office/drawing/2014/main" id="{106ED0BB-1BF5-494B-85EE-F205B9D891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3172" y="4314057"/>
                <a:ext cx="1519238" cy="481013"/>
              </a:xfrm>
              <a:prstGeom prst="rect">
                <a:avLst/>
              </a:prstGeom>
              <a:solidFill>
                <a:srgbClr val="CCFF66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/>
                    <a:ea typeface="微软雅黑"/>
                  </a:rPr>
                  <a:t>OP</a:t>
                </a:r>
              </a:p>
            </p:txBody>
          </p:sp>
          <p:sp>
            <p:nvSpPr>
              <p:cNvPr id="42" name="Rectangle 7">
                <a:extLst>
                  <a:ext uri="{FF2B5EF4-FFF2-40B4-BE49-F238E27FC236}">
                    <a16:creationId xmlns:a16="http://schemas.microsoft.com/office/drawing/2014/main" id="{901EBB41-F55D-4F43-A7C5-9C5D26B017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2411" y="4314057"/>
                <a:ext cx="1532839" cy="481013"/>
              </a:xfrm>
              <a:prstGeom prst="rect">
                <a:avLst/>
              </a:prstGeom>
              <a:solidFill>
                <a:srgbClr val="00B0F0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/>
                    <a:ea typeface="微软雅黑"/>
                  </a:rPr>
                  <a:t>Mode</a:t>
                </a:r>
              </a:p>
            </p:txBody>
          </p:sp>
          <p:sp>
            <p:nvSpPr>
              <p:cNvPr id="43" name="Rectangle 9">
                <a:extLst>
                  <a:ext uri="{FF2B5EF4-FFF2-40B4-BE49-F238E27FC236}">
                    <a16:creationId xmlns:a16="http://schemas.microsoft.com/office/drawing/2014/main" id="{F006AEEC-BDB9-4B51-A661-554D3A904C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5250" y="4314057"/>
                <a:ext cx="4158910" cy="481013"/>
              </a:xfrm>
              <a:prstGeom prst="rect">
                <a:avLst/>
              </a:prstGeom>
              <a:solidFill>
                <a:srgbClr val="FFCC00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/>
                    <a:ea typeface="微软雅黑"/>
                  </a:rPr>
                  <a:t>D</a:t>
                </a:r>
              </a:p>
            </p:txBody>
          </p:sp>
        </p:grpSp>
        <p:sp>
          <p:nvSpPr>
            <p:cNvPr id="38" name="Rectangle 10">
              <a:extLst>
                <a:ext uri="{FF2B5EF4-FFF2-40B4-BE49-F238E27FC236}">
                  <a16:creationId xmlns:a16="http://schemas.microsoft.com/office/drawing/2014/main" id="{FB1CEAE8-91A5-412D-9CE0-B9CC6BDA7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9561" y="5040207"/>
              <a:ext cx="946150" cy="39687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FF"/>
                </a:buClr>
                <a:buSzPct val="70000"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</a:rPr>
                <a:t>操作码</a:t>
              </a:r>
            </a:p>
          </p:txBody>
        </p:sp>
        <p:sp>
          <p:nvSpPr>
            <p:cNvPr id="39" name="Rectangle 11">
              <a:extLst>
                <a:ext uri="{FF2B5EF4-FFF2-40B4-BE49-F238E27FC236}">
                  <a16:creationId xmlns:a16="http://schemas.microsoft.com/office/drawing/2014/main" id="{07920ED8-EDD3-4EF9-9C00-3220C023C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795" y="5040207"/>
              <a:ext cx="1210588" cy="40011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FF"/>
                </a:buClr>
                <a:buSzPct val="70000"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</a:rPr>
                <a:t>寻址模式</a:t>
              </a:r>
            </a:p>
          </p:txBody>
        </p:sp>
        <p:sp>
          <p:nvSpPr>
            <p:cNvPr id="40" name="Rectangle 12">
              <a:extLst>
                <a:ext uri="{FF2B5EF4-FFF2-40B4-BE49-F238E27FC236}">
                  <a16:creationId xmlns:a16="http://schemas.microsoft.com/office/drawing/2014/main" id="{431FA945-9C26-4A91-ACA9-153A5B358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1206" y="5040207"/>
              <a:ext cx="1258888" cy="39687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FF"/>
                </a:buClr>
                <a:buSzPct val="70000"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</a:rPr>
                <a:t>形式地址</a:t>
              </a:r>
            </a:p>
          </p:txBody>
        </p:sp>
      </p:grpSp>
      <p:sp>
        <p:nvSpPr>
          <p:cNvPr id="44" name="内容占位符 2">
            <a:extLst>
              <a:ext uri="{FF2B5EF4-FFF2-40B4-BE49-F238E27FC236}">
                <a16:creationId xmlns:a16="http://schemas.microsoft.com/office/drawing/2014/main" id="{06FD3E3A-E5B1-472C-8F96-BF2BF600E1F6}"/>
              </a:ext>
            </a:extLst>
          </p:cNvPr>
          <p:cNvSpPr txBox="1">
            <a:spLocks/>
          </p:cNvSpPr>
          <p:nvPr/>
        </p:nvSpPr>
        <p:spPr>
          <a:xfrm>
            <a:off x="632938" y="3479763"/>
            <a:ext cx="8216262" cy="2829136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>
            <a:normAutofit/>
          </a:bodyPr>
          <a:lstStyle>
            <a:lvl1pPr marL="342900" indent="-3429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u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0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9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形成操作数有效地址的方法       </a:t>
            </a: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单地址指令地址码的构成</a:t>
            </a:r>
            <a:r>
              <a:rPr kumimoji="0" lang="en-US" altLang="zh-CN" sz="2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mode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, D</a:t>
            </a: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实际有效地址为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EA</a:t>
            </a:r>
            <a:r>
              <a:rPr kumimoji="0" lang="en-US" altLang="zh-CN" sz="2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</a:t>
            </a:r>
            <a:r>
              <a:rPr kumimoji="0" lang="zh-CN" alt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实际操作数 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</a:t>
            </a: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S= (EA)     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542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utoUpdateAnimBg="0"/>
      <p:bldP spid="19460" grpId="0" autoUpdateAnimBg="0"/>
      <p:bldP spid="19461" grpId="0" autoUpdateAnimBg="0"/>
      <p:bldP spid="19462" grpId="0" autoUpdateAnimBg="0"/>
      <p:bldP spid="19463" grpId="0" autoUpdateAnimBg="0"/>
      <p:bldP spid="19464" grpId="0" autoUpdateAnimBg="0"/>
      <p:bldP spid="44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80B220C-BC96-4DB1-88BC-2CAC38EDC3C1}"/>
              </a:ext>
            </a:extLst>
          </p:cNvPr>
          <p:cNvSpPr txBox="1"/>
          <p:nvPr/>
        </p:nvSpPr>
        <p:spPr>
          <a:xfrm>
            <a:off x="539552" y="1643311"/>
            <a:ext cx="8280920" cy="3443828"/>
          </a:xfrm>
          <a:prstGeom prst="rect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计算机中数据所在的位置：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1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）指令中：立即数寻址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2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）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CPU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的寄存器中：寄存器寻址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3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）内存中：存储器寻址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4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）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I/O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设备中：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I/O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寻址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6B630B4-D916-4C3B-94C3-C80CBE6ADFCB}"/>
              </a:ext>
            </a:extLst>
          </p:cNvPr>
          <p:cNvSpPr/>
          <p:nvPr/>
        </p:nvSpPr>
        <p:spPr>
          <a:xfrm>
            <a:off x="373701" y="107848"/>
            <a:ext cx="31918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5.3.2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数据寻址 </a:t>
            </a:r>
          </a:p>
        </p:txBody>
      </p:sp>
    </p:spTree>
    <p:extLst>
      <p:ext uri="{BB962C8B-B14F-4D97-AF65-F5344CB8AC3E}">
        <p14:creationId xmlns:p14="http://schemas.microsoft.com/office/powerpoint/2010/main" val="3950764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>
            <a:extLst>
              <a:ext uri="{FF2B5EF4-FFF2-40B4-BE49-F238E27FC236}">
                <a16:creationId xmlns:a16="http://schemas.microsoft.com/office/drawing/2014/main" id="{C8E6A5FA-4B28-43BB-B948-104B92FA4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958" y="141069"/>
            <a:ext cx="319189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0"/>
              </a:spcBef>
              <a:buNone/>
            </a:pPr>
            <a:r>
              <a:rPr kumimoji="1"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5.3.2 </a:t>
            </a:r>
            <a:r>
              <a:rPr kumimoji="1"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数据寻址 </a:t>
            </a:r>
          </a:p>
        </p:txBody>
      </p:sp>
      <p:sp>
        <p:nvSpPr>
          <p:cNvPr id="19465" name="Text Box 9">
            <a:extLst>
              <a:ext uri="{FF2B5EF4-FFF2-40B4-BE49-F238E27FC236}">
                <a16:creationId xmlns:a16="http://schemas.microsoft.com/office/drawing/2014/main" id="{9EF406B9-C532-4177-BD12-A1D410651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196752"/>
            <a:ext cx="687720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1" dirty="0">
                <a:latin typeface="Times New Roman" panose="02020603050405020304" pitchFamily="18" charset="0"/>
              </a:rPr>
              <a:t>1.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立即寻址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：数据直接出现在指令中 </a:t>
            </a:r>
          </a:p>
        </p:txBody>
      </p:sp>
      <p:sp>
        <p:nvSpPr>
          <p:cNvPr id="19466" name="Text Box 10">
            <a:extLst>
              <a:ext uri="{FF2B5EF4-FFF2-40B4-BE49-F238E27FC236}">
                <a16:creationId xmlns:a16="http://schemas.microsoft.com/office/drawing/2014/main" id="{3A094123-C85D-4E20-BC74-BD6D9F863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8594" y="3711352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指令执行阶段不访存</a:t>
            </a:r>
          </a:p>
        </p:txBody>
      </p:sp>
      <p:sp>
        <p:nvSpPr>
          <p:cNvPr id="19467" name="Text Box 11">
            <a:extLst>
              <a:ext uri="{FF2B5EF4-FFF2-40B4-BE49-F238E27FC236}">
                <a16:creationId xmlns:a16="http://schemas.microsoft.com/office/drawing/2014/main" id="{C52CBCB4-3A33-4324-A61B-01002C455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8594" y="4157440"/>
            <a:ext cx="434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A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的位数限制了立即数的范围</a:t>
            </a:r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38F3B5C4-7B24-458E-8C3A-96718A19594D}"/>
              </a:ext>
            </a:extLst>
          </p:cNvPr>
          <p:cNvGrpSpPr>
            <a:grpSpLocks/>
          </p:cNvGrpSpPr>
          <p:nvPr/>
        </p:nvGrpSpPr>
        <p:grpSpPr bwMode="auto">
          <a:xfrm>
            <a:off x="2537644" y="2247677"/>
            <a:ext cx="2438400" cy="1447800"/>
            <a:chOff x="1920" y="2400"/>
            <a:chExt cx="1536" cy="912"/>
          </a:xfrm>
        </p:grpSpPr>
        <p:grpSp>
          <p:nvGrpSpPr>
            <p:cNvPr id="35858" name="Group 20">
              <a:extLst>
                <a:ext uri="{FF2B5EF4-FFF2-40B4-BE49-F238E27FC236}">
                  <a16:creationId xmlns:a16="http://schemas.microsoft.com/office/drawing/2014/main" id="{46E45B6A-C348-4DAF-9A2A-4C5E728FD3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0" y="2736"/>
              <a:ext cx="1440" cy="259"/>
              <a:chOff x="1920" y="2710"/>
              <a:chExt cx="1440" cy="259"/>
            </a:xfrm>
          </p:grpSpPr>
          <p:sp>
            <p:nvSpPr>
              <p:cNvPr id="35863" name="Text Box 21">
                <a:extLst>
                  <a:ext uri="{FF2B5EF4-FFF2-40B4-BE49-F238E27FC236}">
                    <a16:creationId xmlns:a16="http://schemas.microsoft.com/office/drawing/2014/main" id="{76E8F480-1B1F-4DE1-B6F5-0BDA0F53FD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6" y="2719"/>
                <a:ext cx="33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OP</a:t>
                </a:r>
              </a:p>
            </p:txBody>
          </p:sp>
          <p:sp>
            <p:nvSpPr>
              <p:cNvPr id="35864" name="Rectangle 22">
                <a:extLst>
                  <a:ext uri="{FF2B5EF4-FFF2-40B4-BE49-F238E27FC236}">
                    <a16:creationId xmlns:a16="http://schemas.microsoft.com/office/drawing/2014/main" id="{5DB77734-0D22-4D8B-B15D-31127229EB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710"/>
                <a:ext cx="480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5" name="Text Box 23">
                <a:extLst>
                  <a:ext uri="{FF2B5EF4-FFF2-40B4-BE49-F238E27FC236}">
                    <a16:creationId xmlns:a16="http://schemas.microsoft.com/office/drawing/2014/main" id="{27DED624-3E7D-49CF-9328-2152645E39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6" y="2719"/>
                <a:ext cx="2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#</a:t>
                </a:r>
              </a:p>
            </p:txBody>
          </p:sp>
          <p:sp>
            <p:nvSpPr>
              <p:cNvPr id="35866" name="Rectangle 24">
                <a:extLst>
                  <a:ext uri="{FF2B5EF4-FFF2-40B4-BE49-F238E27FC236}">
                    <a16:creationId xmlns:a16="http://schemas.microsoft.com/office/drawing/2014/main" id="{224D8FC8-B51F-4935-A732-9AF133880C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710"/>
                <a:ext cx="480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67" name="Text Box 25">
                <a:extLst>
                  <a:ext uri="{FF2B5EF4-FFF2-40B4-BE49-F238E27FC236}">
                    <a16:creationId xmlns:a16="http://schemas.microsoft.com/office/drawing/2014/main" id="{6DB09046-58B0-4D65-90AF-1F29755E5B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6" y="2719"/>
                <a:ext cx="27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A</a:t>
                </a:r>
              </a:p>
            </p:txBody>
          </p:sp>
          <p:sp>
            <p:nvSpPr>
              <p:cNvPr id="35868" name="Rectangle 26">
                <a:extLst>
                  <a:ext uri="{FF2B5EF4-FFF2-40B4-BE49-F238E27FC236}">
                    <a16:creationId xmlns:a16="http://schemas.microsoft.com/office/drawing/2014/main" id="{DB76E3BB-CA79-498D-9A06-8B96746215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2710"/>
                <a:ext cx="480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5859" name="AutoShape 27">
              <a:extLst>
                <a:ext uri="{FF2B5EF4-FFF2-40B4-BE49-F238E27FC236}">
                  <a16:creationId xmlns:a16="http://schemas.microsoft.com/office/drawing/2014/main" id="{5BE62F83-2429-42F1-A1D4-D7ABB9EE5E7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592" y="2448"/>
              <a:ext cx="96" cy="480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860" name="AutoShape 28">
              <a:extLst>
                <a:ext uri="{FF2B5EF4-FFF2-40B4-BE49-F238E27FC236}">
                  <a16:creationId xmlns:a16="http://schemas.microsoft.com/office/drawing/2014/main" id="{7475E8B2-452B-4F1F-86DB-7CBE153BE1EB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072" y="2784"/>
              <a:ext cx="96" cy="480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861" name="Text Box 29">
              <a:extLst>
                <a:ext uri="{FF2B5EF4-FFF2-40B4-BE49-F238E27FC236}">
                  <a16:creationId xmlns:a16="http://schemas.microsoft.com/office/drawing/2014/main" id="{6AAA3D49-B4FD-4BE5-A87F-295FC3BD4F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2400"/>
              <a:ext cx="10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立即寻址特征</a:t>
              </a:r>
            </a:p>
          </p:txBody>
        </p:sp>
        <p:sp>
          <p:nvSpPr>
            <p:cNvPr id="35862" name="Text Box 30">
              <a:extLst>
                <a:ext uri="{FF2B5EF4-FFF2-40B4-BE49-F238E27FC236}">
                  <a16:creationId xmlns:a16="http://schemas.microsoft.com/office/drawing/2014/main" id="{56CC7686-CAA4-4FDC-B0FE-7AD49F5403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7" y="3062"/>
              <a:ext cx="5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立即数</a:t>
              </a:r>
            </a:p>
          </p:txBody>
        </p:sp>
      </p:grpSp>
      <p:sp>
        <p:nvSpPr>
          <p:cNvPr id="19487" name="Text Box 31">
            <a:extLst>
              <a:ext uri="{FF2B5EF4-FFF2-40B4-BE49-F238E27FC236}">
                <a16:creationId xmlns:a16="http://schemas.microsoft.com/office/drawing/2014/main" id="{F9B23E54-8630-4D7A-B405-9EB647B56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2244" y="3314477"/>
            <a:ext cx="1908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可正可负 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补码</a:t>
            </a:r>
          </a:p>
        </p:txBody>
      </p:sp>
      <p:sp>
        <p:nvSpPr>
          <p:cNvPr id="19488" name="Text Box 32">
            <a:extLst>
              <a:ext uri="{FF2B5EF4-FFF2-40B4-BE49-F238E27FC236}">
                <a16:creationId xmlns:a16="http://schemas.microsoft.com/office/drawing/2014/main" id="{4503D4EA-BA77-4078-8CC4-0EFEA5A1F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8594" y="1806352"/>
            <a:ext cx="3314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形式地址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就是操作数</a:t>
            </a:r>
          </a:p>
        </p:txBody>
      </p:sp>
    </p:spTree>
    <p:extLst>
      <p:ext uri="{BB962C8B-B14F-4D97-AF65-F5344CB8AC3E}">
        <p14:creationId xmlns:p14="http://schemas.microsoft.com/office/powerpoint/2010/main" val="88179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5" grpId="0" autoUpdateAnimBg="0"/>
      <p:bldP spid="19466" grpId="0" autoUpdateAnimBg="0"/>
      <p:bldP spid="19467" grpId="0" autoUpdateAnimBg="0"/>
      <p:bldP spid="19487" grpId="0" autoUpdateAnimBg="0"/>
      <p:bldP spid="19488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>
            <a:extLst>
              <a:ext uri="{FF2B5EF4-FFF2-40B4-BE49-F238E27FC236}">
                <a16:creationId xmlns:a16="http://schemas.microsoft.com/office/drawing/2014/main" id="{3660B8A1-1808-4927-AAD8-359D40645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196850"/>
            <a:ext cx="34448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寄存器寻址</a:t>
            </a:r>
          </a:p>
        </p:txBody>
      </p:sp>
      <p:sp>
        <p:nvSpPr>
          <p:cNvPr id="24579" name="Text Box 3">
            <a:extLst>
              <a:ext uri="{FF2B5EF4-FFF2-40B4-BE49-F238E27FC236}">
                <a16:creationId xmlns:a16="http://schemas.microsoft.com/office/drawing/2014/main" id="{D73282C1-C486-46CB-B007-5F9E087A0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5288" y="838200"/>
            <a:ext cx="13827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EA = R</a:t>
            </a:r>
            <a:r>
              <a:rPr kumimoji="1" lang="en-US" altLang="zh-CN" sz="2800" b="1" i="1" u="none" strike="noStrike" kern="1200" cap="none" spc="0" normalizeH="0" baseline="-2500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</a:p>
        </p:txBody>
      </p:sp>
      <p:sp>
        <p:nvSpPr>
          <p:cNvPr id="24580" name="Text Box 4">
            <a:extLst>
              <a:ext uri="{FF2B5EF4-FFF2-40B4-BE49-F238E27FC236}">
                <a16:creationId xmlns:a16="http://schemas.microsoft.com/office/drawing/2014/main" id="{09FCD4EA-E9CA-42DF-802E-3E00C64CE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715000"/>
            <a:ext cx="678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执行阶段不访存，只访问寄存器，执行速度快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7B6141BF-C459-47FF-845A-D724B8A595CB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1984375"/>
            <a:ext cx="2286000" cy="381000"/>
            <a:chOff x="1104" y="1670"/>
            <a:chExt cx="1440" cy="240"/>
          </a:xfrm>
        </p:grpSpPr>
        <p:sp>
          <p:nvSpPr>
            <p:cNvPr id="40989" name="Rectangle 6">
              <a:extLst>
                <a:ext uri="{FF2B5EF4-FFF2-40B4-BE49-F238E27FC236}">
                  <a16:creationId xmlns:a16="http://schemas.microsoft.com/office/drawing/2014/main" id="{0EAE8D7C-BA04-4437-984A-2C56C5547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1670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OP</a:t>
              </a:r>
            </a:p>
          </p:txBody>
        </p:sp>
        <p:sp>
          <p:nvSpPr>
            <p:cNvPr id="40990" name="Rectangle 7">
              <a:extLst>
                <a:ext uri="{FF2B5EF4-FFF2-40B4-BE49-F238E27FC236}">
                  <a16:creationId xmlns:a16="http://schemas.microsoft.com/office/drawing/2014/main" id="{04888E19-43F2-460F-9564-B08A98E41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670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91" name="Rectangle 8">
              <a:extLst>
                <a:ext uri="{FF2B5EF4-FFF2-40B4-BE49-F238E27FC236}">
                  <a16:creationId xmlns:a16="http://schemas.microsoft.com/office/drawing/2014/main" id="{C9F2CA29-C93D-433B-B202-89FB3686E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670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</a:p>
          </p:txBody>
        </p:sp>
      </p:grpSp>
      <p:sp>
        <p:nvSpPr>
          <p:cNvPr id="24585" name="AutoShape 9">
            <a:extLst>
              <a:ext uri="{FF2B5EF4-FFF2-40B4-BE49-F238E27FC236}">
                <a16:creationId xmlns:a16="http://schemas.microsoft.com/office/drawing/2014/main" id="{A32A6612-AB67-460E-AAEC-D39ED7AE296A}"/>
              </a:ext>
            </a:extLst>
          </p:cNvPr>
          <p:cNvSpPr>
            <a:spLocks/>
          </p:cNvSpPr>
          <p:nvPr/>
        </p:nvSpPr>
        <p:spPr bwMode="auto">
          <a:xfrm rot="5400000">
            <a:off x="3352800" y="1527175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6" name="Text Box 10">
            <a:extLst>
              <a:ext uri="{FF2B5EF4-FFF2-40B4-BE49-F238E27FC236}">
                <a16:creationId xmlns:a16="http://schemas.microsoft.com/office/drawing/2014/main" id="{E6A1FADD-64A1-47E6-BC78-157B43A50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1447800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寻址特征</a:t>
            </a:r>
          </a:p>
        </p:txBody>
      </p:sp>
      <p:sp>
        <p:nvSpPr>
          <p:cNvPr id="24587" name="AutoShape 11">
            <a:extLst>
              <a:ext uri="{FF2B5EF4-FFF2-40B4-BE49-F238E27FC236}">
                <a16:creationId xmlns:a16="http://schemas.microsoft.com/office/drawing/2014/main" id="{2C61D138-56F2-47A9-A21A-20DFF0534477}"/>
              </a:ext>
            </a:extLst>
          </p:cNvPr>
          <p:cNvSpPr>
            <a:spLocks/>
          </p:cNvSpPr>
          <p:nvPr/>
        </p:nvSpPr>
        <p:spPr bwMode="auto">
          <a:xfrm rot="-5400000">
            <a:off x="4114800" y="2060575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8" name="Freeform 12">
            <a:extLst>
              <a:ext uri="{FF2B5EF4-FFF2-40B4-BE49-F238E27FC236}">
                <a16:creationId xmlns:a16="http://schemas.microsoft.com/office/drawing/2014/main" id="{410E08B0-DB87-4C97-8D17-DC85AE8D7702}"/>
              </a:ext>
            </a:extLst>
          </p:cNvPr>
          <p:cNvSpPr>
            <a:spLocks/>
          </p:cNvSpPr>
          <p:nvPr/>
        </p:nvSpPr>
        <p:spPr bwMode="auto">
          <a:xfrm>
            <a:off x="3124200" y="2517775"/>
            <a:ext cx="1066800" cy="1905000"/>
          </a:xfrm>
          <a:custGeom>
            <a:avLst/>
            <a:gdLst>
              <a:gd name="T0" fmla="*/ 1066800 w 672"/>
              <a:gd name="T1" fmla="*/ 0 h 1200"/>
              <a:gd name="T2" fmla="*/ 1066800 w 672"/>
              <a:gd name="T3" fmla="*/ 152400 h 1200"/>
              <a:gd name="T4" fmla="*/ 0 w 672"/>
              <a:gd name="T5" fmla="*/ 152400 h 1200"/>
              <a:gd name="T6" fmla="*/ 0 w 672"/>
              <a:gd name="T7" fmla="*/ 1905000 h 1200"/>
              <a:gd name="T8" fmla="*/ 685800 w 672"/>
              <a:gd name="T9" fmla="*/ 1905000 h 12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72"/>
              <a:gd name="T16" fmla="*/ 0 h 1200"/>
              <a:gd name="T17" fmla="*/ 672 w 672"/>
              <a:gd name="T18" fmla="*/ 1200 h 12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72" h="1200">
                <a:moveTo>
                  <a:pt x="672" y="0"/>
                </a:moveTo>
                <a:lnTo>
                  <a:pt x="672" y="96"/>
                </a:lnTo>
                <a:lnTo>
                  <a:pt x="0" y="96"/>
                </a:lnTo>
                <a:lnTo>
                  <a:pt x="0" y="1200"/>
                </a:lnTo>
                <a:lnTo>
                  <a:pt x="432" y="120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9" name="Text Box 13">
            <a:extLst>
              <a:ext uri="{FF2B5EF4-FFF2-40B4-BE49-F238E27FC236}">
                <a16:creationId xmlns:a16="http://schemas.microsoft.com/office/drawing/2014/main" id="{F7AB2F0A-625D-4E53-A959-D93E4F183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6248400"/>
            <a:ext cx="678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寄存器个数有限，可缩短指令字长</a:t>
            </a:r>
          </a:p>
        </p:txBody>
      </p:sp>
      <p:grpSp>
        <p:nvGrpSpPr>
          <p:cNvPr id="3" name="Group 14">
            <a:extLst>
              <a:ext uri="{FF2B5EF4-FFF2-40B4-BE49-F238E27FC236}">
                <a16:creationId xmlns:a16="http://schemas.microsoft.com/office/drawing/2014/main" id="{996C2230-BD2C-4DEF-B143-A0A4342450BF}"/>
              </a:ext>
            </a:extLst>
          </p:cNvPr>
          <p:cNvGrpSpPr>
            <a:grpSpLocks/>
          </p:cNvGrpSpPr>
          <p:nvPr/>
        </p:nvGrpSpPr>
        <p:grpSpPr bwMode="auto">
          <a:xfrm>
            <a:off x="3702050" y="2760663"/>
            <a:ext cx="1936750" cy="2894012"/>
            <a:chOff x="2332" y="1739"/>
            <a:chExt cx="1220" cy="1823"/>
          </a:xfrm>
        </p:grpSpPr>
        <p:grpSp>
          <p:nvGrpSpPr>
            <p:cNvPr id="40975" name="Group 15">
              <a:extLst>
                <a:ext uri="{FF2B5EF4-FFF2-40B4-BE49-F238E27FC236}">
                  <a16:creationId xmlns:a16="http://schemas.microsoft.com/office/drawing/2014/main" id="{F91FC47A-AE63-4911-8D29-2424522C20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2" y="1739"/>
              <a:ext cx="1124" cy="1585"/>
              <a:chOff x="2332" y="1739"/>
              <a:chExt cx="1124" cy="1585"/>
            </a:xfrm>
          </p:grpSpPr>
          <p:sp>
            <p:nvSpPr>
              <p:cNvPr id="40977" name="Rectangle 16">
                <a:extLst>
                  <a:ext uri="{FF2B5EF4-FFF2-40B4-BE49-F238E27FC236}">
                    <a16:creationId xmlns:a16="http://schemas.microsoft.com/office/drawing/2014/main" id="{AEDE1EE0-4ADB-43F3-9728-7F6FA82D0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8" y="2690"/>
                <a:ext cx="768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操作数</a:t>
                </a:r>
              </a:p>
            </p:txBody>
          </p:sp>
          <p:sp>
            <p:nvSpPr>
              <p:cNvPr id="40978" name="Rectangle 17">
                <a:extLst>
                  <a:ext uri="{FF2B5EF4-FFF2-40B4-BE49-F238E27FC236}">
                    <a16:creationId xmlns:a16="http://schemas.microsoft.com/office/drawing/2014/main" id="{247C42B1-B005-46A7-A74D-E6BC8C562E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8" y="2978"/>
                <a:ext cx="768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979" name="Rectangle 18">
                <a:extLst>
                  <a:ext uri="{FF2B5EF4-FFF2-40B4-BE49-F238E27FC236}">
                    <a16:creationId xmlns:a16="http://schemas.microsoft.com/office/drawing/2014/main" id="{D3D4E05C-BF79-4853-B17C-E2DA2E7327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8" y="1826"/>
                <a:ext cx="768" cy="86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980" name="Text Box 19">
                <a:extLst>
                  <a:ext uri="{FF2B5EF4-FFF2-40B4-BE49-F238E27FC236}">
                    <a16:creationId xmlns:a16="http://schemas.microsoft.com/office/drawing/2014/main" id="{FAE8D5BB-A5A6-44F0-ABA3-DCD0807ADF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5" y="2115"/>
                <a:ext cx="308" cy="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…</a:t>
                </a:r>
              </a:p>
            </p:txBody>
          </p:sp>
          <p:sp>
            <p:nvSpPr>
              <p:cNvPr id="40981" name="Text Box 20">
                <a:extLst>
                  <a:ext uri="{FF2B5EF4-FFF2-40B4-BE49-F238E27FC236}">
                    <a16:creationId xmlns:a16="http://schemas.microsoft.com/office/drawing/2014/main" id="{1BFE963F-0340-4E63-AB23-EF7FD42663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9" y="2328"/>
                <a:ext cx="308" cy="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982" name="Text Box 21">
                <a:extLst>
                  <a:ext uri="{FF2B5EF4-FFF2-40B4-BE49-F238E27FC236}">
                    <a16:creationId xmlns:a16="http://schemas.microsoft.com/office/drawing/2014/main" id="{BB6221E1-8A75-41AB-9A8B-75774BE6E2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5" y="3009"/>
                <a:ext cx="308" cy="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…</a:t>
                </a:r>
              </a:p>
            </p:txBody>
          </p:sp>
          <p:sp>
            <p:nvSpPr>
              <p:cNvPr id="40983" name="Text Box 22">
                <a:extLst>
                  <a:ext uri="{FF2B5EF4-FFF2-40B4-BE49-F238E27FC236}">
                    <a16:creationId xmlns:a16="http://schemas.microsoft.com/office/drawing/2014/main" id="{F9A3232D-48EB-4F39-98F7-EF10BA2F1F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32" y="2214"/>
                <a:ext cx="308" cy="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…</a:t>
                </a:r>
              </a:p>
            </p:txBody>
          </p:sp>
          <p:sp>
            <p:nvSpPr>
              <p:cNvPr id="40984" name="Text Box 23">
                <a:extLst>
                  <a:ext uri="{FF2B5EF4-FFF2-40B4-BE49-F238E27FC236}">
                    <a16:creationId xmlns:a16="http://schemas.microsoft.com/office/drawing/2014/main" id="{0787E640-EAA9-4BC2-972E-5B130D1231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3" y="2328"/>
                <a:ext cx="308" cy="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985" name="Text Box 24">
                <a:extLst>
                  <a:ext uri="{FF2B5EF4-FFF2-40B4-BE49-F238E27FC236}">
                    <a16:creationId xmlns:a16="http://schemas.microsoft.com/office/drawing/2014/main" id="{CBCB7C85-B8E5-49BF-B2A7-4B956B9511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904"/>
                <a:ext cx="308" cy="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…</a:t>
                </a:r>
              </a:p>
            </p:txBody>
          </p:sp>
          <p:sp>
            <p:nvSpPr>
              <p:cNvPr id="40986" name="Text Box 25">
                <a:extLst>
                  <a:ext uri="{FF2B5EF4-FFF2-40B4-BE49-F238E27FC236}">
                    <a16:creationId xmlns:a16="http://schemas.microsoft.com/office/drawing/2014/main" id="{3317FAB2-5007-4C91-8F35-63FF822D61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2" y="1739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R</a:t>
                </a:r>
                <a:r>
                  <a:rPr kumimoji="1" lang="en-US" altLang="zh-CN" sz="20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40987" name="Text Box 26">
                <a:extLst>
                  <a:ext uri="{FF2B5EF4-FFF2-40B4-BE49-F238E27FC236}">
                    <a16:creationId xmlns:a16="http://schemas.microsoft.com/office/drawing/2014/main" id="{DB46F973-B186-451B-B12F-B5F480D401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6" y="2680"/>
                <a:ext cx="26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R</a:t>
                </a:r>
                <a:r>
                  <a:rPr kumimoji="1" lang="en-US" altLang="zh-CN" sz="2000" b="1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</a:p>
            </p:txBody>
          </p:sp>
          <p:sp>
            <p:nvSpPr>
              <p:cNvPr id="40988" name="Text Box 27">
                <a:extLst>
                  <a:ext uri="{FF2B5EF4-FFF2-40B4-BE49-F238E27FC236}">
                    <a16:creationId xmlns:a16="http://schemas.microsoft.com/office/drawing/2014/main" id="{C42CF83F-9D8A-4D85-9E87-9EACAA2DCC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6" y="3074"/>
                <a:ext cx="29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R</a:t>
                </a:r>
                <a:r>
                  <a:rPr kumimoji="1" lang="en-US" altLang="zh-CN" sz="2000" b="1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</a:p>
            </p:txBody>
          </p:sp>
        </p:grpSp>
        <p:sp>
          <p:nvSpPr>
            <p:cNvPr id="40976" name="Text Box 28">
              <a:extLst>
                <a:ext uri="{FF2B5EF4-FFF2-40B4-BE49-F238E27FC236}">
                  <a16:creationId xmlns:a16="http://schemas.microsoft.com/office/drawing/2014/main" id="{5630DEA5-CEF4-467A-9CD6-213BD7D77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3312"/>
              <a:ext cx="7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寄存器</a:t>
              </a:r>
            </a:p>
          </p:txBody>
        </p:sp>
      </p:grpSp>
      <p:sp>
        <p:nvSpPr>
          <p:cNvPr id="24605" name="Text Box 29">
            <a:extLst>
              <a:ext uri="{FF2B5EF4-FFF2-40B4-BE49-F238E27FC236}">
                <a16:creationId xmlns:a16="http://schemas.microsoft.com/office/drawing/2014/main" id="{EF1A7EB7-90DF-401E-A217-A028E8B12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838200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有效地址即为寄存器编号</a:t>
            </a:r>
          </a:p>
        </p:txBody>
      </p:sp>
    </p:spTree>
    <p:extLst>
      <p:ext uri="{BB962C8B-B14F-4D97-AF65-F5344CB8AC3E}">
        <p14:creationId xmlns:p14="http://schemas.microsoft.com/office/powerpoint/2010/main" val="407154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utoUpdateAnimBg="0"/>
      <p:bldP spid="24580" grpId="0" autoUpdateAnimBg="0"/>
      <p:bldP spid="24585" grpId="0" animBg="1"/>
      <p:bldP spid="24586" grpId="0" autoUpdateAnimBg="0"/>
      <p:bldP spid="24587" grpId="0" animBg="1"/>
      <p:bldP spid="24589" grpId="0" autoUpdateAnimBg="0"/>
      <p:bldP spid="24605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>
            <a:extLst>
              <a:ext uri="{FF2B5EF4-FFF2-40B4-BE49-F238E27FC236}">
                <a16:creationId xmlns:a16="http://schemas.microsoft.com/office/drawing/2014/main" id="{F1988D2C-EDBB-4797-918A-B990784E2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38" y="971848"/>
            <a:ext cx="280717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(1).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直接寻址</a:t>
            </a:r>
          </a:p>
        </p:txBody>
      </p:sp>
      <p:sp>
        <p:nvSpPr>
          <p:cNvPr id="20483" name="Text Box 3">
            <a:extLst>
              <a:ext uri="{FF2B5EF4-FFF2-40B4-BE49-F238E27FC236}">
                <a16:creationId xmlns:a16="http://schemas.microsoft.com/office/drawing/2014/main" id="{1103E279-5102-4CCB-B6C0-B94D996D6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1338" y="1756073"/>
            <a:ext cx="1316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EA = A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90E06D-1B78-4F07-850A-143685F923A0}"/>
              </a:ext>
            </a:extLst>
          </p:cNvPr>
          <p:cNvGrpSpPr>
            <a:grpSpLocks/>
          </p:cNvGrpSpPr>
          <p:nvPr/>
        </p:nvGrpSpPr>
        <p:grpSpPr bwMode="auto">
          <a:xfrm>
            <a:off x="5208613" y="2600623"/>
            <a:ext cx="1219200" cy="1831975"/>
            <a:chOff x="3312" y="1198"/>
            <a:chExt cx="768" cy="1154"/>
          </a:xfrm>
        </p:grpSpPr>
        <p:sp>
          <p:nvSpPr>
            <p:cNvPr id="36887" name="Rectangle 5">
              <a:extLst>
                <a:ext uri="{FF2B5EF4-FFF2-40B4-BE49-F238E27FC236}">
                  <a16:creationId xmlns:a16="http://schemas.microsoft.com/office/drawing/2014/main" id="{B3C10E24-A8DC-4885-9C9B-B73D4349C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488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888" name="Rectangle 6">
              <a:extLst>
                <a:ext uri="{FF2B5EF4-FFF2-40B4-BE49-F238E27FC236}">
                  <a16:creationId xmlns:a16="http://schemas.microsoft.com/office/drawing/2014/main" id="{36C85B00-DE2A-4E44-83D2-E898DC9ED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776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操作数</a:t>
              </a:r>
            </a:p>
          </p:txBody>
        </p:sp>
        <p:sp>
          <p:nvSpPr>
            <p:cNvPr id="36889" name="Rectangle 7">
              <a:extLst>
                <a:ext uri="{FF2B5EF4-FFF2-40B4-BE49-F238E27FC236}">
                  <a16:creationId xmlns:a16="http://schemas.microsoft.com/office/drawing/2014/main" id="{5BF2A12D-204E-4EBD-9321-FB1329D43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2064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890" name="Text Box 8">
              <a:extLst>
                <a:ext uri="{FF2B5EF4-FFF2-40B4-BE49-F238E27FC236}">
                  <a16:creationId xmlns:a16="http://schemas.microsoft.com/office/drawing/2014/main" id="{31F5BDD9-0ACC-4939-A1AB-6FD822499E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198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主存</a:t>
              </a:r>
            </a:p>
          </p:txBody>
        </p:sp>
      </p:grpSp>
      <p:sp>
        <p:nvSpPr>
          <p:cNvPr id="20489" name="AutoShape 9">
            <a:extLst>
              <a:ext uri="{FF2B5EF4-FFF2-40B4-BE49-F238E27FC236}">
                <a16:creationId xmlns:a16="http://schemas.microsoft.com/office/drawing/2014/main" id="{AAA69C6A-7AFE-44FB-92A3-2524B18973A7}"/>
              </a:ext>
            </a:extLst>
          </p:cNvPr>
          <p:cNvSpPr>
            <a:spLocks/>
          </p:cNvSpPr>
          <p:nvPr/>
        </p:nvSpPr>
        <p:spPr bwMode="auto">
          <a:xfrm rot="5400000">
            <a:off x="2922613" y="2600623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90" name="Text Box 10">
            <a:extLst>
              <a:ext uri="{FF2B5EF4-FFF2-40B4-BE49-F238E27FC236}">
                <a16:creationId xmlns:a16="http://schemas.microsoft.com/office/drawing/2014/main" id="{8287C81A-C7CA-42F2-B297-95EB026FD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213" y="2521248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寻址特征</a:t>
            </a:r>
          </a:p>
        </p:txBody>
      </p:sp>
      <p:grpSp>
        <p:nvGrpSpPr>
          <p:cNvPr id="3" name="Group 11">
            <a:extLst>
              <a:ext uri="{FF2B5EF4-FFF2-40B4-BE49-F238E27FC236}">
                <a16:creationId xmlns:a16="http://schemas.microsoft.com/office/drawing/2014/main" id="{A076AD74-C541-44E1-A79A-33C3DA1E4216}"/>
              </a:ext>
            </a:extLst>
          </p:cNvPr>
          <p:cNvGrpSpPr>
            <a:grpSpLocks/>
          </p:cNvGrpSpPr>
          <p:nvPr/>
        </p:nvGrpSpPr>
        <p:grpSpPr bwMode="auto">
          <a:xfrm>
            <a:off x="1855813" y="3057823"/>
            <a:ext cx="2286000" cy="381000"/>
            <a:chOff x="1200" y="1486"/>
            <a:chExt cx="1440" cy="240"/>
          </a:xfrm>
        </p:grpSpPr>
        <p:sp>
          <p:nvSpPr>
            <p:cNvPr id="36884" name="Rectangle 12">
              <a:extLst>
                <a:ext uri="{FF2B5EF4-FFF2-40B4-BE49-F238E27FC236}">
                  <a16:creationId xmlns:a16="http://schemas.microsoft.com/office/drawing/2014/main" id="{E930DFAB-493B-4F3D-AACC-7A4B6E7C7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486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LDA</a:t>
              </a:r>
            </a:p>
          </p:txBody>
        </p:sp>
        <p:sp>
          <p:nvSpPr>
            <p:cNvPr id="36885" name="Rectangle 13">
              <a:extLst>
                <a:ext uri="{FF2B5EF4-FFF2-40B4-BE49-F238E27FC236}">
                  <a16:creationId xmlns:a16="http://schemas.microsoft.com/office/drawing/2014/main" id="{EECC4DD1-3F25-4F63-8926-B0DE8409B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486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886" name="Rectangle 14">
              <a:extLst>
                <a:ext uri="{FF2B5EF4-FFF2-40B4-BE49-F238E27FC236}">
                  <a16:creationId xmlns:a16="http://schemas.microsoft.com/office/drawing/2014/main" id="{F32A4535-0A6F-4C28-9EEC-5A42ECA38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486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</p:grpSp>
      <p:sp>
        <p:nvSpPr>
          <p:cNvPr id="20495" name="AutoShape 15">
            <a:extLst>
              <a:ext uri="{FF2B5EF4-FFF2-40B4-BE49-F238E27FC236}">
                <a16:creationId xmlns:a16="http://schemas.microsoft.com/office/drawing/2014/main" id="{AD39B028-B142-47B0-A705-30A39003F081}"/>
              </a:ext>
            </a:extLst>
          </p:cNvPr>
          <p:cNvSpPr>
            <a:spLocks/>
          </p:cNvSpPr>
          <p:nvPr/>
        </p:nvSpPr>
        <p:spPr bwMode="auto">
          <a:xfrm rot="16200000">
            <a:off x="3684613" y="3134023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96" name="Freeform 16">
            <a:extLst>
              <a:ext uri="{FF2B5EF4-FFF2-40B4-BE49-F238E27FC236}">
                <a16:creationId xmlns:a16="http://schemas.microsoft.com/office/drawing/2014/main" id="{2C30EB03-2627-4585-8459-88C466387822}"/>
              </a:ext>
            </a:extLst>
          </p:cNvPr>
          <p:cNvSpPr>
            <a:spLocks/>
          </p:cNvSpPr>
          <p:nvPr/>
        </p:nvSpPr>
        <p:spPr bwMode="auto">
          <a:xfrm>
            <a:off x="3760813" y="3591223"/>
            <a:ext cx="990600" cy="152400"/>
          </a:xfrm>
          <a:custGeom>
            <a:avLst/>
            <a:gdLst>
              <a:gd name="T0" fmla="*/ 0 w 624"/>
              <a:gd name="T1" fmla="*/ 0 h 96"/>
              <a:gd name="T2" fmla="*/ 0 w 624"/>
              <a:gd name="T3" fmla="*/ 152400 h 96"/>
              <a:gd name="T4" fmla="*/ 990600 w 624"/>
              <a:gd name="T5" fmla="*/ 152400 h 96"/>
              <a:gd name="T6" fmla="*/ 0 60000 65536"/>
              <a:gd name="T7" fmla="*/ 0 60000 65536"/>
              <a:gd name="T8" fmla="*/ 0 60000 65536"/>
              <a:gd name="T9" fmla="*/ 0 w 624"/>
              <a:gd name="T10" fmla="*/ 0 h 96"/>
              <a:gd name="T11" fmla="*/ 624 w 624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24" h="96">
                <a:moveTo>
                  <a:pt x="0" y="0"/>
                </a:moveTo>
                <a:lnTo>
                  <a:pt x="0" y="96"/>
                </a:lnTo>
                <a:lnTo>
                  <a:pt x="624" y="96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97" name="Text Box 17">
            <a:extLst>
              <a:ext uri="{FF2B5EF4-FFF2-40B4-BE49-F238E27FC236}">
                <a16:creationId xmlns:a16="http://schemas.microsoft.com/office/drawing/2014/main" id="{9539C934-5855-48DD-A00E-32C0405EA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538" y="3532486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</a:p>
        </p:txBody>
      </p:sp>
      <p:sp>
        <p:nvSpPr>
          <p:cNvPr id="20498" name="AutoShape 18">
            <a:extLst>
              <a:ext uri="{FF2B5EF4-FFF2-40B4-BE49-F238E27FC236}">
                <a16:creationId xmlns:a16="http://schemas.microsoft.com/office/drawing/2014/main" id="{D88F6255-EA0E-42AC-AE60-B7517A4A318B}"/>
              </a:ext>
            </a:extLst>
          </p:cNvPr>
          <p:cNvSpPr>
            <a:spLocks/>
          </p:cNvSpPr>
          <p:nvPr/>
        </p:nvSpPr>
        <p:spPr bwMode="auto">
          <a:xfrm rot="5400000">
            <a:off x="5742013" y="2829223"/>
            <a:ext cx="152400" cy="1219200"/>
          </a:xfrm>
          <a:prstGeom prst="leftBrace">
            <a:avLst>
              <a:gd name="adj1" fmla="val 66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99" name="Rectangle 19">
            <a:extLst>
              <a:ext uri="{FF2B5EF4-FFF2-40B4-BE49-F238E27FC236}">
                <a16:creationId xmlns:a16="http://schemas.microsoft.com/office/drawing/2014/main" id="{BFEDFE25-A8FA-4D4B-B342-8070BABA8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5013" y="3515023"/>
            <a:ext cx="762000" cy="381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ACC</a:t>
            </a:r>
          </a:p>
        </p:txBody>
      </p:sp>
      <p:sp>
        <p:nvSpPr>
          <p:cNvPr id="20500" name="Freeform 20">
            <a:extLst>
              <a:ext uri="{FF2B5EF4-FFF2-40B4-BE49-F238E27FC236}">
                <a16:creationId xmlns:a16="http://schemas.microsoft.com/office/drawing/2014/main" id="{86427B04-EFA4-4549-8438-5EDF1E89BA4E}"/>
              </a:ext>
            </a:extLst>
          </p:cNvPr>
          <p:cNvSpPr>
            <a:spLocks/>
          </p:cNvSpPr>
          <p:nvPr/>
        </p:nvSpPr>
        <p:spPr bwMode="auto">
          <a:xfrm>
            <a:off x="5818213" y="3210223"/>
            <a:ext cx="1447800" cy="304800"/>
          </a:xfrm>
          <a:custGeom>
            <a:avLst/>
            <a:gdLst>
              <a:gd name="T0" fmla="*/ 0 w 960"/>
              <a:gd name="T1" fmla="*/ 152400 h 192"/>
              <a:gd name="T2" fmla="*/ 0 w 960"/>
              <a:gd name="T3" fmla="*/ 0 h 192"/>
              <a:gd name="T4" fmla="*/ 1447800 w 960"/>
              <a:gd name="T5" fmla="*/ 0 h 192"/>
              <a:gd name="T6" fmla="*/ 1447800 w 960"/>
              <a:gd name="T7" fmla="*/ 304800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960"/>
              <a:gd name="T13" fmla="*/ 0 h 192"/>
              <a:gd name="T14" fmla="*/ 960 w 960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0" h="192">
                <a:moveTo>
                  <a:pt x="0" y="96"/>
                </a:moveTo>
                <a:lnTo>
                  <a:pt x="0" y="0"/>
                </a:lnTo>
                <a:lnTo>
                  <a:pt x="960" y="0"/>
                </a:lnTo>
                <a:lnTo>
                  <a:pt x="960" y="192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01" name="Text Box 21">
            <a:extLst>
              <a:ext uri="{FF2B5EF4-FFF2-40B4-BE49-F238E27FC236}">
                <a16:creationId xmlns:a16="http://schemas.microsoft.com/office/drawing/2014/main" id="{588FA833-2F2E-4242-86F8-4DE6F0388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6538" y="4599286"/>
            <a:ext cx="43259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执行阶段访问一次存储器</a:t>
            </a:r>
          </a:p>
        </p:txBody>
      </p:sp>
      <p:sp>
        <p:nvSpPr>
          <p:cNvPr id="20502" name="Text Box 22">
            <a:extLst>
              <a:ext uri="{FF2B5EF4-FFF2-40B4-BE49-F238E27FC236}">
                <a16:creationId xmlns:a16="http://schemas.microsoft.com/office/drawing/2014/main" id="{18781236-C0CB-4F14-BB14-7163F8F54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6538" y="5162849"/>
            <a:ext cx="6815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A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的位数决定了该指令操作数的寻址范围</a:t>
            </a:r>
          </a:p>
        </p:txBody>
      </p:sp>
      <p:sp>
        <p:nvSpPr>
          <p:cNvPr id="20503" name="Text Box 23">
            <a:extLst>
              <a:ext uri="{FF2B5EF4-FFF2-40B4-BE49-F238E27FC236}">
                <a16:creationId xmlns:a16="http://schemas.microsoft.com/office/drawing/2014/main" id="{91649807-99B7-4D96-9AA0-274CA0E9E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7963" y="5742286"/>
            <a:ext cx="6369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操作数的地址不易修改（必须修改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20504" name="Text Box 24">
            <a:extLst>
              <a:ext uri="{FF2B5EF4-FFF2-40B4-BE49-F238E27FC236}">
                <a16:creationId xmlns:a16="http://schemas.microsoft.com/office/drawing/2014/main" id="{7AEF734A-F29F-46F1-B47D-4A7AE79F7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613" y="1765598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有效地址由形式地址直接给出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87728CC-4C00-4E08-8209-57382F75F696}"/>
              </a:ext>
            </a:extLst>
          </p:cNvPr>
          <p:cNvSpPr/>
          <p:nvPr/>
        </p:nvSpPr>
        <p:spPr>
          <a:xfrm>
            <a:off x="187711" y="106849"/>
            <a:ext cx="28472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1" hangingPunct="1">
              <a:defRPr/>
            </a:pPr>
            <a:r>
              <a:rPr kumimoji="1" lang="en-US" altLang="zh-CN" sz="3600" b="1" dirty="0">
                <a:latin typeface="Times New Roman" panose="02020603050405020304" pitchFamily="18" charset="0"/>
              </a:rPr>
              <a:t>3.</a:t>
            </a:r>
            <a:r>
              <a:rPr kumimoji="1" lang="zh-CN" altLang="en-US" sz="3600" b="1" dirty="0">
                <a:latin typeface="Times New Roman" panose="02020603050405020304" pitchFamily="18" charset="0"/>
              </a:rPr>
              <a:t>存储器寻址</a:t>
            </a:r>
          </a:p>
        </p:txBody>
      </p:sp>
    </p:spTree>
    <p:extLst>
      <p:ext uri="{BB962C8B-B14F-4D97-AF65-F5344CB8AC3E}">
        <p14:creationId xmlns:p14="http://schemas.microsoft.com/office/powerpoint/2010/main" val="251687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3" dur="500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0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0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autoUpdateAnimBg="0"/>
      <p:bldP spid="20489" grpId="0" animBg="1"/>
      <p:bldP spid="20490" grpId="0" autoUpdateAnimBg="0"/>
      <p:bldP spid="20495" grpId="0" animBg="1"/>
      <p:bldP spid="20497" grpId="0" autoUpdateAnimBg="0"/>
      <p:bldP spid="20498" grpId="0" animBg="1"/>
      <p:bldP spid="20499" grpId="0" animBg="1" autoUpdateAnimBg="0"/>
      <p:bldP spid="20501" grpId="0" autoUpdateAnimBg="0"/>
      <p:bldP spid="20502" grpId="0" autoUpdateAnimBg="0"/>
      <p:bldP spid="20503" grpId="0" autoUpdateAnimBg="0"/>
      <p:bldP spid="20504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>
            <a:extLst>
              <a:ext uri="{FF2B5EF4-FFF2-40B4-BE49-F238E27FC236}">
                <a16:creationId xmlns:a16="http://schemas.microsoft.com/office/drawing/2014/main" id="{6CA10960-43AF-41C5-BBA6-138137F87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25010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★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隐含寻址</a:t>
            </a:r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65871F68-1B47-4ACC-ACE2-E0B085C5E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914400"/>
            <a:ext cx="4451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操作数地址隐含在操作码中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8E6089DA-F0E7-421C-B642-37341B13EE86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2076450"/>
            <a:ext cx="2286000" cy="339725"/>
            <a:chOff x="432" y="1356"/>
            <a:chExt cx="1440" cy="214"/>
          </a:xfrm>
        </p:grpSpPr>
        <p:sp>
          <p:nvSpPr>
            <p:cNvPr id="37926" name="Rectangle 5">
              <a:extLst>
                <a:ext uri="{FF2B5EF4-FFF2-40B4-BE49-F238E27FC236}">
                  <a16:creationId xmlns:a16="http://schemas.microsoft.com/office/drawing/2014/main" id="{DB363286-F2E7-4A30-9566-BCADB9BA3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356"/>
              <a:ext cx="480" cy="21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ADD</a:t>
              </a:r>
            </a:p>
          </p:txBody>
        </p:sp>
        <p:sp>
          <p:nvSpPr>
            <p:cNvPr id="37927" name="Rectangle 6">
              <a:extLst>
                <a:ext uri="{FF2B5EF4-FFF2-40B4-BE49-F238E27FC236}">
                  <a16:creationId xmlns:a16="http://schemas.microsoft.com/office/drawing/2014/main" id="{7A188863-5CBD-4BA7-97AD-6BA68DFBC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356"/>
              <a:ext cx="480" cy="214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928" name="Rectangle 7">
              <a:extLst>
                <a:ext uri="{FF2B5EF4-FFF2-40B4-BE49-F238E27FC236}">
                  <a16:creationId xmlns:a16="http://schemas.microsoft.com/office/drawing/2014/main" id="{3ACD0CAB-2149-427C-A268-96F5B9F39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356"/>
              <a:ext cx="480" cy="21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6EF5EE85-76F1-4CBE-8CAF-E4ADFE6A5868}"/>
              </a:ext>
            </a:extLst>
          </p:cNvPr>
          <p:cNvGrpSpPr>
            <a:grpSpLocks/>
          </p:cNvGrpSpPr>
          <p:nvPr/>
        </p:nvGrpSpPr>
        <p:grpSpPr bwMode="auto">
          <a:xfrm>
            <a:off x="4638675" y="1655763"/>
            <a:ext cx="1304925" cy="1628775"/>
            <a:chOff x="2490" y="1100"/>
            <a:chExt cx="822" cy="1026"/>
          </a:xfrm>
        </p:grpSpPr>
        <p:sp>
          <p:nvSpPr>
            <p:cNvPr id="37922" name="Rectangle 9">
              <a:extLst>
                <a:ext uri="{FF2B5EF4-FFF2-40B4-BE49-F238E27FC236}">
                  <a16:creationId xmlns:a16="http://schemas.microsoft.com/office/drawing/2014/main" id="{B879F4EC-0997-4A20-8C66-36675FC5B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358"/>
              <a:ext cx="768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923" name="Rectangle 10">
              <a:extLst>
                <a:ext uri="{FF2B5EF4-FFF2-40B4-BE49-F238E27FC236}">
                  <a16:creationId xmlns:a16="http://schemas.microsoft.com/office/drawing/2014/main" id="{F7036A2F-31BA-4DE2-A8A3-18EAE9712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614"/>
              <a:ext cx="768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操作数</a:t>
              </a:r>
            </a:p>
          </p:txBody>
        </p:sp>
        <p:sp>
          <p:nvSpPr>
            <p:cNvPr id="37924" name="Rectangle 11">
              <a:extLst>
                <a:ext uri="{FF2B5EF4-FFF2-40B4-BE49-F238E27FC236}">
                  <a16:creationId xmlns:a16="http://schemas.microsoft.com/office/drawing/2014/main" id="{C2141E21-8393-46AD-A5EC-A889E2E30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870"/>
              <a:ext cx="768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925" name="Text Box 12">
              <a:extLst>
                <a:ext uri="{FF2B5EF4-FFF2-40B4-BE49-F238E27FC236}">
                  <a16:creationId xmlns:a16="http://schemas.microsoft.com/office/drawing/2014/main" id="{A3CF1325-8FE9-446C-98EB-0D094BF43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0" y="1100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主存</a:t>
              </a:r>
            </a:p>
          </p:txBody>
        </p:sp>
      </p:grpSp>
      <p:sp>
        <p:nvSpPr>
          <p:cNvPr id="21517" name="AutoShape 13">
            <a:extLst>
              <a:ext uri="{FF2B5EF4-FFF2-40B4-BE49-F238E27FC236}">
                <a16:creationId xmlns:a16="http://schemas.microsoft.com/office/drawing/2014/main" id="{BCF4D35B-3F47-4DC8-AAD5-A6A855A4FB1F}"/>
              </a:ext>
            </a:extLst>
          </p:cNvPr>
          <p:cNvSpPr>
            <a:spLocks/>
          </p:cNvSpPr>
          <p:nvPr/>
        </p:nvSpPr>
        <p:spPr bwMode="auto">
          <a:xfrm rot="5400000">
            <a:off x="2447131" y="1627982"/>
            <a:ext cx="134937" cy="762000"/>
          </a:xfrm>
          <a:prstGeom prst="leftBrace">
            <a:avLst>
              <a:gd name="adj1" fmla="val 4705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8" name="Text Box 14">
            <a:extLst>
              <a:ext uri="{FF2B5EF4-FFF2-40B4-BE49-F238E27FC236}">
                <a16:creationId xmlns:a16="http://schemas.microsoft.com/office/drawing/2014/main" id="{7237E78E-BA1B-464A-AE1A-5D8828785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600200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寻址特征</a:t>
            </a:r>
          </a:p>
        </p:txBody>
      </p:sp>
      <p:sp>
        <p:nvSpPr>
          <p:cNvPr id="21519" name="AutoShape 15">
            <a:extLst>
              <a:ext uri="{FF2B5EF4-FFF2-40B4-BE49-F238E27FC236}">
                <a16:creationId xmlns:a16="http://schemas.microsoft.com/office/drawing/2014/main" id="{8B753A24-A34E-44D3-B15B-8687C72A56D7}"/>
              </a:ext>
            </a:extLst>
          </p:cNvPr>
          <p:cNvSpPr>
            <a:spLocks/>
          </p:cNvSpPr>
          <p:nvPr/>
        </p:nvSpPr>
        <p:spPr bwMode="auto">
          <a:xfrm rot="-5400000">
            <a:off x="3209131" y="2102644"/>
            <a:ext cx="134938" cy="762000"/>
          </a:xfrm>
          <a:prstGeom prst="leftBrace">
            <a:avLst>
              <a:gd name="adj1" fmla="val 4705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20" name="Freeform 16">
            <a:extLst>
              <a:ext uri="{FF2B5EF4-FFF2-40B4-BE49-F238E27FC236}">
                <a16:creationId xmlns:a16="http://schemas.microsoft.com/office/drawing/2014/main" id="{0E43C5CD-35E9-4F08-A5C9-746ACDB2DCC1}"/>
              </a:ext>
            </a:extLst>
          </p:cNvPr>
          <p:cNvSpPr>
            <a:spLocks/>
          </p:cNvSpPr>
          <p:nvPr/>
        </p:nvSpPr>
        <p:spPr bwMode="auto">
          <a:xfrm>
            <a:off x="3276600" y="2551113"/>
            <a:ext cx="990600" cy="134937"/>
          </a:xfrm>
          <a:custGeom>
            <a:avLst/>
            <a:gdLst>
              <a:gd name="T0" fmla="*/ 0 w 624"/>
              <a:gd name="T1" fmla="*/ 0 h 96"/>
              <a:gd name="T2" fmla="*/ 0 w 624"/>
              <a:gd name="T3" fmla="*/ 134937 h 96"/>
              <a:gd name="T4" fmla="*/ 990600 w 624"/>
              <a:gd name="T5" fmla="*/ 134937 h 96"/>
              <a:gd name="T6" fmla="*/ 0 60000 65536"/>
              <a:gd name="T7" fmla="*/ 0 60000 65536"/>
              <a:gd name="T8" fmla="*/ 0 60000 65536"/>
              <a:gd name="T9" fmla="*/ 0 w 624"/>
              <a:gd name="T10" fmla="*/ 0 h 96"/>
              <a:gd name="T11" fmla="*/ 624 w 624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24" h="96">
                <a:moveTo>
                  <a:pt x="0" y="0"/>
                </a:moveTo>
                <a:lnTo>
                  <a:pt x="0" y="96"/>
                </a:lnTo>
                <a:lnTo>
                  <a:pt x="624" y="96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21" name="Text Box 17">
            <a:extLst>
              <a:ext uri="{FF2B5EF4-FFF2-40B4-BE49-F238E27FC236}">
                <a16:creationId xmlns:a16="http://schemas.microsoft.com/office/drawing/2014/main" id="{BE8F7039-C1D8-4E7D-92A7-145890E0B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1325" y="250031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</a:p>
        </p:txBody>
      </p:sp>
      <p:sp>
        <p:nvSpPr>
          <p:cNvPr id="21522" name="AutoShape 18">
            <a:extLst>
              <a:ext uri="{FF2B5EF4-FFF2-40B4-BE49-F238E27FC236}">
                <a16:creationId xmlns:a16="http://schemas.microsoft.com/office/drawing/2014/main" id="{B03E24BB-D58E-40FE-A3D5-B0186F5456E2}"/>
              </a:ext>
            </a:extLst>
          </p:cNvPr>
          <p:cNvSpPr>
            <a:spLocks/>
          </p:cNvSpPr>
          <p:nvPr/>
        </p:nvSpPr>
        <p:spPr bwMode="auto">
          <a:xfrm rot="5400000">
            <a:off x="5266531" y="1794669"/>
            <a:ext cx="134938" cy="1219200"/>
          </a:xfrm>
          <a:prstGeom prst="leftBrace">
            <a:avLst>
              <a:gd name="adj1" fmla="val 752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23" name="Rectangle 19">
            <a:extLst>
              <a:ext uri="{FF2B5EF4-FFF2-40B4-BE49-F238E27FC236}">
                <a16:creationId xmlns:a16="http://schemas.microsoft.com/office/drawing/2014/main" id="{AB9D5D7B-BFC4-4E37-BE27-CF5AF9C7B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195513"/>
            <a:ext cx="685800" cy="33813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ACC</a:t>
            </a:r>
          </a:p>
        </p:txBody>
      </p:sp>
      <p:sp>
        <p:nvSpPr>
          <p:cNvPr id="21524" name="Rectangle 20">
            <a:extLst>
              <a:ext uri="{FF2B5EF4-FFF2-40B4-BE49-F238E27FC236}">
                <a16:creationId xmlns:a16="http://schemas.microsoft.com/office/drawing/2014/main" id="{0E0DCE7E-C5F0-4697-920F-E8BF6229E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097338"/>
            <a:ext cx="685800" cy="3397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tIns="1800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暂存</a:t>
            </a:r>
          </a:p>
        </p:txBody>
      </p:sp>
      <p:grpSp>
        <p:nvGrpSpPr>
          <p:cNvPr id="4" name="Group 21">
            <a:extLst>
              <a:ext uri="{FF2B5EF4-FFF2-40B4-BE49-F238E27FC236}">
                <a16:creationId xmlns:a16="http://schemas.microsoft.com/office/drawing/2014/main" id="{9256C8BD-9839-4BE3-8CA2-6675CC5F82E1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3352800"/>
            <a:ext cx="1066800" cy="512763"/>
            <a:chOff x="3888" y="2112"/>
            <a:chExt cx="672" cy="323"/>
          </a:xfrm>
        </p:grpSpPr>
        <p:sp>
          <p:nvSpPr>
            <p:cNvPr id="37920" name="Freeform 22">
              <a:extLst>
                <a:ext uri="{FF2B5EF4-FFF2-40B4-BE49-F238E27FC236}">
                  <a16:creationId xmlns:a16="http://schemas.microsoft.com/office/drawing/2014/main" id="{3A63F987-FF51-4E19-A89E-52E889025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2112"/>
              <a:ext cx="672" cy="300"/>
            </a:xfrm>
            <a:custGeom>
              <a:avLst/>
              <a:gdLst>
                <a:gd name="T0" fmla="*/ 0 w 672"/>
                <a:gd name="T1" fmla="*/ 0 h 338"/>
                <a:gd name="T2" fmla="*/ 240 w 672"/>
                <a:gd name="T3" fmla="*/ 0 h 338"/>
                <a:gd name="T4" fmla="*/ 339 w 672"/>
                <a:gd name="T5" fmla="*/ 114 h 338"/>
                <a:gd name="T6" fmla="*/ 432 w 672"/>
                <a:gd name="T7" fmla="*/ 0 h 338"/>
                <a:gd name="T8" fmla="*/ 672 w 672"/>
                <a:gd name="T9" fmla="*/ 0 h 338"/>
                <a:gd name="T10" fmla="*/ 507 w 672"/>
                <a:gd name="T11" fmla="*/ 300 h 338"/>
                <a:gd name="T12" fmla="*/ 192 w 672"/>
                <a:gd name="T13" fmla="*/ 298 h 338"/>
                <a:gd name="T14" fmla="*/ 0 w 672"/>
                <a:gd name="T15" fmla="*/ 0 h 3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2"/>
                <a:gd name="T25" fmla="*/ 0 h 338"/>
                <a:gd name="T26" fmla="*/ 672 w 672"/>
                <a:gd name="T27" fmla="*/ 338 h 33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2" h="338">
                  <a:moveTo>
                    <a:pt x="0" y="0"/>
                  </a:moveTo>
                  <a:lnTo>
                    <a:pt x="240" y="0"/>
                  </a:lnTo>
                  <a:lnTo>
                    <a:pt x="339" y="129"/>
                  </a:lnTo>
                  <a:lnTo>
                    <a:pt x="432" y="0"/>
                  </a:lnTo>
                  <a:lnTo>
                    <a:pt x="672" y="0"/>
                  </a:lnTo>
                  <a:lnTo>
                    <a:pt x="507" y="338"/>
                  </a:lnTo>
                  <a:lnTo>
                    <a:pt x="192" y="33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921" name="Text Box 23">
              <a:extLst>
                <a:ext uri="{FF2B5EF4-FFF2-40B4-BE49-F238E27FC236}">
                  <a16:creationId xmlns:a16="http://schemas.microsoft.com/office/drawing/2014/main" id="{6EE79B57-7906-4EFF-8996-54ED23EC92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7" y="2185"/>
              <a:ext cx="4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ALU</a:t>
              </a:r>
            </a:p>
          </p:txBody>
        </p:sp>
      </p:grpSp>
      <p:sp>
        <p:nvSpPr>
          <p:cNvPr id="21528" name="Line 24">
            <a:extLst>
              <a:ext uri="{FF2B5EF4-FFF2-40B4-BE49-F238E27FC236}">
                <a16:creationId xmlns:a16="http://schemas.microsoft.com/office/drawing/2014/main" id="{44DA8A11-9E49-4FD9-B84E-9E410FB0596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3821113"/>
            <a:ext cx="0" cy="271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29" name="Freeform 25">
            <a:extLst>
              <a:ext uri="{FF2B5EF4-FFF2-40B4-BE49-F238E27FC236}">
                <a16:creationId xmlns:a16="http://schemas.microsoft.com/office/drawing/2014/main" id="{E040CF0D-718D-4ED4-9036-A560219EE0A5}"/>
              </a:ext>
            </a:extLst>
          </p:cNvPr>
          <p:cNvSpPr>
            <a:spLocks/>
          </p:cNvSpPr>
          <p:nvPr/>
        </p:nvSpPr>
        <p:spPr bwMode="auto">
          <a:xfrm>
            <a:off x="7010400" y="2533650"/>
            <a:ext cx="1588" cy="793750"/>
          </a:xfrm>
          <a:custGeom>
            <a:avLst/>
            <a:gdLst>
              <a:gd name="T0" fmla="*/ 0 w 1"/>
              <a:gd name="T1" fmla="*/ 0 h 500"/>
              <a:gd name="T2" fmla="*/ 1588 w 1"/>
              <a:gd name="T3" fmla="*/ 793750 h 500"/>
              <a:gd name="T4" fmla="*/ 0 60000 65536"/>
              <a:gd name="T5" fmla="*/ 0 60000 65536"/>
              <a:gd name="T6" fmla="*/ 0 w 1"/>
              <a:gd name="T7" fmla="*/ 0 h 500"/>
              <a:gd name="T8" fmla="*/ 1 w 1"/>
              <a:gd name="T9" fmla="*/ 500 h 5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00">
                <a:moveTo>
                  <a:pt x="0" y="0"/>
                </a:moveTo>
                <a:lnTo>
                  <a:pt x="1" y="50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30" name="Text Box 26">
            <a:extLst>
              <a:ext uri="{FF2B5EF4-FFF2-40B4-BE49-F238E27FC236}">
                <a16:creationId xmlns:a16="http://schemas.microsoft.com/office/drawing/2014/main" id="{8C631D8C-1C86-47BD-8D95-CADB4122E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2911475"/>
            <a:ext cx="25304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另一个操作数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隐含在 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ACC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中</a:t>
            </a:r>
          </a:p>
        </p:txBody>
      </p:sp>
      <p:sp>
        <p:nvSpPr>
          <p:cNvPr id="21531" name="Text Box 27">
            <a:extLst>
              <a:ext uri="{FF2B5EF4-FFF2-40B4-BE49-F238E27FC236}">
                <a16:creationId xmlns:a16="http://schemas.microsoft.com/office/drawing/2014/main" id="{FB198757-48C5-4D8A-8F8A-C32789122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063" y="4243388"/>
            <a:ext cx="1176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8086</a:t>
            </a:r>
          </a:p>
        </p:txBody>
      </p:sp>
      <p:sp>
        <p:nvSpPr>
          <p:cNvPr id="21532" name="Text Box 28">
            <a:extLst>
              <a:ext uri="{FF2B5EF4-FFF2-40B4-BE49-F238E27FC236}">
                <a16:creationId xmlns:a16="http://schemas.microsoft.com/office/drawing/2014/main" id="{700E4DC7-E68D-41AC-B7BC-310309AA7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075" y="4722813"/>
            <a:ext cx="146685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MUL </a:t>
            </a: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</a:t>
            </a:r>
          </a:p>
        </p:txBody>
      </p:sp>
      <p:sp>
        <p:nvSpPr>
          <p:cNvPr id="21533" name="Text Box 29">
            <a:extLst>
              <a:ext uri="{FF2B5EF4-FFF2-40B4-BE49-F238E27FC236}">
                <a16:creationId xmlns:a16="http://schemas.microsoft.com/office/drawing/2014/main" id="{9CC77D58-F8AF-49DE-8640-8E07FA933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275" y="4722813"/>
            <a:ext cx="546735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被乘数隐含在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AX</a:t>
            </a: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位）或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AL</a:t>
            </a: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位）中</a:t>
            </a:r>
          </a:p>
        </p:txBody>
      </p:sp>
      <p:sp>
        <p:nvSpPr>
          <p:cNvPr id="21534" name="Text Box 30">
            <a:extLst>
              <a:ext uri="{FF2B5EF4-FFF2-40B4-BE49-F238E27FC236}">
                <a16:creationId xmlns:a16="http://schemas.microsoft.com/office/drawing/2014/main" id="{49CF9282-42FC-4F31-869C-BC3365601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750" y="5205413"/>
            <a:ext cx="16541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MOVS </a:t>
            </a: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</a:t>
            </a:r>
          </a:p>
        </p:txBody>
      </p:sp>
      <p:sp>
        <p:nvSpPr>
          <p:cNvPr id="21535" name="Text Box 31">
            <a:extLst>
              <a:ext uri="{FF2B5EF4-FFF2-40B4-BE49-F238E27FC236}">
                <a16:creationId xmlns:a16="http://schemas.microsoft.com/office/drawing/2014/main" id="{2A310CC9-4017-4868-B415-FB43CF911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275" y="5205413"/>
            <a:ext cx="40989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源操作数的地址隐含在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 </a:t>
            </a: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中</a:t>
            </a:r>
          </a:p>
        </p:txBody>
      </p:sp>
      <p:sp>
        <p:nvSpPr>
          <p:cNvPr id="21536" name="Text Box 32">
            <a:extLst>
              <a:ext uri="{FF2B5EF4-FFF2-40B4-BE49-F238E27FC236}">
                <a16:creationId xmlns:a16="http://schemas.microsoft.com/office/drawing/2014/main" id="{3EDAA34E-87AC-4FB6-8A50-8CD0EE312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275" y="5688013"/>
            <a:ext cx="40052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目的操作数的地址隐含在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 </a:t>
            </a: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中</a:t>
            </a:r>
          </a:p>
        </p:txBody>
      </p:sp>
      <p:sp>
        <p:nvSpPr>
          <p:cNvPr id="21537" name="Text Box 33">
            <a:extLst>
              <a:ext uri="{FF2B5EF4-FFF2-40B4-BE49-F238E27FC236}">
                <a16:creationId xmlns:a16="http://schemas.microsoft.com/office/drawing/2014/main" id="{2976028F-9A3E-4444-BBD7-648D83071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172200"/>
            <a:ext cx="60420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指令字中少了一个地址字段，可缩短指令字长</a:t>
            </a:r>
          </a:p>
        </p:txBody>
      </p:sp>
      <p:sp>
        <p:nvSpPr>
          <p:cNvPr id="21538" name="Freeform 34">
            <a:extLst>
              <a:ext uri="{FF2B5EF4-FFF2-40B4-BE49-F238E27FC236}">
                <a16:creationId xmlns:a16="http://schemas.microsoft.com/office/drawing/2014/main" id="{F03E5E6A-69C0-4584-8A00-A21FDD242A98}"/>
              </a:ext>
            </a:extLst>
          </p:cNvPr>
          <p:cNvSpPr>
            <a:spLocks/>
          </p:cNvSpPr>
          <p:nvPr/>
        </p:nvSpPr>
        <p:spPr bwMode="auto">
          <a:xfrm>
            <a:off x="5334000" y="1828800"/>
            <a:ext cx="990600" cy="533400"/>
          </a:xfrm>
          <a:custGeom>
            <a:avLst/>
            <a:gdLst>
              <a:gd name="T0" fmla="*/ 0 w 624"/>
              <a:gd name="T1" fmla="*/ 533400 h 384"/>
              <a:gd name="T2" fmla="*/ 0 w 624"/>
              <a:gd name="T3" fmla="*/ 0 h 384"/>
              <a:gd name="T4" fmla="*/ 990600 w 624"/>
              <a:gd name="T5" fmla="*/ 0 h 384"/>
              <a:gd name="T6" fmla="*/ 0 60000 65536"/>
              <a:gd name="T7" fmla="*/ 0 60000 65536"/>
              <a:gd name="T8" fmla="*/ 0 60000 65536"/>
              <a:gd name="T9" fmla="*/ 0 w 624"/>
              <a:gd name="T10" fmla="*/ 0 h 384"/>
              <a:gd name="T11" fmla="*/ 624 w 624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24" h="384">
                <a:moveTo>
                  <a:pt x="0" y="384"/>
                </a:moveTo>
                <a:lnTo>
                  <a:pt x="0" y="0"/>
                </a:lnTo>
                <a:lnTo>
                  <a:pt x="624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39" name="Line 35">
            <a:extLst>
              <a:ext uri="{FF2B5EF4-FFF2-40B4-BE49-F238E27FC236}">
                <a16:creationId xmlns:a16="http://schemas.microsoft.com/office/drawing/2014/main" id="{E40F30C2-FA27-426A-B0FD-A27EBBC0B8F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1828800"/>
            <a:ext cx="0" cy="1524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40" name="Freeform 36">
            <a:extLst>
              <a:ext uri="{FF2B5EF4-FFF2-40B4-BE49-F238E27FC236}">
                <a16:creationId xmlns:a16="http://schemas.microsoft.com/office/drawing/2014/main" id="{6AA6DDC6-2549-4E88-8DDF-CB5023581E40}"/>
              </a:ext>
            </a:extLst>
          </p:cNvPr>
          <p:cNvSpPr>
            <a:spLocks/>
          </p:cNvSpPr>
          <p:nvPr/>
        </p:nvSpPr>
        <p:spPr bwMode="auto">
          <a:xfrm>
            <a:off x="6705600" y="4419600"/>
            <a:ext cx="990600" cy="228600"/>
          </a:xfrm>
          <a:custGeom>
            <a:avLst/>
            <a:gdLst>
              <a:gd name="T0" fmla="*/ 0 w 624"/>
              <a:gd name="T1" fmla="*/ 0 h 144"/>
              <a:gd name="T2" fmla="*/ 0 w 624"/>
              <a:gd name="T3" fmla="*/ 228600 h 144"/>
              <a:gd name="T4" fmla="*/ 990600 w 624"/>
              <a:gd name="T5" fmla="*/ 228600 h 144"/>
              <a:gd name="T6" fmla="*/ 0 60000 65536"/>
              <a:gd name="T7" fmla="*/ 0 60000 65536"/>
              <a:gd name="T8" fmla="*/ 0 60000 65536"/>
              <a:gd name="T9" fmla="*/ 0 w 624"/>
              <a:gd name="T10" fmla="*/ 0 h 144"/>
              <a:gd name="T11" fmla="*/ 624 w 624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24" h="144">
                <a:moveTo>
                  <a:pt x="0" y="0"/>
                </a:moveTo>
                <a:lnTo>
                  <a:pt x="0" y="144"/>
                </a:lnTo>
                <a:lnTo>
                  <a:pt x="624" y="144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41" name="Freeform 37">
            <a:extLst>
              <a:ext uri="{FF2B5EF4-FFF2-40B4-BE49-F238E27FC236}">
                <a16:creationId xmlns:a16="http://schemas.microsoft.com/office/drawing/2014/main" id="{2D83DF12-346E-4A01-8486-56E9D6D9D7DA}"/>
              </a:ext>
            </a:extLst>
          </p:cNvPr>
          <p:cNvSpPr>
            <a:spLocks/>
          </p:cNvSpPr>
          <p:nvPr/>
        </p:nvSpPr>
        <p:spPr bwMode="auto">
          <a:xfrm>
            <a:off x="7005638" y="1752600"/>
            <a:ext cx="690562" cy="2895600"/>
          </a:xfrm>
          <a:custGeom>
            <a:avLst/>
            <a:gdLst>
              <a:gd name="T0" fmla="*/ 690562 w 435"/>
              <a:gd name="T1" fmla="*/ 2895600 h 1824"/>
              <a:gd name="T2" fmla="*/ 690562 w 435"/>
              <a:gd name="T3" fmla="*/ 0 h 1824"/>
              <a:gd name="T4" fmla="*/ 0 w 435"/>
              <a:gd name="T5" fmla="*/ 0 h 1824"/>
              <a:gd name="T6" fmla="*/ 0 60000 65536"/>
              <a:gd name="T7" fmla="*/ 0 60000 65536"/>
              <a:gd name="T8" fmla="*/ 0 60000 65536"/>
              <a:gd name="T9" fmla="*/ 0 w 435"/>
              <a:gd name="T10" fmla="*/ 0 h 1824"/>
              <a:gd name="T11" fmla="*/ 435 w 435"/>
              <a:gd name="T12" fmla="*/ 1824 h 18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5" h="1824">
                <a:moveTo>
                  <a:pt x="435" y="1824"/>
                </a:moveTo>
                <a:lnTo>
                  <a:pt x="435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42" name="Line 38">
            <a:extLst>
              <a:ext uri="{FF2B5EF4-FFF2-40B4-BE49-F238E27FC236}">
                <a16:creationId xmlns:a16="http://schemas.microsoft.com/office/drawing/2014/main" id="{B992C63A-105C-4911-9825-3265C5D8547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17526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1053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5" dur="500"/>
                                        <p:tgtEl>
                                          <p:spTgt spid="2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9" dur="500"/>
                                        <p:tgtEl>
                                          <p:spTgt spid="2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4" dur="500"/>
                                        <p:tgtEl>
                                          <p:spTgt spid="2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8" dur="500"/>
                                        <p:tgtEl>
                                          <p:spTgt spid="2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8" dur="500"/>
                                        <p:tgtEl>
                                          <p:spTgt spid="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2" dur="500"/>
                                        <p:tgtEl>
                                          <p:spTgt spid="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6" dur="500"/>
                                        <p:tgtEl>
                                          <p:spTgt spid="2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2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2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2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2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21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2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21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utoUpdateAnimBg="0"/>
      <p:bldP spid="21517" grpId="0" animBg="1"/>
      <p:bldP spid="21518" grpId="0" autoUpdateAnimBg="0"/>
      <p:bldP spid="21519" grpId="0" animBg="1"/>
      <p:bldP spid="21521" grpId="0" autoUpdateAnimBg="0"/>
      <p:bldP spid="21522" grpId="0" animBg="1" autoUpdateAnimBg="0"/>
      <p:bldP spid="21523" grpId="0" animBg="1" autoUpdateAnimBg="0"/>
      <p:bldP spid="21524" grpId="0" animBg="1" autoUpdateAnimBg="0"/>
      <p:bldP spid="21530" grpId="0" autoUpdateAnimBg="0"/>
      <p:bldP spid="21531" grpId="0" autoUpdateAnimBg="0"/>
      <p:bldP spid="21532" grpId="0" autoUpdateAnimBg="0"/>
      <p:bldP spid="21533" grpId="0" autoUpdateAnimBg="0"/>
      <p:bldP spid="21534" grpId="0" autoUpdateAnimBg="0"/>
      <p:bldP spid="21535" grpId="0" autoUpdateAnimBg="0"/>
      <p:bldP spid="21536" grpId="0" autoUpdateAnimBg="0"/>
      <p:bldP spid="21537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>
            <a:extLst>
              <a:ext uri="{FF2B5EF4-FFF2-40B4-BE49-F238E27FC236}">
                <a16:creationId xmlns:a16="http://schemas.microsoft.com/office/drawing/2014/main" id="{3E475FBF-0235-410D-AC83-2F072B281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764704"/>
            <a:ext cx="33226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(2).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间接寻址</a:t>
            </a:r>
          </a:p>
        </p:txBody>
      </p:sp>
      <p:sp>
        <p:nvSpPr>
          <p:cNvPr id="22531" name="Text Box 3">
            <a:extLst>
              <a:ext uri="{FF2B5EF4-FFF2-40B4-BE49-F238E27FC236}">
                <a16:creationId xmlns:a16="http://schemas.microsoft.com/office/drawing/2014/main" id="{E6EA7B4B-D1D6-4A32-A5EF-33FE1DD08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453" y="1593379"/>
            <a:ext cx="1941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EA =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459ACED7-E7C7-483C-B7D1-D9F0097C8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5653" y="1593379"/>
            <a:ext cx="4827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有效地址由形式地址间接提供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C5C73160-6287-4F53-B76D-17D5FD0E0736}"/>
              </a:ext>
            </a:extLst>
          </p:cNvPr>
          <p:cNvGrpSpPr>
            <a:grpSpLocks/>
          </p:cNvGrpSpPr>
          <p:nvPr/>
        </p:nvGrpSpPr>
        <p:grpSpPr bwMode="auto">
          <a:xfrm>
            <a:off x="94928" y="2669704"/>
            <a:ext cx="2286000" cy="381000"/>
            <a:chOff x="144" y="1392"/>
            <a:chExt cx="1440" cy="240"/>
          </a:xfrm>
        </p:grpSpPr>
        <p:sp>
          <p:nvSpPr>
            <p:cNvPr id="38971" name="Rectangle 6">
              <a:extLst>
                <a:ext uri="{FF2B5EF4-FFF2-40B4-BE49-F238E27FC236}">
                  <a16:creationId xmlns:a16="http://schemas.microsoft.com/office/drawing/2014/main" id="{05ED08FD-82D5-4A0D-8E21-30E81DC9BD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392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OP</a:t>
              </a:r>
            </a:p>
          </p:txBody>
        </p:sp>
        <p:sp>
          <p:nvSpPr>
            <p:cNvPr id="38972" name="Rectangle 7">
              <a:extLst>
                <a:ext uri="{FF2B5EF4-FFF2-40B4-BE49-F238E27FC236}">
                  <a16:creationId xmlns:a16="http://schemas.microsoft.com/office/drawing/2014/main" id="{C45CAB2A-0F96-417D-B33E-005F2F4E0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392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73" name="Rectangle 8">
              <a:extLst>
                <a:ext uri="{FF2B5EF4-FFF2-40B4-BE49-F238E27FC236}">
                  <a16:creationId xmlns:a16="http://schemas.microsoft.com/office/drawing/2014/main" id="{EA46C25C-5939-4455-82A6-DFF976196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1392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</p:grpSp>
      <p:sp>
        <p:nvSpPr>
          <p:cNvPr id="22537" name="AutoShape 9">
            <a:extLst>
              <a:ext uri="{FF2B5EF4-FFF2-40B4-BE49-F238E27FC236}">
                <a16:creationId xmlns:a16="http://schemas.microsoft.com/office/drawing/2014/main" id="{1EC88BFB-D628-4C51-9075-1223D2AF371C}"/>
              </a:ext>
            </a:extLst>
          </p:cNvPr>
          <p:cNvSpPr>
            <a:spLocks/>
          </p:cNvSpPr>
          <p:nvPr/>
        </p:nvSpPr>
        <p:spPr bwMode="auto">
          <a:xfrm rot="5400000">
            <a:off x="1161728" y="2212504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8" name="Text Box 10">
            <a:extLst>
              <a:ext uri="{FF2B5EF4-FFF2-40B4-BE49-F238E27FC236}">
                <a16:creationId xmlns:a16="http://schemas.microsoft.com/office/drawing/2014/main" id="{32C59723-68B3-4D00-8D12-750E8ED4B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328" y="2133129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寻址特征</a:t>
            </a:r>
          </a:p>
        </p:txBody>
      </p:sp>
      <p:sp>
        <p:nvSpPr>
          <p:cNvPr id="22539" name="AutoShape 11">
            <a:extLst>
              <a:ext uri="{FF2B5EF4-FFF2-40B4-BE49-F238E27FC236}">
                <a16:creationId xmlns:a16="http://schemas.microsoft.com/office/drawing/2014/main" id="{2FA1571D-A413-49F0-BE2B-EC080CA578B6}"/>
              </a:ext>
            </a:extLst>
          </p:cNvPr>
          <p:cNvSpPr>
            <a:spLocks/>
          </p:cNvSpPr>
          <p:nvPr/>
        </p:nvSpPr>
        <p:spPr bwMode="auto">
          <a:xfrm rot="16200000">
            <a:off x="1923728" y="2745904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40" name="Freeform 12">
            <a:extLst>
              <a:ext uri="{FF2B5EF4-FFF2-40B4-BE49-F238E27FC236}">
                <a16:creationId xmlns:a16="http://schemas.microsoft.com/office/drawing/2014/main" id="{EC0F14CE-5F54-4C0C-9689-1F481000B04E}"/>
              </a:ext>
            </a:extLst>
          </p:cNvPr>
          <p:cNvSpPr>
            <a:spLocks/>
          </p:cNvSpPr>
          <p:nvPr/>
        </p:nvSpPr>
        <p:spPr bwMode="auto">
          <a:xfrm>
            <a:off x="1999928" y="3203104"/>
            <a:ext cx="609600" cy="152400"/>
          </a:xfrm>
          <a:custGeom>
            <a:avLst/>
            <a:gdLst>
              <a:gd name="T0" fmla="*/ 0 w 624"/>
              <a:gd name="T1" fmla="*/ 0 h 96"/>
              <a:gd name="T2" fmla="*/ 0 w 624"/>
              <a:gd name="T3" fmla="*/ 152400 h 96"/>
              <a:gd name="T4" fmla="*/ 609600 w 624"/>
              <a:gd name="T5" fmla="*/ 152400 h 96"/>
              <a:gd name="T6" fmla="*/ 0 60000 65536"/>
              <a:gd name="T7" fmla="*/ 0 60000 65536"/>
              <a:gd name="T8" fmla="*/ 0 60000 65536"/>
              <a:gd name="T9" fmla="*/ 0 w 624"/>
              <a:gd name="T10" fmla="*/ 0 h 96"/>
              <a:gd name="T11" fmla="*/ 624 w 624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24" h="96">
                <a:moveTo>
                  <a:pt x="0" y="0"/>
                </a:moveTo>
                <a:lnTo>
                  <a:pt x="0" y="96"/>
                </a:lnTo>
                <a:lnTo>
                  <a:pt x="624" y="96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41" name="Text Box 13">
            <a:extLst>
              <a:ext uri="{FF2B5EF4-FFF2-40B4-BE49-F238E27FC236}">
                <a16:creationId xmlns:a16="http://schemas.microsoft.com/office/drawing/2014/main" id="{F6941A38-190C-4251-9369-52DB61E6C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9528" y="3144367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</a:p>
        </p:txBody>
      </p:sp>
      <p:grpSp>
        <p:nvGrpSpPr>
          <p:cNvPr id="3" name="Group 14">
            <a:extLst>
              <a:ext uri="{FF2B5EF4-FFF2-40B4-BE49-F238E27FC236}">
                <a16:creationId xmlns:a16="http://schemas.microsoft.com/office/drawing/2014/main" id="{28190BE6-FBB0-4DBB-93FF-DB522B35F1CF}"/>
              </a:ext>
            </a:extLst>
          </p:cNvPr>
          <p:cNvGrpSpPr>
            <a:grpSpLocks/>
          </p:cNvGrpSpPr>
          <p:nvPr/>
        </p:nvGrpSpPr>
        <p:grpSpPr bwMode="auto">
          <a:xfrm>
            <a:off x="2990528" y="2212504"/>
            <a:ext cx="1219200" cy="2743200"/>
            <a:chOff x="1968" y="1104"/>
            <a:chExt cx="768" cy="1728"/>
          </a:xfrm>
        </p:grpSpPr>
        <p:sp>
          <p:nvSpPr>
            <p:cNvPr id="38965" name="Rectangle 15">
              <a:extLst>
                <a:ext uri="{FF2B5EF4-FFF2-40B4-BE49-F238E27FC236}">
                  <a16:creationId xmlns:a16="http://schemas.microsoft.com/office/drawing/2014/main" id="{CCD68859-C8C1-41AD-89AD-38E5732E0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394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66" name="Rectangle 16">
              <a:extLst>
                <a:ext uri="{FF2B5EF4-FFF2-40B4-BE49-F238E27FC236}">
                  <a16:creationId xmlns:a16="http://schemas.microsoft.com/office/drawing/2014/main" id="{B4FCAFA8-019B-4315-A4CF-8B809CF2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682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EA</a:t>
              </a:r>
            </a:p>
          </p:txBody>
        </p:sp>
        <p:sp>
          <p:nvSpPr>
            <p:cNvPr id="38967" name="Rectangle 17">
              <a:extLst>
                <a:ext uri="{FF2B5EF4-FFF2-40B4-BE49-F238E27FC236}">
                  <a16:creationId xmlns:a16="http://schemas.microsoft.com/office/drawing/2014/main" id="{D9691201-EE19-431C-A3F8-8C07B6B16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970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68" name="Text Box 18">
              <a:extLst>
                <a:ext uri="{FF2B5EF4-FFF2-40B4-BE49-F238E27FC236}">
                  <a16:creationId xmlns:a16="http://schemas.microsoft.com/office/drawing/2014/main" id="{AA20B12E-C54D-49BB-A3A8-32A5F02091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104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主存</a:t>
              </a:r>
            </a:p>
          </p:txBody>
        </p:sp>
        <p:sp>
          <p:nvSpPr>
            <p:cNvPr id="38969" name="Rectangle 19">
              <a:extLst>
                <a:ext uri="{FF2B5EF4-FFF2-40B4-BE49-F238E27FC236}">
                  <a16:creationId xmlns:a16="http://schemas.microsoft.com/office/drawing/2014/main" id="{4FB2F49B-2562-40CF-A5EE-70D828FF0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256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70" name="Rectangle 20">
              <a:extLst>
                <a:ext uri="{FF2B5EF4-FFF2-40B4-BE49-F238E27FC236}">
                  <a16:creationId xmlns:a16="http://schemas.microsoft.com/office/drawing/2014/main" id="{F2DFEBDB-BDA7-46C4-9CA1-308E3345A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544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2549" name="AutoShape 21">
            <a:extLst>
              <a:ext uri="{FF2B5EF4-FFF2-40B4-BE49-F238E27FC236}">
                <a16:creationId xmlns:a16="http://schemas.microsoft.com/office/drawing/2014/main" id="{63C4312D-7290-4318-AC42-4064FE95CB72}"/>
              </a:ext>
            </a:extLst>
          </p:cNvPr>
          <p:cNvSpPr>
            <a:spLocks/>
          </p:cNvSpPr>
          <p:nvPr/>
        </p:nvSpPr>
        <p:spPr bwMode="auto">
          <a:xfrm rot="16200000">
            <a:off x="3523928" y="3050704"/>
            <a:ext cx="152400" cy="1219200"/>
          </a:xfrm>
          <a:prstGeom prst="leftBrace">
            <a:avLst>
              <a:gd name="adj1" fmla="val 66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50" name="Freeform 22">
            <a:extLst>
              <a:ext uri="{FF2B5EF4-FFF2-40B4-BE49-F238E27FC236}">
                <a16:creationId xmlns:a16="http://schemas.microsoft.com/office/drawing/2014/main" id="{D8B4A801-A34A-4DE7-8FF2-EE0AE8F3EEE9}"/>
              </a:ext>
            </a:extLst>
          </p:cNvPr>
          <p:cNvSpPr>
            <a:spLocks/>
          </p:cNvSpPr>
          <p:nvPr/>
        </p:nvSpPr>
        <p:spPr bwMode="auto">
          <a:xfrm>
            <a:off x="2304728" y="3736504"/>
            <a:ext cx="1295400" cy="533400"/>
          </a:xfrm>
          <a:custGeom>
            <a:avLst/>
            <a:gdLst>
              <a:gd name="T0" fmla="*/ 1295400 w 816"/>
              <a:gd name="T1" fmla="*/ 0 h 336"/>
              <a:gd name="T2" fmla="*/ 1295400 w 816"/>
              <a:gd name="T3" fmla="*/ 152400 h 336"/>
              <a:gd name="T4" fmla="*/ 0 w 816"/>
              <a:gd name="T5" fmla="*/ 152400 h 336"/>
              <a:gd name="T6" fmla="*/ 0 w 816"/>
              <a:gd name="T7" fmla="*/ 533400 h 336"/>
              <a:gd name="T8" fmla="*/ 228600 w 816"/>
              <a:gd name="T9" fmla="*/ 533400 h 3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6"/>
              <a:gd name="T16" fmla="*/ 0 h 336"/>
              <a:gd name="T17" fmla="*/ 816 w 816"/>
              <a:gd name="T18" fmla="*/ 336 h 3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6" h="336">
                <a:moveTo>
                  <a:pt x="816" y="0"/>
                </a:moveTo>
                <a:lnTo>
                  <a:pt x="816" y="96"/>
                </a:lnTo>
                <a:lnTo>
                  <a:pt x="0" y="96"/>
                </a:lnTo>
                <a:lnTo>
                  <a:pt x="0" y="336"/>
                </a:lnTo>
                <a:lnTo>
                  <a:pt x="144" y="336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51" name="Text Box 23">
            <a:extLst>
              <a:ext uri="{FF2B5EF4-FFF2-40B4-BE49-F238E27FC236}">
                <a16:creationId xmlns:a16="http://schemas.microsoft.com/office/drawing/2014/main" id="{EEFC3F3D-8C19-4423-A73B-C74AFD97C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8566" y="4041304"/>
            <a:ext cx="538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EA</a:t>
            </a:r>
          </a:p>
        </p:txBody>
      </p:sp>
      <p:sp>
        <p:nvSpPr>
          <p:cNvPr id="22552" name="AutoShape 24">
            <a:extLst>
              <a:ext uri="{FF2B5EF4-FFF2-40B4-BE49-F238E27FC236}">
                <a16:creationId xmlns:a16="http://schemas.microsoft.com/office/drawing/2014/main" id="{D9D7DE2B-8D37-420D-9893-8C821D96D387}"/>
              </a:ext>
            </a:extLst>
          </p:cNvPr>
          <p:cNvSpPr>
            <a:spLocks/>
          </p:cNvSpPr>
          <p:nvPr/>
        </p:nvSpPr>
        <p:spPr bwMode="auto">
          <a:xfrm rot="16200000">
            <a:off x="8135615" y="3242792"/>
            <a:ext cx="149225" cy="838200"/>
          </a:xfrm>
          <a:prstGeom prst="leftBrace">
            <a:avLst>
              <a:gd name="adj1" fmla="val 4680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53" name="Freeform 25">
            <a:extLst>
              <a:ext uri="{FF2B5EF4-FFF2-40B4-BE49-F238E27FC236}">
                <a16:creationId xmlns:a16="http://schemas.microsoft.com/office/drawing/2014/main" id="{44881228-33C5-4F78-86B5-B3C7460F4307}"/>
              </a:ext>
            </a:extLst>
          </p:cNvPr>
          <p:cNvSpPr>
            <a:spLocks/>
          </p:cNvSpPr>
          <p:nvPr/>
        </p:nvSpPr>
        <p:spPr bwMode="auto">
          <a:xfrm>
            <a:off x="6724328" y="3750792"/>
            <a:ext cx="1490663" cy="522287"/>
          </a:xfrm>
          <a:custGeom>
            <a:avLst/>
            <a:gdLst>
              <a:gd name="T0" fmla="*/ 1490663 w 939"/>
              <a:gd name="T1" fmla="*/ 0 h 329"/>
              <a:gd name="T2" fmla="*/ 1490663 w 939"/>
              <a:gd name="T3" fmla="*/ 138112 h 329"/>
              <a:gd name="T4" fmla="*/ 0 w 939"/>
              <a:gd name="T5" fmla="*/ 141287 h 329"/>
              <a:gd name="T6" fmla="*/ 0 w 939"/>
              <a:gd name="T7" fmla="*/ 522287 h 329"/>
              <a:gd name="T8" fmla="*/ 268288 w 939"/>
              <a:gd name="T9" fmla="*/ 522287 h 32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39"/>
              <a:gd name="T16" fmla="*/ 0 h 329"/>
              <a:gd name="T17" fmla="*/ 939 w 939"/>
              <a:gd name="T18" fmla="*/ 329 h 32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39" h="329">
                <a:moveTo>
                  <a:pt x="939" y="0"/>
                </a:moveTo>
                <a:lnTo>
                  <a:pt x="939" y="87"/>
                </a:lnTo>
                <a:lnTo>
                  <a:pt x="0" y="89"/>
                </a:lnTo>
                <a:lnTo>
                  <a:pt x="0" y="329"/>
                </a:lnTo>
                <a:lnTo>
                  <a:pt x="169" y="329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54" name="Text Box 26">
            <a:extLst>
              <a:ext uri="{FF2B5EF4-FFF2-40B4-BE49-F238E27FC236}">
                <a16:creationId xmlns:a16="http://schemas.microsoft.com/office/drawing/2014/main" id="{4CBA218C-A659-4701-BC0B-923FFCB5F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6578" y="4134967"/>
            <a:ext cx="450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22555" name="AutoShape 27">
            <a:extLst>
              <a:ext uri="{FF2B5EF4-FFF2-40B4-BE49-F238E27FC236}">
                <a16:creationId xmlns:a16="http://schemas.microsoft.com/office/drawing/2014/main" id="{A47CB4BD-F6F5-43B4-8D58-768774E615B3}"/>
              </a:ext>
            </a:extLst>
          </p:cNvPr>
          <p:cNvSpPr>
            <a:spLocks/>
          </p:cNvSpPr>
          <p:nvPr/>
        </p:nvSpPr>
        <p:spPr bwMode="auto">
          <a:xfrm rot="16200000">
            <a:off x="8134028" y="4155604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56" name="Freeform 28">
            <a:extLst>
              <a:ext uri="{FF2B5EF4-FFF2-40B4-BE49-F238E27FC236}">
                <a16:creationId xmlns:a16="http://schemas.microsoft.com/office/drawing/2014/main" id="{42784102-FA7E-4CC0-89E1-39A908E0651A}"/>
              </a:ext>
            </a:extLst>
          </p:cNvPr>
          <p:cNvSpPr>
            <a:spLocks/>
          </p:cNvSpPr>
          <p:nvPr/>
        </p:nvSpPr>
        <p:spPr bwMode="auto">
          <a:xfrm>
            <a:off x="6724328" y="4650904"/>
            <a:ext cx="1490663" cy="533400"/>
          </a:xfrm>
          <a:custGeom>
            <a:avLst/>
            <a:gdLst>
              <a:gd name="T0" fmla="*/ 1485900 w 939"/>
              <a:gd name="T1" fmla="*/ 0 h 336"/>
              <a:gd name="T2" fmla="*/ 1490663 w 939"/>
              <a:gd name="T3" fmla="*/ 157163 h 336"/>
              <a:gd name="T4" fmla="*/ 0 w 939"/>
              <a:gd name="T5" fmla="*/ 152400 h 336"/>
              <a:gd name="T6" fmla="*/ 0 w 939"/>
              <a:gd name="T7" fmla="*/ 533400 h 336"/>
              <a:gd name="T8" fmla="*/ 268288 w 939"/>
              <a:gd name="T9" fmla="*/ 533400 h 3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39"/>
              <a:gd name="T16" fmla="*/ 0 h 336"/>
              <a:gd name="T17" fmla="*/ 939 w 939"/>
              <a:gd name="T18" fmla="*/ 336 h 3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39" h="336">
                <a:moveTo>
                  <a:pt x="936" y="0"/>
                </a:moveTo>
                <a:lnTo>
                  <a:pt x="939" y="99"/>
                </a:lnTo>
                <a:lnTo>
                  <a:pt x="0" y="96"/>
                </a:lnTo>
                <a:lnTo>
                  <a:pt x="0" y="336"/>
                </a:lnTo>
                <a:lnTo>
                  <a:pt x="169" y="336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57" name="Text Box 29">
            <a:extLst>
              <a:ext uri="{FF2B5EF4-FFF2-40B4-BE49-F238E27FC236}">
                <a16:creationId xmlns:a16="http://schemas.microsoft.com/office/drawing/2014/main" id="{86ADCB92-155E-4CE3-9802-5440FBCD5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166" y="5031904"/>
            <a:ext cx="538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EA</a:t>
            </a:r>
          </a:p>
        </p:txBody>
      </p:sp>
      <p:grpSp>
        <p:nvGrpSpPr>
          <p:cNvPr id="4" name="Group 30">
            <a:extLst>
              <a:ext uri="{FF2B5EF4-FFF2-40B4-BE49-F238E27FC236}">
                <a16:creationId xmlns:a16="http://schemas.microsoft.com/office/drawing/2014/main" id="{F7677332-C09A-469F-B66C-53C4DCC22BA6}"/>
              </a:ext>
            </a:extLst>
          </p:cNvPr>
          <p:cNvGrpSpPr>
            <a:grpSpLocks/>
          </p:cNvGrpSpPr>
          <p:nvPr/>
        </p:nvGrpSpPr>
        <p:grpSpPr bwMode="auto">
          <a:xfrm>
            <a:off x="7410128" y="2215679"/>
            <a:ext cx="1219200" cy="3654425"/>
            <a:chOff x="4800" y="1106"/>
            <a:chExt cx="768" cy="2302"/>
          </a:xfrm>
        </p:grpSpPr>
        <p:sp>
          <p:nvSpPr>
            <p:cNvPr id="38953" name="Rectangle 31">
              <a:extLst>
                <a:ext uri="{FF2B5EF4-FFF2-40B4-BE49-F238E27FC236}">
                  <a16:creationId xmlns:a16="http://schemas.microsoft.com/office/drawing/2014/main" id="{AEE0E722-3AB7-4532-A102-3C4CE8CF0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396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54" name="Rectangle 32">
              <a:extLst>
                <a:ext uri="{FF2B5EF4-FFF2-40B4-BE49-F238E27FC236}">
                  <a16:creationId xmlns:a16="http://schemas.microsoft.com/office/drawing/2014/main" id="{C901E66D-63B7-40EC-864B-34DB45115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684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A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38955" name="Rectangle 33">
              <a:extLst>
                <a:ext uri="{FF2B5EF4-FFF2-40B4-BE49-F238E27FC236}">
                  <a16:creationId xmlns:a16="http://schemas.microsoft.com/office/drawing/2014/main" id="{D851CEA5-C7EC-4CA8-8FEB-1DBD5E0EA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972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56" name="Text Box 34">
              <a:extLst>
                <a:ext uri="{FF2B5EF4-FFF2-40B4-BE49-F238E27FC236}">
                  <a16:creationId xmlns:a16="http://schemas.microsoft.com/office/drawing/2014/main" id="{C159D17C-7E2E-40DE-82A4-8079350D8E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1106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主存</a:t>
              </a:r>
            </a:p>
          </p:txBody>
        </p:sp>
        <p:sp>
          <p:nvSpPr>
            <p:cNvPr id="38957" name="Rectangle 35">
              <a:extLst>
                <a:ext uri="{FF2B5EF4-FFF2-40B4-BE49-F238E27FC236}">
                  <a16:creationId xmlns:a16="http://schemas.microsoft.com/office/drawing/2014/main" id="{F13B233E-9B35-42A1-9ED9-D56BEADC2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546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58" name="Rectangle 36">
              <a:extLst>
                <a:ext uri="{FF2B5EF4-FFF2-40B4-BE49-F238E27FC236}">
                  <a16:creationId xmlns:a16="http://schemas.microsoft.com/office/drawing/2014/main" id="{DBB9EED9-0891-49C7-9C53-CA9B68D8D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256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EA</a:t>
              </a:r>
            </a:p>
          </p:txBody>
        </p:sp>
        <p:sp>
          <p:nvSpPr>
            <p:cNvPr id="38959" name="Rectangle 37">
              <a:extLst>
                <a:ext uri="{FF2B5EF4-FFF2-40B4-BE49-F238E27FC236}">
                  <a16:creationId xmlns:a16="http://schemas.microsoft.com/office/drawing/2014/main" id="{B4026EF8-4E32-4999-A330-F889B3FEA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832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60" name="Rectangle 38">
              <a:extLst>
                <a:ext uri="{FF2B5EF4-FFF2-40B4-BE49-F238E27FC236}">
                  <a16:creationId xmlns:a16="http://schemas.microsoft.com/office/drawing/2014/main" id="{6D239138-A207-446B-85AC-BD4CF2A19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120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61" name="Line 39">
              <a:extLst>
                <a:ext uri="{FF2B5EF4-FFF2-40B4-BE49-F238E27FC236}">
                  <a16:creationId xmlns:a16="http://schemas.microsoft.com/office/drawing/2014/main" id="{4F3BDD45-6D6F-457E-A802-9F7B016D3A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1680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62" name="Text Box 40">
              <a:extLst>
                <a:ext uri="{FF2B5EF4-FFF2-40B4-BE49-F238E27FC236}">
                  <a16:creationId xmlns:a16="http://schemas.microsoft.com/office/drawing/2014/main" id="{8EBECA07-AA70-41BC-8A68-37DA3DBC78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4" y="1718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38963" name="Line 41">
              <a:extLst>
                <a:ext uri="{FF2B5EF4-FFF2-40B4-BE49-F238E27FC236}">
                  <a16:creationId xmlns:a16="http://schemas.microsoft.com/office/drawing/2014/main" id="{AF6297CD-DC63-4C70-B0D0-BDFFF0BA93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2256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64" name="Text Box 42">
              <a:extLst>
                <a:ext uri="{FF2B5EF4-FFF2-40B4-BE49-F238E27FC236}">
                  <a16:creationId xmlns:a16="http://schemas.microsoft.com/office/drawing/2014/main" id="{19DDB6CD-C9E1-4DA2-A30F-E94A0524A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4" y="229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</p:grpSp>
      <p:sp>
        <p:nvSpPr>
          <p:cNvPr id="22571" name="Text Box 43">
            <a:extLst>
              <a:ext uri="{FF2B5EF4-FFF2-40B4-BE49-F238E27FC236}">
                <a16:creationId xmlns:a16="http://schemas.microsoft.com/office/drawing/2014/main" id="{A60B3CDF-A7AE-494B-8673-E870BF638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0066" y="5098579"/>
            <a:ext cx="40560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执行指令阶段 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次访存</a:t>
            </a:r>
          </a:p>
        </p:txBody>
      </p:sp>
      <p:sp>
        <p:nvSpPr>
          <p:cNvPr id="22572" name="Text Box 44">
            <a:extLst>
              <a:ext uri="{FF2B5EF4-FFF2-40B4-BE49-F238E27FC236}">
                <a16:creationId xmlns:a16="http://schemas.microsoft.com/office/drawing/2014/main" id="{3623CD07-3C13-4BC3-B514-9125E8619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0066" y="5784379"/>
            <a:ext cx="28971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可扩大寻址范围</a:t>
            </a:r>
          </a:p>
        </p:txBody>
      </p:sp>
      <p:sp>
        <p:nvSpPr>
          <p:cNvPr id="22573" name="Text Box 45">
            <a:extLst>
              <a:ext uri="{FF2B5EF4-FFF2-40B4-BE49-F238E27FC236}">
                <a16:creationId xmlns:a16="http://schemas.microsoft.com/office/drawing/2014/main" id="{6D42FA71-9C17-4902-9C10-DF0D9F626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0066" y="6393979"/>
            <a:ext cx="254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便于编制程序</a:t>
            </a:r>
          </a:p>
        </p:txBody>
      </p:sp>
      <p:grpSp>
        <p:nvGrpSpPr>
          <p:cNvPr id="5" name="Group 46">
            <a:extLst>
              <a:ext uri="{FF2B5EF4-FFF2-40B4-BE49-F238E27FC236}">
                <a16:creationId xmlns:a16="http://schemas.microsoft.com/office/drawing/2014/main" id="{6E40393A-9E30-4719-8E87-DD5ED3B179DD}"/>
              </a:ext>
            </a:extLst>
          </p:cNvPr>
          <p:cNvGrpSpPr>
            <a:grpSpLocks/>
          </p:cNvGrpSpPr>
          <p:nvPr/>
        </p:nvGrpSpPr>
        <p:grpSpPr bwMode="auto">
          <a:xfrm>
            <a:off x="4451028" y="2672879"/>
            <a:ext cx="2286000" cy="381000"/>
            <a:chOff x="144" y="1392"/>
            <a:chExt cx="1440" cy="240"/>
          </a:xfrm>
        </p:grpSpPr>
        <p:sp>
          <p:nvSpPr>
            <p:cNvPr id="38950" name="Rectangle 47">
              <a:extLst>
                <a:ext uri="{FF2B5EF4-FFF2-40B4-BE49-F238E27FC236}">
                  <a16:creationId xmlns:a16="http://schemas.microsoft.com/office/drawing/2014/main" id="{72207855-0253-47DF-AB20-DE6392F1D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392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OP</a:t>
              </a:r>
            </a:p>
          </p:txBody>
        </p:sp>
        <p:sp>
          <p:nvSpPr>
            <p:cNvPr id="38951" name="Rectangle 48">
              <a:extLst>
                <a:ext uri="{FF2B5EF4-FFF2-40B4-BE49-F238E27FC236}">
                  <a16:creationId xmlns:a16="http://schemas.microsoft.com/office/drawing/2014/main" id="{65B3C484-E0CB-405E-BF86-A0765EE89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392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52" name="Rectangle 49">
              <a:extLst>
                <a:ext uri="{FF2B5EF4-FFF2-40B4-BE49-F238E27FC236}">
                  <a16:creationId xmlns:a16="http://schemas.microsoft.com/office/drawing/2014/main" id="{5F53FD95-55D6-4CD7-9332-2310E3604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1392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</p:grpSp>
      <p:sp>
        <p:nvSpPr>
          <p:cNvPr id="22578" name="AutoShape 50">
            <a:extLst>
              <a:ext uri="{FF2B5EF4-FFF2-40B4-BE49-F238E27FC236}">
                <a16:creationId xmlns:a16="http://schemas.microsoft.com/office/drawing/2014/main" id="{FDE05ADD-9AB3-48C8-9D42-15E6843DDF90}"/>
              </a:ext>
            </a:extLst>
          </p:cNvPr>
          <p:cNvSpPr>
            <a:spLocks/>
          </p:cNvSpPr>
          <p:nvPr/>
        </p:nvSpPr>
        <p:spPr bwMode="auto">
          <a:xfrm rot="5400000">
            <a:off x="5517828" y="2215679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79" name="Text Box 51">
            <a:extLst>
              <a:ext uri="{FF2B5EF4-FFF2-40B4-BE49-F238E27FC236}">
                <a16:creationId xmlns:a16="http://schemas.microsoft.com/office/drawing/2014/main" id="{833410DC-5769-4D13-9989-3A7F70DE0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4428" y="2136304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寻址特征</a:t>
            </a:r>
          </a:p>
        </p:txBody>
      </p:sp>
      <p:sp>
        <p:nvSpPr>
          <p:cNvPr id="22580" name="AutoShape 52">
            <a:extLst>
              <a:ext uri="{FF2B5EF4-FFF2-40B4-BE49-F238E27FC236}">
                <a16:creationId xmlns:a16="http://schemas.microsoft.com/office/drawing/2014/main" id="{5B0BA5C8-BC6F-4019-8BB5-555E56D22F08}"/>
              </a:ext>
            </a:extLst>
          </p:cNvPr>
          <p:cNvSpPr>
            <a:spLocks/>
          </p:cNvSpPr>
          <p:nvPr/>
        </p:nvSpPr>
        <p:spPr bwMode="auto">
          <a:xfrm rot="16200000">
            <a:off x="6279828" y="2749079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81" name="Freeform 53">
            <a:extLst>
              <a:ext uri="{FF2B5EF4-FFF2-40B4-BE49-F238E27FC236}">
                <a16:creationId xmlns:a16="http://schemas.microsoft.com/office/drawing/2014/main" id="{DC919BCC-1024-4F30-A711-0D5B7A80A4D6}"/>
              </a:ext>
            </a:extLst>
          </p:cNvPr>
          <p:cNvSpPr>
            <a:spLocks/>
          </p:cNvSpPr>
          <p:nvPr/>
        </p:nvSpPr>
        <p:spPr bwMode="auto">
          <a:xfrm>
            <a:off x="6356028" y="3206279"/>
            <a:ext cx="609600" cy="152400"/>
          </a:xfrm>
          <a:custGeom>
            <a:avLst/>
            <a:gdLst>
              <a:gd name="T0" fmla="*/ 0 w 624"/>
              <a:gd name="T1" fmla="*/ 0 h 96"/>
              <a:gd name="T2" fmla="*/ 0 w 624"/>
              <a:gd name="T3" fmla="*/ 152400 h 96"/>
              <a:gd name="T4" fmla="*/ 609600 w 624"/>
              <a:gd name="T5" fmla="*/ 152400 h 96"/>
              <a:gd name="T6" fmla="*/ 0 60000 65536"/>
              <a:gd name="T7" fmla="*/ 0 60000 65536"/>
              <a:gd name="T8" fmla="*/ 0 60000 65536"/>
              <a:gd name="T9" fmla="*/ 0 w 624"/>
              <a:gd name="T10" fmla="*/ 0 h 96"/>
              <a:gd name="T11" fmla="*/ 624 w 624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24" h="96">
                <a:moveTo>
                  <a:pt x="0" y="0"/>
                </a:moveTo>
                <a:lnTo>
                  <a:pt x="0" y="96"/>
                </a:lnTo>
                <a:lnTo>
                  <a:pt x="624" y="96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82" name="Text Box 54">
            <a:extLst>
              <a:ext uri="{FF2B5EF4-FFF2-40B4-BE49-F238E27FC236}">
                <a16:creationId xmlns:a16="http://schemas.microsoft.com/office/drawing/2014/main" id="{9D88B162-58D6-4783-BF68-7B310D4AD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5628" y="3147542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</a:p>
        </p:txBody>
      </p:sp>
      <p:sp>
        <p:nvSpPr>
          <p:cNvPr id="22583" name="Text Box 55">
            <a:extLst>
              <a:ext uri="{FF2B5EF4-FFF2-40B4-BE49-F238E27FC236}">
                <a16:creationId xmlns:a16="http://schemas.microsoft.com/office/drawing/2014/main" id="{4AB3F934-D087-461C-ADF3-4FC4E753C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128" y="4093692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一次间址</a:t>
            </a:r>
          </a:p>
        </p:txBody>
      </p:sp>
      <p:sp>
        <p:nvSpPr>
          <p:cNvPr id="22584" name="Text Box 56">
            <a:extLst>
              <a:ext uri="{FF2B5EF4-FFF2-40B4-BE49-F238E27FC236}">
                <a16:creationId xmlns:a16="http://schemas.microsoft.com/office/drawing/2014/main" id="{4352B137-F102-4614-BF3E-CF3DF1E56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3453" y="4093692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多次间址</a:t>
            </a:r>
          </a:p>
        </p:txBody>
      </p:sp>
      <p:sp>
        <p:nvSpPr>
          <p:cNvPr id="22585" name="Text Box 57">
            <a:extLst>
              <a:ext uri="{FF2B5EF4-FFF2-40B4-BE49-F238E27FC236}">
                <a16:creationId xmlns:a16="http://schemas.microsoft.com/office/drawing/2014/main" id="{9C4DFC4F-CA9E-4E46-A4A6-71BDF104A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6416" y="4041304"/>
            <a:ext cx="950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操作数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86" name="Text Box 58">
            <a:extLst>
              <a:ext uri="{FF2B5EF4-FFF2-40B4-BE49-F238E27FC236}">
                <a16:creationId xmlns:a16="http://schemas.microsoft.com/office/drawing/2014/main" id="{B033BA3D-75AB-4804-AD5C-6AA2AC867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528" y="4952529"/>
            <a:ext cx="950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操作数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87" name="Text Box 59">
            <a:extLst>
              <a:ext uri="{FF2B5EF4-FFF2-40B4-BE49-F238E27FC236}">
                <a16:creationId xmlns:a16="http://schemas.microsoft.com/office/drawing/2014/main" id="{8DBBF4C2-284E-4A83-AA88-B0AA049E5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6728" y="6393979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多次访存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80DDE1E-BBB9-44FB-AEBD-9B42C0BDCC6F}"/>
              </a:ext>
            </a:extLst>
          </p:cNvPr>
          <p:cNvSpPr/>
          <p:nvPr/>
        </p:nvSpPr>
        <p:spPr>
          <a:xfrm>
            <a:off x="195301" y="42172"/>
            <a:ext cx="28472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1" hangingPunct="1">
              <a:defRPr/>
            </a:pPr>
            <a:r>
              <a:rPr kumimoji="1" lang="en-US" altLang="zh-CN" sz="3600" b="1" dirty="0">
                <a:latin typeface="Times New Roman" panose="02020603050405020304" pitchFamily="18" charset="0"/>
              </a:rPr>
              <a:t>3.</a:t>
            </a:r>
            <a:r>
              <a:rPr kumimoji="1" lang="zh-CN" altLang="en-US" sz="3600" b="1" dirty="0">
                <a:latin typeface="Times New Roman" panose="02020603050405020304" pitchFamily="18" charset="0"/>
              </a:rPr>
              <a:t>存储器寻址</a:t>
            </a:r>
          </a:p>
        </p:txBody>
      </p:sp>
    </p:spTree>
    <p:extLst>
      <p:ext uri="{BB962C8B-B14F-4D97-AF65-F5344CB8AC3E}">
        <p14:creationId xmlns:p14="http://schemas.microsoft.com/office/powerpoint/2010/main" val="352801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9" dur="5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2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2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8" dur="500"/>
                                        <p:tgtEl>
                                          <p:spTgt spid="22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22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7" dur="500"/>
                                        <p:tgtEl>
                                          <p:spTgt spid="2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1" dur="500"/>
                                        <p:tgtEl>
                                          <p:spTgt spid="2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2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5" dur="500"/>
                                        <p:tgtEl>
                                          <p:spTgt spid="2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0" dur="500"/>
                                        <p:tgtEl>
                                          <p:spTgt spid="22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500"/>
                                        <p:tgtEl>
                                          <p:spTgt spid="2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9" dur="500"/>
                                        <p:tgtEl>
                                          <p:spTgt spid="22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4" dur="500"/>
                                        <p:tgtEl>
                                          <p:spTgt spid="22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22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2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8" dur="500"/>
                                        <p:tgtEl>
                                          <p:spTgt spid="22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autoUpdateAnimBg="0"/>
      <p:bldP spid="22532" grpId="0" autoUpdateAnimBg="0"/>
      <p:bldP spid="22537" grpId="0" animBg="1"/>
      <p:bldP spid="22538" grpId="0" autoUpdateAnimBg="0"/>
      <p:bldP spid="22539" grpId="0" animBg="1"/>
      <p:bldP spid="22541" grpId="0" autoUpdateAnimBg="0"/>
      <p:bldP spid="22549" grpId="0" animBg="1"/>
      <p:bldP spid="22551" grpId="0" autoUpdateAnimBg="0"/>
      <p:bldP spid="22552" grpId="0" animBg="1"/>
      <p:bldP spid="22554" grpId="0" autoUpdateAnimBg="0"/>
      <p:bldP spid="22555" grpId="0" animBg="1"/>
      <p:bldP spid="22557" grpId="0" autoUpdateAnimBg="0"/>
      <p:bldP spid="22571" grpId="0" autoUpdateAnimBg="0"/>
      <p:bldP spid="22572" grpId="0" autoUpdateAnimBg="0"/>
      <p:bldP spid="22573" grpId="0" autoUpdateAnimBg="0"/>
      <p:bldP spid="22578" grpId="0" animBg="1"/>
      <p:bldP spid="22579" grpId="0" autoUpdateAnimBg="0"/>
      <p:bldP spid="22580" grpId="0" animBg="1"/>
      <p:bldP spid="22582" grpId="0" autoUpdateAnimBg="0"/>
      <p:bldP spid="22583" grpId="0" autoUpdateAnimBg="0"/>
      <p:bldP spid="22584" grpId="0" autoUpdateAnimBg="0"/>
      <p:bldP spid="22585" grpId="0" autoUpdateAnimBg="0"/>
      <p:bldP spid="22586" grpId="0" autoUpdateAnimBg="0"/>
      <p:bldP spid="22587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Group 2">
            <a:extLst>
              <a:ext uri="{FF2B5EF4-FFF2-40B4-BE49-F238E27FC236}">
                <a16:creationId xmlns:a16="http://schemas.microsoft.com/office/drawing/2014/main" id="{117C62EA-A737-4A08-91F2-77EED6B5D522}"/>
              </a:ext>
            </a:extLst>
          </p:cNvPr>
          <p:cNvGraphicFramePr>
            <a:graphicFrameLocks noGrp="1"/>
          </p:cNvGraphicFramePr>
          <p:nvPr/>
        </p:nvGraphicFramePr>
        <p:xfrm>
          <a:off x="1828800" y="1600200"/>
          <a:ext cx="1981200" cy="4267201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3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3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572" name="Text Box 20">
            <a:extLst>
              <a:ext uri="{FF2B5EF4-FFF2-40B4-BE49-F238E27FC236}">
                <a16:creationId xmlns:a16="http://schemas.microsoft.com/office/drawing/2014/main" id="{26262B04-E33F-4111-8430-DA96D3970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9213" y="2590800"/>
            <a:ext cx="611187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…     …</a:t>
            </a:r>
          </a:p>
        </p:txBody>
      </p:sp>
      <p:sp>
        <p:nvSpPr>
          <p:cNvPr id="23573" name="Freeform 21">
            <a:extLst>
              <a:ext uri="{FF2B5EF4-FFF2-40B4-BE49-F238E27FC236}">
                <a16:creationId xmlns:a16="http://schemas.microsoft.com/office/drawing/2014/main" id="{2328EF21-05C8-4507-8BF3-AA35F057AE1F}"/>
              </a:ext>
            </a:extLst>
          </p:cNvPr>
          <p:cNvSpPr>
            <a:spLocks/>
          </p:cNvSpPr>
          <p:nvPr/>
        </p:nvSpPr>
        <p:spPr bwMode="auto">
          <a:xfrm>
            <a:off x="3810000" y="1695450"/>
            <a:ext cx="1333500" cy="819150"/>
          </a:xfrm>
          <a:custGeom>
            <a:avLst/>
            <a:gdLst>
              <a:gd name="T0" fmla="*/ 0 w 840"/>
              <a:gd name="T1" fmla="*/ 819150 h 516"/>
              <a:gd name="T2" fmla="*/ 1333500 w 840"/>
              <a:gd name="T3" fmla="*/ 0 h 516"/>
              <a:gd name="T4" fmla="*/ 0 60000 65536"/>
              <a:gd name="T5" fmla="*/ 0 60000 65536"/>
              <a:gd name="T6" fmla="*/ 0 w 840"/>
              <a:gd name="T7" fmla="*/ 0 h 516"/>
              <a:gd name="T8" fmla="*/ 840 w 840"/>
              <a:gd name="T9" fmla="*/ 516 h 51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40" h="516">
                <a:moveTo>
                  <a:pt x="0" y="516"/>
                </a:moveTo>
                <a:lnTo>
                  <a:pt x="840" y="0"/>
                </a:lnTo>
              </a:path>
            </a:pathLst>
          </a:custGeom>
          <a:noFill/>
          <a:ln w="28575">
            <a:solidFill>
              <a:schemeClr val="folHlink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74" name="Freeform 22">
            <a:extLst>
              <a:ext uri="{FF2B5EF4-FFF2-40B4-BE49-F238E27FC236}">
                <a16:creationId xmlns:a16="http://schemas.microsoft.com/office/drawing/2014/main" id="{A2DD88A1-4948-4EEC-9123-360D52C0603C}"/>
              </a:ext>
            </a:extLst>
          </p:cNvPr>
          <p:cNvSpPr>
            <a:spLocks/>
          </p:cNvSpPr>
          <p:nvPr/>
        </p:nvSpPr>
        <p:spPr bwMode="auto">
          <a:xfrm>
            <a:off x="3829050" y="2647950"/>
            <a:ext cx="1352550" cy="2990850"/>
          </a:xfrm>
          <a:custGeom>
            <a:avLst/>
            <a:gdLst>
              <a:gd name="T0" fmla="*/ 1352550 w 852"/>
              <a:gd name="T1" fmla="*/ 2990850 h 1884"/>
              <a:gd name="T2" fmla="*/ 0 w 852"/>
              <a:gd name="T3" fmla="*/ 0 h 1884"/>
              <a:gd name="T4" fmla="*/ 0 60000 65536"/>
              <a:gd name="T5" fmla="*/ 0 60000 65536"/>
              <a:gd name="T6" fmla="*/ 0 w 852"/>
              <a:gd name="T7" fmla="*/ 0 h 1884"/>
              <a:gd name="T8" fmla="*/ 852 w 852"/>
              <a:gd name="T9" fmla="*/ 1884 h 188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52" h="1884">
                <a:moveTo>
                  <a:pt x="852" y="1884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chemeClr val="folHlink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75" name="Line 23">
            <a:extLst>
              <a:ext uri="{FF2B5EF4-FFF2-40B4-BE49-F238E27FC236}">
                <a16:creationId xmlns:a16="http://schemas.microsoft.com/office/drawing/2014/main" id="{6A9F7F81-6C36-448D-BB8B-56A4542EF6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0" y="1676400"/>
            <a:ext cx="1371600" cy="2819400"/>
          </a:xfrm>
          <a:prstGeom prst="line">
            <a:avLst/>
          </a:prstGeom>
          <a:noFill/>
          <a:ln w="28575">
            <a:solidFill>
              <a:schemeClr val="folHlink"/>
            </a:solidFill>
            <a:prstDash val="dash"/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76" name="Freeform 24">
            <a:extLst>
              <a:ext uri="{FF2B5EF4-FFF2-40B4-BE49-F238E27FC236}">
                <a16:creationId xmlns:a16="http://schemas.microsoft.com/office/drawing/2014/main" id="{93331345-7775-4714-8614-A30FE868739D}"/>
              </a:ext>
            </a:extLst>
          </p:cNvPr>
          <p:cNvSpPr>
            <a:spLocks/>
          </p:cNvSpPr>
          <p:nvPr/>
        </p:nvSpPr>
        <p:spPr bwMode="auto">
          <a:xfrm>
            <a:off x="3810000" y="4800600"/>
            <a:ext cx="1371600" cy="838200"/>
          </a:xfrm>
          <a:custGeom>
            <a:avLst/>
            <a:gdLst>
              <a:gd name="T0" fmla="*/ 1371600 w 864"/>
              <a:gd name="T1" fmla="*/ 838200 h 528"/>
              <a:gd name="T2" fmla="*/ 0 w 864"/>
              <a:gd name="T3" fmla="*/ 0 h 528"/>
              <a:gd name="T4" fmla="*/ 0 60000 65536"/>
              <a:gd name="T5" fmla="*/ 0 60000 65536"/>
              <a:gd name="T6" fmla="*/ 0 w 864"/>
              <a:gd name="T7" fmla="*/ 0 h 528"/>
              <a:gd name="T8" fmla="*/ 864 w 864"/>
              <a:gd name="T9" fmla="*/ 528 h 52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64" h="528">
                <a:moveTo>
                  <a:pt x="864" y="52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chemeClr val="folHlink"/>
            </a:solidFill>
            <a:prstDash val="dash"/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25">
            <a:extLst>
              <a:ext uri="{FF2B5EF4-FFF2-40B4-BE49-F238E27FC236}">
                <a16:creationId xmlns:a16="http://schemas.microsoft.com/office/drawing/2014/main" id="{E5C72716-15B7-4D69-A4C7-5BC839EABC2A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914400"/>
            <a:ext cx="4876800" cy="457200"/>
            <a:chOff x="1296" y="576"/>
            <a:chExt cx="3072" cy="288"/>
          </a:xfrm>
        </p:grpSpPr>
        <p:sp>
          <p:nvSpPr>
            <p:cNvPr id="39999" name="Text Box 26">
              <a:extLst>
                <a:ext uri="{FF2B5EF4-FFF2-40B4-BE49-F238E27FC236}">
                  <a16:creationId xmlns:a16="http://schemas.microsoft.com/office/drawing/2014/main" id="{E6455CD9-41C8-46E9-826A-540F0DB59E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576"/>
              <a:ext cx="10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子程序</a:t>
              </a:r>
            </a:p>
          </p:txBody>
        </p:sp>
        <p:sp>
          <p:nvSpPr>
            <p:cNvPr id="40000" name="Text Box 27">
              <a:extLst>
                <a:ext uri="{FF2B5EF4-FFF2-40B4-BE49-F238E27FC236}">
                  <a16:creationId xmlns:a16="http://schemas.microsoft.com/office/drawing/2014/main" id="{DF10F534-80E9-43B8-A358-23A649C9B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576"/>
              <a:ext cx="10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主程序</a:t>
              </a:r>
            </a:p>
          </p:txBody>
        </p:sp>
      </p:grpSp>
      <p:sp>
        <p:nvSpPr>
          <p:cNvPr id="23580" name="Text Box 28">
            <a:extLst>
              <a:ext uri="{FF2B5EF4-FFF2-40B4-BE49-F238E27FC236}">
                <a16:creationId xmlns:a16="http://schemas.microsoft.com/office/drawing/2014/main" id="{3AE489F2-34F9-4222-8B66-46ABDCFBA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9213" y="1676400"/>
            <a:ext cx="611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</a:p>
        </p:txBody>
      </p:sp>
      <p:grpSp>
        <p:nvGrpSpPr>
          <p:cNvPr id="3" name="Group 29">
            <a:extLst>
              <a:ext uri="{FF2B5EF4-FFF2-40B4-BE49-F238E27FC236}">
                <a16:creationId xmlns:a16="http://schemas.microsoft.com/office/drawing/2014/main" id="{1FBB0BF7-48B7-479B-9D79-4B851EEA0043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085975"/>
            <a:ext cx="838200" cy="3190875"/>
            <a:chOff x="768" y="1314"/>
            <a:chExt cx="528" cy="2010"/>
          </a:xfrm>
        </p:grpSpPr>
        <p:sp>
          <p:nvSpPr>
            <p:cNvPr id="39995" name="Text Box 30">
              <a:extLst>
                <a:ext uri="{FF2B5EF4-FFF2-40B4-BE49-F238E27FC236}">
                  <a16:creationId xmlns:a16="http://schemas.microsoft.com/office/drawing/2014/main" id="{2226CCB2-28C7-4CB4-8062-31C53A7F60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31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80</a:t>
              </a:r>
            </a:p>
          </p:txBody>
        </p:sp>
        <p:sp>
          <p:nvSpPr>
            <p:cNvPr id="39996" name="Text Box 31">
              <a:extLst>
                <a:ext uri="{FF2B5EF4-FFF2-40B4-BE49-F238E27FC236}">
                  <a16:creationId xmlns:a16="http://schemas.microsoft.com/office/drawing/2014/main" id="{11EDC066-20CF-43F0-A617-453FD84421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659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81</a:t>
              </a:r>
            </a:p>
          </p:txBody>
        </p:sp>
        <p:sp>
          <p:nvSpPr>
            <p:cNvPr id="39997" name="Text Box 32">
              <a:extLst>
                <a:ext uri="{FF2B5EF4-FFF2-40B4-BE49-F238E27FC236}">
                  <a16:creationId xmlns:a16="http://schemas.microsoft.com/office/drawing/2014/main" id="{BDB652AC-70DD-4937-ABDD-83E6602332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676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201</a:t>
              </a:r>
            </a:p>
          </p:txBody>
        </p:sp>
        <p:sp>
          <p:nvSpPr>
            <p:cNvPr id="39998" name="Text Box 33">
              <a:extLst>
                <a:ext uri="{FF2B5EF4-FFF2-40B4-BE49-F238E27FC236}">
                  <a16:creationId xmlns:a16="http://schemas.microsoft.com/office/drawing/2014/main" id="{C343EC76-D91A-45E4-BFA8-7B0BF82809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3036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202</a:t>
              </a:r>
            </a:p>
          </p:txBody>
        </p:sp>
      </p:grpSp>
      <p:sp>
        <p:nvSpPr>
          <p:cNvPr id="23586" name="Text Box 34">
            <a:extLst>
              <a:ext uri="{FF2B5EF4-FFF2-40B4-BE49-F238E27FC236}">
                <a16:creationId xmlns:a16="http://schemas.microsoft.com/office/drawing/2014/main" id="{EB2EACBD-EBF1-4E92-85C6-B866035A1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13360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调用子程序</a:t>
            </a:r>
          </a:p>
        </p:txBody>
      </p:sp>
      <p:sp>
        <p:nvSpPr>
          <p:cNvPr id="23587" name="Text Box 35">
            <a:extLst>
              <a:ext uri="{FF2B5EF4-FFF2-40B4-BE49-F238E27FC236}">
                <a16:creationId xmlns:a16="http://schemas.microsoft.com/office/drawing/2014/main" id="{A72918E1-08C2-4196-855A-2F9A4ECAA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26720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调用子程序</a:t>
            </a:r>
          </a:p>
        </p:txBody>
      </p:sp>
      <p:sp>
        <p:nvSpPr>
          <p:cNvPr id="39966" name="Text Box 36">
            <a:extLst>
              <a:ext uri="{FF2B5EF4-FFF2-40B4-BE49-F238E27FC236}">
                <a16:creationId xmlns:a16="http://schemas.microsoft.com/office/drawing/2014/main" id="{1E6149EF-D61D-46E7-85C5-E117BE7FE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82563"/>
            <a:ext cx="4419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间接寻址编程举例</a:t>
            </a:r>
          </a:p>
        </p:txBody>
      </p:sp>
      <p:sp>
        <p:nvSpPr>
          <p:cNvPr id="23589" name="Text Box 37">
            <a:extLst>
              <a:ext uri="{FF2B5EF4-FFF2-40B4-BE49-F238E27FC236}">
                <a16:creationId xmlns:a16="http://schemas.microsoft.com/office/drawing/2014/main" id="{67E7C21D-B7F8-41ED-B64D-4C1F16E5A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943600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(A) = 81</a:t>
            </a:r>
          </a:p>
        </p:txBody>
      </p:sp>
      <p:sp>
        <p:nvSpPr>
          <p:cNvPr id="23590" name="Text Box 38">
            <a:extLst>
              <a:ext uri="{FF2B5EF4-FFF2-40B4-BE49-F238E27FC236}">
                <a16:creationId xmlns:a16="http://schemas.microsoft.com/office/drawing/2014/main" id="{8180FC37-5548-402E-9E91-D1E3E3859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6019800"/>
            <a:ext cx="1447800" cy="519113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91" name="Text Box 39">
            <a:extLst>
              <a:ext uri="{FF2B5EF4-FFF2-40B4-BE49-F238E27FC236}">
                <a16:creationId xmlns:a16="http://schemas.microsoft.com/office/drawing/2014/main" id="{A978B119-C6B4-49B5-AD9C-321C2A5D7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6019800"/>
            <a:ext cx="1828800" cy="519113"/>
          </a:xfrm>
          <a:prstGeom prst="rect">
            <a:avLst/>
          </a:prstGeom>
          <a:ln/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(A) = 202</a:t>
            </a:r>
          </a:p>
        </p:txBody>
      </p:sp>
      <p:grpSp>
        <p:nvGrpSpPr>
          <p:cNvPr id="4" name="Group 40">
            <a:extLst>
              <a:ext uri="{FF2B5EF4-FFF2-40B4-BE49-F238E27FC236}">
                <a16:creationId xmlns:a16="http://schemas.microsoft.com/office/drawing/2014/main" id="{A1EA4B63-0918-4DBD-8AA8-EEC62B72C75A}"/>
              </a:ext>
            </a:extLst>
          </p:cNvPr>
          <p:cNvGrpSpPr>
            <a:grpSpLocks/>
          </p:cNvGrpSpPr>
          <p:nvPr/>
        </p:nvGrpSpPr>
        <p:grpSpPr bwMode="auto">
          <a:xfrm>
            <a:off x="2589213" y="4876800"/>
            <a:ext cx="612775" cy="990600"/>
            <a:chOff x="1631" y="3024"/>
            <a:chExt cx="386" cy="624"/>
          </a:xfrm>
        </p:grpSpPr>
        <p:sp>
          <p:nvSpPr>
            <p:cNvPr id="39993" name="Text Box 41">
              <a:extLst>
                <a:ext uri="{FF2B5EF4-FFF2-40B4-BE49-F238E27FC236}">
                  <a16:creationId xmlns:a16="http://schemas.microsoft.com/office/drawing/2014/main" id="{08712480-E10B-4DE1-B9BC-E9B72F0A6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1" y="3360"/>
              <a:ext cx="3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  <p:sp>
          <p:nvSpPr>
            <p:cNvPr id="39994" name="Text Box 42">
              <a:extLst>
                <a:ext uri="{FF2B5EF4-FFF2-40B4-BE49-F238E27FC236}">
                  <a16:creationId xmlns:a16="http://schemas.microsoft.com/office/drawing/2014/main" id="{016B1531-0158-4358-B14B-23228D0499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024"/>
              <a:ext cx="3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</p:grpSp>
      <p:sp>
        <p:nvSpPr>
          <p:cNvPr id="23595" name="Text Box 43">
            <a:extLst>
              <a:ext uri="{FF2B5EF4-FFF2-40B4-BE49-F238E27FC236}">
                <a16:creationId xmlns:a16="http://schemas.microsoft.com/office/drawing/2014/main" id="{176E5A1F-F6B8-4346-8267-FBFCA28B4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45720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@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间址特征</a:t>
            </a:r>
          </a:p>
        </p:txBody>
      </p:sp>
      <p:graphicFrame>
        <p:nvGraphicFramePr>
          <p:cNvPr id="23597" name="Group 45">
            <a:extLst>
              <a:ext uri="{FF2B5EF4-FFF2-40B4-BE49-F238E27FC236}">
                <a16:creationId xmlns:a16="http://schemas.microsoft.com/office/drawing/2014/main" id="{53F6315F-8D88-456C-B4D5-40139D9ECE7A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1600200"/>
          <a:ext cx="1981200" cy="4267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3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0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607" name="Text Box 55">
            <a:extLst>
              <a:ext uri="{FF2B5EF4-FFF2-40B4-BE49-F238E27FC236}">
                <a16:creationId xmlns:a16="http://schemas.microsoft.com/office/drawing/2014/main" id="{7F44674E-A1BF-490B-A3EA-3B932641A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289550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JMP  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@ A</a:t>
            </a:r>
          </a:p>
        </p:txBody>
      </p:sp>
      <p:grpSp>
        <p:nvGrpSpPr>
          <p:cNvPr id="5" name="Group 56">
            <a:extLst>
              <a:ext uri="{FF2B5EF4-FFF2-40B4-BE49-F238E27FC236}">
                <a16:creationId xmlns:a16="http://schemas.microsoft.com/office/drawing/2014/main" id="{0F00D683-3E3F-4C4B-BAF3-4D2CF2809150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1676400"/>
            <a:ext cx="611188" cy="3200400"/>
            <a:chOff x="3744" y="1056"/>
            <a:chExt cx="385" cy="2016"/>
          </a:xfrm>
        </p:grpSpPr>
        <p:sp>
          <p:nvSpPr>
            <p:cNvPr id="39990" name="Text Box 57">
              <a:extLst>
                <a:ext uri="{FF2B5EF4-FFF2-40B4-BE49-F238E27FC236}">
                  <a16:creationId xmlns:a16="http://schemas.microsoft.com/office/drawing/2014/main" id="{179A0042-2D16-4437-8A73-05C16F75F0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056"/>
              <a:ext cx="3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  <p:sp>
          <p:nvSpPr>
            <p:cNvPr id="39991" name="Text Box 58">
              <a:extLst>
                <a:ext uri="{FF2B5EF4-FFF2-40B4-BE49-F238E27FC236}">
                  <a16:creationId xmlns:a16="http://schemas.microsoft.com/office/drawing/2014/main" id="{BC20F6EA-6941-4182-82AF-C3D8D8E168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584"/>
              <a:ext cx="385" cy="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　　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  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　</a:t>
              </a:r>
            </a:p>
          </p:txBody>
        </p:sp>
        <p:sp>
          <p:nvSpPr>
            <p:cNvPr id="39992" name="Text Box 59">
              <a:extLst>
                <a:ext uri="{FF2B5EF4-FFF2-40B4-BE49-F238E27FC236}">
                  <a16:creationId xmlns:a16="http://schemas.microsoft.com/office/drawing/2014/main" id="{D105FA2D-8B84-41FB-B785-F65CC53D5A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784"/>
              <a:ext cx="3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Group 61">
            <a:extLst>
              <a:ext uri="{FF2B5EF4-FFF2-40B4-BE49-F238E27FC236}">
                <a16:creationId xmlns:a16="http://schemas.microsoft.com/office/drawing/2014/main" id="{5E0EA3E7-CC5A-472F-9657-A0506DACBCDF}"/>
              </a:ext>
            </a:extLst>
          </p:cNvPr>
          <p:cNvGrpSpPr>
            <a:grpSpLocks/>
          </p:cNvGrpSpPr>
          <p:nvPr/>
        </p:nvGrpSpPr>
        <p:grpSpPr bwMode="auto">
          <a:xfrm>
            <a:off x="5946775" y="1677988"/>
            <a:ext cx="611188" cy="3200400"/>
            <a:chOff x="3744" y="1056"/>
            <a:chExt cx="385" cy="2016"/>
          </a:xfrm>
        </p:grpSpPr>
        <p:sp>
          <p:nvSpPr>
            <p:cNvPr id="39987" name="Text Box 62">
              <a:extLst>
                <a:ext uri="{FF2B5EF4-FFF2-40B4-BE49-F238E27FC236}">
                  <a16:creationId xmlns:a16="http://schemas.microsoft.com/office/drawing/2014/main" id="{A8DE4007-7EAF-4AD1-9C2F-5E855AF10D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056"/>
              <a:ext cx="3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  <p:sp>
          <p:nvSpPr>
            <p:cNvPr id="39988" name="Text Box 63">
              <a:extLst>
                <a:ext uri="{FF2B5EF4-FFF2-40B4-BE49-F238E27FC236}">
                  <a16:creationId xmlns:a16="http://schemas.microsoft.com/office/drawing/2014/main" id="{438AEF60-92F7-4119-9B86-669BB63A0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584"/>
              <a:ext cx="385" cy="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　　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   </a:t>
              </a:r>
            </a:p>
          </p:txBody>
        </p:sp>
        <p:sp>
          <p:nvSpPr>
            <p:cNvPr id="39989" name="Text Box 64">
              <a:extLst>
                <a:ext uri="{FF2B5EF4-FFF2-40B4-BE49-F238E27FC236}">
                  <a16:creationId xmlns:a16="http://schemas.microsoft.com/office/drawing/2014/main" id="{91EE8E86-D9FA-49DF-8519-EEBF92284E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784"/>
              <a:ext cx="3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19906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23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3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3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5" dur="500"/>
                                        <p:tgtEl>
                                          <p:spTgt spid="2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0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0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5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5" dur="500"/>
                                        <p:tgtEl>
                                          <p:spTgt spid="2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5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72" grpId="0" autoUpdateAnimBg="0"/>
      <p:bldP spid="23580" grpId="0" autoUpdateAnimBg="0"/>
      <p:bldP spid="23586" grpId="0" autoUpdateAnimBg="0"/>
      <p:bldP spid="23587" grpId="0" autoUpdateAnimBg="0"/>
      <p:bldP spid="23589" grpId="0" autoUpdateAnimBg="0"/>
      <p:bldP spid="23590" grpId="0" animBg="1" autoUpdateAnimBg="0"/>
      <p:bldP spid="23591" grpId="0" animBg="1" autoUpdateAnimBg="0"/>
      <p:bldP spid="23595" grpId="0" autoUpdateAnimBg="0"/>
      <p:bldP spid="23607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>
            <a:extLst>
              <a:ext uri="{FF2B5EF4-FFF2-40B4-BE49-F238E27FC236}">
                <a16:creationId xmlns:a16="http://schemas.microsoft.com/office/drawing/2014/main" id="{687BB276-EC24-4234-9E70-E0150C0C2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8938" y="762000"/>
            <a:ext cx="17700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EA = ( R</a:t>
            </a:r>
            <a:r>
              <a:rPr kumimoji="1" lang="en-US" altLang="zh-CN" sz="2800" b="1" i="1" u="none" strike="noStrike" kern="1200" cap="none" spc="0" normalizeH="0" baseline="-2500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sz="2800" b="1" i="0" u="none" strike="noStrike" kern="1200" cap="none" spc="0" normalizeH="0" baseline="-2500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7" name="Text Box 3">
            <a:extLst>
              <a:ext uri="{FF2B5EF4-FFF2-40B4-BE49-F238E27FC236}">
                <a16:creationId xmlns:a16="http://schemas.microsoft.com/office/drawing/2014/main" id="{A56ECDB8-182C-4F3A-B8C2-6A6751010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120650"/>
            <a:ext cx="419698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(3).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寄存器间接寻址</a:t>
            </a:r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01A72CA6-BB10-4514-B474-3D79BC44E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562600"/>
            <a:ext cx="845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有效地址在寄存器中， 操作数在存储器中，执行阶段访存</a:t>
            </a:r>
          </a:p>
        </p:txBody>
      </p:sp>
      <p:sp>
        <p:nvSpPr>
          <p:cNvPr id="25605" name="Line 5">
            <a:extLst>
              <a:ext uri="{FF2B5EF4-FFF2-40B4-BE49-F238E27FC236}">
                <a16:creationId xmlns:a16="http://schemas.microsoft.com/office/drawing/2014/main" id="{E1CB33F9-C09C-45AD-B8F4-44CF8EEEB9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438650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983296A4-3E48-4377-B031-5E09CF8D7A97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1844675"/>
            <a:ext cx="1295400" cy="3260725"/>
            <a:chOff x="2928" y="1726"/>
            <a:chExt cx="816" cy="2054"/>
          </a:xfrm>
        </p:grpSpPr>
        <p:sp>
          <p:nvSpPr>
            <p:cNvPr id="42016" name="Rectangle 7">
              <a:extLst>
                <a:ext uri="{FF2B5EF4-FFF2-40B4-BE49-F238E27FC236}">
                  <a16:creationId xmlns:a16="http://schemas.microsoft.com/office/drawing/2014/main" id="{A65691B3-CA80-4DF1-B27D-8294B447F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004"/>
              <a:ext cx="816" cy="177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17" name="Line 8">
              <a:extLst>
                <a:ext uri="{FF2B5EF4-FFF2-40B4-BE49-F238E27FC236}">
                  <a16:creationId xmlns:a16="http://schemas.microsoft.com/office/drawing/2014/main" id="{9919520F-3ED0-4F22-BD2B-7FC4DDF782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204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18" name="Line 9">
              <a:extLst>
                <a:ext uri="{FF2B5EF4-FFF2-40B4-BE49-F238E27FC236}">
                  <a16:creationId xmlns:a16="http://schemas.microsoft.com/office/drawing/2014/main" id="{FCAAA454-11A8-43E8-AF04-A2065D994B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492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19" name="Text Box 10">
              <a:extLst>
                <a:ext uri="{FF2B5EF4-FFF2-40B4-BE49-F238E27FC236}">
                  <a16:creationId xmlns:a16="http://schemas.microsoft.com/office/drawing/2014/main" id="{9A07CA48-236B-4853-880F-45096A6AC0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3216"/>
              <a:ext cx="5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操作数</a:t>
              </a:r>
            </a:p>
          </p:txBody>
        </p:sp>
        <p:sp>
          <p:nvSpPr>
            <p:cNvPr id="42020" name="Text Box 11">
              <a:extLst>
                <a:ext uri="{FF2B5EF4-FFF2-40B4-BE49-F238E27FC236}">
                  <a16:creationId xmlns:a16="http://schemas.microsoft.com/office/drawing/2014/main" id="{4FE1077B-451E-4BEA-8AFA-1A2AACBBB3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0" y="1726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主存</a:t>
              </a:r>
            </a:p>
          </p:txBody>
        </p:sp>
      </p:grpSp>
      <p:grpSp>
        <p:nvGrpSpPr>
          <p:cNvPr id="3" name="Group 12">
            <a:extLst>
              <a:ext uri="{FF2B5EF4-FFF2-40B4-BE49-F238E27FC236}">
                <a16:creationId xmlns:a16="http://schemas.microsoft.com/office/drawing/2014/main" id="{994CEA75-297B-46A3-ACA5-CE5EAC8C9AFC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908175"/>
            <a:ext cx="2286000" cy="381000"/>
            <a:chOff x="1104" y="1670"/>
            <a:chExt cx="1440" cy="240"/>
          </a:xfrm>
        </p:grpSpPr>
        <p:sp>
          <p:nvSpPr>
            <p:cNvPr id="42013" name="Rectangle 13">
              <a:extLst>
                <a:ext uri="{FF2B5EF4-FFF2-40B4-BE49-F238E27FC236}">
                  <a16:creationId xmlns:a16="http://schemas.microsoft.com/office/drawing/2014/main" id="{8B3B8913-095E-45E4-9B2F-F3CF0225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1670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OP</a:t>
              </a:r>
            </a:p>
          </p:txBody>
        </p:sp>
        <p:sp>
          <p:nvSpPr>
            <p:cNvPr id="42014" name="Rectangle 14">
              <a:extLst>
                <a:ext uri="{FF2B5EF4-FFF2-40B4-BE49-F238E27FC236}">
                  <a16:creationId xmlns:a16="http://schemas.microsoft.com/office/drawing/2014/main" id="{00802773-0E18-441A-B4A2-971876CD6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670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15" name="Rectangle 15">
              <a:extLst>
                <a:ext uri="{FF2B5EF4-FFF2-40B4-BE49-F238E27FC236}">
                  <a16:creationId xmlns:a16="http://schemas.microsoft.com/office/drawing/2014/main" id="{DDF3867A-9D69-42CF-AAA4-B0F498ACE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670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</a:p>
          </p:txBody>
        </p:sp>
      </p:grpSp>
      <p:sp>
        <p:nvSpPr>
          <p:cNvPr id="25616" name="AutoShape 16">
            <a:extLst>
              <a:ext uri="{FF2B5EF4-FFF2-40B4-BE49-F238E27FC236}">
                <a16:creationId xmlns:a16="http://schemas.microsoft.com/office/drawing/2014/main" id="{9D69A715-CF44-4242-A5D0-8F36B311186F}"/>
              </a:ext>
            </a:extLst>
          </p:cNvPr>
          <p:cNvSpPr>
            <a:spLocks/>
          </p:cNvSpPr>
          <p:nvPr/>
        </p:nvSpPr>
        <p:spPr bwMode="auto">
          <a:xfrm rot="5400000">
            <a:off x="2590800" y="1450975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17" name="Text Box 17">
            <a:extLst>
              <a:ext uri="{FF2B5EF4-FFF2-40B4-BE49-F238E27FC236}">
                <a16:creationId xmlns:a16="http://schemas.microsoft.com/office/drawing/2014/main" id="{B23968CE-CA4D-406E-8288-CE33DBD78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371600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寻址特征</a:t>
            </a:r>
          </a:p>
        </p:txBody>
      </p:sp>
      <p:sp>
        <p:nvSpPr>
          <p:cNvPr id="25618" name="AutoShape 18">
            <a:extLst>
              <a:ext uri="{FF2B5EF4-FFF2-40B4-BE49-F238E27FC236}">
                <a16:creationId xmlns:a16="http://schemas.microsoft.com/office/drawing/2014/main" id="{F5D95221-CFD2-4CDA-90C4-4CFC391DD8E2}"/>
              </a:ext>
            </a:extLst>
          </p:cNvPr>
          <p:cNvSpPr>
            <a:spLocks/>
          </p:cNvSpPr>
          <p:nvPr/>
        </p:nvSpPr>
        <p:spPr bwMode="auto">
          <a:xfrm rot="-5400000">
            <a:off x="3352800" y="1984375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19" name="Freeform 19">
            <a:extLst>
              <a:ext uri="{FF2B5EF4-FFF2-40B4-BE49-F238E27FC236}">
                <a16:creationId xmlns:a16="http://schemas.microsoft.com/office/drawing/2014/main" id="{D9FA246F-5D38-4D60-8FF5-6B89457CCA98}"/>
              </a:ext>
            </a:extLst>
          </p:cNvPr>
          <p:cNvSpPr>
            <a:spLocks/>
          </p:cNvSpPr>
          <p:nvPr/>
        </p:nvSpPr>
        <p:spPr bwMode="auto">
          <a:xfrm>
            <a:off x="2362200" y="2441575"/>
            <a:ext cx="1066800" cy="1905000"/>
          </a:xfrm>
          <a:custGeom>
            <a:avLst/>
            <a:gdLst>
              <a:gd name="T0" fmla="*/ 1066800 w 672"/>
              <a:gd name="T1" fmla="*/ 0 h 1200"/>
              <a:gd name="T2" fmla="*/ 1066800 w 672"/>
              <a:gd name="T3" fmla="*/ 152400 h 1200"/>
              <a:gd name="T4" fmla="*/ 0 w 672"/>
              <a:gd name="T5" fmla="*/ 152400 h 1200"/>
              <a:gd name="T6" fmla="*/ 0 w 672"/>
              <a:gd name="T7" fmla="*/ 1905000 h 1200"/>
              <a:gd name="T8" fmla="*/ 685800 w 672"/>
              <a:gd name="T9" fmla="*/ 1905000 h 12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72"/>
              <a:gd name="T16" fmla="*/ 0 h 1200"/>
              <a:gd name="T17" fmla="*/ 672 w 672"/>
              <a:gd name="T18" fmla="*/ 1200 h 12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72" h="1200">
                <a:moveTo>
                  <a:pt x="672" y="0"/>
                </a:moveTo>
                <a:lnTo>
                  <a:pt x="672" y="96"/>
                </a:lnTo>
                <a:lnTo>
                  <a:pt x="0" y="96"/>
                </a:lnTo>
                <a:lnTo>
                  <a:pt x="0" y="1200"/>
                </a:lnTo>
                <a:lnTo>
                  <a:pt x="432" y="120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20" name="Text Box 20">
            <a:extLst>
              <a:ext uri="{FF2B5EF4-FFF2-40B4-BE49-F238E27FC236}">
                <a16:creationId xmlns:a16="http://schemas.microsoft.com/office/drawing/2014/main" id="{340E949F-10B2-43D9-82B0-1DC04450A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110288"/>
            <a:ext cx="701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便于编制循环程序</a:t>
            </a:r>
          </a:p>
        </p:txBody>
      </p:sp>
      <p:grpSp>
        <p:nvGrpSpPr>
          <p:cNvPr id="4" name="Group 21">
            <a:extLst>
              <a:ext uri="{FF2B5EF4-FFF2-40B4-BE49-F238E27FC236}">
                <a16:creationId xmlns:a16="http://schemas.microsoft.com/office/drawing/2014/main" id="{C1DB8A3A-C535-4D76-88B6-F060441E7108}"/>
              </a:ext>
            </a:extLst>
          </p:cNvPr>
          <p:cNvGrpSpPr>
            <a:grpSpLocks/>
          </p:cNvGrpSpPr>
          <p:nvPr/>
        </p:nvGrpSpPr>
        <p:grpSpPr bwMode="auto">
          <a:xfrm>
            <a:off x="2955925" y="2684463"/>
            <a:ext cx="1997075" cy="2878137"/>
            <a:chOff x="1862" y="1691"/>
            <a:chExt cx="1258" cy="1813"/>
          </a:xfrm>
        </p:grpSpPr>
        <p:grpSp>
          <p:nvGrpSpPr>
            <p:cNvPr id="42001" name="Group 22">
              <a:extLst>
                <a:ext uri="{FF2B5EF4-FFF2-40B4-BE49-F238E27FC236}">
                  <a16:creationId xmlns:a16="http://schemas.microsoft.com/office/drawing/2014/main" id="{FACF37E8-B61C-4F61-B1DE-EA36B0CEE5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2" y="1691"/>
              <a:ext cx="1114" cy="1585"/>
              <a:chOff x="1862" y="1691"/>
              <a:chExt cx="1114" cy="1585"/>
            </a:xfrm>
          </p:grpSpPr>
          <p:sp>
            <p:nvSpPr>
              <p:cNvPr id="42003" name="Rectangle 23">
                <a:extLst>
                  <a:ext uri="{FF2B5EF4-FFF2-40B4-BE49-F238E27FC236}">
                    <a16:creationId xmlns:a16="http://schemas.microsoft.com/office/drawing/2014/main" id="{9D252B34-470D-4F96-ABA0-22D8BE00F2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2642"/>
                <a:ext cx="768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地址</a:t>
                </a:r>
              </a:p>
            </p:txBody>
          </p:sp>
          <p:sp>
            <p:nvSpPr>
              <p:cNvPr id="42004" name="Rectangle 24">
                <a:extLst>
                  <a:ext uri="{FF2B5EF4-FFF2-40B4-BE49-F238E27FC236}">
                    <a16:creationId xmlns:a16="http://schemas.microsoft.com/office/drawing/2014/main" id="{670FE884-0F97-43B2-A40E-A8DB1FE918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2930"/>
                <a:ext cx="768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2005" name="Rectangle 25">
                <a:extLst>
                  <a:ext uri="{FF2B5EF4-FFF2-40B4-BE49-F238E27FC236}">
                    <a16:creationId xmlns:a16="http://schemas.microsoft.com/office/drawing/2014/main" id="{B5ACBF69-F79B-40C3-BCF4-BC3769433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778"/>
                <a:ext cx="768" cy="86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2006" name="Text Box 26">
                <a:extLst>
                  <a:ext uri="{FF2B5EF4-FFF2-40B4-BE49-F238E27FC236}">
                    <a16:creationId xmlns:a16="http://schemas.microsoft.com/office/drawing/2014/main" id="{B2FAA5CF-3698-4B15-B9A2-B1927E3E1C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4" y="2141"/>
                <a:ext cx="308" cy="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…</a:t>
                </a:r>
              </a:p>
            </p:txBody>
          </p:sp>
          <p:sp>
            <p:nvSpPr>
              <p:cNvPr id="42007" name="Text Box 27">
                <a:extLst>
                  <a:ext uri="{FF2B5EF4-FFF2-40B4-BE49-F238E27FC236}">
                    <a16:creationId xmlns:a16="http://schemas.microsoft.com/office/drawing/2014/main" id="{47294A0D-D424-40CE-8202-D2D28207DB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4" y="2970"/>
                <a:ext cx="308" cy="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…</a:t>
                </a:r>
              </a:p>
            </p:txBody>
          </p:sp>
          <p:sp>
            <p:nvSpPr>
              <p:cNvPr id="42008" name="Text Box 28">
                <a:extLst>
                  <a:ext uri="{FF2B5EF4-FFF2-40B4-BE49-F238E27FC236}">
                    <a16:creationId xmlns:a16="http://schemas.microsoft.com/office/drawing/2014/main" id="{52399827-4CFD-409B-8DF1-81DAC77003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0" y="2141"/>
                <a:ext cx="308" cy="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…</a:t>
                </a:r>
              </a:p>
            </p:txBody>
          </p:sp>
          <p:sp>
            <p:nvSpPr>
              <p:cNvPr id="42009" name="Text Box 29">
                <a:extLst>
                  <a:ext uri="{FF2B5EF4-FFF2-40B4-BE49-F238E27FC236}">
                    <a16:creationId xmlns:a16="http://schemas.microsoft.com/office/drawing/2014/main" id="{601EE4D2-46A8-4676-99A5-0CCA25A66A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90" y="2856"/>
                <a:ext cx="308" cy="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…</a:t>
                </a:r>
              </a:p>
            </p:txBody>
          </p:sp>
          <p:sp>
            <p:nvSpPr>
              <p:cNvPr id="42010" name="Text Box 30">
                <a:extLst>
                  <a:ext uri="{FF2B5EF4-FFF2-40B4-BE49-F238E27FC236}">
                    <a16:creationId xmlns:a16="http://schemas.microsoft.com/office/drawing/2014/main" id="{B646B1A3-2BCF-4E85-B981-83395DB2A6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62" y="1691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R</a:t>
                </a:r>
                <a:r>
                  <a:rPr kumimoji="1" lang="en-US" altLang="zh-CN" sz="20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42011" name="Text Box 31">
                <a:extLst>
                  <a:ext uri="{FF2B5EF4-FFF2-40B4-BE49-F238E27FC236}">
                    <a16:creationId xmlns:a16="http://schemas.microsoft.com/office/drawing/2014/main" id="{56C30727-5F63-4202-9814-E7C5ED771C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6" y="2632"/>
                <a:ext cx="26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R</a:t>
                </a:r>
                <a:r>
                  <a:rPr kumimoji="1" lang="en-US" altLang="zh-CN" sz="2000" b="1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</a:p>
            </p:txBody>
          </p:sp>
          <p:sp>
            <p:nvSpPr>
              <p:cNvPr id="42012" name="Text Box 32">
                <a:extLst>
                  <a:ext uri="{FF2B5EF4-FFF2-40B4-BE49-F238E27FC236}">
                    <a16:creationId xmlns:a16="http://schemas.microsoft.com/office/drawing/2014/main" id="{861411B7-1098-4B55-9B11-7900EAA6E7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6" y="3026"/>
                <a:ext cx="29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R</a:t>
                </a:r>
                <a:r>
                  <a:rPr kumimoji="1" lang="en-US" altLang="zh-CN" sz="2000" b="1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</a:p>
            </p:txBody>
          </p:sp>
        </p:grpSp>
        <p:sp>
          <p:nvSpPr>
            <p:cNvPr id="42002" name="Text Box 33">
              <a:extLst>
                <a:ext uri="{FF2B5EF4-FFF2-40B4-BE49-F238E27FC236}">
                  <a16:creationId xmlns:a16="http://schemas.microsoft.com/office/drawing/2014/main" id="{24CA1C02-F52E-4EB7-A1F9-3D4BBFCE49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3254"/>
              <a:ext cx="8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寄存器</a:t>
              </a:r>
            </a:p>
          </p:txBody>
        </p:sp>
      </p:grpSp>
      <p:sp>
        <p:nvSpPr>
          <p:cNvPr id="25634" name="Text Box 34">
            <a:extLst>
              <a:ext uri="{FF2B5EF4-FFF2-40B4-BE49-F238E27FC236}">
                <a16:creationId xmlns:a16="http://schemas.microsoft.com/office/drawing/2014/main" id="{DF3177AB-D293-41DD-8B5D-CFF9B3F6F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762000"/>
            <a:ext cx="342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有效地址在寄存器中</a:t>
            </a:r>
          </a:p>
        </p:txBody>
      </p:sp>
    </p:spTree>
    <p:extLst>
      <p:ext uri="{BB962C8B-B14F-4D97-AF65-F5344CB8AC3E}">
        <p14:creationId xmlns:p14="http://schemas.microsoft.com/office/powerpoint/2010/main" val="88391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utoUpdateAnimBg="0"/>
      <p:bldP spid="25604" grpId="0" autoUpdateAnimBg="0"/>
      <p:bldP spid="25616" grpId="0" animBg="1"/>
      <p:bldP spid="25617" grpId="0" autoUpdateAnimBg="0"/>
      <p:bldP spid="25618" grpId="0" animBg="1"/>
      <p:bldP spid="25620" grpId="0" autoUpdateAnimBg="0"/>
      <p:bldP spid="25634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>
            <a:extLst>
              <a:ext uri="{FF2B5EF4-FFF2-40B4-BE49-F238E27FC236}">
                <a16:creationId xmlns:a16="http://schemas.microsoft.com/office/drawing/2014/main" id="{9B0ED775-B022-4FE1-B85E-9DDEB4C66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52400"/>
            <a:ext cx="5838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(4).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基址寻址 </a:t>
            </a: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A41B68F1-705E-4FB8-87B2-BF5FE9CF0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838200"/>
            <a:ext cx="6340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①采用专用寄存器作基址寄存器</a:t>
            </a:r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1CCFE644-619F-479E-A6BD-97C22A9030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525" y="1371600"/>
            <a:ext cx="2606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EA = ( BR ) + A</a:t>
            </a:r>
          </a:p>
        </p:txBody>
      </p:sp>
      <p:sp>
        <p:nvSpPr>
          <p:cNvPr id="26629" name="Text Box 5">
            <a:extLst>
              <a:ext uri="{FF2B5EF4-FFF2-40B4-BE49-F238E27FC236}">
                <a16:creationId xmlns:a16="http://schemas.microsoft.com/office/drawing/2014/main" id="{F5A14E0D-3232-440C-912F-5E926FF64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3325" y="1371600"/>
            <a:ext cx="2987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BR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为基址寄存器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24F1639C-F1AB-448A-BDCB-BF34E05094FE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2517775"/>
            <a:ext cx="2286000" cy="381000"/>
            <a:chOff x="1584" y="1586"/>
            <a:chExt cx="1440" cy="240"/>
          </a:xfrm>
        </p:grpSpPr>
        <p:sp>
          <p:nvSpPr>
            <p:cNvPr id="43039" name="Rectangle 7">
              <a:extLst>
                <a:ext uri="{FF2B5EF4-FFF2-40B4-BE49-F238E27FC236}">
                  <a16:creationId xmlns:a16="http://schemas.microsoft.com/office/drawing/2014/main" id="{02D443A7-7E38-4A61-B82C-3182F0BA7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586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OP</a:t>
              </a:r>
            </a:p>
          </p:txBody>
        </p:sp>
        <p:sp>
          <p:nvSpPr>
            <p:cNvPr id="43040" name="Rectangle 8">
              <a:extLst>
                <a:ext uri="{FF2B5EF4-FFF2-40B4-BE49-F238E27FC236}">
                  <a16:creationId xmlns:a16="http://schemas.microsoft.com/office/drawing/2014/main" id="{485455D8-B990-445C-A49B-6CC459CEA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586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41" name="Rectangle 9">
              <a:extLst>
                <a:ext uri="{FF2B5EF4-FFF2-40B4-BE49-F238E27FC236}">
                  <a16:creationId xmlns:a16="http://schemas.microsoft.com/office/drawing/2014/main" id="{A86BD1DF-40A9-429F-A007-3B0B0DEB7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586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</p:grpSp>
      <p:grpSp>
        <p:nvGrpSpPr>
          <p:cNvPr id="3" name="Group 10">
            <a:extLst>
              <a:ext uri="{FF2B5EF4-FFF2-40B4-BE49-F238E27FC236}">
                <a16:creationId xmlns:a16="http://schemas.microsoft.com/office/drawing/2014/main" id="{02FA67AE-F136-4CF2-8661-26CBCCFFED4D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2593975"/>
            <a:ext cx="1219200" cy="2435225"/>
            <a:chOff x="3360" y="1586"/>
            <a:chExt cx="768" cy="1534"/>
          </a:xfrm>
        </p:grpSpPr>
        <p:sp>
          <p:nvSpPr>
            <p:cNvPr id="43035" name="Rectangle 11">
              <a:extLst>
                <a:ext uri="{FF2B5EF4-FFF2-40B4-BE49-F238E27FC236}">
                  <a16:creationId xmlns:a16="http://schemas.microsoft.com/office/drawing/2014/main" id="{A2976A69-3A29-4FC8-85C0-ABD5E1CDF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832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36" name="Rectangle 12">
              <a:extLst>
                <a:ext uri="{FF2B5EF4-FFF2-40B4-BE49-F238E27FC236}">
                  <a16:creationId xmlns:a16="http://schemas.microsoft.com/office/drawing/2014/main" id="{103C3123-93D4-4F7B-BC08-594CFAFC6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824"/>
              <a:ext cx="768" cy="72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37" name="Rectangle 13">
              <a:extLst>
                <a:ext uri="{FF2B5EF4-FFF2-40B4-BE49-F238E27FC236}">
                  <a16:creationId xmlns:a16="http://schemas.microsoft.com/office/drawing/2014/main" id="{A4AC4E2C-3052-4E88-AC2D-BE6647CF5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544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操作数</a:t>
              </a:r>
            </a:p>
          </p:txBody>
        </p:sp>
        <p:sp>
          <p:nvSpPr>
            <p:cNvPr id="43038" name="Text Box 14">
              <a:extLst>
                <a:ext uri="{FF2B5EF4-FFF2-40B4-BE49-F238E27FC236}">
                  <a16:creationId xmlns:a16="http://schemas.microsoft.com/office/drawing/2014/main" id="{3ABDE10F-C545-4D83-BC80-0FA37F78F0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6" y="1586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主存</a:t>
              </a:r>
            </a:p>
          </p:txBody>
        </p:sp>
      </p:grpSp>
      <p:sp>
        <p:nvSpPr>
          <p:cNvPr id="26639" name="AutoShape 15">
            <a:extLst>
              <a:ext uri="{FF2B5EF4-FFF2-40B4-BE49-F238E27FC236}">
                <a16:creationId xmlns:a16="http://schemas.microsoft.com/office/drawing/2014/main" id="{B2325E95-D955-415A-912D-E2D9F1F272D3}"/>
              </a:ext>
            </a:extLst>
          </p:cNvPr>
          <p:cNvSpPr>
            <a:spLocks/>
          </p:cNvSpPr>
          <p:nvPr/>
        </p:nvSpPr>
        <p:spPr bwMode="auto">
          <a:xfrm rot="5400000">
            <a:off x="4038600" y="2060575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40" name="Text Box 16">
            <a:extLst>
              <a:ext uri="{FF2B5EF4-FFF2-40B4-BE49-F238E27FC236}">
                <a16:creationId xmlns:a16="http://schemas.microsoft.com/office/drawing/2014/main" id="{4C6BD199-045D-49C3-A779-572E29856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981200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寻址特征</a:t>
            </a:r>
          </a:p>
        </p:txBody>
      </p:sp>
      <p:sp>
        <p:nvSpPr>
          <p:cNvPr id="26641" name="AutoShape 17">
            <a:extLst>
              <a:ext uri="{FF2B5EF4-FFF2-40B4-BE49-F238E27FC236}">
                <a16:creationId xmlns:a16="http://schemas.microsoft.com/office/drawing/2014/main" id="{001A9E42-1755-4231-8229-7DCF964B988C}"/>
              </a:ext>
            </a:extLst>
          </p:cNvPr>
          <p:cNvSpPr>
            <a:spLocks/>
          </p:cNvSpPr>
          <p:nvPr/>
        </p:nvSpPr>
        <p:spPr bwMode="auto">
          <a:xfrm rot="-5400000">
            <a:off x="4800600" y="2593975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F40106F4-5ED7-4A40-9EE8-3C3B3E14F629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3581400"/>
            <a:ext cx="1066800" cy="549275"/>
            <a:chOff x="2256" y="2256"/>
            <a:chExt cx="672" cy="346"/>
          </a:xfrm>
        </p:grpSpPr>
        <p:sp>
          <p:nvSpPr>
            <p:cNvPr id="43033" name="Freeform 19">
              <a:extLst>
                <a:ext uri="{FF2B5EF4-FFF2-40B4-BE49-F238E27FC236}">
                  <a16:creationId xmlns:a16="http://schemas.microsoft.com/office/drawing/2014/main" id="{F41F1540-1854-4276-B4A7-4ABC4C7DE7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2256"/>
              <a:ext cx="672" cy="338"/>
            </a:xfrm>
            <a:custGeom>
              <a:avLst/>
              <a:gdLst>
                <a:gd name="T0" fmla="*/ 0 w 672"/>
                <a:gd name="T1" fmla="*/ 0 h 338"/>
                <a:gd name="T2" fmla="*/ 240 w 672"/>
                <a:gd name="T3" fmla="*/ 0 h 338"/>
                <a:gd name="T4" fmla="*/ 339 w 672"/>
                <a:gd name="T5" fmla="*/ 129 h 338"/>
                <a:gd name="T6" fmla="*/ 432 w 672"/>
                <a:gd name="T7" fmla="*/ 0 h 338"/>
                <a:gd name="T8" fmla="*/ 672 w 672"/>
                <a:gd name="T9" fmla="*/ 0 h 338"/>
                <a:gd name="T10" fmla="*/ 507 w 672"/>
                <a:gd name="T11" fmla="*/ 338 h 338"/>
                <a:gd name="T12" fmla="*/ 192 w 672"/>
                <a:gd name="T13" fmla="*/ 336 h 338"/>
                <a:gd name="T14" fmla="*/ 0 w 672"/>
                <a:gd name="T15" fmla="*/ 0 h 3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2"/>
                <a:gd name="T25" fmla="*/ 0 h 338"/>
                <a:gd name="T26" fmla="*/ 672 w 672"/>
                <a:gd name="T27" fmla="*/ 338 h 33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2" h="338">
                  <a:moveTo>
                    <a:pt x="0" y="0"/>
                  </a:moveTo>
                  <a:lnTo>
                    <a:pt x="240" y="0"/>
                  </a:lnTo>
                  <a:lnTo>
                    <a:pt x="339" y="129"/>
                  </a:lnTo>
                  <a:lnTo>
                    <a:pt x="432" y="0"/>
                  </a:lnTo>
                  <a:lnTo>
                    <a:pt x="672" y="0"/>
                  </a:lnTo>
                  <a:lnTo>
                    <a:pt x="507" y="338"/>
                  </a:lnTo>
                  <a:lnTo>
                    <a:pt x="192" y="33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34" name="Text Box 20">
              <a:extLst>
                <a:ext uri="{FF2B5EF4-FFF2-40B4-BE49-F238E27FC236}">
                  <a16:creationId xmlns:a16="http://schemas.microsoft.com/office/drawing/2014/main" id="{63072980-8339-4340-B936-37A79A21E8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7" y="2352"/>
              <a:ext cx="4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ALU</a:t>
              </a:r>
            </a:p>
          </p:txBody>
        </p:sp>
      </p:grpSp>
      <p:grpSp>
        <p:nvGrpSpPr>
          <p:cNvPr id="5" name="Group 21">
            <a:extLst>
              <a:ext uri="{FF2B5EF4-FFF2-40B4-BE49-F238E27FC236}">
                <a16:creationId xmlns:a16="http://schemas.microsoft.com/office/drawing/2014/main" id="{17EE506E-8763-4458-86D4-DF694427BB84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3733800"/>
            <a:ext cx="990600" cy="396875"/>
            <a:chOff x="1248" y="2352"/>
            <a:chExt cx="624" cy="250"/>
          </a:xfrm>
        </p:grpSpPr>
        <p:sp>
          <p:nvSpPr>
            <p:cNvPr id="43031" name="Text Box 22">
              <a:extLst>
                <a:ext uri="{FF2B5EF4-FFF2-40B4-BE49-F238E27FC236}">
                  <a16:creationId xmlns:a16="http://schemas.microsoft.com/office/drawing/2014/main" id="{6F1008C9-CB1A-443A-82B9-14A249B00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2" y="2352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BR</a:t>
              </a:r>
            </a:p>
          </p:txBody>
        </p:sp>
        <p:sp>
          <p:nvSpPr>
            <p:cNvPr id="43032" name="Rectangle 23">
              <a:extLst>
                <a:ext uri="{FF2B5EF4-FFF2-40B4-BE49-F238E27FC236}">
                  <a16:creationId xmlns:a16="http://schemas.microsoft.com/office/drawing/2014/main" id="{B126B895-9A84-4FF4-AE7A-27A7E11B1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352"/>
              <a:ext cx="62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6648" name="AutoShape 24">
            <a:extLst>
              <a:ext uri="{FF2B5EF4-FFF2-40B4-BE49-F238E27FC236}">
                <a16:creationId xmlns:a16="http://schemas.microsoft.com/office/drawing/2014/main" id="{925C60E0-E7B4-473F-A749-2D7A5344E5E6}"/>
              </a:ext>
            </a:extLst>
          </p:cNvPr>
          <p:cNvSpPr>
            <a:spLocks/>
          </p:cNvSpPr>
          <p:nvPr/>
        </p:nvSpPr>
        <p:spPr bwMode="auto">
          <a:xfrm rot="-5400000">
            <a:off x="2819400" y="3733800"/>
            <a:ext cx="228600" cy="990600"/>
          </a:xfrm>
          <a:prstGeom prst="leftBrace">
            <a:avLst>
              <a:gd name="adj1" fmla="val 36111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49" name="Freeform 25">
            <a:extLst>
              <a:ext uri="{FF2B5EF4-FFF2-40B4-BE49-F238E27FC236}">
                <a16:creationId xmlns:a16="http://schemas.microsoft.com/office/drawing/2014/main" id="{A2A228E7-A038-44BE-A9D6-9B4F14B5F87E}"/>
              </a:ext>
            </a:extLst>
          </p:cNvPr>
          <p:cNvSpPr>
            <a:spLocks/>
          </p:cNvSpPr>
          <p:nvPr/>
        </p:nvSpPr>
        <p:spPr bwMode="auto">
          <a:xfrm>
            <a:off x="2924175" y="3200400"/>
            <a:ext cx="1266825" cy="1376363"/>
          </a:xfrm>
          <a:custGeom>
            <a:avLst/>
            <a:gdLst>
              <a:gd name="T0" fmla="*/ 0 w 798"/>
              <a:gd name="T1" fmla="*/ 1123950 h 867"/>
              <a:gd name="T2" fmla="*/ 4763 w 798"/>
              <a:gd name="T3" fmla="*/ 1376363 h 867"/>
              <a:gd name="T4" fmla="*/ 588963 w 798"/>
              <a:gd name="T5" fmla="*/ 1371600 h 867"/>
              <a:gd name="T6" fmla="*/ 588963 w 798"/>
              <a:gd name="T7" fmla="*/ 0 h 867"/>
              <a:gd name="T8" fmla="*/ 1266825 w 798"/>
              <a:gd name="T9" fmla="*/ 0 h 867"/>
              <a:gd name="T10" fmla="*/ 1266825 w 798"/>
              <a:gd name="T11" fmla="*/ 381000 h 86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98"/>
              <a:gd name="T19" fmla="*/ 0 h 867"/>
              <a:gd name="T20" fmla="*/ 798 w 798"/>
              <a:gd name="T21" fmla="*/ 867 h 86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98" h="867">
                <a:moveTo>
                  <a:pt x="0" y="708"/>
                </a:moveTo>
                <a:lnTo>
                  <a:pt x="3" y="867"/>
                </a:lnTo>
                <a:lnTo>
                  <a:pt x="371" y="864"/>
                </a:lnTo>
                <a:lnTo>
                  <a:pt x="371" y="0"/>
                </a:lnTo>
                <a:lnTo>
                  <a:pt x="798" y="0"/>
                </a:lnTo>
                <a:lnTo>
                  <a:pt x="798" y="24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50" name="Line 26">
            <a:extLst>
              <a:ext uri="{FF2B5EF4-FFF2-40B4-BE49-F238E27FC236}">
                <a16:creationId xmlns:a16="http://schemas.microsoft.com/office/drawing/2014/main" id="{1D0A882C-734A-4EDE-A0B7-D908E53BB53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0480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51" name="Freeform 27">
            <a:extLst>
              <a:ext uri="{FF2B5EF4-FFF2-40B4-BE49-F238E27FC236}">
                <a16:creationId xmlns:a16="http://schemas.microsoft.com/office/drawing/2014/main" id="{8AD448BC-8FA3-4D93-914E-2D080C720D85}"/>
              </a:ext>
            </a:extLst>
          </p:cNvPr>
          <p:cNvSpPr>
            <a:spLocks/>
          </p:cNvSpPr>
          <p:nvPr/>
        </p:nvSpPr>
        <p:spPr bwMode="auto">
          <a:xfrm>
            <a:off x="4572000" y="4114800"/>
            <a:ext cx="1219200" cy="228600"/>
          </a:xfrm>
          <a:custGeom>
            <a:avLst/>
            <a:gdLst>
              <a:gd name="T0" fmla="*/ 0 w 768"/>
              <a:gd name="T1" fmla="*/ 0 h 144"/>
              <a:gd name="T2" fmla="*/ 0 w 768"/>
              <a:gd name="T3" fmla="*/ 228600 h 144"/>
              <a:gd name="T4" fmla="*/ 1219200 w 768"/>
              <a:gd name="T5" fmla="*/ 228600 h 144"/>
              <a:gd name="T6" fmla="*/ 0 60000 65536"/>
              <a:gd name="T7" fmla="*/ 0 60000 65536"/>
              <a:gd name="T8" fmla="*/ 0 60000 65536"/>
              <a:gd name="T9" fmla="*/ 0 w 768"/>
              <a:gd name="T10" fmla="*/ 0 h 144"/>
              <a:gd name="T11" fmla="*/ 768 w 768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68" h="144">
                <a:moveTo>
                  <a:pt x="0" y="0"/>
                </a:moveTo>
                <a:lnTo>
                  <a:pt x="0" y="144"/>
                </a:lnTo>
                <a:lnTo>
                  <a:pt x="768" y="144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52" name="Text Box 28">
            <a:extLst>
              <a:ext uri="{FF2B5EF4-FFF2-40B4-BE49-F238E27FC236}">
                <a16:creationId xmlns:a16="http://schemas.microsoft.com/office/drawing/2014/main" id="{BEBA2013-BD50-493A-942E-CADC51B7F2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25" y="4697413"/>
            <a:ext cx="2497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可扩大寻址范围</a:t>
            </a:r>
          </a:p>
        </p:txBody>
      </p:sp>
      <p:sp>
        <p:nvSpPr>
          <p:cNvPr id="26653" name="Text Box 29">
            <a:extLst>
              <a:ext uri="{FF2B5EF4-FFF2-40B4-BE49-F238E27FC236}">
                <a16:creationId xmlns:a16="http://schemas.microsoft.com/office/drawing/2014/main" id="{507D3356-4A82-415B-9483-0BAF14EA8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25" y="5164138"/>
            <a:ext cx="3373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有利于多道程序</a:t>
            </a:r>
          </a:p>
        </p:txBody>
      </p:sp>
      <p:sp>
        <p:nvSpPr>
          <p:cNvPr id="26654" name="Text Box 30">
            <a:extLst>
              <a:ext uri="{FF2B5EF4-FFF2-40B4-BE49-F238E27FC236}">
                <a16:creationId xmlns:a16="http://schemas.microsoft.com/office/drawing/2014/main" id="{EA30A7E1-5CC2-4971-B188-45E8F218F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603875"/>
            <a:ext cx="7391400" cy="51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BR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内容由操作系统或管理程序确定</a:t>
            </a:r>
          </a:p>
        </p:txBody>
      </p:sp>
      <p:sp>
        <p:nvSpPr>
          <p:cNvPr id="26655" name="Text Box 31">
            <a:extLst>
              <a:ext uri="{FF2B5EF4-FFF2-40B4-BE49-F238E27FC236}">
                <a16:creationId xmlns:a16="http://schemas.microsoft.com/office/drawing/2014/main" id="{7534DD40-4192-45F7-B922-D7650EED5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096000"/>
            <a:ext cx="8229600" cy="51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在程序的执行过程中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BR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内容不变，形式地址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可变</a:t>
            </a:r>
          </a:p>
        </p:txBody>
      </p:sp>
    </p:spTree>
    <p:extLst>
      <p:ext uri="{BB962C8B-B14F-4D97-AF65-F5344CB8AC3E}">
        <p14:creationId xmlns:p14="http://schemas.microsoft.com/office/powerpoint/2010/main" val="131378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2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0" dur="500"/>
                                        <p:tgtEl>
                                          <p:spTgt spid="2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2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9" dur="500"/>
                                        <p:tgtEl>
                                          <p:spTgt spid="2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26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6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6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autoUpdateAnimBg="0"/>
      <p:bldP spid="26628" grpId="0" autoUpdateAnimBg="0"/>
      <p:bldP spid="26629" grpId="0" autoUpdateAnimBg="0"/>
      <p:bldP spid="26639" grpId="0" animBg="1"/>
      <p:bldP spid="26640" grpId="0" autoUpdateAnimBg="0"/>
      <p:bldP spid="26641" grpId="0" animBg="1"/>
      <p:bldP spid="26648" grpId="0" animBg="1"/>
      <p:bldP spid="26652" grpId="0" autoUpdateAnimBg="0"/>
      <p:bldP spid="26653" grpId="0" autoUpdateAnimBg="0"/>
      <p:bldP spid="26654" grpId="0" autoUpdateAnimBg="0"/>
      <p:bldP spid="2665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>
            <a:extLst>
              <a:ext uri="{FF2B5EF4-FFF2-40B4-BE49-F238E27FC236}">
                <a16:creationId xmlns:a16="http://schemas.microsoft.com/office/drawing/2014/main" id="{661D87BF-1DFF-4ACB-91CE-CD083252C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81000"/>
            <a:ext cx="595227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②采用通用寄存器作基址寄存器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3D27501B-BBCA-4FB7-BC98-5908B28CF112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2212975"/>
            <a:ext cx="1219200" cy="2435225"/>
            <a:chOff x="3456" y="1394"/>
            <a:chExt cx="768" cy="1534"/>
          </a:xfrm>
        </p:grpSpPr>
        <p:sp>
          <p:nvSpPr>
            <p:cNvPr id="44066" name="Rectangle 4">
              <a:extLst>
                <a:ext uri="{FF2B5EF4-FFF2-40B4-BE49-F238E27FC236}">
                  <a16:creationId xmlns:a16="http://schemas.microsoft.com/office/drawing/2014/main" id="{DD239A78-518E-4FC9-BB49-0109EDCC9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632"/>
              <a:ext cx="768" cy="72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67" name="Rectangle 5">
              <a:extLst>
                <a:ext uri="{FF2B5EF4-FFF2-40B4-BE49-F238E27FC236}">
                  <a16:creationId xmlns:a16="http://schemas.microsoft.com/office/drawing/2014/main" id="{44A24C3C-A652-4DB4-A105-FD05C1A89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352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操作数</a:t>
              </a:r>
            </a:p>
          </p:txBody>
        </p:sp>
        <p:sp>
          <p:nvSpPr>
            <p:cNvPr id="44068" name="Rectangle 6">
              <a:extLst>
                <a:ext uri="{FF2B5EF4-FFF2-40B4-BE49-F238E27FC236}">
                  <a16:creationId xmlns:a16="http://schemas.microsoft.com/office/drawing/2014/main" id="{A2D29A0F-8885-4738-88B9-F526D64C4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640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69" name="Text Box 7">
              <a:extLst>
                <a:ext uri="{FF2B5EF4-FFF2-40B4-BE49-F238E27FC236}">
                  <a16:creationId xmlns:a16="http://schemas.microsoft.com/office/drawing/2014/main" id="{DDCC8C6A-CDF8-45C3-B290-9BD3B305B6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2" y="1394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主存</a:t>
              </a:r>
            </a:p>
          </p:txBody>
        </p:sp>
      </p:grpSp>
      <p:sp>
        <p:nvSpPr>
          <p:cNvPr id="27656" name="AutoShape 8">
            <a:extLst>
              <a:ext uri="{FF2B5EF4-FFF2-40B4-BE49-F238E27FC236}">
                <a16:creationId xmlns:a16="http://schemas.microsoft.com/office/drawing/2014/main" id="{B9F39998-DBDA-4389-8D9B-20D19D51292D}"/>
              </a:ext>
            </a:extLst>
          </p:cNvPr>
          <p:cNvSpPr>
            <a:spLocks/>
          </p:cNvSpPr>
          <p:nvPr/>
        </p:nvSpPr>
        <p:spPr bwMode="auto">
          <a:xfrm rot="5400000">
            <a:off x="3581400" y="1146175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7" name="Text Box 9">
            <a:extLst>
              <a:ext uri="{FF2B5EF4-FFF2-40B4-BE49-F238E27FC236}">
                <a16:creationId xmlns:a16="http://schemas.microsoft.com/office/drawing/2014/main" id="{77F8B635-1B77-4926-97CF-707A9AC79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1066800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寻址特征</a:t>
            </a:r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1C41B92B-5ED5-437D-A02E-7CC49DF09B2D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3124200"/>
            <a:ext cx="1066800" cy="549275"/>
            <a:chOff x="2640" y="1968"/>
            <a:chExt cx="672" cy="346"/>
          </a:xfrm>
        </p:grpSpPr>
        <p:sp>
          <p:nvSpPr>
            <p:cNvPr id="44064" name="Freeform 11">
              <a:extLst>
                <a:ext uri="{FF2B5EF4-FFF2-40B4-BE49-F238E27FC236}">
                  <a16:creationId xmlns:a16="http://schemas.microsoft.com/office/drawing/2014/main" id="{4DC2899A-2036-4727-A583-A2104DB39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" y="1968"/>
              <a:ext cx="672" cy="338"/>
            </a:xfrm>
            <a:custGeom>
              <a:avLst/>
              <a:gdLst>
                <a:gd name="T0" fmla="*/ 0 w 672"/>
                <a:gd name="T1" fmla="*/ 0 h 338"/>
                <a:gd name="T2" fmla="*/ 240 w 672"/>
                <a:gd name="T3" fmla="*/ 0 h 338"/>
                <a:gd name="T4" fmla="*/ 339 w 672"/>
                <a:gd name="T5" fmla="*/ 129 h 338"/>
                <a:gd name="T6" fmla="*/ 432 w 672"/>
                <a:gd name="T7" fmla="*/ 0 h 338"/>
                <a:gd name="T8" fmla="*/ 672 w 672"/>
                <a:gd name="T9" fmla="*/ 0 h 338"/>
                <a:gd name="T10" fmla="*/ 507 w 672"/>
                <a:gd name="T11" fmla="*/ 338 h 338"/>
                <a:gd name="T12" fmla="*/ 192 w 672"/>
                <a:gd name="T13" fmla="*/ 336 h 338"/>
                <a:gd name="T14" fmla="*/ 0 w 672"/>
                <a:gd name="T15" fmla="*/ 0 h 3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2"/>
                <a:gd name="T25" fmla="*/ 0 h 338"/>
                <a:gd name="T26" fmla="*/ 672 w 672"/>
                <a:gd name="T27" fmla="*/ 338 h 33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2" h="338">
                  <a:moveTo>
                    <a:pt x="0" y="0"/>
                  </a:moveTo>
                  <a:lnTo>
                    <a:pt x="240" y="0"/>
                  </a:lnTo>
                  <a:lnTo>
                    <a:pt x="339" y="129"/>
                  </a:lnTo>
                  <a:lnTo>
                    <a:pt x="432" y="0"/>
                  </a:lnTo>
                  <a:lnTo>
                    <a:pt x="672" y="0"/>
                  </a:lnTo>
                  <a:lnTo>
                    <a:pt x="507" y="338"/>
                  </a:lnTo>
                  <a:lnTo>
                    <a:pt x="192" y="33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65" name="Text Box 12">
              <a:extLst>
                <a:ext uri="{FF2B5EF4-FFF2-40B4-BE49-F238E27FC236}">
                  <a16:creationId xmlns:a16="http://schemas.microsoft.com/office/drawing/2014/main" id="{95D8E4CA-0273-42E8-9201-4F8D9E403B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1" y="2064"/>
              <a:ext cx="4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ALU</a:t>
              </a:r>
            </a:p>
          </p:txBody>
        </p:sp>
      </p:grpSp>
      <p:grpSp>
        <p:nvGrpSpPr>
          <p:cNvPr id="4" name="Group 13">
            <a:extLst>
              <a:ext uri="{FF2B5EF4-FFF2-40B4-BE49-F238E27FC236}">
                <a16:creationId xmlns:a16="http://schemas.microsoft.com/office/drawing/2014/main" id="{28D42A19-A90A-410C-8699-AF8E43B0BAC1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1603375"/>
            <a:ext cx="2895600" cy="381000"/>
            <a:chOff x="1584" y="1010"/>
            <a:chExt cx="1824" cy="240"/>
          </a:xfrm>
        </p:grpSpPr>
        <p:sp>
          <p:nvSpPr>
            <p:cNvPr id="44060" name="Rectangle 14">
              <a:extLst>
                <a:ext uri="{FF2B5EF4-FFF2-40B4-BE49-F238E27FC236}">
                  <a16:creationId xmlns:a16="http://schemas.microsoft.com/office/drawing/2014/main" id="{F13802DE-812B-4FC6-9D8D-D6BDBF567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010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OP</a:t>
              </a:r>
            </a:p>
          </p:txBody>
        </p:sp>
        <p:sp>
          <p:nvSpPr>
            <p:cNvPr id="44061" name="Rectangle 15">
              <a:extLst>
                <a:ext uri="{FF2B5EF4-FFF2-40B4-BE49-F238E27FC236}">
                  <a16:creationId xmlns:a16="http://schemas.microsoft.com/office/drawing/2014/main" id="{FA5E4F94-D5D7-4B73-BA05-BB340AF54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010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62" name="Rectangle 16">
              <a:extLst>
                <a:ext uri="{FF2B5EF4-FFF2-40B4-BE49-F238E27FC236}">
                  <a16:creationId xmlns:a16="http://schemas.microsoft.com/office/drawing/2014/main" id="{EE2F93CF-EC21-4B23-B3F1-D80E0798A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010"/>
              <a:ext cx="33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4063" name="Rectangle 17">
              <a:extLst>
                <a:ext uri="{FF2B5EF4-FFF2-40B4-BE49-F238E27FC236}">
                  <a16:creationId xmlns:a16="http://schemas.microsoft.com/office/drawing/2014/main" id="{998577A4-3665-4BE7-BE15-098C1B93F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010"/>
              <a:ext cx="528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</p:grpSp>
      <p:sp>
        <p:nvSpPr>
          <p:cNvPr id="27666" name="Line 18">
            <a:extLst>
              <a:ext uri="{FF2B5EF4-FFF2-40B4-BE49-F238E27FC236}">
                <a16:creationId xmlns:a16="http://schemas.microsoft.com/office/drawing/2014/main" id="{D427428B-2538-4EDC-B7D1-A8A5D5D68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1981200"/>
            <a:ext cx="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67" name="Freeform 19">
            <a:extLst>
              <a:ext uri="{FF2B5EF4-FFF2-40B4-BE49-F238E27FC236}">
                <a16:creationId xmlns:a16="http://schemas.microsoft.com/office/drawing/2014/main" id="{C34487B1-DCCA-4E10-8209-A364FB8F3C98}"/>
              </a:ext>
            </a:extLst>
          </p:cNvPr>
          <p:cNvSpPr>
            <a:spLocks/>
          </p:cNvSpPr>
          <p:nvPr/>
        </p:nvSpPr>
        <p:spPr bwMode="auto">
          <a:xfrm>
            <a:off x="1143000" y="1981200"/>
            <a:ext cx="3200400" cy="685800"/>
          </a:xfrm>
          <a:custGeom>
            <a:avLst/>
            <a:gdLst>
              <a:gd name="T0" fmla="*/ 3200400 w 2016"/>
              <a:gd name="T1" fmla="*/ 0 h 432"/>
              <a:gd name="T2" fmla="*/ 3200400 w 2016"/>
              <a:gd name="T3" fmla="*/ 304800 h 432"/>
              <a:gd name="T4" fmla="*/ 0 w 2016"/>
              <a:gd name="T5" fmla="*/ 304800 h 432"/>
              <a:gd name="T6" fmla="*/ 0 w 2016"/>
              <a:gd name="T7" fmla="*/ 685800 h 432"/>
              <a:gd name="T8" fmla="*/ 457200 w 2016"/>
              <a:gd name="T9" fmla="*/ 685800 h 4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16"/>
              <a:gd name="T16" fmla="*/ 0 h 432"/>
              <a:gd name="T17" fmla="*/ 2016 w 2016"/>
              <a:gd name="T18" fmla="*/ 432 h 4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16" h="432">
                <a:moveTo>
                  <a:pt x="2016" y="0"/>
                </a:moveTo>
                <a:lnTo>
                  <a:pt x="2016" y="192"/>
                </a:lnTo>
                <a:lnTo>
                  <a:pt x="0" y="192"/>
                </a:lnTo>
                <a:lnTo>
                  <a:pt x="0" y="432"/>
                </a:lnTo>
                <a:lnTo>
                  <a:pt x="288" y="432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68" name="Freeform 20">
            <a:extLst>
              <a:ext uri="{FF2B5EF4-FFF2-40B4-BE49-F238E27FC236}">
                <a16:creationId xmlns:a16="http://schemas.microsoft.com/office/drawing/2014/main" id="{3F056CFF-D5F8-4E68-9932-D25B32E39B79}"/>
              </a:ext>
            </a:extLst>
          </p:cNvPr>
          <p:cNvSpPr>
            <a:spLocks/>
          </p:cNvSpPr>
          <p:nvPr/>
        </p:nvSpPr>
        <p:spPr bwMode="auto">
          <a:xfrm>
            <a:off x="2895600" y="2819400"/>
            <a:ext cx="1447800" cy="304800"/>
          </a:xfrm>
          <a:custGeom>
            <a:avLst/>
            <a:gdLst>
              <a:gd name="T0" fmla="*/ 0 w 912"/>
              <a:gd name="T1" fmla="*/ 0 h 192"/>
              <a:gd name="T2" fmla="*/ 1447800 w 912"/>
              <a:gd name="T3" fmla="*/ 0 h 192"/>
              <a:gd name="T4" fmla="*/ 1447800 w 912"/>
              <a:gd name="T5" fmla="*/ 30480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0" y="0"/>
                </a:moveTo>
                <a:lnTo>
                  <a:pt x="912" y="0"/>
                </a:lnTo>
                <a:lnTo>
                  <a:pt x="912" y="192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 type="oval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69" name="Freeform 21">
            <a:extLst>
              <a:ext uri="{FF2B5EF4-FFF2-40B4-BE49-F238E27FC236}">
                <a16:creationId xmlns:a16="http://schemas.microsoft.com/office/drawing/2014/main" id="{AED2AD81-CD84-4C93-8B58-66171093DE9F}"/>
              </a:ext>
            </a:extLst>
          </p:cNvPr>
          <p:cNvSpPr>
            <a:spLocks/>
          </p:cNvSpPr>
          <p:nvPr/>
        </p:nvSpPr>
        <p:spPr bwMode="auto">
          <a:xfrm>
            <a:off x="4724400" y="3657600"/>
            <a:ext cx="762000" cy="304800"/>
          </a:xfrm>
          <a:custGeom>
            <a:avLst/>
            <a:gdLst>
              <a:gd name="T0" fmla="*/ 0 w 480"/>
              <a:gd name="T1" fmla="*/ 0 h 192"/>
              <a:gd name="T2" fmla="*/ 0 w 480"/>
              <a:gd name="T3" fmla="*/ 304800 h 192"/>
              <a:gd name="T4" fmla="*/ 762000 w 480"/>
              <a:gd name="T5" fmla="*/ 304800 h 192"/>
              <a:gd name="T6" fmla="*/ 0 60000 65536"/>
              <a:gd name="T7" fmla="*/ 0 60000 65536"/>
              <a:gd name="T8" fmla="*/ 0 60000 65536"/>
              <a:gd name="T9" fmla="*/ 0 w 480"/>
              <a:gd name="T10" fmla="*/ 0 h 192"/>
              <a:gd name="T11" fmla="*/ 480 w 48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192">
                <a:moveTo>
                  <a:pt x="0" y="0"/>
                </a:moveTo>
                <a:lnTo>
                  <a:pt x="0" y="192"/>
                </a:lnTo>
                <a:lnTo>
                  <a:pt x="480" y="192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70" name="Text Box 22">
            <a:extLst>
              <a:ext uri="{FF2B5EF4-FFF2-40B4-BE49-F238E27FC236}">
                <a16:creationId xmlns:a16="http://schemas.microsoft.com/office/drawing/2014/main" id="{16697D15-2D73-48D9-B8F1-225D6D35D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584325"/>
            <a:ext cx="2047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作基址寄存器</a:t>
            </a:r>
          </a:p>
        </p:txBody>
      </p:sp>
      <p:sp>
        <p:nvSpPr>
          <p:cNvPr id="27671" name="Text Box 23">
            <a:extLst>
              <a:ext uri="{FF2B5EF4-FFF2-40B4-BE49-F238E27FC236}">
                <a16:creationId xmlns:a16="http://schemas.microsoft.com/office/drawing/2014/main" id="{D53B6E71-9490-4741-BD53-9F0B450B8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16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由用户指定哪个通用寄存器作为基址寄存器</a:t>
            </a:r>
          </a:p>
        </p:txBody>
      </p:sp>
      <p:grpSp>
        <p:nvGrpSpPr>
          <p:cNvPr id="5" name="Group 24">
            <a:extLst>
              <a:ext uri="{FF2B5EF4-FFF2-40B4-BE49-F238E27FC236}">
                <a16:creationId xmlns:a16="http://schemas.microsoft.com/office/drawing/2014/main" id="{F59521FB-69D9-4A06-8661-851C97451651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2528888"/>
            <a:ext cx="2209800" cy="1890712"/>
            <a:chOff x="912" y="1593"/>
            <a:chExt cx="1392" cy="1191"/>
          </a:xfrm>
        </p:grpSpPr>
        <p:grpSp>
          <p:nvGrpSpPr>
            <p:cNvPr id="44051" name="Group 25">
              <a:extLst>
                <a:ext uri="{FF2B5EF4-FFF2-40B4-BE49-F238E27FC236}">
                  <a16:creationId xmlns:a16="http://schemas.microsoft.com/office/drawing/2014/main" id="{F302BE25-0EAA-4BD6-9555-B57E222BDB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1593"/>
              <a:ext cx="1392" cy="1191"/>
              <a:chOff x="912" y="1593"/>
              <a:chExt cx="1392" cy="1191"/>
            </a:xfrm>
          </p:grpSpPr>
          <p:sp>
            <p:nvSpPr>
              <p:cNvPr id="44053" name="Rectangle 26">
                <a:extLst>
                  <a:ext uri="{FF2B5EF4-FFF2-40B4-BE49-F238E27FC236}">
                    <a16:creationId xmlns:a16="http://schemas.microsoft.com/office/drawing/2014/main" id="{7F8CCA4D-92E1-48A1-8926-50240B651E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0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通用寄存器</a:t>
                </a:r>
              </a:p>
            </p:txBody>
          </p:sp>
          <p:sp>
            <p:nvSpPr>
              <p:cNvPr id="44054" name="Rectangle 27">
                <a:extLst>
                  <a:ext uri="{FF2B5EF4-FFF2-40B4-BE49-F238E27FC236}">
                    <a16:creationId xmlns:a16="http://schemas.microsoft.com/office/drawing/2014/main" id="{6012E3E2-F509-4B29-81E9-4A98EFB11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496"/>
                <a:ext cx="960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4055" name="Rectangle 28">
                <a:extLst>
                  <a:ext uri="{FF2B5EF4-FFF2-40B4-BE49-F238E27FC236}">
                    <a16:creationId xmlns:a16="http://schemas.microsoft.com/office/drawing/2014/main" id="{C3D05D96-CB00-46EF-B968-3876B4ED5E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632"/>
                <a:ext cx="960" cy="57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4056" name="Text Box 29">
                <a:extLst>
                  <a:ext uri="{FF2B5EF4-FFF2-40B4-BE49-F238E27FC236}">
                    <a16:creationId xmlns:a16="http://schemas.microsoft.com/office/drawing/2014/main" id="{022386BD-6102-47C4-9901-C3EC1363CF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8" y="1593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R</a:t>
                </a:r>
                <a:r>
                  <a:rPr kumimoji="1" lang="en-US" altLang="zh-CN" sz="20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44057" name="Text Box 30">
                <a:extLst>
                  <a:ext uri="{FF2B5EF4-FFF2-40B4-BE49-F238E27FC236}">
                    <a16:creationId xmlns:a16="http://schemas.microsoft.com/office/drawing/2014/main" id="{A4A3A12E-B065-416D-91B8-3A1A496C4F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2" y="2496"/>
                <a:ext cx="37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R</a:t>
                </a:r>
                <a:r>
                  <a:rPr kumimoji="1" lang="en-US" altLang="zh-CN" sz="2000" b="1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  <a:r>
                  <a:rPr kumimoji="1" lang="en-US" altLang="zh-CN" sz="20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-1</a:t>
                </a:r>
              </a:p>
            </p:txBody>
          </p:sp>
          <p:sp>
            <p:nvSpPr>
              <p:cNvPr id="44058" name="Line 31">
                <a:extLst>
                  <a:ext uri="{FF2B5EF4-FFF2-40B4-BE49-F238E27FC236}">
                    <a16:creationId xmlns:a16="http://schemas.microsoft.com/office/drawing/2014/main" id="{4DB8EA6E-6056-4485-AF30-B03E7A6C99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1920"/>
                <a:ext cx="96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4059" name="Text Box 32">
                <a:extLst>
                  <a:ext uri="{FF2B5EF4-FFF2-40B4-BE49-F238E27FC236}">
                    <a16:creationId xmlns:a16="http://schemas.microsoft.com/office/drawing/2014/main" id="{003198E4-6C09-42B7-BFBB-59D3964959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1958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R</a:t>
                </a:r>
                <a:r>
                  <a:rPr kumimoji="1" lang="en-US" altLang="zh-CN" sz="20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44052" name="Text Box 33">
              <a:extLst>
                <a:ext uri="{FF2B5EF4-FFF2-40B4-BE49-F238E27FC236}">
                  <a16:creationId xmlns:a16="http://schemas.microsoft.com/office/drawing/2014/main" id="{10362CD5-C5A8-4E5F-B33F-F8207221F2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7" y="2256"/>
              <a:ext cx="385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</p:grpSp>
      <p:sp>
        <p:nvSpPr>
          <p:cNvPr id="27682" name="Text Box 34">
            <a:extLst>
              <a:ext uri="{FF2B5EF4-FFF2-40B4-BE49-F238E27FC236}">
                <a16:creationId xmlns:a16="http://schemas.microsoft.com/office/drawing/2014/main" id="{FDF0015F-97E9-46CC-831C-40F690B6F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448300"/>
            <a:ext cx="579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基址寄存器的内容由操作系统确定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83" name="Text Box 35">
            <a:extLst>
              <a:ext uri="{FF2B5EF4-FFF2-40B4-BE49-F238E27FC236}">
                <a16:creationId xmlns:a16="http://schemas.microsoft.com/office/drawing/2014/main" id="{2D87B105-4636-4654-9B5E-9EAE71C40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6019800"/>
            <a:ext cx="762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在程序的执行过程中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内容不变，形式地址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可变</a:t>
            </a:r>
          </a:p>
        </p:txBody>
      </p:sp>
    </p:spTree>
    <p:extLst>
      <p:ext uri="{BB962C8B-B14F-4D97-AF65-F5344CB8AC3E}">
        <p14:creationId xmlns:p14="http://schemas.microsoft.com/office/powerpoint/2010/main" val="498244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" dur="5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2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7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6" grpId="0" animBg="1"/>
      <p:bldP spid="27657" grpId="0" autoUpdateAnimBg="0"/>
      <p:bldP spid="27670" grpId="0" autoUpdateAnimBg="0"/>
      <p:bldP spid="27671" grpId="0" build="p" autoUpdateAnimBg="0"/>
      <p:bldP spid="27682" grpId="0" autoUpdateAnimBg="0"/>
      <p:bldP spid="27683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>
            <a:extLst>
              <a:ext uri="{FF2B5EF4-FFF2-40B4-BE49-F238E27FC236}">
                <a16:creationId xmlns:a16="http://schemas.microsoft.com/office/drawing/2014/main" id="{530CD3DF-82B7-4F9D-9939-835AD6759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196850"/>
            <a:ext cx="3333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(5).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变址寻址</a:t>
            </a:r>
          </a:p>
        </p:txBody>
      </p:sp>
      <p:sp>
        <p:nvSpPr>
          <p:cNvPr id="28675" name="Text Box 3">
            <a:extLst>
              <a:ext uri="{FF2B5EF4-FFF2-40B4-BE49-F238E27FC236}">
                <a16:creationId xmlns:a16="http://schemas.microsoft.com/office/drawing/2014/main" id="{7837FC1E-876A-4744-81EA-843AEB7BF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650" y="838200"/>
            <a:ext cx="2419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EA = ( IX ) +A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9B6EC141-F9DD-4667-9310-C9A6E48F96CC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212975"/>
            <a:ext cx="2286000" cy="381000"/>
            <a:chOff x="1200" y="1298"/>
            <a:chExt cx="1440" cy="240"/>
          </a:xfrm>
        </p:grpSpPr>
        <p:sp>
          <p:nvSpPr>
            <p:cNvPr id="45087" name="Rectangle 5">
              <a:extLst>
                <a:ext uri="{FF2B5EF4-FFF2-40B4-BE49-F238E27FC236}">
                  <a16:creationId xmlns:a16="http://schemas.microsoft.com/office/drawing/2014/main" id="{E4C51BAA-6ACF-4ED3-8E75-2CA442060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298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OP</a:t>
              </a:r>
            </a:p>
          </p:txBody>
        </p:sp>
        <p:sp>
          <p:nvSpPr>
            <p:cNvPr id="45088" name="Rectangle 6">
              <a:extLst>
                <a:ext uri="{FF2B5EF4-FFF2-40B4-BE49-F238E27FC236}">
                  <a16:creationId xmlns:a16="http://schemas.microsoft.com/office/drawing/2014/main" id="{DF606A86-8319-4ADD-B656-8C7FCFA24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298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89" name="Rectangle 7">
              <a:extLst>
                <a:ext uri="{FF2B5EF4-FFF2-40B4-BE49-F238E27FC236}">
                  <a16:creationId xmlns:a16="http://schemas.microsoft.com/office/drawing/2014/main" id="{6302DBAA-E37A-46FA-9E42-EC5889537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298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8FED8B94-BD58-4090-8104-85E45DE2272E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2289175"/>
            <a:ext cx="1219200" cy="2435225"/>
            <a:chOff x="2976" y="1298"/>
            <a:chExt cx="768" cy="1534"/>
          </a:xfrm>
        </p:grpSpPr>
        <p:sp>
          <p:nvSpPr>
            <p:cNvPr id="45083" name="Rectangle 9">
              <a:extLst>
                <a:ext uri="{FF2B5EF4-FFF2-40B4-BE49-F238E27FC236}">
                  <a16:creationId xmlns:a16="http://schemas.microsoft.com/office/drawing/2014/main" id="{B4C75913-22B4-4806-89AD-18BA5044F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536"/>
              <a:ext cx="768" cy="72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84" name="Rectangle 10">
              <a:extLst>
                <a:ext uri="{FF2B5EF4-FFF2-40B4-BE49-F238E27FC236}">
                  <a16:creationId xmlns:a16="http://schemas.microsoft.com/office/drawing/2014/main" id="{D5A7C436-EFBB-4B8D-81CE-7FB41F90BD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256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操作数</a:t>
              </a:r>
            </a:p>
          </p:txBody>
        </p:sp>
        <p:sp>
          <p:nvSpPr>
            <p:cNvPr id="45085" name="Rectangle 11">
              <a:extLst>
                <a:ext uri="{FF2B5EF4-FFF2-40B4-BE49-F238E27FC236}">
                  <a16:creationId xmlns:a16="http://schemas.microsoft.com/office/drawing/2014/main" id="{93D7DDF0-86C0-4430-B1B5-52585613F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544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86" name="Text Box 12">
              <a:extLst>
                <a:ext uri="{FF2B5EF4-FFF2-40B4-BE49-F238E27FC236}">
                  <a16:creationId xmlns:a16="http://schemas.microsoft.com/office/drawing/2014/main" id="{19A8A1FE-027B-4BA8-A26F-BAC57AF64C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2" y="1298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主存</a:t>
              </a:r>
            </a:p>
          </p:txBody>
        </p:sp>
      </p:grpSp>
      <p:sp>
        <p:nvSpPr>
          <p:cNvPr id="28685" name="AutoShape 13">
            <a:extLst>
              <a:ext uri="{FF2B5EF4-FFF2-40B4-BE49-F238E27FC236}">
                <a16:creationId xmlns:a16="http://schemas.microsoft.com/office/drawing/2014/main" id="{952FDA86-E6FE-4822-B346-DD0A02AA066D}"/>
              </a:ext>
            </a:extLst>
          </p:cNvPr>
          <p:cNvSpPr>
            <a:spLocks/>
          </p:cNvSpPr>
          <p:nvPr/>
        </p:nvSpPr>
        <p:spPr bwMode="auto">
          <a:xfrm rot="5400000">
            <a:off x="2971800" y="1755775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86" name="Text Box 14">
            <a:extLst>
              <a:ext uri="{FF2B5EF4-FFF2-40B4-BE49-F238E27FC236}">
                <a16:creationId xmlns:a16="http://schemas.microsoft.com/office/drawing/2014/main" id="{B864FE1D-5BEF-43D0-A383-566355A13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676400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寻址特征</a:t>
            </a:r>
          </a:p>
        </p:txBody>
      </p:sp>
      <p:sp>
        <p:nvSpPr>
          <p:cNvPr id="28687" name="AutoShape 15">
            <a:extLst>
              <a:ext uri="{FF2B5EF4-FFF2-40B4-BE49-F238E27FC236}">
                <a16:creationId xmlns:a16="http://schemas.microsoft.com/office/drawing/2014/main" id="{6B27561B-6F5D-410A-9410-034716AC8A8E}"/>
              </a:ext>
            </a:extLst>
          </p:cNvPr>
          <p:cNvSpPr>
            <a:spLocks/>
          </p:cNvSpPr>
          <p:nvPr/>
        </p:nvSpPr>
        <p:spPr bwMode="auto">
          <a:xfrm rot="-5400000">
            <a:off x="3733800" y="2289175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" name="Group 16">
            <a:extLst>
              <a:ext uri="{FF2B5EF4-FFF2-40B4-BE49-F238E27FC236}">
                <a16:creationId xmlns:a16="http://schemas.microsoft.com/office/drawing/2014/main" id="{F8072839-10A2-41DF-94BB-D7C26EFF1319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3276600"/>
            <a:ext cx="1066800" cy="549275"/>
            <a:chOff x="1872" y="1968"/>
            <a:chExt cx="672" cy="346"/>
          </a:xfrm>
        </p:grpSpPr>
        <p:sp>
          <p:nvSpPr>
            <p:cNvPr id="45081" name="Freeform 17">
              <a:extLst>
                <a:ext uri="{FF2B5EF4-FFF2-40B4-BE49-F238E27FC236}">
                  <a16:creationId xmlns:a16="http://schemas.microsoft.com/office/drawing/2014/main" id="{62FCC1A6-DFD1-4B04-87AF-17AA789D5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2" y="1968"/>
              <a:ext cx="672" cy="338"/>
            </a:xfrm>
            <a:custGeom>
              <a:avLst/>
              <a:gdLst>
                <a:gd name="T0" fmla="*/ 0 w 672"/>
                <a:gd name="T1" fmla="*/ 0 h 338"/>
                <a:gd name="T2" fmla="*/ 240 w 672"/>
                <a:gd name="T3" fmla="*/ 0 h 338"/>
                <a:gd name="T4" fmla="*/ 339 w 672"/>
                <a:gd name="T5" fmla="*/ 129 h 338"/>
                <a:gd name="T6" fmla="*/ 432 w 672"/>
                <a:gd name="T7" fmla="*/ 0 h 338"/>
                <a:gd name="T8" fmla="*/ 672 w 672"/>
                <a:gd name="T9" fmla="*/ 0 h 338"/>
                <a:gd name="T10" fmla="*/ 507 w 672"/>
                <a:gd name="T11" fmla="*/ 338 h 338"/>
                <a:gd name="T12" fmla="*/ 192 w 672"/>
                <a:gd name="T13" fmla="*/ 336 h 338"/>
                <a:gd name="T14" fmla="*/ 0 w 672"/>
                <a:gd name="T15" fmla="*/ 0 h 3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2"/>
                <a:gd name="T25" fmla="*/ 0 h 338"/>
                <a:gd name="T26" fmla="*/ 672 w 672"/>
                <a:gd name="T27" fmla="*/ 338 h 33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2" h="338">
                  <a:moveTo>
                    <a:pt x="0" y="0"/>
                  </a:moveTo>
                  <a:lnTo>
                    <a:pt x="240" y="0"/>
                  </a:lnTo>
                  <a:lnTo>
                    <a:pt x="339" y="129"/>
                  </a:lnTo>
                  <a:lnTo>
                    <a:pt x="432" y="0"/>
                  </a:lnTo>
                  <a:lnTo>
                    <a:pt x="672" y="0"/>
                  </a:lnTo>
                  <a:lnTo>
                    <a:pt x="507" y="338"/>
                  </a:lnTo>
                  <a:lnTo>
                    <a:pt x="192" y="33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82" name="Text Box 18">
              <a:extLst>
                <a:ext uri="{FF2B5EF4-FFF2-40B4-BE49-F238E27FC236}">
                  <a16:creationId xmlns:a16="http://schemas.microsoft.com/office/drawing/2014/main" id="{B4C66FEB-4039-4251-ABAA-F808C87EAB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3" y="2064"/>
              <a:ext cx="4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ALU</a:t>
              </a:r>
            </a:p>
          </p:txBody>
        </p:sp>
      </p:grpSp>
      <p:grpSp>
        <p:nvGrpSpPr>
          <p:cNvPr id="5" name="Group 19">
            <a:extLst>
              <a:ext uri="{FF2B5EF4-FFF2-40B4-BE49-F238E27FC236}">
                <a16:creationId xmlns:a16="http://schemas.microsoft.com/office/drawing/2014/main" id="{EFF45AB2-EB33-4933-8681-6C2059E8D0DE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3413125"/>
            <a:ext cx="990600" cy="396875"/>
            <a:chOff x="864" y="2054"/>
            <a:chExt cx="624" cy="250"/>
          </a:xfrm>
        </p:grpSpPr>
        <p:sp>
          <p:nvSpPr>
            <p:cNvPr id="45079" name="Text Box 20">
              <a:extLst>
                <a:ext uri="{FF2B5EF4-FFF2-40B4-BE49-F238E27FC236}">
                  <a16:creationId xmlns:a16="http://schemas.microsoft.com/office/drawing/2014/main" id="{DB834F57-56A3-4576-8670-247D01E2DB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0" y="2054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IX</a:t>
              </a:r>
            </a:p>
          </p:txBody>
        </p:sp>
        <p:sp>
          <p:nvSpPr>
            <p:cNvPr id="45080" name="Rectangle 21">
              <a:extLst>
                <a:ext uri="{FF2B5EF4-FFF2-40B4-BE49-F238E27FC236}">
                  <a16:creationId xmlns:a16="http://schemas.microsoft.com/office/drawing/2014/main" id="{07310E87-FA67-4369-AE42-5AA11B7C3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064"/>
              <a:ext cx="62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8694" name="AutoShape 22">
            <a:extLst>
              <a:ext uri="{FF2B5EF4-FFF2-40B4-BE49-F238E27FC236}">
                <a16:creationId xmlns:a16="http://schemas.microsoft.com/office/drawing/2014/main" id="{3D5E3CE9-70E8-47D3-9341-B84EA3FD4553}"/>
              </a:ext>
            </a:extLst>
          </p:cNvPr>
          <p:cNvSpPr>
            <a:spLocks/>
          </p:cNvSpPr>
          <p:nvPr/>
        </p:nvSpPr>
        <p:spPr bwMode="auto">
          <a:xfrm rot="-5400000">
            <a:off x="1752600" y="3429000"/>
            <a:ext cx="228600" cy="990600"/>
          </a:xfrm>
          <a:prstGeom prst="leftBrace">
            <a:avLst>
              <a:gd name="adj1" fmla="val 36111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95" name="Line 23">
            <a:extLst>
              <a:ext uri="{FF2B5EF4-FFF2-40B4-BE49-F238E27FC236}">
                <a16:creationId xmlns:a16="http://schemas.microsoft.com/office/drawing/2014/main" id="{C0083CF1-E8C8-4F95-BCE0-F092281A839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27432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96" name="Freeform 24">
            <a:extLst>
              <a:ext uri="{FF2B5EF4-FFF2-40B4-BE49-F238E27FC236}">
                <a16:creationId xmlns:a16="http://schemas.microsoft.com/office/drawing/2014/main" id="{0859BA12-3C47-4750-A002-3DB229423869}"/>
              </a:ext>
            </a:extLst>
          </p:cNvPr>
          <p:cNvSpPr>
            <a:spLocks/>
          </p:cNvSpPr>
          <p:nvPr/>
        </p:nvSpPr>
        <p:spPr bwMode="auto">
          <a:xfrm>
            <a:off x="3505200" y="3810000"/>
            <a:ext cx="1219200" cy="228600"/>
          </a:xfrm>
          <a:custGeom>
            <a:avLst/>
            <a:gdLst>
              <a:gd name="T0" fmla="*/ 0 w 768"/>
              <a:gd name="T1" fmla="*/ 0 h 144"/>
              <a:gd name="T2" fmla="*/ 0 w 768"/>
              <a:gd name="T3" fmla="*/ 228600 h 144"/>
              <a:gd name="T4" fmla="*/ 1219200 w 768"/>
              <a:gd name="T5" fmla="*/ 228600 h 144"/>
              <a:gd name="T6" fmla="*/ 0 60000 65536"/>
              <a:gd name="T7" fmla="*/ 0 60000 65536"/>
              <a:gd name="T8" fmla="*/ 0 60000 65536"/>
              <a:gd name="T9" fmla="*/ 0 w 768"/>
              <a:gd name="T10" fmla="*/ 0 h 144"/>
              <a:gd name="T11" fmla="*/ 768 w 768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68" h="144">
                <a:moveTo>
                  <a:pt x="0" y="0"/>
                </a:moveTo>
                <a:lnTo>
                  <a:pt x="0" y="144"/>
                </a:lnTo>
                <a:lnTo>
                  <a:pt x="768" y="144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97" name="Text Box 25">
            <a:extLst>
              <a:ext uri="{FF2B5EF4-FFF2-40B4-BE49-F238E27FC236}">
                <a16:creationId xmlns:a16="http://schemas.microsoft.com/office/drawing/2014/main" id="{BD39F265-E748-4FAC-BA9F-E42DDD34E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25" y="4786313"/>
            <a:ext cx="3444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可扩大寻址范围</a:t>
            </a:r>
          </a:p>
        </p:txBody>
      </p:sp>
      <p:sp>
        <p:nvSpPr>
          <p:cNvPr id="28698" name="Text Box 26">
            <a:extLst>
              <a:ext uri="{FF2B5EF4-FFF2-40B4-BE49-F238E27FC236}">
                <a16:creationId xmlns:a16="http://schemas.microsoft.com/office/drawing/2014/main" id="{A4ABCD00-D9CE-43F9-BF9C-E6C5D0223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25" y="6248400"/>
            <a:ext cx="3825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便于处理数组问题</a:t>
            </a:r>
          </a:p>
        </p:txBody>
      </p:sp>
      <p:sp>
        <p:nvSpPr>
          <p:cNvPr id="28699" name="Text Box 27">
            <a:extLst>
              <a:ext uri="{FF2B5EF4-FFF2-40B4-BE49-F238E27FC236}">
                <a16:creationId xmlns:a16="http://schemas.microsoft.com/office/drawing/2014/main" id="{941C0545-BFFF-47E4-B736-401286CC5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25" y="5273675"/>
            <a:ext cx="7712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IX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的内容由用户给定 </a:t>
            </a:r>
          </a:p>
        </p:txBody>
      </p:sp>
      <p:sp>
        <p:nvSpPr>
          <p:cNvPr id="28700" name="Text Box 28">
            <a:extLst>
              <a:ext uri="{FF2B5EF4-FFF2-40B4-BE49-F238E27FC236}">
                <a16:creationId xmlns:a16="http://schemas.microsoft.com/office/drawing/2014/main" id="{CA41BBBB-310B-41B1-A487-45EDEB2DB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838200"/>
            <a:ext cx="510540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IX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为变址寄存器（专用）</a:t>
            </a:r>
          </a:p>
        </p:txBody>
      </p:sp>
      <p:sp>
        <p:nvSpPr>
          <p:cNvPr id="28701" name="Text Box 29">
            <a:extLst>
              <a:ext uri="{FF2B5EF4-FFF2-40B4-BE49-F238E27FC236}">
                <a16:creationId xmlns:a16="http://schemas.microsoft.com/office/drawing/2014/main" id="{279E0338-0F4D-4393-A5CB-D7230110F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25" y="5761038"/>
            <a:ext cx="7712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在程序的执行过程中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IX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内容可变，形式地址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不变</a:t>
            </a:r>
          </a:p>
        </p:txBody>
      </p:sp>
      <p:sp>
        <p:nvSpPr>
          <p:cNvPr id="28702" name="Freeform 30">
            <a:extLst>
              <a:ext uri="{FF2B5EF4-FFF2-40B4-BE49-F238E27FC236}">
                <a16:creationId xmlns:a16="http://schemas.microsoft.com/office/drawing/2014/main" id="{15BFEBB1-8583-4436-87DF-A43761ECD8E3}"/>
              </a:ext>
            </a:extLst>
          </p:cNvPr>
          <p:cNvSpPr>
            <a:spLocks/>
          </p:cNvSpPr>
          <p:nvPr/>
        </p:nvSpPr>
        <p:spPr bwMode="auto">
          <a:xfrm>
            <a:off x="1863725" y="2971800"/>
            <a:ext cx="1295400" cy="1524000"/>
          </a:xfrm>
          <a:custGeom>
            <a:avLst/>
            <a:gdLst>
              <a:gd name="T0" fmla="*/ 0 w 816"/>
              <a:gd name="T1" fmla="*/ 1143000 h 960"/>
              <a:gd name="T2" fmla="*/ 0 w 816"/>
              <a:gd name="T3" fmla="*/ 1524000 h 960"/>
              <a:gd name="T4" fmla="*/ 838200 w 816"/>
              <a:gd name="T5" fmla="*/ 1524000 h 960"/>
              <a:gd name="T6" fmla="*/ 838200 w 816"/>
              <a:gd name="T7" fmla="*/ 0 h 960"/>
              <a:gd name="T8" fmla="*/ 1295400 w 816"/>
              <a:gd name="T9" fmla="*/ 0 h 960"/>
              <a:gd name="T10" fmla="*/ 1295400 w 816"/>
              <a:gd name="T11" fmla="*/ 304800 h 9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16"/>
              <a:gd name="T19" fmla="*/ 0 h 960"/>
              <a:gd name="T20" fmla="*/ 816 w 816"/>
              <a:gd name="T21" fmla="*/ 960 h 9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16" h="960">
                <a:moveTo>
                  <a:pt x="0" y="720"/>
                </a:moveTo>
                <a:lnTo>
                  <a:pt x="0" y="960"/>
                </a:lnTo>
                <a:lnTo>
                  <a:pt x="528" y="960"/>
                </a:lnTo>
                <a:lnTo>
                  <a:pt x="528" y="0"/>
                </a:lnTo>
                <a:lnTo>
                  <a:pt x="816" y="0"/>
                </a:lnTo>
                <a:lnTo>
                  <a:pt x="816" y="192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703" name="Text Box 31">
            <a:extLst>
              <a:ext uri="{FF2B5EF4-FFF2-40B4-BE49-F238E27FC236}">
                <a16:creationId xmlns:a16="http://schemas.microsoft.com/office/drawing/2014/main" id="{EE5AB6A3-4974-40B1-992F-12EBCA8A9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295400"/>
            <a:ext cx="510540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通用寄存器也可以作为变址寄存器</a:t>
            </a:r>
          </a:p>
        </p:txBody>
      </p:sp>
    </p:spTree>
    <p:extLst>
      <p:ext uri="{BB962C8B-B14F-4D97-AF65-F5344CB8AC3E}">
        <p14:creationId xmlns:p14="http://schemas.microsoft.com/office/powerpoint/2010/main" val="344167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2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2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6" dur="500"/>
                                        <p:tgtEl>
                                          <p:spTgt spid="2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1" dur="500"/>
                                        <p:tgtEl>
                                          <p:spTgt spid="2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2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2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autoUpdateAnimBg="0"/>
      <p:bldP spid="28685" grpId="0" animBg="1"/>
      <p:bldP spid="28686" grpId="0" autoUpdateAnimBg="0"/>
      <p:bldP spid="28687" grpId="0" animBg="1"/>
      <p:bldP spid="28694" grpId="0" animBg="1"/>
      <p:bldP spid="28697" grpId="0" autoUpdateAnimBg="0"/>
      <p:bldP spid="28698" grpId="0" autoUpdateAnimBg="0"/>
      <p:bldP spid="28699" grpId="0" autoUpdateAnimBg="0"/>
      <p:bldP spid="28700" grpId="0" autoUpdateAnimBg="0"/>
      <p:bldP spid="28701" grpId="0" autoUpdateAnimBg="0"/>
      <p:bldP spid="28703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>
            <a:extLst>
              <a:ext uri="{FF2B5EF4-FFF2-40B4-BE49-F238E27FC236}">
                <a16:creationId xmlns:a16="http://schemas.microsoft.com/office/drawing/2014/main" id="{DC4AF9E5-0769-4426-9DC9-A2858CC85E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96850"/>
            <a:ext cx="7572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 </a:t>
            </a:r>
          </a:p>
        </p:txBody>
      </p:sp>
      <p:sp>
        <p:nvSpPr>
          <p:cNvPr id="29699" name="Text Box 3">
            <a:extLst>
              <a:ext uri="{FF2B5EF4-FFF2-40B4-BE49-F238E27FC236}">
                <a16:creationId xmlns:a16="http://schemas.microsoft.com/office/drawing/2014/main" id="{858B13E3-8413-426F-87C3-6FA46723B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42888"/>
            <a:ext cx="668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设数据块首地址为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，求 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个数的平均值</a:t>
            </a:r>
          </a:p>
        </p:txBody>
      </p:sp>
      <p:sp>
        <p:nvSpPr>
          <p:cNvPr id="29700" name="Text Box 4">
            <a:extLst>
              <a:ext uri="{FF2B5EF4-FFF2-40B4-BE49-F238E27FC236}">
                <a16:creationId xmlns:a16="http://schemas.microsoft.com/office/drawing/2014/main" id="{86F36261-0EFE-4D8F-8EBB-BA1EB9967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66800"/>
            <a:ext cx="2089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直接寻址</a:t>
            </a:r>
          </a:p>
        </p:txBody>
      </p:sp>
      <p:sp>
        <p:nvSpPr>
          <p:cNvPr id="29701" name="Text Box 5">
            <a:extLst>
              <a:ext uri="{FF2B5EF4-FFF2-40B4-BE49-F238E27FC236}">
                <a16:creationId xmlns:a16="http://schemas.microsoft.com/office/drawing/2014/main" id="{A2A8B07C-018D-41D5-91CA-A2B01E371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1066800"/>
            <a:ext cx="2306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变址寻址</a:t>
            </a:r>
          </a:p>
        </p:txBody>
      </p:sp>
      <p:sp>
        <p:nvSpPr>
          <p:cNvPr id="29702" name="Text Box 6">
            <a:extLst>
              <a:ext uri="{FF2B5EF4-FFF2-40B4-BE49-F238E27FC236}">
                <a16:creationId xmlns:a16="http://schemas.microsoft.com/office/drawing/2014/main" id="{89B98985-1A8A-414C-8404-5994DD2DC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631950"/>
            <a:ext cx="15478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LDA    D</a:t>
            </a:r>
          </a:p>
        </p:txBody>
      </p:sp>
      <p:sp>
        <p:nvSpPr>
          <p:cNvPr id="29703" name="Text Box 7">
            <a:extLst>
              <a:ext uri="{FF2B5EF4-FFF2-40B4-BE49-F238E27FC236}">
                <a16:creationId xmlns:a16="http://schemas.microsoft.com/office/drawing/2014/main" id="{798E6D97-C1B1-4383-81B6-77E259E8A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209800"/>
            <a:ext cx="2127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ADD    D + 1</a:t>
            </a:r>
          </a:p>
        </p:txBody>
      </p:sp>
      <p:sp>
        <p:nvSpPr>
          <p:cNvPr id="29704" name="Text Box 8">
            <a:extLst>
              <a:ext uri="{FF2B5EF4-FFF2-40B4-BE49-F238E27FC236}">
                <a16:creationId xmlns:a16="http://schemas.microsoft.com/office/drawing/2014/main" id="{AB0B3AEA-ED51-471B-83AF-2B2DFEAD0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789238"/>
            <a:ext cx="2127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ADD    D + 2</a:t>
            </a:r>
          </a:p>
        </p:txBody>
      </p:sp>
      <p:sp>
        <p:nvSpPr>
          <p:cNvPr id="29705" name="Text Box 9">
            <a:extLst>
              <a:ext uri="{FF2B5EF4-FFF2-40B4-BE49-F238E27FC236}">
                <a16:creationId xmlns:a16="http://schemas.microsoft.com/office/drawing/2014/main" id="{65919137-AD3A-4AF5-B47F-545E975072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663" y="3641725"/>
            <a:ext cx="611187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</a:p>
        </p:txBody>
      </p:sp>
      <p:sp>
        <p:nvSpPr>
          <p:cNvPr id="29706" name="Text Box 10">
            <a:extLst>
              <a:ext uri="{FF2B5EF4-FFF2-40B4-BE49-F238E27FC236}">
                <a16:creationId xmlns:a16="http://schemas.microsoft.com/office/drawing/2014/main" id="{72F77F5D-9342-4CF2-BDDF-E43D7EECC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352925"/>
            <a:ext cx="30083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ADD    D + ( N -1 )</a:t>
            </a:r>
          </a:p>
        </p:txBody>
      </p:sp>
      <p:sp>
        <p:nvSpPr>
          <p:cNvPr id="29707" name="Text Box 11">
            <a:extLst>
              <a:ext uri="{FF2B5EF4-FFF2-40B4-BE49-F238E27FC236}">
                <a16:creationId xmlns:a16="http://schemas.microsoft.com/office/drawing/2014/main" id="{5CB4834A-0B98-4BC0-ADF7-A04B1159C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897438"/>
            <a:ext cx="1893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DIV      # N</a:t>
            </a:r>
          </a:p>
        </p:txBody>
      </p:sp>
      <p:sp>
        <p:nvSpPr>
          <p:cNvPr id="29708" name="Text Box 12">
            <a:extLst>
              <a:ext uri="{FF2B5EF4-FFF2-40B4-BE49-F238E27FC236}">
                <a16:creationId xmlns:a16="http://schemas.microsoft.com/office/drawing/2014/main" id="{3C5179B4-B3A9-4652-8359-DC9DD5FC1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441950"/>
            <a:ext cx="2033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STA     ANS</a:t>
            </a:r>
          </a:p>
        </p:txBody>
      </p:sp>
      <p:sp>
        <p:nvSpPr>
          <p:cNvPr id="29709" name="Text Box 13">
            <a:extLst>
              <a:ext uri="{FF2B5EF4-FFF2-40B4-BE49-F238E27FC236}">
                <a16:creationId xmlns:a16="http://schemas.microsoft.com/office/drawing/2014/main" id="{52767CDC-1AF2-4B5B-9C76-2961F4EFF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1631950"/>
            <a:ext cx="1824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LDA     # 0</a:t>
            </a:r>
          </a:p>
        </p:txBody>
      </p:sp>
      <p:sp>
        <p:nvSpPr>
          <p:cNvPr id="29710" name="Text Box 14">
            <a:extLst>
              <a:ext uri="{FF2B5EF4-FFF2-40B4-BE49-F238E27FC236}">
                <a16:creationId xmlns:a16="http://schemas.microsoft.com/office/drawing/2014/main" id="{D827F7E0-BDE0-4FAA-8843-E799144F5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2174875"/>
            <a:ext cx="1824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LDX     # 0</a:t>
            </a:r>
          </a:p>
        </p:txBody>
      </p:sp>
      <p:sp>
        <p:nvSpPr>
          <p:cNvPr id="29711" name="Text Box 15">
            <a:extLst>
              <a:ext uri="{FF2B5EF4-FFF2-40B4-BE49-F238E27FC236}">
                <a16:creationId xmlns:a16="http://schemas.microsoft.com/office/drawing/2014/main" id="{59402469-1368-46ED-8B23-E2ED7FE00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3263900"/>
            <a:ext cx="836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INX</a:t>
            </a:r>
          </a:p>
        </p:txBody>
      </p:sp>
      <p:sp>
        <p:nvSpPr>
          <p:cNvPr id="29712" name="Text Box 16">
            <a:extLst>
              <a:ext uri="{FF2B5EF4-FFF2-40B4-BE49-F238E27FC236}">
                <a16:creationId xmlns:a16="http://schemas.microsoft.com/office/drawing/2014/main" id="{475CC0DC-07EB-4D0F-A583-5D4BA1590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3808413"/>
            <a:ext cx="1973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CPX      # N</a:t>
            </a:r>
          </a:p>
        </p:txBody>
      </p:sp>
      <p:sp>
        <p:nvSpPr>
          <p:cNvPr id="29713" name="Text Box 17">
            <a:extLst>
              <a:ext uri="{FF2B5EF4-FFF2-40B4-BE49-F238E27FC236}">
                <a16:creationId xmlns:a16="http://schemas.microsoft.com/office/drawing/2014/main" id="{03E7A427-E29E-4106-B1D2-C26925700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4352925"/>
            <a:ext cx="17827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BNE      M</a:t>
            </a:r>
          </a:p>
        </p:txBody>
      </p:sp>
      <p:sp>
        <p:nvSpPr>
          <p:cNvPr id="29714" name="Text Box 18">
            <a:extLst>
              <a:ext uri="{FF2B5EF4-FFF2-40B4-BE49-F238E27FC236}">
                <a16:creationId xmlns:a16="http://schemas.microsoft.com/office/drawing/2014/main" id="{1AAE9D52-8559-44D6-A5B1-8802C7B3C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4897438"/>
            <a:ext cx="19827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DIV       # N</a:t>
            </a:r>
          </a:p>
        </p:txBody>
      </p:sp>
      <p:sp>
        <p:nvSpPr>
          <p:cNvPr id="29715" name="Text Box 19">
            <a:extLst>
              <a:ext uri="{FF2B5EF4-FFF2-40B4-BE49-F238E27FC236}">
                <a16:creationId xmlns:a16="http://schemas.microsoft.com/office/drawing/2014/main" id="{887703D0-C94B-4157-BA2B-FF3A16085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5441950"/>
            <a:ext cx="21224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STA      ANS</a:t>
            </a:r>
          </a:p>
        </p:txBody>
      </p:sp>
      <p:sp>
        <p:nvSpPr>
          <p:cNvPr id="29716" name="Text Box 20">
            <a:extLst>
              <a:ext uri="{FF2B5EF4-FFF2-40B4-BE49-F238E27FC236}">
                <a16:creationId xmlns:a16="http://schemas.microsoft.com/office/drawing/2014/main" id="{4A8A04A5-44D9-4BDE-B41C-B197DCF8A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989638"/>
            <a:ext cx="2606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共 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+ 2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条指令</a:t>
            </a:r>
          </a:p>
        </p:txBody>
      </p:sp>
      <p:sp>
        <p:nvSpPr>
          <p:cNvPr id="29717" name="Text Box 21">
            <a:extLst>
              <a:ext uri="{FF2B5EF4-FFF2-40B4-BE49-F238E27FC236}">
                <a16:creationId xmlns:a16="http://schemas.microsoft.com/office/drawing/2014/main" id="{BD923350-579F-4076-8DFE-0359F9BA1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5989638"/>
            <a:ext cx="25225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共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条指令</a:t>
            </a:r>
          </a:p>
        </p:txBody>
      </p:sp>
      <p:sp>
        <p:nvSpPr>
          <p:cNvPr id="29718" name="Text Box 22">
            <a:extLst>
              <a:ext uri="{FF2B5EF4-FFF2-40B4-BE49-F238E27FC236}">
                <a16:creationId xmlns:a16="http://schemas.microsoft.com/office/drawing/2014/main" id="{39698738-C26D-4BC4-990F-25CF99922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2719388"/>
            <a:ext cx="2092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ADD     X, D</a:t>
            </a:r>
          </a:p>
        </p:txBody>
      </p:sp>
      <p:sp>
        <p:nvSpPr>
          <p:cNvPr id="29719" name="Text Box 23">
            <a:extLst>
              <a:ext uri="{FF2B5EF4-FFF2-40B4-BE49-F238E27FC236}">
                <a16:creationId xmlns:a16="http://schemas.microsoft.com/office/drawing/2014/main" id="{CA4D7DE4-F780-47DE-A004-1124F19C1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713038"/>
            <a:ext cx="519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</a:p>
        </p:txBody>
      </p:sp>
      <p:sp>
        <p:nvSpPr>
          <p:cNvPr id="29720" name="Freeform 24">
            <a:extLst>
              <a:ext uri="{FF2B5EF4-FFF2-40B4-BE49-F238E27FC236}">
                <a16:creationId xmlns:a16="http://schemas.microsoft.com/office/drawing/2014/main" id="{609DA4DE-094C-48AA-967F-5AC8B325078C}"/>
              </a:ext>
            </a:extLst>
          </p:cNvPr>
          <p:cNvSpPr>
            <a:spLocks/>
          </p:cNvSpPr>
          <p:nvPr/>
        </p:nvSpPr>
        <p:spPr bwMode="auto">
          <a:xfrm>
            <a:off x="3810000" y="3003550"/>
            <a:ext cx="533400" cy="1600200"/>
          </a:xfrm>
          <a:custGeom>
            <a:avLst/>
            <a:gdLst>
              <a:gd name="T0" fmla="*/ 533400 w 336"/>
              <a:gd name="T1" fmla="*/ 1600200 h 1008"/>
              <a:gd name="T2" fmla="*/ 0 w 336"/>
              <a:gd name="T3" fmla="*/ 1600200 h 1008"/>
              <a:gd name="T4" fmla="*/ 0 w 336"/>
              <a:gd name="T5" fmla="*/ 0 h 1008"/>
              <a:gd name="T6" fmla="*/ 190500 w 336"/>
              <a:gd name="T7" fmla="*/ 0 h 1008"/>
              <a:gd name="T8" fmla="*/ 0 60000 65536"/>
              <a:gd name="T9" fmla="*/ 0 60000 65536"/>
              <a:gd name="T10" fmla="*/ 0 60000 65536"/>
              <a:gd name="T11" fmla="*/ 0 60000 65536"/>
              <a:gd name="T12" fmla="*/ 0 w 336"/>
              <a:gd name="T13" fmla="*/ 0 h 1008"/>
              <a:gd name="T14" fmla="*/ 336 w 336"/>
              <a:gd name="T15" fmla="*/ 1008 h 10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36" h="1008">
                <a:moveTo>
                  <a:pt x="336" y="1008"/>
                </a:moveTo>
                <a:lnTo>
                  <a:pt x="0" y="1008"/>
                </a:lnTo>
                <a:lnTo>
                  <a:pt x="0" y="0"/>
                </a:lnTo>
                <a:lnTo>
                  <a:pt x="12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21" name="Text Box 25">
            <a:extLst>
              <a:ext uri="{FF2B5EF4-FFF2-40B4-BE49-F238E27FC236}">
                <a16:creationId xmlns:a16="http://schemas.microsoft.com/office/drawing/2014/main" id="{0149B27B-B560-4E57-8895-FE6180EAF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241550"/>
            <a:ext cx="2209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为变址寄存器</a:t>
            </a:r>
          </a:p>
        </p:txBody>
      </p:sp>
      <p:sp>
        <p:nvSpPr>
          <p:cNvPr id="29722" name="Text Box 26">
            <a:extLst>
              <a:ext uri="{FF2B5EF4-FFF2-40B4-BE49-F238E27FC236}">
                <a16:creationId xmlns:a16="http://schemas.microsoft.com/office/drawing/2014/main" id="{9B4CCCA3-7FF8-4375-8949-BE9ED51D7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759075"/>
            <a:ext cx="2209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为形式地址</a:t>
            </a:r>
          </a:p>
        </p:txBody>
      </p:sp>
      <p:sp>
        <p:nvSpPr>
          <p:cNvPr id="29723" name="Text Box 27">
            <a:extLst>
              <a:ext uri="{FF2B5EF4-FFF2-40B4-BE49-F238E27FC236}">
                <a16:creationId xmlns:a16="http://schemas.microsoft.com/office/drawing/2014/main" id="{223CCAE6-5A9A-4567-90BD-4CE13857B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902075"/>
            <a:ext cx="2209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(X)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 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比较</a:t>
            </a:r>
          </a:p>
        </p:txBody>
      </p:sp>
      <p:grpSp>
        <p:nvGrpSpPr>
          <p:cNvPr id="2" name="Group 28">
            <a:extLst>
              <a:ext uri="{FF2B5EF4-FFF2-40B4-BE49-F238E27FC236}">
                <a16:creationId xmlns:a16="http://schemas.microsoft.com/office/drawing/2014/main" id="{B2F0651A-719B-4269-BFEC-B387ADFC9405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3308350"/>
            <a:ext cx="2209800" cy="396875"/>
            <a:chOff x="4224" y="2112"/>
            <a:chExt cx="1392" cy="250"/>
          </a:xfrm>
        </p:grpSpPr>
        <p:sp>
          <p:nvSpPr>
            <p:cNvPr id="46112" name="Text Box 29">
              <a:extLst>
                <a:ext uri="{FF2B5EF4-FFF2-40B4-BE49-F238E27FC236}">
                  <a16:creationId xmlns:a16="http://schemas.microsoft.com/office/drawing/2014/main" id="{467D3FFF-C4EC-48D2-BAFF-402CCE357C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112"/>
              <a:ext cx="13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(X) +1      X</a:t>
              </a:r>
            </a:p>
          </p:txBody>
        </p:sp>
        <p:sp>
          <p:nvSpPr>
            <p:cNvPr id="46113" name="Line 30">
              <a:extLst>
                <a:ext uri="{FF2B5EF4-FFF2-40B4-BE49-F238E27FC236}">
                  <a16:creationId xmlns:a16="http://schemas.microsoft.com/office/drawing/2014/main" id="{6E3D9F70-612A-4AB6-98F2-6F68E380A6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3" y="2221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727" name="Text Box 31">
            <a:extLst>
              <a:ext uri="{FF2B5EF4-FFF2-40B4-BE49-F238E27FC236}">
                <a16:creationId xmlns:a16="http://schemas.microsoft.com/office/drawing/2014/main" id="{BA9F4F5E-09D2-47FB-960D-587BC8FF3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4435475"/>
            <a:ext cx="2209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结果不为零则转</a:t>
            </a:r>
          </a:p>
        </p:txBody>
      </p:sp>
    </p:spTree>
    <p:extLst>
      <p:ext uri="{BB962C8B-B14F-4D97-AF65-F5344CB8AC3E}">
        <p14:creationId xmlns:p14="http://schemas.microsoft.com/office/powerpoint/2010/main" val="1669393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2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12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2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29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autoUpdateAnimBg="0"/>
      <p:bldP spid="29700" grpId="0" autoUpdateAnimBg="0"/>
      <p:bldP spid="29701" grpId="0" autoUpdateAnimBg="0"/>
      <p:bldP spid="29702" grpId="0" autoUpdateAnimBg="0"/>
      <p:bldP spid="29703" grpId="0" autoUpdateAnimBg="0"/>
      <p:bldP spid="29704" grpId="0" autoUpdateAnimBg="0"/>
      <p:bldP spid="29705" grpId="0" autoUpdateAnimBg="0"/>
      <p:bldP spid="29706" grpId="0" autoUpdateAnimBg="0"/>
      <p:bldP spid="29707" grpId="0" autoUpdateAnimBg="0"/>
      <p:bldP spid="29708" grpId="0" autoUpdateAnimBg="0"/>
      <p:bldP spid="29709" grpId="0" autoUpdateAnimBg="0"/>
      <p:bldP spid="29710" grpId="0" autoUpdateAnimBg="0"/>
      <p:bldP spid="29711" grpId="0" autoUpdateAnimBg="0"/>
      <p:bldP spid="29712" grpId="0" autoUpdateAnimBg="0"/>
      <p:bldP spid="29713" grpId="0" autoUpdateAnimBg="0"/>
      <p:bldP spid="29714" grpId="0" autoUpdateAnimBg="0"/>
      <p:bldP spid="29715" grpId="0" autoUpdateAnimBg="0"/>
      <p:bldP spid="29716" grpId="0" autoUpdateAnimBg="0"/>
      <p:bldP spid="29717" grpId="0" autoUpdateAnimBg="0"/>
      <p:bldP spid="29718" grpId="0"/>
      <p:bldP spid="29719" grpId="0"/>
      <p:bldP spid="29721" grpId="0" autoUpdateAnimBg="0"/>
      <p:bldP spid="29722" grpId="0" autoUpdateAnimBg="0"/>
      <p:bldP spid="29723" grpId="0" autoUpdateAnimBg="0"/>
      <p:bldP spid="29727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>
            <a:extLst>
              <a:ext uri="{FF2B5EF4-FFF2-40B4-BE49-F238E27FC236}">
                <a16:creationId xmlns:a16="http://schemas.microsoft.com/office/drawing/2014/main" id="{C077362F-0468-4C70-A89A-957B4ACCE0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6200"/>
            <a:ext cx="3394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相对寻址</a:t>
            </a:r>
          </a:p>
        </p:txBody>
      </p:sp>
      <p:sp>
        <p:nvSpPr>
          <p:cNvPr id="30723" name="Text Box 3">
            <a:extLst>
              <a:ext uri="{FF2B5EF4-FFF2-40B4-BE49-F238E27FC236}">
                <a16:creationId xmlns:a16="http://schemas.microsoft.com/office/drawing/2014/main" id="{4F20281D-D8F9-49D4-9FE6-244836F6E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450" y="660400"/>
            <a:ext cx="231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EA = ( PC ) + A</a:t>
            </a:r>
          </a:p>
        </p:txBody>
      </p:sp>
      <p:sp>
        <p:nvSpPr>
          <p:cNvPr id="30724" name="Text Box 4">
            <a:extLst>
              <a:ext uri="{FF2B5EF4-FFF2-40B4-BE49-F238E27FC236}">
                <a16:creationId xmlns:a16="http://schemas.microsoft.com/office/drawing/2014/main" id="{8D324497-EEC9-4D6B-848D-04331CB02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450" y="1143000"/>
            <a:ext cx="6915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是相对于当前指令的位移量（可正可负，补码）</a:t>
            </a:r>
          </a:p>
        </p:txBody>
      </p:sp>
      <p:sp>
        <p:nvSpPr>
          <p:cNvPr id="30725" name="Text Box 5">
            <a:extLst>
              <a:ext uri="{FF2B5EF4-FFF2-40B4-BE49-F238E27FC236}">
                <a16:creationId xmlns:a16="http://schemas.microsoft.com/office/drawing/2014/main" id="{CDD61913-BC8E-45CF-9F0B-C1CA13D3D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5257800"/>
            <a:ext cx="42767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A </a:t>
            </a: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的位数决定操作数的寻址范围</a:t>
            </a:r>
          </a:p>
        </p:txBody>
      </p:sp>
      <p:sp>
        <p:nvSpPr>
          <p:cNvPr id="30726" name="Text Box 6">
            <a:extLst>
              <a:ext uri="{FF2B5EF4-FFF2-40B4-BE49-F238E27FC236}">
                <a16:creationId xmlns:a16="http://schemas.microsoft.com/office/drawing/2014/main" id="{F1AA6493-6BE9-48D5-9845-BC522FCB4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5729288"/>
            <a:ext cx="14763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程序浮动</a:t>
            </a:r>
          </a:p>
        </p:txBody>
      </p:sp>
      <p:sp>
        <p:nvSpPr>
          <p:cNvPr id="30727" name="Text Box 7">
            <a:extLst>
              <a:ext uri="{FF2B5EF4-FFF2-40B4-BE49-F238E27FC236}">
                <a16:creationId xmlns:a16="http://schemas.microsoft.com/office/drawing/2014/main" id="{ABB60949-7916-46AC-8067-D34D1EB38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6202363"/>
            <a:ext cx="26003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SzTx/>
              <a:buFontTx/>
              <a:buChar char="•"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广泛用于转移指令</a:t>
            </a:r>
          </a:p>
        </p:txBody>
      </p:sp>
      <p:sp>
        <p:nvSpPr>
          <p:cNvPr id="30728" name="Rectangle 8">
            <a:extLst>
              <a:ext uri="{FF2B5EF4-FFF2-40B4-BE49-F238E27FC236}">
                <a16:creationId xmlns:a16="http://schemas.microsoft.com/office/drawing/2014/main" id="{4D2E0CA9-0FF4-4CCE-AB15-FB02193DF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8650" y="4343400"/>
            <a:ext cx="1752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操作数</a:t>
            </a:r>
          </a:p>
        </p:txBody>
      </p:sp>
      <p:sp>
        <p:nvSpPr>
          <p:cNvPr id="30729" name="AutoShape 9">
            <a:extLst>
              <a:ext uri="{FF2B5EF4-FFF2-40B4-BE49-F238E27FC236}">
                <a16:creationId xmlns:a16="http://schemas.microsoft.com/office/drawing/2014/main" id="{781ECE27-1321-4DF2-B108-43C9DFDDCFFB}"/>
              </a:ext>
            </a:extLst>
          </p:cNvPr>
          <p:cNvSpPr>
            <a:spLocks/>
          </p:cNvSpPr>
          <p:nvPr/>
        </p:nvSpPr>
        <p:spPr bwMode="auto">
          <a:xfrm rot="5400000">
            <a:off x="3727450" y="1676400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30" name="Text Box 10">
            <a:extLst>
              <a:ext uri="{FF2B5EF4-FFF2-40B4-BE49-F238E27FC236}">
                <a16:creationId xmlns:a16="http://schemas.microsoft.com/office/drawing/2014/main" id="{F1D9E4C2-CBD5-49AB-A492-64FB26622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8175" y="1600200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寻址特征</a:t>
            </a: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CD606A64-EECC-4A80-B392-EB63AF1CF165}"/>
              </a:ext>
            </a:extLst>
          </p:cNvPr>
          <p:cNvGrpSpPr>
            <a:grpSpLocks/>
          </p:cNvGrpSpPr>
          <p:nvPr/>
        </p:nvGrpSpPr>
        <p:grpSpPr bwMode="auto">
          <a:xfrm>
            <a:off x="3803650" y="3654425"/>
            <a:ext cx="1066800" cy="552450"/>
            <a:chOff x="2396" y="2302"/>
            <a:chExt cx="672" cy="348"/>
          </a:xfrm>
        </p:grpSpPr>
        <p:sp>
          <p:nvSpPr>
            <p:cNvPr id="47150" name="Freeform 12">
              <a:extLst>
                <a:ext uri="{FF2B5EF4-FFF2-40B4-BE49-F238E27FC236}">
                  <a16:creationId xmlns:a16="http://schemas.microsoft.com/office/drawing/2014/main" id="{33B12A89-A358-4748-93E0-30AB971E5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6" y="2302"/>
              <a:ext cx="672" cy="338"/>
            </a:xfrm>
            <a:custGeom>
              <a:avLst/>
              <a:gdLst>
                <a:gd name="T0" fmla="*/ 0 w 672"/>
                <a:gd name="T1" fmla="*/ 0 h 338"/>
                <a:gd name="T2" fmla="*/ 240 w 672"/>
                <a:gd name="T3" fmla="*/ 0 h 338"/>
                <a:gd name="T4" fmla="*/ 339 w 672"/>
                <a:gd name="T5" fmla="*/ 129 h 338"/>
                <a:gd name="T6" fmla="*/ 432 w 672"/>
                <a:gd name="T7" fmla="*/ 0 h 338"/>
                <a:gd name="T8" fmla="*/ 672 w 672"/>
                <a:gd name="T9" fmla="*/ 0 h 338"/>
                <a:gd name="T10" fmla="*/ 507 w 672"/>
                <a:gd name="T11" fmla="*/ 338 h 338"/>
                <a:gd name="T12" fmla="*/ 192 w 672"/>
                <a:gd name="T13" fmla="*/ 336 h 338"/>
                <a:gd name="T14" fmla="*/ 0 w 672"/>
                <a:gd name="T15" fmla="*/ 0 h 3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2"/>
                <a:gd name="T25" fmla="*/ 0 h 338"/>
                <a:gd name="T26" fmla="*/ 672 w 672"/>
                <a:gd name="T27" fmla="*/ 338 h 33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2" h="338">
                  <a:moveTo>
                    <a:pt x="0" y="0"/>
                  </a:moveTo>
                  <a:lnTo>
                    <a:pt x="240" y="0"/>
                  </a:lnTo>
                  <a:lnTo>
                    <a:pt x="339" y="129"/>
                  </a:lnTo>
                  <a:lnTo>
                    <a:pt x="432" y="0"/>
                  </a:lnTo>
                  <a:lnTo>
                    <a:pt x="672" y="0"/>
                  </a:lnTo>
                  <a:lnTo>
                    <a:pt x="507" y="338"/>
                  </a:lnTo>
                  <a:lnTo>
                    <a:pt x="192" y="33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151" name="Text Box 13">
              <a:extLst>
                <a:ext uri="{FF2B5EF4-FFF2-40B4-BE49-F238E27FC236}">
                  <a16:creationId xmlns:a16="http://schemas.microsoft.com/office/drawing/2014/main" id="{42493C47-422A-4465-A3B7-AA52262451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7" y="2400"/>
              <a:ext cx="4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ALU</a:t>
              </a:r>
            </a:p>
          </p:txBody>
        </p:sp>
      </p:grpSp>
      <p:grpSp>
        <p:nvGrpSpPr>
          <p:cNvPr id="3" name="Group 14">
            <a:extLst>
              <a:ext uri="{FF2B5EF4-FFF2-40B4-BE49-F238E27FC236}">
                <a16:creationId xmlns:a16="http://schemas.microsoft.com/office/drawing/2014/main" id="{3040BA49-EC1E-45CB-94FF-AE9B8BE9FC7D}"/>
              </a:ext>
            </a:extLst>
          </p:cNvPr>
          <p:cNvGrpSpPr>
            <a:grpSpLocks/>
          </p:cNvGrpSpPr>
          <p:nvPr/>
        </p:nvGrpSpPr>
        <p:grpSpPr bwMode="auto">
          <a:xfrm>
            <a:off x="2660650" y="2133600"/>
            <a:ext cx="2368550" cy="381000"/>
            <a:chOff x="1676" y="1344"/>
            <a:chExt cx="1492" cy="240"/>
          </a:xfrm>
        </p:grpSpPr>
        <p:sp>
          <p:nvSpPr>
            <p:cNvPr id="47147" name="Rectangle 15">
              <a:extLst>
                <a:ext uri="{FF2B5EF4-FFF2-40B4-BE49-F238E27FC236}">
                  <a16:creationId xmlns:a16="http://schemas.microsoft.com/office/drawing/2014/main" id="{54166B15-D47A-4ECC-9FD6-89BD659B6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" y="1344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OP</a:t>
              </a:r>
            </a:p>
          </p:txBody>
        </p:sp>
        <p:sp>
          <p:nvSpPr>
            <p:cNvPr id="47148" name="Rectangle 16">
              <a:extLst>
                <a:ext uri="{FF2B5EF4-FFF2-40B4-BE49-F238E27FC236}">
                  <a16:creationId xmlns:a16="http://schemas.microsoft.com/office/drawing/2014/main" id="{65AA792F-52E9-446F-AFBD-DC7B26058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6" y="1344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149" name="Rectangle 17">
              <a:extLst>
                <a:ext uri="{FF2B5EF4-FFF2-40B4-BE49-F238E27FC236}">
                  <a16:creationId xmlns:a16="http://schemas.microsoft.com/office/drawing/2014/main" id="{5D3C2DC9-148F-42B3-9479-8499A1639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344"/>
              <a:ext cx="528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</p:grpSp>
      <p:sp>
        <p:nvSpPr>
          <p:cNvPr id="30738" name="Freeform 18">
            <a:extLst>
              <a:ext uri="{FF2B5EF4-FFF2-40B4-BE49-F238E27FC236}">
                <a16:creationId xmlns:a16="http://schemas.microsoft.com/office/drawing/2014/main" id="{F9395B88-F9BE-443B-8FDE-2E3EEDF898AD}"/>
              </a:ext>
            </a:extLst>
          </p:cNvPr>
          <p:cNvSpPr>
            <a:spLocks/>
          </p:cNvSpPr>
          <p:nvPr/>
        </p:nvSpPr>
        <p:spPr bwMode="auto">
          <a:xfrm>
            <a:off x="4614863" y="2730500"/>
            <a:ext cx="1587" cy="889000"/>
          </a:xfrm>
          <a:custGeom>
            <a:avLst/>
            <a:gdLst>
              <a:gd name="T0" fmla="*/ 1587 w 1"/>
              <a:gd name="T1" fmla="*/ 0 h 560"/>
              <a:gd name="T2" fmla="*/ 0 w 1"/>
              <a:gd name="T3" fmla="*/ 889000 h 560"/>
              <a:gd name="T4" fmla="*/ 0 60000 65536"/>
              <a:gd name="T5" fmla="*/ 0 60000 65536"/>
              <a:gd name="T6" fmla="*/ 0 w 1"/>
              <a:gd name="T7" fmla="*/ 0 h 560"/>
              <a:gd name="T8" fmla="*/ 1 w 1"/>
              <a:gd name="T9" fmla="*/ 560 h 56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60">
                <a:moveTo>
                  <a:pt x="1" y="0"/>
                </a:moveTo>
                <a:lnTo>
                  <a:pt x="0" y="56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39" name="Freeform 19">
            <a:extLst>
              <a:ext uri="{FF2B5EF4-FFF2-40B4-BE49-F238E27FC236}">
                <a16:creationId xmlns:a16="http://schemas.microsoft.com/office/drawing/2014/main" id="{D35193FC-24EE-41D5-9BE9-60992ADE5E32}"/>
              </a:ext>
            </a:extLst>
          </p:cNvPr>
          <p:cNvSpPr>
            <a:spLocks/>
          </p:cNvSpPr>
          <p:nvPr/>
        </p:nvSpPr>
        <p:spPr bwMode="auto">
          <a:xfrm>
            <a:off x="4337050" y="4191000"/>
            <a:ext cx="1371600" cy="304800"/>
          </a:xfrm>
          <a:custGeom>
            <a:avLst/>
            <a:gdLst>
              <a:gd name="T0" fmla="*/ 0 w 480"/>
              <a:gd name="T1" fmla="*/ 0 h 192"/>
              <a:gd name="T2" fmla="*/ 0 w 480"/>
              <a:gd name="T3" fmla="*/ 304800 h 192"/>
              <a:gd name="T4" fmla="*/ 1371600 w 480"/>
              <a:gd name="T5" fmla="*/ 304800 h 192"/>
              <a:gd name="T6" fmla="*/ 0 60000 65536"/>
              <a:gd name="T7" fmla="*/ 0 60000 65536"/>
              <a:gd name="T8" fmla="*/ 0 60000 65536"/>
              <a:gd name="T9" fmla="*/ 0 w 480"/>
              <a:gd name="T10" fmla="*/ 0 h 192"/>
              <a:gd name="T11" fmla="*/ 480 w 48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192">
                <a:moveTo>
                  <a:pt x="0" y="0"/>
                </a:moveTo>
                <a:lnTo>
                  <a:pt x="0" y="192"/>
                </a:lnTo>
                <a:lnTo>
                  <a:pt x="480" y="192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40" name="Text Box 20">
            <a:extLst>
              <a:ext uri="{FF2B5EF4-FFF2-40B4-BE49-F238E27FC236}">
                <a16:creationId xmlns:a16="http://schemas.microsoft.com/office/drawing/2014/main" id="{C5182D9A-FB83-46FC-A1B3-E957073C3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3717925"/>
            <a:ext cx="145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相对距离 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</a:p>
        </p:txBody>
      </p:sp>
      <p:sp>
        <p:nvSpPr>
          <p:cNvPr id="30741" name="AutoShape 21">
            <a:extLst>
              <a:ext uri="{FF2B5EF4-FFF2-40B4-BE49-F238E27FC236}">
                <a16:creationId xmlns:a16="http://schemas.microsoft.com/office/drawing/2014/main" id="{35B25A3A-53F8-4BCF-B112-0F7FD7CA8603}"/>
              </a:ext>
            </a:extLst>
          </p:cNvPr>
          <p:cNvSpPr>
            <a:spLocks/>
          </p:cNvSpPr>
          <p:nvPr/>
        </p:nvSpPr>
        <p:spPr bwMode="auto">
          <a:xfrm>
            <a:off x="7461250" y="3429000"/>
            <a:ext cx="158750" cy="914400"/>
          </a:xfrm>
          <a:prstGeom prst="rightBrace">
            <a:avLst>
              <a:gd name="adj1" fmla="val 480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42" name="AutoShape 22">
            <a:extLst>
              <a:ext uri="{FF2B5EF4-FFF2-40B4-BE49-F238E27FC236}">
                <a16:creationId xmlns:a16="http://schemas.microsoft.com/office/drawing/2014/main" id="{2BE495A8-0BCE-4C3D-8F45-347B1D81AE9A}"/>
              </a:ext>
            </a:extLst>
          </p:cNvPr>
          <p:cNvSpPr>
            <a:spLocks/>
          </p:cNvSpPr>
          <p:nvPr/>
        </p:nvSpPr>
        <p:spPr bwMode="auto">
          <a:xfrm rot="-5400000">
            <a:off x="4533900" y="2247900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43" name="AutoShape 23">
            <a:extLst>
              <a:ext uri="{FF2B5EF4-FFF2-40B4-BE49-F238E27FC236}">
                <a16:creationId xmlns:a16="http://schemas.microsoft.com/office/drawing/2014/main" id="{9EE0E9C5-0BFB-4ADE-ADC5-47297A757296}"/>
              </a:ext>
            </a:extLst>
          </p:cNvPr>
          <p:cNvSpPr>
            <a:spLocks/>
          </p:cNvSpPr>
          <p:nvPr/>
        </p:nvSpPr>
        <p:spPr bwMode="auto">
          <a:xfrm rot="-5400000">
            <a:off x="2171700" y="2716213"/>
            <a:ext cx="152400" cy="990600"/>
          </a:xfrm>
          <a:prstGeom prst="leftBrace">
            <a:avLst>
              <a:gd name="adj1" fmla="val 54167"/>
              <a:gd name="adj2" fmla="val 50958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44" name="Freeform 24">
            <a:extLst>
              <a:ext uri="{FF2B5EF4-FFF2-40B4-BE49-F238E27FC236}">
                <a16:creationId xmlns:a16="http://schemas.microsoft.com/office/drawing/2014/main" id="{0A735DFC-516D-4A56-8402-8F77AA54EB0C}"/>
              </a:ext>
            </a:extLst>
          </p:cNvPr>
          <p:cNvSpPr>
            <a:spLocks/>
          </p:cNvSpPr>
          <p:nvPr/>
        </p:nvSpPr>
        <p:spPr bwMode="auto">
          <a:xfrm>
            <a:off x="2247900" y="3324225"/>
            <a:ext cx="1752600" cy="333375"/>
          </a:xfrm>
          <a:custGeom>
            <a:avLst/>
            <a:gdLst>
              <a:gd name="T0" fmla="*/ 0 w 1104"/>
              <a:gd name="T1" fmla="*/ 0 h 210"/>
              <a:gd name="T2" fmla="*/ 0 w 1104"/>
              <a:gd name="T3" fmla="*/ 152400 h 210"/>
              <a:gd name="T4" fmla="*/ 1752600 w 1104"/>
              <a:gd name="T5" fmla="*/ 152400 h 210"/>
              <a:gd name="T6" fmla="*/ 1752600 w 1104"/>
              <a:gd name="T7" fmla="*/ 333375 h 210"/>
              <a:gd name="T8" fmla="*/ 0 60000 65536"/>
              <a:gd name="T9" fmla="*/ 0 60000 65536"/>
              <a:gd name="T10" fmla="*/ 0 60000 65536"/>
              <a:gd name="T11" fmla="*/ 0 60000 65536"/>
              <a:gd name="T12" fmla="*/ 0 w 1104"/>
              <a:gd name="T13" fmla="*/ 0 h 210"/>
              <a:gd name="T14" fmla="*/ 1104 w 1104"/>
              <a:gd name="T15" fmla="*/ 210 h 2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04" h="210">
                <a:moveTo>
                  <a:pt x="0" y="0"/>
                </a:moveTo>
                <a:lnTo>
                  <a:pt x="0" y="96"/>
                </a:lnTo>
                <a:lnTo>
                  <a:pt x="1104" y="96"/>
                </a:lnTo>
                <a:lnTo>
                  <a:pt x="1104" y="21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EE4D638D-EDA0-423F-A157-B5DE86E7D723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727325"/>
            <a:ext cx="1524000" cy="396875"/>
            <a:chOff x="768" y="1584"/>
            <a:chExt cx="960" cy="250"/>
          </a:xfrm>
        </p:grpSpPr>
        <p:grpSp>
          <p:nvGrpSpPr>
            <p:cNvPr id="47143" name="Group 26">
              <a:extLst>
                <a:ext uri="{FF2B5EF4-FFF2-40B4-BE49-F238E27FC236}">
                  <a16:creationId xmlns:a16="http://schemas.microsoft.com/office/drawing/2014/main" id="{94E152D0-818A-49E1-978F-29DC2F4707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1584"/>
              <a:ext cx="624" cy="250"/>
              <a:chOff x="864" y="2150"/>
              <a:chExt cx="624" cy="250"/>
            </a:xfrm>
          </p:grpSpPr>
          <p:sp>
            <p:nvSpPr>
              <p:cNvPr id="47145" name="Text Box 27">
                <a:extLst>
                  <a:ext uri="{FF2B5EF4-FFF2-40B4-BE49-F238E27FC236}">
                    <a16:creationId xmlns:a16="http://schemas.microsoft.com/office/drawing/2014/main" id="{9E45A817-8710-4990-856A-D2E6CE84A3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0" y="2150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1000</a:t>
                </a:r>
              </a:p>
            </p:txBody>
          </p:sp>
          <p:sp>
            <p:nvSpPr>
              <p:cNvPr id="47146" name="Rectangle 28">
                <a:extLst>
                  <a:ext uri="{FF2B5EF4-FFF2-40B4-BE49-F238E27FC236}">
                    <a16:creationId xmlns:a16="http://schemas.microsoft.com/office/drawing/2014/main" id="{D771CE4B-E5C9-44BE-82A0-EB2708B598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160"/>
                <a:ext cx="624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7144" name="Text Box 29">
              <a:extLst>
                <a:ext uri="{FF2B5EF4-FFF2-40B4-BE49-F238E27FC236}">
                  <a16:creationId xmlns:a16="http://schemas.microsoft.com/office/drawing/2014/main" id="{76943245-BCB1-42CF-92C5-A6D7AF2F5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584"/>
              <a:ext cx="5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PC</a:t>
              </a:r>
            </a:p>
          </p:txBody>
        </p:sp>
      </p:grpSp>
      <p:sp>
        <p:nvSpPr>
          <p:cNvPr id="30750" name="Freeform 30">
            <a:extLst>
              <a:ext uri="{FF2B5EF4-FFF2-40B4-BE49-F238E27FC236}">
                <a16:creationId xmlns:a16="http://schemas.microsoft.com/office/drawing/2014/main" id="{822F9F20-A3D3-46AC-9EE2-BBDE900CC6A9}"/>
              </a:ext>
            </a:extLst>
          </p:cNvPr>
          <p:cNvSpPr>
            <a:spLocks/>
          </p:cNvSpPr>
          <p:nvPr/>
        </p:nvSpPr>
        <p:spPr bwMode="auto">
          <a:xfrm>
            <a:off x="5029200" y="2301875"/>
            <a:ext cx="1524000" cy="990600"/>
          </a:xfrm>
          <a:custGeom>
            <a:avLst/>
            <a:gdLst>
              <a:gd name="T0" fmla="*/ 0 w 960"/>
              <a:gd name="T1" fmla="*/ 0 h 624"/>
              <a:gd name="T2" fmla="*/ 1524000 w 960"/>
              <a:gd name="T3" fmla="*/ 0 h 624"/>
              <a:gd name="T4" fmla="*/ 1524000 w 960"/>
              <a:gd name="T5" fmla="*/ 990600 h 624"/>
              <a:gd name="T6" fmla="*/ 0 60000 65536"/>
              <a:gd name="T7" fmla="*/ 0 60000 65536"/>
              <a:gd name="T8" fmla="*/ 0 60000 65536"/>
              <a:gd name="T9" fmla="*/ 0 w 960"/>
              <a:gd name="T10" fmla="*/ 0 h 624"/>
              <a:gd name="T11" fmla="*/ 960 w 960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624">
                <a:moveTo>
                  <a:pt x="0" y="0"/>
                </a:moveTo>
                <a:lnTo>
                  <a:pt x="960" y="0"/>
                </a:lnTo>
                <a:lnTo>
                  <a:pt x="960" y="624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Group 31">
            <a:extLst>
              <a:ext uri="{FF2B5EF4-FFF2-40B4-BE49-F238E27FC236}">
                <a16:creationId xmlns:a16="http://schemas.microsoft.com/office/drawing/2014/main" id="{F9D686A2-18FF-4EE2-A01E-85F91DE30B11}"/>
              </a:ext>
            </a:extLst>
          </p:cNvPr>
          <p:cNvGrpSpPr>
            <a:grpSpLocks/>
          </p:cNvGrpSpPr>
          <p:nvPr/>
        </p:nvGrpSpPr>
        <p:grpSpPr bwMode="auto">
          <a:xfrm>
            <a:off x="5022850" y="2536825"/>
            <a:ext cx="2444750" cy="2644775"/>
            <a:chOff x="3164" y="1598"/>
            <a:chExt cx="1540" cy="1666"/>
          </a:xfrm>
        </p:grpSpPr>
        <p:grpSp>
          <p:nvGrpSpPr>
            <p:cNvPr id="47129" name="Group 32">
              <a:extLst>
                <a:ext uri="{FF2B5EF4-FFF2-40B4-BE49-F238E27FC236}">
                  <a16:creationId xmlns:a16="http://schemas.microsoft.com/office/drawing/2014/main" id="{2AE41CD3-B2FA-4935-8115-F5673A5F47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4" y="1598"/>
              <a:ext cx="1536" cy="1666"/>
              <a:chOff x="3164" y="1598"/>
              <a:chExt cx="1536" cy="1666"/>
            </a:xfrm>
          </p:grpSpPr>
          <p:sp>
            <p:nvSpPr>
              <p:cNvPr id="47132" name="Line 33">
                <a:extLst>
                  <a:ext uri="{FF2B5EF4-FFF2-40B4-BE49-F238E27FC236}">
                    <a16:creationId xmlns:a16="http://schemas.microsoft.com/office/drawing/2014/main" id="{CCB3E28C-E731-4137-A54F-C502E511B8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96" y="2076"/>
                <a:ext cx="11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7133" name="Line 34">
                <a:extLst>
                  <a:ext uri="{FF2B5EF4-FFF2-40B4-BE49-F238E27FC236}">
                    <a16:creationId xmlns:a16="http://schemas.microsoft.com/office/drawing/2014/main" id="{391F704B-D5C7-4887-A341-2B60C4A7ED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96" y="2316"/>
                <a:ext cx="11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7134" name="Text Box 35">
                <a:extLst>
                  <a:ext uri="{FF2B5EF4-FFF2-40B4-BE49-F238E27FC236}">
                    <a16:creationId xmlns:a16="http://schemas.microsoft.com/office/drawing/2014/main" id="{41D96DAF-7C13-4CD4-A966-97EDD83472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0" y="2352"/>
                <a:ext cx="308" cy="3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1" lang="en-US" altLang="zh-CN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</a:t>
                </a: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…</a:t>
                </a:r>
              </a:p>
            </p:txBody>
          </p:sp>
          <p:grpSp>
            <p:nvGrpSpPr>
              <p:cNvPr id="47135" name="Group 36">
                <a:extLst>
                  <a:ext uri="{FF2B5EF4-FFF2-40B4-BE49-F238E27FC236}">
                    <a16:creationId xmlns:a16="http://schemas.microsoft.com/office/drawing/2014/main" id="{4EC42D99-E05B-461A-9B36-D1827BFC5F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4" y="1598"/>
                <a:ext cx="1536" cy="1666"/>
                <a:chOff x="3164" y="1598"/>
                <a:chExt cx="1536" cy="1666"/>
              </a:xfrm>
            </p:grpSpPr>
            <p:sp>
              <p:nvSpPr>
                <p:cNvPr id="47136" name="Rectangle 37">
                  <a:extLst>
                    <a:ext uri="{FF2B5EF4-FFF2-40B4-BE49-F238E27FC236}">
                      <a16:creationId xmlns:a16="http://schemas.microsoft.com/office/drawing/2014/main" id="{D157AF2D-BF38-4C4D-9199-02FF3969D0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96" y="1836"/>
                  <a:ext cx="1104" cy="90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7137" name="Rectangle 38">
                  <a:extLst>
                    <a:ext uri="{FF2B5EF4-FFF2-40B4-BE49-F238E27FC236}">
                      <a16:creationId xmlns:a16="http://schemas.microsoft.com/office/drawing/2014/main" id="{D1F60441-07BC-48A5-B471-38695B7084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96" y="2976"/>
                  <a:ext cx="1104" cy="288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7138" name="Text Box 39">
                  <a:extLst>
                    <a:ext uri="{FF2B5EF4-FFF2-40B4-BE49-F238E27FC236}">
                      <a16:creationId xmlns:a16="http://schemas.microsoft.com/office/drawing/2014/main" id="{39E754E7-1355-40E5-A423-377D25FA71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96" y="1598"/>
                  <a:ext cx="43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主存</a:t>
                  </a:r>
                </a:p>
              </p:txBody>
            </p:sp>
            <p:sp>
              <p:nvSpPr>
                <p:cNvPr id="47139" name="Rectangle 40">
                  <a:extLst>
                    <a:ext uri="{FF2B5EF4-FFF2-40B4-BE49-F238E27FC236}">
                      <a16:creationId xmlns:a16="http://schemas.microsoft.com/office/drawing/2014/main" id="{8CD7128D-ADAD-4C90-9079-F5DEDA3247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80" y="2076"/>
                  <a:ext cx="336" cy="240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7140" name="Text Box 41">
                  <a:extLst>
                    <a:ext uri="{FF2B5EF4-FFF2-40B4-BE49-F238E27FC236}">
                      <a16:creationId xmlns:a16="http://schemas.microsoft.com/office/drawing/2014/main" id="{D5C32567-386A-41A1-BFEF-98682074B32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64" y="2085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1000</a:t>
                  </a:r>
                </a:p>
              </p:txBody>
            </p:sp>
            <p:sp>
              <p:nvSpPr>
                <p:cNvPr id="47141" name="Text Box 42">
                  <a:extLst>
                    <a:ext uri="{FF2B5EF4-FFF2-40B4-BE49-F238E27FC236}">
                      <a16:creationId xmlns:a16="http://schemas.microsoft.com/office/drawing/2014/main" id="{95DF94FD-E959-4E0A-8858-C169ABAA2BB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02" y="2085"/>
                  <a:ext cx="23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47142" name="Text Box 43">
                  <a:extLst>
                    <a:ext uri="{FF2B5EF4-FFF2-40B4-BE49-F238E27FC236}">
                      <a16:creationId xmlns:a16="http://schemas.microsoft.com/office/drawing/2014/main" id="{453B2144-D87E-4D4A-B5B1-75E948FE8CC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96" y="2085"/>
                  <a:ext cx="33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OP</a:t>
                  </a:r>
                </a:p>
              </p:txBody>
            </p:sp>
          </p:grpSp>
        </p:grpSp>
        <p:sp>
          <p:nvSpPr>
            <p:cNvPr id="47130" name="Line 44">
              <a:extLst>
                <a:ext uri="{FF2B5EF4-FFF2-40B4-BE49-F238E27FC236}">
                  <a16:creationId xmlns:a16="http://schemas.microsoft.com/office/drawing/2014/main" id="{D134642B-4076-445B-8B81-7929BDAE43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3" y="273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131" name="Line 45">
              <a:extLst>
                <a:ext uri="{FF2B5EF4-FFF2-40B4-BE49-F238E27FC236}">
                  <a16:creationId xmlns:a16="http://schemas.microsoft.com/office/drawing/2014/main" id="{439B17C4-0DFF-4D40-8B6D-C061DC0F28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73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8303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7" dur="500"/>
                                        <p:tgtEl>
                                          <p:spTgt spid="30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3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0" dur="500"/>
                                        <p:tgtEl>
                                          <p:spTgt spid="30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9" dur="500"/>
                                        <p:tgtEl>
                                          <p:spTgt spid="30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500"/>
                                        <p:tgtEl>
                                          <p:spTgt spid="30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500"/>
                                        <p:tgtEl>
                                          <p:spTgt spid="30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8" dur="500"/>
                                        <p:tgtEl>
                                          <p:spTgt spid="3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3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autoUpdateAnimBg="0"/>
      <p:bldP spid="30724" grpId="0" autoUpdateAnimBg="0"/>
      <p:bldP spid="30725" grpId="0" autoUpdateAnimBg="0"/>
      <p:bldP spid="30726" grpId="0" autoUpdateAnimBg="0"/>
      <p:bldP spid="30727" grpId="0" autoUpdateAnimBg="0"/>
      <p:bldP spid="30728" grpId="0" autoUpdateAnimBg="0"/>
      <p:bldP spid="30729" grpId="0" animBg="1"/>
      <p:bldP spid="30730" grpId="0" autoUpdateAnimBg="0"/>
      <p:bldP spid="30740" grpId="0" autoUpdateAnimBg="0"/>
      <p:bldP spid="30741" grpId="0" animBg="1"/>
      <p:bldP spid="30742" grpId="0" animBg="1"/>
      <p:bldP spid="3074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>
            <a:extLst>
              <a:ext uri="{FF2B5EF4-FFF2-40B4-BE49-F238E27FC236}">
                <a16:creationId xmlns:a16="http://schemas.microsoft.com/office/drawing/2014/main" id="{34D22F96-8207-4103-824E-0AC464DA0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52400"/>
            <a:ext cx="265649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相对寻址举例</a:t>
            </a:r>
          </a:p>
        </p:txBody>
      </p:sp>
      <p:sp>
        <p:nvSpPr>
          <p:cNvPr id="31747" name="Line 3">
            <a:extLst>
              <a:ext uri="{FF2B5EF4-FFF2-40B4-BE49-F238E27FC236}">
                <a16:creationId xmlns:a16="http://schemas.microsoft.com/office/drawing/2014/main" id="{39150040-CF16-448A-B9C6-85080C56E3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505200"/>
            <a:ext cx="10668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48" name="Text Box 4">
            <a:extLst>
              <a:ext uri="{FF2B5EF4-FFF2-40B4-BE49-F238E27FC236}">
                <a16:creationId xmlns:a16="http://schemas.microsoft.com/office/drawing/2014/main" id="{49103460-7694-43EB-9722-C982381BA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4867275"/>
            <a:ext cx="9083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随程序所在存储空间的位置不同而不同</a:t>
            </a:r>
          </a:p>
        </p:txBody>
      </p:sp>
      <p:sp>
        <p:nvSpPr>
          <p:cNvPr id="31749" name="Text Box 5">
            <a:extLst>
              <a:ext uri="{FF2B5EF4-FFF2-40B4-BE49-F238E27FC236}">
                <a16:creationId xmlns:a16="http://schemas.microsoft.com/office/drawing/2014/main" id="{28BC6378-BFDF-4C6C-90E7-4B028B703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2992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EA = ( M+3 )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– 3 = M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36FBF170-1471-4893-A9E1-09AF692D704D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3124200"/>
            <a:ext cx="1066800" cy="914400"/>
            <a:chOff x="3456" y="2016"/>
            <a:chExt cx="672" cy="576"/>
          </a:xfrm>
        </p:grpSpPr>
        <p:sp>
          <p:nvSpPr>
            <p:cNvPr id="48167" name="Text Box 7">
              <a:extLst>
                <a:ext uri="{FF2B5EF4-FFF2-40B4-BE49-F238E27FC236}">
                  <a16:creationId xmlns:a16="http://schemas.microsoft.com/office/drawing/2014/main" id="{D237CFBB-636B-457E-AAA3-81C708D401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2" y="2073"/>
              <a:ext cx="396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–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48168" name="Text Box 8">
              <a:extLst>
                <a:ext uri="{FF2B5EF4-FFF2-40B4-BE49-F238E27FC236}">
                  <a16:creationId xmlns:a16="http://schemas.microsoft.com/office/drawing/2014/main" id="{C38FC560-E099-4E74-83F0-CF40BABB54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016"/>
              <a:ext cx="432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</a:t>
              </a:r>
            </a:p>
          </p:txBody>
        </p:sp>
      </p:grpSp>
      <p:grpSp>
        <p:nvGrpSpPr>
          <p:cNvPr id="3" name="Group 9">
            <a:extLst>
              <a:ext uri="{FF2B5EF4-FFF2-40B4-BE49-F238E27FC236}">
                <a16:creationId xmlns:a16="http://schemas.microsoft.com/office/drawing/2014/main" id="{89B4A995-C2AA-4E90-952D-69EB562B8F08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685800"/>
            <a:ext cx="3733800" cy="4110038"/>
            <a:chOff x="576" y="432"/>
            <a:chExt cx="2352" cy="2589"/>
          </a:xfrm>
        </p:grpSpPr>
        <p:sp>
          <p:nvSpPr>
            <p:cNvPr id="48154" name="Text Box 10">
              <a:extLst>
                <a:ext uri="{FF2B5EF4-FFF2-40B4-BE49-F238E27FC236}">
                  <a16:creationId xmlns:a16="http://schemas.microsoft.com/office/drawing/2014/main" id="{98D95170-0B23-4BB8-B561-E822B1BBEA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4" y="432"/>
              <a:ext cx="120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LDA      # 0</a:t>
              </a:r>
            </a:p>
          </p:txBody>
        </p:sp>
        <p:sp>
          <p:nvSpPr>
            <p:cNvPr id="48155" name="Text Box 11">
              <a:extLst>
                <a:ext uri="{FF2B5EF4-FFF2-40B4-BE49-F238E27FC236}">
                  <a16:creationId xmlns:a16="http://schemas.microsoft.com/office/drawing/2014/main" id="{DEB8D1A8-16D2-47B3-B268-9479B0084E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4" y="756"/>
              <a:ext cx="120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LDX      # 0</a:t>
              </a:r>
            </a:p>
          </p:txBody>
        </p:sp>
        <p:sp>
          <p:nvSpPr>
            <p:cNvPr id="48156" name="Text Box 12">
              <a:extLst>
                <a:ext uri="{FF2B5EF4-FFF2-40B4-BE49-F238E27FC236}">
                  <a16:creationId xmlns:a16="http://schemas.microsoft.com/office/drawing/2014/main" id="{87A6BAAC-90C4-4257-BD48-BF104E2D5C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4" y="1079"/>
              <a:ext cx="137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ADD      X, D</a:t>
              </a:r>
            </a:p>
          </p:txBody>
        </p:sp>
        <p:sp>
          <p:nvSpPr>
            <p:cNvPr id="48157" name="Text Box 13">
              <a:extLst>
                <a:ext uri="{FF2B5EF4-FFF2-40B4-BE49-F238E27FC236}">
                  <a16:creationId xmlns:a16="http://schemas.microsoft.com/office/drawing/2014/main" id="{BC572246-8CD1-4B53-94DE-72C9BE1C51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4" y="1402"/>
              <a:ext cx="52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INX</a:t>
              </a:r>
            </a:p>
          </p:txBody>
        </p:sp>
        <p:sp>
          <p:nvSpPr>
            <p:cNvPr id="48158" name="Text Box 14">
              <a:extLst>
                <a:ext uri="{FF2B5EF4-FFF2-40B4-BE49-F238E27FC236}">
                  <a16:creationId xmlns:a16="http://schemas.microsoft.com/office/drawing/2014/main" id="{2DF0699F-48D7-4668-B3C3-FB49C0FB83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4" y="1725"/>
              <a:ext cx="124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CPX      # N</a:t>
              </a:r>
            </a:p>
          </p:txBody>
        </p:sp>
        <p:sp>
          <p:nvSpPr>
            <p:cNvPr id="48159" name="Text Box 15">
              <a:extLst>
                <a:ext uri="{FF2B5EF4-FFF2-40B4-BE49-F238E27FC236}">
                  <a16:creationId xmlns:a16="http://schemas.microsoft.com/office/drawing/2014/main" id="{973A7679-291A-472D-B8E0-BD4B44B304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4" y="2048"/>
              <a:ext cx="112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BNE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</a:p>
          </p:txBody>
        </p:sp>
        <p:sp>
          <p:nvSpPr>
            <p:cNvPr id="48160" name="Text Box 16">
              <a:extLst>
                <a:ext uri="{FF2B5EF4-FFF2-40B4-BE49-F238E27FC236}">
                  <a16:creationId xmlns:a16="http://schemas.microsoft.com/office/drawing/2014/main" id="{E201340A-21C9-4501-B43F-D5B3FB5199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4" y="2371"/>
              <a:ext cx="124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DIV       # N</a:t>
              </a:r>
            </a:p>
          </p:txBody>
        </p:sp>
        <p:sp>
          <p:nvSpPr>
            <p:cNvPr id="48161" name="Text Box 17">
              <a:extLst>
                <a:ext uri="{FF2B5EF4-FFF2-40B4-BE49-F238E27FC236}">
                  <a16:creationId xmlns:a16="http://schemas.microsoft.com/office/drawing/2014/main" id="{82D10C68-5F4F-4432-BC2C-08361401DE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4" y="2694"/>
              <a:ext cx="133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STA      ANS</a:t>
              </a:r>
            </a:p>
          </p:txBody>
        </p:sp>
        <p:sp>
          <p:nvSpPr>
            <p:cNvPr id="48162" name="Text Box 18">
              <a:extLst>
                <a:ext uri="{FF2B5EF4-FFF2-40B4-BE49-F238E27FC236}">
                  <a16:creationId xmlns:a16="http://schemas.microsoft.com/office/drawing/2014/main" id="{F5F8720E-4CD8-4455-B06D-681D2C8932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079"/>
              <a:ext cx="32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</a:p>
          </p:txBody>
        </p:sp>
        <p:sp>
          <p:nvSpPr>
            <p:cNvPr id="48163" name="Text Box 19">
              <a:extLst>
                <a:ext uri="{FF2B5EF4-FFF2-40B4-BE49-F238E27FC236}">
                  <a16:creationId xmlns:a16="http://schemas.microsoft.com/office/drawing/2014/main" id="{5F47401E-B6F5-4CD8-A32B-3855E4FC6A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402"/>
              <a:ext cx="56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M+1</a:t>
              </a:r>
            </a:p>
          </p:txBody>
        </p:sp>
        <p:sp>
          <p:nvSpPr>
            <p:cNvPr id="48164" name="Text Box 20">
              <a:extLst>
                <a:ext uri="{FF2B5EF4-FFF2-40B4-BE49-F238E27FC236}">
                  <a16:creationId xmlns:a16="http://schemas.microsoft.com/office/drawing/2014/main" id="{369F29C4-F052-4D70-A897-6039D8CE02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725"/>
              <a:ext cx="56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M+2</a:t>
              </a:r>
            </a:p>
          </p:txBody>
        </p:sp>
        <p:sp>
          <p:nvSpPr>
            <p:cNvPr id="48165" name="Text Box 21">
              <a:extLst>
                <a:ext uri="{FF2B5EF4-FFF2-40B4-BE49-F238E27FC236}">
                  <a16:creationId xmlns:a16="http://schemas.microsoft.com/office/drawing/2014/main" id="{03EF6C31-0914-4247-8A10-BA0327F570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048"/>
              <a:ext cx="56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M+3</a:t>
              </a:r>
            </a:p>
          </p:txBody>
        </p:sp>
        <p:sp>
          <p:nvSpPr>
            <p:cNvPr id="48166" name="Freeform 22">
              <a:extLst>
                <a:ext uri="{FF2B5EF4-FFF2-40B4-BE49-F238E27FC236}">
                  <a16:creationId xmlns:a16="http://schemas.microsoft.com/office/drawing/2014/main" id="{09A29668-D6F9-47B0-BF26-3453651CE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1248"/>
              <a:ext cx="240" cy="960"/>
            </a:xfrm>
            <a:custGeom>
              <a:avLst/>
              <a:gdLst>
                <a:gd name="T0" fmla="*/ 240 w 240"/>
                <a:gd name="T1" fmla="*/ 960 h 960"/>
                <a:gd name="T2" fmla="*/ 0 w 240"/>
                <a:gd name="T3" fmla="*/ 960 h 960"/>
                <a:gd name="T4" fmla="*/ 0 w 240"/>
                <a:gd name="T5" fmla="*/ 0 h 960"/>
                <a:gd name="T6" fmla="*/ 192 w 240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0"/>
                <a:gd name="T13" fmla="*/ 0 h 960"/>
                <a:gd name="T14" fmla="*/ 240 w 240"/>
                <a:gd name="T15" fmla="*/ 960 h 9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0" h="960">
                  <a:moveTo>
                    <a:pt x="240" y="960"/>
                  </a:moveTo>
                  <a:lnTo>
                    <a:pt x="0" y="960"/>
                  </a:ln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" name="Group 23">
            <a:extLst>
              <a:ext uri="{FF2B5EF4-FFF2-40B4-BE49-F238E27FC236}">
                <a16:creationId xmlns:a16="http://schemas.microsoft.com/office/drawing/2014/main" id="{026DA07A-0B6A-45F8-B973-901F0046A32D}"/>
              </a:ext>
            </a:extLst>
          </p:cNvPr>
          <p:cNvGrpSpPr>
            <a:grpSpLocks/>
          </p:cNvGrpSpPr>
          <p:nvPr/>
        </p:nvGrpSpPr>
        <p:grpSpPr bwMode="auto">
          <a:xfrm>
            <a:off x="593725" y="5334000"/>
            <a:ext cx="9083675" cy="762000"/>
            <a:chOff x="240" y="3360"/>
            <a:chExt cx="5722" cy="480"/>
          </a:xfrm>
        </p:grpSpPr>
        <p:sp>
          <p:nvSpPr>
            <p:cNvPr id="48150" name="Text Box 24">
              <a:extLst>
                <a:ext uri="{FF2B5EF4-FFF2-40B4-BE49-F238E27FC236}">
                  <a16:creationId xmlns:a16="http://schemas.microsoft.com/office/drawing/2014/main" id="{D3A7EE53-9757-409F-9B67-B5018219A9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3408"/>
              <a:ext cx="572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而指令 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BNE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     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与 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指令 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ADD   X, D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相对位移量不变</a:t>
              </a:r>
            </a:p>
          </p:txBody>
        </p:sp>
        <p:grpSp>
          <p:nvGrpSpPr>
            <p:cNvPr id="48151" name="Group 25">
              <a:extLst>
                <a:ext uri="{FF2B5EF4-FFF2-40B4-BE49-F238E27FC236}">
                  <a16:creationId xmlns:a16="http://schemas.microsoft.com/office/drawing/2014/main" id="{3712D4E9-82A8-4634-A89D-672CA4A2D6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0" y="3360"/>
              <a:ext cx="588" cy="480"/>
              <a:chOff x="1344" y="3360"/>
              <a:chExt cx="588" cy="480"/>
            </a:xfrm>
          </p:grpSpPr>
          <p:sp>
            <p:nvSpPr>
              <p:cNvPr id="48152" name="Text Box 26">
                <a:extLst>
                  <a:ext uri="{FF2B5EF4-FFF2-40B4-BE49-F238E27FC236}">
                    <a16:creationId xmlns:a16="http://schemas.microsoft.com/office/drawing/2014/main" id="{740B37D9-B890-4C9E-87B1-19E3F26CAF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6" y="3385"/>
                <a:ext cx="396" cy="3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– </a:t>
                </a: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3</a:t>
                </a:r>
              </a:p>
            </p:txBody>
          </p:sp>
          <p:sp>
            <p:nvSpPr>
              <p:cNvPr id="48153" name="Text Box 27">
                <a:extLst>
                  <a:ext uri="{FF2B5EF4-FFF2-40B4-BE49-F238E27FC236}">
                    <a16:creationId xmlns:a16="http://schemas.microsoft.com/office/drawing/2014/main" id="{08FF303B-9679-437A-94D0-E0CF2D9D12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3360"/>
                <a:ext cx="432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4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*</a:t>
                </a:r>
                <a:r>
                  <a:rPr kumimoji="1" lang="en-US" altLang="zh-CN" sz="4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</a:p>
            </p:txBody>
          </p:sp>
        </p:grpSp>
      </p:grpSp>
      <p:grpSp>
        <p:nvGrpSpPr>
          <p:cNvPr id="6" name="Group 28">
            <a:extLst>
              <a:ext uri="{FF2B5EF4-FFF2-40B4-BE49-F238E27FC236}">
                <a16:creationId xmlns:a16="http://schemas.microsoft.com/office/drawing/2014/main" id="{AD40D3EC-CC7A-4367-9604-DDC022A0A255}"/>
              </a:ext>
            </a:extLst>
          </p:cNvPr>
          <p:cNvGrpSpPr>
            <a:grpSpLocks/>
          </p:cNvGrpSpPr>
          <p:nvPr/>
        </p:nvGrpSpPr>
        <p:grpSpPr bwMode="auto">
          <a:xfrm>
            <a:off x="1279525" y="5791200"/>
            <a:ext cx="5273675" cy="762000"/>
            <a:chOff x="806" y="3648"/>
            <a:chExt cx="3322" cy="480"/>
          </a:xfrm>
        </p:grpSpPr>
        <p:sp>
          <p:nvSpPr>
            <p:cNvPr id="48145" name="Text Box 29">
              <a:extLst>
                <a:ext uri="{FF2B5EF4-FFF2-40B4-BE49-F238E27FC236}">
                  <a16:creationId xmlns:a16="http://schemas.microsoft.com/office/drawing/2014/main" id="{953D4991-0DD0-4E34-94DA-8E1CF0001A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" y="3696"/>
              <a:ext cx="9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指令 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BNE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146" name="Text Box 30">
              <a:extLst>
                <a:ext uri="{FF2B5EF4-FFF2-40B4-BE49-F238E27FC236}">
                  <a16:creationId xmlns:a16="http://schemas.microsoft.com/office/drawing/2014/main" id="{1C494769-8C04-4E27-B493-9210D5AB20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5" y="3696"/>
              <a:ext cx="18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操作数的有效地址为</a:t>
              </a:r>
            </a:p>
          </p:txBody>
        </p:sp>
        <p:grpSp>
          <p:nvGrpSpPr>
            <p:cNvPr id="48147" name="Group 31">
              <a:extLst>
                <a:ext uri="{FF2B5EF4-FFF2-40B4-BE49-F238E27FC236}">
                  <a16:creationId xmlns:a16="http://schemas.microsoft.com/office/drawing/2014/main" id="{7CB191DA-4519-47C9-A0EE-A34324E623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64" y="3648"/>
              <a:ext cx="588" cy="480"/>
              <a:chOff x="1344" y="3360"/>
              <a:chExt cx="588" cy="480"/>
            </a:xfrm>
          </p:grpSpPr>
          <p:sp>
            <p:nvSpPr>
              <p:cNvPr id="48148" name="Text Box 32">
                <a:extLst>
                  <a:ext uri="{FF2B5EF4-FFF2-40B4-BE49-F238E27FC236}">
                    <a16:creationId xmlns:a16="http://schemas.microsoft.com/office/drawing/2014/main" id="{8601B395-A0A3-4DEC-9BFF-B48E5DDF4B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6" y="3385"/>
                <a:ext cx="396" cy="3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– </a:t>
                </a: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3</a:t>
                </a:r>
              </a:p>
            </p:txBody>
          </p:sp>
          <p:sp>
            <p:nvSpPr>
              <p:cNvPr id="48149" name="Text Box 33">
                <a:extLst>
                  <a:ext uri="{FF2B5EF4-FFF2-40B4-BE49-F238E27FC236}">
                    <a16:creationId xmlns:a16="http://schemas.microsoft.com/office/drawing/2014/main" id="{2AB3BE3D-0BAF-4DF5-9E98-C0B122D339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3360"/>
                <a:ext cx="432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4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*</a:t>
                </a:r>
                <a:r>
                  <a:rPr kumimoji="1" lang="en-US" altLang="zh-CN" sz="4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</a:p>
            </p:txBody>
          </p:sp>
        </p:grpSp>
      </p:grpSp>
      <p:sp>
        <p:nvSpPr>
          <p:cNvPr id="31778" name="AutoShape 34">
            <a:extLst>
              <a:ext uri="{FF2B5EF4-FFF2-40B4-BE49-F238E27FC236}">
                <a16:creationId xmlns:a16="http://schemas.microsoft.com/office/drawing/2014/main" id="{8983EA00-D422-42BE-979B-D457DC09E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338513"/>
            <a:ext cx="533400" cy="381000"/>
          </a:xfrm>
          <a:prstGeom prst="wedgeRoundRectCallout">
            <a:avLst>
              <a:gd name="adj1" fmla="val -36606"/>
              <a:gd name="adj2" fmla="val 45000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9" name="Text Box 35">
            <a:extLst>
              <a:ext uri="{FF2B5EF4-FFF2-40B4-BE49-F238E27FC236}">
                <a16:creationId xmlns:a16="http://schemas.microsoft.com/office/drawing/2014/main" id="{51A99324-394B-4192-9F57-59A7E940D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667000"/>
            <a:ext cx="220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" name="Group 36">
            <a:extLst>
              <a:ext uri="{FF2B5EF4-FFF2-40B4-BE49-F238E27FC236}">
                <a16:creationId xmlns:a16="http://schemas.microsoft.com/office/drawing/2014/main" id="{26C9D9CC-F371-47FC-89E8-2FF47B81922E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2667000"/>
            <a:ext cx="2590800" cy="914400"/>
            <a:chOff x="3888" y="1552"/>
            <a:chExt cx="1632" cy="576"/>
          </a:xfrm>
        </p:grpSpPr>
        <p:sp>
          <p:nvSpPr>
            <p:cNvPr id="48143" name="Text Box 37">
              <a:extLst>
                <a:ext uri="{FF2B5EF4-FFF2-40B4-BE49-F238E27FC236}">
                  <a16:creationId xmlns:a16="http://schemas.microsoft.com/office/drawing/2014/main" id="{49A5D776-DE18-4EDA-8C6E-8E127F95C1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632"/>
              <a:ext cx="13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相对寻址特征</a:t>
              </a:r>
            </a:p>
          </p:txBody>
        </p:sp>
        <p:sp>
          <p:nvSpPr>
            <p:cNvPr id="48144" name="Text Box 38">
              <a:extLst>
                <a:ext uri="{FF2B5EF4-FFF2-40B4-BE49-F238E27FC236}">
                  <a16:creationId xmlns:a16="http://schemas.microsoft.com/office/drawing/2014/main" id="{2328E080-73C5-4F64-9AD2-4371BEB346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552"/>
              <a:ext cx="624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462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 autoUpdateAnimBg="0"/>
      <p:bldP spid="31749" grpId="0" autoUpdateAnimBg="0"/>
      <p:bldP spid="31778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>
            <a:extLst>
              <a:ext uri="{FF2B5EF4-FFF2-40B4-BE49-F238E27FC236}">
                <a16:creationId xmlns:a16="http://schemas.microsoft.com/office/drawing/2014/main" id="{E2E7B7FE-F862-4451-AFCD-B82717A36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23850"/>
            <a:ext cx="69945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按字节寻址的相对寻址举例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F8AAF562-699F-48E8-8549-21D7291D9699}"/>
              </a:ext>
            </a:extLst>
          </p:cNvPr>
          <p:cNvGrpSpPr>
            <a:grpSpLocks/>
          </p:cNvGrpSpPr>
          <p:nvPr/>
        </p:nvGrpSpPr>
        <p:grpSpPr bwMode="auto">
          <a:xfrm>
            <a:off x="1114425" y="1309688"/>
            <a:ext cx="2171700" cy="2805112"/>
            <a:chOff x="702" y="825"/>
            <a:chExt cx="1368" cy="1767"/>
          </a:xfrm>
        </p:grpSpPr>
        <p:grpSp>
          <p:nvGrpSpPr>
            <p:cNvPr id="49180" name="Group 4">
              <a:extLst>
                <a:ext uri="{FF2B5EF4-FFF2-40B4-BE49-F238E27FC236}">
                  <a16:creationId xmlns:a16="http://schemas.microsoft.com/office/drawing/2014/main" id="{96F8D04E-0826-4872-8F01-1A0CE93DA8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2" y="825"/>
              <a:ext cx="1368" cy="1767"/>
              <a:chOff x="702" y="825"/>
              <a:chExt cx="1368" cy="1767"/>
            </a:xfrm>
          </p:grpSpPr>
          <p:sp>
            <p:nvSpPr>
              <p:cNvPr id="49183" name="Line 5">
                <a:extLst>
                  <a:ext uri="{FF2B5EF4-FFF2-40B4-BE49-F238E27FC236}">
                    <a16:creationId xmlns:a16="http://schemas.microsoft.com/office/drawing/2014/main" id="{166A17D4-48BA-4561-B587-87AC767DB8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02" y="864"/>
                <a:ext cx="0" cy="17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184" name="Line 6">
                <a:extLst>
                  <a:ext uri="{FF2B5EF4-FFF2-40B4-BE49-F238E27FC236}">
                    <a16:creationId xmlns:a16="http://schemas.microsoft.com/office/drawing/2014/main" id="{421D932A-3A21-47E6-A037-4F58CC191C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0" y="864"/>
                <a:ext cx="0" cy="17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185" name="Line 7">
                <a:extLst>
                  <a:ext uri="{FF2B5EF4-FFF2-40B4-BE49-F238E27FC236}">
                    <a16:creationId xmlns:a16="http://schemas.microsoft.com/office/drawing/2014/main" id="{7C6D59D3-4964-4142-82F2-E00A515176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02" y="1056"/>
                <a:ext cx="7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186" name="Line 8">
                <a:extLst>
                  <a:ext uri="{FF2B5EF4-FFF2-40B4-BE49-F238E27FC236}">
                    <a16:creationId xmlns:a16="http://schemas.microsoft.com/office/drawing/2014/main" id="{E161F78C-F2A9-47E3-8797-647D5205AD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02" y="2160"/>
                <a:ext cx="7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187" name="Line 9">
                <a:extLst>
                  <a:ext uri="{FF2B5EF4-FFF2-40B4-BE49-F238E27FC236}">
                    <a16:creationId xmlns:a16="http://schemas.microsoft.com/office/drawing/2014/main" id="{B53BEDE8-F663-44B0-B508-8FA3A95E7F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02" y="2400"/>
                <a:ext cx="7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188" name="Text Box 10">
                <a:extLst>
                  <a:ext uri="{FF2B5EF4-FFF2-40B4-BE49-F238E27FC236}">
                    <a16:creationId xmlns:a16="http://schemas.microsoft.com/office/drawing/2014/main" id="{642A2530-AA14-4DE3-AC13-E86F04A3C9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4" y="1065"/>
                <a:ext cx="33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OP</a:t>
                </a:r>
              </a:p>
            </p:txBody>
          </p:sp>
          <p:sp>
            <p:nvSpPr>
              <p:cNvPr id="49189" name="Text Box 11">
                <a:extLst>
                  <a:ext uri="{FF2B5EF4-FFF2-40B4-BE49-F238E27FC236}">
                    <a16:creationId xmlns:a16="http://schemas.microsoft.com/office/drawing/2014/main" id="{8E88B6AC-0B48-41CC-8630-9965801DCB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8" y="1294"/>
                <a:ext cx="5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位移量</a:t>
                </a:r>
              </a:p>
            </p:txBody>
          </p:sp>
          <p:sp>
            <p:nvSpPr>
              <p:cNvPr id="49190" name="Text Box 12">
                <a:extLst>
                  <a:ext uri="{FF2B5EF4-FFF2-40B4-BE49-F238E27FC236}">
                    <a16:creationId xmlns:a16="http://schemas.microsoft.com/office/drawing/2014/main" id="{A13D2B94-1393-4FD0-9CFD-8F72022390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2" y="1065"/>
                <a:ext cx="60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2000 H</a:t>
                </a:r>
              </a:p>
            </p:txBody>
          </p:sp>
          <p:sp>
            <p:nvSpPr>
              <p:cNvPr id="49191" name="Text Box 13">
                <a:extLst>
                  <a:ext uri="{FF2B5EF4-FFF2-40B4-BE49-F238E27FC236}">
                    <a16:creationId xmlns:a16="http://schemas.microsoft.com/office/drawing/2014/main" id="{2882FAEC-2A46-4D2D-A14C-9AC5E90D18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2" y="2160"/>
                <a:ext cx="60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2008 H</a:t>
                </a:r>
              </a:p>
            </p:txBody>
          </p:sp>
          <p:sp>
            <p:nvSpPr>
              <p:cNvPr id="49192" name="Line 14">
                <a:extLst>
                  <a:ext uri="{FF2B5EF4-FFF2-40B4-BE49-F238E27FC236}">
                    <a16:creationId xmlns:a16="http://schemas.microsoft.com/office/drawing/2014/main" id="{706D3F38-B8BC-4E3D-9A85-B995094940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0" y="9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193" name="Line 15">
                <a:extLst>
                  <a:ext uri="{FF2B5EF4-FFF2-40B4-BE49-F238E27FC236}">
                    <a16:creationId xmlns:a16="http://schemas.microsoft.com/office/drawing/2014/main" id="{7BE592F9-0A28-478D-969B-56B85B2FC6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302" y="9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194" name="Text Box 16">
                <a:extLst>
                  <a:ext uri="{FF2B5EF4-FFF2-40B4-BE49-F238E27FC236}">
                    <a16:creationId xmlns:a16="http://schemas.microsoft.com/office/drawing/2014/main" id="{B66616B3-199E-48F9-B41E-A88F4510B7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80" y="825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8</a:t>
                </a:r>
              </a:p>
            </p:txBody>
          </p:sp>
        </p:grpSp>
        <p:sp>
          <p:nvSpPr>
            <p:cNvPr id="49181" name="Line 17">
              <a:extLst>
                <a:ext uri="{FF2B5EF4-FFF2-40B4-BE49-F238E27FC236}">
                  <a16:creationId xmlns:a16="http://schemas.microsoft.com/office/drawing/2014/main" id="{25616D46-F5A4-4359-AAE5-DCA0F69C3C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2" y="1296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82" name="Line 18">
              <a:extLst>
                <a:ext uri="{FF2B5EF4-FFF2-40B4-BE49-F238E27FC236}">
                  <a16:creationId xmlns:a16="http://schemas.microsoft.com/office/drawing/2014/main" id="{29974318-3353-41FD-8184-F6DD77CD42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2" y="1536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2787" name="AutoShape 19">
            <a:extLst>
              <a:ext uri="{FF2B5EF4-FFF2-40B4-BE49-F238E27FC236}">
                <a16:creationId xmlns:a16="http://schemas.microsoft.com/office/drawing/2014/main" id="{0F054E7D-10A8-4AE0-BD70-411B6001451D}"/>
              </a:ext>
            </a:extLst>
          </p:cNvPr>
          <p:cNvSpPr>
            <a:spLocks/>
          </p:cNvSpPr>
          <p:nvPr/>
        </p:nvSpPr>
        <p:spPr bwMode="auto">
          <a:xfrm>
            <a:off x="3286125" y="1676400"/>
            <a:ext cx="228600" cy="762000"/>
          </a:xfrm>
          <a:prstGeom prst="rightBrace">
            <a:avLst>
              <a:gd name="adj1" fmla="val 27778"/>
              <a:gd name="adj2" fmla="val 50000"/>
            </a:avLst>
          </a:prstGeom>
          <a:noFill/>
          <a:ln w="2857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88" name="Text Box 20">
            <a:extLst>
              <a:ext uri="{FF2B5EF4-FFF2-40B4-BE49-F238E27FC236}">
                <a16:creationId xmlns:a16="http://schemas.microsoft.com/office/drawing/2014/main" id="{327AAAF8-CF9A-448E-8535-1E95347D7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701800"/>
            <a:ext cx="1514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JMP </a:t>
            </a:r>
            <a:r>
              <a:rPr kumimoji="1" lang="en-US" altLang="zh-CN" sz="5400" b="1" i="0" u="none" strike="noStrike" kern="1200" cap="none" spc="0" normalizeH="0" baseline="-1500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*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+ 8</a:t>
            </a:r>
          </a:p>
        </p:txBody>
      </p:sp>
      <p:grpSp>
        <p:nvGrpSpPr>
          <p:cNvPr id="4" name="Group 21">
            <a:extLst>
              <a:ext uri="{FF2B5EF4-FFF2-40B4-BE49-F238E27FC236}">
                <a16:creationId xmlns:a16="http://schemas.microsoft.com/office/drawing/2014/main" id="{A9287D72-DE16-4656-8AD5-835C14727A9A}"/>
              </a:ext>
            </a:extLst>
          </p:cNvPr>
          <p:cNvGrpSpPr>
            <a:grpSpLocks/>
          </p:cNvGrpSpPr>
          <p:nvPr/>
        </p:nvGrpSpPr>
        <p:grpSpPr bwMode="auto">
          <a:xfrm>
            <a:off x="5372100" y="1309688"/>
            <a:ext cx="2171700" cy="2805112"/>
            <a:chOff x="3384" y="825"/>
            <a:chExt cx="1368" cy="1767"/>
          </a:xfrm>
        </p:grpSpPr>
        <p:sp>
          <p:nvSpPr>
            <p:cNvPr id="49166" name="Line 22">
              <a:extLst>
                <a:ext uri="{FF2B5EF4-FFF2-40B4-BE49-F238E27FC236}">
                  <a16:creationId xmlns:a16="http://schemas.microsoft.com/office/drawing/2014/main" id="{CD23BC8C-8B45-41A7-ADAF-AE998A0A10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864"/>
              <a:ext cx="0" cy="17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67" name="Line 23">
              <a:extLst>
                <a:ext uri="{FF2B5EF4-FFF2-40B4-BE49-F238E27FC236}">
                  <a16:creationId xmlns:a16="http://schemas.microsoft.com/office/drawing/2014/main" id="{AEA2B784-2D2F-4BD1-A679-A645129FA6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864"/>
              <a:ext cx="0" cy="17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68" name="Line 24">
              <a:extLst>
                <a:ext uri="{FF2B5EF4-FFF2-40B4-BE49-F238E27FC236}">
                  <a16:creationId xmlns:a16="http://schemas.microsoft.com/office/drawing/2014/main" id="{3729187C-DE53-4821-917E-80AC2F3812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296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69" name="Line 25">
              <a:extLst>
                <a:ext uri="{FF2B5EF4-FFF2-40B4-BE49-F238E27FC236}">
                  <a16:creationId xmlns:a16="http://schemas.microsoft.com/office/drawing/2014/main" id="{7A27FE37-C0BF-4FDB-8557-A53BB1D5B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056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70" name="Line 26">
              <a:extLst>
                <a:ext uri="{FF2B5EF4-FFF2-40B4-BE49-F238E27FC236}">
                  <a16:creationId xmlns:a16="http://schemas.microsoft.com/office/drawing/2014/main" id="{B75EEF26-A350-4858-8BD3-03A17BD740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536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71" name="Line 27">
              <a:extLst>
                <a:ext uri="{FF2B5EF4-FFF2-40B4-BE49-F238E27FC236}">
                  <a16:creationId xmlns:a16="http://schemas.microsoft.com/office/drawing/2014/main" id="{ACB96CD5-697E-4CB0-A736-28FFC362B5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160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72" name="Line 28">
              <a:extLst>
                <a:ext uri="{FF2B5EF4-FFF2-40B4-BE49-F238E27FC236}">
                  <a16:creationId xmlns:a16="http://schemas.microsoft.com/office/drawing/2014/main" id="{4E6C9295-03F6-405D-AF7A-E532F77D8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400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73" name="Text Box 29">
              <a:extLst>
                <a:ext uri="{FF2B5EF4-FFF2-40B4-BE49-F238E27FC236}">
                  <a16:creationId xmlns:a16="http://schemas.microsoft.com/office/drawing/2014/main" id="{E904CC41-F9BB-44D3-9772-ED5245FEFA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065"/>
              <a:ext cx="3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OP</a:t>
              </a:r>
            </a:p>
          </p:txBody>
        </p:sp>
        <p:sp>
          <p:nvSpPr>
            <p:cNvPr id="49174" name="Text Box 30">
              <a:extLst>
                <a:ext uri="{FF2B5EF4-FFF2-40B4-BE49-F238E27FC236}">
                  <a16:creationId xmlns:a16="http://schemas.microsoft.com/office/drawing/2014/main" id="{361364F3-6FA0-4EFE-BD0D-105739B21F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8" y="1305"/>
              <a:ext cx="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06 H</a:t>
              </a:r>
            </a:p>
          </p:txBody>
        </p:sp>
        <p:sp>
          <p:nvSpPr>
            <p:cNvPr id="49175" name="Text Box 31">
              <a:extLst>
                <a:ext uri="{FF2B5EF4-FFF2-40B4-BE49-F238E27FC236}">
                  <a16:creationId xmlns:a16="http://schemas.microsoft.com/office/drawing/2014/main" id="{17E455A8-A8DC-4359-B5B1-4E5C4F0EC0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4" y="1065"/>
              <a:ext cx="60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2000 H</a:t>
              </a:r>
            </a:p>
          </p:txBody>
        </p:sp>
        <p:sp>
          <p:nvSpPr>
            <p:cNvPr id="49176" name="Text Box 32">
              <a:extLst>
                <a:ext uri="{FF2B5EF4-FFF2-40B4-BE49-F238E27FC236}">
                  <a16:creationId xmlns:a16="http://schemas.microsoft.com/office/drawing/2014/main" id="{3B94030D-A8A9-413A-9F19-DF59B1B185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4" y="2160"/>
              <a:ext cx="60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2008 H</a:t>
              </a:r>
            </a:p>
          </p:txBody>
        </p:sp>
        <p:sp>
          <p:nvSpPr>
            <p:cNvPr id="49177" name="Line 33">
              <a:extLst>
                <a:ext uri="{FF2B5EF4-FFF2-40B4-BE49-F238E27FC236}">
                  <a16:creationId xmlns:a16="http://schemas.microsoft.com/office/drawing/2014/main" id="{E2893C38-D59C-4575-A8F1-0DA2FA866A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96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78" name="Line 34">
              <a:extLst>
                <a:ext uri="{FF2B5EF4-FFF2-40B4-BE49-F238E27FC236}">
                  <a16:creationId xmlns:a16="http://schemas.microsoft.com/office/drawing/2014/main" id="{F564DD95-6701-4A5F-B25C-19769B028CF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3984" y="96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79" name="Text Box 35">
              <a:extLst>
                <a:ext uri="{FF2B5EF4-FFF2-40B4-BE49-F238E27FC236}">
                  <a16:creationId xmlns:a16="http://schemas.microsoft.com/office/drawing/2014/main" id="{F0E17CEF-F740-4BE2-88BD-98781F5BC8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" y="825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8</a:t>
              </a:r>
            </a:p>
          </p:txBody>
        </p:sp>
      </p:grpSp>
      <p:sp>
        <p:nvSpPr>
          <p:cNvPr id="32804" name="Text Box 36">
            <a:extLst>
              <a:ext uri="{FF2B5EF4-FFF2-40B4-BE49-F238E27FC236}">
                <a16:creationId xmlns:a16="http://schemas.microsoft.com/office/drawing/2014/main" id="{72FF88DA-4496-4C9E-A080-A07705711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572000"/>
            <a:ext cx="480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  当前指令地址    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PC = 2000H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805" name="Text Box 37">
            <a:extLst>
              <a:ext uri="{FF2B5EF4-FFF2-40B4-BE49-F238E27FC236}">
                <a16:creationId xmlns:a16="http://schemas.microsoft.com/office/drawing/2014/main" id="{26C5363E-765F-46CE-B579-8095901C9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105400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转移后的目的地址为  </a:t>
            </a:r>
            <a:r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2008H</a:t>
            </a:r>
          </a:p>
        </p:txBody>
      </p:sp>
      <p:sp>
        <p:nvSpPr>
          <p:cNvPr id="32806" name="Text Box 38">
            <a:extLst>
              <a:ext uri="{FF2B5EF4-FFF2-40B4-BE49-F238E27FC236}">
                <a16:creationId xmlns:a16="http://schemas.microsoft.com/office/drawing/2014/main" id="{7566428F-5278-4107-A3B0-E14AA1C91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454650"/>
            <a:ext cx="6705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因为  取出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JMP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5400" b="1" i="0" u="none" strike="noStrike" kern="1200" cap="none" spc="0" normalizeH="0" baseline="-1500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*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+ 8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后  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PC = 2002H</a:t>
            </a:r>
          </a:p>
        </p:txBody>
      </p:sp>
      <p:sp>
        <p:nvSpPr>
          <p:cNvPr id="32807" name="Text Box 39">
            <a:extLst>
              <a:ext uri="{FF2B5EF4-FFF2-40B4-BE49-F238E27FC236}">
                <a16:creationId xmlns:a16="http://schemas.microsoft.com/office/drawing/2014/main" id="{9EFE2575-4C1F-4FDB-8BAA-76C5D69F6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362200"/>
            <a:ext cx="1600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二字节指令</a:t>
            </a:r>
          </a:p>
        </p:txBody>
      </p:sp>
      <p:sp>
        <p:nvSpPr>
          <p:cNvPr id="32808" name="Text Box 40">
            <a:extLst>
              <a:ext uri="{FF2B5EF4-FFF2-40B4-BE49-F238E27FC236}">
                <a16:creationId xmlns:a16="http://schemas.microsoft.com/office/drawing/2014/main" id="{09E5574C-2F81-4360-9438-C6593E537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911850"/>
            <a:ext cx="7848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故 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JMP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5400" b="1" i="0" u="none" strike="noStrike" kern="1200" cap="none" spc="0" normalizeH="0" baseline="-1500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*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+ 8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 的第二字节为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2008H - 2002H = 06H</a:t>
            </a:r>
          </a:p>
        </p:txBody>
      </p:sp>
    </p:spTree>
    <p:extLst>
      <p:ext uri="{BB962C8B-B14F-4D97-AF65-F5344CB8AC3E}">
        <p14:creationId xmlns:p14="http://schemas.microsoft.com/office/powerpoint/2010/main" val="354430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3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2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2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7" grpId="0" animBg="1"/>
      <p:bldP spid="32788" grpId="0" autoUpdateAnimBg="0"/>
      <p:bldP spid="32804" grpId="0" autoUpdateAnimBg="0"/>
      <p:bldP spid="32805" grpId="0" autoUpdateAnimBg="0"/>
      <p:bldP spid="32806" grpId="0" autoUpdateAnimBg="0"/>
      <p:bldP spid="32807" grpId="0" autoUpdateAnimBg="0"/>
      <p:bldP spid="32808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>
            <a:extLst>
              <a:ext uri="{FF2B5EF4-FFF2-40B4-BE49-F238E27FC236}">
                <a16:creationId xmlns:a16="http://schemas.microsoft.com/office/drawing/2014/main" id="{5CE79490-D497-4D78-BFF8-D35195F49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4" y="152400"/>
            <a:ext cx="650274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(7</a:t>
            </a:r>
            <a:r>
              <a:rPr kumimoji="1"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堆栈寻址</a:t>
            </a:r>
          </a:p>
        </p:txBody>
      </p:sp>
      <p:sp>
        <p:nvSpPr>
          <p:cNvPr id="33795" name="Text Box 3">
            <a:extLst>
              <a:ext uri="{FF2B5EF4-FFF2-40B4-BE49-F238E27FC236}">
                <a16:creationId xmlns:a16="http://schemas.microsoft.com/office/drawing/2014/main" id="{23234BB5-CAF3-44D9-BC87-57B9C45C2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725" y="838200"/>
            <a:ext cx="3978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①堆栈的特点</a:t>
            </a:r>
          </a:p>
        </p:txBody>
      </p:sp>
      <p:sp>
        <p:nvSpPr>
          <p:cNvPr id="33796" name="Text Box 4">
            <a:extLst>
              <a:ext uri="{FF2B5EF4-FFF2-40B4-BE49-F238E27FC236}">
                <a16:creationId xmlns:a16="http://schemas.microsoft.com/office/drawing/2014/main" id="{EDFBC34C-73D8-4430-A314-8B584ED9A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3675" y="1631950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堆栈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4CDB329C-C8C8-4F07-BA6B-530B5E08E5D2}"/>
              </a:ext>
            </a:extLst>
          </p:cNvPr>
          <p:cNvGrpSpPr>
            <a:grpSpLocks/>
          </p:cNvGrpSpPr>
          <p:nvPr/>
        </p:nvGrpSpPr>
        <p:grpSpPr bwMode="auto">
          <a:xfrm>
            <a:off x="2574925" y="1371600"/>
            <a:ext cx="1103313" cy="1022350"/>
            <a:chOff x="1622" y="864"/>
            <a:chExt cx="695" cy="644"/>
          </a:xfrm>
        </p:grpSpPr>
        <p:sp>
          <p:nvSpPr>
            <p:cNvPr id="50249" name="Text Box 6">
              <a:extLst>
                <a:ext uri="{FF2B5EF4-FFF2-40B4-BE49-F238E27FC236}">
                  <a16:creationId xmlns:a16="http://schemas.microsoft.com/office/drawing/2014/main" id="{A668157B-0F5F-485A-A856-60CDD47538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2" y="864"/>
              <a:ext cx="6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硬堆栈</a:t>
              </a:r>
            </a:p>
          </p:txBody>
        </p:sp>
        <p:sp>
          <p:nvSpPr>
            <p:cNvPr id="50250" name="Text Box 7">
              <a:extLst>
                <a:ext uri="{FF2B5EF4-FFF2-40B4-BE49-F238E27FC236}">
                  <a16:creationId xmlns:a16="http://schemas.microsoft.com/office/drawing/2014/main" id="{9C2F059E-8440-4692-AEDC-37E0DEA8FE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2" y="1220"/>
              <a:ext cx="6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软堆栈</a:t>
              </a:r>
            </a:p>
          </p:txBody>
        </p:sp>
      </p:grpSp>
      <p:sp>
        <p:nvSpPr>
          <p:cNvPr id="33800" name="Text Box 8">
            <a:extLst>
              <a:ext uri="{FF2B5EF4-FFF2-40B4-BE49-F238E27FC236}">
                <a16:creationId xmlns:a16="http://schemas.microsoft.com/office/drawing/2014/main" id="{3A0BC18C-2462-492E-AB88-91F1D5BA1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1325" y="1371600"/>
            <a:ext cx="1716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多个寄存器</a:t>
            </a:r>
          </a:p>
        </p:txBody>
      </p:sp>
      <p:sp>
        <p:nvSpPr>
          <p:cNvPr id="33801" name="Text Box 9">
            <a:extLst>
              <a:ext uri="{FF2B5EF4-FFF2-40B4-BE49-F238E27FC236}">
                <a16:creationId xmlns:a16="http://schemas.microsoft.com/office/drawing/2014/main" id="{5148DEE9-7F29-48EE-BD40-A08A84845D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1325" y="1936750"/>
            <a:ext cx="2328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指定的存储空间</a:t>
            </a:r>
          </a:p>
        </p:txBody>
      </p:sp>
      <p:sp>
        <p:nvSpPr>
          <p:cNvPr id="33802" name="Text Box 10">
            <a:extLst>
              <a:ext uri="{FF2B5EF4-FFF2-40B4-BE49-F238E27FC236}">
                <a16:creationId xmlns:a16="http://schemas.microsoft.com/office/drawing/2014/main" id="{FE58AAE4-88DC-47BA-853C-4432A4DAD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3675" y="2514600"/>
            <a:ext cx="3554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先进后出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（一个入出口）</a:t>
            </a:r>
          </a:p>
        </p:txBody>
      </p:sp>
      <p:sp>
        <p:nvSpPr>
          <p:cNvPr id="33803" name="Text Box 11">
            <a:extLst>
              <a:ext uri="{FF2B5EF4-FFF2-40B4-BE49-F238E27FC236}">
                <a16:creationId xmlns:a16="http://schemas.microsoft.com/office/drawing/2014/main" id="{6599D7B2-FDD4-4F00-88D9-567F9DDDE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514600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栈顶地址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SP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指出</a:t>
            </a:r>
          </a:p>
        </p:txBody>
      </p:sp>
      <p:sp>
        <p:nvSpPr>
          <p:cNvPr id="33804" name="Text Box 12">
            <a:extLst>
              <a:ext uri="{FF2B5EF4-FFF2-40B4-BE49-F238E27FC236}">
                <a16:creationId xmlns:a16="http://schemas.microsoft.com/office/drawing/2014/main" id="{3C51D53F-4B94-4C88-999A-95855A2AD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7938" y="3870325"/>
            <a:ext cx="501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–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1</a:t>
            </a:r>
          </a:p>
        </p:txBody>
      </p:sp>
      <p:sp>
        <p:nvSpPr>
          <p:cNvPr id="33805" name="Text Box 13">
            <a:extLst>
              <a:ext uri="{FF2B5EF4-FFF2-40B4-BE49-F238E27FC236}">
                <a16:creationId xmlns:a16="http://schemas.microsoft.com/office/drawing/2014/main" id="{5341B354-B86F-4FFE-9721-EC12AAB8E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375" y="4845050"/>
            <a:ext cx="974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1FFFH</a:t>
            </a:r>
          </a:p>
        </p:txBody>
      </p:sp>
      <p:sp>
        <p:nvSpPr>
          <p:cNvPr id="33806" name="Text Box 14">
            <a:extLst>
              <a:ext uri="{FF2B5EF4-FFF2-40B4-BE49-F238E27FC236}">
                <a16:creationId xmlns:a16="http://schemas.microsoft.com/office/drawing/2014/main" id="{5308FD99-C9B6-4374-8E9C-CC2BF272F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1413" y="3870325"/>
            <a:ext cx="5191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+1</a:t>
            </a:r>
          </a:p>
        </p:txBody>
      </p:sp>
      <p:sp>
        <p:nvSpPr>
          <p:cNvPr id="33807" name="Text Box 15">
            <a:extLst>
              <a:ext uri="{FF2B5EF4-FFF2-40B4-BE49-F238E27FC236}">
                <a16:creationId xmlns:a16="http://schemas.microsoft.com/office/drawing/2014/main" id="{C1BFAD8E-0348-4FB2-AE95-305CADF38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2175" y="5149850"/>
            <a:ext cx="952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2000 H</a:t>
            </a:r>
          </a:p>
        </p:txBody>
      </p:sp>
      <p:sp>
        <p:nvSpPr>
          <p:cNvPr id="33808" name="AutoShape 16">
            <a:extLst>
              <a:ext uri="{FF2B5EF4-FFF2-40B4-BE49-F238E27FC236}">
                <a16:creationId xmlns:a16="http://schemas.microsoft.com/office/drawing/2014/main" id="{ED9DBF28-3D8C-4BB8-BE92-F035CB19920A}"/>
              </a:ext>
            </a:extLst>
          </p:cNvPr>
          <p:cNvSpPr>
            <a:spLocks/>
          </p:cNvSpPr>
          <p:nvPr/>
        </p:nvSpPr>
        <p:spPr bwMode="auto">
          <a:xfrm>
            <a:off x="2362200" y="1511300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809" name="AutoShape 17">
            <a:extLst>
              <a:ext uri="{FF2B5EF4-FFF2-40B4-BE49-F238E27FC236}">
                <a16:creationId xmlns:a16="http://schemas.microsoft.com/office/drawing/2014/main" id="{75E6E2BF-6A1F-4C14-99CA-02B567F32E22}"/>
              </a:ext>
            </a:extLst>
          </p:cNvPr>
          <p:cNvSpPr>
            <a:spLocks noChangeArrowheads="1"/>
          </p:cNvSpPr>
          <p:nvPr/>
        </p:nvSpPr>
        <p:spPr bwMode="auto">
          <a:xfrm rot="-1305426">
            <a:off x="3429000" y="3795713"/>
            <a:ext cx="381000" cy="381000"/>
          </a:xfrm>
          <a:prstGeom prst="curvedLeftArrow">
            <a:avLst>
              <a:gd name="adj1" fmla="val 20000"/>
              <a:gd name="adj2" fmla="val 40000"/>
              <a:gd name="adj3" fmla="val 33333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810" name="AutoShape 18">
            <a:extLst>
              <a:ext uri="{FF2B5EF4-FFF2-40B4-BE49-F238E27FC236}">
                <a16:creationId xmlns:a16="http://schemas.microsoft.com/office/drawing/2014/main" id="{43D57CA6-F728-4ED7-B1CA-1A36A81C271E}"/>
              </a:ext>
            </a:extLst>
          </p:cNvPr>
          <p:cNvSpPr>
            <a:spLocks noChangeArrowheads="1"/>
          </p:cNvSpPr>
          <p:nvPr/>
        </p:nvSpPr>
        <p:spPr bwMode="auto">
          <a:xfrm rot="-1305426">
            <a:off x="7162800" y="3795713"/>
            <a:ext cx="381000" cy="381000"/>
          </a:xfrm>
          <a:prstGeom prst="curvedLeftArrow">
            <a:avLst>
              <a:gd name="adj1" fmla="val 20000"/>
              <a:gd name="adj2" fmla="val 40000"/>
              <a:gd name="adj3" fmla="val 33333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1CF70132-9920-4F75-B55A-E686CBD14CD9}"/>
              </a:ext>
            </a:extLst>
          </p:cNvPr>
          <p:cNvGrpSpPr>
            <a:grpSpLocks/>
          </p:cNvGrpSpPr>
          <p:nvPr/>
        </p:nvGrpSpPr>
        <p:grpSpPr bwMode="auto">
          <a:xfrm>
            <a:off x="1463675" y="3124200"/>
            <a:ext cx="3263900" cy="457200"/>
            <a:chOff x="922" y="1968"/>
            <a:chExt cx="2056" cy="288"/>
          </a:xfrm>
        </p:grpSpPr>
        <p:sp>
          <p:nvSpPr>
            <p:cNvPr id="50247" name="Text Box 20">
              <a:extLst>
                <a:ext uri="{FF2B5EF4-FFF2-40B4-BE49-F238E27FC236}">
                  <a16:creationId xmlns:a16="http://schemas.microsoft.com/office/drawing/2014/main" id="{2423C967-713B-4343-AA04-3E9E78BE72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" y="1968"/>
              <a:ext cx="20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进栈  （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SP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）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–  1       SP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248" name="Line 21">
              <a:extLst>
                <a:ext uri="{FF2B5EF4-FFF2-40B4-BE49-F238E27FC236}">
                  <a16:creationId xmlns:a16="http://schemas.microsoft.com/office/drawing/2014/main" id="{8651265C-143E-449E-8FD3-E167A2B01A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112"/>
              <a:ext cx="240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" name="Group 22">
            <a:extLst>
              <a:ext uri="{FF2B5EF4-FFF2-40B4-BE49-F238E27FC236}">
                <a16:creationId xmlns:a16="http://schemas.microsoft.com/office/drawing/2014/main" id="{36F96758-C280-43E8-B852-FE0E6D21EAC0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124200"/>
            <a:ext cx="3360738" cy="457200"/>
            <a:chOff x="3168" y="1968"/>
            <a:chExt cx="2117" cy="288"/>
          </a:xfrm>
        </p:grpSpPr>
        <p:sp>
          <p:nvSpPr>
            <p:cNvPr id="50245" name="Text Box 23">
              <a:extLst>
                <a:ext uri="{FF2B5EF4-FFF2-40B4-BE49-F238E27FC236}">
                  <a16:creationId xmlns:a16="http://schemas.microsoft.com/office/drawing/2014/main" id="{A09B6971-D945-42B7-B447-6FFB346E73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968"/>
              <a:ext cx="21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出栈  （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SP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）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+  1        SP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246" name="Line 24">
              <a:extLst>
                <a:ext uri="{FF2B5EF4-FFF2-40B4-BE49-F238E27FC236}">
                  <a16:creationId xmlns:a16="http://schemas.microsoft.com/office/drawing/2014/main" id="{A2142954-70F2-4373-80D0-671B3004B1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112"/>
              <a:ext cx="240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" name="Group 25">
            <a:extLst>
              <a:ext uri="{FF2B5EF4-FFF2-40B4-BE49-F238E27FC236}">
                <a16:creationId xmlns:a16="http://schemas.microsoft.com/office/drawing/2014/main" id="{AD369ED0-06DF-4B09-823B-2CCD004904E0}"/>
              </a:ext>
            </a:extLst>
          </p:cNvPr>
          <p:cNvGrpSpPr>
            <a:grpSpLocks/>
          </p:cNvGrpSpPr>
          <p:nvPr/>
        </p:nvGrpSpPr>
        <p:grpSpPr bwMode="auto">
          <a:xfrm>
            <a:off x="968375" y="3946525"/>
            <a:ext cx="3133725" cy="2530475"/>
            <a:chOff x="610" y="2486"/>
            <a:chExt cx="1974" cy="1594"/>
          </a:xfrm>
        </p:grpSpPr>
        <p:sp>
          <p:nvSpPr>
            <p:cNvPr id="50233" name="Text Box 26">
              <a:extLst>
                <a:ext uri="{FF2B5EF4-FFF2-40B4-BE49-F238E27FC236}">
                  <a16:creationId xmlns:a16="http://schemas.microsoft.com/office/drawing/2014/main" id="{BAC48E0C-9525-416C-8040-42B3D25003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6" y="3244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栈顶</a:t>
              </a:r>
            </a:p>
          </p:txBody>
        </p:sp>
        <p:sp>
          <p:nvSpPr>
            <p:cNvPr id="50234" name="Text Box 27">
              <a:extLst>
                <a:ext uri="{FF2B5EF4-FFF2-40B4-BE49-F238E27FC236}">
                  <a16:creationId xmlns:a16="http://schemas.microsoft.com/office/drawing/2014/main" id="{6DCE5689-6401-4C45-89CE-B8E0F45EC9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6" y="3830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栈底</a:t>
              </a:r>
            </a:p>
          </p:txBody>
        </p:sp>
        <p:grpSp>
          <p:nvGrpSpPr>
            <p:cNvPr id="50235" name="Group 28">
              <a:extLst>
                <a:ext uri="{FF2B5EF4-FFF2-40B4-BE49-F238E27FC236}">
                  <a16:creationId xmlns:a16="http://schemas.microsoft.com/office/drawing/2014/main" id="{3B1A563A-615F-4E68-9F7E-7255E32EAF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0" y="2486"/>
              <a:ext cx="1536" cy="1536"/>
              <a:chOff x="610" y="2486"/>
              <a:chExt cx="1536" cy="1536"/>
            </a:xfrm>
          </p:grpSpPr>
          <p:sp>
            <p:nvSpPr>
              <p:cNvPr id="50236" name="Rectangle 29">
                <a:extLst>
                  <a:ext uri="{FF2B5EF4-FFF2-40B4-BE49-F238E27FC236}">
                    <a16:creationId xmlns:a16="http://schemas.microsoft.com/office/drawing/2014/main" id="{8EA0C2B7-8C69-4D36-91B2-17494C57BE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6" y="2497"/>
                <a:ext cx="960" cy="1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2000 H</a:t>
                </a:r>
              </a:p>
            </p:txBody>
          </p:sp>
          <p:sp>
            <p:nvSpPr>
              <p:cNvPr id="50237" name="Rectangle 30">
                <a:extLst>
                  <a:ext uri="{FF2B5EF4-FFF2-40B4-BE49-F238E27FC236}">
                    <a16:creationId xmlns:a16="http://schemas.microsoft.com/office/drawing/2014/main" id="{D3DD09A3-77CB-417B-AAF2-EEDA9C7243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6" y="3274"/>
                <a:ext cx="960" cy="172"/>
              </a:xfrm>
              <a:prstGeom prst="rect">
                <a:avLst/>
              </a:prstGeom>
              <a:solidFill>
                <a:schemeClr val="tx1">
                  <a:alpha val="50195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0238" name="Rectangle 31">
                <a:extLst>
                  <a:ext uri="{FF2B5EF4-FFF2-40B4-BE49-F238E27FC236}">
                    <a16:creationId xmlns:a16="http://schemas.microsoft.com/office/drawing/2014/main" id="{8C1A91B7-2B4C-4392-94D9-A5138F341B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6" y="3850"/>
                <a:ext cx="960" cy="1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0239" name="Freeform 32">
                <a:extLst>
                  <a:ext uri="{FF2B5EF4-FFF2-40B4-BE49-F238E27FC236}">
                    <a16:creationId xmlns:a16="http://schemas.microsoft.com/office/drawing/2014/main" id="{DDC0773E-401F-4D38-9680-954C9829D3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7" y="2860"/>
                <a:ext cx="1" cy="1156"/>
              </a:xfrm>
              <a:custGeom>
                <a:avLst/>
                <a:gdLst>
                  <a:gd name="T0" fmla="*/ 1 w 1"/>
                  <a:gd name="T1" fmla="*/ 0 h 1156"/>
                  <a:gd name="T2" fmla="*/ 0 w 1"/>
                  <a:gd name="T3" fmla="*/ 1156 h 1156"/>
                  <a:gd name="T4" fmla="*/ 0 60000 65536"/>
                  <a:gd name="T5" fmla="*/ 0 60000 65536"/>
                  <a:gd name="T6" fmla="*/ 0 w 1"/>
                  <a:gd name="T7" fmla="*/ 0 h 1156"/>
                  <a:gd name="T8" fmla="*/ 1 w 1"/>
                  <a:gd name="T9" fmla="*/ 1156 h 115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156">
                    <a:moveTo>
                      <a:pt x="1" y="0"/>
                    </a:moveTo>
                    <a:lnTo>
                      <a:pt x="0" y="115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0240" name="Text Box 33">
                <a:extLst>
                  <a:ext uri="{FF2B5EF4-FFF2-40B4-BE49-F238E27FC236}">
                    <a16:creationId xmlns:a16="http://schemas.microsoft.com/office/drawing/2014/main" id="{0793E648-8BA2-4382-B4B0-EF8CD8C82A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1" y="2486"/>
                <a:ext cx="30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SP</a:t>
                </a:r>
              </a:p>
            </p:txBody>
          </p:sp>
          <p:sp>
            <p:nvSpPr>
              <p:cNvPr id="50241" name="Text Box 34">
                <a:extLst>
                  <a:ext uri="{FF2B5EF4-FFF2-40B4-BE49-F238E27FC236}">
                    <a16:creationId xmlns:a16="http://schemas.microsoft.com/office/drawing/2014/main" id="{914CFA1F-65DE-4F4D-A82A-BA6ABD4CC4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0" y="3244"/>
                <a:ext cx="60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2000 H</a:t>
                </a:r>
              </a:p>
            </p:txBody>
          </p:sp>
          <p:sp>
            <p:nvSpPr>
              <p:cNvPr id="50242" name="Text Box 35">
                <a:extLst>
                  <a:ext uri="{FF2B5EF4-FFF2-40B4-BE49-F238E27FC236}">
                    <a16:creationId xmlns:a16="http://schemas.microsoft.com/office/drawing/2014/main" id="{A5506B89-C5D1-4705-AE00-A71F2923CF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15" y="3532"/>
                <a:ext cx="3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…</a:t>
                </a:r>
              </a:p>
            </p:txBody>
          </p:sp>
          <p:sp>
            <p:nvSpPr>
              <p:cNvPr id="50243" name="Freeform 36">
                <a:extLst>
                  <a:ext uri="{FF2B5EF4-FFF2-40B4-BE49-F238E27FC236}">
                    <a16:creationId xmlns:a16="http://schemas.microsoft.com/office/drawing/2014/main" id="{8A144C03-53BB-4D4F-9643-1FCA1C212D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4" y="2860"/>
                <a:ext cx="1" cy="1156"/>
              </a:xfrm>
              <a:custGeom>
                <a:avLst/>
                <a:gdLst>
                  <a:gd name="T0" fmla="*/ 1 w 1"/>
                  <a:gd name="T1" fmla="*/ 0 h 1156"/>
                  <a:gd name="T2" fmla="*/ 0 w 1"/>
                  <a:gd name="T3" fmla="*/ 1156 h 1156"/>
                  <a:gd name="T4" fmla="*/ 0 60000 65536"/>
                  <a:gd name="T5" fmla="*/ 0 60000 65536"/>
                  <a:gd name="T6" fmla="*/ 0 w 1"/>
                  <a:gd name="T7" fmla="*/ 0 h 1156"/>
                  <a:gd name="T8" fmla="*/ 1 w 1"/>
                  <a:gd name="T9" fmla="*/ 1156 h 115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156">
                    <a:moveTo>
                      <a:pt x="1" y="0"/>
                    </a:moveTo>
                    <a:lnTo>
                      <a:pt x="0" y="115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0244" name="Freeform 37">
                <a:extLst>
                  <a:ext uri="{FF2B5EF4-FFF2-40B4-BE49-F238E27FC236}">
                    <a16:creationId xmlns:a16="http://schemas.microsoft.com/office/drawing/2014/main" id="{0D5B7462-DCEB-485F-A67B-B35D8F8FAD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0" y="3099"/>
                <a:ext cx="942" cy="1"/>
              </a:xfrm>
              <a:custGeom>
                <a:avLst/>
                <a:gdLst>
                  <a:gd name="T0" fmla="*/ 0 w 942"/>
                  <a:gd name="T1" fmla="*/ 0 h 1"/>
                  <a:gd name="T2" fmla="*/ 942 w 942"/>
                  <a:gd name="T3" fmla="*/ 0 h 1"/>
                  <a:gd name="T4" fmla="*/ 0 60000 65536"/>
                  <a:gd name="T5" fmla="*/ 0 60000 65536"/>
                  <a:gd name="T6" fmla="*/ 0 w 942"/>
                  <a:gd name="T7" fmla="*/ 0 h 1"/>
                  <a:gd name="T8" fmla="*/ 942 w 942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42" h="1">
                    <a:moveTo>
                      <a:pt x="0" y="0"/>
                    </a:moveTo>
                    <a:lnTo>
                      <a:pt x="942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7" name="Group 38">
            <a:extLst>
              <a:ext uri="{FF2B5EF4-FFF2-40B4-BE49-F238E27FC236}">
                <a16:creationId xmlns:a16="http://schemas.microsoft.com/office/drawing/2014/main" id="{BF710F4E-F530-4BEE-977C-93CDC99A0327}"/>
              </a:ext>
            </a:extLst>
          </p:cNvPr>
          <p:cNvGrpSpPr>
            <a:grpSpLocks/>
          </p:cNvGrpSpPr>
          <p:nvPr/>
        </p:nvGrpSpPr>
        <p:grpSpPr bwMode="auto">
          <a:xfrm>
            <a:off x="4702175" y="3946525"/>
            <a:ext cx="3133725" cy="2530475"/>
            <a:chOff x="2962" y="2486"/>
            <a:chExt cx="1974" cy="1594"/>
          </a:xfrm>
        </p:grpSpPr>
        <p:sp>
          <p:nvSpPr>
            <p:cNvPr id="50221" name="Text Box 39">
              <a:extLst>
                <a:ext uri="{FF2B5EF4-FFF2-40B4-BE49-F238E27FC236}">
                  <a16:creationId xmlns:a16="http://schemas.microsoft.com/office/drawing/2014/main" id="{AA758F62-F85A-4270-B04E-1106587FE5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4" y="3532"/>
              <a:ext cx="3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  <p:grpSp>
          <p:nvGrpSpPr>
            <p:cNvPr id="50222" name="Group 40">
              <a:extLst>
                <a:ext uri="{FF2B5EF4-FFF2-40B4-BE49-F238E27FC236}">
                  <a16:creationId xmlns:a16="http://schemas.microsoft.com/office/drawing/2014/main" id="{9F1F202E-1C40-4FE0-99C7-14D82E50E0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2" y="2486"/>
              <a:ext cx="1974" cy="1594"/>
              <a:chOff x="2962" y="2486"/>
              <a:chExt cx="1974" cy="1594"/>
            </a:xfrm>
          </p:grpSpPr>
          <p:sp>
            <p:nvSpPr>
              <p:cNvPr id="50223" name="Rectangle 41">
                <a:extLst>
                  <a:ext uri="{FF2B5EF4-FFF2-40B4-BE49-F238E27FC236}">
                    <a16:creationId xmlns:a16="http://schemas.microsoft.com/office/drawing/2014/main" id="{532B3456-F319-4B7E-801D-41F847268F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" y="2497"/>
                <a:ext cx="960" cy="1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1FFF H</a:t>
                </a:r>
              </a:p>
            </p:txBody>
          </p:sp>
          <p:sp>
            <p:nvSpPr>
              <p:cNvPr id="50224" name="Rectangle 42">
                <a:extLst>
                  <a:ext uri="{FF2B5EF4-FFF2-40B4-BE49-F238E27FC236}">
                    <a16:creationId xmlns:a16="http://schemas.microsoft.com/office/drawing/2014/main" id="{2121F574-796D-47D3-86DF-0F60239FDF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" y="3100"/>
                <a:ext cx="960" cy="172"/>
              </a:xfrm>
              <a:prstGeom prst="rect">
                <a:avLst/>
              </a:prstGeom>
              <a:solidFill>
                <a:schemeClr val="tx1">
                  <a:alpha val="50195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0225" name="Rectangle 43">
                <a:extLst>
                  <a:ext uri="{FF2B5EF4-FFF2-40B4-BE49-F238E27FC236}">
                    <a16:creationId xmlns:a16="http://schemas.microsoft.com/office/drawing/2014/main" id="{3DF06928-73A3-40AF-A586-19A7AF8E57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" y="3850"/>
                <a:ext cx="960" cy="1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0226" name="Text Box 44">
                <a:extLst>
                  <a:ext uri="{FF2B5EF4-FFF2-40B4-BE49-F238E27FC236}">
                    <a16:creationId xmlns:a16="http://schemas.microsoft.com/office/drawing/2014/main" id="{0E73D770-AAFA-44EB-9C72-2AA54E3404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3" y="2486"/>
                <a:ext cx="30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SP</a:t>
                </a:r>
              </a:p>
            </p:txBody>
          </p:sp>
          <p:sp>
            <p:nvSpPr>
              <p:cNvPr id="50227" name="Text Box 45">
                <a:extLst>
                  <a:ext uri="{FF2B5EF4-FFF2-40B4-BE49-F238E27FC236}">
                    <a16:creationId xmlns:a16="http://schemas.microsoft.com/office/drawing/2014/main" id="{67E88CD8-DDFC-4DC9-B17E-0D65A8D02F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2" y="3052"/>
                <a:ext cx="61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1FFFH</a:t>
                </a:r>
              </a:p>
            </p:txBody>
          </p:sp>
          <p:sp>
            <p:nvSpPr>
              <p:cNvPr id="50228" name="Text Box 46">
                <a:extLst>
                  <a:ext uri="{FF2B5EF4-FFF2-40B4-BE49-F238E27FC236}">
                    <a16:creationId xmlns:a16="http://schemas.microsoft.com/office/drawing/2014/main" id="{C78280BB-48E5-4598-934F-8766DB5357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8" y="3072"/>
                <a:ext cx="43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栈顶</a:t>
                </a:r>
              </a:p>
            </p:txBody>
          </p:sp>
          <p:sp>
            <p:nvSpPr>
              <p:cNvPr id="50229" name="Text Box 47">
                <a:extLst>
                  <a:ext uri="{FF2B5EF4-FFF2-40B4-BE49-F238E27FC236}">
                    <a16:creationId xmlns:a16="http://schemas.microsoft.com/office/drawing/2014/main" id="{0174CA9A-A38A-45B3-B2CE-276F459D91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8" y="3830"/>
                <a:ext cx="43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栈底</a:t>
                </a:r>
              </a:p>
            </p:txBody>
          </p:sp>
          <p:sp>
            <p:nvSpPr>
              <p:cNvPr id="50230" name="Freeform 48">
                <a:extLst>
                  <a:ext uri="{FF2B5EF4-FFF2-40B4-BE49-F238E27FC236}">
                    <a16:creationId xmlns:a16="http://schemas.microsoft.com/office/drawing/2014/main" id="{006A39C6-F3F8-4A37-82AC-B18D93513A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" y="2860"/>
                <a:ext cx="1" cy="1156"/>
              </a:xfrm>
              <a:custGeom>
                <a:avLst/>
                <a:gdLst>
                  <a:gd name="T0" fmla="*/ 1 w 1"/>
                  <a:gd name="T1" fmla="*/ 0 h 1156"/>
                  <a:gd name="T2" fmla="*/ 0 w 1"/>
                  <a:gd name="T3" fmla="*/ 1156 h 1156"/>
                  <a:gd name="T4" fmla="*/ 0 60000 65536"/>
                  <a:gd name="T5" fmla="*/ 0 60000 65536"/>
                  <a:gd name="T6" fmla="*/ 0 w 1"/>
                  <a:gd name="T7" fmla="*/ 0 h 1156"/>
                  <a:gd name="T8" fmla="*/ 1 w 1"/>
                  <a:gd name="T9" fmla="*/ 1156 h 115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156">
                    <a:moveTo>
                      <a:pt x="1" y="0"/>
                    </a:moveTo>
                    <a:lnTo>
                      <a:pt x="0" y="115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0231" name="Freeform 49">
                <a:extLst>
                  <a:ext uri="{FF2B5EF4-FFF2-40B4-BE49-F238E27FC236}">
                    <a16:creationId xmlns:a16="http://schemas.microsoft.com/office/drawing/2014/main" id="{01A2B9A7-3B41-4102-ADBE-128B720DB1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2" y="2860"/>
                <a:ext cx="1" cy="1156"/>
              </a:xfrm>
              <a:custGeom>
                <a:avLst/>
                <a:gdLst>
                  <a:gd name="T0" fmla="*/ 1 w 1"/>
                  <a:gd name="T1" fmla="*/ 0 h 1156"/>
                  <a:gd name="T2" fmla="*/ 0 w 1"/>
                  <a:gd name="T3" fmla="*/ 1156 h 1156"/>
                  <a:gd name="T4" fmla="*/ 0 60000 65536"/>
                  <a:gd name="T5" fmla="*/ 0 60000 65536"/>
                  <a:gd name="T6" fmla="*/ 0 w 1"/>
                  <a:gd name="T7" fmla="*/ 0 h 1156"/>
                  <a:gd name="T8" fmla="*/ 1 w 1"/>
                  <a:gd name="T9" fmla="*/ 1156 h 115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156">
                    <a:moveTo>
                      <a:pt x="1" y="0"/>
                    </a:moveTo>
                    <a:lnTo>
                      <a:pt x="0" y="115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0232" name="Freeform 50">
                <a:extLst>
                  <a:ext uri="{FF2B5EF4-FFF2-40B4-BE49-F238E27FC236}">
                    <a16:creationId xmlns:a16="http://schemas.microsoft.com/office/drawing/2014/main" id="{BEFC4F49-4025-4A38-8213-2BE50F71E1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2" y="3483"/>
                <a:ext cx="942" cy="1"/>
              </a:xfrm>
              <a:custGeom>
                <a:avLst/>
                <a:gdLst>
                  <a:gd name="T0" fmla="*/ 0 w 942"/>
                  <a:gd name="T1" fmla="*/ 0 h 1"/>
                  <a:gd name="T2" fmla="*/ 942 w 942"/>
                  <a:gd name="T3" fmla="*/ 0 h 1"/>
                  <a:gd name="T4" fmla="*/ 0 60000 65536"/>
                  <a:gd name="T5" fmla="*/ 0 60000 65536"/>
                  <a:gd name="T6" fmla="*/ 0 w 942"/>
                  <a:gd name="T7" fmla="*/ 0 h 1"/>
                  <a:gd name="T8" fmla="*/ 942 w 942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42" h="1">
                    <a:moveTo>
                      <a:pt x="0" y="0"/>
                    </a:moveTo>
                    <a:lnTo>
                      <a:pt x="942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9" name="Group 51">
            <a:extLst>
              <a:ext uri="{FF2B5EF4-FFF2-40B4-BE49-F238E27FC236}">
                <a16:creationId xmlns:a16="http://schemas.microsoft.com/office/drawing/2014/main" id="{2003D9F2-7A93-4821-B9F9-0708B6588136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4387850"/>
            <a:ext cx="1143000" cy="396875"/>
            <a:chOff x="1584" y="2764"/>
            <a:chExt cx="720" cy="250"/>
          </a:xfrm>
        </p:grpSpPr>
        <p:sp>
          <p:nvSpPr>
            <p:cNvPr id="50219" name="AutoShape 52">
              <a:extLst>
                <a:ext uri="{FF2B5EF4-FFF2-40B4-BE49-F238E27FC236}">
                  <a16:creationId xmlns:a16="http://schemas.microsoft.com/office/drawing/2014/main" id="{A7DBB106-6778-4A66-8EAA-943693F562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812"/>
              <a:ext cx="144" cy="192"/>
            </a:xfrm>
            <a:prstGeom prst="downArrow">
              <a:avLst>
                <a:gd name="adj1" fmla="val 50000"/>
                <a:gd name="adj2" fmla="val 33333"/>
              </a:avLst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220" name="Text Box 53">
              <a:extLst>
                <a:ext uri="{FF2B5EF4-FFF2-40B4-BE49-F238E27FC236}">
                  <a16:creationId xmlns:a16="http://schemas.microsoft.com/office/drawing/2014/main" id="{323A3E7F-C4BB-4F5D-B770-8682F5076C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764"/>
              <a:ext cx="5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进栈</a:t>
              </a:r>
            </a:p>
          </p:txBody>
        </p:sp>
      </p:grpSp>
      <p:grpSp>
        <p:nvGrpSpPr>
          <p:cNvPr id="10" name="Group 54">
            <a:extLst>
              <a:ext uri="{FF2B5EF4-FFF2-40B4-BE49-F238E27FC236}">
                <a16:creationId xmlns:a16="http://schemas.microsoft.com/office/drawing/2014/main" id="{0C87AA97-6181-49C2-913D-4445148460FC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4387850"/>
            <a:ext cx="1143000" cy="396875"/>
            <a:chOff x="3936" y="2764"/>
            <a:chExt cx="720" cy="250"/>
          </a:xfrm>
        </p:grpSpPr>
        <p:sp>
          <p:nvSpPr>
            <p:cNvPr id="50217" name="AutoShape 55">
              <a:extLst>
                <a:ext uri="{FF2B5EF4-FFF2-40B4-BE49-F238E27FC236}">
                  <a16:creationId xmlns:a16="http://schemas.microsoft.com/office/drawing/2014/main" id="{39A4ADA4-BCE8-444B-9C58-A9DA5385747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936" y="2812"/>
              <a:ext cx="144" cy="192"/>
            </a:xfrm>
            <a:prstGeom prst="downArrow">
              <a:avLst>
                <a:gd name="adj1" fmla="val 50000"/>
                <a:gd name="adj2" fmla="val 33333"/>
              </a:avLst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218" name="Text Box 56">
              <a:extLst>
                <a:ext uri="{FF2B5EF4-FFF2-40B4-BE49-F238E27FC236}">
                  <a16:creationId xmlns:a16="http://schemas.microsoft.com/office/drawing/2014/main" id="{0B0A4902-F5E6-4978-9DF8-F07B15F145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764"/>
              <a:ext cx="5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出栈</a:t>
              </a:r>
            </a:p>
          </p:txBody>
        </p:sp>
      </p:grpSp>
      <p:sp>
        <p:nvSpPr>
          <p:cNvPr id="33849" name="Text Box 57">
            <a:extLst>
              <a:ext uri="{FF2B5EF4-FFF2-40B4-BE49-F238E27FC236}">
                <a16:creationId xmlns:a16="http://schemas.microsoft.com/office/drawing/2014/main" id="{E199AC57-0A4A-49CC-854B-21776ED5C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25" y="3962400"/>
            <a:ext cx="1524000" cy="333375"/>
          </a:xfrm>
          <a:prstGeom prst="rect">
            <a:avLst/>
          </a:prstGeom>
          <a:solidFill>
            <a:srgbClr val="0032D4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1FFF H</a:t>
            </a:r>
          </a:p>
        </p:txBody>
      </p:sp>
      <p:grpSp>
        <p:nvGrpSpPr>
          <p:cNvPr id="11" name="Group 58">
            <a:extLst>
              <a:ext uri="{FF2B5EF4-FFF2-40B4-BE49-F238E27FC236}">
                <a16:creationId xmlns:a16="http://schemas.microsoft.com/office/drawing/2014/main" id="{5C53E822-1C60-41CE-9A07-055059332E5B}"/>
              </a:ext>
            </a:extLst>
          </p:cNvPr>
          <p:cNvGrpSpPr>
            <a:grpSpLocks/>
          </p:cNvGrpSpPr>
          <p:nvPr/>
        </p:nvGrpSpPr>
        <p:grpSpPr bwMode="auto">
          <a:xfrm>
            <a:off x="1881188" y="4849813"/>
            <a:ext cx="2309812" cy="396875"/>
            <a:chOff x="1185" y="3055"/>
            <a:chExt cx="1455" cy="250"/>
          </a:xfrm>
        </p:grpSpPr>
        <p:sp>
          <p:nvSpPr>
            <p:cNvPr id="50215" name="Rectangle 59">
              <a:extLst>
                <a:ext uri="{FF2B5EF4-FFF2-40B4-BE49-F238E27FC236}">
                  <a16:creationId xmlns:a16="http://schemas.microsoft.com/office/drawing/2014/main" id="{F0F17BE7-F2C3-44B2-B7C2-84439DE2B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5" y="3092"/>
              <a:ext cx="960" cy="172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216" name="Text Box 60">
              <a:extLst>
                <a:ext uri="{FF2B5EF4-FFF2-40B4-BE49-F238E27FC236}">
                  <a16:creationId xmlns:a16="http://schemas.microsoft.com/office/drawing/2014/main" id="{79C28263-89FE-42CD-9445-E49C5024E4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055"/>
              <a:ext cx="4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栈顶</a:t>
              </a:r>
            </a:p>
          </p:txBody>
        </p:sp>
      </p:grpSp>
      <p:grpSp>
        <p:nvGrpSpPr>
          <p:cNvPr id="12" name="Group 61">
            <a:extLst>
              <a:ext uri="{FF2B5EF4-FFF2-40B4-BE49-F238E27FC236}">
                <a16:creationId xmlns:a16="http://schemas.microsoft.com/office/drawing/2014/main" id="{FE59C514-7B15-4AB6-88A6-EB51D79E1301}"/>
              </a:ext>
            </a:extLst>
          </p:cNvPr>
          <p:cNvGrpSpPr>
            <a:grpSpLocks/>
          </p:cNvGrpSpPr>
          <p:nvPr/>
        </p:nvGrpSpPr>
        <p:grpSpPr bwMode="auto">
          <a:xfrm>
            <a:off x="1881188" y="5181600"/>
            <a:ext cx="2233612" cy="519113"/>
            <a:chOff x="1185" y="3264"/>
            <a:chExt cx="1407" cy="327"/>
          </a:xfrm>
        </p:grpSpPr>
        <p:sp>
          <p:nvSpPr>
            <p:cNvPr id="50213" name="Text Box 62">
              <a:extLst>
                <a:ext uri="{FF2B5EF4-FFF2-40B4-BE49-F238E27FC236}">
                  <a16:creationId xmlns:a16="http://schemas.microsoft.com/office/drawing/2014/main" id="{5DADF076-FDB9-47DF-B7D2-87B49741A4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5" y="3264"/>
              <a:ext cx="960" cy="192"/>
            </a:xfrm>
            <a:prstGeom prst="rect">
              <a:avLst/>
            </a:prstGeom>
            <a:solidFill>
              <a:srgbClr val="00008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214" name="Text Box 63">
              <a:extLst>
                <a:ext uri="{FF2B5EF4-FFF2-40B4-BE49-F238E27FC236}">
                  <a16:creationId xmlns:a16="http://schemas.microsoft.com/office/drawing/2014/main" id="{AC3F120A-54AC-42EA-9BE7-9480BA20B2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264"/>
              <a:ext cx="384" cy="327"/>
            </a:xfrm>
            <a:prstGeom prst="rect">
              <a:avLst/>
            </a:prstGeom>
            <a:solidFill>
              <a:srgbClr val="00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856" name="Text Box 64">
            <a:extLst>
              <a:ext uri="{FF2B5EF4-FFF2-40B4-BE49-F238E27FC236}">
                <a16:creationId xmlns:a16="http://schemas.microsoft.com/office/drawing/2014/main" id="{3CD5A246-24DF-493D-AF0C-D0D874C78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6575" y="3962400"/>
            <a:ext cx="1524000" cy="333375"/>
          </a:xfrm>
          <a:prstGeom prst="rect">
            <a:avLst/>
          </a:prstGeom>
          <a:solidFill>
            <a:srgbClr val="00007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2000 H</a:t>
            </a:r>
          </a:p>
        </p:txBody>
      </p:sp>
      <p:grpSp>
        <p:nvGrpSpPr>
          <p:cNvPr id="13" name="Group 65">
            <a:extLst>
              <a:ext uri="{FF2B5EF4-FFF2-40B4-BE49-F238E27FC236}">
                <a16:creationId xmlns:a16="http://schemas.microsoft.com/office/drawing/2014/main" id="{C763F18D-6AB1-475F-BB75-DF56606B0414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4891088"/>
            <a:ext cx="2971800" cy="519112"/>
            <a:chOff x="3024" y="3081"/>
            <a:chExt cx="1872" cy="327"/>
          </a:xfrm>
        </p:grpSpPr>
        <p:grpSp>
          <p:nvGrpSpPr>
            <p:cNvPr id="50209" name="Group 66">
              <a:extLst>
                <a:ext uri="{FF2B5EF4-FFF2-40B4-BE49-F238E27FC236}">
                  <a16:creationId xmlns:a16="http://schemas.microsoft.com/office/drawing/2014/main" id="{84FBEE8D-B43D-473E-9711-F3382AA1B8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7" y="3081"/>
              <a:ext cx="1359" cy="327"/>
              <a:chOff x="3537" y="3081"/>
              <a:chExt cx="1359" cy="327"/>
            </a:xfrm>
          </p:grpSpPr>
          <p:sp>
            <p:nvSpPr>
              <p:cNvPr id="50211" name="Text Box 67">
                <a:extLst>
                  <a:ext uri="{FF2B5EF4-FFF2-40B4-BE49-F238E27FC236}">
                    <a16:creationId xmlns:a16="http://schemas.microsoft.com/office/drawing/2014/main" id="{8DF766F2-D05E-4227-9730-4CA1D8C21B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37" y="3089"/>
                <a:ext cx="960" cy="192"/>
              </a:xfrm>
              <a:prstGeom prst="rect">
                <a:avLst/>
              </a:prstGeom>
              <a:solidFill>
                <a:srgbClr val="00007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0212" name="Text Box 68">
                <a:extLst>
                  <a:ext uri="{FF2B5EF4-FFF2-40B4-BE49-F238E27FC236}">
                    <a16:creationId xmlns:a16="http://schemas.microsoft.com/office/drawing/2014/main" id="{FCEFF7E5-E287-44B1-A689-093601A7D7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3081"/>
                <a:ext cx="336" cy="327"/>
              </a:xfrm>
              <a:prstGeom prst="rect">
                <a:avLst/>
              </a:prstGeom>
              <a:solidFill>
                <a:srgbClr val="000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0210" name="Text Box 69">
              <a:extLst>
                <a:ext uri="{FF2B5EF4-FFF2-40B4-BE49-F238E27FC236}">
                  <a16:creationId xmlns:a16="http://schemas.microsoft.com/office/drawing/2014/main" id="{15C54BC8-0FED-4C22-B78B-1E8D7004C5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3089"/>
              <a:ext cx="506" cy="192"/>
            </a:xfrm>
            <a:prstGeom prst="rect">
              <a:avLst/>
            </a:prstGeom>
            <a:solidFill>
              <a:srgbClr val="0000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5" name="Group 70">
            <a:extLst>
              <a:ext uri="{FF2B5EF4-FFF2-40B4-BE49-F238E27FC236}">
                <a16:creationId xmlns:a16="http://schemas.microsoft.com/office/drawing/2014/main" id="{3B8EC961-1A89-4DD7-8736-8F9C53BDB618}"/>
              </a:ext>
            </a:extLst>
          </p:cNvPr>
          <p:cNvGrpSpPr>
            <a:grpSpLocks/>
          </p:cNvGrpSpPr>
          <p:nvPr/>
        </p:nvGrpSpPr>
        <p:grpSpPr bwMode="auto">
          <a:xfrm>
            <a:off x="5613400" y="5181600"/>
            <a:ext cx="2311400" cy="396875"/>
            <a:chOff x="3536" y="3264"/>
            <a:chExt cx="1456" cy="250"/>
          </a:xfrm>
        </p:grpSpPr>
        <p:sp>
          <p:nvSpPr>
            <p:cNvPr id="50207" name="Rectangle 71">
              <a:extLst>
                <a:ext uri="{FF2B5EF4-FFF2-40B4-BE49-F238E27FC236}">
                  <a16:creationId xmlns:a16="http://schemas.microsoft.com/office/drawing/2014/main" id="{DB9E7A7C-3A31-4C68-85E9-9EB46306C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6" y="3296"/>
              <a:ext cx="960" cy="172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208" name="Text Box 72">
              <a:extLst>
                <a:ext uri="{FF2B5EF4-FFF2-40B4-BE49-F238E27FC236}">
                  <a16:creationId xmlns:a16="http://schemas.microsoft.com/office/drawing/2014/main" id="{208DF2D2-223D-4483-9712-9FD0A923A3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264"/>
              <a:ext cx="4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栈顶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2939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33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6" dur="500"/>
                                        <p:tgtEl>
                                          <p:spTgt spid="33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6" dur="500"/>
                                        <p:tgtEl>
                                          <p:spTgt spid="3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5" dur="500"/>
                                        <p:tgtEl>
                                          <p:spTgt spid="33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3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autoUpdateAnimBg="0"/>
      <p:bldP spid="33796" grpId="0" autoUpdateAnimBg="0"/>
      <p:bldP spid="33800" grpId="0" autoUpdateAnimBg="0"/>
      <p:bldP spid="33801" grpId="0" autoUpdateAnimBg="0"/>
      <p:bldP spid="33802" grpId="0" autoUpdateAnimBg="0"/>
      <p:bldP spid="33803" grpId="0" autoUpdateAnimBg="0"/>
      <p:bldP spid="33804" grpId="0" autoUpdateAnimBg="0"/>
      <p:bldP spid="33805" grpId="0" autoUpdateAnimBg="0"/>
      <p:bldP spid="33806" grpId="0" autoUpdateAnimBg="0"/>
      <p:bldP spid="33807" grpId="0" autoUpdateAnimBg="0"/>
      <p:bldP spid="33808" grpId="0" animBg="1"/>
      <p:bldP spid="33809" grpId="0" animBg="1"/>
      <p:bldP spid="33810" grpId="0" animBg="1"/>
      <p:bldP spid="33849" grpId="0" animBg="1" autoUpdateAnimBg="0"/>
      <p:bldP spid="33856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>
            <a:extLst>
              <a:ext uri="{FF2B5EF4-FFF2-40B4-BE49-F238E27FC236}">
                <a16:creationId xmlns:a16="http://schemas.microsoft.com/office/drawing/2014/main" id="{64502B49-3983-4AE8-841A-8A2C8AB32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120650"/>
            <a:ext cx="41306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②堆栈寻址举例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77D880C7-3E16-4083-9EAD-07FEDA230287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838200"/>
            <a:ext cx="4241800" cy="2516188"/>
            <a:chOff x="144" y="528"/>
            <a:chExt cx="2672" cy="1585"/>
          </a:xfrm>
        </p:grpSpPr>
        <p:sp>
          <p:nvSpPr>
            <p:cNvPr id="51252" name="Rectangle 4">
              <a:extLst>
                <a:ext uri="{FF2B5EF4-FFF2-40B4-BE49-F238E27FC236}">
                  <a16:creationId xmlns:a16="http://schemas.microsoft.com/office/drawing/2014/main" id="{0FEA6E1E-42C4-4D67-A8B5-D28E53888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" y="778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15</a:t>
              </a:r>
            </a:p>
          </p:txBody>
        </p:sp>
        <p:sp>
          <p:nvSpPr>
            <p:cNvPr id="51253" name="Rectangle 5">
              <a:extLst>
                <a:ext uri="{FF2B5EF4-FFF2-40B4-BE49-F238E27FC236}">
                  <a16:creationId xmlns:a16="http://schemas.microsoft.com/office/drawing/2014/main" id="{99F2704A-4CF4-4E09-BD2A-C6A1F9D8F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" y="1162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200H</a:t>
              </a:r>
            </a:p>
          </p:txBody>
        </p:sp>
        <p:sp>
          <p:nvSpPr>
            <p:cNvPr id="51254" name="Text Box 6">
              <a:extLst>
                <a:ext uri="{FF2B5EF4-FFF2-40B4-BE49-F238E27FC236}">
                  <a16:creationId xmlns:a16="http://schemas.microsoft.com/office/drawing/2014/main" id="{3569459D-14DD-48DE-B07D-FD83692CC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778"/>
              <a:ext cx="46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ACC</a:t>
              </a:r>
            </a:p>
          </p:txBody>
        </p:sp>
        <p:sp>
          <p:nvSpPr>
            <p:cNvPr id="51255" name="Text Box 7">
              <a:extLst>
                <a:ext uri="{FF2B5EF4-FFF2-40B4-BE49-F238E27FC236}">
                  <a16:creationId xmlns:a16="http://schemas.microsoft.com/office/drawing/2014/main" id="{8EF11B49-EA95-4DEC-996D-9C05F62B1C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" y="1152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SP</a:t>
              </a:r>
            </a:p>
          </p:txBody>
        </p:sp>
        <p:sp>
          <p:nvSpPr>
            <p:cNvPr id="51256" name="Rectangle 8">
              <a:extLst>
                <a:ext uri="{FF2B5EF4-FFF2-40B4-BE49-F238E27FC236}">
                  <a16:creationId xmlns:a16="http://schemas.microsoft.com/office/drawing/2014/main" id="{50CFAE8C-14B5-4397-BC2D-C281BEE09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2" y="778"/>
              <a:ext cx="864" cy="133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57" name="Rectangle 9">
              <a:extLst>
                <a:ext uri="{FF2B5EF4-FFF2-40B4-BE49-F238E27FC236}">
                  <a16:creationId xmlns:a16="http://schemas.microsoft.com/office/drawing/2014/main" id="{AB777EC3-FBEC-4559-8041-454F2D908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2" y="1258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51258" name="Text Box 10">
              <a:extLst>
                <a:ext uri="{FF2B5EF4-FFF2-40B4-BE49-F238E27FC236}">
                  <a16:creationId xmlns:a16="http://schemas.microsoft.com/office/drawing/2014/main" id="{8F2FE08F-80D5-4D52-B197-BED1C61F32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0" y="1046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栈顶</a:t>
              </a:r>
            </a:p>
          </p:txBody>
        </p:sp>
        <p:sp>
          <p:nvSpPr>
            <p:cNvPr id="51259" name="Text Box 11">
              <a:extLst>
                <a:ext uri="{FF2B5EF4-FFF2-40B4-BE49-F238E27FC236}">
                  <a16:creationId xmlns:a16="http://schemas.microsoft.com/office/drawing/2014/main" id="{47EEF0B2-21D4-4673-A0CA-EB52C3720C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238"/>
              <a:ext cx="4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200H</a:t>
              </a:r>
            </a:p>
          </p:txBody>
        </p:sp>
        <p:sp>
          <p:nvSpPr>
            <p:cNvPr id="51260" name="Text Box 12">
              <a:extLst>
                <a:ext uri="{FF2B5EF4-FFF2-40B4-BE49-F238E27FC236}">
                  <a16:creationId xmlns:a16="http://schemas.microsoft.com/office/drawing/2014/main" id="{8BD2EB7F-039F-41C8-818C-19C7FA4405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0" y="1862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栈底</a:t>
              </a:r>
            </a:p>
          </p:txBody>
        </p:sp>
        <p:sp>
          <p:nvSpPr>
            <p:cNvPr id="51261" name="Text Box 13">
              <a:extLst>
                <a:ext uri="{FF2B5EF4-FFF2-40B4-BE49-F238E27FC236}">
                  <a16:creationId xmlns:a16="http://schemas.microsoft.com/office/drawing/2014/main" id="{727D49FF-0E89-4EFB-99E4-4560EBECAE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4" y="528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主存</a:t>
              </a:r>
            </a:p>
          </p:txBody>
        </p:sp>
      </p:grpSp>
      <p:grpSp>
        <p:nvGrpSpPr>
          <p:cNvPr id="3" name="Group 14">
            <a:extLst>
              <a:ext uri="{FF2B5EF4-FFF2-40B4-BE49-F238E27FC236}">
                <a16:creationId xmlns:a16="http://schemas.microsoft.com/office/drawing/2014/main" id="{E0301592-3055-4E62-8FAC-58BCCE529C84}"/>
              </a:ext>
            </a:extLst>
          </p:cNvPr>
          <p:cNvGrpSpPr>
            <a:grpSpLocks/>
          </p:cNvGrpSpPr>
          <p:nvPr/>
        </p:nvGrpSpPr>
        <p:grpSpPr bwMode="auto">
          <a:xfrm>
            <a:off x="4673600" y="838200"/>
            <a:ext cx="4241800" cy="2530475"/>
            <a:chOff x="2944" y="528"/>
            <a:chExt cx="2672" cy="1594"/>
          </a:xfrm>
        </p:grpSpPr>
        <p:sp>
          <p:nvSpPr>
            <p:cNvPr id="51239" name="Rectangle 15">
              <a:extLst>
                <a:ext uri="{FF2B5EF4-FFF2-40B4-BE49-F238E27FC236}">
                  <a16:creationId xmlns:a16="http://schemas.microsoft.com/office/drawing/2014/main" id="{F3B6AFF5-2364-4E11-A352-5071E9168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778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15</a:t>
              </a:r>
            </a:p>
          </p:txBody>
        </p:sp>
        <p:sp>
          <p:nvSpPr>
            <p:cNvPr id="51240" name="Rectangle 16">
              <a:extLst>
                <a:ext uri="{FF2B5EF4-FFF2-40B4-BE49-F238E27FC236}">
                  <a16:creationId xmlns:a16="http://schemas.microsoft.com/office/drawing/2014/main" id="{CBA73AC8-06B7-4947-86EA-68F7330098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162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1FFH</a:t>
              </a:r>
            </a:p>
          </p:txBody>
        </p:sp>
        <p:sp>
          <p:nvSpPr>
            <p:cNvPr id="51241" name="Text Box 17">
              <a:extLst>
                <a:ext uri="{FF2B5EF4-FFF2-40B4-BE49-F238E27FC236}">
                  <a16:creationId xmlns:a16="http://schemas.microsoft.com/office/drawing/2014/main" id="{383F0810-C0E2-41EF-B260-0E0D5B62DD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4" y="778"/>
              <a:ext cx="46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ACC</a:t>
              </a:r>
            </a:p>
          </p:txBody>
        </p:sp>
        <p:sp>
          <p:nvSpPr>
            <p:cNvPr id="51242" name="Text Box 18">
              <a:extLst>
                <a:ext uri="{FF2B5EF4-FFF2-40B4-BE49-F238E27FC236}">
                  <a16:creationId xmlns:a16="http://schemas.microsoft.com/office/drawing/2014/main" id="{EC6E7962-157A-49FA-9C93-8A7EFE34EC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152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SP</a:t>
              </a:r>
            </a:p>
          </p:txBody>
        </p:sp>
        <p:sp>
          <p:nvSpPr>
            <p:cNvPr id="51243" name="Rectangle 19">
              <a:extLst>
                <a:ext uri="{FF2B5EF4-FFF2-40B4-BE49-F238E27FC236}">
                  <a16:creationId xmlns:a16="http://schemas.microsoft.com/office/drawing/2014/main" id="{5862ED38-3D62-47B3-B57F-DDA7777E2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778"/>
              <a:ext cx="864" cy="133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44" name="Rectangle 20">
              <a:extLst>
                <a:ext uri="{FF2B5EF4-FFF2-40B4-BE49-F238E27FC236}">
                  <a16:creationId xmlns:a16="http://schemas.microsoft.com/office/drawing/2014/main" id="{9A840F91-2C7B-4B2E-A0E3-4E525B691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1066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15</a:t>
              </a:r>
            </a:p>
          </p:txBody>
        </p:sp>
        <p:sp>
          <p:nvSpPr>
            <p:cNvPr id="51245" name="Text Box 21">
              <a:extLst>
                <a:ext uri="{FF2B5EF4-FFF2-40B4-BE49-F238E27FC236}">
                  <a16:creationId xmlns:a16="http://schemas.microsoft.com/office/drawing/2014/main" id="{DED6D5CD-5976-4205-B16B-647D739A62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854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栈顶</a:t>
              </a:r>
            </a:p>
          </p:txBody>
        </p:sp>
        <p:sp>
          <p:nvSpPr>
            <p:cNvPr id="51246" name="Text Box 22">
              <a:extLst>
                <a:ext uri="{FF2B5EF4-FFF2-40B4-BE49-F238E27FC236}">
                  <a16:creationId xmlns:a16="http://schemas.microsoft.com/office/drawing/2014/main" id="{EE8C39E6-86A7-4716-8441-C89E913E39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8" y="1286"/>
              <a:ext cx="4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200H</a:t>
              </a:r>
            </a:p>
          </p:txBody>
        </p:sp>
        <p:sp>
          <p:nvSpPr>
            <p:cNvPr id="51247" name="Text Box 23">
              <a:extLst>
                <a:ext uri="{FF2B5EF4-FFF2-40B4-BE49-F238E27FC236}">
                  <a16:creationId xmlns:a16="http://schemas.microsoft.com/office/drawing/2014/main" id="{453592D5-B765-4068-A401-BEB6C90478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872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栈底</a:t>
              </a:r>
            </a:p>
          </p:txBody>
        </p:sp>
        <p:sp>
          <p:nvSpPr>
            <p:cNvPr id="51248" name="Text Box 24">
              <a:extLst>
                <a:ext uri="{FF2B5EF4-FFF2-40B4-BE49-F238E27FC236}">
                  <a16:creationId xmlns:a16="http://schemas.microsoft.com/office/drawing/2014/main" id="{E11989C6-0A23-4BF1-83FC-6A5DA8F429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528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主存</a:t>
              </a:r>
            </a:p>
          </p:txBody>
        </p:sp>
        <p:sp>
          <p:nvSpPr>
            <p:cNvPr id="51249" name="Rectangle 25">
              <a:extLst>
                <a:ext uri="{FF2B5EF4-FFF2-40B4-BE49-F238E27FC236}">
                  <a16:creationId xmlns:a16="http://schemas.microsoft.com/office/drawing/2014/main" id="{011AD667-D577-4D84-A112-EAFC2E462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1306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51250" name="Text Box 26">
              <a:extLst>
                <a:ext uri="{FF2B5EF4-FFF2-40B4-BE49-F238E27FC236}">
                  <a16:creationId xmlns:a16="http://schemas.microsoft.com/office/drawing/2014/main" id="{A91250C6-2459-4EC6-8844-B336D0FB46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046"/>
              <a:ext cx="5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1FFH</a:t>
              </a:r>
            </a:p>
          </p:txBody>
        </p:sp>
        <p:sp>
          <p:nvSpPr>
            <p:cNvPr id="51251" name="Freeform 27">
              <a:extLst>
                <a:ext uri="{FF2B5EF4-FFF2-40B4-BE49-F238E27FC236}">
                  <a16:creationId xmlns:a16="http://schemas.microsoft.com/office/drawing/2014/main" id="{292312DE-1E2C-4F63-AEB5-9EAB1CB7F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538"/>
              <a:ext cx="1488" cy="480"/>
            </a:xfrm>
            <a:custGeom>
              <a:avLst/>
              <a:gdLst>
                <a:gd name="T0" fmla="*/ 0 w 1584"/>
                <a:gd name="T1" fmla="*/ 240 h 480"/>
                <a:gd name="T2" fmla="*/ 0 w 1584"/>
                <a:gd name="T3" fmla="*/ 0 h 480"/>
                <a:gd name="T4" fmla="*/ 1488 w 1584"/>
                <a:gd name="T5" fmla="*/ 0 h 480"/>
                <a:gd name="T6" fmla="*/ 1488 w 1584"/>
                <a:gd name="T7" fmla="*/ 480 h 4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84"/>
                <a:gd name="T13" fmla="*/ 0 h 480"/>
                <a:gd name="T14" fmla="*/ 1584 w 1584"/>
                <a:gd name="T15" fmla="*/ 480 h 4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84" h="480">
                  <a:moveTo>
                    <a:pt x="0" y="240"/>
                  </a:moveTo>
                  <a:lnTo>
                    <a:pt x="0" y="0"/>
                  </a:lnTo>
                  <a:lnTo>
                    <a:pt x="1584" y="0"/>
                  </a:lnTo>
                  <a:lnTo>
                    <a:pt x="1584" y="48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4844" name="Text Box 28">
            <a:extLst>
              <a:ext uri="{FF2B5EF4-FFF2-40B4-BE49-F238E27FC236}">
                <a16:creationId xmlns:a16="http://schemas.microsoft.com/office/drawing/2014/main" id="{9CA00734-E013-4530-993C-FCDE5AE48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66700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PUSH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A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前</a:t>
            </a:r>
          </a:p>
        </p:txBody>
      </p:sp>
      <p:sp>
        <p:nvSpPr>
          <p:cNvPr id="34845" name="Text Box 29">
            <a:extLst>
              <a:ext uri="{FF2B5EF4-FFF2-40B4-BE49-F238E27FC236}">
                <a16:creationId xmlns:a16="http://schemas.microsoft.com/office/drawing/2014/main" id="{7360D6BF-2758-4CC9-AC39-C5AE72471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266700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PUSH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A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后</a:t>
            </a:r>
          </a:p>
        </p:txBody>
      </p:sp>
      <p:sp>
        <p:nvSpPr>
          <p:cNvPr id="34846" name="Text Box 30">
            <a:extLst>
              <a:ext uri="{FF2B5EF4-FFF2-40B4-BE49-F238E27FC236}">
                <a16:creationId xmlns:a16="http://schemas.microsoft.com/office/drawing/2014/main" id="{656EBC98-8C4F-4DAC-8B4F-0E1D093FD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848350"/>
            <a:ext cx="1547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POP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A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前</a:t>
            </a:r>
          </a:p>
        </p:txBody>
      </p:sp>
      <p:sp>
        <p:nvSpPr>
          <p:cNvPr id="34847" name="Text Box 31">
            <a:extLst>
              <a:ext uri="{FF2B5EF4-FFF2-40B4-BE49-F238E27FC236}">
                <a16:creationId xmlns:a16="http://schemas.microsoft.com/office/drawing/2014/main" id="{7BADBA2E-7D8F-4901-BC01-10C2ED3D0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2988" y="5848350"/>
            <a:ext cx="1547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POP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A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后</a:t>
            </a:r>
          </a:p>
        </p:txBody>
      </p:sp>
      <p:grpSp>
        <p:nvGrpSpPr>
          <p:cNvPr id="4" name="Group 32">
            <a:extLst>
              <a:ext uri="{FF2B5EF4-FFF2-40B4-BE49-F238E27FC236}">
                <a16:creationId xmlns:a16="http://schemas.microsoft.com/office/drawing/2014/main" id="{7539993D-078F-4945-8985-C5624932579A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3962400"/>
            <a:ext cx="4241800" cy="2573338"/>
            <a:chOff x="144" y="2496"/>
            <a:chExt cx="2672" cy="1621"/>
          </a:xfrm>
        </p:grpSpPr>
        <p:sp>
          <p:nvSpPr>
            <p:cNvPr id="51227" name="Rectangle 33">
              <a:extLst>
                <a:ext uri="{FF2B5EF4-FFF2-40B4-BE49-F238E27FC236}">
                  <a16:creationId xmlns:a16="http://schemas.microsoft.com/office/drawing/2014/main" id="{FD641612-27DD-429F-8EA6-8F33321E7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" y="2746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</a:p>
          </p:txBody>
        </p:sp>
        <p:sp>
          <p:nvSpPr>
            <p:cNvPr id="51228" name="Rectangle 34">
              <a:extLst>
                <a:ext uri="{FF2B5EF4-FFF2-40B4-BE49-F238E27FC236}">
                  <a16:creationId xmlns:a16="http://schemas.microsoft.com/office/drawing/2014/main" id="{BE6F628A-8345-4BF4-A339-E3646F7FC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" y="3130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1FFH</a:t>
              </a:r>
            </a:p>
          </p:txBody>
        </p:sp>
        <p:sp>
          <p:nvSpPr>
            <p:cNvPr id="51229" name="Text Box 35">
              <a:extLst>
                <a:ext uri="{FF2B5EF4-FFF2-40B4-BE49-F238E27FC236}">
                  <a16:creationId xmlns:a16="http://schemas.microsoft.com/office/drawing/2014/main" id="{5606AB42-FD00-4C51-AB7B-83FF4A82DF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746"/>
              <a:ext cx="46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ACC</a:t>
              </a:r>
            </a:p>
          </p:txBody>
        </p:sp>
        <p:sp>
          <p:nvSpPr>
            <p:cNvPr id="51230" name="Text Box 36">
              <a:extLst>
                <a:ext uri="{FF2B5EF4-FFF2-40B4-BE49-F238E27FC236}">
                  <a16:creationId xmlns:a16="http://schemas.microsoft.com/office/drawing/2014/main" id="{779DAB07-68C8-41A1-9039-AC7CD1B38F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" y="3120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SP</a:t>
              </a:r>
            </a:p>
          </p:txBody>
        </p:sp>
        <p:sp>
          <p:nvSpPr>
            <p:cNvPr id="51231" name="Rectangle 37">
              <a:extLst>
                <a:ext uri="{FF2B5EF4-FFF2-40B4-BE49-F238E27FC236}">
                  <a16:creationId xmlns:a16="http://schemas.microsoft.com/office/drawing/2014/main" id="{A00A33B9-96E4-470F-A7CF-C705D5B39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2" y="2746"/>
              <a:ext cx="864" cy="137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32" name="Rectangle 38">
              <a:extLst>
                <a:ext uri="{FF2B5EF4-FFF2-40B4-BE49-F238E27FC236}">
                  <a16:creationId xmlns:a16="http://schemas.microsoft.com/office/drawing/2014/main" id="{4CA9AF95-C399-485F-BD73-16F2DC1D1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2" y="3226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51233" name="Text Box 39">
              <a:extLst>
                <a:ext uri="{FF2B5EF4-FFF2-40B4-BE49-F238E27FC236}">
                  <a16:creationId xmlns:a16="http://schemas.microsoft.com/office/drawing/2014/main" id="{3C6AB25F-AFA9-4E6A-9B96-BE86A0E6DF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0" y="2784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栈顶</a:t>
              </a:r>
            </a:p>
          </p:txBody>
        </p:sp>
        <p:sp>
          <p:nvSpPr>
            <p:cNvPr id="51234" name="Text Box 40">
              <a:extLst>
                <a:ext uri="{FF2B5EF4-FFF2-40B4-BE49-F238E27FC236}">
                  <a16:creationId xmlns:a16="http://schemas.microsoft.com/office/drawing/2014/main" id="{D3D94455-4489-4B49-9F6B-67005AE7E4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7" y="3229"/>
              <a:ext cx="4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200H</a:t>
              </a:r>
            </a:p>
          </p:txBody>
        </p:sp>
        <p:sp>
          <p:nvSpPr>
            <p:cNvPr id="51235" name="Text Box 41">
              <a:extLst>
                <a:ext uri="{FF2B5EF4-FFF2-40B4-BE49-F238E27FC236}">
                  <a16:creationId xmlns:a16="http://schemas.microsoft.com/office/drawing/2014/main" id="{317A5E18-429D-454D-9B02-7215C70D8A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0" y="3866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栈底</a:t>
              </a:r>
            </a:p>
          </p:txBody>
        </p:sp>
        <p:sp>
          <p:nvSpPr>
            <p:cNvPr id="51236" name="Text Box 42">
              <a:extLst>
                <a:ext uri="{FF2B5EF4-FFF2-40B4-BE49-F238E27FC236}">
                  <a16:creationId xmlns:a16="http://schemas.microsoft.com/office/drawing/2014/main" id="{CEA8EC1F-468E-403D-B89B-26806B349F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4" y="2496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主存</a:t>
              </a:r>
            </a:p>
          </p:txBody>
        </p:sp>
        <p:sp>
          <p:nvSpPr>
            <p:cNvPr id="51237" name="Rectangle 43">
              <a:extLst>
                <a:ext uri="{FF2B5EF4-FFF2-40B4-BE49-F238E27FC236}">
                  <a16:creationId xmlns:a16="http://schemas.microsoft.com/office/drawing/2014/main" id="{4B82EBD0-53CA-4D1C-AB07-599DB8492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1" y="2986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15</a:t>
              </a:r>
            </a:p>
          </p:txBody>
        </p:sp>
        <p:sp>
          <p:nvSpPr>
            <p:cNvPr id="51238" name="Text Box 44">
              <a:extLst>
                <a:ext uri="{FF2B5EF4-FFF2-40B4-BE49-F238E27FC236}">
                  <a16:creationId xmlns:a16="http://schemas.microsoft.com/office/drawing/2014/main" id="{05BB7876-46A5-4891-AF6A-F52CA8F85D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3" y="2976"/>
              <a:ext cx="5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1FFH</a:t>
              </a:r>
            </a:p>
          </p:txBody>
        </p:sp>
      </p:grpSp>
      <p:grpSp>
        <p:nvGrpSpPr>
          <p:cNvPr id="5" name="Group 45">
            <a:extLst>
              <a:ext uri="{FF2B5EF4-FFF2-40B4-BE49-F238E27FC236}">
                <a16:creationId xmlns:a16="http://schemas.microsoft.com/office/drawing/2014/main" id="{4D3A9D28-1A86-43C4-9CD4-A801987941D8}"/>
              </a:ext>
            </a:extLst>
          </p:cNvPr>
          <p:cNvGrpSpPr>
            <a:grpSpLocks/>
          </p:cNvGrpSpPr>
          <p:nvPr/>
        </p:nvGrpSpPr>
        <p:grpSpPr bwMode="auto">
          <a:xfrm>
            <a:off x="4673600" y="3933825"/>
            <a:ext cx="4241800" cy="2571750"/>
            <a:chOff x="2944" y="2496"/>
            <a:chExt cx="2672" cy="1620"/>
          </a:xfrm>
        </p:grpSpPr>
        <p:grpSp>
          <p:nvGrpSpPr>
            <p:cNvPr id="51213" name="Group 46">
              <a:extLst>
                <a:ext uri="{FF2B5EF4-FFF2-40B4-BE49-F238E27FC236}">
                  <a16:creationId xmlns:a16="http://schemas.microsoft.com/office/drawing/2014/main" id="{37828709-3984-4F51-B20F-A16D931836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4" y="2496"/>
              <a:ext cx="2672" cy="1620"/>
              <a:chOff x="2944" y="2496"/>
              <a:chExt cx="2672" cy="1620"/>
            </a:xfrm>
          </p:grpSpPr>
          <p:sp>
            <p:nvSpPr>
              <p:cNvPr id="51216" name="Rectangle 47">
                <a:extLst>
                  <a:ext uri="{FF2B5EF4-FFF2-40B4-BE49-F238E27FC236}">
                    <a16:creationId xmlns:a16="http://schemas.microsoft.com/office/drawing/2014/main" id="{31ACA619-F6BF-4908-AF64-72AE71BE9F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2746"/>
                <a:ext cx="864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15</a:t>
                </a:r>
              </a:p>
            </p:txBody>
          </p:sp>
          <p:sp>
            <p:nvSpPr>
              <p:cNvPr id="51217" name="Rectangle 48">
                <a:extLst>
                  <a:ext uri="{FF2B5EF4-FFF2-40B4-BE49-F238E27FC236}">
                    <a16:creationId xmlns:a16="http://schemas.microsoft.com/office/drawing/2014/main" id="{51B0E2EE-C55A-4801-B7C0-8995AB74E6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3130"/>
                <a:ext cx="864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200H</a:t>
                </a:r>
              </a:p>
            </p:txBody>
          </p:sp>
          <p:sp>
            <p:nvSpPr>
              <p:cNvPr id="51218" name="Text Box 49">
                <a:extLst>
                  <a:ext uri="{FF2B5EF4-FFF2-40B4-BE49-F238E27FC236}">
                    <a16:creationId xmlns:a16="http://schemas.microsoft.com/office/drawing/2014/main" id="{3448E4AD-0BAF-4E45-A307-D57677258F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4" y="2746"/>
                <a:ext cx="46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ACC</a:t>
                </a:r>
              </a:p>
            </p:txBody>
          </p:sp>
          <p:sp>
            <p:nvSpPr>
              <p:cNvPr id="51219" name="Text Box 50">
                <a:extLst>
                  <a:ext uri="{FF2B5EF4-FFF2-40B4-BE49-F238E27FC236}">
                    <a16:creationId xmlns:a16="http://schemas.microsoft.com/office/drawing/2014/main" id="{C25D8330-7035-49A0-A690-3AA149E0D9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" y="3120"/>
                <a:ext cx="30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SP</a:t>
                </a:r>
              </a:p>
            </p:txBody>
          </p:sp>
          <p:sp>
            <p:nvSpPr>
              <p:cNvPr id="51220" name="Rectangle 51">
                <a:extLst>
                  <a:ext uri="{FF2B5EF4-FFF2-40B4-BE49-F238E27FC236}">
                    <a16:creationId xmlns:a16="http://schemas.microsoft.com/office/drawing/2014/main" id="{8AA6BF9D-11AE-4082-8C4D-99BEB7603C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2746"/>
                <a:ext cx="864" cy="137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1221" name="Text Box 52">
                <a:extLst>
                  <a:ext uri="{FF2B5EF4-FFF2-40B4-BE49-F238E27FC236}">
                    <a16:creationId xmlns:a16="http://schemas.microsoft.com/office/drawing/2014/main" id="{D21B219E-6FFE-4F2F-8B3C-C84B675336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31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栈顶</a:t>
                </a:r>
              </a:p>
            </p:txBody>
          </p:sp>
          <p:sp>
            <p:nvSpPr>
              <p:cNvPr id="51222" name="Text Box 53">
                <a:extLst>
                  <a:ext uri="{FF2B5EF4-FFF2-40B4-BE49-F238E27FC236}">
                    <a16:creationId xmlns:a16="http://schemas.microsoft.com/office/drawing/2014/main" id="{6E6043AB-D829-4D78-8699-A81641207F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2" y="3274"/>
                <a:ext cx="48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200H</a:t>
                </a:r>
              </a:p>
            </p:txBody>
          </p:sp>
          <p:sp>
            <p:nvSpPr>
              <p:cNvPr id="51223" name="Text Box 54">
                <a:extLst>
                  <a:ext uri="{FF2B5EF4-FFF2-40B4-BE49-F238E27FC236}">
                    <a16:creationId xmlns:a16="http://schemas.microsoft.com/office/drawing/2014/main" id="{17FDCBFD-8907-4851-A989-1615B55966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3866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栈底</a:t>
                </a:r>
              </a:p>
            </p:txBody>
          </p:sp>
          <p:sp>
            <p:nvSpPr>
              <p:cNvPr id="51224" name="Text Box 55">
                <a:extLst>
                  <a:ext uri="{FF2B5EF4-FFF2-40B4-BE49-F238E27FC236}">
                    <a16:creationId xmlns:a16="http://schemas.microsoft.com/office/drawing/2014/main" id="{7CF131C7-F4A3-4F7C-B5C9-CBB51A9259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2" y="2496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主存</a:t>
                </a:r>
              </a:p>
            </p:txBody>
          </p:sp>
          <p:sp>
            <p:nvSpPr>
              <p:cNvPr id="51225" name="Rectangle 56">
                <a:extLst>
                  <a:ext uri="{FF2B5EF4-FFF2-40B4-BE49-F238E27FC236}">
                    <a16:creationId xmlns:a16="http://schemas.microsoft.com/office/drawing/2014/main" id="{6D6230BB-A143-4324-BD72-F6277B9F5A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3274"/>
                <a:ext cx="864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X</a:t>
                </a:r>
              </a:p>
            </p:txBody>
          </p:sp>
          <p:sp>
            <p:nvSpPr>
              <p:cNvPr id="51226" name="Freeform 57">
                <a:extLst>
                  <a:ext uri="{FF2B5EF4-FFF2-40B4-BE49-F238E27FC236}">
                    <a16:creationId xmlns:a16="http://schemas.microsoft.com/office/drawing/2014/main" id="{DA4045D2-5620-40A1-A56A-E8F151B9D2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4" y="2506"/>
                <a:ext cx="1488" cy="480"/>
              </a:xfrm>
              <a:custGeom>
                <a:avLst/>
                <a:gdLst>
                  <a:gd name="T0" fmla="*/ 0 w 1584"/>
                  <a:gd name="T1" fmla="*/ 240 h 480"/>
                  <a:gd name="T2" fmla="*/ 0 w 1584"/>
                  <a:gd name="T3" fmla="*/ 0 h 480"/>
                  <a:gd name="T4" fmla="*/ 1488 w 1584"/>
                  <a:gd name="T5" fmla="*/ 0 h 480"/>
                  <a:gd name="T6" fmla="*/ 1488 w 1584"/>
                  <a:gd name="T7" fmla="*/ 480 h 48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84"/>
                  <a:gd name="T13" fmla="*/ 0 h 480"/>
                  <a:gd name="T14" fmla="*/ 1584 w 1584"/>
                  <a:gd name="T15" fmla="*/ 480 h 48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84" h="480">
                    <a:moveTo>
                      <a:pt x="0" y="240"/>
                    </a:moveTo>
                    <a:lnTo>
                      <a:pt x="0" y="0"/>
                    </a:lnTo>
                    <a:lnTo>
                      <a:pt x="1584" y="0"/>
                    </a:lnTo>
                    <a:lnTo>
                      <a:pt x="1584" y="48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stealth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1214" name="Line 58">
              <a:extLst>
                <a:ext uri="{FF2B5EF4-FFF2-40B4-BE49-F238E27FC236}">
                  <a16:creationId xmlns:a16="http://schemas.microsoft.com/office/drawing/2014/main" id="{8B1E3F23-3516-40B2-90EC-39CA8A4A5D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024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15" name="Text Box 59">
              <a:extLst>
                <a:ext uri="{FF2B5EF4-FFF2-40B4-BE49-F238E27FC236}">
                  <a16:creationId xmlns:a16="http://schemas.microsoft.com/office/drawing/2014/main" id="{5A9828AD-438B-472E-A018-F6C7BDB70E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3024"/>
              <a:ext cx="5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503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4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44" grpId="0" autoUpdateAnimBg="0"/>
      <p:bldP spid="34845" grpId="0" autoUpdateAnimBg="0"/>
      <p:bldP spid="34846" grpId="0" autoUpdateAnimBg="0"/>
      <p:bldP spid="34847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>
            <a:extLst>
              <a:ext uri="{FF2B5EF4-FFF2-40B4-BE49-F238E27FC236}">
                <a16:creationId xmlns:a16="http://schemas.microsoft.com/office/drawing/2014/main" id="{E847F2FF-BE4A-4AEA-B278-8E9AF9394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49250"/>
            <a:ext cx="72866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③</a:t>
            </a: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SP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的修改与主存编址方法有关</a:t>
            </a:r>
          </a:p>
        </p:txBody>
      </p:sp>
      <p:sp>
        <p:nvSpPr>
          <p:cNvPr id="35843" name="Text Box 3">
            <a:extLst>
              <a:ext uri="{FF2B5EF4-FFF2-40B4-BE49-F238E27FC236}">
                <a16:creationId xmlns:a16="http://schemas.microsoft.com/office/drawing/2014/main" id="{0871FD0F-2924-497A-A53A-02A9AFF68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1231900"/>
            <a:ext cx="3063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95300" indent="-4953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95300" marR="0" lvl="0" indent="-4953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①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按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字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编址</a:t>
            </a:r>
          </a:p>
        </p:txBody>
      </p:sp>
      <p:sp>
        <p:nvSpPr>
          <p:cNvPr id="35844" name="Text Box 4">
            <a:extLst>
              <a:ext uri="{FF2B5EF4-FFF2-40B4-BE49-F238E27FC236}">
                <a16:creationId xmlns:a16="http://schemas.microsoft.com/office/drawing/2014/main" id="{0062F456-8A8E-4EFA-A41D-7838AB6C3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8238" y="1590675"/>
            <a:ext cx="89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进栈</a:t>
            </a:r>
          </a:p>
        </p:txBody>
      </p:sp>
      <p:sp>
        <p:nvSpPr>
          <p:cNvPr id="35845" name="Text Box 5">
            <a:extLst>
              <a:ext uri="{FF2B5EF4-FFF2-40B4-BE49-F238E27FC236}">
                <a16:creationId xmlns:a16="http://schemas.microsoft.com/office/drawing/2014/main" id="{6765E759-A1F1-455A-9074-286F5F31F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8238" y="2330450"/>
            <a:ext cx="89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出栈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7EFCF48B-110D-4CD5-A4A6-99080625853C}"/>
              </a:ext>
            </a:extLst>
          </p:cNvPr>
          <p:cNvGrpSpPr>
            <a:grpSpLocks/>
          </p:cNvGrpSpPr>
          <p:nvPr/>
        </p:nvGrpSpPr>
        <p:grpSpPr bwMode="auto">
          <a:xfrm>
            <a:off x="4637088" y="1590675"/>
            <a:ext cx="3440112" cy="519113"/>
            <a:chOff x="2921" y="1002"/>
            <a:chExt cx="2167" cy="327"/>
          </a:xfrm>
        </p:grpSpPr>
        <p:sp>
          <p:nvSpPr>
            <p:cNvPr id="52255" name="Text Box 7">
              <a:extLst>
                <a:ext uri="{FF2B5EF4-FFF2-40B4-BE49-F238E27FC236}">
                  <a16:creationId xmlns:a16="http://schemas.microsoft.com/office/drawing/2014/main" id="{7A513A64-0A0B-4F59-B1FF-E90BBA4E7C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1" y="1002"/>
              <a:ext cx="216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（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SP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）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– 1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SP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56" name="Line 8">
              <a:extLst>
                <a:ext uri="{FF2B5EF4-FFF2-40B4-BE49-F238E27FC236}">
                  <a16:creationId xmlns:a16="http://schemas.microsoft.com/office/drawing/2014/main" id="{4AE40D1E-72C2-4A52-8A40-E6B3EF61C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15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Group 9">
            <a:extLst>
              <a:ext uri="{FF2B5EF4-FFF2-40B4-BE49-F238E27FC236}">
                <a16:creationId xmlns:a16="http://schemas.microsoft.com/office/drawing/2014/main" id="{5F4A97EC-0607-485C-87E2-A699EC9ACE53}"/>
              </a:ext>
            </a:extLst>
          </p:cNvPr>
          <p:cNvGrpSpPr>
            <a:grpSpLocks/>
          </p:cNvGrpSpPr>
          <p:nvPr/>
        </p:nvGrpSpPr>
        <p:grpSpPr bwMode="auto">
          <a:xfrm>
            <a:off x="4637088" y="2330450"/>
            <a:ext cx="3440112" cy="519113"/>
            <a:chOff x="2921" y="1468"/>
            <a:chExt cx="2167" cy="327"/>
          </a:xfrm>
        </p:grpSpPr>
        <p:sp>
          <p:nvSpPr>
            <p:cNvPr id="52253" name="Text Box 10">
              <a:extLst>
                <a:ext uri="{FF2B5EF4-FFF2-40B4-BE49-F238E27FC236}">
                  <a16:creationId xmlns:a16="http://schemas.microsoft.com/office/drawing/2014/main" id="{73295565-C44C-42AE-A8A6-11605AB958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1" y="1468"/>
              <a:ext cx="216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（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SP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）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+ 1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SP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54" name="Line 11">
              <a:extLst>
                <a:ext uri="{FF2B5EF4-FFF2-40B4-BE49-F238E27FC236}">
                  <a16:creationId xmlns:a16="http://schemas.microsoft.com/office/drawing/2014/main" id="{F718B893-619A-4A51-BCA0-F9FCBD8B53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63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5852" name="Text Box 12">
            <a:extLst>
              <a:ext uri="{FF2B5EF4-FFF2-40B4-BE49-F238E27FC236}">
                <a16:creationId xmlns:a16="http://schemas.microsoft.com/office/drawing/2014/main" id="{BE188243-BF3E-4DA9-9305-1D67DDEC9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3070225"/>
            <a:ext cx="2987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95300" indent="-4953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95300" marR="0" lvl="0" indent="-4953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②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按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字节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编址</a:t>
            </a:r>
          </a:p>
        </p:txBody>
      </p:sp>
      <p:sp>
        <p:nvSpPr>
          <p:cNvPr id="35853" name="Text Box 13">
            <a:extLst>
              <a:ext uri="{FF2B5EF4-FFF2-40B4-BE49-F238E27FC236}">
                <a16:creationId xmlns:a16="http://schemas.microsoft.com/office/drawing/2014/main" id="{44EE6C64-9198-43EC-AFD5-212879519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713" y="3800475"/>
            <a:ext cx="2495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存储字长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位</a:t>
            </a:r>
          </a:p>
        </p:txBody>
      </p:sp>
      <p:sp>
        <p:nvSpPr>
          <p:cNvPr id="35854" name="Text Box 14">
            <a:extLst>
              <a:ext uri="{FF2B5EF4-FFF2-40B4-BE49-F238E27FC236}">
                <a16:creationId xmlns:a16="http://schemas.microsoft.com/office/drawing/2014/main" id="{509221F1-06E9-4C69-891A-FCEC68B9D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8238" y="3800475"/>
            <a:ext cx="89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进栈</a:t>
            </a:r>
          </a:p>
        </p:txBody>
      </p:sp>
      <p:sp>
        <p:nvSpPr>
          <p:cNvPr id="35855" name="Text Box 15">
            <a:extLst>
              <a:ext uri="{FF2B5EF4-FFF2-40B4-BE49-F238E27FC236}">
                <a16:creationId xmlns:a16="http://schemas.microsoft.com/office/drawing/2014/main" id="{0AE66580-1119-4E9E-BC93-BD4E2525F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8238" y="4540250"/>
            <a:ext cx="89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出栈</a:t>
            </a:r>
          </a:p>
        </p:txBody>
      </p:sp>
      <p:grpSp>
        <p:nvGrpSpPr>
          <p:cNvPr id="4" name="Group 16">
            <a:extLst>
              <a:ext uri="{FF2B5EF4-FFF2-40B4-BE49-F238E27FC236}">
                <a16:creationId xmlns:a16="http://schemas.microsoft.com/office/drawing/2014/main" id="{5BF7D986-4F62-490C-A0F2-4D08F883DEE2}"/>
              </a:ext>
            </a:extLst>
          </p:cNvPr>
          <p:cNvGrpSpPr>
            <a:grpSpLocks/>
          </p:cNvGrpSpPr>
          <p:nvPr/>
        </p:nvGrpSpPr>
        <p:grpSpPr bwMode="auto">
          <a:xfrm>
            <a:off x="4637088" y="3800475"/>
            <a:ext cx="3363912" cy="519113"/>
            <a:chOff x="2921" y="2394"/>
            <a:chExt cx="2119" cy="327"/>
          </a:xfrm>
        </p:grpSpPr>
        <p:sp>
          <p:nvSpPr>
            <p:cNvPr id="52251" name="Text Box 17">
              <a:extLst>
                <a:ext uri="{FF2B5EF4-FFF2-40B4-BE49-F238E27FC236}">
                  <a16:creationId xmlns:a16="http://schemas.microsoft.com/office/drawing/2014/main" id="{3C11BB2F-98FA-4CAD-BB7A-00D0D9659A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1" y="2394"/>
              <a:ext cx="211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（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SP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）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– 2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SP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52" name="Line 18">
              <a:extLst>
                <a:ext uri="{FF2B5EF4-FFF2-40B4-BE49-F238E27FC236}">
                  <a16:creationId xmlns:a16="http://schemas.microsoft.com/office/drawing/2014/main" id="{898A15BE-5016-4A2C-9966-E8E6BC84BB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544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" name="Group 19">
            <a:extLst>
              <a:ext uri="{FF2B5EF4-FFF2-40B4-BE49-F238E27FC236}">
                <a16:creationId xmlns:a16="http://schemas.microsoft.com/office/drawing/2014/main" id="{0DD22EF4-79AB-4FB5-833E-411B22875ACA}"/>
              </a:ext>
            </a:extLst>
          </p:cNvPr>
          <p:cNvGrpSpPr>
            <a:grpSpLocks/>
          </p:cNvGrpSpPr>
          <p:nvPr/>
        </p:nvGrpSpPr>
        <p:grpSpPr bwMode="auto">
          <a:xfrm>
            <a:off x="4637088" y="4540250"/>
            <a:ext cx="3211512" cy="519113"/>
            <a:chOff x="2921" y="2860"/>
            <a:chExt cx="2023" cy="327"/>
          </a:xfrm>
        </p:grpSpPr>
        <p:sp>
          <p:nvSpPr>
            <p:cNvPr id="52249" name="Text Box 20">
              <a:extLst>
                <a:ext uri="{FF2B5EF4-FFF2-40B4-BE49-F238E27FC236}">
                  <a16:creationId xmlns:a16="http://schemas.microsoft.com/office/drawing/2014/main" id="{3E2E5D5F-2E14-471A-A3FC-6FF55EF667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1" y="2860"/>
              <a:ext cx="202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（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SP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）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+ 2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SP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50" name="Line 21">
              <a:extLst>
                <a:ext uri="{FF2B5EF4-FFF2-40B4-BE49-F238E27FC236}">
                  <a16:creationId xmlns:a16="http://schemas.microsoft.com/office/drawing/2014/main" id="{3EB2184A-33EC-4D33-B16D-EB535C1F61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024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5862" name="Text Box 22">
            <a:extLst>
              <a:ext uri="{FF2B5EF4-FFF2-40B4-BE49-F238E27FC236}">
                <a16:creationId xmlns:a16="http://schemas.microsoft.com/office/drawing/2014/main" id="{7CEA82CD-B567-42EF-80EB-FD312EAE9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248275"/>
            <a:ext cx="2495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存储字长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32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位</a:t>
            </a:r>
          </a:p>
        </p:txBody>
      </p:sp>
      <p:sp>
        <p:nvSpPr>
          <p:cNvPr id="35863" name="Text Box 23">
            <a:extLst>
              <a:ext uri="{FF2B5EF4-FFF2-40B4-BE49-F238E27FC236}">
                <a16:creationId xmlns:a16="http://schemas.microsoft.com/office/drawing/2014/main" id="{641887FB-0400-486A-A919-93E5A6D14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8238" y="5248275"/>
            <a:ext cx="89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进栈</a:t>
            </a:r>
          </a:p>
        </p:txBody>
      </p:sp>
      <p:sp>
        <p:nvSpPr>
          <p:cNvPr id="35864" name="Text Box 24">
            <a:extLst>
              <a:ext uri="{FF2B5EF4-FFF2-40B4-BE49-F238E27FC236}">
                <a16:creationId xmlns:a16="http://schemas.microsoft.com/office/drawing/2014/main" id="{10E165CA-6ACD-47EE-9D1B-D9D6DEDC8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8238" y="5988050"/>
            <a:ext cx="89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出栈</a:t>
            </a:r>
          </a:p>
        </p:txBody>
      </p:sp>
      <p:grpSp>
        <p:nvGrpSpPr>
          <p:cNvPr id="6" name="Group 25">
            <a:extLst>
              <a:ext uri="{FF2B5EF4-FFF2-40B4-BE49-F238E27FC236}">
                <a16:creationId xmlns:a16="http://schemas.microsoft.com/office/drawing/2014/main" id="{D4A7BED9-CD43-4C99-8562-5800B05B0841}"/>
              </a:ext>
            </a:extLst>
          </p:cNvPr>
          <p:cNvGrpSpPr>
            <a:grpSpLocks/>
          </p:cNvGrpSpPr>
          <p:nvPr/>
        </p:nvGrpSpPr>
        <p:grpSpPr bwMode="auto">
          <a:xfrm>
            <a:off x="4637088" y="5248275"/>
            <a:ext cx="2974975" cy="519113"/>
            <a:chOff x="2921" y="3306"/>
            <a:chExt cx="1874" cy="327"/>
          </a:xfrm>
        </p:grpSpPr>
        <p:sp>
          <p:nvSpPr>
            <p:cNvPr id="52247" name="Text Box 26">
              <a:extLst>
                <a:ext uri="{FF2B5EF4-FFF2-40B4-BE49-F238E27FC236}">
                  <a16:creationId xmlns:a16="http://schemas.microsoft.com/office/drawing/2014/main" id="{80637FAB-710E-4E71-AF76-4CF2F01A2B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1" y="3306"/>
              <a:ext cx="187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（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SP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）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– 4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SP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48" name="Line 27">
              <a:extLst>
                <a:ext uri="{FF2B5EF4-FFF2-40B4-BE49-F238E27FC236}">
                  <a16:creationId xmlns:a16="http://schemas.microsoft.com/office/drawing/2014/main" id="{26A7CDD4-B570-4D9B-9A90-A788E5B1F4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463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Group 28">
            <a:extLst>
              <a:ext uri="{FF2B5EF4-FFF2-40B4-BE49-F238E27FC236}">
                <a16:creationId xmlns:a16="http://schemas.microsoft.com/office/drawing/2014/main" id="{DCE3EF74-04FE-433B-AB2F-BCFCFB00BC33}"/>
              </a:ext>
            </a:extLst>
          </p:cNvPr>
          <p:cNvGrpSpPr>
            <a:grpSpLocks/>
          </p:cNvGrpSpPr>
          <p:nvPr/>
        </p:nvGrpSpPr>
        <p:grpSpPr bwMode="auto">
          <a:xfrm>
            <a:off x="4637088" y="5988050"/>
            <a:ext cx="3000375" cy="519113"/>
            <a:chOff x="2921" y="3772"/>
            <a:chExt cx="1890" cy="327"/>
          </a:xfrm>
        </p:grpSpPr>
        <p:sp>
          <p:nvSpPr>
            <p:cNvPr id="52245" name="Text Box 29">
              <a:extLst>
                <a:ext uri="{FF2B5EF4-FFF2-40B4-BE49-F238E27FC236}">
                  <a16:creationId xmlns:a16="http://schemas.microsoft.com/office/drawing/2014/main" id="{95AFAA5E-7BE4-46BA-B3D6-6A43BB442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1" y="3772"/>
              <a:ext cx="18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（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SP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）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+ 4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SP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46" name="Line 30">
              <a:extLst>
                <a:ext uri="{FF2B5EF4-FFF2-40B4-BE49-F238E27FC236}">
                  <a16:creationId xmlns:a16="http://schemas.microsoft.com/office/drawing/2014/main" id="{0A7DC05F-4B23-4EE1-8F0C-EE3C9F8C75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936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6505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5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5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autoUpdateAnimBg="0"/>
      <p:bldP spid="35844" grpId="0" autoUpdateAnimBg="0"/>
      <p:bldP spid="35845" grpId="0" autoUpdateAnimBg="0"/>
      <p:bldP spid="35852" grpId="0" autoUpdateAnimBg="0"/>
      <p:bldP spid="35853" grpId="0" autoUpdateAnimBg="0"/>
      <p:bldP spid="35854" grpId="0" autoUpdateAnimBg="0"/>
      <p:bldP spid="35855" grpId="0" autoUpdateAnimBg="0"/>
      <p:bldP spid="35862" grpId="0" autoUpdateAnimBg="0"/>
      <p:bldP spid="35863" grpId="0" autoUpdateAnimBg="0"/>
      <p:bldP spid="35864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2"/>
          <p:cNvSpPr>
            <a:spLocks noGrp="1" noChangeArrowheads="1"/>
          </p:cNvSpPr>
          <p:nvPr>
            <p:ph type="title"/>
          </p:nvPr>
        </p:nvSpPr>
        <p:spPr>
          <a:xfrm>
            <a:off x="344046" y="374611"/>
            <a:ext cx="3911896" cy="617641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600" dirty="0">
                <a:latin typeface="方正舒体" pitchFamily="2" charset="-122"/>
              </a:rPr>
              <a:t>不同寻址方式对比</a:t>
            </a:r>
          </a:p>
        </p:txBody>
      </p:sp>
      <p:grpSp>
        <p:nvGrpSpPr>
          <p:cNvPr id="128" name="组合 127"/>
          <p:cNvGrpSpPr/>
          <p:nvPr/>
        </p:nvGrpSpPr>
        <p:grpSpPr>
          <a:xfrm>
            <a:off x="1702627" y="2772032"/>
            <a:ext cx="3354474" cy="369829"/>
            <a:chOff x="721910" y="2043113"/>
            <a:chExt cx="3867475" cy="42227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29" name="Rectangle 16"/>
            <p:cNvSpPr>
              <a:spLocks noChangeArrowheads="1"/>
            </p:cNvSpPr>
            <p:nvPr/>
          </p:nvSpPr>
          <p:spPr bwMode="auto">
            <a:xfrm>
              <a:off x="721910" y="2043113"/>
              <a:ext cx="1028409" cy="422275"/>
            </a:xfrm>
            <a:prstGeom prst="rect">
              <a:avLst/>
            </a:prstGeom>
            <a:grpFill/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35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MOV</a:t>
              </a:r>
            </a:p>
          </p:txBody>
        </p:sp>
        <p:sp>
          <p:nvSpPr>
            <p:cNvPr id="130" name="Rectangle 17"/>
            <p:cNvSpPr>
              <a:spLocks noChangeArrowheads="1"/>
            </p:cNvSpPr>
            <p:nvPr/>
          </p:nvSpPr>
          <p:spPr bwMode="auto">
            <a:xfrm>
              <a:off x="1750319" y="2043113"/>
              <a:ext cx="930105" cy="422275"/>
            </a:xfrm>
            <a:prstGeom prst="rect">
              <a:avLst/>
            </a:prstGeom>
            <a:grpFill/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lIns="0" rIns="0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35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000  </a:t>
              </a:r>
            </a:p>
          </p:txBody>
        </p:sp>
        <p:sp>
          <p:nvSpPr>
            <p:cNvPr id="131" name="Rectangle 18"/>
            <p:cNvSpPr>
              <a:spLocks noChangeArrowheads="1"/>
            </p:cNvSpPr>
            <p:nvPr/>
          </p:nvSpPr>
          <p:spPr bwMode="auto">
            <a:xfrm>
              <a:off x="2675553" y="2043113"/>
              <a:ext cx="1913832" cy="422275"/>
            </a:xfrm>
            <a:prstGeom prst="rect">
              <a:avLst/>
            </a:prstGeom>
            <a:grpFill/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35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38H</a:t>
              </a:r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1702627" y="3187360"/>
            <a:ext cx="3354474" cy="369830"/>
            <a:chOff x="721910" y="2589213"/>
            <a:chExt cx="3867475" cy="422277"/>
          </a:xfrm>
          <a:solidFill>
            <a:schemeClr val="bg1"/>
          </a:solidFill>
        </p:grpSpPr>
        <p:sp>
          <p:nvSpPr>
            <p:cNvPr id="133" name="Rectangle 16"/>
            <p:cNvSpPr>
              <a:spLocks noChangeArrowheads="1"/>
            </p:cNvSpPr>
            <p:nvPr/>
          </p:nvSpPr>
          <p:spPr bwMode="auto">
            <a:xfrm>
              <a:off x="721910" y="2589213"/>
              <a:ext cx="1028409" cy="422275"/>
            </a:xfrm>
            <a:prstGeom prst="rect">
              <a:avLst/>
            </a:prstGeom>
            <a:grpFill/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35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MOV</a:t>
              </a:r>
            </a:p>
          </p:txBody>
        </p:sp>
        <p:sp>
          <p:nvSpPr>
            <p:cNvPr id="134" name="Rectangle 17"/>
            <p:cNvSpPr>
              <a:spLocks noChangeArrowheads="1"/>
            </p:cNvSpPr>
            <p:nvPr/>
          </p:nvSpPr>
          <p:spPr bwMode="auto">
            <a:xfrm>
              <a:off x="1750319" y="2589213"/>
              <a:ext cx="930105" cy="422275"/>
            </a:xfrm>
            <a:prstGeom prst="rect">
              <a:avLst/>
            </a:prstGeom>
            <a:grpFill/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lIns="0" rIns="0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35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001  </a:t>
              </a:r>
            </a:p>
          </p:txBody>
        </p:sp>
        <p:sp>
          <p:nvSpPr>
            <p:cNvPr id="135" name="Rectangle 18"/>
            <p:cNvSpPr>
              <a:spLocks noChangeArrowheads="1"/>
            </p:cNvSpPr>
            <p:nvPr/>
          </p:nvSpPr>
          <p:spPr bwMode="auto">
            <a:xfrm>
              <a:off x="2675553" y="2589215"/>
              <a:ext cx="1913832" cy="422275"/>
            </a:xfrm>
            <a:prstGeom prst="rect">
              <a:avLst/>
            </a:prstGeom>
            <a:grpFill/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35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</a:p>
          </p:txBody>
        </p:sp>
      </p:grpSp>
      <p:grpSp>
        <p:nvGrpSpPr>
          <p:cNvPr id="136" name="组合 135"/>
          <p:cNvGrpSpPr/>
          <p:nvPr/>
        </p:nvGrpSpPr>
        <p:grpSpPr>
          <a:xfrm>
            <a:off x="1702627" y="3602691"/>
            <a:ext cx="3354474" cy="369829"/>
            <a:chOff x="721910" y="3165474"/>
            <a:chExt cx="3867475" cy="42227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37" name="Rectangle 16"/>
            <p:cNvSpPr>
              <a:spLocks noChangeArrowheads="1"/>
            </p:cNvSpPr>
            <p:nvPr/>
          </p:nvSpPr>
          <p:spPr bwMode="auto">
            <a:xfrm>
              <a:off x="721910" y="3165474"/>
              <a:ext cx="1028409" cy="422275"/>
            </a:xfrm>
            <a:prstGeom prst="rect">
              <a:avLst/>
            </a:prstGeom>
            <a:grpFill/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35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MOV</a:t>
              </a:r>
            </a:p>
          </p:txBody>
        </p:sp>
        <p:sp>
          <p:nvSpPr>
            <p:cNvPr id="138" name="Rectangle 17"/>
            <p:cNvSpPr>
              <a:spLocks noChangeArrowheads="1"/>
            </p:cNvSpPr>
            <p:nvPr/>
          </p:nvSpPr>
          <p:spPr bwMode="auto">
            <a:xfrm>
              <a:off x="1750319" y="3165474"/>
              <a:ext cx="930105" cy="422275"/>
            </a:xfrm>
            <a:prstGeom prst="rect">
              <a:avLst/>
            </a:prstGeom>
            <a:grpFill/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lIns="0" rIns="0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35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010  </a:t>
              </a:r>
            </a:p>
          </p:txBody>
        </p:sp>
        <p:sp>
          <p:nvSpPr>
            <p:cNvPr id="139" name="Rectangle 18"/>
            <p:cNvSpPr>
              <a:spLocks noChangeArrowheads="1"/>
            </p:cNvSpPr>
            <p:nvPr/>
          </p:nvSpPr>
          <p:spPr bwMode="auto">
            <a:xfrm>
              <a:off x="2675553" y="3165474"/>
              <a:ext cx="1913832" cy="422275"/>
            </a:xfrm>
            <a:prstGeom prst="rect">
              <a:avLst/>
            </a:prstGeom>
            <a:grpFill/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35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</a:t>
              </a:r>
            </a:p>
          </p:txBody>
        </p:sp>
      </p:grpSp>
      <p:grpSp>
        <p:nvGrpSpPr>
          <p:cNvPr id="140" name="组合 139"/>
          <p:cNvGrpSpPr/>
          <p:nvPr/>
        </p:nvGrpSpPr>
        <p:grpSpPr>
          <a:xfrm>
            <a:off x="1702627" y="4018021"/>
            <a:ext cx="3354474" cy="369829"/>
            <a:chOff x="721910" y="3744913"/>
            <a:chExt cx="3867475" cy="422275"/>
          </a:xfrm>
          <a:solidFill>
            <a:schemeClr val="bg1"/>
          </a:solidFill>
        </p:grpSpPr>
        <p:sp>
          <p:nvSpPr>
            <p:cNvPr id="141" name="Rectangle 16"/>
            <p:cNvSpPr>
              <a:spLocks noChangeArrowheads="1"/>
            </p:cNvSpPr>
            <p:nvPr/>
          </p:nvSpPr>
          <p:spPr bwMode="auto">
            <a:xfrm>
              <a:off x="721910" y="3744913"/>
              <a:ext cx="1028409" cy="422275"/>
            </a:xfrm>
            <a:prstGeom prst="rect">
              <a:avLst/>
            </a:prstGeom>
            <a:grpFill/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35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MOV</a:t>
              </a:r>
            </a:p>
          </p:txBody>
        </p:sp>
        <p:sp>
          <p:nvSpPr>
            <p:cNvPr id="142" name="Rectangle 17"/>
            <p:cNvSpPr>
              <a:spLocks noChangeArrowheads="1"/>
            </p:cNvSpPr>
            <p:nvPr/>
          </p:nvSpPr>
          <p:spPr bwMode="auto">
            <a:xfrm>
              <a:off x="1750319" y="3744913"/>
              <a:ext cx="930105" cy="422275"/>
            </a:xfrm>
            <a:prstGeom prst="rect">
              <a:avLst/>
            </a:prstGeom>
            <a:grpFill/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lIns="0" rIns="0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35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011  </a:t>
              </a:r>
            </a:p>
          </p:txBody>
        </p:sp>
        <p:sp>
          <p:nvSpPr>
            <p:cNvPr id="143" name="Rectangle 18"/>
            <p:cNvSpPr>
              <a:spLocks noChangeArrowheads="1"/>
            </p:cNvSpPr>
            <p:nvPr/>
          </p:nvSpPr>
          <p:spPr bwMode="auto">
            <a:xfrm>
              <a:off x="2675553" y="3744913"/>
              <a:ext cx="1913832" cy="422275"/>
            </a:xfrm>
            <a:prstGeom prst="rect">
              <a:avLst/>
            </a:prstGeom>
            <a:grpFill/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35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</a:t>
              </a:r>
            </a:p>
          </p:txBody>
        </p:sp>
      </p:grpSp>
      <p:grpSp>
        <p:nvGrpSpPr>
          <p:cNvPr id="144" name="组合 143"/>
          <p:cNvGrpSpPr/>
          <p:nvPr/>
        </p:nvGrpSpPr>
        <p:grpSpPr>
          <a:xfrm>
            <a:off x="1702627" y="4848681"/>
            <a:ext cx="3354474" cy="369829"/>
            <a:chOff x="721910" y="4821238"/>
            <a:chExt cx="3867475" cy="422275"/>
          </a:xfrm>
          <a:solidFill>
            <a:schemeClr val="bg1"/>
          </a:solidFill>
        </p:grpSpPr>
        <p:sp>
          <p:nvSpPr>
            <p:cNvPr id="145" name="Rectangle 16"/>
            <p:cNvSpPr>
              <a:spLocks noChangeArrowheads="1"/>
            </p:cNvSpPr>
            <p:nvPr/>
          </p:nvSpPr>
          <p:spPr bwMode="auto">
            <a:xfrm>
              <a:off x="721910" y="4821238"/>
              <a:ext cx="1028409" cy="422275"/>
            </a:xfrm>
            <a:prstGeom prst="rect">
              <a:avLst/>
            </a:prstGeom>
            <a:grpFill/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35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JMP</a:t>
              </a:r>
            </a:p>
          </p:txBody>
        </p:sp>
        <p:sp>
          <p:nvSpPr>
            <p:cNvPr id="146" name="Rectangle 17"/>
            <p:cNvSpPr>
              <a:spLocks noChangeArrowheads="1"/>
            </p:cNvSpPr>
            <p:nvPr/>
          </p:nvSpPr>
          <p:spPr bwMode="auto">
            <a:xfrm>
              <a:off x="1750319" y="4821238"/>
              <a:ext cx="930105" cy="422275"/>
            </a:xfrm>
            <a:prstGeom prst="rect">
              <a:avLst/>
            </a:prstGeom>
            <a:grpFill/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lIns="0" rIns="0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35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101  </a:t>
              </a:r>
            </a:p>
          </p:txBody>
        </p:sp>
        <p:sp>
          <p:nvSpPr>
            <p:cNvPr id="147" name="Rectangle 18"/>
            <p:cNvSpPr>
              <a:spLocks noChangeArrowheads="1"/>
            </p:cNvSpPr>
            <p:nvPr/>
          </p:nvSpPr>
          <p:spPr bwMode="auto">
            <a:xfrm>
              <a:off x="2675553" y="4821238"/>
              <a:ext cx="1913832" cy="422275"/>
            </a:xfrm>
            <a:prstGeom prst="rect">
              <a:avLst/>
            </a:prstGeom>
            <a:grpFill/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35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</a:t>
              </a:r>
            </a:p>
          </p:txBody>
        </p:sp>
      </p:grpSp>
      <p:grpSp>
        <p:nvGrpSpPr>
          <p:cNvPr id="148" name="组合 147"/>
          <p:cNvGrpSpPr/>
          <p:nvPr/>
        </p:nvGrpSpPr>
        <p:grpSpPr>
          <a:xfrm>
            <a:off x="1702627" y="4433351"/>
            <a:ext cx="3354474" cy="369829"/>
            <a:chOff x="721910" y="4278313"/>
            <a:chExt cx="3867475" cy="42227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49" name="Rectangle 16"/>
            <p:cNvSpPr>
              <a:spLocks noChangeArrowheads="1"/>
            </p:cNvSpPr>
            <p:nvPr/>
          </p:nvSpPr>
          <p:spPr bwMode="auto">
            <a:xfrm>
              <a:off x="721910" y="4278313"/>
              <a:ext cx="1028409" cy="422275"/>
            </a:xfrm>
            <a:prstGeom prst="rect">
              <a:avLst/>
            </a:prstGeom>
            <a:grpFill/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35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MOV</a:t>
              </a:r>
            </a:p>
          </p:txBody>
        </p:sp>
        <p:sp>
          <p:nvSpPr>
            <p:cNvPr id="150" name="Rectangle 17"/>
            <p:cNvSpPr>
              <a:spLocks noChangeArrowheads="1"/>
            </p:cNvSpPr>
            <p:nvPr/>
          </p:nvSpPr>
          <p:spPr bwMode="auto">
            <a:xfrm>
              <a:off x="1750319" y="4278313"/>
              <a:ext cx="930105" cy="422275"/>
            </a:xfrm>
            <a:prstGeom prst="rect">
              <a:avLst/>
            </a:prstGeom>
            <a:grpFill/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lIns="0" rIns="0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35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100  </a:t>
              </a:r>
            </a:p>
          </p:txBody>
        </p:sp>
        <p:sp>
          <p:nvSpPr>
            <p:cNvPr id="151" name="Rectangle 18"/>
            <p:cNvSpPr>
              <a:spLocks noChangeArrowheads="1"/>
            </p:cNvSpPr>
            <p:nvPr/>
          </p:nvSpPr>
          <p:spPr bwMode="auto">
            <a:xfrm>
              <a:off x="2675553" y="4278313"/>
              <a:ext cx="1913832" cy="422275"/>
            </a:xfrm>
            <a:prstGeom prst="rect">
              <a:avLst/>
            </a:prstGeom>
            <a:grpFill/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35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</p:grpSp>
      <p:grpSp>
        <p:nvGrpSpPr>
          <p:cNvPr id="152" name="组合 151"/>
          <p:cNvGrpSpPr/>
          <p:nvPr/>
        </p:nvGrpSpPr>
        <p:grpSpPr>
          <a:xfrm>
            <a:off x="1702628" y="5265492"/>
            <a:ext cx="3350004" cy="371869"/>
            <a:chOff x="721910" y="5368183"/>
            <a:chExt cx="3862321" cy="42460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53" name="Rectangle 16"/>
            <p:cNvSpPr>
              <a:spLocks noChangeArrowheads="1"/>
            </p:cNvSpPr>
            <p:nvPr/>
          </p:nvSpPr>
          <p:spPr bwMode="auto">
            <a:xfrm>
              <a:off x="721910" y="5370513"/>
              <a:ext cx="1028409" cy="422275"/>
            </a:xfrm>
            <a:prstGeom prst="rect">
              <a:avLst/>
            </a:prstGeom>
            <a:grpFill/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35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MOV</a:t>
              </a:r>
            </a:p>
          </p:txBody>
        </p:sp>
        <p:sp>
          <p:nvSpPr>
            <p:cNvPr id="154" name="Rectangle 17"/>
            <p:cNvSpPr>
              <a:spLocks noChangeArrowheads="1"/>
            </p:cNvSpPr>
            <p:nvPr/>
          </p:nvSpPr>
          <p:spPr bwMode="auto">
            <a:xfrm>
              <a:off x="1750319" y="5370513"/>
              <a:ext cx="930105" cy="422275"/>
            </a:xfrm>
            <a:prstGeom prst="rect">
              <a:avLst/>
            </a:prstGeom>
            <a:grpFill/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lIns="0" rIns="0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35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110  </a:t>
              </a:r>
            </a:p>
          </p:txBody>
        </p:sp>
        <p:sp>
          <p:nvSpPr>
            <p:cNvPr id="155" name="Rectangle 18"/>
            <p:cNvSpPr>
              <a:spLocks noChangeArrowheads="1"/>
            </p:cNvSpPr>
            <p:nvPr/>
          </p:nvSpPr>
          <p:spPr bwMode="auto">
            <a:xfrm>
              <a:off x="3627315" y="5369756"/>
              <a:ext cx="956916" cy="422275"/>
            </a:xfrm>
            <a:prstGeom prst="rect">
              <a:avLst/>
            </a:prstGeom>
            <a:grpFill/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35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</a:t>
              </a:r>
            </a:p>
          </p:txBody>
        </p:sp>
        <p:sp>
          <p:nvSpPr>
            <p:cNvPr id="156" name="Rectangle 18"/>
            <p:cNvSpPr>
              <a:spLocks noChangeArrowheads="1"/>
            </p:cNvSpPr>
            <p:nvPr/>
          </p:nvSpPr>
          <p:spPr bwMode="auto">
            <a:xfrm>
              <a:off x="2675554" y="5368183"/>
              <a:ext cx="951761" cy="422275"/>
            </a:xfrm>
            <a:prstGeom prst="rect">
              <a:avLst/>
            </a:prstGeom>
            <a:grpFill/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35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</a:t>
              </a:r>
            </a:p>
          </p:txBody>
        </p:sp>
      </p:grpSp>
      <p:sp>
        <p:nvSpPr>
          <p:cNvPr id="157" name="Rectangle 16"/>
          <p:cNvSpPr>
            <a:spLocks noChangeArrowheads="1"/>
          </p:cNvSpPr>
          <p:nvPr/>
        </p:nvSpPr>
        <p:spPr bwMode="auto">
          <a:xfrm>
            <a:off x="556482" y="2772032"/>
            <a:ext cx="1066216" cy="369829"/>
          </a:xfrm>
          <a:prstGeom prst="rect">
            <a:avLst/>
          </a:prstGeom>
          <a:solidFill>
            <a:schemeClr val="bg1"/>
          </a:solidFill>
          <a:ln w="22225" cap="flat" cmpd="sng" algn="ctr">
            <a:solidFill>
              <a:schemeClr val="bg1"/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135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立即寻址</a:t>
            </a:r>
            <a:endParaRPr kumimoji="1" lang="en-US" altLang="zh-CN" sz="135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158" name="Rectangle 16"/>
          <p:cNvSpPr>
            <a:spLocks noChangeArrowheads="1"/>
          </p:cNvSpPr>
          <p:nvPr/>
        </p:nvSpPr>
        <p:spPr bwMode="auto">
          <a:xfrm>
            <a:off x="570474" y="3189776"/>
            <a:ext cx="1031226" cy="369829"/>
          </a:xfrm>
          <a:prstGeom prst="rect">
            <a:avLst/>
          </a:prstGeom>
          <a:solidFill>
            <a:schemeClr val="bg1"/>
          </a:solidFill>
          <a:ln w="22225" cap="flat" cmpd="sng" algn="ctr">
            <a:solidFill>
              <a:schemeClr val="bg1"/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135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寄存器寻址</a:t>
            </a:r>
            <a:endParaRPr kumimoji="1" lang="en-US" altLang="zh-CN" sz="135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159" name="Rectangle 16"/>
          <p:cNvSpPr>
            <a:spLocks noChangeArrowheads="1"/>
          </p:cNvSpPr>
          <p:nvPr/>
        </p:nvSpPr>
        <p:spPr bwMode="auto">
          <a:xfrm>
            <a:off x="633461" y="3607520"/>
            <a:ext cx="905263" cy="369829"/>
          </a:xfrm>
          <a:prstGeom prst="rect">
            <a:avLst/>
          </a:prstGeom>
          <a:solidFill>
            <a:schemeClr val="bg1"/>
          </a:solidFill>
          <a:ln w="22225" cap="flat" cmpd="sng" algn="ctr">
            <a:solidFill>
              <a:schemeClr val="bg1"/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135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直接寻址</a:t>
            </a:r>
            <a:endParaRPr kumimoji="1" lang="en-US" altLang="zh-CN" sz="135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160" name="Rectangle 16"/>
          <p:cNvSpPr>
            <a:spLocks noChangeArrowheads="1"/>
          </p:cNvSpPr>
          <p:nvPr/>
        </p:nvSpPr>
        <p:spPr bwMode="auto">
          <a:xfrm>
            <a:off x="619465" y="4025264"/>
            <a:ext cx="961244" cy="369829"/>
          </a:xfrm>
          <a:prstGeom prst="rect">
            <a:avLst/>
          </a:prstGeom>
          <a:solidFill>
            <a:schemeClr val="bg1"/>
          </a:solidFill>
          <a:ln w="22225" cap="flat" cmpd="sng" algn="ctr">
            <a:solidFill>
              <a:schemeClr val="bg1"/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135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间接寻址</a:t>
            </a:r>
            <a:endParaRPr kumimoji="1" lang="en-US" altLang="zh-CN" sz="135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161" name="Rectangle 16"/>
          <p:cNvSpPr>
            <a:spLocks noChangeArrowheads="1"/>
          </p:cNvSpPr>
          <p:nvPr/>
        </p:nvSpPr>
        <p:spPr bwMode="auto">
          <a:xfrm>
            <a:off x="567169" y="4443008"/>
            <a:ext cx="1055867" cy="369829"/>
          </a:xfrm>
          <a:prstGeom prst="rect">
            <a:avLst/>
          </a:prstGeom>
          <a:solidFill>
            <a:schemeClr val="bg1"/>
          </a:solidFill>
          <a:ln w="22225" cap="flat" cmpd="sng" algn="ctr">
            <a:solidFill>
              <a:schemeClr val="bg1"/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135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寄存器间接</a:t>
            </a:r>
            <a:endParaRPr kumimoji="1" lang="en-US" altLang="zh-CN" sz="135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162" name="Rectangle 16"/>
          <p:cNvSpPr>
            <a:spLocks noChangeArrowheads="1"/>
          </p:cNvSpPr>
          <p:nvPr/>
        </p:nvSpPr>
        <p:spPr bwMode="auto">
          <a:xfrm>
            <a:off x="666892" y="4860752"/>
            <a:ext cx="889469" cy="369829"/>
          </a:xfrm>
          <a:prstGeom prst="rect">
            <a:avLst/>
          </a:prstGeom>
          <a:solidFill>
            <a:schemeClr val="bg1"/>
          </a:solidFill>
          <a:ln w="22225" cap="flat" cmpd="sng" algn="ctr">
            <a:solidFill>
              <a:schemeClr val="bg1"/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135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相对寻址</a:t>
            </a:r>
            <a:endParaRPr kumimoji="1" lang="en-US" altLang="zh-CN" sz="135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163" name="Rectangle 16"/>
          <p:cNvSpPr>
            <a:spLocks noChangeArrowheads="1"/>
          </p:cNvSpPr>
          <p:nvPr/>
        </p:nvSpPr>
        <p:spPr bwMode="auto">
          <a:xfrm>
            <a:off x="676416" y="5278497"/>
            <a:ext cx="857523" cy="369829"/>
          </a:xfrm>
          <a:prstGeom prst="rect">
            <a:avLst/>
          </a:prstGeom>
          <a:solidFill>
            <a:schemeClr val="bg1"/>
          </a:solidFill>
          <a:ln w="22225" cap="flat" cmpd="sng" algn="ctr">
            <a:solidFill>
              <a:schemeClr val="bg1"/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135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变址寻址</a:t>
            </a:r>
            <a:endParaRPr kumimoji="1" lang="en-US" altLang="zh-CN" sz="135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164" name="Rectangle 16"/>
          <p:cNvSpPr>
            <a:spLocks noChangeArrowheads="1"/>
          </p:cNvSpPr>
          <p:nvPr/>
        </p:nvSpPr>
        <p:spPr bwMode="auto">
          <a:xfrm>
            <a:off x="6247763" y="2761218"/>
            <a:ext cx="2004804" cy="3698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22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350" kern="0" dirty="0">
                <a:solidFill>
                  <a:srgbClr val="080808">
                    <a:lumMod val="60000"/>
                    <a:lumOff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0~255   -128~127</a:t>
            </a:r>
          </a:p>
        </p:txBody>
      </p:sp>
      <p:sp>
        <p:nvSpPr>
          <p:cNvPr id="165" name="Rectangle 16"/>
          <p:cNvSpPr>
            <a:spLocks noChangeArrowheads="1"/>
          </p:cNvSpPr>
          <p:nvPr/>
        </p:nvSpPr>
        <p:spPr bwMode="auto">
          <a:xfrm>
            <a:off x="6247763" y="3178963"/>
            <a:ext cx="2004804" cy="371481"/>
          </a:xfrm>
          <a:prstGeom prst="rect">
            <a:avLst/>
          </a:prstGeom>
          <a:solidFill>
            <a:schemeClr val="bg1"/>
          </a:solidFill>
          <a:ln w="222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350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0~255# </a:t>
            </a:r>
            <a:r>
              <a:rPr kumimoji="1" lang="en-US" altLang="zh-CN" sz="1350" kern="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</a:t>
            </a:r>
            <a:endParaRPr kumimoji="1" lang="en-US" altLang="zh-CN" sz="1350" kern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6" name="Rectangle 16"/>
          <p:cNvSpPr>
            <a:spLocks noChangeArrowheads="1"/>
          </p:cNvSpPr>
          <p:nvPr/>
        </p:nvSpPr>
        <p:spPr bwMode="auto">
          <a:xfrm>
            <a:off x="6247763" y="3598069"/>
            <a:ext cx="2004804" cy="36846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22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350" kern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0~255 RAM Cell</a:t>
            </a:r>
          </a:p>
        </p:txBody>
      </p:sp>
      <p:sp>
        <p:nvSpPr>
          <p:cNvPr id="167" name="Rectangle 16"/>
          <p:cNvSpPr>
            <a:spLocks noChangeArrowheads="1"/>
          </p:cNvSpPr>
          <p:nvPr/>
        </p:nvSpPr>
        <p:spPr bwMode="auto">
          <a:xfrm>
            <a:off x="6247763" y="4014450"/>
            <a:ext cx="2004804" cy="369829"/>
          </a:xfrm>
          <a:prstGeom prst="rect">
            <a:avLst/>
          </a:prstGeom>
          <a:solidFill>
            <a:schemeClr val="bg1"/>
          </a:solidFill>
          <a:ln w="222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35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0~2</a:t>
            </a:r>
            <a:r>
              <a:rPr kumimoji="1" lang="en-US" altLang="zh-CN" sz="1350" kern="0" baseline="300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kumimoji="1" lang="en-US" altLang="zh-CN" sz="135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 RAM Cell</a:t>
            </a:r>
            <a:endParaRPr kumimoji="1" lang="en-US" altLang="zh-CN" sz="1350" kern="0" baseline="300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8" name="Rectangle 16"/>
          <p:cNvSpPr>
            <a:spLocks noChangeArrowheads="1"/>
          </p:cNvSpPr>
          <p:nvPr/>
        </p:nvSpPr>
        <p:spPr bwMode="auto">
          <a:xfrm>
            <a:off x="6247763" y="4432194"/>
            <a:ext cx="2004804" cy="3698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22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35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0~2</a:t>
            </a:r>
            <a:r>
              <a:rPr kumimoji="1" lang="en-US" altLang="zh-CN" sz="1350" kern="0" baseline="300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kumimoji="1" lang="en-US" altLang="zh-CN" sz="135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  RAM Cell</a:t>
            </a:r>
            <a:endParaRPr kumimoji="1" lang="en-US" altLang="zh-CN" sz="1350" kern="0" baseline="300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9" name="Rectangle 16"/>
          <p:cNvSpPr>
            <a:spLocks noChangeArrowheads="1"/>
          </p:cNvSpPr>
          <p:nvPr/>
        </p:nvSpPr>
        <p:spPr bwMode="auto">
          <a:xfrm>
            <a:off x="6247763" y="4849938"/>
            <a:ext cx="2004804" cy="369829"/>
          </a:xfrm>
          <a:prstGeom prst="rect">
            <a:avLst/>
          </a:prstGeom>
          <a:solidFill>
            <a:schemeClr val="bg1"/>
          </a:solidFill>
          <a:ln w="222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350" kern="0" dirty="0">
                <a:solidFill>
                  <a:srgbClr val="D6009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PC-128~PC+127 </a:t>
            </a:r>
            <a:endParaRPr kumimoji="1" lang="en-US" altLang="zh-CN" sz="1350" kern="0" baseline="30000" dirty="0">
              <a:solidFill>
                <a:srgbClr val="D6009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0" name="Rectangle 16"/>
          <p:cNvSpPr>
            <a:spLocks noChangeArrowheads="1"/>
          </p:cNvSpPr>
          <p:nvPr/>
        </p:nvSpPr>
        <p:spPr bwMode="auto">
          <a:xfrm>
            <a:off x="6247763" y="5267683"/>
            <a:ext cx="2004804" cy="3698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22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35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0~2</a:t>
            </a:r>
            <a:r>
              <a:rPr kumimoji="1" lang="en-US" altLang="zh-CN" sz="1350" kern="0" baseline="300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kumimoji="1" lang="en-US" altLang="zh-CN" sz="135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  RAM Cell</a:t>
            </a:r>
            <a:endParaRPr kumimoji="1" lang="en-US" altLang="zh-CN" sz="1350" kern="0" baseline="300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6" name="Rectangle 16"/>
          <p:cNvSpPr>
            <a:spLocks noChangeArrowheads="1"/>
          </p:cNvSpPr>
          <p:nvPr/>
        </p:nvSpPr>
        <p:spPr bwMode="auto">
          <a:xfrm>
            <a:off x="5199264" y="2761812"/>
            <a:ext cx="1048499" cy="3698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22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35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S=D</a:t>
            </a:r>
          </a:p>
        </p:txBody>
      </p:sp>
      <p:sp>
        <p:nvSpPr>
          <p:cNvPr id="177" name="Rectangle 16"/>
          <p:cNvSpPr>
            <a:spLocks noChangeArrowheads="1"/>
          </p:cNvSpPr>
          <p:nvPr/>
        </p:nvSpPr>
        <p:spPr bwMode="auto">
          <a:xfrm>
            <a:off x="5199264" y="3179556"/>
            <a:ext cx="1048499" cy="369829"/>
          </a:xfrm>
          <a:prstGeom prst="rect">
            <a:avLst/>
          </a:prstGeom>
          <a:solidFill>
            <a:schemeClr val="bg1"/>
          </a:solidFill>
          <a:ln w="222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35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E=R</a:t>
            </a:r>
          </a:p>
        </p:txBody>
      </p:sp>
      <p:sp>
        <p:nvSpPr>
          <p:cNvPr id="178" name="Rectangle 16"/>
          <p:cNvSpPr>
            <a:spLocks noChangeArrowheads="1"/>
          </p:cNvSpPr>
          <p:nvPr/>
        </p:nvSpPr>
        <p:spPr bwMode="auto">
          <a:xfrm>
            <a:off x="5199264" y="3597300"/>
            <a:ext cx="1048499" cy="3698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22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35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E=D</a:t>
            </a:r>
          </a:p>
        </p:txBody>
      </p:sp>
      <p:sp>
        <p:nvSpPr>
          <p:cNvPr id="179" name="Rectangle 16"/>
          <p:cNvSpPr>
            <a:spLocks noChangeArrowheads="1"/>
          </p:cNvSpPr>
          <p:nvPr/>
        </p:nvSpPr>
        <p:spPr bwMode="auto">
          <a:xfrm>
            <a:off x="5199264" y="4015044"/>
            <a:ext cx="1048499" cy="369829"/>
          </a:xfrm>
          <a:prstGeom prst="rect">
            <a:avLst/>
          </a:prstGeom>
          <a:solidFill>
            <a:schemeClr val="bg1"/>
          </a:solidFill>
          <a:ln w="222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35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E=(D)</a:t>
            </a:r>
          </a:p>
        </p:txBody>
      </p:sp>
      <p:sp>
        <p:nvSpPr>
          <p:cNvPr id="180" name="Rectangle 16"/>
          <p:cNvSpPr>
            <a:spLocks noChangeArrowheads="1"/>
          </p:cNvSpPr>
          <p:nvPr/>
        </p:nvSpPr>
        <p:spPr bwMode="auto">
          <a:xfrm>
            <a:off x="5199264" y="4432788"/>
            <a:ext cx="1048499" cy="3698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22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35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E=(R)</a:t>
            </a:r>
          </a:p>
        </p:txBody>
      </p:sp>
      <p:sp>
        <p:nvSpPr>
          <p:cNvPr id="181" name="Rectangle 16"/>
          <p:cNvSpPr>
            <a:spLocks noChangeArrowheads="1"/>
          </p:cNvSpPr>
          <p:nvPr/>
        </p:nvSpPr>
        <p:spPr bwMode="auto">
          <a:xfrm>
            <a:off x="5199264" y="4850532"/>
            <a:ext cx="1048499" cy="369829"/>
          </a:xfrm>
          <a:prstGeom prst="rect">
            <a:avLst/>
          </a:prstGeom>
          <a:solidFill>
            <a:schemeClr val="bg1"/>
          </a:solidFill>
          <a:ln w="222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2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E=(PC)+D</a:t>
            </a:r>
          </a:p>
        </p:txBody>
      </p:sp>
      <p:sp>
        <p:nvSpPr>
          <p:cNvPr id="182" name="Rectangle 16"/>
          <p:cNvSpPr>
            <a:spLocks noChangeArrowheads="1"/>
          </p:cNvSpPr>
          <p:nvPr/>
        </p:nvSpPr>
        <p:spPr bwMode="auto">
          <a:xfrm>
            <a:off x="5199264" y="5268277"/>
            <a:ext cx="1048499" cy="3698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22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35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E=(R)+D</a:t>
            </a:r>
          </a:p>
        </p:txBody>
      </p:sp>
      <p:grpSp>
        <p:nvGrpSpPr>
          <p:cNvPr id="171" name="组合 170"/>
          <p:cNvGrpSpPr/>
          <p:nvPr/>
        </p:nvGrpSpPr>
        <p:grpSpPr>
          <a:xfrm>
            <a:off x="1705096" y="2293399"/>
            <a:ext cx="3350663" cy="369830"/>
            <a:chOff x="721910" y="2043113"/>
            <a:chExt cx="3863081" cy="42227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2" name="Rectangle 16"/>
            <p:cNvSpPr>
              <a:spLocks noChangeArrowheads="1"/>
            </p:cNvSpPr>
            <p:nvPr/>
          </p:nvSpPr>
          <p:spPr bwMode="auto">
            <a:xfrm>
              <a:off x="721910" y="2043113"/>
              <a:ext cx="1028409" cy="422275"/>
            </a:xfrm>
            <a:prstGeom prst="rect">
              <a:avLst/>
            </a:prstGeom>
            <a:solidFill>
              <a:srgbClr val="CCFF66"/>
            </a:solidFill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135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操作码</a:t>
              </a:r>
              <a:endParaRPr kumimoji="1" lang="en-US" altLang="zh-CN" sz="1350" b="1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Rectangle 17"/>
            <p:cNvSpPr>
              <a:spLocks noChangeArrowheads="1"/>
            </p:cNvSpPr>
            <p:nvPr/>
          </p:nvSpPr>
          <p:spPr bwMode="auto">
            <a:xfrm>
              <a:off x="1750319" y="2043113"/>
              <a:ext cx="930105" cy="422275"/>
            </a:xfrm>
            <a:prstGeom prst="rect">
              <a:avLst/>
            </a:prstGeom>
            <a:solidFill>
              <a:srgbClr val="00B0F0"/>
            </a:solidFill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lIns="0" rIns="0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35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kumimoji="1" lang="zh-CN" altLang="en-US" sz="135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寻址模式</a:t>
              </a:r>
              <a:r>
                <a:rPr kumimoji="1" lang="en-US" altLang="zh-CN" sz="135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</a:p>
          </p:txBody>
        </p:sp>
        <p:sp>
          <p:nvSpPr>
            <p:cNvPr id="174" name="Rectangle 18"/>
            <p:cNvSpPr>
              <a:spLocks noChangeArrowheads="1"/>
            </p:cNvSpPr>
            <p:nvPr/>
          </p:nvSpPr>
          <p:spPr bwMode="auto">
            <a:xfrm>
              <a:off x="2671159" y="2043114"/>
              <a:ext cx="1913832" cy="422275"/>
            </a:xfrm>
            <a:prstGeom prst="rect">
              <a:avLst/>
            </a:prstGeom>
            <a:solidFill>
              <a:srgbClr val="FFCC00"/>
            </a:solidFill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135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形式地址</a:t>
              </a:r>
              <a:r>
                <a:rPr kumimoji="1" lang="en-US" altLang="zh-CN" sz="135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199264" y="2293401"/>
            <a:ext cx="3053303" cy="369829"/>
            <a:chOff x="7301502" y="1484785"/>
            <a:chExt cx="3804370" cy="49310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5" name="Rectangle 16"/>
            <p:cNvSpPr>
              <a:spLocks noChangeArrowheads="1"/>
            </p:cNvSpPr>
            <p:nvPr/>
          </p:nvSpPr>
          <p:spPr bwMode="auto">
            <a:xfrm>
              <a:off x="8607916" y="1484785"/>
              <a:ext cx="2497956" cy="49310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135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寻址范围</a:t>
              </a:r>
              <a:endParaRPr kumimoji="1" lang="en-US" altLang="zh-CN" sz="1350" b="1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Rectangle 16"/>
            <p:cNvSpPr>
              <a:spLocks noChangeArrowheads="1"/>
            </p:cNvSpPr>
            <p:nvPr/>
          </p:nvSpPr>
          <p:spPr bwMode="auto">
            <a:xfrm>
              <a:off x="7301502" y="1484785"/>
              <a:ext cx="1306414" cy="49310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135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实地址</a:t>
              </a:r>
              <a:r>
                <a:rPr kumimoji="1" lang="en-US" altLang="zh-CN" sz="135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1840688" y="2016400"/>
            <a:ext cx="61587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350" b="1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5bits</a:t>
            </a:r>
          </a:p>
        </p:txBody>
      </p:sp>
      <p:sp>
        <p:nvSpPr>
          <p:cNvPr id="70" name="矩形 69"/>
          <p:cNvSpPr/>
          <p:nvPr/>
        </p:nvSpPr>
        <p:spPr>
          <a:xfrm>
            <a:off x="2671292" y="2016400"/>
            <a:ext cx="61587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350" b="1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3bits</a:t>
            </a:r>
          </a:p>
        </p:txBody>
      </p:sp>
      <p:sp>
        <p:nvSpPr>
          <p:cNvPr id="71" name="矩形 70"/>
          <p:cNvSpPr/>
          <p:nvPr/>
        </p:nvSpPr>
        <p:spPr>
          <a:xfrm>
            <a:off x="3948005" y="2016400"/>
            <a:ext cx="61587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350" b="1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8bits</a:t>
            </a: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D3DAFAF6-E884-4D65-BDD7-8B32905570A0}"/>
              </a:ext>
            </a:extLst>
          </p:cNvPr>
          <p:cNvGrpSpPr/>
          <p:nvPr/>
        </p:nvGrpSpPr>
        <p:grpSpPr>
          <a:xfrm>
            <a:off x="5723514" y="1692670"/>
            <a:ext cx="2535865" cy="434968"/>
            <a:chOff x="371537" y="4732301"/>
            <a:chExt cx="2678518" cy="579957"/>
          </a:xfrm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611BFE71-7053-433C-A54B-443264DEA4B4}"/>
                </a:ext>
              </a:extLst>
            </p:cNvPr>
            <p:cNvSpPr/>
            <p:nvPr/>
          </p:nvSpPr>
          <p:spPr>
            <a:xfrm>
              <a:off x="371537" y="4732301"/>
              <a:ext cx="2678518" cy="579957"/>
            </a:xfrm>
            <a:prstGeom prst="rect">
              <a:avLst/>
            </a:prstGeom>
            <a:solidFill>
              <a:schemeClr val="tx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35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371FF67A-538C-463C-AFE1-648747A7A0F1}"/>
                </a:ext>
              </a:extLst>
            </p:cNvPr>
            <p:cNvSpPr/>
            <p:nvPr/>
          </p:nvSpPr>
          <p:spPr>
            <a:xfrm>
              <a:off x="455430" y="4822224"/>
              <a:ext cx="2535663" cy="430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500" b="1" dirty="0">
                  <a:solidFill>
                    <a:prstClr val="white"/>
                  </a:solidFill>
                  <a:latin typeface="微软雅黑"/>
                  <a:ea typeface="微软雅黑"/>
                </a:rPr>
                <a:t>不同寻址方式的区别？</a:t>
              </a:r>
              <a:endParaRPr lang="en-US" altLang="zh-CN" sz="1500" b="1" dirty="0">
                <a:solidFill>
                  <a:srgbClr val="FF0000"/>
                </a:solidFill>
                <a:latin typeface="微软雅黑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0639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516" y="51793"/>
            <a:ext cx="3911896" cy="617641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寻址方式举例</a:t>
            </a:r>
          </a:p>
        </p:txBody>
      </p:sp>
      <p:sp>
        <p:nvSpPr>
          <p:cNvPr id="53" name="Rectangle 17">
            <a:extLst>
              <a:ext uri="{FF2B5EF4-FFF2-40B4-BE49-F238E27FC236}">
                <a16:creationId xmlns:a16="http://schemas.microsoft.com/office/drawing/2014/main" id="{FE890152-685B-4E79-AE35-3A8CD7206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2628891"/>
            <a:ext cx="1081087" cy="320675"/>
          </a:xfrm>
          <a:prstGeom prst="rect">
            <a:avLst/>
          </a:prstGeom>
          <a:solidFill>
            <a:srgbClr val="66FF33"/>
          </a:solidFill>
          <a:ln w="19050">
            <a:solidFill>
              <a:schemeClr val="tx1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</a:pPr>
            <a:r>
              <a:rPr lang="en-US" altLang="zh-CN" b="1">
                <a:solidFill>
                  <a:srgbClr val="000000"/>
                </a:solidFill>
                <a:latin typeface="+mn-ea"/>
              </a:rPr>
              <a:t>OP</a:t>
            </a:r>
          </a:p>
        </p:txBody>
      </p:sp>
      <p:sp>
        <p:nvSpPr>
          <p:cNvPr id="54" name="Rectangle 18">
            <a:extLst>
              <a:ext uri="{FF2B5EF4-FFF2-40B4-BE49-F238E27FC236}">
                <a16:creationId xmlns:a16="http://schemas.microsoft.com/office/drawing/2014/main" id="{C8C5E423-1160-4EA5-9171-96F668563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116" y="2628891"/>
            <a:ext cx="865187" cy="320675"/>
          </a:xfrm>
          <a:prstGeom prst="rect">
            <a:avLst/>
          </a:prstGeom>
          <a:solidFill>
            <a:srgbClr val="FF66FF"/>
          </a:solidFill>
          <a:ln w="19050">
            <a:solidFill>
              <a:schemeClr val="tx1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</a:pPr>
            <a:r>
              <a:rPr lang="en-US" altLang="zh-CN" b="1">
                <a:solidFill>
                  <a:srgbClr val="000000"/>
                </a:solidFill>
                <a:latin typeface="+mn-ea"/>
              </a:rPr>
              <a:t>X</a:t>
            </a:r>
          </a:p>
        </p:txBody>
      </p:sp>
      <p:sp>
        <p:nvSpPr>
          <p:cNvPr id="56" name="Rectangle 19">
            <a:extLst>
              <a:ext uri="{FF2B5EF4-FFF2-40B4-BE49-F238E27FC236}">
                <a16:creationId xmlns:a16="http://schemas.microsoft.com/office/drawing/2014/main" id="{41EB3F4B-88C9-4834-B6A5-6E3DD74AB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8716" y="2628891"/>
            <a:ext cx="865187" cy="320675"/>
          </a:xfrm>
          <a:prstGeom prst="rect">
            <a:avLst/>
          </a:prstGeom>
          <a:solidFill>
            <a:srgbClr val="FF9900"/>
          </a:solidFill>
          <a:ln w="19050">
            <a:solidFill>
              <a:schemeClr val="tx1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</a:pPr>
            <a:r>
              <a:rPr lang="en-US" altLang="zh-CN" b="1" dirty="0">
                <a:solidFill>
                  <a:srgbClr val="000000"/>
                </a:solidFill>
                <a:latin typeface="+mn-ea"/>
              </a:rPr>
              <a:t>D=100</a:t>
            </a:r>
          </a:p>
        </p:txBody>
      </p:sp>
      <p:sp>
        <p:nvSpPr>
          <p:cNvPr id="57" name="Rectangle 20">
            <a:extLst>
              <a:ext uri="{FF2B5EF4-FFF2-40B4-BE49-F238E27FC236}">
                <a16:creationId xmlns:a16="http://schemas.microsoft.com/office/drawing/2014/main" id="{1F529B1D-4277-4DCE-8730-C67117D6B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5703" y="2628891"/>
            <a:ext cx="1946275" cy="320675"/>
          </a:xfrm>
          <a:prstGeom prst="rect">
            <a:avLst/>
          </a:prstGeom>
          <a:solidFill>
            <a:srgbClr val="CCFF66"/>
          </a:solidFill>
          <a:ln w="19050">
            <a:solidFill>
              <a:schemeClr val="tx1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</a:pPr>
            <a:r>
              <a:rPr lang="en-US" altLang="zh-CN" b="1" dirty="0">
                <a:solidFill>
                  <a:srgbClr val="000000"/>
                </a:solidFill>
                <a:latin typeface="+mn-ea"/>
              </a:rPr>
              <a:t>PC=1000</a:t>
            </a:r>
          </a:p>
        </p:txBody>
      </p:sp>
      <p:sp>
        <p:nvSpPr>
          <p:cNvPr id="58" name="Rectangle 21">
            <a:extLst>
              <a:ext uri="{FF2B5EF4-FFF2-40B4-BE49-F238E27FC236}">
                <a16:creationId xmlns:a16="http://schemas.microsoft.com/office/drawing/2014/main" id="{654140E8-89D6-4018-8F13-528496ED6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4859" y="2628890"/>
            <a:ext cx="1946275" cy="320675"/>
          </a:xfrm>
          <a:prstGeom prst="rect">
            <a:avLst/>
          </a:prstGeom>
          <a:solidFill>
            <a:srgbClr val="CCFF66"/>
          </a:solidFill>
          <a:ln w="19050">
            <a:solidFill>
              <a:schemeClr val="tx1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</a:pPr>
            <a:r>
              <a:rPr lang="en-US" altLang="zh-CN" b="1">
                <a:solidFill>
                  <a:srgbClr val="000000"/>
                </a:solidFill>
                <a:latin typeface="+mn-ea"/>
              </a:rPr>
              <a:t>R</a:t>
            </a:r>
            <a:r>
              <a:rPr lang="zh-CN" altLang="en-US" b="1" baseline="-25000">
                <a:solidFill>
                  <a:srgbClr val="000000"/>
                </a:solidFill>
                <a:latin typeface="+mn-ea"/>
              </a:rPr>
              <a:t>基</a:t>
            </a:r>
            <a:r>
              <a:rPr lang="en-US" altLang="zh-CN" b="1">
                <a:solidFill>
                  <a:srgbClr val="000000"/>
                </a:solidFill>
                <a:latin typeface="+mn-ea"/>
              </a:rPr>
              <a:t>=2000 </a:t>
            </a:r>
          </a:p>
        </p:txBody>
      </p:sp>
      <p:sp>
        <p:nvSpPr>
          <p:cNvPr id="59" name="Rectangle 2">
            <a:extLst>
              <a:ext uri="{FF2B5EF4-FFF2-40B4-BE49-F238E27FC236}">
                <a16:creationId xmlns:a16="http://schemas.microsoft.com/office/drawing/2014/main" id="{D1128B34-433E-4FA6-ADA3-9E8C7C67A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992" y="3423046"/>
            <a:ext cx="1441450" cy="3206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</a:pPr>
            <a:r>
              <a:rPr lang="en-US" altLang="zh-CN" b="1">
                <a:solidFill>
                  <a:srgbClr val="000000"/>
                </a:solidFill>
                <a:latin typeface="Garamond" pitchFamily="18" charset="0"/>
                <a:ea typeface="微软雅黑"/>
              </a:rPr>
              <a:t>200</a:t>
            </a:r>
          </a:p>
        </p:txBody>
      </p:sp>
      <p:sp>
        <p:nvSpPr>
          <p:cNvPr id="60" name="Text Box 3">
            <a:extLst>
              <a:ext uri="{FF2B5EF4-FFF2-40B4-BE49-F238E27FC236}">
                <a16:creationId xmlns:a16="http://schemas.microsoft.com/office/drawing/2014/main" id="{C21E3EC7-818A-40E7-BC1A-D5D3C7095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317" y="4745433"/>
            <a:ext cx="5762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FFCC00"/>
              </a:buClr>
              <a:buSzPct val="70000"/>
            </a:pPr>
            <a:r>
              <a:rPr lang="en-US" altLang="zh-CN" sz="1800" b="1">
                <a:solidFill>
                  <a:srgbClr val="000000"/>
                </a:solidFill>
                <a:latin typeface="Garamond" pitchFamily="18" charset="0"/>
              </a:rPr>
              <a:t>500</a:t>
            </a:r>
          </a:p>
        </p:txBody>
      </p:sp>
      <p:sp>
        <p:nvSpPr>
          <p:cNvPr id="61" name="Text Box 4">
            <a:extLst>
              <a:ext uri="{FF2B5EF4-FFF2-40B4-BE49-F238E27FC236}">
                <a16:creationId xmlns:a16="http://schemas.microsoft.com/office/drawing/2014/main" id="{421520A7-1F0D-4373-8012-DE5EA448E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54" y="5359796"/>
            <a:ext cx="86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FFCC00"/>
              </a:buClr>
              <a:buSzPct val="70000"/>
            </a:pPr>
            <a:r>
              <a:rPr lang="en-US" altLang="zh-CN" sz="1800" b="1" dirty="0">
                <a:solidFill>
                  <a:srgbClr val="000000"/>
                </a:solidFill>
                <a:latin typeface="Garamond" pitchFamily="18" charset="0"/>
              </a:rPr>
              <a:t>1100</a:t>
            </a:r>
          </a:p>
        </p:txBody>
      </p:sp>
      <p:sp>
        <p:nvSpPr>
          <p:cNvPr id="62" name="Text Box 5">
            <a:extLst>
              <a:ext uri="{FF2B5EF4-FFF2-40B4-BE49-F238E27FC236}">
                <a16:creationId xmlns:a16="http://schemas.microsoft.com/office/drawing/2014/main" id="{90E63258-428B-4263-9CA2-ED4C07E35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317" y="4104083"/>
            <a:ext cx="5762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FFCC00"/>
              </a:buClr>
              <a:buSzPct val="70000"/>
            </a:pPr>
            <a:r>
              <a:rPr lang="en-US" altLang="zh-CN" sz="1800" b="1">
                <a:solidFill>
                  <a:srgbClr val="000000"/>
                </a:solidFill>
                <a:latin typeface="Garamond" pitchFamily="18" charset="0"/>
              </a:rPr>
              <a:t>200</a:t>
            </a:r>
          </a:p>
        </p:txBody>
      </p:sp>
      <p:sp>
        <p:nvSpPr>
          <p:cNvPr id="63" name="Text Box 6">
            <a:extLst>
              <a:ext uri="{FF2B5EF4-FFF2-40B4-BE49-F238E27FC236}">
                <a16:creationId xmlns:a16="http://schemas.microsoft.com/office/drawing/2014/main" id="{7BA9150C-8D4F-4A22-8329-D092055DB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317" y="3383358"/>
            <a:ext cx="5762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FFCC00"/>
              </a:buClr>
              <a:buSzPct val="70000"/>
            </a:pPr>
            <a:r>
              <a:rPr lang="en-US" altLang="zh-CN" sz="1800" b="1">
                <a:solidFill>
                  <a:srgbClr val="000000"/>
                </a:solidFill>
                <a:latin typeface="Garamond" pitchFamily="18" charset="0"/>
              </a:rPr>
              <a:t>100</a:t>
            </a:r>
          </a:p>
        </p:txBody>
      </p:sp>
      <p:sp>
        <p:nvSpPr>
          <p:cNvPr id="64" name="Rectangle 7">
            <a:extLst>
              <a:ext uri="{FF2B5EF4-FFF2-40B4-BE49-F238E27FC236}">
                <a16:creationId xmlns:a16="http://schemas.microsoft.com/office/drawing/2014/main" id="{589E4FF4-B1D4-4108-A0FE-8BC0496B4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580" y="3743721"/>
            <a:ext cx="1439863" cy="36036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65" name="Rectangle 8">
            <a:extLst>
              <a:ext uri="{FF2B5EF4-FFF2-40B4-BE49-F238E27FC236}">
                <a16:creationId xmlns:a16="http://schemas.microsoft.com/office/drawing/2014/main" id="{B107216F-ADB2-484C-8313-331C71DB0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992" y="4104083"/>
            <a:ext cx="1441450" cy="36036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</a:pPr>
            <a:r>
              <a:rPr lang="en-US" altLang="zh-CN" b="1">
                <a:solidFill>
                  <a:srgbClr val="000000"/>
                </a:solidFill>
                <a:latin typeface="Garamond" pitchFamily="18" charset="0"/>
                <a:ea typeface="微软雅黑"/>
              </a:rPr>
              <a:t>500</a:t>
            </a:r>
          </a:p>
        </p:txBody>
      </p:sp>
      <p:sp>
        <p:nvSpPr>
          <p:cNvPr id="66" name="Rectangle 9">
            <a:extLst>
              <a:ext uri="{FF2B5EF4-FFF2-40B4-BE49-F238E27FC236}">
                <a16:creationId xmlns:a16="http://schemas.microsoft.com/office/drawing/2014/main" id="{82EDE7DD-0627-436A-BA68-94C02DB72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580" y="4424759"/>
            <a:ext cx="1439863" cy="32702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</a:pPr>
            <a:endParaRPr lang="zh-CN" altLang="zh-CN" b="1">
              <a:solidFill>
                <a:srgbClr val="000000"/>
              </a:solidFill>
              <a:latin typeface="Garamond" pitchFamily="18" charset="0"/>
              <a:ea typeface="微软雅黑"/>
            </a:endParaRPr>
          </a:p>
        </p:txBody>
      </p:sp>
      <p:sp>
        <p:nvSpPr>
          <p:cNvPr id="67" name="Rectangle 10">
            <a:extLst>
              <a:ext uri="{FF2B5EF4-FFF2-40B4-BE49-F238E27FC236}">
                <a16:creationId xmlns:a16="http://schemas.microsoft.com/office/drawing/2014/main" id="{0ECD5FF3-1505-4251-8839-727DA0A5D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992" y="4751783"/>
            <a:ext cx="1441450" cy="36036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</a:pPr>
            <a:r>
              <a:rPr lang="en-US" altLang="zh-CN" b="1" dirty="0">
                <a:solidFill>
                  <a:srgbClr val="000000"/>
                </a:solidFill>
                <a:latin typeface="Garamond" pitchFamily="18" charset="0"/>
                <a:ea typeface="微软雅黑"/>
              </a:rPr>
              <a:t>800</a:t>
            </a:r>
          </a:p>
        </p:txBody>
      </p:sp>
      <p:sp>
        <p:nvSpPr>
          <p:cNvPr id="68" name="Rectangle 11">
            <a:extLst>
              <a:ext uri="{FF2B5EF4-FFF2-40B4-BE49-F238E27FC236}">
                <a16:creationId xmlns:a16="http://schemas.microsoft.com/office/drawing/2014/main" id="{04522F98-FEBF-4CF1-B524-67452ADDF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580" y="5072458"/>
            <a:ext cx="1439863" cy="4000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69" name="Rectangle 12">
            <a:extLst>
              <a:ext uri="{FF2B5EF4-FFF2-40B4-BE49-F238E27FC236}">
                <a16:creationId xmlns:a16="http://schemas.microsoft.com/office/drawing/2014/main" id="{32C85BE1-09A4-403C-A9B0-B54797EB2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992" y="5399483"/>
            <a:ext cx="1441450" cy="36036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</a:pPr>
            <a:r>
              <a:rPr lang="en-US" altLang="zh-CN" b="1" dirty="0">
                <a:solidFill>
                  <a:srgbClr val="000000"/>
                </a:solidFill>
                <a:latin typeface="Garamond" pitchFamily="18" charset="0"/>
                <a:ea typeface="微软雅黑"/>
              </a:rPr>
              <a:t>100</a:t>
            </a:r>
          </a:p>
        </p:txBody>
      </p:sp>
      <p:sp>
        <p:nvSpPr>
          <p:cNvPr id="70" name="Rectangle 13">
            <a:extLst>
              <a:ext uri="{FF2B5EF4-FFF2-40B4-BE49-F238E27FC236}">
                <a16:creationId xmlns:a16="http://schemas.microsoft.com/office/drawing/2014/main" id="{EFBA424A-2147-4FA4-94A5-047E1D0B7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580" y="5720158"/>
            <a:ext cx="1439863" cy="3286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0000"/>
                </a:solidFill>
                <a:latin typeface="Garamond" pitchFamily="18" charset="0"/>
                <a:ea typeface="微软雅黑"/>
              </a:rPr>
              <a:t>350</a:t>
            </a:r>
            <a:endParaRPr lang="zh-CN" altLang="en-US" b="1" dirty="0">
              <a:solidFill>
                <a:srgbClr val="000000"/>
              </a:solidFill>
              <a:latin typeface="Garamond" pitchFamily="18" charset="0"/>
              <a:ea typeface="微软雅黑"/>
            </a:endParaRPr>
          </a:p>
        </p:txBody>
      </p:sp>
      <p:sp>
        <p:nvSpPr>
          <p:cNvPr id="71" name="Rectangle 14">
            <a:extLst>
              <a:ext uri="{FF2B5EF4-FFF2-40B4-BE49-F238E27FC236}">
                <a16:creationId xmlns:a16="http://schemas.microsoft.com/office/drawing/2014/main" id="{E4CD4B5B-0746-4AF3-A2E2-113C5788A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992" y="6047183"/>
            <a:ext cx="1441450" cy="3286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</a:pPr>
            <a:endParaRPr lang="en-US" altLang="zh-CN" b="1" dirty="0">
              <a:solidFill>
                <a:srgbClr val="000000"/>
              </a:solidFill>
              <a:latin typeface="Garamond" pitchFamily="18" charset="0"/>
              <a:ea typeface="微软雅黑"/>
            </a:endParaRPr>
          </a:p>
        </p:txBody>
      </p:sp>
      <p:sp>
        <p:nvSpPr>
          <p:cNvPr id="72" name="Rectangle 15">
            <a:extLst>
              <a:ext uri="{FF2B5EF4-FFF2-40B4-BE49-F238E27FC236}">
                <a16:creationId xmlns:a16="http://schemas.microsoft.com/office/drawing/2014/main" id="{34F208BB-5FF6-488D-BB09-1E1B869E3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580" y="6367858"/>
            <a:ext cx="1439863" cy="3683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  <a:latin typeface="微软雅黑"/>
                <a:ea typeface="微软雅黑"/>
              </a:rPr>
              <a:t>200</a:t>
            </a:r>
            <a:endParaRPr lang="zh-CN" altLang="en-US" dirty="0">
              <a:solidFill>
                <a:schemeClr val="tx1"/>
              </a:solidFill>
              <a:latin typeface="微软雅黑"/>
              <a:ea typeface="微软雅黑"/>
            </a:endParaRPr>
          </a:p>
        </p:txBody>
      </p:sp>
      <p:sp>
        <p:nvSpPr>
          <p:cNvPr id="73" name="Text Box 16">
            <a:extLst>
              <a:ext uri="{FF2B5EF4-FFF2-40B4-BE49-F238E27FC236}">
                <a16:creationId xmlns:a16="http://schemas.microsoft.com/office/drawing/2014/main" id="{F7A2DE7C-8BD9-4674-90ED-1CD76ECA6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54" y="6439495"/>
            <a:ext cx="863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FFCC00"/>
              </a:buClr>
              <a:buSzPct val="70000"/>
            </a:pPr>
            <a:r>
              <a:rPr lang="en-US" altLang="zh-CN" sz="1800" b="1" dirty="0">
                <a:solidFill>
                  <a:srgbClr val="000000"/>
                </a:solidFill>
                <a:latin typeface="Garamond" pitchFamily="18" charset="0"/>
              </a:rPr>
              <a:t>2100</a:t>
            </a:r>
          </a:p>
        </p:txBody>
      </p:sp>
      <p:sp>
        <p:nvSpPr>
          <p:cNvPr id="74" name="Rectangle 22">
            <a:extLst>
              <a:ext uri="{FF2B5EF4-FFF2-40B4-BE49-F238E27FC236}">
                <a16:creationId xmlns:a16="http://schemas.microsoft.com/office/drawing/2014/main" id="{242454F4-375A-420E-96C3-208BD654C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312" y="3740545"/>
            <a:ext cx="1295400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000000"/>
                </a:solidFill>
                <a:latin typeface="+mn-ea"/>
              </a:rPr>
              <a:t>寻址方式</a:t>
            </a:r>
          </a:p>
        </p:txBody>
      </p:sp>
      <p:sp>
        <p:nvSpPr>
          <p:cNvPr id="75" name="Rectangle 23">
            <a:extLst>
              <a:ext uri="{FF2B5EF4-FFF2-40B4-BE49-F238E27FC236}">
                <a16:creationId xmlns:a16="http://schemas.microsoft.com/office/drawing/2014/main" id="{BC71453A-F93F-4AD0-A945-DEF6A130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5712" y="3740545"/>
            <a:ext cx="665162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 b="1">
                <a:solidFill>
                  <a:srgbClr val="000000"/>
                </a:solidFill>
                <a:latin typeface="+mn-ea"/>
              </a:rPr>
              <a:t>X</a:t>
            </a:r>
          </a:p>
        </p:txBody>
      </p:sp>
      <p:sp>
        <p:nvSpPr>
          <p:cNvPr id="76" name="Rectangle 24">
            <a:extLst>
              <a:ext uri="{FF2B5EF4-FFF2-40B4-BE49-F238E27FC236}">
                <a16:creationId xmlns:a16="http://schemas.microsoft.com/office/drawing/2014/main" id="{0D74D726-01C3-4060-B105-1CEDEB220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3788" y="3740545"/>
            <a:ext cx="1322387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000000"/>
                </a:solidFill>
                <a:latin typeface="+mn-ea"/>
              </a:rPr>
              <a:t>操作数</a:t>
            </a:r>
          </a:p>
        </p:txBody>
      </p:sp>
      <p:sp>
        <p:nvSpPr>
          <p:cNvPr id="77" name="Rectangle 25">
            <a:extLst>
              <a:ext uri="{FF2B5EF4-FFF2-40B4-BE49-F238E27FC236}">
                <a16:creationId xmlns:a16="http://schemas.microsoft.com/office/drawing/2014/main" id="{DD95BF28-6EB1-4893-953E-6732F1BAA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312" y="4094557"/>
            <a:ext cx="1295400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000000"/>
                </a:solidFill>
                <a:latin typeface="+mn-ea"/>
              </a:rPr>
              <a:t>立即</a:t>
            </a:r>
          </a:p>
        </p:txBody>
      </p:sp>
      <p:sp>
        <p:nvSpPr>
          <p:cNvPr id="78" name="Rectangle 26">
            <a:extLst>
              <a:ext uri="{FF2B5EF4-FFF2-40B4-BE49-F238E27FC236}">
                <a16:creationId xmlns:a16="http://schemas.microsoft.com/office/drawing/2014/main" id="{E60D284F-3AC1-4168-984B-E6AD1ED00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5712" y="4094557"/>
            <a:ext cx="665162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 b="1">
                <a:solidFill>
                  <a:srgbClr val="000000"/>
                </a:solidFill>
                <a:latin typeface="+mn-ea"/>
              </a:rPr>
              <a:t>0</a:t>
            </a:r>
          </a:p>
        </p:txBody>
      </p:sp>
      <p:sp>
        <p:nvSpPr>
          <p:cNvPr id="79" name="Rectangle 27">
            <a:extLst>
              <a:ext uri="{FF2B5EF4-FFF2-40B4-BE49-F238E27FC236}">
                <a16:creationId xmlns:a16="http://schemas.microsoft.com/office/drawing/2014/main" id="{BB12BA71-B87B-448E-AD1A-963EFC415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3788" y="4094557"/>
            <a:ext cx="1322387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 b="1">
                <a:solidFill>
                  <a:srgbClr val="000000"/>
                </a:solidFill>
                <a:latin typeface="+mn-ea"/>
              </a:rPr>
              <a:t>100</a:t>
            </a:r>
          </a:p>
        </p:txBody>
      </p:sp>
      <p:sp>
        <p:nvSpPr>
          <p:cNvPr id="80" name="Rectangle 28">
            <a:extLst>
              <a:ext uri="{FF2B5EF4-FFF2-40B4-BE49-F238E27FC236}">
                <a16:creationId xmlns:a16="http://schemas.microsoft.com/office/drawing/2014/main" id="{895DEDC3-BDA3-496D-8C9B-CD81EFC17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312" y="4454920"/>
            <a:ext cx="1295400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000000"/>
                </a:solidFill>
                <a:latin typeface="+mn-ea"/>
              </a:rPr>
              <a:t>直接</a:t>
            </a:r>
          </a:p>
        </p:txBody>
      </p:sp>
      <p:sp>
        <p:nvSpPr>
          <p:cNvPr id="81" name="Rectangle 29">
            <a:extLst>
              <a:ext uri="{FF2B5EF4-FFF2-40B4-BE49-F238E27FC236}">
                <a16:creationId xmlns:a16="http://schemas.microsoft.com/office/drawing/2014/main" id="{AF349AB4-D7F9-4A9B-A659-B58D05211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5712" y="4454920"/>
            <a:ext cx="665162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 b="1">
                <a:solidFill>
                  <a:srgbClr val="000000"/>
                </a:solidFill>
                <a:latin typeface="+mn-ea"/>
              </a:rPr>
              <a:t>1</a:t>
            </a:r>
          </a:p>
        </p:txBody>
      </p:sp>
      <p:sp>
        <p:nvSpPr>
          <p:cNvPr id="82" name="Rectangle 30">
            <a:extLst>
              <a:ext uri="{FF2B5EF4-FFF2-40B4-BE49-F238E27FC236}">
                <a16:creationId xmlns:a16="http://schemas.microsoft.com/office/drawing/2014/main" id="{0DD6AF93-BC20-4365-A6BB-6E794FC37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3788" y="4454920"/>
            <a:ext cx="1322387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 b="1">
                <a:solidFill>
                  <a:srgbClr val="000000"/>
                </a:solidFill>
                <a:latin typeface="+mn-ea"/>
              </a:rPr>
              <a:t>200</a:t>
            </a:r>
          </a:p>
        </p:txBody>
      </p:sp>
      <p:sp>
        <p:nvSpPr>
          <p:cNvPr id="83" name="Rectangle 31">
            <a:extLst>
              <a:ext uri="{FF2B5EF4-FFF2-40B4-BE49-F238E27FC236}">
                <a16:creationId xmlns:a16="http://schemas.microsoft.com/office/drawing/2014/main" id="{78E4A00A-8CF1-4D17-ADEA-EE12E2C96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312" y="4815282"/>
            <a:ext cx="1295400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000000"/>
                </a:solidFill>
                <a:latin typeface="+mn-ea"/>
              </a:rPr>
              <a:t>间接</a:t>
            </a:r>
          </a:p>
        </p:txBody>
      </p:sp>
      <p:sp>
        <p:nvSpPr>
          <p:cNvPr id="84" name="Rectangle 32">
            <a:extLst>
              <a:ext uri="{FF2B5EF4-FFF2-40B4-BE49-F238E27FC236}">
                <a16:creationId xmlns:a16="http://schemas.microsoft.com/office/drawing/2014/main" id="{A424877F-545D-4AB0-9030-A43909896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5712" y="4815282"/>
            <a:ext cx="665162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 b="1">
                <a:solidFill>
                  <a:srgbClr val="000000"/>
                </a:solidFill>
                <a:latin typeface="+mn-ea"/>
              </a:rPr>
              <a:t>2</a:t>
            </a:r>
          </a:p>
        </p:txBody>
      </p:sp>
      <p:sp>
        <p:nvSpPr>
          <p:cNvPr id="85" name="Rectangle 33">
            <a:extLst>
              <a:ext uri="{FF2B5EF4-FFF2-40B4-BE49-F238E27FC236}">
                <a16:creationId xmlns:a16="http://schemas.microsoft.com/office/drawing/2014/main" id="{68CDD68B-4124-4D12-AC70-7555323B2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3788" y="4815282"/>
            <a:ext cx="1322387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 b="1">
                <a:solidFill>
                  <a:srgbClr val="000000"/>
                </a:solidFill>
                <a:latin typeface="+mn-ea"/>
              </a:rPr>
              <a:t>500</a:t>
            </a:r>
          </a:p>
        </p:txBody>
      </p:sp>
      <p:sp>
        <p:nvSpPr>
          <p:cNvPr id="86" name="Rectangle 34">
            <a:extLst>
              <a:ext uri="{FF2B5EF4-FFF2-40B4-BE49-F238E27FC236}">
                <a16:creationId xmlns:a16="http://schemas.microsoft.com/office/drawing/2014/main" id="{606BD24A-E9D7-4891-8A60-60E983F0A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312" y="5174057"/>
            <a:ext cx="1295400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000000"/>
                </a:solidFill>
                <a:latin typeface="+mn-ea"/>
              </a:rPr>
              <a:t>相对</a:t>
            </a:r>
          </a:p>
        </p:txBody>
      </p:sp>
      <p:sp>
        <p:nvSpPr>
          <p:cNvPr id="87" name="Rectangle 35">
            <a:extLst>
              <a:ext uri="{FF2B5EF4-FFF2-40B4-BE49-F238E27FC236}">
                <a16:creationId xmlns:a16="http://schemas.microsoft.com/office/drawing/2014/main" id="{0FC42394-9B55-42E4-B087-159A0BC8E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5712" y="5174057"/>
            <a:ext cx="665162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 b="1">
                <a:solidFill>
                  <a:srgbClr val="000000"/>
                </a:solidFill>
                <a:latin typeface="+mn-ea"/>
              </a:rPr>
              <a:t>3</a:t>
            </a:r>
          </a:p>
        </p:txBody>
      </p:sp>
      <p:sp>
        <p:nvSpPr>
          <p:cNvPr id="88" name="Rectangle 36">
            <a:extLst>
              <a:ext uri="{FF2B5EF4-FFF2-40B4-BE49-F238E27FC236}">
                <a16:creationId xmlns:a16="http://schemas.microsoft.com/office/drawing/2014/main" id="{0D6830A7-ACDA-4DDA-8849-06C3941A3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3788" y="5174057"/>
            <a:ext cx="1322387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rgbClr val="FF0000"/>
                </a:solidFill>
                <a:latin typeface="+mn-ea"/>
              </a:rPr>
              <a:t>100</a:t>
            </a:r>
          </a:p>
        </p:txBody>
      </p:sp>
      <p:sp>
        <p:nvSpPr>
          <p:cNvPr id="89" name="Rectangle 37">
            <a:extLst>
              <a:ext uri="{FF2B5EF4-FFF2-40B4-BE49-F238E27FC236}">
                <a16:creationId xmlns:a16="http://schemas.microsoft.com/office/drawing/2014/main" id="{78F7B839-9D18-4891-BC45-01E694C23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312" y="5556645"/>
            <a:ext cx="1295400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000000"/>
                </a:solidFill>
                <a:latin typeface="+mn-ea"/>
              </a:rPr>
              <a:t>变址</a:t>
            </a:r>
          </a:p>
        </p:txBody>
      </p:sp>
      <p:sp>
        <p:nvSpPr>
          <p:cNvPr id="90" name="Rectangle 38">
            <a:extLst>
              <a:ext uri="{FF2B5EF4-FFF2-40B4-BE49-F238E27FC236}">
                <a16:creationId xmlns:a16="http://schemas.microsoft.com/office/drawing/2014/main" id="{1E77BE9E-7EBC-42C1-B07E-008C17191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5713" y="5550295"/>
            <a:ext cx="649287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 b="1">
                <a:solidFill>
                  <a:srgbClr val="000000"/>
                </a:solidFill>
                <a:latin typeface="+mn-ea"/>
              </a:rPr>
              <a:t>4</a:t>
            </a:r>
          </a:p>
        </p:txBody>
      </p:sp>
      <p:sp>
        <p:nvSpPr>
          <p:cNvPr id="91" name="Rectangle 39">
            <a:extLst>
              <a:ext uri="{FF2B5EF4-FFF2-40B4-BE49-F238E27FC236}">
                <a16:creationId xmlns:a16="http://schemas.microsoft.com/office/drawing/2014/main" id="{A9D0272B-E203-486C-9BFB-9552FCFE1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5374" y="5547120"/>
            <a:ext cx="1322388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 b="1">
                <a:solidFill>
                  <a:srgbClr val="000000"/>
                </a:solidFill>
                <a:latin typeface="+mn-ea"/>
              </a:rPr>
              <a:t>200</a:t>
            </a:r>
          </a:p>
        </p:txBody>
      </p:sp>
      <p:sp>
        <p:nvSpPr>
          <p:cNvPr id="92" name="Rectangle 40">
            <a:extLst>
              <a:ext uri="{FF2B5EF4-FFF2-40B4-BE49-F238E27FC236}">
                <a16:creationId xmlns:a16="http://schemas.microsoft.com/office/drawing/2014/main" id="{BC5A1A53-A6B4-4D7A-B41A-DF1AD2798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312" y="5917007"/>
            <a:ext cx="1295400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000000"/>
                </a:solidFill>
                <a:latin typeface="+mn-ea"/>
              </a:rPr>
              <a:t>变址间址</a:t>
            </a:r>
          </a:p>
        </p:txBody>
      </p:sp>
      <p:sp>
        <p:nvSpPr>
          <p:cNvPr id="93" name="Rectangle 41">
            <a:extLst>
              <a:ext uri="{FF2B5EF4-FFF2-40B4-BE49-F238E27FC236}">
                <a16:creationId xmlns:a16="http://schemas.microsoft.com/office/drawing/2014/main" id="{D775686A-D626-4052-8470-92FB6C8F2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5712" y="5917007"/>
            <a:ext cx="665162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 b="1">
                <a:solidFill>
                  <a:srgbClr val="000000"/>
                </a:solidFill>
                <a:latin typeface="+mn-ea"/>
              </a:rPr>
              <a:t>5</a:t>
            </a:r>
          </a:p>
        </p:txBody>
      </p:sp>
      <p:sp>
        <p:nvSpPr>
          <p:cNvPr id="94" name="Rectangle 42">
            <a:extLst>
              <a:ext uri="{FF2B5EF4-FFF2-40B4-BE49-F238E27FC236}">
                <a16:creationId xmlns:a16="http://schemas.microsoft.com/office/drawing/2014/main" id="{88A34ED5-A82B-4812-8AE9-CF9BF92C1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3788" y="5917007"/>
            <a:ext cx="1322387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 b="1">
                <a:solidFill>
                  <a:srgbClr val="000000"/>
                </a:solidFill>
                <a:latin typeface="+mn-ea"/>
              </a:rPr>
              <a:t>500</a:t>
            </a:r>
          </a:p>
        </p:txBody>
      </p:sp>
      <p:sp>
        <p:nvSpPr>
          <p:cNvPr id="95" name="Rectangle 43">
            <a:extLst>
              <a:ext uri="{FF2B5EF4-FFF2-40B4-BE49-F238E27FC236}">
                <a16:creationId xmlns:a16="http://schemas.microsoft.com/office/drawing/2014/main" id="{CDD88CCF-CC0E-4921-83C7-C13A68991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413" y="3740545"/>
            <a:ext cx="1730375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000000"/>
                </a:solidFill>
                <a:latin typeface="+mn-ea"/>
              </a:rPr>
              <a:t>有效地址</a:t>
            </a:r>
            <a:r>
              <a:rPr lang="en-US" altLang="zh-CN" sz="1400" b="1">
                <a:solidFill>
                  <a:srgbClr val="000000"/>
                </a:solidFill>
                <a:latin typeface="+mn-ea"/>
              </a:rPr>
              <a:t>E</a:t>
            </a:r>
          </a:p>
        </p:txBody>
      </p:sp>
      <p:sp>
        <p:nvSpPr>
          <p:cNvPr id="96" name="Rectangle 44">
            <a:extLst>
              <a:ext uri="{FF2B5EF4-FFF2-40B4-BE49-F238E27FC236}">
                <a16:creationId xmlns:a16="http://schemas.microsoft.com/office/drawing/2014/main" id="{ADD6A6B0-EC5A-4956-953F-837E41668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413" y="4094557"/>
            <a:ext cx="1730375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 b="1">
                <a:solidFill>
                  <a:srgbClr val="000000"/>
                </a:solidFill>
                <a:latin typeface="+mn-ea"/>
              </a:rPr>
              <a:t>S=D</a:t>
            </a:r>
          </a:p>
        </p:txBody>
      </p:sp>
      <p:sp>
        <p:nvSpPr>
          <p:cNvPr id="97" name="Rectangle 45">
            <a:extLst>
              <a:ext uri="{FF2B5EF4-FFF2-40B4-BE49-F238E27FC236}">
                <a16:creationId xmlns:a16="http://schemas.microsoft.com/office/drawing/2014/main" id="{9C74F1B2-5568-45F9-A8EA-FADECC9B9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413" y="4454920"/>
            <a:ext cx="1730375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 b="1">
                <a:solidFill>
                  <a:srgbClr val="000000"/>
                </a:solidFill>
                <a:latin typeface="+mn-ea"/>
              </a:rPr>
              <a:t>E=D=100</a:t>
            </a:r>
          </a:p>
        </p:txBody>
      </p:sp>
      <p:sp>
        <p:nvSpPr>
          <p:cNvPr id="98" name="Rectangle 46">
            <a:extLst>
              <a:ext uri="{FF2B5EF4-FFF2-40B4-BE49-F238E27FC236}">
                <a16:creationId xmlns:a16="http://schemas.microsoft.com/office/drawing/2014/main" id="{A18942F8-55BF-47E2-A644-D4902F8B4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413" y="4815282"/>
            <a:ext cx="1730375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 b="1">
                <a:solidFill>
                  <a:srgbClr val="000000"/>
                </a:solidFill>
                <a:latin typeface="+mn-ea"/>
              </a:rPr>
              <a:t>E=(D)=200</a:t>
            </a:r>
          </a:p>
        </p:txBody>
      </p:sp>
      <p:sp>
        <p:nvSpPr>
          <p:cNvPr id="99" name="Rectangle 47">
            <a:extLst>
              <a:ext uri="{FF2B5EF4-FFF2-40B4-BE49-F238E27FC236}">
                <a16:creationId xmlns:a16="http://schemas.microsoft.com/office/drawing/2014/main" id="{97AB279F-04F9-4FE4-8BBA-E45593BCE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4999" y="5180507"/>
            <a:ext cx="1727200" cy="31105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rgbClr val="000000"/>
                </a:solidFill>
                <a:latin typeface="+mn-ea"/>
              </a:rPr>
              <a:t>E=(PC)+D=1100</a:t>
            </a:r>
          </a:p>
        </p:txBody>
      </p:sp>
      <p:sp>
        <p:nvSpPr>
          <p:cNvPr id="100" name="Rectangle 48">
            <a:extLst>
              <a:ext uri="{FF2B5EF4-FFF2-40B4-BE49-F238E27FC236}">
                <a16:creationId xmlns:a16="http://schemas.microsoft.com/office/drawing/2014/main" id="{CAA37B62-E63E-40D4-AEB4-0E73B5C7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5000" y="5547120"/>
            <a:ext cx="1730375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rgbClr val="000000"/>
                </a:solidFill>
                <a:latin typeface="+mn-ea"/>
              </a:rPr>
              <a:t>E=(R)+D=2100</a:t>
            </a:r>
          </a:p>
        </p:txBody>
      </p:sp>
      <p:sp>
        <p:nvSpPr>
          <p:cNvPr id="101" name="Rectangle 49">
            <a:extLst>
              <a:ext uri="{FF2B5EF4-FFF2-40B4-BE49-F238E27FC236}">
                <a16:creationId xmlns:a16="http://schemas.microsoft.com/office/drawing/2014/main" id="{D89D07F0-F97B-4CCE-8C03-41E930F70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413" y="5917007"/>
            <a:ext cx="1730375" cy="317500"/>
          </a:xfrm>
          <a:prstGeom prst="rect">
            <a:avLst/>
          </a:prstGeom>
          <a:solidFill>
            <a:srgbClr val="CCFFFF"/>
          </a:solidFill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 b="1">
                <a:solidFill>
                  <a:srgbClr val="000000"/>
                </a:solidFill>
                <a:latin typeface="+mn-ea"/>
              </a:rPr>
              <a:t>E=((R)+D)=200</a:t>
            </a:r>
          </a:p>
        </p:txBody>
      </p:sp>
      <p:sp>
        <p:nvSpPr>
          <p:cNvPr id="102" name="Text Box 4">
            <a:extLst>
              <a:ext uri="{FF2B5EF4-FFF2-40B4-BE49-F238E27FC236}">
                <a16:creationId xmlns:a16="http://schemas.microsoft.com/office/drawing/2014/main" id="{803A83C0-7AA0-46A4-97F8-612BBD5D4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06" y="5774276"/>
            <a:ext cx="86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FFCC00"/>
              </a:buClr>
              <a:buSzPct val="70000"/>
            </a:pPr>
            <a:r>
              <a:rPr lang="en-US" altLang="zh-CN" sz="1800" b="1" dirty="0">
                <a:solidFill>
                  <a:srgbClr val="000000"/>
                </a:solidFill>
                <a:latin typeface="Garamond" pitchFamily="18" charset="0"/>
              </a:rPr>
              <a:t>1102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B50A0E46-46F6-4E16-816F-A3161AE775DD}"/>
              </a:ext>
            </a:extLst>
          </p:cNvPr>
          <p:cNvSpPr/>
          <p:nvPr/>
        </p:nvSpPr>
        <p:spPr>
          <a:xfrm>
            <a:off x="85723" y="733134"/>
            <a:ext cx="8734750" cy="15302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400" dirty="0"/>
              <a:t>例</a:t>
            </a:r>
            <a:r>
              <a:rPr lang="en-US" altLang="zh-CN" sz="2400" dirty="0"/>
              <a:t>1.</a:t>
            </a:r>
            <a:r>
              <a:rPr lang="zh-CN" altLang="en-US" sz="2400" dirty="0"/>
              <a:t>设某机的指令字长</a:t>
            </a:r>
            <a:r>
              <a:rPr lang="en-US" altLang="zh-CN" sz="2400" dirty="0"/>
              <a:t>16</a:t>
            </a:r>
            <a:r>
              <a:rPr lang="zh-CN" altLang="en-US" sz="2400" dirty="0"/>
              <a:t>位，格式、有关寄存器和主存内容如下，</a:t>
            </a:r>
            <a:r>
              <a:rPr lang="en-US" altLang="zh-CN" sz="2400" dirty="0"/>
              <a:t>X</a:t>
            </a:r>
            <a:r>
              <a:rPr lang="zh-CN" altLang="en-US" sz="2400" dirty="0"/>
              <a:t>为寻址方式，</a:t>
            </a:r>
            <a:r>
              <a:rPr lang="en-US" altLang="zh-CN" sz="2400" dirty="0"/>
              <a:t>D</a:t>
            </a:r>
            <a:r>
              <a:rPr lang="zh-CN" altLang="en-US" sz="2400" dirty="0"/>
              <a:t>为形式地址，请在下表中填入有效地址</a:t>
            </a:r>
            <a:r>
              <a:rPr lang="en-US" altLang="zh-CN" sz="2400" dirty="0"/>
              <a:t>E</a:t>
            </a:r>
            <a:r>
              <a:rPr lang="zh-CN" altLang="en-US" sz="2400" dirty="0"/>
              <a:t>及操作数的值。？</a:t>
            </a:r>
          </a:p>
        </p:txBody>
      </p:sp>
    </p:spTree>
    <p:extLst>
      <p:ext uri="{BB962C8B-B14F-4D97-AF65-F5344CB8AC3E}">
        <p14:creationId xmlns:p14="http://schemas.microsoft.com/office/powerpoint/2010/main" val="185909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>
            <a:extLst>
              <a:ext uri="{FF2B5EF4-FFF2-40B4-BE49-F238E27FC236}">
                <a16:creationId xmlns:a16="http://schemas.microsoft.com/office/drawing/2014/main" id="{4A40E949-7E85-4DF0-A3AD-3C11CB317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88913"/>
            <a:ext cx="820896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例</a:t>
            </a:r>
            <a:r>
              <a:rPr lang="en-US" altLang="zh-CN" sz="2400" b="1" dirty="0">
                <a:solidFill>
                  <a:srgbClr val="000000"/>
                </a:solidFill>
              </a:rPr>
              <a:t>2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一种一地址指令格式如下所示。设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为通用寄存器，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为变址寄存器，（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=1000H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PC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为程序计数器，（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PC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=2000H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D=100H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，存储器有关数据如表（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）所示，请将表（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）填写完整。</a:t>
            </a:r>
          </a:p>
        </p:txBody>
      </p:sp>
      <p:grpSp>
        <p:nvGrpSpPr>
          <p:cNvPr id="54275" name="Group 3">
            <a:extLst>
              <a:ext uri="{FF2B5EF4-FFF2-40B4-BE49-F238E27FC236}">
                <a16:creationId xmlns:a16="http://schemas.microsoft.com/office/drawing/2014/main" id="{EC5AD4B1-39B5-49C4-A416-B0A47EFA10C1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1773238"/>
            <a:ext cx="7848600" cy="457200"/>
            <a:chOff x="-3" y="1718"/>
            <a:chExt cx="2517" cy="754"/>
          </a:xfrm>
        </p:grpSpPr>
        <p:grpSp>
          <p:nvGrpSpPr>
            <p:cNvPr id="54278" name="Group 4">
              <a:extLst>
                <a:ext uri="{FF2B5EF4-FFF2-40B4-BE49-F238E27FC236}">
                  <a16:creationId xmlns:a16="http://schemas.microsoft.com/office/drawing/2014/main" id="{3484BBAB-B9B7-4B25-834E-BAF2C2C432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721"/>
              <a:ext cx="2511" cy="748"/>
              <a:chOff x="0" y="1721"/>
              <a:chExt cx="2511" cy="748"/>
            </a:xfrm>
          </p:grpSpPr>
          <p:grpSp>
            <p:nvGrpSpPr>
              <p:cNvPr id="54280" name="Group 5">
                <a:extLst>
                  <a:ext uri="{FF2B5EF4-FFF2-40B4-BE49-F238E27FC236}">
                    <a16:creationId xmlns:a16="http://schemas.microsoft.com/office/drawing/2014/main" id="{73DE83F1-7AD0-4AAE-9983-08895DC61B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721"/>
                <a:ext cx="775" cy="748"/>
                <a:chOff x="0" y="1721"/>
                <a:chExt cx="775" cy="748"/>
              </a:xfrm>
            </p:grpSpPr>
            <p:sp>
              <p:nvSpPr>
                <p:cNvPr id="54290" name="Rectangle 6">
                  <a:extLst>
                    <a:ext uri="{FF2B5EF4-FFF2-40B4-BE49-F238E27FC236}">
                      <a16:creationId xmlns:a16="http://schemas.microsoft.com/office/drawing/2014/main" id="{D1D9E8D1-A3FF-4590-99D0-077581DD00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721"/>
                  <a:ext cx="775" cy="7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　　</a:t>
                  </a:r>
                  <a:r>
                    <a:rPr kumimoji="0" lang="zh-CN" alt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操作码</a:t>
                  </a: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ˎ̥"/>
                      <a:cs typeface="ˎ̥"/>
                    </a:rPr>
                    <a:t>OP</a:t>
                  </a: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 </a:t>
                  </a:r>
                  <a:endPara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4291" name="Rectangle 7">
                  <a:extLst>
                    <a:ext uri="{FF2B5EF4-FFF2-40B4-BE49-F238E27FC236}">
                      <a16:creationId xmlns:a16="http://schemas.microsoft.com/office/drawing/2014/main" id="{4F6A9A41-B4C2-4EFC-8353-E4987C5CF8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721"/>
                  <a:ext cx="775" cy="748"/>
                </a:xfrm>
                <a:prstGeom prst="rect">
                  <a:avLst/>
                </a:prstGeom>
                <a:noFill/>
                <a:ln w="6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54281" name="Group 8">
                <a:extLst>
                  <a:ext uri="{FF2B5EF4-FFF2-40B4-BE49-F238E27FC236}">
                    <a16:creationId xmlns:a16="http://schemas.microsoft.com/office/drawing/2014/main" id="{597DB176-F889-457F-9436-B316CA937F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5" y="1721"/>
                <a:ext cx="480" cy="748"/>
                <a:chOff x="775" y="1721"/>
                <a:chExt cx="480" cy="748"/>
              </a:xfrm>
            </p:grpSpPr>
            <p:sp>
              <p:nvSpPr>
                <p:cNvPr id="54288" name="Rectangle 9">
                  <a:extLst>
                    <a:ext uri="{FF2B5EF4-FFF2-40B4-BE49-F238E27FC236}">
                      <a16:creationId xmlns:a16="http://schemas.microsoft.com/office/drawing/2014/main" id="{24BFE176-5608-49C2-B38B-123B81F59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5" y="1721"/>
                  <a:ext cx="480" cy="7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寻址模式</a:t>
                  </a: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ˎ̥"/>
                      <a:cs typeface="ˎ̥"/>
                    </a:rPr>
                    <a:t>X</a:t>
                  </a: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 </a:t>
                  </a:r>
                  <a:endPara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4289" name="Rectangle 10">
                  <a:extLst>
                    <a:ext uri="{FF2B5EF4-FFF2-40B4-BE49-F238E27FC236}">
                      <a16:creationId xmlns:a16="http://schemas.microsoft.com/office/drawing/2014/main" id="{87AC2A5C-B33F-4F25-AEAD-BB1BF98308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5" y="1721"/>
                  <a:ext cx="480" cy="748"/>
                </a:xfrm>
                <a:prstGeom prst="rect">
                  <a:avLst/>
                </a:prstGeom>
                <a:noFill/>
                <a:ln w="6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54282" name="Group 11">
                <a:extLst>
                  <a:ext uri="{FF2B5EF4-FFF2-40B4-BE49-F238E27FC236}">
                    <a16:creationId xmlns:a16="http://schemas.microsoft.com/office/drawing/2014/main" id="{DAB47EC7-1031-4CDB-AD7A-F5116F95D2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5" y="1721"/>
                <a:ext cx="443" cy="748"/>
                <a:chOff x="1255" y="1721"/>
                <a:chExt cx="443" cy="748"/>
              </a:xfrm>
            </p:grpSpPr>
            <p:sp>
              <p:nvSpPr>
                <p:cNvPr id="54286" name="Rectangle 12">
                  <a:extLst>
                    <a:ext uri="{FF2B5EF4-FFF2-40B4-BE49-F238E27FC236}">
                      <a16:creationId xmlns:a16="http://schemas.microsoft.com/office/drawing/2014/main" id="{469B2F1B-52F0-47DB-A58D-1F20DE476B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5" y="1721"/>
                  <a:ext cx="443" cy="7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　</a:t>
                  </a:r>
                  <a:r>
                    <a:rPr kumimoji="0" lang="zh-CN" alt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间址</a:t>
                  </a: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ˎ̥"/>
                      <a:cs typeface="ˎ̥"/>
                    </a:rPr>
                    <a:t>I</a:t>
                  </a: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 </a:t>
                  </a:r>
                  <a:endPara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4287" name="Rectangle 13">
                  <a:extLst>
                    <a:ext uri="{FF2B5EF4-FFF2-40B4-BE49-F238E27FC236}">
                      <a16:creationId xmlns:a16="http://schemas.microsoft.com/office/drawing/2014/main" id="{CD006FFD-B44B-4B2F-B872-8BB1B62151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5" y="1721"/>
                  <a:ext cx="443" cy="748"/>
                </a:xfrm>
                <a:prstGeom prst="rect">
                  <a:avLst/>
                </a:prstGeom>
                <a:noFill/>
                <a:ln w="6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54283" name="Group 14">
                <a:extLst>
                  <a:ext uri="{FF2B5EF4-FFF2-40B4-BE49-F238E27FC236}">
                    <a16:creationId xmlns:a16="http://schemas.microsoft.com/office/drawing/2014/main" id="{C4DA0967-FE26-4F2B-BD9E-EB8DA8688B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98" y="1721"/>
                <a:ext cx="813" cy="748"/>
                <a:chOff x="1698" y="1721"/>
                <a:chExt cx="813" cy="748"/>
              </a:xfrm>
            </p:grpSpPr>
            <p:sp>
              <p:nvSpPr>
                <p:cNvPr id="54284" name="Rectangle 15">
                  <a:extLst>
                    <a:ext uri="{FF2B5EF4-FFF2-40B4-BE49-F238E27FC236}">
                      <a16:creationId xmlns:a16="http://schemas.microsoft.com/office/drawing/2014/main" id="{A95C2B33-2914-4C53-9F0C-5A8C802396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98" y="1721"/>
                  <a:ext cx="813" cy="7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　　</a:t>
                  </a:r>
                  <a:r>
                    <a:rPr kumimoji="0" lang="zh-CN" alt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形式地址</a:t>
                  </a: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ˎ̥"/>
                      <a:cs typeface="ˎ̥"/>
                    </a:rPr>
                    <a:t>D</a:t>
                  </a: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 </a:t>
                  </a:r>
                  <a:endPara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4285" name="Rectangle 16">
                  <a:extLst>
                    <a:ext uri="{FF2B5EF4-FFF2-40B4-BE49-F238E27FC236}">
                      <a16:creationId xmlns:a16="http://schemas.microsoft.com/office/drawing/2014/main" id="{455B41ED-C481-4FEB-B6A6-A0FCA78EB6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98" y="1721"/>
                  <a:ext cx="813" cy="748"/>
                </a:xfrm>
                <a:prstGeom prst="rect">
                  <a:avLst/>
                </a:prstGeom>
                <a:noFill/>
                <a:ln w="6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54279" name="Rectangle 17">
              <a:extLst>
                <a:ext uri="{FF2B5EF4-FFF2-40B4-BE49-F238E27FC236}">
                  <a16:creationId xmlns:a16="http://schemas.microsoft.com/office/drawing/2014/main" id="{332D3752-541A-4F34-9A92-EE8B49CA6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1718"/>
              <a:ext cx="2517" cy="754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54276" name="Object 18">
            <a:extLst>
              <a:ext uri="{FF2B5EF4-FFF2-40B4-BE49-F238E27FC236}">
                <a16:creationId xmlns:a16="http://schemas.microsoft.com/office/drawing/2014/main" id="{40AFB159-F643-4288-837B-E15A367F27E4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903288" y="2276475"/>
          <a:ext cx="7335837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28" name="Visio" r:id="rId3" imgW="5314188" imgH="893978" progId="Visio.Drawing.11">
                  <p:embed/>
                </p:oleObj>
              </mc:Choice>
              <mc:Fallback>
                <p:oleObj name="Visio" r:id="rId3" imgW="5314188" imgH="893978" progId="Visio.Drawing.11">
                  <p:embed/>
                  <p:pic>
                    <p:nvPicPr>
                      <p:cNvPr id="54276" name="Object 18">
                        <a:extLst>
                          <a:ext uri="{FF2B5EF4-FFF2-40B4-BE49-F238E27FC236}">
                            <a16:creationId xmlns:a16="http://schemas.microsoft.com/office/drawing/2014/main" id="{40AFB159-F643-4288-837B-E15A367F27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288" y="2276475"/>
                        <a:ext cx="7335837" cy="123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7" name="Object 19">
            <a:extLst>
              <a:ext uri="{FF2B5EF4-FFF2-40B4-BE49-F238E27FC236}">
                <a16:creationId xmlns:a16="http://schemas.microsoft.com/office/drawing/2014/main" id="{96799EA7-ED66-4E15-AEE1-E130750D26CF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539750" y="3500438"/>
          <a:ext cx="8135938" cy="335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29" name="Visio" r:id="rId5" imgW="5257800" imgH="2521915" progId="Visio.Drawing.11">
                  <p:embed/>
                </p:oleObj>
              </mc:Choice>
              <mc:Fallback>
                <p:oleObj name="Visio" r:id="rId5" imgW="5257800" imgH="2521915" progId="Visio.Drawing.11">
                  <p:embed/>
                  <p:pic>
                    <p:nvPicPr>
                      <p:cNvPr id="54277" name="Object 19">
                        <a:extLst>
                          <a:ext uri="{FF2B5EF4-FFF2-40B4-BE49-F238E27FC236}">
                            <a16:creationId xmlns:a16="http://schemas.microsoft.com/office/drawing/2014/main" id="{96799EA7-ED66-4E15-AEE1-E130750D26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500438"/>
                        <a:ext cx="8135938" cy="335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76216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>
            <a:extLst>
              <a:ext uri="{FF2B5EF4-FFF2-40B4-BE49-F238E27FC236}">
                <a16:creationId xmlns:a16="http://schemas.microsoft.com/office/drawing/2014/main" id="{2058982C-DEE8-4AE7-B4E9-B6FB9F913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33375"/>
            <a:ext cx="1081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解：</a:t>
            </a:r>
          </a:p>
        </p:txBody>
      </p:sp>
      <p:graphicFrame>
        <p:nvGraphicFramePr>
          <p:cNvPr id="55299" name="Object 3">
            <a:extLst>
              <a:ext uri="{FF2B5EF4-FFF2-40B4-BE49-F238E27FC236}">
                <a16:creationId xmlns:a16="http://schemas.microsoft.com/office/drawing/2014/main" id="{75A49FB5-C414-4537-AC38-5FC6B04E10D6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468313" y="1296988"/>
          <a:ext cx="8351837" cy="404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97" name="Visio" r:id="rId3" imgW="5299558" imgH="2566721" progId="Visio.Drawing.11">
                  <p:embed/>
                </p:oleObj>
              </mc:Choice>
              <mc:Fallback>
                <p:oleObj name="Visio" r:id="rId3" imgW="5299558" imgH="2566721" progId="Visio.Drawing.11">
                  <p:embed/>
                  <p:pic>
                    <p:nvPicPr>
                      <p:cNvPr id="55299" name="Object 3">
                        <a:extLst>
                          <a:ext uri="{FF2B5EF4-FFF2-40B4-BE49-F238E27FC236}">
                            <a16:creationId xmlns:a16="http://schemas.microsoft.com/office/drawing/2014/main" id="{75A49FB5-C414-4537-AC38-5FC6B04E10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296988"/>
                        <a:ext cx="8351837" cy="404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1532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2CFE9D3-7077-46A7-82EA-6C1CD395C062}"/>
              </a:ext>
            </a:extLst>
          </p:cNvPr>
          <p:cNvSpPr txBox="1">
            <a:spLocks/>
          </p:cNvSpPr>
          <p:nvPr/>
        </p:nvSpPr>
        <p:spPr>
          <a:xfrm>
            <a:off x="1" y="143008"/>
            <a:ext cx="9113454" cy="2349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u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0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ysClr val="windowText" lastClr="000000"/>
              </a:buClr>
              <a:buSz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字长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16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位，主存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64K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，指令单字长单地址，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80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条指令。寻址方式有直接、间接、相对、变址。请设计指令格式。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FD495D8D-BF41-45E0-9290-1AFAD42F9203}"/>
              </a:ext>
            </a:extLst>
          </p:cNvPr>
          <p:cNvSpPr txBox="1">
            <a:spLocks/>
          </p:cNvSpPr>
          <p:nvPr/>
        </p:nvSpPr>
        <p:spPr>
          <a:xfrm>
            <a:off x="467544" y="1988840"/>
            <a:ext cx="8136904" cy="2349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FFC000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p"/>
              <a:defRPr sz="20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35000"/>
              </a:lnSpc>
              <a:spcBef>
                <a:spcPct val="500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条指令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ymbol" panose="05050102010706020507" pitchFamily="18" charset="2"/>
              </a:rPr>
              <a:t>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OP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字段需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位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( 2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=128 )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35000"/>
              </a:lnSpc>
              <a:spcBef>
                <a:spcPct val="500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种寻址方式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ymbol" panose="05050102010706020507" pitchFamily="18" charset="2"/>
              </a:rPr>
              <a:t>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寻址方式位需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位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5000"/>
              </a:lnSpc>
              <a:spcBef>
                <a:spcPct val="500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单字长单地址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ymbol" panose="05050102010706020507" pitchFamily="18" charset="2"/>
              </a:rPr>
              <a:t>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ymbol" panose="05050102010706020507" pitchFamily="18" charset="2"/>
              </a:rPr>
              <a:t>地址码长度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Symbol" panose="05050102010706020507" pitchFamily="18" charset="2"/>
              </a:rPr>
              <a:t>=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16-7-2 =7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位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35000"/>
              </a:lnSpc>
              <a:spcBef>
                <a:spcPct val="500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5000"/>
              </a:lnSpc>
              <a:spcBef>
                <a:spcPct val="500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9B9577F-C382-466E-8921-7EB12C309B3C}"/>
              </a:ext>
            </a:extLst>
          </p:cNvPr>
          <p:cNvGrpSpPr/>
          <p:nvPr/>
        </p:nvGrpSpPr>
        <p:grpSpPr>
          <a:xfrm>
            <a:off x="827584" y="4725144"/>
            <a:ext cx="6636771" cy="432049"/>
            <a:chOff x="2883379" y="3234045"/>
            <a:chExt cx="6636771" cy="43204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6AC4B0C-FFFC-4D63-B1F3-7B468FDCFB3B}"/>
                </a:ext>
              </a:extLst>
            </p:cNvPr>
            <p:cNvSpPr/>
            <p:nvPr/>
          </p:nvSpPr>
          <p:spPr>
            <a:xfrm>
              <a:off x="2883379" y="3234046"/>
              <a:ext cx="2817430" cy="432048"/>
            </a:xfrm>
            <a:prstGeom prst="rect">
              <a:avLst/>
            </a:prstGeom>
            <a:solidFill>
              <a:srgbClr val="CCFF66"/>
            </a:solidFill>
            <a:ln w="25400" cap="flat" cmpd="sng" algn="ctr">
              <a:solidFill>
                <a:srgbClr val="080808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</a:rPr>
                <a:t>OP(7)</a:t>
              </a: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EA6B7778-E0F8-49AC-8FA7-E03BD00F4CCE}"/>
                </a:ext>
              </a:extLst>
            </p:cNvPr>
            <p:cNvGrpSpPr/>
            <p:nvPr/>
          </p:nvGrpSpPr>
          <p:grpSpPr>
            <a:xfrm>
              <a:off x="5698773" y="3234045"/>
              <a:ext cx="3821377" cy="432048"/>
              <a:chOff x="6098879" y="1335507"/>
              <a:chExt cx="3232487" cy="432048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CF538FD-11CC-4F6D-A560-9172FA591B03}"/>
                  </a:ext>
                </a:extLst>
              </p:cNvPr>
              <p:cNvSpPr/>
              <p:nvPr/>
            </p:nvSpPr>
            <p:spPr>
              <a:xfrm>
                <a:off x="6948114" y="1335507"/>
                <a:ext cx="2383252" cy="432048"/>
              </a:xfrm>
              <a:prstGeom prst="rect">
                <a:avLst/>
              </a:prstGeom>
              <a:solidFill>
                <a:srgbClr val="00B0F0"/>
              </a:solidFill>
              <a:ln w="25400" cap="flat" cmpd="sng" algn="ctr">
                <a:solidFill>
                  <a:srgbClr val="08080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/>
                    <a:ea typeface="微软雅黑"/>
                  </a:rPr>
                  <a:t>A(7)</a:t>
                </a: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689FEE3-5BBB-4988-858D-39ED9321E09E}"/>
                  </a:ext>
                </a:extLst>
              </p:cNvPr>
              <p:cNvSpPr/>
              <p:nvPr/>
            </p:nvSpPr>
            <p:spPr>
              <a:xfrm>
                <a:off x="6098879" y="1335507"/>
                <a:ext cx="846244" cy="432048"/>
              </a:xfrm>
              <a:prstGeom prst="rect">
                <a:avLst/>
              </a:prstGeom>
              <a:solidFill>
                <a:srgbClr val="ED7D31">
                  <a:lumMod val="60000"/>
                  <a:lumOff val="40000"/>
                </a:srgbClr>
              </a:solidFill>
              <a:ln w="25400" cap="flat" cmpd="sng" algn="ctr">
                <a:solidFill>
                  <a:srgbClr val="08080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/>
                    <a:ea typeface="微软雅黑"/>
                  </a:rPr>
                  <a:t>Mode(2)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4158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27496996-6AF8-47C2-BF1E-96FE7B1CD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11218"/>
            <a:ext cx="8894826" cy="28454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4. </a:t>
            </a:r>
            <a:r>
              <a:rPr lang="zh-CN" altLang="en-US" sz="2400" dirty="0"/>
              <a:t>某机字长</a:t>
            </a:r>
            <a:r>
              <a:rPr lang="en-US" altLang="zh-CN" sz="2400" dirty="0"/>
              <a:t>32</a:t>
            </a:r>
            <a:r>
              <a:rPr lang="zh-CN" altLang="en-US" sz="2400" dirty="0"/>
              <a:t>位，采用三地址指令，支持</a:t>
            </a:r>
            <a:r>
              <a:rPr lang="en-US" altLang="zh-CN" sz="2400" dirty="0"/>
              <a:t>8</a:t>
            </a:r>
            <a:r>
              <a:rPr lang="zh-CN" altLang="en-US" sz="2400" dirty="0"/>
              <a:t>种寻址操作，完成</a:t>
            </a:r>
            <a:r>
              <a:rPr lang="en-US" altLang="zh-CN" sz="2400" dirty="0"/>
              <a:t>60</a:t>
            </a:r>
            <a:r>
              <a:rPr lang="zh-CN" altLang="en-US" sz="2400" dirty="0"/>
              <a:t>种操作，各寻址方式均可在</a:t>
            </a:r>
            <a:r>
              <a:rPr lang="en-US" altLang="zh-CN" sz="2400" dirty="0"/>
              <a:t>2K</a:t>
            </a:r>
            <a:r>
              <a:rPr lang="zh-CN" altLang="en-US" sz="2400" dirty="0"/>
              <a:t>主存范围内取得操作数，并可在</a:t>
            </a:r>
            <a:r>
              <a:rPr lang="en-US" altLang="zh-CN" sz="2400" dirty="0"/>
              <a:t>1K</a:t>
            </a:r>
            <a:r>
              <a:rPr lang="zh-CN" altLang="en-US" sz="2400" dirty="0"/>
              <a:t>范围内保存运算结果。问应采用什么样的指令格式？指令字长最少应为多少位？执行一条直接寻址模式指令最多要访问多少次主存？</a:t>
            </a:r>
          </a:p>
          <a:p>
            <a:pPr lvl="1"/>
            <a:endParaRPr lang="zh-CN" altLang="en-US" sz="180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28A7B9B-8BB0-4BA2-876F-D0084C4B2320}"/>
              </a:ext>
            </a:extLst>
          </p:cNvPr>
          <p:cNvGrpSpPr/>
          <p:nvPr/>
        </p:nvGrpSpPr>
        <p:grpSpPr>
          <a:xfrm>
            <a:off x="107504" y="3377045"/>
            <a:ext cx="8824204" cy="1220715"/>
            <a:chOff x="1532777" y="3588174"/>
            <a:chExt cx="8824204" cy="1220715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F4C6C74A-B16E-4DB7-AC2A-3E526E30F370}"/>
                </a:ext>
              </a:extLst>
            </p:cNvPr>
            <p:cNvGrpSpPr/>
            <p:nvPr/>
          </p:nvGrpSpPr>
          <p:grpSpPr>
            <a:xfrm>
              <a:off x="1532777" y="3958841"/>
              <a:ext cx="8824204" cy="433607"/>
              <a:chOff x="3894493" y="1942889"/>
              <a:chExt cx="7784244" cy="433607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4A101B7D-CB9C-4040-AA8F-3CB454811F45}"/>
                  </a:ext>
                </a:extLst>
              </p:cNvPr>
              <p:cNvSpPr/>
              <p:nvPr/>
            </p:nvSpPr>
            <p:spPr>
              <a:xfrm>
                <a:off x="3894493" y="1942890"/>
                <a:ext cx="1376289" cy="432048"/>
              </a:xfrm>
              <a:prstGeom prst="rect">
                <a:avLst/>
              </a:prstGeom>
              <a:solidFill>
                <a:srgbClr val="CCFF66"/>
              </a:solidFill>
              <a:ln w="25400" cap="flat" cmpd="sng" algn="ctr">
                <a:solidFill>
                  <a:srgbClr val="08080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OP</a:t>
                </a:r>
              </a:p>
            </p:txBody>
          </p: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BDA150AB-F9D2-4F8C-A791-37D691DB0667}"/>
                  </a:ext>
                </a:extLst>
              </p:cNvPr>
              <p:cNvGrpSpPr/>
              <p:nvPr/>
            </p:nvGrpSpPr>
            <p:grpSpPr>
              <a:xfrm>
                <a:off x="5262946" y="1942889"/>
                <a:ext cx="6415791" cy="433607"/>
                <a:chOff x="5730213" y="1335507"/>
                <a:chExt cx="5427090" cy="433607"/>
              </a:xfrm>
            </p:grpSpPr>
            <p:sp>
              <p:nvSpPr>
                <p:cNvPr id="49" name="矩形 48">
                  <a:extLst>
                    <a:ext uri="{FF2B5EF4-FFF2-40B4-BE49-F238E27FC236}">
                      <a16:creationId xmlns:a16="http://schemas.microsoft.com/office/drawing/2014/main" id="{9507F92D-BE96-43B4-85D1-35292BF19A09}"/>
                    </a:ext>
                  </a:extLst>
                </p:cNvPr>
                <p:cNvSpPr/>
                <p:nvPr/>
              </p:nvSpPr>
              <p:spPr>
                <a:xfrm>
                  <a:off x="8247421" y="1335507"/>
                  <a:ext cx="1170765" cy="432048"/>
                </a:xfrm>
                <a:prstGeom prst="rect">
                  <a:avLst/>
                </a:prstGeom>
                <a:solidFill>
                  <a:srgbClr val="00B0F0"/>
                </a:solidFill>
                <a:ln w="25400" cap="flat" cmpd="sng" algn="ctr">
                  <a:solidFill>
                    <a:srgbClr val="080808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/>
                      <a:ea typeface="微软雅黑"/>
                      <a:cs typeface="+mn-cs"/>
                    </a:rPr>
                    <a:t>A2</a:t>
                  </a:r>
                </a:p>
              </p:txBody>
            </p:sp>
            <p:sp>
              <p:nvSpPr>
                <p:cNvPr id="50" name="矩形 49">
                  <a:extLst>
                    <a:ext uri="{FF2B5EF4-FFF2-40B4-BE49-F238E27FC236}">
                      <a16:creationId xmlns:a16="http://schemas.microsoft.com/office/drawing/2014/main" id="{EB5A8B8E-2CB8-468E-9050-259B2CA9698F}"/>
                    </a:ext>
                  </a:extLst>
                </p:cNvPr>
                <p:cNvSpPr/>
                <p:nvPr/>
              </p:nvSpPr>
              <p:spPr>
                <a:xfrm>
                  <a:off x="7578620" y="1335507"/>
                  <a:ext cx="681997" cy="432048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25400" cap="flat" cmpd="sng" algn="ctr">
                  <a:solidFill>
                    <a:srgbClr val="080808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/>
                      <a:ea typeface="微软雅黑"/>
                      <a:cs typeface="+mn-cs"/>
                    </a:rPr>
                    <a:t>Mode</a:t>
                  </a:r>
                </a:p>
              </p:txBody>
            </p:sp>
            <p:sp>
              <p:nvSpPr>
                <p:cNvPr id="51" name="矩形 50">
                  <a:extLst>
                    <a:ext uri="{FF2B5EF4-FFF2-40B4-BE49-F238E27FC236}">
                      <a16:creationId xmlns:a16="http://schemas.microsoft.com/office/drawing/2014/main" id="{EBA079F9-4C4A-489D-94CC-234CE031CFBA}"/>
                    </a:ext>
                  </a:extLst>
                </p:cNvPr>
                <p:cNvSpPr/>
                <p:nvPr/>
              </p:nvSpPr>
              <p:spPr>
                <a:xfrm>
                  <a:off x="6359738" y="1335507"/>
                  <a:ext cx="1216671" cy="432048"/>
                </a:xfrm>
                <a:prstGeom prst="rect">
                  <a:avLst/>
                </a:prstGeom>
                <a:solidFill>
                  <a:srgbClr val="00B0F0"/>
                </a:solidFill>
                <a:ln w="25400" cap="flat" cmpd="sng" algn="ctr">
                  <a:solidFill>
                    <a:srgbClr val="080808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/>
                      <a:ea typeface="微软雅黑"/>
                      <a:cs typeface="+mn-cs"/>
                    </a:rPr>
                    <a:t>A1</a:t>
                  </a:r>
                </a:p>
              </p:txBody>
            </p:sp>
            <p:sp>
              <p:nvSpPr>
                <p:cNvPr id="52" name="矩形 51">
                  <a:extLst>
                    <a:ext uri="{FF2B5EF4-FFF2-40B4-BE49-F238E27FC236}">
                      <a16:creationId xmlns:a16="http://schemas.microsoft.com/office/drawing/2014/main" id="{DF37B95A-CD90-48C2-AA28-260C18BAAB53}"/>
                    </a:ext>
                  </a:extLst>
                </p:cNvPr>
                <p:cNvSpPr/>
                <p:nvPr/>
              </p:nvSpPr>
              <p:spPr>
                <a:xfrm>
                  <a:off x="5730213" y="1335507"/>
                  <a:ext cx="629525" cy="432048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25400" cap="flat" cmpd="sng" algn="ctr">
                  <a:solidFill>
                    <a:srgbClr val="080808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/>
                      <a:ea typeface="微软雅黑"/>
                      <a:cs typeface="+mn-cs"/>
                    </a:rPr>
                    <a:t>Mode</a:t>
                  </a:r>
                </a:p>
              </p:txBody>
            </p:sp>
            <p:sp>
              <p:nvSpPr>
                <p:cNvPr id="53" name="矩形 52">
                  <a:extLst>
                    <a:ext uri="{FF2B5EF4-FFF2-40B4-BE49-F238E27FC236}">
                      <a16:creationId xmlns:a16="http://schemas.microsoft.com/office/drawing/2014/main" id="{AB0851A2-26CF-4F6B-AD1F-03FF458D731F}"/>
                    </a:ext>
                  </a:extLst>
                </p:cNvPr>
                <p:cNvSpPr/>
                <p:nvPr/>
              </p:nvSpPr>
              <p:spPr>
                <a:xfrm>
                  <a:off x="10086987" y="1337066"/>
                  <a:ext cx="1070316" cy="432048"/>
                </a:xfrm>
                <a:prstGeom prst="rect">
                  <a:avLst/>
                </a:prstGeom>
                <a:solidFill>
                  <a:srgbClr val="00B0F0"/>
                </a:solidFill>
                <a:ln w="25400" cap="flat" cmpd="sng" algn="ctr">
                  <a:solidFill>
                    <a:srgbClr val="080808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/>
                      <a:ea typeface="微软雅黑"/>
                      <a:cs typeface="+mn-cs"/>
                    </a:rPr>
                    <a:t>A3</a:t>
                  </a:r>
                </a:p>
              </p:txBody>
            </p:sp>
            <p:sp>
              <p:nvSpPr>
                <p:cNvPr id="54" name="矩形 53">
                  <a:extLst>
                    <a:ext uri="{FF2B5EF4-FFF2-40B4-BE49-F238E27FC236}">
                      <a16:creationId xmlns:a16="http://schemas.microsoft.com/office/drawing/2014/main" id="{F051EF08-D2FB-401E-84C7-78F9C70E68F7}"/>
                    </a:ext>
                  </a:extLst>
                </p:cNvPr>
                <p:cNvSpPr/>
                <p:nvPr/>
              </p:nvSpPr>
              <p:spPr>
                <a:xfrm>
                  <a:off x="9416920" y="1337066"/>
                  <a:ext cx="670067" cy="432048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25400" cap="flat" cmpd="sng" algn="ctr">
                  <a:solidFill>
                    <a:srgbClr val="080808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/>
                      <a:ea typeface="微软雅黑"/>
                      <a:cs typeface="+mn-cs"/>
                    </a:rPr>
                    <a:t>Mode</a:t>
                  </a:r>
                </a:p>
              </p:txBody>
            </p:sp>
          </p:grp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5E839A96-1732-4B22-9FA0-36A765731146}"/>
                </a:ext>
              </a:extLst>
            </p:cNvPr>
            <p:cNvGrpSpPr/>
            <p:nvPr/>
          </p:nvGrpSpPr>
          <p:grpSpPr>
            <a:xfrm>
              <a:off x="3083103" y="4397605"/>
              <a:ext cx="4940283" cy="369778"/>
              <a:chOff x="4813061" y="2355943"/>
              <a:chExt cx="4139139" cy="369778"/>
            </a:xfrm>
          </p:grpSpPr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E111C26E-E249-4243-8647-0B792DCC7C69}"/>
                  </a:ext>
                </a:extLst>
              </p:cNvPr>
              <p:cNvGrpSpPr/>
              <p:nvPr/>
            </p:nvGrpSpPr>
            <p:grpSpPr>
              <a:xfrm>
                <a:off x="4813061" y="2355943"/>
                <a:ext cx="2079033" cy="362546"/>
                <a:chOff x="4813061" y="2355943"/>
                <a:chExt cx="2079033" cy="362546"/>
              </a:xfrm>
            </p:grpSpPr>
            <p:cxnSp>
              <p:nvCxnSpPr>
                <p:cNvPr id="45" name="直接连接符 44">
                  <a:extLst>
                    <a:ext uri="{FF2B5EF4-FFF2-40B4-BE49-F238E27FC236}">
                      <a16:creationId xmlns:a16="http://schemas.microsoft.com/office/drawing/2014/main" id="{7A0C6A96-3E62-4CE9-AAC3-E0C4618B36A5}"/>
                    </a:ext>
                  </a:extLst>
                </p:cNvPr>
                <p:cNvCxnSpPr/>
                <p:nvPr/>
              </p:nvCxnSpPr>
              <p:spPr>
                <a:xfrm>
                  <a:off x="4813061" y="2363175"/>
                  <a:ext cx="0" cy="337609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>
                  <a:extLst>
                    <a:ext uri="{FF2B5EF4-FFF2-40B4-BE49-F238E27FC236}">
                      <a16:creationId xmlns:a16="http://schemas.microsoft.com/office/drawing/2014/main" id="{3A69ACEF-6333-4151-A877-BD47E36AF4C8}"/>
                    </a:ext>
                  </a:extLst>
                </p:cNvPr>
                <p:cNvCxnSpPr/>
                <p:nvPr/>
              </p:nvCxnSpPr>
              <p:spPr>
                <a:xfrm>
                  <a:off x="6892094" y="2355943"/>
                  <a:ext cx="0" cy="36254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A04EB08B-A47B-4224-9D91-9E14C7B955E0}"/>
                  </a:ext>
                </a:extLst>
              </p:cNvPr>
              <p:cNvCxnSpPr/>
              <p:nvPr/>
            </p:nvCxnSpPr>
            <p:spPr>
              <a:xfrm>
                <a:off x="8952200" y="2363175"/>
                <a:ext cx="0" cy="36254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90AD3F6-5D9A-4CC6-82A3-CD7A7A61F05F}"/>
                </a:ext>
              </a:extLst>
            </p:cNvPr>
            <p:cNvGrpSpPr/>
            <p:nvPr/>
          </p:nvGrpSpPr>
          <p:grpSpPr>
            <a:xfrm>
              <a:off x="3094878" y="4439557"/>
              <a:ext cx="2461597" cy="369332"/>
              <a:chOff x="5260333" y="2401814"/>
              <a:chExt cx="2171546" cy="369332"/>
            </a:xfrm>
          </p:grpSpPr>
          <p:sp>
            <p:nvSpPr>
              <p:cNvPr id="39" name="Rectangle 13">
                <a:extLst>
                  <a:ext uri="{FF2B5EF4-FFF2-40B4-BE49-F238E27FC236}">
                    <a16:creationId xmlns:a16="http://schemas.microsoft.com/office/drawing/2014/main" id="{993041B2-45E9-400D-BE6F-C575AF82CE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27812" y="2401814"/>
                <a:ext cx="129540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r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CC00"/>
                  </a:buClr>
                  <a:buSzPct val="70000"/>
                  <a:defRPr/>
                </a:pPr>
                <a:r>
                  <a:rPr lang="zh-CN" altLang="en-US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源操作数</a:t>
                </a:r>
                <a:r>
                  <a:rPr lang="en-US" altLang="zh-CN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40" name="Group 62">
                <a:extLst>
                  <a:ext uri="{FF2B5EF4-FFF2-40B4-BE49-F238E27FC236}">
                    <a16:creationId xmlns:a16="http://schemas.microsoft.com/office/drawing/2014/main" id="{EFBEF857-7ACE-47CF-8E6A-2C4534AD73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60333" y="2575286"/>
                <a:ext cx="2171546" cy="15131"/>
                <a:chOff x="816" y="-12635"/>
                <a:chExt cx="4445" cy="15131"/>
              </a:xfrm>
            </p:grpSpPr>
            <p:sp>
              <p:nvSpPr>
                <p:cNvPr id="41" name="Line 63">
                  <a:extLst>
                    <a:ext uri="{FF2B5EF4-FFF2-40B4-BE49-F238E27FC236}">
                      <a16:creationId xmlns:a16="http://schemas.microsoft.com/office/drawing/2014/main" id="{202E03D6-9A1F-443D-BC28-24EB974FE3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64" y="-12635"/>
                  <a:ext cx="109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42" name="Line 64">
                  <a:extLst>
                    <a:ext uri="{FF2B5EF4-FFF2-40B4-BE49-F238E27FC236}">
                      <a16:creationId xmlns:a16="http://schemas.microsoft.com/office/drawing/2014/main" id="{CFF0F371-9190-4191-B367-37B7F87D1A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16" y="2496"/>
                  <a:ext cx="112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>
                    <a:latin typeface="+mn-ea"/>
                  </a:endParaRPr>
                </a:p>
              </p:txBody>
            </p:sp>
          </p:grp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910FC79D-1F5B-48CD-B381-69FD2BD76BE8}"/>
                </a:ext>
              </a:extLst>
            </p:cNvPr>
            <p:cNvCxnSpPr/>
            <p:nvPr/>
          </p:nvCxnSpPr>
          <p:spPr>
            <a:xfrm>
              <a:off x="10356981" y="4397217"/>
              <a:ext cx="0" cy="36254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FE2655AE-0BA3-4400-8DF5-77DAD1FD530E}"/>
                </a:ext>
              </a:extLst>
            </p:cNvPr>
            <p:cNvGrpSpPr/>
            <p:nvPr/>
          </p:nvGrpSpPr>
          <p:grpSpPr>
            <a:xfrm>
              <a:off x="8031007" y="4422606"/>
              <a:ext cx="2317906" cy="369332"/>
              <a:chOff x="7459078" y="2397897"/>
              <a:chExt cx="2165195" cy="369332"/>
            </a:xfrm>
          </p:grpSpPr>
          <p:sp>
            <p:nvSpPr>
              <p:cNvPr id="35" name="Rectangle 14">
                <a:extLst>
                  <a:ext uri="{FF2B5EF4-FFF2-40B4-BE49-F238E27FC236}">
                    <a16:creationId xmlns:a16="http://schemas.microsoft.com/office/drawing/2014/main" id="{32F969B0-D1A8-4123-ADD3-FFE949B9E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21650" y="2397897"/>
                <a:ext cx="163719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CC00"/>
                  </a:buClr>
                  <a:buSzPct val="70000"/>
                  <a:defRPr/>
                </a:pPr>
                <a:r>
                  <a:rPr lang="zh-CN" altLang="en-US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目的操作数</a:t>
                </a:r>
                <a:endParaRPr lang="zh-CN" altLang="en-US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36" name="Group 62">
                <a:extLst>
                  <a:ext uri="{FF2B5EF4-FFF2-40B4-BE49-F238E27FC236}">
                    <a16:creationId xmlns:a16="http://schemas.microsoft.com/office/drawing/2014/main" id="{A1D5CFB0-33AF-48EB-B4C7-396C234806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59078" y="2575286"/>
                <a:ext cx="2165195" cy="4032"/>
                <a:chOff x="816" y="2496"/>
                <a:chExt cx="4432" cy="4032"/>
              </a:xfrm>
            </p:grpSpPr>
            <p:sp>
              <p:nvSpPr>
                <p:cNvPr id="37" name="Line 63">
                  <a:extLst>
                    <a:ext uri="{FF2B5EF4-FFF2-40B4-BE49-F238E27FC236}">
                      <a16:creationId xmlns:a16="http://schemas.microsoft.com/office/drawing/2014/main" id="{543A0D25-C934-49ED-A634-D6D8627681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32" y="6528"/>
                  <a:ext cx="91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38" name="Line 64">
                  <a:extLst>
                    <a:ext uri="{FF2B5EF4-FFF2-40B4-BE49-F238E27FC236}">
                      <a16:creationId xmlns:a16="http://schemas.microsoft.com/office/drawing/2014/main" id="{8451126E-E49D-4202-ADEA-CD3996F59C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16" y="2496"/>
                  <a:ext cx="935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>
                    <a:latin typeface="+mn-ea"/>
                  </a:endParaRPr>
                </a:p>
              </p:txBody>
            </p:sp>
          </p:grpSp>
        </p:grpSp>
        <p:sp>
          <p:nvSpPr>
            <p:cNvPr id="22" name="TextBox 11">
              <a:extLst>
                <a:ext uri="{FF2B5EF4-FFF2-40B4-BE49-F238E27FC236}">
                  <a16:creationId xmlns:a16="http://schemas.microsoft.com/office/drawing/2014/main" id="{08A8C623-97AB-4271-A828-59EA91A539AB}"/>
                </a:ext>
              </a:extLst>
            </p:cNvPr>
            <p:cNvSpPr txBox="1"/>
            <p:nvPr/>
          </p:nvSpPr>
          <p:spPr>
            <a:xfrm>
              <a:off x="1777668" y="3588174"/>
              <a:ext cx="1142865" cy="40011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000" b="1" kern="0" dirty="0">
                  <a:solidFill>
                    <a:srgbClr val="0070C0"/>
                  </a:solidFill>
                  <a:latin typeface="Arial" pitchFamily="34" charset="0"/>
                  <a:ea typeface="华文细黑" pitchFamily="2" charset="-122"/>
                </a:rPr>
                <a:t>6bits</a:t>
              </a:r>
              <a:endParaRPr lang="zh-CN" altLang="en-US" sz="2000" b="1" kern="0" dirty="0">
                <a:solidFill>
                  <a:srgbClr val="0070C0"/>
                </a:solidFill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23" name="TextBox 11">
              <a:extLst>
                <a:ext uri="{FF2B5EF4-FFF2-40B4-BE49-F238E27FC236}">
                  <a16:creationId xmlns:a16="http://schemas.microsoft.com/office/drawing/2014/main" id="{7863F940-1AA4-4542-9DBB-191BB5BC4275}"/>
                </a:ext>
              </a:extLst>
            </p:cNvPr>
            <p:cNvSpPr txBox="1"/>
            <p:nvPr/>
          </p:nvSpPr>
          <p:spPr>
            <a:xfrm>
              <a:off x="2960835" y="3588174"/>
              <a:ext cx="1142865" cy="40011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000" b="1" kern="0" dirty="0">
                  <a:solidFill>
                    <a:srgbClr val="0070C0"/>
                  </a:solidFill>
                  <a:latin typeface="Arial" pitchFamily="34" charset="0"/>
                  <a:ea typeface="华文细黑" pitchFamily="2" charset="-122"/>
                </a:rPr>
                <a:t>3bits</a:t>
              </a:r>
              <a:endParaRPr lang="zh-CN" altLang="en-US" sz="2000" b="1" kern="0" dirty="0">
                <a:solidFill>
                  <a:srgbClr val="0070C0"/>
                </a:solidFill>
                <a:latin typeface="Arial" pitchFamily="34" charset="0"/>
                <a:ea typeface="华文细黑" pitchFamily="2" charset="-122"/>
              </a:endParaRPr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359DD3C2-324F-4EA1-9E89-6FB7E693BF15}"/>
                </a:ext>
              </a:extLst>
            </p:cNvPr>
            <p:cNvGrpSpPr/>
            <p:nvPr/>
          </p:nvGrpSpPr>
          <p:grpSpPr>
            <a:xfrm>
              <a:off x="5561343" y="4428363"/>
              <a:ext cx="2461597" cy="369332"/>
              <a:chOff x="5260333" y="2401814"/>
              <a:chExt cx="2171546" cy="369332"/>
            </a:xfrm>
          </p:grpSpPr>
          <p:sp>
            <p:nvSpPr>
              <p:cNvPr id="31" name="Rectangle 13">
                <a:extLst>
                  <a:ext uri="{FF2B5EF4-FFF2-40B4-BE49-F238E27FC236}">
                    <a16:creationId xmlns:a16="http://schemas.microsoft.com/office/drawing/2014/main" id="{A0A0857C-529F-46C9-87FE-4808B0F87B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27812" y="2401814"/>
                <a:ext cx="129540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r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CC00"/>
                  </a:buClr>
                  <a:buSzPct val="70000"/>
                  <a:defRPr/>
                </a:pPr>
                <a:r>
                  <a:rPr lang="zh-CN" altLang="en-US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源操作数</a:t>
                </a:r>
                <a:r>
                  <a:rPr lang="en-US" altLang="zh-CN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32" name="Group 62">
                <a:extLst>
                  <a:ext uri="{FF2B5EF4-FFF2-40B4-BE49-F238E27FC236}">
                    <a16:creationId xmlns:a16="http://schemas.microsoft.com/office/drawing/2014/main" id="{BF4253F9-93B2-407C-911E-5CFA526EBE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60333" y="2575286"/>
                <a:ext cx="2171546" cy="15131"/>
                <a:chOff x="816" y="-12635"/>
                <a:chExt cx="4445" cy="15131"/>
              </a:xfrm>
            </p:grpSpPr>
            <p:sp>
              <p:nvSpPr>
                <p:cNvPr id="33" name="Line 63">
                  <a:extLst>
                    <a:ext uri="{FF2B5EF4-FFF2-40B4-BE49-F238E27FC236}">
                      <a16:creationId xmlns:a16="http://schemas.microsoft.com/office/drawing/2014/main" id="{21CB9E66-8A36-43FA-8681-81D7586C7C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64" y="-12635"/>
                  <a:ext cx="109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34" name="Line 64">
                  <a:extLst>
                    <a:ext uri="{FF2B5EF4-FFF2-40B4-BE49-F238E27FC236}">
                      <a16:creationId xmlns:a16="http://schemas.microsoft.com/office/drawing/2014/main" id="{8747EA52-1EDB-44C9-A549-F4F1256DD8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16" y="2496"/>
                  <a:ext cx="112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>
                    <a:latin typeface="+mn-ea"/>
                  </a:endParaRPr>
                </a:p>
              </p:txBody>
            </p:sp>
          </p:grpSp>
        </p:grpSp>
        <p:sp>
          <p:nvSpPr>
            <p:cNvPr id="26" name="TextBox 11">
              <a:extLst>
                <a:ext uri="{FF2B5EF4-FFF2-40B4-BE49-F238E27FC236}">
                  <a16:creationId xmlns:a16="http://schemas.microsoft.com/office/drawing/2014/main" id="{8BE17B2B-F69F-4F5C-88A1-C9FAC38E4172}"/>
                </a:ext>
              </a:extLst>
            </p:cNvPr>
            <p:cNvSpPr txBox="1"/>
            <p:nvPr/>
          </p:nvSpPr>
          <p:spPr>
            <a:xfrm>
              <a:off x="4171496" y="3588174"/>
              <a:ext cx="1142865" cy="40011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000" b="1" kern="0" dirty="0">
                  <a:solidFill>
                    <a:srgbClr val="0070C0"/>
                  </a:solidFill>
                  <a:latin typeface="Arial" pitchFamily="34" charset="0"/>
                  <a:ea typeface="华文细黑" pitchFamily="2" charset="-122"/>
                </a:rPr>
                <a:t>11bits</a:t>
              </a:r>
              <a:endParaRPr lang="zh-CN" altLang="en-US" sz="2000" b="1" kern="0" dirty="0">
                <a:solidFill>
                  <a:srgbClr val="0070C0"/>
                </a:solidFill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27" name="TextBox 11">
              <a:extLst>
                <a:ext uri="{FF2B5EF4-FFF2-40B4-BE49-F238E27FC236}">
                  <a16:creationId xmlns:a16="http://schemas.microsoft.com/office/drawing/2014/main" id="{E716BF9C-D5D4-4BD8-8826-4CD63D7182AF}"/>
                </a:ext>
              </a:extLst>
            </p:cNvPr>
            <p:cNvSpPr txBox="1"/>
            <p:nvPr/>
          </p:nvSpPr>
          <p:spPr>
            <a:xfrm>
              <a:off x="5400819" y="3588174"/>
              <a:ext cx="1142865" cy="40011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000" b="1" kern="0" dirty="0">
                  <a:solidFill>
                    <a:srgbClr val="0070C0"/>
                  </a:solidFill>
                  <a:latin typeface="Arial" pitchFamily="34" charset="0"/>
                  <a:ea typeface="华文细黑" pitchFamily="2" charset="-122"/>
                </a:rPr>
                <a:t>3bits</a:t>
              </a:r>
              <a:endParaRPr lang="zh-CN" altLang="en-US" sz="2000" b="1" kern="0" dirty="0">
                <a:solidFill>
                  <a:srgbClr val="0070C0"/>
                </a:solidFill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9BB2EE74-4724-4FD8-92C3-38AD99B1AFDE}"/>
                </a:ext>
              </a:extLst>
            </p:cNvPr>
            <p:cNvSpPr txBox="1"/>
            <p:nvPr/>
          </p:nvSpPr>
          <p:spPr>
            <a:xfrm>
              <a:off x="6611480" y="3588174"/>
              <a:ext cx="1142865" cy="40011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000" b="1" kern="0" dirty="0">
                  <a:solidFill>
                    <a:srgbClr val="0070C0"/>
                  </a:solidFill>
                  <a:latin typeface="Arial" pitchFamily="34" charset="0"/>
                  <a:ea typeface="华文细黑" pitchFamily="2" charset="-122"/>
                </a:rPr>
                <a:t>11bits</a:t>
              </a:r>
              <a:endParaRPr lang="zh-CN" altLang="en-US" sz="2000" b="1" kern="0" dirty="0">
                <a:solidFill>
                  <a:srgbClr val="0070C0"/>
                </a:solidFill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29" name="TextBox 11">
              <a:extLst>
                <a:ext uri="{FF2B5EF4-FFF2-40B4-BE49-F238E27FC236}">
                  <a16:creationId xmlns:a16="http://schemas.microsoft.com/office/drawing/2014/main" id="{003210D2-B808-4A86-B66B-6213B788E4C2}"/>
                </a:ext>
              </a:extLst>
            </p:cNvPr>
            <p:cNvSpPr txBox="1"/>
            <p:nvPr/>
          </p:nvSpPr>
          <p:spPr>
            <a:xfrm>
              <a:off x="7859465" y="3588174"/>
              <a:ext cx="1142865" cy="40011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000" b="1" kern="0" dirty="0">
                  <a:solidFill>
                    <a:srgbClr val="0070C0"/>
                  </a:solidFill>
                  <a:latin typeface="Arial" pitchFamily="34" charset="0"/>
                  <a:ea typeface="华文细黑" pitchFamily="2" charset="-122"/>
                </a:rPr>
                <a:t>3bits</a:t>
              </a:r>
              <a:endParaRPr lang="zh-CN" altLang="en-US" sz="2000" b="1" kern="0" dirty="0">
                <a:solidFill>
                  <a:srgbClr val="0070C0"/>
                </a:solidFill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30" name="TextBox 11">
              <a:extLst>
                <a:ext uri="{FF2B5EF4-FFF2-40B4-BE49-F238E27FC236}">
                  <a16:creationId xmlns:a16="http://schemas.microsoft.com/office/drawing/2014/main" id="{2AB5812B-0B16-4B45-8636-09352140F847}"/>
                </a:ext>
              </a:extLst>
            </p:cNvPr>
            <p:cNvSpPr txBox="1"/>
            <p:nvPr/>
          </p:nvSpPr>
          <p:spPr>
            <a:xfrm>
              <a:off x="9014140" y="3588174"/>
              <a:ext cx="1142865" cy="40011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000" b="1" kern="0" dirty="0">
                  <a:solidFill>
                    <a:srgbClr val="C00000"/>
                  </a:solidFill>
                  <a:latin typeface="Arial" pitchFamily="34" charset="0"/>
                  <a:ea typeface="华文细黑" pitchFamily="2" charset="-122"/>
                </a:rPr>
                <a:t>10bits</a:t>
              </a:r>
              <a:endParaRPr lang="zh-CN" altLang="en-US" sz="2000" b="1" kern="0" dirty="0">
                <a:solidFill>
                  <a:srgbClr val="C00000"/>
                </a:solidFill>
                <a:latin typeface="Arial" pitchFamily="34" charset="0"/>
                <a:ea typeface="华文细黑" pitchFamily="2" charset="-122"/>
              </a:endParaRPr>
            </a:p>
          </p:txBody>
        </p:sp>
      </p:grpSp>
      <p:sp>
        <p:nvSpPr>
          <p:cNvPr id="55" name="内容占位符 2">
            <a:extLst>
              <a:ext uri="{FF2B5EF4-FFF2-40B4-BE49-F238E27FC236}">
                <a16:creationId xmlns:a16="http://schemas.microsoft.com/office/drawing/2014/main" id="{C1AEC816-A9C1-468C-9E1B-4DF1BBDA2109}"/>
              </a:ext>
            </a:extLst>
          </p:cNvPr>
          <p:cNvSpPr txBox="1">
            <a:spLocks/>
          </p:cNvSpPr>
          <p:nvPr/>
        </p:nvSpPr>
        <p:spPr>
          <a:xfrm>
            <a:off x="251520" y="5042899"/>
            <a:ext cx="11100798" cy="1291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FFC000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p"/>
              <a:defRPr sz="20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47</a:t>
            </a:r>
            <a:r>
              <a:rPr lang="zh-CN" altLang="en-US" sz="2400" dirty="0"/>
              <a:t>位指令字需占用</a:t>
            </a:r>
            <a:r>
              <a:rPr lang="en-US" altLang="zh-CN" sz="2400" dirty="0"/>
              <a:t>2</a:t>
            </a:r>
            <a:r>
              <a:rPr lang="zh-CN" altLang="en-US" sz="2400" dirty="0"/>
              <a:t>个存储字，取指需访存</a:t>
            </a:r>
            <a:r>
              <a:rPr lang="en-US" altLang="zh-CN" sz="2400" dirty="0"/>
              <a:t>2</a:t>
            </a:r>
            <a:r>
              <a:rPr lang="zh-CN" altLang="en-US" sz="2400" dirty="0"/>
              <a:t>次</a:t>
            </a:r>
            <a:endParaRPr lang="en-US" altLang="zh-CN" sz="2400" dirty="0"/>
          </a:p>
          <a:p>
            <a:r>
              <a:rPr lang="zh-CN" altLang="en-US" sz="2400" dirty="0"/>
              <a:t>取源操作数访存</a:t>
            </a:r>
            <a:r>
              <a:rPr lang="en-US" altLang="zh-CN" sz="2400" dirty="0"/>
              <a:t>2</a:t>
            </a:r>
            <a:r>
              <a:rPr lang="zh-CN" altLang="en-US" sz="2400" dirty="0"/>
              <a:t>次，写结果</a:t>
            </a:r>
            <a:r>
              <a:rPr lang="en-US" altLang="zh-CN" sz="2400" dirty="0"/>
              <a:t>1</a:t>
            </a:r>
            <a:r>
              <a:rPr lang="zh-CN" altLang="en-US" sz="2400" dirty="0"/>
              <a:t>次，共</a:t>
            </a:r>
            <a:r>
              <a:rPr lang="en-US" altLang="zh-CN" sz="2400" dirty="0"/>
              <a:t>5</a:t>
            </a:r>
            <a:r>
              <a:rPr lang="zh-CN" altLang="en-US" sz="2400" dirty="0"/>
              <a:t>次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223863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569C798-057F-419F-A43F-6581F93C6B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algn="ctr" eaLnBrk="1" hangingPunct="1"/>
            <a:r>
              <a:rPr lang="zh-CN" altLang="en-US" b="1"/>
              <a:t>第</a:t>
            </a:r>
            <a:r>
              <a:rPr lang="en-US" altLang="zh-CN" b="1"/>
              <a:t>5</a:t>
            </a:r>
            <a:r>
              <a:rPr lang="zh-CN" altLang="en-US" b="1"/>
              <a:t>章 指令系统</a:t>
            </a:r>
          </a:p>
        </p:txBody>
      </p:sp>
      <p:sp>
        <p:nvSpPr>
          <p:cNvPr id="10243" name="内容占位符 1">
            <a:extLst>
              <a:ext uri="{FF2B5EF4-FFF2-40B4-BE49-F238E27FC236}">
                <a16:creationId xmlns:a16="http://schemas.microsoft.com/office/drawing/2014/main" id="{079DEB6F-75AC-4922-8F0B-0DD4034680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23975" y="1549400"/>
            <a:ext cx="7450138" cy="4525963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5.1</a:t>
            </a:r>
            <a:r>
              <a:rPr lang="zh-CN" altLang="en-US" dirty="0"/>
              <a:t>指令系统概述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5.2 </a:t>
            </a:r>
            <a:r>
              <a:rPr lang="zh-CN" altLang="en-US" dirty="0"/>
              <a:t>指令的格式 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5.3</a:t>
            </a:r>
            <a:r>
              <a:rPr lang="zh-CN" altLang="en-US" dirty="0"/>
              <a:t>寻址方式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5.4 </a:t>
            </a:r>
            <a:r>
              <a:rPr lang="zh-CN" altLang="en-US" dirty="0"/>
              <a:t>指令的分类 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5.5 MIPS32</a:t>
            </a:r>
            <a:r>
              <a:rPr lang="zh-CN" altLang="en-US" dirty="0"/>
              <a:t>指令简介 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5.6</a:t>
            </a:r>
            <a:r>
              <a:rPr lang="zh-CN" altLang="en-US" dirty="0"/>
              <a:t>常用</a:t>
            </a:r>
            <a:r>
              <a:rPr lang="en-US" altLang="zh-CN" dirty="0"/>
              <a:t>MIPS</a:t>
            </a:r>
            <a:r>
              <a:rPr lang="zh-CN" altLang="en-US" dirty="0"/>
              <a:t>汇编指令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5.7 MISP</a:t>
            </a:r>
            <a:r>
              <a:rPr lang="zh-CN" altLang="en-US" dirty="0"/>
              <a:t>指令与</a:t>
            </a:r>
            <a:r>
              <a:rPr lang="en-US" altLang="zh-CN" dirty="0"/>
              <a:t>C</a:t>
            </a:r>
            <a:r>
              <a:rPr lang="zh-CN" altLang="en-US" dirty="0"/>
              <a:t>语言程序的关系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D67CA4-03D2-4867-8379-5DE67C6D1C43}"/>
              </a:ext>
            </a:extLst>
          </p:cNvPr>
          <p:cNvSpPr/>
          <p:nvPr/>
        </p:nvSpPr>
        <p:spPr>
          <a:xfrm>
            <a:off x="1306513" y="3284538"/>
            <a:ext cx="3032125" cy="58578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200" kern="0" dirty="0">
                <a:solidFill>
                  <a:srgbClr val="000000"/>
                </a:solidFill>
              </a:rPr>
              <a:t>5.4 </a:t>
            </a:r>
            <a:r>
              <a:rPr lang="zh-CN" altLang="en-US" sz="3200" kern="0" dirty="0">
                <a:solidFill>
                  <a:srgbClr val="000000"/>
                </a:solidFill>
              </a:rPr>
              <a:t>指令的分类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en-US" altLang="zh-CN" kern="0" dirty="0"/>
              <a:t>5.4 </a:t>
            </a:r>
            <a:r>
              <a:rPr lang="zh-CN" altLang="en-US" kern="0" dirty="0"/>
              <a:t>指令的分类 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>
          <a:xfrm>
            <a:off x="215516" y="836712"/>
            <a:ext cx="8712968" cy="5184576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zh-CN" altLang="en-US" b="1" dirty="0">
                <a:latin typeface="华文新魏" pitchFamily="2" charset="-122"/>
              </a:rPr>
              <a:t>按计算机系统的层次结构分类</a:t>
            </a:r>
            <a:endParaRPr lang="en-US" altLang="zh-CN" b="1" dirty="0">
              <a:latin typeface="华文新魏" pitchFamily="2" charset="-122"/>
            </a:endParaRPr>
          </a:p>
          <a:p>
            <a:pPr lvl="1" eaLnBrk="1" hangingPunct="1"/>
            <a:r>
              <a:rPr lang="zh-CN" altLang="en-US" dirty="0">
                <a:solidFill>
                  <a:srgbClr val="FF0000"/>
                </a:solidFill>
              </a:rPr>
              <a:t>微指令、机器指令、宏指令</a:t>
            </a:r>
          </a:p>
          <a:p>
            <a:pPr eaLnBrk="1" hangingPunct="1"/>
            <a:r>
              <a:rPr lang="zh-CN" altLang="en-US" b="1" dirty="0"/>
              <a:t>按操作数物理位置分类</a:t>
            </a:r>
            <a:endParaRPr lang="en-US" altLang="zh-CN" b="1" dirty="0"/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0000"/>
                </a:solidFill>
              </a:rPr>
              <a:t>存储器－存储器（</a:t>
            </a:r>
            <a:r>
              <a:rPr lang="en-US" altLang="zh-CN" dirty="0">
                <a:solidFill>
                  <a:srgbClr val="FF0000"/>
                </a:solidFill>
              </a:rPr>
              <a:t>SS</a:t>
            </a:r>
            <a:r>
              <a:rPr lang="zh-CN" altLang="en-US" dirty="0">
                <a:solidFill>
                  <a:srgbClr val="FF0000"/>
                </a:solidFill>
              </a:rPr>
              <a:t>）型、寄存器－寄存器（</a:t>
            </a:r>
            <a:r>
              <a:rPr lang="en-US" altLang="zh-CN" dirty="0">
                <a:solidFill>
                  <a:srgbClr val="FF0000"/>
                </a:solidFill>
              </a:rPr>
              <a:t>RR</a:t>
            </a:r>
            <a:r>
              <a:rPr lang="zh-CN" altLang="en-US" dirty="0">
                <a:solidFill>
                  <a:srgbClr val="FF0000"/>
                </a:solidFill>
              </a:rPr>
              <a:t>）型、寄存器－存储器（</a:t>
            </a:r>
            <a:r>
              <a:rPr lang="en-US" altLang="zh-CN" dirty="0">
                <a:solidFill>
                  <a:srgbClr val="FF0000"/>
                </a:solidFill>
              </a:rPr>
              <a:t>RS</a:t>
            </a:r>
            <a:r>
              <a:rPr lang="zh-CN" altLang="en-US" dirty="0">
                <a:solidFill>
                  <a:srgbClr val="FF0000"/>
                </a:solidFill>
              </a:rPr>
              <a:t>）型 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zh-CN" altLang="en-US" b="1" dirty="0">
                <a:latin typeface="华文新魏" pitchFamily="2" charset="-122"/>
              </a:rPr>
              <a:t>按指令长度分类</a:t>
            </a:r>
            <a:endParaRPr lang="en-US" altLang="zh-CN" b="1" dirty="0">
              <a:latin typeface="华文新魏" pitchFamily="2" charset="-122"/>
            </a:endParaRP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0000"/>
                </a:solidFill>
              </a:rPr>
              <a:t>定长指令，变长指令</a:t>
            </a:r>
          </a:p>
          <a:p>
            <a:pPr eaLnBrk="1" hangingPunct="1"/>
            <a:r>
              <a:rPr lang="zh-CN" altLang="en-US" b="1" dirty="0">
                <a:latin typeface="华文新魏" pitchFamily="2" charset="-122"/>
              </a:rPr>
              <a:t>按操作数个数分类</a:t>
            </a:r>
            <a:endParaRPr lang="en-US" altLang="zh-CN" b="1" dirty="0">
              <a:latin typeface="华文新魏" pitchFamily="2" charset="-122"/>
            </a:endParaRPr>
          </a:p>
          <a:p>
            <a:pPr lvl="1" eaLnBrk="1" hangingPunct="1">
              <a:defRPr/>
            </a:pPr>
            <a:r>
              <a:rPr lang="en-US" altLang="zh-CN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四地址、三地址、二地址、单地址、零地址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b="1" dirty="0">
                <a:latin typeface="华文新魏" pitchFamily="2" charset="-122"/>
              </a:rPr>
              <a:t>按指令功能分类</a:t>
            </a:r>
            <a:endParaRPr lang="en-US" altLang="zh-CN" b="1" dirty="0">
              <a:latin typeface="华文新魏" pitchFamily="2" charset="-122"/>
            </a:endParaRPr>
          </a:p>
          <a:p>
            <a:pPr lvl="1" eaLnBrk="1" hangingPunct="1">
              <a:defRPr/>
            </a:pPr>
            <a:endParaRPr lang="en-US" altLang="zh-CN" dirty="0"/>
          </a:p>
          <a:p>
            <a:pPr lvl="1" eaLnBrk="1" hangingPunct="1">
              <a:defRPr/>
            </a:pPr>
            <a:endParaRPr lang="zh-CN" altLang="en-US" dirty="0"/>
          </a:p>
          <a:p>
            <a:pPr eaLnBrk="1" hangingPunct="1"/>
            <a:endParaRPr lang="zh-CN" altLang="en-US" dirty="0">
              <a:latin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5330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举例：</a:t>
            </a:r>
            <a:r>
              <a:rPr lang="en-US" altLang="zh-CN" dirty="0"/>
              <a:t>X86</a:t>
            </a:r>
            <a:r>
              <a:rPr lang="zh-CN" altLang="en-US" dirty="0"/>
              <a:t>指令分类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B6F892F-7728-4379-B658-61FA001C7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数据传送类</a:t>
            </a:r>
          </a:p>
          <a:p>
            <a:pPr lvl="1"/>
            <a:r>
              <a:rPr lang="zh-CN" altLang="en-US" dirty="0"/>
              <a:t>取数     </a:t>
            </a:r>
            <a:r>
              <a:rPr lang="en-US" altLang="zh-CN" dirty="0"/>
              <a:t>MOV  AX</a:t>
            </a:r>
            <a:r>
              <a:rPr lang="zh-CN" altLang="en-US" dirty="0"/>
              <a:t>，</a:t>
            </a:r>
            <a:r>
              <a:rPr lang="en-US" altLang="zh-CN" dirty="0"/>
              <a:t>TEMP    </a:t>
            </a:r>
          </a:p>
          <a:p>
            <a:pPr lvl="1"/>
            <a:r>
              <a:rPr lang="zh-CN" altLang="en-US" dirty="0"/>
              <a:t>存数     </a:t>
            </a:r>
            <a:r>
              <a:rPr lang="en-US" altLang="zh-CN" dirty="0"/>
              <a:t>MOV  TEMP</a:t>
            </a:r>
            <a:r>
              <a:rPr lang="zh-CN" altLang="en-US" dirty="0"/>
              <a:t>，</a:t>
            </a:r>
            <a:r>
              <a:rPr lang="en-US" altLang="zh-CN" dirty="0"/>
              <a:t>AX</a:t>
            </a:r>
          </a:p>
          <a:p>
            <a:pPr lvl="1"/>
            <a:r>
              <a:rPr lang="zh-CN" altLang="en-US" dirty="0"/>
              <a:t>传送     </a:t>
            </a:r>
            <a:r>
              <a:rPr lang="en-US" altLang="zh-CN" dirty="0"/>
              <a:t>MOV  AX</a:t>
            </a:r>
            <a:r>
              <a:rPr lang="zh-CN" altLang="en-US" dirty="0"/>
              <a:t>，</a:t>
            </a:r>
            <a:r>
              <a:rPr lang="en-US" altLang="zh-CN" dirty="0"/>
              <a:t>CX</a:t>
            </a:r>
          </a:p>
          <a:p>
            <a:r>
              <a:rPr lang="zh-CN" altLang="en-US" dirty="0"/>
              <a:t>算术运算类</a:t>
            </a:r>
          </a:p>
          <a:p>
            <a:pPr lvl="1"/>
            <a:r>
              <a:rPr lang="zh-CN" altLang="en-US" dirty="0"/>
              <a:t>定点＋，－，</a:t>
            </a:r>
            <a:r>
              <a:rPr lang="en-US" altLang="zh-CN" dirty="0"/>
              <a:t>×</a:t>
            </a:r>
            <a:r>
              <a:rPr lang="zh-CN" altLang="en-US" dirty="0"/>
              <a:t>，</a:t>
            </a:r>
            <a:r>
              <a:rPr lang="en-US" altLang="zh-CN" dirty="0"/>
              <a:t>÷    </a:t>
            </a:r>
            <a:r>
              <a:rPr lang="zh-CN" altLang="en-US" dirty="0"/>
              <a:t>等</a:t>
            </a:r>
          </a:p>
          <a:p>
            <a:pPr lvl="1"/>
            <a:r>
              <a:rPr lang="zh-CN" altLang="en-US" dirty="0"/>
              <a:t>浮点＋，－，</a:t>
            </a:r>
            <a:r>
              <a:rPr lang="en-US" altLang="zh-CN" dirty="0"/>
              <a:t>×</a:t>
            </a:r>
            <a:r>
              <a:rPr lang="zh-CN" altLang="en-US" dirty="0"/>
              <a:t>，</a:t>
            </a:r>
            <a:r>
              <a:rPr lang="en-US" altLang="zh-CN" dirty="0"/>
              <a:t>÷   </a:t>
            </a:r>
            <a:r>
              <a:rPr lang="zh-CN" altLang="en-US" dirty="0"/>
              <a:t>求反，求补等</a:t>
            </a:r>
          </a:p>
          <a:p>
            <a:r>
              <a:rPr lang="zh-CN" altLang="en-US" dirty="0"/>
              <a:t>逻辑运算类</a:t>
            </a:r>
          </a:p>
          <a:p>
            <a:r>
              <a:rPr lang="en-US" altLang="zh-CN" dirty="0"/>
              <a:t>NOT</a:t>
            </a:r>
            <a:r>
              <a:rPr lang="zh-CN" altLang="en-US" dirty="0"/>
              <a:t>，</a:t>
            </a:r>
            <a:r>
              <a:rPr lang="en-US" altLang="zh-CN" dirty="0"/>
              <a:t>AND</a:t>
            </a:r>
            <a:r>
              <a:rPr lang="zh-CN" altLang="en-US" dirty="0"/>
              <a:t>，</a:t>
            </a:r>
            <a:r>
              <a:rPr lang="en-US" altLang="zh-CN" dirty="0"/>
              <a:t>OR</a:t>
            </a:r>
            <a:r>
              <a:rPr lang="zh-CN" altLang="en-US" dirty="0"/>
              <a:t>，</a:t>
            </a:r>
            <a:r>
              <a:rPr lang="en-US" altLang="zh-CN" dirty="0"/>
              <a:t>XOR</a:t>
            </a:r>
            <a:r>
              <a:rPr lang="zh-CN" altLang="en-US" dirty="0"/>
              <a:t>，</a:t>
            </a:r>
            <a:r>
              <a:rPr lang="en-US" altLang="zh-CN" dirty="0"/>
              <a:t>TEST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68542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举例：</a:t>
            </a:r>
            <a:r>
              <a:rPr lang="en-US" altLang="zh-CN" dirty="0"/>
              <a:t>X86</a:t>
            </a:r>
            <a:r>
              <a:rPr lang="zh-CN" altLang="en-US" dirty="0"/>
              <a:t>指令分类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248059-60CE-4F91-93EC-4AA6D2ECE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程序控制类</a:t>
            </a:r>
          </a:p>
          <a:p>
            <a:pPr lvl="1"/>
            <a:r>
              <a:rPr lang="zh-CN" altLang="en-US" dirty="0"/>
              <a:t>无条件转移 </a:t>
            </a:r>
            <a:r>
              <a:rPr lang="en-US" altLang="zh-CN" dirty="0"/>
              <a:t>JMP    </a:t>
            </a:r>
            <a:r>
              <a:rPr lang="zh-CN" altLang="en-US" dirty="0"/>
              <a:t>条件转移 </a:t>
            </a:r>
            <a:r>
              <a:rPr lang="en-US" altLang="zh-CN" dirty="0"/>
              <a:t>C</a:t>
            </a:r>
            <a:r>
              <a:rPr lang="zh-CN" altLang="en-US" dirty="0"/>
              <a:t>，</a:t>
            </a:r>
            <a:r>
              <a:rPr lang="en-US" altLang="zh-CN" dirty="0"/>
              <a:t>Z</a:t>
            </a:r>
            <a:r>
              <a:rPr lang="zh-CN" altLang="en-US" dirty="0"/>
              <a:t>，</a:t>
            </a:r>
            <a:r>
              <a:rPr lang="en-US" altLang="zh-CN" dirty="0"/>
              <a:t>N</a:t>
            </a:r>
            <a:r>
              <a:rPr lang="zh-CN" altLang="en-US" dirty="0"/>
              <a:t>，</a:t>
            </a:r>
            <a:r>
              <a:rPr lang="en-US" altLang="zh-CN" dirty="0"/>
              <a:t>P</a:t>
            </a:r>
            <a:r>
              <a:rPr lang="zh-CN" altLang="en-US" dirty="0"/>
              <a:t>，</a:t>
            </a:r>
            <a:r>
              <a:rPr lang="en-US" altLang="zh-CN" dirty="0"/>
              <a:t>V</a:t>
            </a:r>
          </a:p>
          <a:p>
            <a:pPr lvl="1"/>
            <a:r>
              <a:rPr lang="zh-CN" altLang="en-US" dirty="0"/>
              <a:t>转子程序 </a:t>
            </a:r>
            <a:r>
              <a:rPr lang="en-US" altLang="zh-CN" dirty="0"/>
              <a:t>JSR   </a:t>
            </a:r>
            <a:r>
              <a:rPr lang="zh-CN" altLang="en-US" dirty="0"/>
              <a:t>子程序返回</a:t>
            </a:r>
            <a:r>
              <a:rPr lang="en-US" altLang="zh-CN" dirty="0"/>
              <a:t>RET   </a:t>
            </a:r>
            <a:r>
              <a:rPr lang="zh-CN" altLang="en-US" dirty="0"/>
              <a:t>中断返回</a:t>
            </a:r>
            <a:r>
              <a:rPr lang="en-US" altLang="zh-CN" dirty="0"/>
              <a:t>IRET</a:t>
            </a:r>
          </a:p>
          <a:p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输出类</a:t>
            </a:r>
          </a:p>
          <a:p>
            <a:pPr lvl="1"/>
            <a:r>
              <a:rPr lang="en-US" altLang="zh-CN" dirty="0"/>
              <a:t>IN  AX</a:t>
            </a:r>
            <a:r>
              <a:rPr lang="zh-CN" altLang="en-US" dirty="0"/>
              <a:t>，</a:t>
            </a:r>
            <a:r>
              <a:rPr lang="en-US" altLang="zh-CN" dirty="0"/>
              <a:t>n               OUT  n, AX</a:t>
            </a:r>
          </a:p>
          <a:p>
            <a:r>
              <a:rPr lang="zh-CN" altLang="en-US" dirty="0"/>
              <a:t>其他类</a:t>
            </a:r>
          </a:p>
          <a:p>
            <a:pPr lvl="1"/>
            <a:r>
              <a:rPr lang="zh-CN" altLang="en-US" dirty="0"/>
              <a:t>标志操作：</a:t>
            </a:r>
            <a:r>
              <a:rPr lang="en-US" altLang="zh-CN" dirty="0"/>
              <a:t>CLC</a:t>
            </a:r>
            <a:r>
              <a:rPr lang="zh-CN" altLang="en-US" dirty="0"/>
              <a:t>（</a:t>
            </a:r>
            <a:r>
              <a:rPr lang="en-US" altLang="zh-CN" dirty="0"/>
              <a:t>clear  carry flag)</a:t>
            </a:r>
          </a:p>
          <a:p>
            <a:pPr lvl="1"/>
            <a:r>
              <a:rPr lang="en-US" altLang="zh-CN" dirty="0"/>
              <a:t>CLI (clear interrupt enable flag)</a:t>
            </a:r>
          </a:p>
          <a:p>
            <a:pPr lvl="1"/>
            <a:r>
              <a:rPr lang="en-US" altLang="zh-CN" dirty="0"/>
              <a:t>HLT</a:t>
            </a:r>
            <a:r>
              <a:rPr lang="zh-CN" altLang="en-US" dirty="0"/>
              <a:t>，</a:t>
            </a:r>
            <a:r>
              <a:rPr lang="en-US" altLang="zh-CN" dirty="0"/>
              <a:t>WAIT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82994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600" dirty="0"/>
              <a:t>举例：</a:t>
            </a:r>
            <a:r>
              <a:rPr lang="en-US" altLang="zh-CN" sz="3600" dirty="0"/>
              <a:t>MIPS</a:t>
            </a:r>
            <a:r>
              <a:rPr lang="zh-CN" altLang="en-US" sz="3600" dirty="0"/>
              <a:t>指令分类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836712"/>
            <a:ext cx="8856984" cy="5184576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3000" b="1" dirty="0">
                <a:solidFill>
                  <a:srgbClr val="FF0000"/>
                </a:solidFill>
              </a:rPr>
              <a:t>运算指令</a:t>
            </a:r>
            <a:endParaRPr lang="en-US" altLang="zh-CN" sz="3000" b="1" dirty="0">
              <a:solidFill>
                <a:srgbClr val="FF0000"/>
              </a:solidFill>
            </a:endParaRPr>
          </a:p>
          <a:p>
            <a:pPr lvl="1"/>
            <a:r>
              <a:rPr lang="zh-CN" altLang="en-US" sz="2600" dirty="0"/>
              <a:t>算术：</a:t>
            </a:r>
            <a:r>
              <a:rPr lang="en-US" altLang="zh-CN" sz="2600" dirty="0" err="1"/>
              <a:t>add,addi,addu,addiu</a:t>
            </a:r>
            <a:r>
              <a:rPr lang="en-US" altLang="zh-CN" sz="2600" dirty="0"/>
              <a:t>, </a:t>
            </a:r>
            <a:r>
              <a:rPr lang="en-US" altLang="zh-CN" sz="2600" dirty="0" err="1">
                <a:solidFill>
                  <a:srgbClr val="0000FF"/>
                </a:solidFill>
              </a:rPr>
              <a:t>sub,subu</a:t>
            </a:r>
            <a:r>
              <a:rPr lang="en-US" altLang="zh-CN" sz="2600" dirty="0"/>
              <a:t>, </a:t>
            </a:r>
            <a:r>
              <a:rPr lang="en-US" altLang="zh-CN" sz="2600" dirty="0" err="1"/>
              <a:t>mult,multu,div,divu</a:t>
            </a:r>
            <a:r>
              <a:rPr lang="en-US" altLang="zh-CN" sz="2600" dirty="0"/>
              <a:t>,  </a:t>
            </a:r>
            <a:r>
              <a:rPr lang="en-US" altLang="zh-CN" sz="2600" dirty="0" err="1">
                <a:solidFill>
                  <a:srgbClr val="0000FF"/>
                </a:solidFill>
              </a:rPr>
              <a:t>slt,slti,sltiu</a:t>
            </a:r>
            <a:endParaRPr lang="en-US" altLang="zh-CN" sz="2600" dirty="0">
              <a:solidFill>
                <a:srgbClr val="0000FF"/>
              </a:solidFill>
            </a:endParaRPr>
          </a:p>
          <a:p>
            <a:pPr lvl="1"/>
            <a:r>
              <a:rPr lang="zh-CN" altLang="en-US" sz="2600" dirty="0"/>
              <a:t>逻辑：</a:t>
            </a:r>
            <a:r>
              <a:rPr lang="en-US" altLang="zh-CN" sz="2600" dirty="0" err="1"/>
              <a:t>and,andi,or</a:t>
            </a:r>
            <a:r>
              <a:rPr lang="en-US" altLang="zh-CN" sz="2600" dirty="0"/>
              <a:t>, </a:t>
            </a:r>
            <a:r>
              <a:rPr lang="en-US" altLang="zh-CN" sz="2600" dirty="0" err="1">
                <a:solidFill>
                  <a:srgbClr val="0000FF"/>
                </a:solidFill>
              </a:rPr>
              <a:t>ori,xor,xori,nor</a:t>
            </a:r>
            <a:endParaRPr lang="en-US" altLang="zh-CN" sz="2600" dirty="0">
              <a:solidFill>
                <a:srgbClr val="0000FF"/>
              </a:solidFill>
            </a:endParaRPr>
          </a:p>
          <a:p>
            <a:pPr lvl="1"/>
            <a:r>
              <a:rPr lang="zh-CN" altLang="en-US" sz="2600" dirty="0"/>
              <a:t>移位指令：</a:t>
            </a:r>
            <a:r>
              <a:rPr lang="en-US" altLang="zh-CN" sz="2600" dirty="0" err="1"/>
              <a:t>sll,sllv,srl</a:t>
            </a:r>
            <a:r>
              <a:rPr lang="en-US" altLang="zh-CN" sz="2600" dirty="0"/>
              <a:t>, </a:t>
            </a:r>
            <a:r>
              <a:rPr lang="en-US" altLang="zh-CN" sz="2600" dirty="0" err="1">
                <a:solidFill>
                  <a:srgbClr val="0000FF"/>
                </a:solidFill>
              </a:rPr>
              <a:t>srlv,sra,srav</a:t>
            </a:r>
            <a:endParaRPr lang="en-US" altLang="zh-CN" sz="2600" dirty="0">
              <a:solidFill>
                <a:srgbClr val="0000FF"/>
              </a:solidFill>
            </a:endParaRPr>
          </a:p>
          <a:p>
            <a:r>
              <a:rPr lang="zh-CN" altLang="en-US" sz="3000" b="1" dirty="0">
                <a:solidFill>
                  <a:srgbClr val="FF0000"/>
                </a:solidFill>
              </a:rPr>
              <a:t>分支指令</a:t>
            </a:r>
            <a:endParaRPr lang="en-US" altLang="zh-CN" sz="3000" b="1" dirty="0">
              <a:solidFill>
                <a:srgbClr val="FF0000"/>
              </a:solidFill>
            </a:endParaRPr>
          </a:p>
          <a:p>
            <a:pPr lvl="1"/>
            <a:r>
              <a:rPr lang="en-US" altLang="zh-CN" sz="2600" dirty="0" err="1"/>
              <a:t>beq</a:t>
            </a:r>
            <a:r>
              <a:rPr lang="zh-CN" altLang="en-US" sz="2600" dirty="0"/>
              <a:t>，</a:t>
            </a:r>
            <a:r>
              <a:rPr lang="en-US" altLang="zh-CN" sz="2600" dirty="0" err="1"/>
              <a:t>bne</a:t>
            </a:r>
            <a:r>
              <a:rPr lang="zh-CN" altLang="en-US" sz="2600" dirty="0"/>
              <a:t>，</a:t>
            </a:r>
            <a:r>
              <a:rPr lang="en-US" altLang="zh-CN" sz="2600" dirty="0" err="1"/>
              <a:t>blez</a:t>
            </a:r>
            <a:r>
              <a:rPr lang="en-US" altLang="zh-CN" sz="2600" dirty="0"/>
              <a:t>(&lt;=0), </a:t>
            </a:r>
            <a:r>
              <a:rPr lang="en-US" altLang="zh-CN" sz="2600" dirty="0" err="1"/>
              <a:t>bgez</a:t>
            </a:r>
            <a:r>
              <a:rPr lang="en-US" altLang="zh-CN" sz="2600" dirty="0"/>
              <a:t>(&gt;=0), </a:t>
            </a:r>
            <a:r>
              <a:rPr lang="en-US" altLang="zh-CN" sz="2600" dirty="0" err="1"/>
              <a:t>bltz</a:t>
            </a:r>
            <a:r>
              <a:rPr lang="en-US" altLang="zh-CN" sz="2600" dirty="0"/>
              <a:t>(&lt;0)</a:t>
            </a:r>
            <a:r>
              <a:rPr lang="zh-CN" altLang="en-US" sz="2600" dirty="0"/>
              <a:t>，</a:t>
            </a:r>
            <a:r>
              <a:rPr lang="en-US" altLang="zh-CN" sz="2600" dirty="0" err="1"/>
              <a:t>bgtz</a:t>
            </a:r>
            <a:r>
              <a:rPr lang="en-US" altLang="zh-CN" sz="2600" dirty="0"/>
              <a:t>(&gt;0)</a:t>
            </a:r>
            <a:r>
              <a:rPr lang="zh-CN" altLang="en-US" sz="2600" dirty="0"/>
              <a:t>，</a:t>
            </a:r>
            <a:r>
              <a:rPr lang="en-US" altLang="zh-CN" sz="2600" dirty="0" err="1"/>
              <a:t>jal</a:t>
            </a:r>
            <a:r>
              <a:rPr lang="zh-CN" altLang="en-US" sz="2600" dirty="0"/>
              <a:t>，</a:t>
            </a:r>
            <a:r>
              <a:rPr lang="en-US" altLang="zh-CN" sz="2600" dirty="0"/>
              <a:t>j</a:t>
            </a:r>
            <a:r>
              <a:rPr lang="zh-CN" altLang="en-US" sz="2600" dirty="0"/>
              <a:t>，</a:t>
            </a:r>
            <a:r>
              <a:rPr lang="en-US" altLang="zh-CN" sz="2600" dirty="0" err="1"/>
              <a:t>jr</a:t>
            </a:r>
            <a:endParaRPr lang="en-US" altLang="zh-CN" sz="2600" dirty="0"/>
          </a:p>
          <a:p>
            <a:r>
              <a:rPr lang="zh-CN" altLang="en-US" sz="3300" b="1" dirty="0">
                <a:solidFill>
                  <a:srgbClr val="FF0000"/>
                </a:solidFill>
              </a:rPr>
              <a:t>访存指令</a:t>
            </a:r>
            <a:r>
              <a:rPr lang="en-US" altLang="zh-CN" sz="3000" b="1" dirty="0"/>
              <a:t>	</a:t>
            </a:r>
          </a:p>
          <a:p>
            <a:pPr lvl="1"/>
            <a:r>
              <a:rPr lang="en-US" altLang="zh-CN" sz="2900" dirty="0" err="1"/>
              <a:t>lw,lh,lb,sw,sh,sb</a:t>
            </a:r>
            <a:endParaRPr lang="en-US" altLang="zh-CN" sz="2900" dirty="0"/>
          </a:p>
          <a:p>
            <a:r>
              <a:rPr lang="zh-CN" altLang="en-US" sz="3300" b="1" dirty="0">
                <a:solidFill>
                  <a:srgbClr val="FF0000"/>
                </a:solidFill>
              </a:rPr>
              <a:t>系统指令</a:t>
            </a:r>
            <a:r>
              <a:rPr lang="en-US" altLang="zh-CN" sz="3300" b="1" dirty="0"/>
              <a:t>	</a:t>
            </a:r>
          </a:p>
          <a:p>
            <a:pPr lvl="1"/>
            <a:r>
              <a:rPr lang="en-US" altLang="zh-CN" sz="2900" dirty="0" err="1"/>
              <a:t>syscall</a:t>
            </a:r>
            <a:r>
              <a:rPr lang="zh-CN" altLang="en-US" sz="2900" dirty="0"/>
              <a:t>，</a:t>
            </a:r>
            <a:r>
              <a:rPr lang="en-US" altLang="zh-CN" sz="2900" dirty="0"/>
              <a:t>break</a:t>
            </a:r>
            <a:r>
              <a:rPr lang="zh-CN" altLang="en-US" sz="2900" dirty="0"/>
              <a:t>，</a:t>
            </a:r>
            <a:r>
              <a:rPr lang="en-US" altLang="zh-CN" sz="2900" dirty="0"/>
              <a:t>sync, cache	</a:t>
            </a:r>
          </a:p>
          <a:p>
            <a:pPr marL="0" indent="0">
              <a:buNone/>
            </a:pPr>
            <a:endParaRPr lang="en-US" altLang="zh-CN" dirty="0"/>
          </a:p>
          <a:p>
            <a:pPr lvl="1"/>
            <a:endParaRPr lang="en-US" altLang="zh-CN" sz="3600" b="1" dirty="0">
              <a:solidFill>
                <a:schemeClr val="tx1"/>
              </a:solidFill>
            </a:endParaRP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982408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4E66694-2E12-4FC9-8CE7-6E34E9AB99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algn="ctr" eaLnBrk="1" hangingPunct="1"/>
            <a:r>
              <a:rPr lang="zh-CN" altLang="en-US" b="1"/>
              <a:t>第</a:t>
            </a:r>
            <a:r>
              <a:rPr lang="en-US" altLang="zh-CN" b="1"/>
              <a:t>5</a:t>
            </a:r>
            <a:r>
              <a:rPr lang="zh-CN" altLang="en-US" b="1"/>
              <a:t>章 指令系统</a:t>
            </a:r>
          </a:p>
        </p:txBody>
      </p:sp>
      <p:sp>
        <p:nvSpPr>
          <p:cNvPr id="12291" name="内容占位符 1">
            <a:extLst>
              <a:ext uri="{FF2B5EF4-FFF2-40B4-BE49-F238E27FC236}">
                <a16:creationId xmlns:a16="http://schemas.microsoft.com/office/drawing/2014/main" id="{769A52D4-D490-4CB1-9B6A-83E878FBC1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23975" y="1549400"/>
            <a:ext cx="7450138" cy="4525963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5.1</a:t>
            </a:r>
            <a:r>
              <a:rPr lang="zh-CN" altLang="en-US" dirty="0"/>
              <a:t>指令系统概述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5.2 </a:t>
            </a:r>
            <a:r>
              <a:rPr lang="zh-CN" altLang="en-US" dirty="0"/>
              <a:t>指令的格式 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5.3</a:t>
            </a:r>
            <a:r>
              <a:rPr lang="zh-CN" altLang="en-US" dirty="0"/>
              <a:t>寻址方式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5.4 </a:t>
            </a:r>
            <a:r>
              <a:rPr lang="zh-CN" altLang="en-US" dirty="0"/>
              <a:t>指令的分类 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5.5 MIPS32</a:t>
            </a:r>
            <a:r>
              <a:rPr lang="zh-CN" altLang="en-US" dirty="0"/>
              <a:t>指令简介 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5.6</a:t>
            </a:r>
            <a:r>
              <a:rPr lang="zh-CN" altLang="en-US" dirty="0"/>
              <a:t>常用</a:t>
            </a:r>
            <a:r>
              <a:rPr lang="en-US" altLang="zh-CN" dirty="0"/>
              <a:t>MIPS</a:t>
            </a:r>
            <a:r>
              <a:rPr lang="zh-CN" altLang="en-US" dirty="0"/>
              <a:t>汇编指令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5.7 MISP</a:t>
            </a:r>
            <a:r>
              <a:rPr lang="zh-CN" altLang="en-US" dirty="0"/>
              <a:t>指令与</a:t>
            </a:r>
            <a:r>
              <a:rPr lang="en-US" altLang="zh-CN" dirty="0"/>
              <a:t>C</a:t>
            </a:r>
            <a:r>
              <a:rPr lang="zh-CN" altLang="en-US" dirty="0"/>
              <a:t>语言程序的关系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D67CA4-03D2-4867-8379-5DE67C6D1C43}"/>
              </a:ext>
            </a:extLst>
          </p:cNvPr>
          <p:cNvSpPr/>
          <p:nvPr/>
        </p:nvSpPr>
        <p:spPr>
          <a:xfrm>
            <a:off x="1323975" y="3861048"/>
            <a:ext cx="4081463" cy="584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200" kern="0" dirty="0">
                <a:solidFill>
                  <a:srgbClr val="000000"/>
                </a:solidFill>
              </a:rPr>
              <a:t>5.5 MIPS32</a:t>
            </a:r>
            <a:r>
              <a:rPr lang="zh-CN" altLang="en-US" sz="3200" kern="0" dirty="0">
                <a:solidFill>
                  <a:srgbClr val="000000"/>
                </a:solidFill>
              </a:rPr>
              <a:t>指令简介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id="{0D1E22CE-7166-4CDF-B730-E7B5FADE04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5.5 MIPS32</a:t>
            </a:r>
            <a:r>
              <a:rPr lang="zh-CN" altLang="en-US"/>
              <a:t>指令简介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456882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zh-CN" dirty="0"/>
              <a:t>5.5.1 MIPS</a:t>
            </a:r>
            <a:r>
              <a:rPr lang="zh-CN" altLang="en-US" dirty="0"/>
              <a:t>中的寄存器组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5.5.2 MIPS</a:t>
            </a:r>
            <a:r>
              <a:rPr lang="zh-CN" altLang="en-US" dirty="0"/>
              <a:t>的指令格式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5.5.3 MIPS</a:t>
            </a:r>
            <a:r>
              <a:rPr lang="zh-CN" altLang="en-US" dirty="0"/>
              <a:t>的寻址方式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7021F6-595D-4D1A-9BC5-67C38B3573D3}"/>
              </a:ext>
            </a:extLst>
          </p:cNvPr>
          <p:cNvSpPr/>
          <p:nvPr/>
        </p:nvSpPr>
        <p:spPr>
          <a:xfrm>
            <a:off x="900113" y="1700213"/>
            <a:ext cx="4673600" cy="58578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200" kern="0" dirty="0">
                <a:solidFill>
                  <a:srgbClr val="000000"/>
                </a:solidFill>
              </a:rPr>
              <a:t>5.5.1 MIPS</a:t>
            </a:r>
            <a:r>
              <a:rPr lang="zh-CN" altLang="en-US" sz="3200" kern="0" dirty="0">
                <a:solidFill>
                  <a:srgbClr val="000000"/>
                </a:solidFill>
              </a:rPr>
              <a:t>中的寄存器组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C27E324-2490-439A-98FC-3E7B7ADB6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5.5.1 MIPS</a:t>
            </a:r>
            <a:r>
              <a:rPr lang="zh-CN" altLang="en-US" dirty="0"/>
              <a:t>中的寄存器组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B074E8B-6919-43B5-AC44-10F62D382A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525156"/>
              </p:ext>
            </p:extLst>
          </p:nvPr>
        </p:nvGraphicFramePr>
        <p:xfrm>
          <a:off x="755576" y="836712"/>
          <a:ext cx="7265523" cy="448602"/>
        </p:xfrm>
        <a:graphic>
          <a:graphicData uri="http://schemas.openxmlformats.org/drawingml/2006/table">
            <a:tbl>
              <a:tblPr firstRow="1" bandRow="1"/>
              <a:tblGrid>
                <a:gridCol w="1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88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6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zh-CN" altLang="en-US" sz="1800" dirty="0"/>
                        <a:t>寄存器</a:t>
                      </a:r>
                      <a:r>
                        <a:rPr lang="en-US" altLang="zh-CN" sz="1800" dirty="0"/>
                        <a:t>#</a:t>
                      </a:r>
                      <a:endParaRPr lang="zh-CN" altLang="en-US" sz="1800" dirty="0"/>
                    </a:p>
                  </a:txBody>
                  <a:tcPr marL="110425" marR="110425" marT="55307" marB="5530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zh-CN" altLang="en-US" sz="1800" dirty="0"/>
                        <a:t>助记符</a:t>
                      </a:r>
                    </a:p>
                  </a:txBody>
                  <a:tcPr marL="110425" marR="110425" marT="55307" marB="5530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zh-CN" altLang="en-US" sz="1800" dirty="0"/>
                        <a:t>释义</a:t>
                      </a:r>
                    </a:p>
                  </a:txBody>
                  <a:tcPr marL="110425" marR="110425" marT="55307" marB="5530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288B08F-8613-434F-AA12-FC501AA10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106409"/>
              </p:ext>
            </p:extLst>
          </p:nvPr>
        </p:nvGraphicFramePr>
        <p:xfrm>
          <a:off x="755576" y="1237073"/>
          <a:ext cx="7265522" cy="448602"/>
        </p:xfrm>
        <a:graphic>
          <a:graphicData uri="http://schemas.openxmlformats.org/drawingml/2006/table">
            <a:tbl>
              <a:tblPr firstRow="1" bandRow="1"/>
              <a:tblGrid>
                <a:gridCol w="1457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9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88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6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10425" marR="110425" marT="55307" marB="5530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$zero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10425" marR="110425" marT="55307" marB="5530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固定值为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   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硬件置位</a:t>
                      </a:r>
                    </a:p>
                  </a:txBody>
                  <a:tcPr marL="110425" marR="110425" marT="55307" marB="5530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41757F2-C4DA-4776-AD66-FB997433B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881994"/>
              </p:ext>
            </p:extLst>
          </p:nvPr>
        </p:nvGraphicFramePr>
        <p:xfrm>
          <a:off x="755445" y="1662584"/>
          <a:ext cx="7275178" cy="448602"/>
        </p:xfrm>
        <a:graphic>
          <a:graphicData uri="http://schemas.openxmlformats.org/drawingml/2006/table">
            <a:tbl>
              <a:tblPr firstRow="1" bandRow="1"/>
              <a:tblGrid>
                <a:gridCol w="1461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3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01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6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0425" marR="110425" marT="55071" marB="5507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$at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110425" marR="110425" marT="55071" marB="5507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汇编器保留，临时变量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0425" marR="110425" marT="55071" marB="5507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5FE29D0-CD7A-4191-9A53-E4CB2A439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382205"/>
              </p:ext>
            </p:extLst>
          </p:nvPr>
        </p:nvGraphicFramePr>
        <p:xfrm>
          <a:off x="755432" y="2088095"/>
          <a:ext cx="7265668" cy="448602"/>
        </p:xfrm>
        <a:graphic>
          <a:graphicData uri="http://schemas.openxmlformats.org/drawingml/2006/table">
            <a:tbl>
              <a:tblPr firstRow="1" bandRow="1"/>
              <a:tblGrid>
                <a:gridCol w="1459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4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6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2~3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110425" marR="110425" marT="55071" marB="5507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$v0~$v1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110425" marR="110425" marT="55071" marB="5507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函数调用返回值</a:t>
                      </a:r>
                    </a:p>
                  </a:txBody>
                  <a:tcPr marL="110425" marR="110425" marT="55071" marB="5507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2E244F1-CBFA-4709-8F57-3608822B0B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455920"/>
              </p:ext>
            </p:extLst>
          </p:nvPr>
        </p:nvGraphicFramePr>
        <p:xfrm>
          <a:off x="755432" y="2513606"/>
          <a:ext cx="7265672" cy="448602"/>
        </p:xfrm>
        <a:graphic>
          <a:graphicData uri="http://schemas.openxmlformats.org/drawingml/2006/table">
            <a:tbl>
              <a:tblPr firstRow="1" bandRow="1"/>
              <a:tblGrid>
                <a:gridCol w="1455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6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4~7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110425" marR="110425" marT="55071" marB="5507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$a0~$a3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110425" marR="110425" marT="55071" marB="5507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个函数调用参数</a:t>
                      </a:r>
                    </a:p>
                  </a:txBody>
                  <a:tcPr marL="110425" marR="110425" marT="55071" marB="5507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FCA6A19-52D9-4D83-8107-D68CBD844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199846"/>
              </p:ext>
            </p:extLst>
          </p:nvPr>
        </p:nvGraphicFramePr>
        <p:xfrm>
          <a:off x="755419" y="2939117"/>
          <a:ext cx="7256160" cy="448602"/>
        </p:xfrm>
        <a:graphic>
          <a:graphicData uri="http://schemas.openxmlformats.org/drawingml/2006/table">
            <a:tbl>
              <a:tblPr firstRow="1" bandRow="1"/>
              <a:tblGrid>
                <a:gridCol w="1445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6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rgbClr val="FF0000"/>
                          </a:solidFill>
                        </a:rPr>
                        <a:t>8~15</a:t>
                      </a:r>
                      <a:endParaRPr lang="zh-CN" altLang="en-US" sz="1800" b="0" dirty="0">
                        <a:solidFill>
                          <a:srgbClr val="FF0000"/>
                        </a:solidFill>
                      </a:endParaRPr>
                    </a:p>
                  </a:txBody>
                  <a:tcPr marL="110425" marR="110425" marT="54901" marB="5490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rgbClr val="FF0000"/>
                          </a:solidFill>
                        </a:rPr>
                        <a:t>$t0~$t7</a:t>
                      </a:r>
                      <a:endParaRPr lang="zh-CN" altLang="en-US" sz="1800" b="0" dirty="0">
                        <a:solidFill>
                          <a:srgbClr val="FF0000"/>
                        </a:solidFill>
                      </a:endParaRPr>
                    </a:p>
                  </a:txBody>
                  <a:tcPr marL="110425" marR="110425" marT="54901" marB="5490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zh-CN" altLang="en-US" sz="1800" b="0" dirty="0">
                          <a:solidFill>
                            <a:srgbClr val="FF0000"/>
                          </a:solidFill>
                        </a:rPr>
                        <a:t>暂存寄存器，被调用者按需保存</a:t>
                      </a:r>
                    </a:p>
                  </a:txBody>
                  <a:tcPr marL="110425" marR="110425" marT="54901" marB="5490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B315CFBD-3DF4-45E0-A290-9D6775DD7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638277"/>
              </p:ext>
            </p:extLst>
          </p:nvPr>
        </p:nvGraphicFramePr>
        <p:xfrm>
          <a:off x="755406" y="3364628"/>
          <a:ext cx="7265698" cy="448602"/>
        </p:xfrm>
        <a:graphic>
          <a:graphicData uri="http://schemas.openxmlformats.org/drawingml/2006/table">
            <a:tbl>
              <a:tblPr firstRow="1" bandRow="1"/>
              <a:tblGrid>
                <a:gridCol w="1445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6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rgbClr val="FF0000"/>
                          </a:solidFill>
                        </a:rPr>
                        <a:t>16~23</a:t>
                      </a:r>
                      <a:endParaRPr lang="zh-CN" altLang="en-US" sz="1800" b="0" dirty="0">
                        <a:solidFill>
                          <a:srgbClr val="FF0000"/>
                        </a:solidFill>
                      </a:endParaRPr>
                    </a:p>
                  </a:txBody>
                  <a:tcPr marL="110425" marR="110425" marT="55307" marB="5530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rgbClr val="FF0000"/>
                          </a:solidFill>
                        </a:rPr>
                        <a:t>$s0~$s7</a:t>
                      </a:r>
                      <a:endParaRPr lang="zh-CN" altLang="en-US" sz="1800" b="0" dirty="0">
                        <a:solidFill>
                          <a:srgbClr val="FF0000"/>
                        </a:solidFill>
                      </a:endParaRPr>
                    </a:p>
                  </a:txBody>
                  <a:tcPr marL="110425" marR="110425" marT="55307" marB="5530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rgbClr val="FF0000"/>
                          </a:solidFill>
                        </a:rPr>
                        <a:t>save</a:t>
                      </a:r>
                      <a:r>
                        <a:rPr lang="zh-CN" altLang="en-US" sz="1800" b="0" dirty="0">
                          <a:solidFill>
                            <a:srgbClr val="FF0000"/>
                          </a:solidFill>
                        </a:rPr>
                        <a:t>寄存器，调用者按需保存</a:t>
                      </a:r>
                      <a:endParaRPr lang="zh-CN" altLang="en-US" sz="1800" b="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0425" marR="110425" marT="55307" marB="5530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E63F14D-9FFC-4CE2-ACA2-306F72B8F6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378153"/>
              </p:ext>
            </p:extLst>
          </p:nvPr>
        </p:nvGraphicFramePr>
        <p:xfrm>
          <a:off x="755393" y="3790139"/>
          <a:ext cx="7265711" cy="448602"/>
        </p:xfrm>
        <a:graphic>
          <a:graphicData uri="http://schemas.openxmlformats.org/drawingml/2006/table">
            <a:tbl>
              <a:tblPr firstRow="1" bandRow="1"/>
              <a:tblGrid>
                <a:gridCol w="1455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6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rgbClr val="FF0000"/>
                          </a:solidFill>
                        </a:rPr>
                        <a:t>24~25</a:t>
                      </a:r>
                      <a:endParaRPr lang="zh-CN" altLang="en-US" sz="1800" b="0" dirty="0">
                        <a:solidFill>
                          <a:srgbClr val="FF0000"/>
                        </a:solidFill>
                      </a:endParaRPr>
                    </a:p>
                  </a:txBody>
                  <a:tcPr marL="110425" marR="110425" marT="55307" marB="5530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rgbClr val="FF0000"/>
                          </a:solidFill>
                        </a:rPr>
                        <a:t>$t8~$t9</a:t>
                      </a:r>
                      <a:endParaRPr lang="zh-CN" altLang="en-US" sz="1800" b="0" dirty="0">
                        <a:solidFill>
                          <a:srgbClr val="FF0000"/>
                        </a:solidFill>
                      </a:endParaRPr>
                    </a:p>
                  </a:txBody>
                  <a:tcPr marL="110425" marR="110425" marT="55307" marB="5530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zh-CN" altLang="en-US" sz="1800" b="0" dirty="0">
                          <a:solidFill>
                            <a:srgbClr val="FF0000"/>
                          </a:solidFill>
                        </a:rPr>
                        <a:t>暂存寄存器，同上</a:t>
                      </a:r>
                      <a:endParaRPr lang="zh-CN" altLang="en-US" sz="1800" b="0" dirty="0">
                        <a:solidFill>
                          <a:srgbClr val="002060"/>
                        </a:solidFill>
                      </a:endParaRPr>
                    </a:p>
                  </a:txBody>
                  <a:tcPr marL="110425" marR="110425" marT="55307" marB="5530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AE66A6CE-2FD4-42EA-9F73-7703A1CEC4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544648"/>
              </p:ext>
            </p:extLst>
          </p:nvPr>
        </p:nvGraphicFramePr>
        <p:xfrm>
          <a:off x="755432" y="4215650"/>
          <a:ext cx="7265669" cy="448602"/>
        </p:xfrm>
        <a:graphic>
          <a:graphicData uri="http://schemas.openxmlformats.org/drawingml/2006/table">
            <a:tbl>
              <a:tblPr firstRow="1" bandRow="1"/>
              <a:tblGrid>
                <a:gridCol w="1487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6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6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26~27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110425" marR="110425" marT="55307" marB="5530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$k0~$k1</a:t>
                      </a:r>
                    </a:p>
                  </a:txBody>
                  <a:tcPr marL="110425" marR="110425" marT="55307" marB="5530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操作系统保留，中断异常处理</a:t>
                      </a:r>
                    </a:p>
                  </a:txBody>
                  <a:tcPr marL="110425" marR="110425" marT="55307" marB="5530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5277BA3D-1E0B-4BC6-B7BB-D57638D59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598905"/>
              </p:ext>
            </p:extLst>
          </p:nvPr>
        </p:nvGraphicFramePr>
        <p:xfrm>
          <a:off x="755420" y="4641161"/>
          <a:ext cx="7265684" cy="448602"/>
        </p:xfrm>
        <a:graphic>
          <a:graphicData uri="http://schemas.openxmlformats.org/drawingml/2006/table">
            <a:tbl>
              <a:tblPr firstRow="1" bandRow="1"/>
              <a:tblGrid>
                <a:gridCol w="1501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7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6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110425" marR="110425" marT="55307" marB="5530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$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</a:rPr>
                        <a:t>gp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110425" marR="110425" marT="55307" marB="5530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全局指针 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(Global Pointer)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110425" marR="110425" marT="55307" marB="5530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770CE1E8-32C5-425F-BDEC-205FD7F451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963144"/>
              </p:ext>
            </p:extLst>
          </p:nvPr>
        </p:nvGraphicFramePr>
        <p:xfrm>
          <a:off x="755407" y="5066672"/>
          <a:ext cx="7265697" cy="448602"/>
        </p:xfrm>
        <a:graphic>
          <a:graphicData uri="http://schemas.openxmlformats.org/drawingml/2006/table">
            <a:tbl>
              <a:tblPr firstRow="1" bandRow="1"/>
              <a:tblGrid>
                <a:gridCol w="1497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2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6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6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110425" marR="110425" marT="55307" marB="5530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$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</a:rPr>
                        <a:t>sp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110425" marR="110425" marT="55307" marB="5530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堆栈指针 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(Stack Pointer)</a:t>
                      </a:r>
                    </a:p>
                  </a:txBody>
                  <a:tcPr marL="110425" marR="110425" marT="55307" marB="5530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71B67FB8-9C3D-41B2-BBB4-9C03D4B15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340800"/>
              </p:ext>
            </p:extLst>
          </p:nvPr>
        </p:nvGraphicFramePr>
        <p:xfrm>
          <a:off x="755393" y="5492183"/>
          <a:ext cx="7265709" cy="448602"/>
        </p:xfrm>
        <a:graphic>
          <a:graphicData uri="http://schemas.openxmlformats.org/drawingml/2006/table">
            <a:tbl>
              <a:tblPr firstRow="1" bandRow="1"/>
              <a:tblGrid>
                <a:gridCol w="1497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6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6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110425" marR="110425" marT="54845" marB="54845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$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</a:rPr>
                        <a:t>fp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110425" marR="110425" marT="54845" marB="54845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帧指针     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(Frame Pointer)</a:t>
                      </a:r>
                    </a:p>
                  </a:txBody>
                  <a:tcPr marL="110425" marR="110425" marT="54845" marB="54845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0EDEE9A8-D11E-4379-8753-3CBF74524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053759"/>
              </p:ext>
            </p:extLst>
          </p:nvPr>
        </p:nvGraphicFramePr>
        <p:xfrm>
          <a:off x="755392" y="5917690"/>
          <a:ext cx="7265711" cy="448602"/>
        </p:xfrm>
        <a:graphic>
          <a:graphicData uri="http://schemas.openxmlformats.org/drawingml/2006/table">
            <a:tbl>
              <a:tblPr firstRow="1" bandRow="1"/>
              <a:tblGrid>
                <a:gridCol w="1509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3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2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6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110425" marR="110425" marT="55071" marB="5507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$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</a:rPr>
                        <a:t>ra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110425" marR="110425" marT="55071" marB="5507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函数返回地址  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(Return Address)</a:t>
                      </a:r>
                    </a:p>
                  </a:txBody>
                  <a:tcPr marL="110425" marR="110425" marT="55071" marB="5507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565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C27E324-2490-439A-98FC-3E7B7ADB6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5.5.1 MIPS</a:t>
            </a:r>
            <a:r>
              <a:rPr lang="zh-CN" altLang="en-US" dirty="0"/>
              <a:t>中的寄存器组</a:t>
            </a:r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129897F0-3B97-4DF0-A3A2-4EE0D6AB0616}"/>
              </a:ext>
            </a:extLst>
          </p:cNvPr>
          <p:cNvSpPr txBox="1">
            <a:spLocks/>
          </p:cNvSpPr>
          <p:nvPr/>
        </p:nvSpPr>
        <p:spPr>
          <a:xfrm>
            <a:off x="755576" y="1124744"/>
            <a:ext cx="6408712" cy="4464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u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0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位通用寄存器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$0~$31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位单精度浮点寄存器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</a:t>
            </a:r>
            <a:r>
              <a:rPr kumimoji="0" lang="en-US" altLang="zh-CN" sz="2000" b="1" i="0" u="none" strike="noStrike" kern="1200" cap="none" spc="0" normalizeH="0" baseline="-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-f</a:t>
            </a:r>
            <a:r>
              <a:rPr kumimoji="0" lang="en-US" altLang="zh-CN" sz="2000" b="1" i="0" u="none" strike="noStrike" kern="1200" cap="none" spc="0" normalizeH="0" baseline="-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31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位乘、商寄存器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zh-CN" altLang="en-US" sz="2000" b="1" i="0" u="none" strike="noStrike" kern="1200" cap="none" spc="0" normalizeH="0" baseline="-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程序寄存器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PC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是单独的寄存器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无程序状态寄存器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RISC-V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也有类似的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个寄存器设置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433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34C0C5-ACF1-42C8-AE52-20B29A9DA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5945"/>
            <a:ext cx="7812360" cy="731837"/>
          </a:xfrm>
        </p:spPr>
        <p:txBody>
          <a:bodyPr/>
          <a:lstStyle/>
          <a:p>
            <a:r>
              <a:rPr lang="zh-CN" altLang="en-US" dirty="0"/>
              <a:t>各寄存器分配的用途</a:t>
            </a:r>
          </a:p>
        </p:txBody>
      </p:sp>
      <p:sp>
        <p:nvSpPr>
          <p:cNvPr id="4" name="Rectangle 2" descr="10%">
            <a:extLst>
              <a:ext uri="{FF2B5EF4-FFF2-40B4-BE49-F238E27FC236}">
                <a16:creationId xmlns:a16="http://schemas.microsoft.com/office/drawing/2014/main" id="{2B6CD261-3038-4D36-BA57-B3A10073D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5300" y="5474618"/>
            <a:ext cx="4197350" cy="355600"/>
          </a:xfrm>
          <a:prstGeom prst="rect">
            <a:avLst/>
          </a:prstGeom>
          <a:pattFill prst="pct10">
            <a:fgClr>
              <a:srgbClr val="FF0000"/>
            </a:fgClr>
            <a:bgClr>
              <a:srgbClr val="BAC8F1"/>
            </a:bgClr>
          </a:pattFill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5" name="Rectangle 3" descr="10%">
            <a:extLst>
              <a:ext uri="{FF2B5EF4-FFF2-40B4-BE49-F238E27FC236}">
                <a16:creationId xmlns:a16="http://schemas.microsoft.com/office/drawing/2014/main" id="{F6E53737-8276-48A4-9F99-80E7B88F8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50" y="1374105"/>
            <a:ext cx="4224337" cy="736600"/>
          </a:xfrm>
          <a:prstGeom prst="rect">
            <a:avLst/>
          </a:prstGeom>
          <a:pattFill prst="pct10">
            <a:fgClr>
              <a:srgbClr val="FF0000"/>
            </a:fgClr>
            <a:bgClr>
              <a:srgbClr val="BAC8F1"/>
            </a:bgClr>
          </a:pattFill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6" name="Rectangle 4" descr="10%">
            <a:extLst>
              <a:ext uri="{FF2B5EF4-FFF2-40B4-BE49-F238E27FC236}">
                <a16:creationId xmlns:a16="http://schemas.microsoft.com/office/drawing/2014/main" id="{E0B492FC-CB34-4FED-94E1-6DF6715C2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5300" y="3417218"/>
            <a:ext cx="4210050" cy="736600"/>
          </a:xfrm>
          <a:prstGeom prst="rect">
            <a:avLst/>
          </a:prstGeom>
          <a:pattFill prst="pct10">
            <a:fgClr>
              <a:srgbClr val="FF0000"/>
            </a:fgClr>
            <a:bgClr>
              <a:srgbClr val="BAC8F1"/>
            </a:bgClr>
          </a:pattFill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47D0F336-F3A0-4DD8-876F-0FA3876A6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4662" y="1340768"/>
            <a:ext cx="4292600" cy="45069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tabLst>
                <a:tab pos="457200" algn="l"/>
              </a:tabLst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tabLst>
                <a:tab pos="457200" algn="l"/>
              </a:tabLst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tabLst>
                <a:tab pos="4572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1" lang="zh-TW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16	</a:t>
            </a: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s0	callee saves</a:t>
            </a:r>
            <a:endParaRPr kumimoji="1" lang="en-US" altLang="zh-TW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. . . 		</a:t>
            </a: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(caller can clobber)</a:t>
            </a:r>
            <a:endParaRPr kumimoji="1" lang="en-US" altLang="zh-TW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23	</a:t>
            </a: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s7</a:t>
            </a:r>
            <a:endParaRPr kumimoji="1" lang="en-US" altLang="zh-TW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24	</a:t>
            </a: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t8	 temporary (cont’d)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25	</a:t>
            </a: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t9</a:t>
            </a:r>
            <a:endParaRPr kumimoji="1" lang="en-US" altLang="zh-TW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26	</a:t>
            </a: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k0</a:t>
            </a: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	reserved for OS kernel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27	</a:t>
            </a: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k1</a:t>
            </a:r>
            <a:endParaRPr kumimoji="1" lang="en-US" altLang="zh-TW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28	gp	pointer to global area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29	sp	stack pointer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30	fp	frame pointer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31	</a:t>
            </a: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ra</a:t>
            </a: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	return address (HW)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71E2C370-75DB-4212-8B0C-31720F0B0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50" y="3036218"/>
            <a:ext cx="4213225" cy="1498600"/>
          </a:xfrm>
          <a:prstGeom prst="rect">
            <a:avLst/>
          </a:prstGeom>
          <a:noFill/>
          <a:ln w="25400">
            <a:solidFill>
              <a:srgbClr val="8901F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en-US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D6C4066D-6EA8-43BC-A969-C9CFAB2FE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50" y="4636418"/>
            <a:ext cx="4197350" cy="1193800"/>
          </a:xfrm>
          <a:prstGeom prst="rect">
            <a:avLst/>
          </a:prstGeom>
          <a:noFill/>
          <a:ln w="25400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DBA2B9DA-5879-4564-BE71-8A2A56997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5300" y="1359818"/>
            <a:ext cx="4211637" cy="1117600"/>
          </a:xfrm>
          <a:prstGeom prst="rect">
            <a:avLst/>
          </a:prstGeom>
          <a:noFill/>
          <a:ln w="25400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en-US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FBEED515-DB63-4D1A-AAEF-78F78330D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5300" y="2579018"/>
            <a:ext cx="4200525" cy="736600"/>
          </a:xfrm>
          <a:prstGeom prst="rect">
            <a:avLst/>
          </a:prstGeom>
          <a:noFill/>
          <a:ln w="25400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C9F50EAE-7206-40A1-8970-EB88D6408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50" y="2198018"/>
            <a:ext cx="4211637" cy="736600"/>
          </a:xfrm>
          <a:prstGeom prst="rect">
            <a:avLst/>
          </a:prstGeom>
          <a:noFill/>
          <a:ln w="25400">
            <a:solidFill>
              <a:srgbClr val="00009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632A1B33-FFF6-402B-A57F-F6817FB66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5300" y="4255418"/>
            <a:ext cx="4186237" cy="1117600"/>
          </a:xfrm>
          <a:prstGeom prst="rect">
            <a:avLst/>
          </a:prstGeom>
          <a:noFill/>
          <a:ln w="25400">
            <a:solidFill>
              <a:srgbClr val="00009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ED94981C-3297-4960-B010-EE30343DB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340768"/>
            <a:ext cx="4292600" cy="4506912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tabLst>
                <a:tab pos="457200" algn="l"/>
              </a:tabLst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tabLst>
                <a:tab pos="457200" algn="l"/>
              </a:tabLst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tabLst>
                <a:tab pos="4572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1" lang="zh-TW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0	</a:t>
            </a: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zero</a:t>
            </a: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 constant 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1	</a:t>
            </a: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at</a:t>
            </a: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	reserved for assembler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2	v0	expression evaluation &amp;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3	v1	function results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4	</a:t>
            </a: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8901F3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a0</a:t>
            </a: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	</a:t>
            </a: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8901F3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arguments</a:t>
            </a:r>
            <a:endParaRPr kumimoji="1" lang="en-US" altLang="zh-TW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5	</a:t>
            </a: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8901F3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a1</a:t>
            </a:r>
            <a:endParaRPr kumimoji="1" lang="en-US" altLang="zh-TW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6	</a:t>
            </a: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8901F3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a2</a:t>
            </a:r>
            <a:endParaRPr kumimoji="1" lang="en-US" altLang="zh-TW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7	</a:t>
            </a: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8901F3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a3</a:t>
            </a: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	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8	</a:t>
            </a: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t0	temporary: caller saves</a:t>
            </a:r>
            <a:endParaRPr kumimoji="1" lang="en-US" altLang="zh-TW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. . .		</a:t>
            </a: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(callee can clobber)</a:t>
            </a:r>
            <a:endParaRPr kumimoji="1" lang="en-US" altLang="zh-TW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15</a:t>
            </a:r>
            <a:r>
              <a:rPr kumimoji="1" lang="en-US" altLang="zh-TW" sz="1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	t7</a:t>
            </a:r>
            <a:endParaRPr kumimoji="1" lang="en-US" altLang="zh-TW" sz="1800" b="1" i="0" u="none" strike="noStrike" kern="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10206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ED7C08-D9B0-4E55-B4C9-9EFDB993F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MIPS</a:t>
            </a:r>
            <a:r>
              <a:rPr lang="zh-CN" altLang="en-US" dirty="0"/>
              <a:t>寄存器举例：</a:t>
            </a:r>
            <a:r>
              <a:rPr lang="en-US" altLang="zh-CN" dirty="0"/>
              <a:t>R2000</a:t>
            </a:r>
            <a:r>
              <a:rPr lang="zh-CN" altLang="en-US" dirty="0"/>
              <a:t>寄存器组织</a:t>
            </a:r>
          </a:p>
        </p:txBody>
      </p:sp>
      <p:pic>
        <p:nvPicPr>
          <p:cNvPr id="4" name="Picture 1026" descr="F0A18">
            <a:extLst>
              <a:ext uri="{FF2B5EF4-FFF2-40B4-BE49-F238E27FC236}">
                <a16:creationId xmlns:a16="http://schemas.microsoft.com/office/drawing/2014/main" id="{89BA0165-7850-4C68-B2C1-4E86C88EB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836712"/>
            <a:ext cx="5160591" cy="5755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12245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id="{0D1E22CE-7166-4CDF-B730-E7B5FADE04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5.5 MIPS32</a:t>
            </a:r>
            <a:r>
              <a:rPr lang="zh-CN" altLang="en-US"/>
              <a:t>指令简介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456882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zh-CN" dirty="0"/>
              <a:t>5.5.1 MIPS</a:t>
            </a:r>
            <a:r>
              <a:rPr lang="zh-CN" altLang="en-US" dirty="0"/>
              <a:t>中的寄存器组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5.5.2 MIPS</a:t>
            </a:r>
            <a:r>
              <a:rPr lang="zh-CN" altLang="en-US" dirty="0"/>
              <a:t>的指令格式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5.5.3 MIPS</a:t>
            </a:r>
            <a:r>
              <a:rPr lang="zh-CN" altLang="en-US" dirty="0"/>
              <a:t>的寻址方式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7021F6-595D-4D1A-9BC5-67C38B3573D3}"/>
              </a:ext>
            </a:extLst>
          </p:cNvPr>
          <p:cNvSpPr/>
          <p:nvPr/>
        </p:nvSpPr>
        <p:spPr>
          <a:xfrm>
            <a:off x="827584" y="2564904"/>
            <a:ext cx="4264309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altLang="zh-CN" sz="3200" kern="0" dirty="0">
                <a:solidFill>
                  <a:srgbClr val="000000"/>
                </a:solidFill>
              </a:rPr>
              <a:t>5.5.2 MIPS</a:t>
            </a:r>
            <a:r>
              <a:rPr lang="zh-CN" altLang="en-US" sz="3200" kern="0" dirty="0">
                <a:solidFill>
                  <a:srgbClr val="000000"/>
                </a:solidFill>
              </a:rPr>
              <a:t>的指令格式</a:t>
            </a:r>
          </a:p>
        </p:txBody>
      </p:sp>
    </p:spTree>
    <p:extLst>
      <p:ext uri="{BB962C8B-B14F-4D97-AF65-F5344CB8AC3E}">
        <p14:creationId xmlns:p14="http://schemas.microsoft.com/office/powerpoint/2010/main" val="3925471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1A9F196-D818-4557-A959-A05A85157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5.5.2 MIPS</a:t>
            </a:r>
            <a:r>
              <a:rPr lang="zh-CN" altLang="en-US" dirty="0"/>
              <a:t>的指令格式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3C70A07-DEFF-4DFE-94CA-C4E806203B5D}"/>
              </a:ext>
            </a:extLst>
          </p:cNvPr>
          <p:cNvGrpSpPr/>
          <p:nvPr/>
        </p:nvGrpSpPr>
        <p:grpSpPr>
          <a:xfrm>
            <a:off x="-53231" y="1023365"/>
            <a:ext cx="8684452" cy="2805264"/>
            <a:chOff x="2196315" y="64279"/>
            <a:chExt cx="6767429" cy="2186025"/>
          </a:xfrm>
        </p:grpSpPr>
        <p:sp>
          <p:nvSpPr>
            <p:cNvPr id="7" name="矩形 7">
              <a:extLst>
                <a:ext uri="{FF2B5EF4-FFF2-40B4-BE49-F238E27FC236}">
                  <a16:creationId xmlns:a16="http://schemas.microsoft.com/office/drawing/2014/main" id="{E80BF31D-126F-4E6D-A3D7-BAC892E49C7F}"/>
                </a:ext>
              </a:extLst>
            </p:cNvPr>
            <p:cNvSpPr/>
            <p:nvPr/>
          </p:nvSpPr>
          <p:spPr>
            <a:xfrm>
              <a:off x="3209058" y="1821679"/>
              <a:ext cx="1036637" cy="428625"/>
            </a:xfrm>
            <a:prstGeom prst="rect">
              <a:avLst/>
            </a:prstGeom>
            <a:gradFill rotWithShape="1">
              <a:gsLst>
                <a:gs pos="0">
                  <a:srgbClr val="9BBB59">
                    <a:shade val="51000"/>
                    <a:satMod val="130000"/>
                  </a:srgbClr>
                </a:gs>
                <a:gs pos="80000">
                  <a:srgbClr val="9BBB59">
                    <a:shade val="93000"/>
                    <a:satMod val="130000"/>
                  </a:srgbClr>
                </a:gs>
                <a:gs pos="100000">
                  <a:srgbClr val="9BBB59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</a:rPr>
                <a:t>OP=0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</a:endParaRPr>
            </a:p>
          </p:txBody>
        </p:sp>
        <p:sp>
          <p:nvSpPr>
            <p:cNvPr id="8" name="矩形 24">
              <a:extLst>
                <a:ext uri="{FF2B5EF4-FFF2-40B4-BE49-F238E27FC236}">
                  <a16:creationId xmlns:a16="http://schemas.microsoft.com/office/drawing/2014/main" id="{E365E2EA-B2B8-4019-A0E5-87B5B1DBE85B}"/>
                </a:ext>
              </a:extLst>
            </p:cNvPr>
            <p:cNvSpPr/>
            <p:nvPr/>
          </p:nvSpPr>
          <p:spPr>
            <a:xfrm>
              <a:off x="4302844" y="1821679"/>
              <a:ext cx="857250" cy="428625"/>
            </a:xfrm>
            <a:prstGeom prst="rect">
              <a:avLst/>
            </a:prstGeom>
            <a:gradFill rotWithShape="1">
              <a:gsLst>
                <a:gs pos="0">
                  <a:srgbClr val="F79646">
                    <a:shade val="51000"/>
                    <a:satMod val="130000"/>
                  </a:srgbClr>
                </a:gs>
                <a:gs pos="80000">
                  <a:srgbClr val="F79646">
                    <a:shade val="93000"/>
                    <a:satMod val="130000"/>
                  </a:srgbClr>
                </a:gs>
                <a:gs pos="100000">
                  <a:srgbClr val="F79646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</a:rPr>
                <a:t>R</a:t>
              </a:r>
              <a:r>
                <a:rPr kumimoji="0" lang="en-US" altLang="zh-CN" sz="2400" b="0" i="0" u="none" strike="noStrike" kern="0" cap="none" spc="0" normalizeH="0" baseline="-25000" noProof="0" dirty="0" err="1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</a:rPr>
                <a:t>s</a:t>
              </a:r>
              <a:endParaRPr kumimoji="0" lang="zh-CN" altLang="en-US" sz="2400" b="0" i="0" u="none" strike="noStrike" kern="0" cap="none" spc="0" normalizeH="0" baseline="-2500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</a:endParaRPr>
            </a:p>
          </p:txBody>
        </p:sp>
        <p:sp>
          <p:nvSpPr>
            <p:cNvPr id="9" name="矩形 25">
              <a:extLst>
                <a:ext uri="{FF2B5EF4-FFF2-40B4-BE49-F238E27FC236}">
                  <a16:creationId xmlns:a16="http://schemas.microsoft.com/office/drawing/2014/main" id="{BE0449A0-4CC3-4567-9F9D-9E093E2B2246}"/>
                </a:ext>
              </a:extLst>
            </p:cNvPr>
            <p:cNvSpPr/>
            <p:nvPr/>
          </p:nvSpPr>
          <p:spPr>
            <a:xfrm>
              <a:off x="5217244" y="1821679"/>
              <a:ext cx="857250" cy="428625"/>
            </a:xfrm>
            <a:prstGeom prst="rect">
              <a:avLst/>
            </a:prstGeom>
            <a:gradFill rotWithShape="1">
              <a:gsLst>
                <a:gs pos="0">
                  <a:srgbClr val="F79646">
                    <a:shade val="51000"/>
                    <a:satMod val="130000"/>
                  </a:srgbClr>
                </a:gs>
                <a:gs pos="80000">
                  <a:srgbClr val="F79646">
                    <a:shade val="93000"/>
                    <a:satMod val="130000"/>
                  </a:srgbClr>
                </a:gs>
                <a:gs pos="100000">
                  <a:srgbClr val="F79646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</a:rPr>
                <a:t>R</a:t>
              </a:r>
              <a:r>
                <a:rPr kumimoji="0" lang="en-US" altLang="zh-CN" sz="2400" b="0" i="0" u="none" strike="noStrike" kern="0" cap="none" spc="0" normalizeH="0" baseline="-25000" noProof="0" dirty="0" err="1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</a:rPr>
                <a:t>t</a:t>
              </a:r>
              <a:endParaRPr kumimoji="0" lang="zh-CN" altLang="en-US" sz="2400" b="0" i="0" u="none" strike="noStrike" kern="0" cap="none" spc="0" normalizeH="0" baseline="-2500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</a:endParaRPr>
            </a:p>
          </p:txBody>
        </p:sp>
        <p:sp>
          <p:nvSpPr>
            <p:cNvPr id="10" name="矩形 26">
              <a:extLst>
                <a:ext uri="{FF2B5EF4-FFF2-40B4-BE49-F238E27FC236}">
                  <a16:creationId xmlns:a16="http://schemas.microsoft.com/office/drawing/2014/main" id="{9F1BDB2F-1B80-40DD-910D-466345C85E65}"/>
                </a:ext>
              </a:extLst>
            </p:cNvPr>
            <p:cNvSpPr/>
            <p:nvPr/>
          </p:nvSpPr>
          <p:spPr>
            <a:xfrm>
              <a:off x="7047632" y="1821679"/>
              <a:ext cx="857250" cy="428625"/>
            </a:xfrm>
            <a:prstGeom prst="rect">
              <a:avLst/>
            </a:prstGeom>
            <a:gradFill rotWithShape="1">
              <a:gsLst>
                <a:gs pos="0">
                  <a:srgbClr val="4BACC6">
                    <a:shade val="51000"/>
                    <a:satMod val="130000"/>
                  </a:srgbClr>
                </a:gs>
                <a:gs pos="80000">
                  <a:srgbClr val="4BACC6">
                    <a:shade val="93000"/>
                    <a:satMod val="130000"/>
                  </a:srgbClr>
                </a:gs>
                <a:gs pos="100000">
                  <a:srgbClr val="4BACC6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</a:rPr>
                <a:t>shamt</a:t>
              </a:r>
              <a:endParaRPr kumimoji="0" lang="zh-CN" altLang="en-US" sz="2400" b="0" i="0" u="none" strike="noStrike" kern="0" cap="none" spc="0" normalizeH="0" baseline="-2500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</a:endParaRPr>
            </a:p>
          </p:txBody>
        </p:sp>
        <p:sp>
          <p:nvSpPr>
            <p:cNvPr id="11" name="矩形 27">
              <a:extLst>
                <a:ext uri="{FF2B5EF4-FFF2-40B4-BE49-F238E27FC236}">
                  <a16:creationId xmlns:a16="http://schemas.microsoft.com/office/drawing/2014/main" id="{D1B3FF38-AA3A-4988-A953-2715345BC83C}"/>
                </a:ext>
              </a:extLst>
            </p:cNvPr>
            <p:cNvSpPr/>
            <p:nvPr/>
          </p:nvSpPr>
          <p:spPr>
            <a:xfrm>
              <a:off x="6133232" y="1821679"/>
              <a:ext cx="857250" cy="428625"/>
            </a:xfrm>
            <a:prstGeom prst="rect">
              <a:avLst/>
            </a:prstGeom>
            <a:gradFill rotWithShape="1">
              <a:gsLst>
                <a:gs pos="0">
                  <a:srgbClr val="F79646">
                    <a:shade val="51000"/>
                    <a:satMod val="130000"/>
                  </a:srgbClr>
                </a:gs>
                <a:gs pos="80000">
                  <a:srgbClr val="F79646">
                    <a:shade val="93000"/>
                    <a:satMod val="130000"/>
                  </a:srgbClr>
                </a:gs>
                <a:gs pos="100000">
                  <a:srgbClr val="F79646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ea typeface="宋体"/>
                </a:rPr>
                <a:t>R</a:t>
              </a:r>
              <a:r>
                <a:rPr kumimoji="0" lang="en-US" altLang="zh-CN" sz="24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ea typeface="宋体"/>
                </a:rPr>
                <a:t>d</a:t>
              </a:r>
              <a:endParaRPr kumimoji="0" lang="zh-CN" alt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宋体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BD2564-6FD6-45F6-B7C7-A3DEC2C2B009}"/>
                </a:ext>
              </a:extLst>
            </p:cNvPr>
            <p:cNvSpPr txBox="1"/>
            <p:nvPr/>
          </p:nvSpPr>
          <p:spPr>
            <a:xfrm>
              <a:off x="3326533" y="1451792"/>
              <a:ext cx="890587" cy="35975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华文细黑" pitchFamily="2" charset="-122"/>
                </a:rPr>
                <a:t>6bits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华文细黑" pitchFamily="2" charset="-122"/>
              </a:endParaRPr>
            </a:p>
          </p:txBody>
        </p:sp>
        <p:sp>
          <p:nvSpPr>
            <p:cNvPr id="13" name="矩形 26">
              <a:extLst>
                <a:ext uri="{FF2B5EF4-FFF2-40B4-BE49-F238E27FC236}">
                  <a16:creationId xmlns:a16="http://schemas.microsoft.com/office/drawing/2014/main" id="{E540D6B8-B808-48C9-BF62-68D582862021}"/>
                </a:ext>
              </a:extLst>
            </p:cNvPr>
            <p:cNvSpPr/>
            <p:nvPr/>
          </p:nvSpPr>
          <p:spPr>
            <a:xfrm>
              <a:off x="7962032" y="1821679"/>
              <a:ext cx="1001712" cy="428625"/>
            </a:xfrm>
            <a:prstGeom prst="rect">
              <a:avLst/>
            </a:prstGeom>
            <a:gradFill rotWithShape="1">
              <a:gsLst>
                <a:gs pos="0">
                  <a:srgbClr val="9BBB59">
                    <a:shade val="51000"/>
                    <a:satMod val="130000"/>
                  </a:srgbClr>
                </a:gs>
                <a:gs pos="80000">
                  <a:srgbClr val="9BBB59">
                    <a:shade val="93000"/>
                    <a:satMod val="130000"/>
                  </a:srgbClr>
                </a:gs>
                <a:gs pos="100000">
                  <a:srgbClr val="9BBB59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</a:rPr>
                <a:t>funct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6564900-E5DA-4A2C-ADD8-3DA396B11876}"/>
                </a:ext>
              </a:extLst>
            </p:cNvPr>
            <p:cNvSpPr txBox="1"/>
            <p:nvPr/>
          </p:nvSpPr>
          <p:spPr>
            <a:xfrm>
              <a:off x="4290144" y="1451792"/>
              <a:ext cx="890588" cy="35975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华文细黑" pitchFamily="2" charset="-122"/>
                </a:rPr>
                <a:t>5bits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华文细黑" pitchFamily="2" charset="-122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06AA69A-827D-4A43-A90D-FF5B23384FFA}"/>
                </a:ext>
              </a:extLst>
            </p:cNvPr>
            <p:cNvSpPr txBox="1"/>
            <p:nvPr/>
          </p:nvSpPr>
          <p:spPr>
            <a:xfrm>
              <a:off x="5153745" y="1451792"/>
              <a:ext cx="892175" cy="35975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华文细黑" pitchFamily="2" charset="-122"/>
                </a:rPr>
                <a:t>5bits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华文细黑" pitchFamily="2" charset="-122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6B50FD4-A18B-4037-8AE7-B15606523441}"/>
                </a:ext>
              </a:extLst>
            </p:cNvPr>
            <p:cNvSpPr txBox="1"/>
            <p:nvPr/>
          </p:nvSpPr>
          <p:spPr>
            <a:xfrm>
              <a:off x="6090369" y="1451792"/>
              <a:ext cx="890588" cy="35975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华文细黑" pitchFamily="2" charset="-122"/>
                </a:rPr>
                <a:t>5bits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华文细黑" pitchFamily="2" charset="-122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428A450-E7B1-4745-9940-17F9E761E075}"/>
                </a:ext>
              </a:extLst>
            </p:cNvPr>
            <p:cNvSpPr txBox="1"/>
            <p:nvPr/>
          </p:nvSpPr>
          <p:spPr>
            <a:xfrm>
              <a:off x="7025408" y="1451792"/>
              <a:ext cx="892175" cy="35975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华文细黑" pitchFamily="2" charset="-122"/>
                </a:rPr>
                <a:t>5bits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华文细黑" pitchFamily="2" charset="-122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161B491-123D-469D-8D6E-4EE906C43D68}"/>
                </a:ext>
              </a:extLst>
            </p:cNvPr>
            <p:cNvSpPr txBox="1"/>
            <p:nvPr/>
          </p:nvSpPr>
          <p:spPr>
            <a:xfrm>
              <a:off x="8033470" y="1451792"/>
              <a:ext cx="892175" cy="35975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华文细黑" pitchFamily="2" charset="-122"/>
                </a:rPr>
                <a:t>6bits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华文细黑" pitchFamily="2" charset="-122"/>
              </a:endParaRPr>
            </a:p>
          </p:txBody>
        </p:sp>
        <p:sp>
          <p:nvSpPr>
            <p:cNvPr id="19" name="矩形 7">
              <a:extLst>
                <a:ext uri="{FF2B5EF4-FFF2-40B4-BE49-F238E27FC236}">
                  <a16:creationId xmlns:a16="http://schemas.microsoft.com/office/drawing/2014/main" id="{C66FF8B7-1804-4001-9D09-0800F431D440}"/>
                </a:ext>
              </a:extLst>
            </p:cNvPr>
            <p:cNvSpPr/>
            <p:nvPr/>
          </p:nvSpPr>
          <p:spPr>
            <a:xfrm>
              <a:off x="2431976" y="64279"/>
              <a:ext cx="1295400" cy="428625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R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型指令</a:t>
              </a:r>
            </a:p>
          </p:txBody>
        </p:sp>
        <p:sp>
          <p:nvSpPr>
            <p:cNvPr id="20" name="TextBox 14">
              <a:extLst>
                <a:ext uri="{FF2B5EF4-FFF2-40B4-BE49-F238E27FC236}">
                  <a16:creationId xmlns:a16="http://schemas.microsoft.com/office/drawing/2014/main" id="{9BB188DC-7D69-4107-9A0B-20E951A92B8F}"/>
                </a:ext>
              </a:extLst>
            </p:cNvPr>
            <p:cNvSpPr txBox="1"/>
            <p:nvPr/>
          </p:nvSpPr>
          <p:spPr>
            <a:xfrm>
              <a:off x="2196315" y="1816226"/>
              <a:ext cx="892175" cy="35975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华文细黑" pitchFamily="2" charset="-122"/>
                </a:rPr>
                <a:t>32bits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华文细黑" pitchFamily="2" charset="-122"/>
              </a:endParaRPr>
            </a:p>
          </p:txBody>
        </p:sp>
      </p:grpSp>
      <p:sp>
        <p:nvSpPr>
          <p:cNvPr id="21" name="圆角矩形标注 27">
            <a:extLst>
              <a:ext uri="{FF2B5EF4-FFF2-40B4-BE49-F238E27FC236}">
                <a16:creationId xmlns:a16="http://schemas.microsoft.com/office/drawing/2014/main" id="{74F7DB75-93E1-452B-B516-8C633C0E964F}"/>
              </a:ext>
            </a:extLst>
          </p:cNvPr>
          <p:cNvSpPr/>
          <p:nvPr/>
        </p:nvSpPr>
        <p:spPr>
          <a:xfrm>
            <a:off x="519220" y="4571704"/>
            <a:ext cx="1270994" cy="474666"/>
          </a:xfrm>
          <a:prstGeom prst="wedgeRoundRectCallout">
            <a:avLst>
              <a:gd name="adj1" fmla="val 58347"/>
              <a:gd name="adj2" fmla="val -181767"/>
              <a:gd name="adj3" fmla="val 16667"/>
            </a:avLst>
          </a:prstGeom>
          <a:solidFill>
            <a:srgbClr val="9AC248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操作码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2" name="圆角矩形标注 29">
            <a:extLst>
              <a:ext uri="{FF2B5EF4-FFF2-40B4-BE49-F238E27FC236}">
                <a16:creationId xmlns:a16="http://schemas.microsoft.com/office/drawing/2014/main" id="{CEEBE98A-050B-485B-93E3-184EAE4D5E08}"/>
              </a:ext>
            </a:extLst>
          </p:cNvPr>
          <p:cNvSpPr/>
          <p:nvPr/>
        </p:nvSpPr>
        <p:spPr>
          <a:xfrm>
            <a:off x="2044562" y="2060848"/>
            <a:ext cx="1462232" cy="474666"/>
          </a:xfrm>
          <a:prstGeom prst="wedgeRoundRectCallout">
            <a:avLst>
              <a:gd name="adj1" fmla="val 31422"/>
              <a:gd name="adj2" fmla="val 123248"/>
              <a:gd name="adj3" fmla="val 16667"/>
            </a:avLst>
          </a:prstGeom>
          <a:solidFill>
            <a:srgbClr val="FA8C29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源寄存器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</a:p>
        </p:txBody>
      </p:sp>
      <p:sp>
        <p:nvSpPr>
          <p:cNvPr id="23" name="圆角矩形标注 30">
            <a:extLst>
              <a:ext uri="{FF2B5EF4-FFF2-40B4-BE49-F238E27FC236}">
                <a16:creationId xmlns:a16="http://schemas.microsoft.com/office/drawing/2014/main" id="{4C27F213-138C-43AC-9F48-0DB946CE1419}"/>
              </a:ext>
            </a:extLst>
          </p:cNvPr>
          <p:cNvSpPr/>
          <p:nvPr/>
        </p:nvSpPr>
        <p:spPr>
          <a:xfrm>
            <a:off x="3596724" y="4571704"/>
            <a:ext cx="1697393" cy="474666"/>
          </a:xfrm>
          <a:prstGeom prst="wedgeRoundRectCallout">
            <a:avLst>
              <a:gd name="adj1" fmla="val 301"/>
              <a:gd name="adj2" fmla="val -165713"/>
              <a:gd name="adj3" fmla="val 16667"/>
            </a:avLst>
          </a:prstGeom>
          <a:solidFill>
            <a:srgbClr val="FA8C29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源寄存器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</a:p>
        </p:txBody>
      </p:sp>
      <p:sp>
        <p:nvSpPr>
          <p:cNvPr id="24" name="圆角矩形标注 31">
            <a:extLst>
              <a:ext uri="{FF2B5EF4-FFF2-40B4-BE49-F238E27FC236}">
                <a16:creationId xmlns:a16="http://schemas.microsoft.com/office/drawing/2014/main" id="{75E10468-5E78-4549-85A3-FC80F81B9780}"/>
              </a:ext>
            </a:extLst>
          </p:cNvPr>
          <p:cNvSpPr/>
          <p:nvPr/>
        </p:nvSpPr>
        <p:spPr>
          <a:xfrm>
            <a:off x="4314405" y="2086181"/>
            <a:ext cx="1679967" cy="474666"/>
          </a:xfrm>
          <a:prstGeom prst="wedgeRoundRectCallout">
            <a:avLst>
              <a:gd name="adj1" fmla="val 23106"/>
              <a:gd name="adj2" fmla="val 117897"/>
              <a:gd name="adj3" fmla="val 16667"/>
            </a:avLst>
          </a:prstGeom>
          <a:solidFill>
            <a:srgbClr val="FA8C29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目的寄存器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5" name="圆角矩形标注 32">
            <a:extLst>
              <a:ext uri="{FF2B5EF4-FFF2-40B4-BE49-F238E27FC236}">
                <a16:creationId xmlns:a16="http://schemas.microsoft.com/office/drawing/2014/main" id="{548289BF-41E5-4F52-8845-9A0D787B21E6}"/>
              </a:ext>
            </a:extLst>
          </p:cNvPr>
          <p:cNvSpPr/>
          <p:nvPr/>
        </p:nvSpPr>
        <p:spPr>
          <a:xfrm>
            <a:off x="6879540" y="4400783"/>
            <a:ext cx="1879600" cy="474666"/>
          </a:xfrm>
          <a:prstGeom prst="wedgeRoundRectCallout">
            <a:avLst>
              <a:gd name="adj1" fmla="val -72680"/>
              <a:gd name="adj2" fmla="val -162164"/>
              <a:gd name="adj3" fmla="val 16667"/>
            </a:avLst>
          </a:prstGeom>
          <a:solidFill>
            <a:srgbClr val="35AFC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移位偏移量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6" name="圆角矩形标注 33">
            <a:extLst>
              <a:ext uri="{FF2B5EF4-FFF2-40B4-BE49-F238E27FC236}">
                <a16:creationId xmlns:a16="http://schemas.microsoft.com/office/drawing/2014/main" id="{3E4BB915-9DD5-4FAC-B7F0-52641AAED7A4}"/>
              </a:ext>
            </a:extLst>
          </p:cNvPr>
          <p:cNvSpPr/>
          <p:nvPr/>
        </p:nvSpPr>
        <p:spPr>
          <a:xfrm>
            <a:off x="6624087" y="2043178"/>
            <a:ext cx="2135053" cy="474666"/>
          </a:xfrm>
          <a:prstGeom prst="wedgeRoundRectCallout">
            <a:avLst>
              <a:gd name="adj1" fmla="val 6109"/>
              <a:gd name="adj2" fmla="val 112709"/>
              <a:gd name="adj3" fmla="val 16667"/>
            </a:avLst>
          </a:prstGeom>
          <a:solidFill>
            <a:srgbClr val="9AC248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扩展操作码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7" name="矩形 7">
            <a:extLst>
              <a:ext uri="{FF2B5EF4-FFF2-40B4-BE49-F238E27FC236}">
                <a16:creationId xmlns:a16="http://schemas.microsoft.com/office/drawing/2014/main" id="{FEB34627-2558-4790-93E1-B916A9FBE717}"/>
              </a:ext>
            </a:extLst>
          </p:cNvPr>
          <p:cNvSpPr/>
          <p:nvPr/>
        </p:nvSpPr>
        <p:spPr>
          <a:xfrm>
            <a:off x="980858" y="5945874"/>
            <a:ext cx="7118730" cy="55004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无寻址方式字段，隐藏在操作码字段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OP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中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0027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1A9F196-D818-4557-A959-A05A85157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5.5.2 MIPS</a:t>
            </a:r>
            <a:r>
              <a:rPr lang="zh-CN" altLang="en-US" dirty="0"/>
              <a:t>的指令格式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88B7BDB-FCB0-49C1-A304-C3044AAEB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82" y="609701"/>
            <a:ext cx="8712968" cy="5184576"/>
          </a:xfrm>
        </p:spPr>
        <p:txBody>
          <a:bodyPr/>
          <a:lstStyle/>
          <a:p>
            <a:r>
              <a:rPr lang="zh-CN" altLang="en-US" dirty="0"/>
              <a:t>三种指令格式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8D17D65-461B-4769-8509-B6583F129EC6}"/>
              </a:ext>
            </a:extLst>
          </p:cNvPr>
          <p:cNvGrpSpPr/>
          <p:nvPr/>
        </p:nvGrpSpPr>
        <p:grpSpPr>
          <a:xfrm>
            <a:off x="291335" y="1772816"/>
            <a:ext cx="8247062" cy="3822701"/>
            <a:chOff x="1992313" y="1622425"/>
            <a:chExt cx="7121526" cy="3822701"/>
          </a:xfrm>
        </p:grpSpPr>
        <p:sp>
          <p:nvSpPr>
            <p:cNvPr id="7" name="矩形 7">
              <a:extLst>
                <a:ext uri="{FF2B5EF4-FFF2-40B4-BE49-F238E27FC236}">
                  <a16:creationId xmlns:a16="http://schemas.microsoft.com/office/drawing/2014/main" id="{2AEC4CBD-AA17-4872-A55D-9CB107C0DAD8}"/>
                </a:ext>
              </a:extLst>
            </p:cNvPr>
            <p:cNvSpPr/>
            <p:nvPr/>
          </p:nvSpPr>
          <p:spPr>
            <a:xfrm>
              <a:off x="3359150" y="1992314"/>
              <a:ext cx="1036638" cy="428625"/>
            </a:xfrm>
            <a:prstGeom prst="rect">
              <a:avLst/>
            </a:prstGeom>
            <a:gradFill rotWithShape="1">
              <a:gsLst>
                <a:gs pos="0">
                  <a:srgbClr val="9BBB59">
                    <a:shade val="51000"/>
                    <a:satMod val="130000"/>
                  </a:srgbClr>
                </a:gs>
                <a:gs pos="80000">
                  <a:srgbClr val="9BBB59">
                    <a:shade val="93000"/>
                    <a:satMod val="130000"/>
                  </a:srgbClr>
                </a:gs>
                <a:gs pos="100000">
                  <a:srgbClr val="9BBB59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</a:rPr>
                <a:t>000000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</a:endParaRPr>
            </a:p>
          </p:txBody>
        </p:sp>
        <p:sp>
          <p:nvSpPr>
            <p:cNvPr id="8" name="矩形 24">
              <a:extLst>
                <a:ext uri="{FF2B5EF4-FFF2-40B4-BE49-F238E27FC236}">
                  <a16:creationId xmlns:a16="http://schemas.microsoft.com/office/drawing/2014/main" id="{6530035E-D994-4919-A77C-02F010434237}"/>
                </a:ext>
              </a:extLst>
            </p:cNvPr>
            <p:cNvSpPr/>
            <p:nvPr/>
          </p:nvSpPr>
          <p:spPr>
            <a:xfrm>
              <a:off x="4452938" y="1992314"/>
              <a:ext cx="857250" cy="428625"/>
            </a:xfrm>
            <a:prstGeom prst="rect">
              <a:avLst/>
            </a:prstGeom>
            <a:gradFill rotWithShape="1">
              <a:gsLst>
                <a:gs pos="0">
                  <a:srgbClr val="F79646">
                    <a:shade val="51000"/>
                    <a:satMod val="130000"/>
                  </a:srgbClr>
                </a:gs>
                <a:gs pos="80000">
                  <a:srgbClr val="F79646">
                    <a:shade val="93000"/>
                    <a:satMod val="130000"/>
                  </a:srgbClr>
                </a:gs>
                <a:gs pos="100000">
                  <a:srgbClr val="F79646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</a:rPr>
                <a:t>R</a:t>
              </a:r>
              <a:r>
                <a:rPr kumimoji="0" lang="en-US" altLang="zh-CN" sz="2000" b="0" i="0" u="none" strike="noStrike" kern="0" cap="none" spc="0" normalizeH="0" baseline="-25000" noProof="0" dirty="0" err="1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</a:rPr>
                <a:t>s</a:t>
              </a:r>
              <a:endParaRPr kumimoji="0" lang="zh-CN" altLang="en-US" sz="2000" b="0" i="0" u="none" strike="noStrike" kern="0" cap="none" spc="0" normalizeH="0" baseline="-2500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</a:endParaRPr>
            </a:p>
          </p:txBody>
        </p:sp>
        <p:sp>
          <p:nvSpPr>
            <p:cNvPr id="9" name="矩形 25">
              <a:extLst>
                <a:ext uri="{FF2B5EF4-FFF2-40B4-BE49-F238E27FC236}">
                  <a16:creationId xmlns:a16="http://schemas.microsoft.com/office/drawing/2014/main" id="{5A1FE71D-EA98-4471-9043-76DD6DC0881E}"/>
                </a:ext>
              </a:extLst>
            </p:cNvPr>
            <p:cNvSpPr/>
            <p:nvPr/>
          </p:nvSpPr>
          <p:spPr>
            <a:xfrm>
              <a:off x="5367338" y="1992314"/>
              <a:ext cx="857250" cy="428625"/>
            </a:xfrm>
            <a:prstGeom prst="rect">
              <a:avLst/>
            </a:prstGeom>
            <a:gradFill rotWithShape="1">
              <a:gsLst>
                <a:gs pos="0">
                  <a:srgbClr val="F79646">
                    <a:shade val="51000"/>
                    <a:satMod val="130000"/>
                  </a:srgbClr>
                </a:gs>
                <a:gs pos="80000">
                  <a:srgbClr val="F79646">
                    <a:shade val="93000"/>
                    <a:satMod val="130000"/>
                  </a:srgbClr>
                </a:gs>
                <a:gs pos="100000">
                  <a:srgbClr val="F79646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</a:rPr>
                <a:t>R</a:t>
              </a:r>
              <a:r>
                <a:rPr kumimoji="0" lang="en-US" altLang="zh-CN" sz="2000" b="0" i="0" u="none" strike="noStrike" kern="0" cap="none" spc="0" normalizeH="0" baseline="-25000" noProof="0" dirty="0" err="1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</a:rPr>
                <a:t>t</a:t>
              </a:r>
              <a:endParaRPr kumimoji="0" lang="zh-CN" altLang="en-US" sz="2000" b="0" i="0" u="none" strike="noStrike" kern="0" cap="none" spc="0" normalizeH="0" baseline="-2500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</a:endParaRPr>
            </a:p>
          </p:txBody>
        </p:sp>
        <p:sp>
          <p:nvSpPr>
            <p:cNvPr id="10" name="矩形 26">
              <a:extLst>
                <a:ext uri="{FF2B5EF4-FFF2-40B4-BE49-F238E27FC236}">
                  <a16:creationId xmlns:a16="http://schemas.microsoft.com/office/drawing/2014/main" id="{76A06705-7E3B-4264-B616-8062FD315462}"/>
                </a:ext>
              </a:extLst>
            </p:cNvPr>
            <p:cNvSpPr/>
            <p:nvPr/>
          </p:nvSpPr>
          <p:spPr>
            <a:xfrm>
              <a:off x="7197725" y="1992314"/>
              <a:ext cx="857250" cy="428625"/>
            </a:xfrm>
            <a:prstGeom prst="rect">
              <a:avLst/>
            </a:prstGeom>
            <a:gradFill rotWithShape="1">
              <a:gsLst>
                <a:gs pos="0">
                  <a:srgbClr val="4BACC6">
                    <a:shade val="51000"/>
                    <a:satMod val="130000"/>
                  </a:srgbClr>
                </a:gs>
                <a:gs pos="80000">
                  <a:srgbClr val="4BACC6">
                    <a:shade val="93000"/>
                    <a:satMod val="130000"/>
                  </a:srgbClr>
                </a:gs>
                <a:gs pos="100000">
                  <a:srgbClr val="4BACC6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</a:rPr>
                <a:t>shamt</a:t>
              </a:r>
              <a:endParaRPr kumimoji="0" lang="zh-CN" altLang="en-US" sz="2000" b="0" i="0" u="none" strike="noStrike" kern="0" cap="none" spc="0" normalizeH="0" baseline="-2500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</a:endParaRPr>
            </a:p>
          </p:txBody>
        </p:sp>
        <p:sp>
          <p:nvSpPr>
            <p:cNvPr id="11" name="矩形 27">
              <a:extLst>
                <a:ext uri="{FF2B5EF4-FFF2-40B4-BE49-F238E27FC236}">
                  <a16:creationId xmlns:a16="http://schemas.microsoft.com/office/drawing/2014/main" id="{CD811FF3-6CEC-4B32-BB6B-C420826D7B95}"/>
                </a:ext>
              </a:extLst>
            </p:cNvPr>
            <p:cNvSpPr/>
            <p:nvPr/>
          </p:nvSpPr>
          <p:spPr>
            <a:xfrm>
              <a:off x="6281738" y="1992314"/>
              <a:ext cx="857250" cy="428625"/>
            </a:xfrm>
            <a:prstGeom prst="rect">
              <a:avLst/>
            </a:prstGeom>
            <a:gradFill rotWithShape="1">
              <a:gsLst>
                <a:gs pos="0">
                  <a:srgbClr val="F79646">
                    <a:shade val="51000"/>
                    <a:satMod val="130000"/>
                  </a:srgbClr>
                </a:gs>
                <a:gs pos="80000">
                  <a:srgbClr val="F79646">
                    <a:shade val="93000"/>
                    <a:satMod val="130000"/>
                  </a:srgbClr>
                </a:gs>
                <a:gs pos="100000">
                  <a:srgbClr val="F79646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ea typeface="宋体"/>
                </a:rPr>
                <a:t>R</a:t>
              </a:r>
              <a:r>
                <a:rPr kumimoji="0" lang="en-US" altLang="zh-CN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ea typeface="宋体"/>
                </a:rPr>
                <a:t>d</a:t>
              </a:r>
              <a:endParaRPr kumimoji="0" lang="zh-CN" alt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宋体"/>
              </a:endParaRPr>
            </a:p>
          </p:txBody>
        </p:sp>
        <p:sp>
          <p:nvSpPr>
            <p:cNvPr id="12" name="TextBox 17">
              <a:extLst>
                <a:ext uri="{FF2B5EF4-FFF2-40B4-BE49-F238E27FC236}">
                  <a16:creationId xmlns:a16="http://schemas.microsoft.com/office/drawing/2014/main" id="{92136B28-5336-4C10-BF46-15E1ADE39E46}"/>
                </a:ext>
              </a:extLst>
            </p:cNvPr>
            <p:cNvSpPr txBox="1"/>
            <p:nvPr/>
          </p:nvSpPr>
          <p:spPr>
            <a:xfrm>
              <a:off x="3476625" y="1622425"/>
              <a:ext cx="890588" cy="40011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华文细黑" pitchFamily="2" charset="-122"/>
                </a:rPr>
                <a:t>6bits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华文细黑" pitchFamily="2" charset="-122"/>
              </a:endParaRPr>
            </a:p>
          </p:txBody>
        </p:sp>
        <p:sp>
          <p:nvSpPr>
            <p:cNvPr id="13" name="矩形 26">
              <a:extLst>
                <a:ext uri="{FF2B5EF4-FFF2-40B4-BE49-F238E27FC236}">
                  <a16:creationId xmlns:a16="http://schemas.microsoft.com/office/drawing/2014/main" id="{9BAAC8C9-7B05-4343-BEB5-5CAD947FD046}"/>
                </a:ext>
              </a:extLst>
            </p:cNvPr>
            <p:cNvSpPr/>
            <p:nvPr/>
          </p:nvSpPr>
          <p:spPr>
            <a:xfrm>
              <a:off x="8112126" y="1992314"/>
              <a:ext cx="1001713" cy="428625"/>
            </a:xfrm>
            <a:prstGeom prst="rect">
              <a:avLst/>
            </a:prstGeom>
            <a:gradFill rotWithShape="1">
              <a:gsLst>
                <a:gs pos="0">
                  <a:srgbClr val="9BBB59">
                    <a:shade val="51000"/>
                    <a:satMod val="130000"/>
                  </a:srgbClr>
                </a:gs>
                <a:gs pos="80000">
                  <a:srgbClr val="9BBB59">
                    <a:shade val="93000"/>
                    <a:satMod val="130000"/>
                  </a:srgbClr>
                </a:gs>
                <a:gs pos="100000">
                  <a:srgbClr val="9BBB59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</a:rPr>
                <a:t>funct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</a:endParaRPr>
            </a:p>
          </p:txBody>
        </p:sp>
        <p:sp>
          <p:nvSpPr>
            <p:cNvPr id="14" name="TextBox 22">
              <a:extLst>
                <a:ext uri="{FF2B5EF4-FFF2-40B4-BE49-F238E27FC236}">
                  <a16:creationId xmlns:a16="http://schemas.microsoft.com/office/drawing/2014/main" id="{4C599589-AB11-41B3-BC3E-8B88044D56D8}"/>
                </a:ext>
              </a:extLst>
            </p:cNvPr>
            <p:cNvSpPr txBox="1"/>
            <p:nvPr/>
          </p:nvSpPr>
          <p:spPr>
            <a:xfrm>
              <a:off x="4440239" y="1622425"/>
              <a:ext cx="890587" cy="40011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华文细黑" pitchFamily="2" charset="-122"/>
                </a:rPr>
                <a:t>5bits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华文细黑" pitchFamily="2" charset="-122"/>
              </a:endParaRPr>
            </a:p>
          </p:txBody>
        </p:sp>
        <p:sp>
          <p:nvSpPr>
            <p:cNvPr id="15" name="TextBox 23">
              <a:extLst>
                <a:ext uri="{FF2B5EF4-FFF2-40B4-BE49-F238E27FC236}">
                  <a16:creationId xmlns:a16="http://schemas.microsoft.com/office/drawing/2014/main" id="{23D534F4-D5D6-47F0-A418-069ED67F5C62}"/>
                </a:ext>
              </a:extLst>
            </p:cNvPr>
            <p:cNvSpPr txBox="1"/>
            <p:nvPr/>
          </p:nvSpPr>
          <p:spPr>
            <a:xfrm>
              <a:off x="5303839" y="1622425"/>
              <a:ext cx="892175" cy="40011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华文细黑" pitchFamily="2" charset="-122"/>
                </a:rPr>
                <a:t>5bits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华文细黑" pitchFamily="2" charset="-122"/>
              </a:endParaRPr>
            </a:p>
          </p:txBody>
        </p:sp>
        <p:sp>
          <p:nvSpPr>
            <p:cNvPr id="16" name="TextBox 24">
              <a:extLst>
                <a:ext uri="{FF2B5EF4-FFF2-40B4-BE49-F238E27FC236}">
                  <a16:creationId xmlns:a16="http://schemas.microsoft.com/office/drawing/2014/main" id="{BFD2A93B-B1E0-46EF-BBDC-BC621360AACA}"/>
                </a:ext>
              </a:extLst>
            </p:cNvPr>
            <p:cNvSpPr txBox="1"/>
            <p:nvPr/>
          </p:nvSpPr>
          <p:spPr>
            <a:xfrm>
              <a:off x="6240464" y="1622425"/>
              <a:ext cx="890587" cy="40011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华文细黑" pitchFamily="2" charset="-122"/>
                </a:rPr>
                <a:t>5bits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华文细黑" pitchFamily="2" charset="-122"/>
              </a:endParaRPr>
            </a:p>
          </p:txBody>
        </p:sp>
        <p:sp>
          <p:nvSpPr>
            <p:cNvPr id="17" name="TextBox 25">
              <a:extLst>
                <a:ext uri="{FF2B5EF4-FFF2-40B4-BE49-F238E27FC236}">
                  <a16:creationId xmlns:a16="http://schemas.microsoft.com/office/drawing/2014/main" id="{14EC520F-FB49-4624-A13A-D0AD88281724}"/>
                </a:ext>
              </a:extLst>
            </p:cNvPr>
            <p:cNvSpPr txBox="1"/>
            <p:nvPr/>
          </p:nvSpPr>
          <p:spPr>
            <a:xfrm>
              <a:off x="7175501" y="1622425"/>
              <a:ext cx="892175" cy="40011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华文细黑" pitchFamily="2" charset="-122"/>
                </a:rPr>
                <a:t>5bits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华文细黑" pitchFamily="2" charset="-122"/>
              </a:endParaRPr>
            </a:p>
          </p:txBody>
        </p:sp>
        <p:sp>
          <p:nvSpPr>
            <p:cNvPr id="18" name="TextBox 26">
              <a:extLst>
                <a:ext uri="{FF2B5EF4-FFF2-40B4-BE49-F238E27FC236}">
                  <a16:creationId xmlns:a16="http://schemas.microsoft.com/office/drawing/2014/main" id="{C4804F07-A0F3-49D8-BA2F-C862FC726E80}"/>
                </a:ext>
              </a:extLst>
            </p:cNvPr>
            <p:cNvSpPr txBox="1"/>
            <p:nvPr/>
          </p:nvSpPr>
          <p:spPr>
            <a:xfrm>
              <a:off x="8183564" y="1622425"/>
              <a:ext cx="892175" cy="40011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华文细黑" pitchFamily="2" charset="-122"/>
                </a:rPr>
                <a:t>6bits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华文细黑" pitchFamily="2" charset="-122"/>
              </a:endParaRPr>
            </a:p>
          </p:txBody>
        </p:sp>
        <p:sp>
          <p:nvSpPr>
            <p:cNvPr id="19" name="矩形 7">
              <a:extLst>
                <a:ext uri="{FF2B5EF4-FFF2-40B4-BE49-F238E27FC236}">
                  <a16:creationId xmlns:a16="http://schemas.microsoft.com/office/drawing/2014/main" id="{2A63A940-4342-49C8-8186-219C43EE5831}"/>
                </a:ext>
              </a:extLst>
            </p:cNvPr>
            <p:cNvSpPr/>
            <p:nvPr/>
          </p:nvSpPr>
          <p:spPr>
            <a:xfrm>
              <a:off x="3359150" y="3495676"/>
              <a:ext cx="1036638" cy="428625"/>
            </a:xfrm>
            <a:prstGeom prst="rect">
              <a:avLst/>
            </a:prstGeom>
            <a:gradFill rotWithShape="1">
              <a:gsLst>
                <a:gs pos="0">
                  <a:srgbClr val="9BBB59">
                    <a:shade val="51000"/>
                    <a:satMod val="130000"/>
                  </a:srgbClr>
                </a:gs>
                <a:gs pos="80000">
                  <a:srgbClr val="9BBB59">
                    <a:shade val="93000"/>
                    <a:satMod val="130000"/>
                  </a:srgbClr>
                </a:gs>
                <a:gs pos="100000">
                  <a:srgbClr val="9BBB59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</a:rPr>
                <a:t>OP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</a:endParaRPr>
            </a:p>
          </p:txBody>
        </p:sp>
        <p:sp>
          <p:nvSpPr>
            <p:cNvPr id="20" name="矩形 24">
              <a:extLst>
                <a:ext uri="{FF2B5EF4-FFF2-40B4-BE49-F238E27FC236}">
                  <a16:creationId xmlns:a16="http://schemas.microsoft.com/office/drawing/2014/main" id="{2070D0AE-CAF9-4034-9246-3CCA06FEC071}"/>
                </a:ext>
              </a:extLst>
            </p:cNvPr>
            <p:cNvSpPr/>
            <p:nvPr/>
          </p:nvSpPr>
          <p:spPr>
            <a:xfrm>
              <a:off x="4452938" y="3495676"/>
              <a:ext cx="857250" cy="428625"/>
            </a:xfrm>
            <a:prstGeom prst="rect">
              <a:avLst/>
            </a:prstGeom>
            <a:gradFill rotWithShape="1">
              <a:gsLst>
                <a:gs pos="0">
                  <a:srgbClr val="F79646">
                    <a:shade val="51000"/>
                    <a:satMod val="130000"/>
                  </a:srgbClr>
                </a:gs>
                <a:gs pos="80000">
                  <a:srgbClr val="F79646">
                    <a:shade val="93000"/>
                    <a:satMod val="130000"/>
                  </a:srgbClr>
                </a:gs>
                <a:gs pos="100000">
                  <a:srgbClr val="F79646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</a:rPr>
                <a:t>R</a:t>
              </a:r>
              <a:r>
                <a:rPr kumimoji="0" lang="en-US" altLang="zh-CN" sz="2000" b="0" i="0" u="none" strike="noStrike" kern="0" cap="none" spc="0" normalizeH="0" baseline="-25000" noProof="0" dirty="0" err="1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</a:rPr>
                <a:t>s</a:t>
              </a:r>
              <a:endParaRPr kumimoji="0" lang="zh-CN" altLang="en-US" sz="2000" b="0" i="0" u="none" strike="noStrike" kern="0" cap="none" spc="0" normalizeH="0" baseline="-2500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</a:endParaRPr>
            </a:p>
          </p:txBody>
        </p:sp>
        <p:sp>
          <p:nvSpPr>
            <p:cNvPr id="21" name="矩形 25">
              <a:extLst>
                <a:ext uri="{FF2B5EF4-FFF2-40B4-BE49-F238E27FC236}">
                  <a16:creationId xmlns:a16="http://schemas.microsoft.com/office/drawing/2014/main" id="{B97571EE-0B26-4286-9CB9-C7B0CAF1E328}"/>
                </a:ext>
              </a:extLst>
            </p:cNvPr>
            <p:cNvSpPr/>
            <p:nvPr/>
          </p:nvSpPr>
          <p:spPr>
            <a:xfrm>
              <a:off x="5367338" y="3495676"/>
              <a:ext cx="857250" cy="428625"/>
            </a:xfrm>
            <a:prstGeom prst="rect">
              <a:avLst/>
            </a:prstGeom>
            <a:gradFill rotWithShape="1">
              <a:gsLst>
                <a:gs pos="0">
                  <a:srgbClr val="F79646">
                    <a:shade val="51000"/>
                    <a:satMod val="130000"/>
                  </a:srgbClr>
                </a:gs>
                <a:gs pos="80000">
                  <a:srgbClr val="F79646">
                    <a:shade val="93000"/>
                    <a:satMod val="130000"/>
                  </a:srgbClr>
                </a:gs>
                <a:gs pos="100000">
                  <a:srgbClr val="F79646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ea typeface="宋体"/>
                </a:rPr>
                <a:t>R</a:t>
              </a:r>
              <a:r>
                <a:rPr kumimoji="0" lang="en-US" altLang="zh-CN" sz="2000" b="0" i="0" u="none" strike="noStrike" kern="0" cap="none" spc="0" normalizeH="0" baseline="-2500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ea typeface="宋体"/>
                </a:rPr>
                <a:t>t</a:t>
              </a:r>
              <a:endParaRPr kumimoji="0" lang="zh-CN" alt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宋体"/>
              </a:endParaRPr>
            </a:p>
          </p:txBody>
        </p:sp>
        <p:sp>
          <p:nvSpPr>
            <p:cNvPr id="22" name="TextBox 32">
              <a:extLst>
                <a:ext uri="{FF2B5EF4-FFF2-40B4-BE49-F238E27FC236}">
                  <a16:creationId xmlns:a16="http://schemas.microsoft.com/office/drawing/2014/main" id="{07EA40EB-631D-49DE-B0BE-9DA541E25D05}"/>
                </a:ext>
              </a:extLst>
            </p:cNvPr>
            <p:cNvSpPr txBox="1"/>
            <p:nvPr/>
          </p:nvSpPr>
          <p:spPr>
            <a:xfrm>
              <a:off x="3476625" y="3125789"/>
              <a:ext cx="890588" cy="40011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华文细黑" pitchFamily="2" charset="-122"/>
                </a:rPr>
                <a:t>6bits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华文细黑" pitchFamily="2" charset="-122"/>
              </a:endParaRPr>
            </a:p>
          </p:txBody>
        </p:sp>
        <p:sp>
          <p:nvSpPr>
            <p:cNvPr id="23" name="矩形 26">
              <a:extLst>
                <a:ext uri="{FF2B5EF4-FFF2-40B4-BE49-F238E27FC236}">
                  <a16:creationId xmlns:a16="http://schemas.microsoft.com/office/drawing/2014/main" id="{520A153E-DA74-4AA4-8920-92FA82A275EE}"/>
                </a:ext>
              </a:extLst>
            </p:cNvPr>
            <p:cNvSpPr/>
            <p:nvPr/>
          </p:nvSpPr>
          <p:spPr>
            <a:xfrm>
              <a:off x="6281738" y="3495676"/>
              <a:ext cx="2832100" cy="428625"/>
            </a:xfrm>
            <a:prstGeom prst="rect">
              <a:avLst/>
            </a:prstGeom>
            <a:gradFill rotWithShape="1">
              <a:gsLst>
                <a:gs pos="0">
                  <a:srgbClr val="4BACC6">
                    <a:shade val="51000"/>
                    <a:satMod val="130000"/>
                  </a:srgbClr>
                </a:gs>
                <a:gs pos="80000">
                  <a:srgbClr val="4BACC6">
                    <a:shade val="93000"/>
                    <a:satMod val="130000"/>
                  </a:srgbClr>
                </a:gs>
                <a:gs pos="100000">
                  <a:srgbClr val="4BACC6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/>
                  <a:ea typeface="微软雅黑"/>
                </a:rPr>
                <a:t>立即数</a:t>
              </a:r>
            </a:p>
          </p:txBody>
        </p:sp>
        <p:sp>
          <p:nvSpPr>
            <p:cNvPr id="24" name="TextBox 34">
              <a:extLst>
                <a:ext uri="{FF2B5EF4-FFF2-40B4-BE49-F238E27FC236}">
                  <a16:creationId xmlns:a16="http://schemas.microsoft.com/office/drawing/2014/main" id="{DB2A2801-CBFC-4466-9E93-C14260791F26}"/>
                </a:ext>
              </a:extLst>
            </p:cNvPr>
            <p:cNvSpPr txBox="1"/>
            <p:nvPr/>
          </p:nvSpPr>
          <p:spPr>
            <a:xfrm>
              <a:off x="4440239" y="3125789"/>
              <a:ext cx="890587" cy="40011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华文细黑" pitchFamily="2" charset="-122"/>
                </a:rPr>
                <a:t>5bits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华文细黑" pitchFamily="2" charset="-122"/>
              </a:endParaRPr>
            </a:p>
          </p:txBody>
        </p:sp>
        <p:sp>
          <p:nvSpPr>
            <p:cNvPr id="25" name="TextBox 35">
              <a:extLst>
                <a:ext uri="{FF2B5EF4-FFF2-40B4-BE49-F238E27FC236}">
                  <a16:creationId xmlns:a16="http://schemas.microsoft.com/office/drawing/2014/main" id="{31742829-EB48-4B98-B5B7-DE9E407A76CA}"/>
                </a:ext>
              </a:extLst>
            </p:cNvPr>
            <p:cNvSpPr txBox="1"/>
            <p:nvPr/>
          </p:nvSpPr>
          <p:spPr>
            <a:xfrm>
              <a:off x="5303839" y="3125789"/>
              <a:ext cx="892175" cy="40011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华文细黑" pitchFamily="2" charset="-122"/>
                </a:rPr>
                <a:t>5bits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华文细黑" pitchFamily="2" charset="-122"/>
              </a:endParaRPr>
            </a:p>
          </p:txBody>
        </p:sp>
        <p:sp>
          <p:nvSpPr>
            <p:cNvPr id="26" name="TextBox 37">
              <a:extLst>
                <a:ext uri="{FF2B5EF4-FFF2-40B4-BE49-F238E27FC236}">
                  <a16:creationId xmlns:a16="http://schemas.microsoft.com/office/drawing/2014/main" id="{5FBAFC68-8419-4FA6-AE16-EA37362E6951}"/>
                </a:ext>
              </a:extLst>
            </p:cNvPr>
            <p:cNvSpPr txBox="1"/>
            <p:nvPr/>
          </p:nvSpPr>
          <p:spPr>
            <a:xfrm>
              <a:off x="7175501" y="3125789"/>
              <a:ext cx="892175" cy="40011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华文细黑" pitchFamily="2" charset="-122"/>
                </a:rPr>
                <a:t>16bits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华文细黑" pitchFamily="2" charset="-122"/>
              </a:endParaRPr>
            </a:p>
          </p:txBody>
        </p:sp>
        <p:sp>
          <p:nvSpPr>
            <p:cNvPr id="27" name="矩形 7">
              <a:extLst>
                <a:ext uri="{FF2B5EF4-FFF2-40B4-BE49-F238E27FC236}">
                  <a16:creationId xmlns:a16="http://schemas.microsoft.com/office/drawing/2014/main" id="{4D60ACB2-6BD2-47D8-9704-F68E2DA09C38}"/>
                </a:ext>
              </a:extLst>
            </p:cNvPr>
            <p:cNvSpPr/>
            <p:nvPr/>
          </p:nvSpPr>
          <p:spPr>
            <a:xfrm>
              <a:off x="3359150" y="5016501"/>
              <a:ext cx="1036638" cy="428625"/>
            </a:xfrm>
            <a:prstGeom prst="rect">
              <a:avLst/>
            </a:prstGeom>
            <a:gradFill rotWithShape="1">
              <a:gsLst>
                <a:gs pos="0">
                  <a:srgbClr val="9BBB59">
                    <a:shade val="51000"/>
                    <a:satMod val="130000"/>
                  </a:srgbClr>
                </a:gs>
                <a:gs pos="80000">
                  <a:srgbClr val="9BBB59">
                    <a:shade val="93000"/>
                    <a:satMod val="130000"/>
                  </a:srgbClr>
                </a:gs>
                <a:gs pos="100000">
                  <a:srgbClr val="9BBB59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</a:rPr>
                <a:t>OP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</a:endParaRPr>
            </a:p>
          </p:txBody>
        </p:sp>
        <p:sp>
          <p:nvSpPr>
            <p:cNvPr id="28" name="TextBox 42">
              <a:extLst>
                <a:ext uri="{FF2B5EF4-FFF2-40B4-BE49-F238E27FC236}">
                  <a16:creationId xmlns:a16="http://schemas.microsoft.com/office/drawing/2014/main" id="{86BB5CB0-2BB7-43E0-942B-42F6D7FAAAE8}"/>
                </a:ext>
              </a:extLst>
            </p:cNvPr>
            <p:cNvSpPr txBox="1"/>
            <p:nvPr/>
          </p:nvSpPr>
          <p:spPr>
            <a:xfrm>
              <a:off x="3476625" y="4646614"/>
              <a:ext cx="890588" cy="40011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华文细黑" pitchFamily="2" charset="-122"/>
                </a:rPr>
                <a:t>6bits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华文细黑" pitchFamily="2" charset="-122"/>
              </a:endParaRPr>
            </a:p>
          </p:txBody>
        </p:sp>
        <p:sp>
          <p:nvSpPr>
            <p:cNvPr id="29" name="矩形 26">
              <a:extLst>
                <a:ext uri="{FF2B5EF4-FFF2-40B4-BE49-F238E27FC236}">
                  <a16:creationId xmlns:a16="http://schemas.microsoft.com/office/drawing/2014/main" id="{1D961619-62E0-4145-BCF8-909C95759398}"/>
                </a:ext>
              </a:extLst>
            </p:cNvPr>
            <p:cNvSpPr/>
            <p:nvPr/>
          </p:nvSpPr>
          <p:spPr>
            <a:xfrm>
              <a:off x="4452938" y="5016501"/>
              <a:ext cx="4660900" cy="428625"/>
            </a:xfrm>
            <a:prstGeom prst="rect">
              <a:avLst/>
            </a:prstGeom>
            <a:gradFill rotWithShape="1">
              <a:gsLst>
                <a:gs pos="0">
                  <a:srgbClr val="4BACC6">
                    <a:shade val="51000"/>
                    <a:satMod val="130000"/>
                  </a:srgbClr>
                </a:gs>
                <a:gs pos="80000">
                  <a:srgbClr val="4BACC6">
                    <a:shade val="93000"/>
                    <a:satMod val="130000"/>
                  </a:srgbClr>
                </a:gs>
                <a:gs pos="100000">
                  <a:srgbClr val="4BACC6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/>
                  <a:ea typeface="微软雅黑"/>
                </a:rPr>
                <a:t>立即数</a:t>
              </a:r>
            </a:p>
          </p:txBody>
        </p:sp>
        <p:sp>
          <p:nvSpPr>
            <p:cNvPr id="30" name="TextBox 46">
              <a:extLst>
                <a:ext uri="{FF2B5EF4-FFF2-40B4-BE49-F238E27FC236}">
                  <a16:creationId xmlns:a16="http://schemas.microsoft.com/office/drawing/2014/main" id="{1C069AD2-2BCB-48AD-87F0-8CA0508A8DCF}"/>
                </a:ext>
              </a:extLst>
            </p:cNvPr>
            <p:cNvSpPr txBox="1"/>
            <p:nvPr/>
          </p:nvSpPr>
          <p:spPr>
            <a:xfrm>
              <a:off x="6240464" y="4646614"/>
              <a:ext cx="890587" cy="40011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华文细黑" pitchFamily="2" charset="-122"/>
                </a:rPr>
                <a:t>26bits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华文细黑" pitchFamily="2" charset="-122"/>
              </a:endParaRPr>
            </a:p>
          </p:txBody>
        </p:sp>
        <p:sp>
          <p:nvSpPr>
            <p:cNvPr id="31" name="矩形 7">
              <a:extLst>
                <a:ext uri="{FF2B5EF4-FFF2-40B4-BE49-F238E27FC236}">
                  <a16:creationId xmlns:a16="http://schemas.microsoft.com/office/drawing/2014/main" id="{B0569272-4117-45F5-8B3C-B31614650842}"/>
                </a:ext>
              </a:extLst>
            </p:cNvPr>
            <p:cNvSpPr/>
            <p:nvPr/>
          </p:nvSpPr>
          <p:spPr>
            <a:xfrm>
              <a:off x="1992313" y="1992314"/>
              <a:ext cx="1295400" cy="428625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R 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型指令</a:t>
              </a:r>
            </a:p>
          </p:txBody>
        </p:sp>
        <p:sp>
          <p:nvSpPr>
            <p:cNvPr id="32" name="矩形 7">
              <a:extLst>
                <a:ext uri="{FF2B5EF4-FFF2-40B4-BE49-F238E27FC236}">
                  <a16:creationId xmlns:a16="http://schemas.microsoft.com/office/drawing/2014/main" id="{AFAEB636-6A98-41C0-8A64-A3070ECFC96D}"/>
                </a:ext>
              </a:extLst>
            </p:cNvPr>
            <p:cNvSpPr/>
            <p:nvPr/>
          </p:nvSpPr>
          <p:spPr>
            <a:xfrm>
              <a:off x="1992313" y="3495676"/>
              <a:ext cx="1295400" cy="428625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I 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型指令</a:t>
              </a:r>
            </a:p>
          </p:txBody>
        </p:sp>
        <p:sp>
          <p:nvSpPr>
            <p:cNvPr id="33" name="矩形 7">
              <a:extLst>
                <a:ext uri="{FF2B5EF4-FFF2-40B4-BE49-F238E27FC236}">
                  <a16:creationId xmlns:a16="http://schemas.microsoft.com/office/drawing/2014/main" id="{2BFDB465-9CFB-4D86-B162-4E982E2F67CD}"/>
                </a:ext>
              </a:extLst>
            </p:cNvPr>
            <p:cNvSpPr/>
            <p:nvPr/>
          </p:nvSpPr>
          <p:spPr>
            <a:xfrm>
              <a:off x="1992313" y="5016501"/>
              <a:ext cx="1295400" cy="428625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J 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型指令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63888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1A9F196-D818-4557-A959-A05A85157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5.5.2 MIPS</a:t>
            </a:r>
            <a:r>
              <a:rPr lang="zh-CN" altLang="en-US" dirty="0"/>
              <a:t>的指令格式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D6E720AD-331E-46C1-A5C8-400CF9FF817D}"/>
              </a:ext>
            </a:extLst>
          </p:cNvPr>
          <p:cNvSpPr txBox="1">
            <a:spLocks/>
          </p:cNvSpPr>
          <p:nvPr/>
        </p:nvSpPr>
        <p:spPr>
          <a:xfrm>
            <a:off x="16218" y="620688"/>
            <a:ext cx="5215861" cy="617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MIPS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指令格式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(R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型指令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)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j-cs"/>
            </a:endParaRPr>
          </a:p>
        </p:txBody>
      </p:sp>
      <p:graphicFrame>
        <p:nvGraphicFramePr>
          <p:cNvPr id="7" name="内容占位符 4">
            <a:extLst>
              <a:ext uri="{FF2B5EF4-FFF2-40B4-BE49-F238E27FC236}">
                <a16:creationId xmlns:a16="http://schemas.microsoft.com/office/drawing/2014/main" id="{75ACC119-B725-4398-9F58-7A431C898C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5643044"/>
              </p:ext>
            </p:extLst>
          </p:nvPr>
        </p:nvGraphicFramePr>
        <p:xfrm>
          <a:off x="94391" y="1238329"/>
          <a:ext cx="8995488" cy="421917"/>
        </p:xfrm>
        <a:graphic>
          <a:graphicData uri="http://schemas.openxmlformats.org/drawingml/2006/table">
            <a:tbl>
              <a:tblPr firstRow="1" bandRow="1"/>
              <a:tblGrid>
                <a:gridCol w="1124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44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4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4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44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244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19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103845" marR="103845" marT="52093" marB="5209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103845" marR="103845" marT="52093" marB="5209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6bits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103845" marR="103845" marT="52093" marB="5209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 5bits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103845" marR="103845" marT="52093" marB="5209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 5bits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103845" marR="103845" marT="52093" marB="5209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 5bits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103845" marR="103845" marT="52093" marB="5209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 5bits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103845" marR="103845" marT="52093" marB="5209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  6bits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103845" marR="103845" marT="52093" marB="5209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DB2A3BA-8123-47EB-9198-9485440618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093541"/>
              </p:ext>
            </p:extLst>
          </p:nvPr>
        </p:nvGraphicFramePr>
        <p:xfrm>
          <a:off x="71172" y="1660246"/>
          <a:ext cx="8995488" cy="3677986"/>
        </p:xfrm>
        <a:graphic>
          <a:graphicData uri="http://schemas.openxmlformats.org/drawingml/2006/table">
            <a:tbl>
              <a:tblPr firstRow="1" bandRow="1"/>
              <a:tblGrid>
                <a:gridCol w="1124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44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4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4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44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244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60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指令</a:t>
                      </a: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zh-CN" altLang="en-US" sz="20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格式</a:t>
                      </a: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OP</a:t>
                      </a:r>
                      <a:endParaRPr lang="zh-CN" altLang="en-US" sz="20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 err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rs</a:t>
                      </a:r>
                      <a:endParaRPr lang="zh-CN" altLang="en-US" sz="20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 err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rt</a:t>
                      </a:r>
                      <a:endParaRPr lang="zh-CN" altLang="en-US" sz="20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 err="1">
                          <a:solidFill>
                            <a:srgbClr val="0000FF"/>
                          </a:solidFill>
                        </a:rPr>
                        <a:t>rd</a:t>
                      </a:r>
                      <a:endParaRPr lang="zh-CN" alt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2000" dirty="0" err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shamt</a:t>
                      </a:r>
                      <a:endParaRPr lang="zh-CN" altLang="en-US" sz="20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 err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funct</a:t>
                      </a:r>
                      <a:endParaRPr lang="zh-CN" altLang="en-US" sz="20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0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solidFill>
                            <a:srgbClr val="002060"/>
                          </a:solidFill>
                        </a:rPr>
                        <a:t>add</a:t>
                      </a:r>
                      <a:endParaRPr lang="zh-CN" altLang="en-US" sz="2000" b="1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b="1" dirty="0">
                          <a:solidFill>
                            <a:srgbClr val="002060"/>
                          </a:solidFill>
                        </a:rPr>
                        <a:t>R</a:t>
                      </a:r>
                      <a:endParaRPr lang="zh-CN" altLang="en-US" sz="2000" b="1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b="0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sz="2000" b="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dirty="0" err="1">
                          <a:solidFill>
                            <a:srgbClr val="002060"/>
                          </a:solidFill>
                        </a:rPr>
                        <a:t>Reg</a:t>
                      </a:r>
                      <a:endParaRPr lang="zh-CN" altLang="en-US" sz="1800" b="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dirty="0" err="1">
                          <a:solidFill>
                            <a:srgbClr val="002060"/>
                          </a:solidFill>
                        </a:rPr>
                        <a:t>Reg</a:t>
                      </a:r>
                      <a:endParaRPr lang="zh-CN" altLang="en-US" sz="1800" b="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dirty="0" err="1">
                          <a:solidFill>
                            <a:srgbClr val="0000FF"/>
                          </a:solidFill>
                        </a:rPr>
                        <a:t>Reg</a:t>
                      </a:r>
                      <a:endParaRPr lang="zh-CN" altLang="en-US" sz="1800" b="0" dirty="0">
                        <a:solidFill>
                          <a:srgbClr val="0000FF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b="0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sz="2000" b="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b="0" dirty="0">
                          <a:solidFill>
                            <a:srgbClr val="002060"/>
                          </a:solidFill>
                        </a:rPr>
                        <a:t>32</a:t>
                      </a:r>
                      <a:r>
                        <a:rPr lang="en-US" altLang="zh-CN" sz="2000" b="0" baseline="-25000" dirty="0">
                          <a:solidFill>
                            <a:srgbClr val="002060"/>
                          </a:solidFill>
                        </a:rPr>
                        <a:t>10</a:t>
                      </a:r>
                      <a:endParaRPr lang="zh-CN" altLang="en-US" sz="20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0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solidFill>
                            <a:srgbClr val="002060"/>
                          </a:solidFill>
                        </a:rPr>
                        <a:t>sub</a:t>
                      </a:r>
                      <a:endParaRPr lang="zh-CN" altLang="en-US" sz="2000" b="1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b="1" dirty="0">
                          <a:solidFill>
                            <a:srgbClr val="002060"/>
                          </a:solidFill>
                        </a:rPr>
                        <a:t>R</a:t>
                      </a:r>
                      <a:endParaRPr lang="zh-CN" altLang="en-US" sz="2000" b="1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b="0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sz="2000" b="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dirty="0" err="1">
                          <a:solidFill>
                            <a:srgbClr val="002060"/>
                          </a:solidFill>
                        </a:rPr>
                        <a:t>Reg</a:t>
                      </a:r>
                      <a:endParaRPr lang="zh-CN" altLang="en-US" sz="1800" b="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dirty="0" err="1">
                          <a:solidFill>
                            <a:srgbClr val="002060"/>
                          </a:solidFill>
                        </a:rPr>
                        <a:t>Reg</a:t>
                      </a:r>
                      <a:endParaRPr lang="zh-CN" altLang="en-US" sz="1800" b="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dirty="0" err="1">
                          <a:solidFill>
                            <a:srgbClr val="0000FF"/>
                          </a:solidFill>
                        </a:rPr>
                        <a:t>Reg</a:t>
                      </a:r>
                      <a:endParaRPr lang="zh-CN" altLang="en-US" sz="1800" b="0" dirty="0">
                        <a:solidFill>
                          <a:srgbClr val="0000FF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b="0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sz="2000" b="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b="0" dirty="0">
                          <a:solidFill>
                            <a:srgbClr val="002060"/>
                          </a:solidFill>
                        </a:rPr>
                        <a:t>34</a:t>
                      </a:r>
                      <a:r>
                        <a:rPr lang="en-US" altLang="zh-CN" sz="2000" b="0" baseline="-25000" dirty="0">
                          <a:solidFill>
                            <a:srgbClr val="002060"/>
                          </a:solidFill>
                        </a:rPr>
                        <a:t>10</a:t>
                      </a:r>
                      <a:endParaRPr lang="zh-CN" altLang="en-US" sz="20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0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b="1" dirty="0"/>
                        <a:t>and</a:t>
                      </a:r>
                      <a:endParaRPr lang="zh-CN" altLang="en-US" sz="2000" b="1" dirty="0"/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b="1" dirty="0"/>
                        <a:t>R</a:t>
                      </a:r>
                      <a:endParaRPr lang="zh-CN" altLang="en-US" sz="2000" b="1" dirty="0"/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dirty="0" err="1">
                          <a:solidFill>
                            <a:srgbClr val="002060"/>
                          </a:solidFill>
                        </a:rPr>
                        <a:t>Reg</a:t>
                      </a:r>
                      <a:endParaRPr lang="zh-CN" altLang="en-US" sz="1800" b="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dirty="0" err="1">
                          <a:solidFill>
                            <a:srgbClr val="002060"/>
                          </a:solidFill>
                        </a:rPr>
                        <a:t>Reg</a:t>
                      </a:r>
                      <a:endParaRPr lang="zh-CN" altLang="en-US" sz="1800" b="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dirty="0" err="1">
                          <a:solidFill>
                            <a:srgbClr val="0000FF"/>
                          </a:solidFill>
                        </a:rPr>
                        <a:t>Reg</a:t>
                      </a:r>
                      <a:endParaRPr lang="zh-CN" altLang="en-US" sz="1800" b="0" dirty="0">
                        <a:solidFill>
                          <a:srgbClr val="0000FF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/>
                        <a:t>36</a:t>
                      </a:r>
                      <a:r>
                        <a:rPr lang="en-US" altLang="zh-CN" sz="2000" b="0" baseline="-25000" dirty="0">
                          <a:solidFill>
                            <a:srgbClr val="002060"/>
                          </a:solidFill>
                        </a:rPr>
                        <a:t>10</a:t>
                      </a:r>
                      <a:endParaRPr lang="zh-CN" altLang="en-US" sz="2000" dirty="0"/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0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b="1" dirty="0"/>
                        <a:t>or</a:t>
                      </a:r>
                      <a:endParaRPr lang="zh-CN" altLang="en-US" sz="2000" b="1" dirty="0"/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b="1" dirty="0"/>
                        <a:t>R</a:t>
                      </a:r>
                      <a:endParaRPr lang="zh-CN" altLang="en-US" sz="2000" b="1" dirty="0"/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dirty="0" err="1">
                          <a:solidFill>
                            <a:srgbClr val="002060"/>
                          </a:solidFill>
                        </a:rPr>
                        <a:t>Reg</a:t>
                      </a:r>
                      <a:endParaRPr lang="zh-CN" altLang="en-US" sz="1800" b="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dirty="0" err="1">
                          <a:solidFill>
                            <a:srgbClr val="002060"/>
                          </a:solidFill>
                        </a:rPr>
                        <a:t>Reg</a:t>
                      </a:r>
                      <a:endParaRPr lang="zh-CN" altLang="en-US" sz="1800" b="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dirty="0" err="1">
                          <a:solidFill>
                            <a:srgbClr val="0000FF"/>
                          </a:solidFill>
                        </a:rPr>
                        <a:t>Reg</a:t>
                      </a:r>
                      <a:endParaRPr lang="zh-CN" altLang="en-US" sz="1800" b="0" dirty="0">
                        <a:solidFill>
                          <a:srgbClr val="0000FF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/>
                        <a:t>37</a:t>
                      </a:r>
                      <a:r>
                        <a:rPr lang="en-US" altLang="zh-CN" sz="2000" b="0" baseline="-25000" dirty="0">
                          <a:solidFill>
                            <a:srgbClr val="002060"/>
                          </a:solidFill>
                        </a:rPr>
                        <a:t>10</a:t>
                      </a:r>
                      <a:endParaRPr lang="zh-CN" altLang="en-US" sz="2000" dirty="0"/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0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b="1" dirty="0"/>
                        <a:t>nor</a:t>
                      </a:r>
                      <a:endParaRPr lang="zh-CN" altLang="en-US" sz="2000" b="1" dirty="0"/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b="1" dirty="0">
                          <a:solidFill>
                            <a:srgbClr val="002060"/>
                          </a:solidFill>
                        </a:rPr>
                        <a:t>R</a:t>
                      </a:r>
                      <a:endParaRPr lang="zh-CN" altLang="en-US" sz="2000" b="1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dirty="0" err="1">
                          <a:solidFill>
                            <a:srgbClr val="002060"/>
                          </a:solidFill>
                        </a:rPr>
                        <a:t>Reg</a:t>
                      </a:r>
                      <a:endParaRPr lang="zh-CN" altLang="en-US" sz="1800" b="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dirty="0" err="1">
                          <a:solidFill>
                            <a:srgbClr val="002060"/>
                          </a:solidFill>
                        </a:rPr>
                        <a:t>Reg</a:t>
                      </a:r>
                      <a:endParaRPr lang="zh-CN" altLang="en-US" sz="1800" b="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dirty="0" err="1">
                          <a:solidFill>
                            <a:srgbClr val="0000FF"/>
                          </a:solidFill>
                        </a:rPr>
                        <a:t>Reg</a:t>
                      </a:r>
                      <a:endParaRPr lang="zh-CN" altLang="en-US" sz="1800" b="0" dirty="0">
                        <a:solidFill>
                          <a:srgbClr val="0000FF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/>
                        <a:t>39</a:t>
                      </a:r>
                      <a:r>
                        <a:rPr lang="en-US" altLang="zh-CN" sz="2000" b="0" baseline="-25000" dirty="0">
                          <a:solidFill>
                            <a:srgbClr val="002060"/>
                          </a:solidFill>
                        </a:rPr>
                        <a:t>10</a:t>
                      </a:r>
                      <a:endParaRPr lang="zh-CN" altLang="en-US" sz="2000" dirty="0"/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0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</a:rPr>
                        <a:t>sll</a:t>
                      </a:r>
                      <a:endParaRPr lang="zh-CN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b="1" dirty="0">
                          <a:solidFill>
                            <a:srgbClr val="FF0000"/>
                          </a:solidFill>
                        </a:rPr>
                        <a:t>R</a:t>
                      </a:r>
                      <a:endParaRPr lang="zh-CN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/>
                        <a:t>0</a:t>
                      </a:r>
                      <a:endParaRPr lang="zh-CN" altLang="en-US"/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altLang="zh-CN" sz="1800" b="0" kern="1200" dirty="0" err="1">
                          <a:solidFill>
                            <a:srgbClr val="002060"/>
                          </a:solidFill>
                          <a:latin typeface="微软雅黑"/>
                          <a:ea typeface="微软雅黑"/>
                          <a:cs typeface="+mn-cs"/>
                        </a:rPr>
                        <a:t>Reg</a:t>
                      </a:r>
                      <a:endParaRPr lang="zh-CN" altLang="en-US" sz="1800" b="0" kern="1200" dirty="0">
                        <a:solidFill>
                          <a:srgbClr val="002060"/>
                        </a:solidFill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dirty="0" err="1">
                          <a:solidFill>
                            <a:srgbClr val="0000FF"/>
                          </a:solidFill>
                        </a:rPr>
                        <a:t>Reg</a:t>
                      </a:r>
                      <a:endParaRPr lang="zh-CN" altLang="en-US" sz="1800" b="0" dirty="0">
                        <a:solidFill>
                          <a:srgbClr val="0000FF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Segoe UI Black" panose="020B0A02040204020203" pitchFamily="34" charset="0"/>
                          <a:ea typeface="Segoe UI Black" panose="020B0A02040204020203" pitchFamily="34" charset="0"/>
                          <a:cs typeface="Segoe UI Black" panose="020B0A02040204020203" pitchFamily="34" charset="0"/>
                        </a:rPr>
                        <a:t>X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latin typeface="Segoe UI Black" panose="020B0A02040204020203" pitchFamily="34" charset="0"/>
                        <a:cs typeface="Segoe UI Black" panose="020B0A02040204020203" pitchFamily="34" charset="0"/>
                      </a:endParaRPr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altLang="zh-CN" sz="2000" b="0" baseline="-25000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0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b="1" dirty="0" err="1"/>
                        <a:t>srl</a:t>
                      </a:r>
                      <a:endParaRPr lang="zh-CN" altLang="en-US" sz="2000" b="1" dirty="0"/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b="1" dirty="0"/>
                        <a:t>R</a:t>
                      </a:r>
                      <a:endParaRPr lang="zh-CN" altLang="en-US" sz="2000" b="1" dirty="0"/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/>
                        <a:t>0</a:t>
                      </a:r>
                      <a:endParaRPr lang="zh-CN" altLang="en-US"/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altLang="zh-CN" sz="1800" b="0" kern="1200" dirty="0" err="1">
                          <a:solidFill>
                            <a:srgbClr val="002060"/>
                          </a:solidFill>
                          <a:latin typeface="微软雅黑"/>
                          <a:ea typeface="微软雅黑"/>
                          <a:cs typeface="+mn-cs"/>
                        </a:rPr>
                        <a:t>Reg</a:t>
                      </a:r>
                      <a:endParaRPr lang="zh-CN" altLang="en-US" sz="1800" b="0" kern="1200" dirty="0">
                        <a:solidFill>
                          <a:srgbClr val="002060"/>
                        </a:solidFill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dirty="0" err="1">
                          <a:solidFill>
                            <a:srgbClr val="0000FF"/>
                          </a:solidFill>
                        </a:rPr>
                        <a:t>Reg</a:t>
                      </a:r>
                      <a:endParaRPr lang="zh-CN" altLang="en-US" sz="1800" b="0" dirty="0">
                        <a:solidFill>
                          <a:srgbClr val="0000FF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b="1" dirty="0">
                          <a:latin typeface="Segoe UI Black" panose="020B0A02040204020203" pitchFamily="34" charset="0"/>
                          <a:ea typeface="Segoe UI Black" panose="020B0A02040204020203" pitchFamily="34" charset="0"/>
                          <a:cs typeface="Segoe UI Black" panose="020B0A02040204020203" pitchFamily="34" charset="0"/>
                        </a:rPr>
                        <a:t>X</a:t>
                      </a:r>
                      <a:endParaRPr lang="zh-CN" altLang="en-US" sz="2000" b="1" dirty="0">
                        <a:latin typeface="Segoe UI Black" panose="020B0A02040204020203" pitchFamily="34" charset="0"/>
                        <a:cs typeface="Segoe UI Black" panose="020B0A02040204020203" pitchFamily="34" charset="0"/>
                      </a:endParaRPr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/>
                        <a:t>2</a:t>
                      </a:r>
                      <a:r>
                        <a:rPr lang="en-US" altLang="zh-CN" sz="2000" b="0" baseline="-25000" dirty="0">
                          <a:solidFill>
                            <a:srgbClr val="002060"/>
                          </a:solidFill>
                        </a:rPr>
                        <a:t>10</a:t>
                      </a:r>
                      <a:endParaRPr lang="zh-CN" altLang="en-US" sz="2000" dirty="0"/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0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b="1" dirty="0" err="1"/>
                        <a:t>jr</a:t>
                      </a:r>
                      <a:endParaRPr lang="zh-CN" altLang="en-US" sz="2000" b="1" dirty="0"/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b="1" dirty="0"/>
                        <a:t>R</a:t>
                      </a:r>
                      <a:endParaRPr lang="zh-CN" altLang="en-US" sz="2000" b="1" dirty="0"/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dirty="0" err="1">
                          <a:solidFill>
                            <a:srgbClr val="002060"/>
                          </a:solidFill>
                        </a:rPr>
                        <a:t>Reg</a:t>
                      </a:r>
                      <a:endParaRPr lang="zh-CN" altLang="en-US" sz="1800" b="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endParaRPr lang="zh-CN" altLang="en-US" sz="1800" b="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endParaRPr lang="zh-CN" altLang="en-US" sz="1800" b="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/>
                        <a:t>8</a:t>
                      </a:r>
                      <a:r>
                        <a:rPr lang="en-US" altLang="zh-CN" sz="2000" b="0" baseline="-25000" dirty="0">
                          <a:solidFill>
                            <a:srgbClr val="002060"/>
                          </a:solidFill>
                        </a:rPr>
                        <a:t>10</a:t>
                      </a:r>
                      <a:endParaRPr lang="zh-CN" altLang="en-US" sz="2000" dirty="0"/>
                    </a:p>
                  </a:txBody>
                  <a:tcPr marL="103852" marR="103852" marT="51893" marB="5189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2D9BCE6-7FDA-4E47-B561-FDE78E626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451658"/>
              </p:ext>
            </p:extLst>
          </p:nvPr>
        </p:nvGraphicFramePr>
        <p:xfrm>
          <a:off x="74256" y="5549190"/>
          <a:ext cx="8995488" cy="421917"/>
        </p:xfrm>
        <a:graphic>
          <a:graphicData uri="http://schemas.openxmlformats.org/drawingml/2006/table">
            <a:tbl>
              <a:tblPr firstRow="1" bandRow="1"/>
              <a:tblGrid>
                <a:gridCol w="1124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44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4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4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44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244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19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/>
                        <a:t>add</a:t>
                      </a:r>
                      <a:endParaRPr lang="zh-CN" altLang="en-US" sz="2000" dirty="0"/>
                    </a:p>
                  </a:txBody>
                  <a:tcPr marL="103852" marR="103852" marT="52017" marB="52017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/>
                        <a:t>R</a:t>
                      </a:r>
                      <a:endParaRPr lang="zh-CN" altLang="en-US" sz="2000" dirty="0"/>
                    </a:p>
                  </a:txBody>
                  <a:tcPr marL="103852" marR="103852" marT="52017" marB="52017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L="103852" marR="103852" marT="52017" marB="52017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dirty="0">
                          <a:solidFill>
                            <a:srgbClr val="002060"/>
                          </a:solidFill>
                        </a:rPr>
                        <a:t>18</a:t>
                      </a:r>
                      <a:endParaRPr lang="zh-CN" altLang="en-US" sz="1800" b="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2105" marB="52105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dirty="0">
                          <a:solidFill>
                            <a:srgbClr val="002060"/>
                          </a:solidFill>
                        </a:rPr>
                        <a:t>19</a:t>
                      </a:r>
                      <a:endParaRPr lang="zh-CN" altLang="en-US" sz="1800" b="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2105" marB="52105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dirty="0">
                          <a:solidFill>
                            <a:srgbClr val="002060"/>
                          </a:solidFill>
                        </a:rPr>
                        <a:t>17</a:t>
                      </a:r>
                      <a:endParaRPr lang="zh-CN" altLang="en-US" sz="1800" b="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2105" marB="52105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L="103852" marR="103852" marT="52017" marB="52017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/>
                        <a:t>32</a:t>
                      </a:r>
                      <a:endParaRPr lang="zh-CN" altLang="en-US" sz="2000" dirty="0"/>
                    </a:p>
                  </a:txBody>
                  <a:tcPr marL="103852" marR="103852" marT="52017" marB="52017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C77D8A3E-859A-47E3-A2AC-E2830097109B}"/>
              </a:ext>
            </a:extLst>
          </p:cNvPr>
          <p:cNvSpPr txBox="1">
            <a:spLocks/>
          </p:cNvSpPr>
          <p:nvPr/>
        </p:nvSpPr>
        <p:spPr bwMode="auto">
          <a:xfrm>
            <a:off x="323528" y="6175897"/>
            <a:ext cx="8743132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812800" indent="-355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+mn-ea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+mn-ea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600">
                <a:solidFill>
                  <a:schemeClr val="tx1"/>
                </a:solidFill>
                <a:latin typeface="+mn-ea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en-US" altLang="zh-CN" sz="2800" b="1" kern="0" dirty="0">
                <a:solidFill>
                  <a:srgbClr val="7030A0"/>
                </a:solidFill>
                <a:latin typeface="Courier New" pitchFamily="-65" charset="0"/>
                <a:ea typeface="微软雅黑"/>
              </a:rPr>
              <a:t>add $s1,$s2,$s3      </a:t>
            </a:r>
            <a:r>
              <a:rPr lang="en-US" altLang="zh-CN" kern="0" dirty="0">
                <a:solidFill>
                  <a:srgbClr val="E7E6E6">
                    <a:lumMod val="50000"/>
                  </a:srgbClr>
                </a:solidFill>
                <a:latin typeface="微软雅黑"/>
                <a:ea typeface="微软雅黑"/>
              </a:rPr>
              <a:t># </a:t>
            </a:r>
            <a:r>
              <a:rPr lang="zh-CN" altLang="en-US" kern="0" dirty="0">
                <a:solidFill>
                  <a:srgbClr val="E7E6E6">
                    <a:lumMod val="50000"/>
                  </a:srgbClr>
                </a:solidFill>
                <a:latin typeface="微软雅黑"/>
                <a:ea typeface="微软雅黑"/>
              </a:rPr>
              <a:t>机器码</a:t>
            </a:r>
            <a:r>
              <a:rPr lang="en-US" altLang="zh-CN" kern="0" dirty="0">
                <a:solidFill>
                  <a:srgbClr val="E7E6E6">
                    <a:lumMod val="50000"/>
                  </a:srgbClr>
                </a:solidFill>
                <a:latin typeface="微软雅黑"/>
                <a:ea typeface="微软雅黑"/>
              </a:rPr>
              <a:t>   0x2538820</a:t>
            </a:r>
          </a:p>
        </p:txBody>
      </p:sp>
    </p:spTree>
    <p:extLst>
      <p:ext uri="{BB962C8B-B14F-4D97-AF65-F5344CB8AC3E}">
        <p14:creationId xmlns:p14="http://schemas.microsoft.com/office/powerpoint/2010/main" val="1113364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1A9F196-D818-4557-A959-A05A85157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-111149"/>
            <a:ext cx="7812360" cy="731837"/>
          </a:xfrm>
        </p:spPr>
        <p:txBody>
          <a:bodyPr/>
          <a:lstStyle/>
          <a:p>
            <a:r>
              <a:rPr lang="en-US" altLang="zh-CN" dirty="0"/>
              <a:t>5.5.2 MIPS</a:t>
            </a:r>
            <a:r>
              <a:rPr lang="zh-CN" altLang="en-US" dirty="0"/>
              <a:t>的指令格式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CA9BEE7A-39E2-42A7-8537-03B97F158698}"/>
              </a:ext>
            </a:extLst>
          </p:cNvPr>
          <p:cNvSpPr txBox="1">
            <a:spLocks/>
          </p:cNvSpPr>
          <p:nvPr/>
        </p:nvSpPr>
        <p:spPr>
          <a:xfrm>
            <a:off x="35737" y="620688"/>
            <a:ext cx="5215861" cy="617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MIPS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指令格式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(I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、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J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型指令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j-cs"/>
            </a:endParaRPr>
          </a:p>
        </p:txBody>
      </p:sp>
      <p:graphicFrame>
        <p:nvGraphicFramePr>
          <p:cNvPr id="7" name="内容占位符 4">
            <a:extLst>
              <a:ext uri="{FF2B5EF4-FFF2-40B4-BE49-F238E27FC236}">
                <a16:creationId xmlns:a16="http://schemas.microsoft.com/office/drawing/2014/main" id="{AF46C249-EF68-4D0D-9B59-A218DFA3E6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3631608"/>
              </p:ext>
            </p:extLst>
          </p:nvPr>
        </p:nvGraphicFramePr>
        <p:xfrm>
          <a:off x="298299" y="1515960"/>
          <a:ext cx="8811080" cy="421917"/>
        </p:xfrm>
        <a:graphic>
          <a:graphicData uri="http://schemas.openxmlformats.org/drawingml/2006/table">
            <a:tbl>
              <a:tblPr firstRow="1" bandRow="1"/>
              <a:tblGrid>
                <a:gridCol w="1101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1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1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1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13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1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13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013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19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103845" marR="103845" marT="52093" marB="5209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103845" marR="103845" marT="52093" marB="5209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6bits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103845" marR="103845" marT="52093" marB="5209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 5bits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103845" marR="103845" marT="52093" marB="5209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 5bits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103845" marR="103845" marT="52093" marB="5209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 5bits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103845" marR="103845" marT="52093" marB="5209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 5bits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103845" marR="103845" marT="52093" marB="5209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  6bits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103845" marR="103845" marT="52093" marB="5209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8632285-4B75-41ED-BFAD-DCFE3689B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350760"/>
              </p:ext>
            </p:extLst>
          </p:nvPr>
        </p:nvGraphicFramePr>
        <p:xfrm>
          <a:off x="251520" y="1970166"/>
          <a:ext cx="8811080" cy="3479089"/>
        </p:xfrm>
        <a:graphic>
          <a:graphicData uri="http://schemas.openxmlformats.org/drawingml/2006/table">
            <a:tbl>
              <a:tblPr firstRow="1" bandRow="1"/>
              <a:tblGrid>
                <a:gridCol w="1101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1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1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1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13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1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13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013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37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指令</a:t>
                      </a: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zh-CN" altLang="en-US" sz="20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格式</a:t>
                      </a: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OP</a:t>
                      </a:r>
                      <a:endParaRPr lang="zh-CN" altLang="en-US" sz="20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 err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rs</a:t>
                      </a:r>
                      <a:endParaRPr lang="zh-CN" altLang="en-US" sz="20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 err="1">
                          <a:solidFill>
                            <a:srgbClr val="0000FF"/>
                          </a:solidFill>
                        </a:rPr>
                        <a:t>rt</a:t>
                      </a:r>
                      <a:endParaRPr lang="zh-CN" alt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 err="1">
                          <a:solidFill>
                            <a:srgbClr val="0000FF"/>
                          </a:solidFill>
                        </a:rPr>
                        <a:t>rd</a:t>
                      </a:r>
                      <a:endParaRPr lang="zh-CN" alt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r>
                        <a:rPr lang="en-US" altLang="zh-CN" sz="2000" dirty="0" err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shamt</a:t>
                      </a:r>
                      <a:endParaRPr lang="zh-CN" altLang="en-US" sz="20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 err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funct</a:t>
                      </a:r>
                      <a:endParaRPr lang="zh-CN" altLang="en-US" sz="20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rgbClr val="002060"/>
                          </a:solidFill>
                        </a:rPr>
                        <a:t>add</a:t>
                      </a:r>
                      <a:endParaRPr lang="zh-CN" altLang="en-US" sz="1800" b="0" dirty="0">
                        <a:solidFill>
                          <a:srgbClr val="002060"/>
                        </a:solidFill>
                      </a:endParaRP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i="0" dirty="0">
                          <a:solidFill>
                            <a:srgbClr val="002060"/>
                          </a:solidFill>
                        </a:rPr>
                        <a:t>R</a:t>
                      </a:r>
                      <a:endParaRPr lang="zh-CN" altLang="en-US" sz="1800" b="0" i="0" dirty="0">
                        <a:solidFill>
                          <a:srgbClr val="002060"/>
                        </a:solidFill>
                      </a:endParaRP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sz="1800" b="0" dirty="0">
                        <a:solidFill>
                          <a:srgbClr val="002060"/>
                        </a:solidFill>
                      </a:endParaRP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 err="1">
                          <a:solidFill>
                            <a:srgbClr val="002060"/>
                          </a:solidFill>
                        </a:rPr>
                        <a:t>Reg</a:t>
                      </a:r>
                      <a:endParaRPr lang="zh-CN" altLang="en-US" sz="1600" b="0" dirty="0">
                        <a:solidFill>
                          <a:srgbClr val="002060"/>
                        </a:solidFill>
                      </a:endParaRP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 err="1">
                          <a:solidFill>
                            <a:srgbClr val="002060"/>
                          </a:solidFill>
                        </a:rPr>
                        <a:t>Reg</a:t>
                      </a:r>
                      <a:endParaRPr lang="zh-CN" altLang="en-US" sz="1600" b="0" dirty="0">
                        <a:solidFill>
                          <a:srgbClr val="002060"/>
                        </a:solidFill>
                      </a:endParaRP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dirty="0" err="1">
                          <a:solidFill>
                            <a:srgbClr val="0000FF"/>
                          </a:solidFill>
                        </a:rPr>
                        <a:t>Reg</a:t>
                      </a:r>
                      <a:endParaRPr lang="zh-CN" altLang="en-US" sz="1800" b="0" dirty="0">
                        <a:solidFill>
                          <a:srgbClr val="0000FF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b="0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sz="2000" b="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2000" b="0" dirty="0">
                          <a:solidFill>
                            <a:srgbClr val="002060"/>
                          </a:solidFill>
                        </a:rPr>
                        <a:t>32</a:t>
                      </a:r>
                      <a:r>
                        <a:rPr lang="en-US" altLang="zh-CN" sz="2000" b="0" baseline="-25000" dirty="0">
                          <a:solidFill>
                            <a:srgbClr val="002060"/>
                          </a:solidFill>
                        </a:rPr>
                        <a:t>10</a:t>
                      </a:r>
                      <a:endParaRPr lang="zh-CN" altLang="en-US" sz="20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 err="1">
                          <a:solidFill>
                            <a:srgbClr val="002060"/>
                          </a:solidFill>
                        </a:rPr>
                        <a:t>addi</a:t>
                      </a:r>
                      <a:endParaRPr lang="zh-CN" altLang="en-US" sz="1800" b="0" dirty="0">
                        <a:solidFill>
                          <a:srgbClr val="002060"/>
                        </a:solidFill>
                      </a:endParaRP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i="0" dirty="0">
                          <a:solidFill>
                            <a:srgbClr val="002060"/>
                          </a:solidFill>
                        </a:rPr>
                        <a:t>I</a:t>
                      </a:r>
                      <a:endParaRPr lang="zh-CN" altLang="en-US" sz="1800" b="0" i="0" dirty="0">
                        <a:solidFill>
                          <a:srgbClr val="002060"/>
                        </a:solidFill>
                      </a:endParaRP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dirty="0">
                          <a:solidFill>
                            <a:srgbClr val="002060"/>
                          </a:solidFill>
                        </a:rPr>
                        <a:t>8</a:t>
                      </a:r>
                      <a:endParaRPr lang="zh-CN" altLang="en-US" sz="1800" b="0" dirty="0">
                        <a:solidFill>
                          <a:srgbClr val="002060"/>
                        </a:solidFill>
                      </a:endParaRP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 err="1">
                          <a:solidFill>
                            <a:srgbClr val="002060"/>
                          </a:solidFill>
                        </a:rPr>
                        <a:t>Reg</a:t>
                      </a:r>
                      <a:endParaRPr lang="zh-CN" altLang="en-US" sz="1600" b="0" dirty="0">
                        <a:solidFill>
                          <a:srgbClr val="002060"/>
                        </a:solidFill>
                      </a:endParaRP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 err="1">
                          <a:solidFill>
                            <a:srgbClr val="0000FF"/>
                          </a:solidFill>
                        </a:rPr>
                        <a:t>Reg</a:t>
                      </a:r>
                      <a:endParaRPr lang="zh-CN" alt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altLang="zh-CN" sz="1600" b="0" kern="1200" dirty="0">
                          <a:solidFill>
                            <a:srgbClr val="002060"/>
                          </a:solidFill>
                          <a:latin typeface="微软雅黑"/>
                          <a:ea typeface="微软雅黑"/>
                          <a:cs typeface="+mn-cs"/>
                        </a:rPr>
                        <a:t>16bits </a:t>
                      </a:r>
                      <a:r>
                        <a:rPr lang="zh-CN" altLang="en-US" sz="1600" b="0" kern="1200" dirty="0">
                          <a:solidFill>
                            <a:srgbClr val="002060"/>
                          </a:solidFill>
                          <a:latin typeface="微软雅黑"/>
                          <a:ea typeface="微软雅黑"/>
                          <a:cs typeface="+mn-cs"/>
                        </a:rPr>
                        <a:t>立即数</a:t>
                      </a:r>
                    </a:p>
                  </a:txBody>
                  <a:tcPr marL="103852" marR="103852" marT="51982" marB="51982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endParaRPr lang="zh-CN" altLang="en-US" sz="2000" b="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mpd="sng">
                      <a:solidFill>
                        <a:srgbClr val="060606"/>
                      </a:solidFill>
                    </a:lnL>
                    <a:lnR w="12700" cmpd="sng">
                      <a:solidFill>
                        <a:srgbClr val="060606"/>
                      </a:solidFill>
                    </a:lnR>
                    <a:lnT w="12700" cmpd="sng">
                      <a:solidFill>
                        <a:srgbClr val="060606"/>
                      </a:solidFill>
                    </a:lnT>
                    <a:lnB w="12700" cmpd="sng">
                      <a:solidFill>
                        <a:srgbClr val="06060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endParaRPr lang="zh-CN" altLang="en-US" sz="20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103852" marR="103852" marT="51982" marB="51982" anchor="ctr" anchorCtr="1">
                    <a:lnL w="12700" cmpd="sng">
                      <a:solidFill>
                        <a:srgbClr val="060606"/>
                      </a:solidFill>
                    </a:lnL>
                    <a:lnR w="12700" cmpd="sng">
                      <a:solidFill>
                        <a:srgbClr val="060606"/>
                      </a:solidFill>
                    </a:lnR>
                    <a:lnT w="12700" cmpd="sng">
                      <a:solidFill>
                        <a:srgbClr val="060606"/>
                      </a:solidFill>
                    </a:lnT>
                    <a:lnB w="12700" cmpd="sng">
                      <a:solidFill>
                        <a:srgbClr val="06060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 err="1"/>
                        <a:t>lw</a:t>
                      </a:r>
                      <a:endParaRPr lang="zh-CN" altLang="en-US" sz="1800" dirty="0"/>
                    </a:p>
                  </a:txBody>
                  <a:tcPr marL="91436" marR="91436" marT="45733" marB="4573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i="0" dirty="0">
                          <a:solidFill>
                            <a:srgbClr val="002060"/>
                          </a:solidFill>
                        </a:rPr>
                        <a:t>I</a:t>
                      </a:r>
                      <a:endParaRPr lang="zh-CN" altLang="en-US" sz="1800" i="0" dirty="0"/>
                    </a:p>
                  </a:txBody>
                  <a:tcPr marL="91436" marR="91436" marT="45733" marB="4573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35</a:t>
                      </a:r>
                      <a:endParaRPr lang="zh-CN" altLang="en-US" sz="1800" dirty="0"/>
                    </a:p>
                  </a:txBody>
                  <a:tcPr marL="91436" marR="91436" marT="45733" marB="4573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 err="1">
                          <a:solidFill>
                            <a:srgbClr val="002060"/>
                          </a:solidFill>
                        </a:rPr>
                        <a:t>Reg</a:t>
                      </a:r>
                      <a:endParaRPr lang="zh-CN" altLang="en-US" sz="1600" b="0" dirty="0">
                        <a:solidFill>
                          <a:srgbClr val="002060"/>
                        </a:solidFill>
                      </a:endParaRP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 err="1">
                          <a:solidFill>
                            <a:srgbClr val="0000FF"/>
                          </a:solidFill>
                        </a:rPr>
                        <a:t>Reg</a:t>
                      </a:r>
                      <a:endParaRPr lang="zh-CN" alt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>
                          <a:solidFill>
                            <a:srgbClr val="002060"/>
                          </a:solidFill>
                        </a:rPr>
                        <a:t>16bits </a:t>
                      </a:r>
                      <a:r>
                        <a:rPr lang="zh-CN" altLang="en-US" sz="1600" b="0" dirty="0">
                          <a:solidFill>
                            <a:srgbClr val="002060"/>
                          </a:solidFill>
                        </a:rPr>
                        <a:t>立即数</a:t>
                      </a: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60606"/>
                      </a:solidFill>
                    </a:lnL>
                    <a:lnR w="12700" cmpd="sng">
                      <a:solidFill>
                        <a:srgbClr val="060606"/>
                      </a:solidFill>
                    </a:lnR>
                    <a:lnT w="12700" cmpd="sng">
                      <a:solidFill>
                        <a:srgbClr val="060606"/>
                      </a:solidFill>
                    </a:lnT>
                    <a:lnB w="12700" cmpd="sng">
                      <a:solidFill>
                        <a:srgbClr val="06060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60606"/>
                      </a:solidFill>
                    </a:lnL>
                    <a:lnR w="12700" cmpd="sng">
                      <a:solidFill>
                        <a:srgbClr val="060606"/>
                      </a:solidFill>
                    </a:lnR>
                    <a:lnT w="12700" cmpd="sng">
                      <a:solidFill>
                        <a:srgbClr val="060606"/>
                      </a:solidFill>
                    </a:lnT>
                    <a:lnB w="12700" cmpd="sng">
                      <a:solidFill>
                        <a:srgbClr val="06060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 err="1"/>
                        <a:t>sw</a:t>
                      </a:r>
                      <a:endParaRPr lang="zh-CN" altLang="en-US" sz="1800" dirty="0"/>
                    </a:p>
                  </a:txBody>
                  <a:tcPr marL="91436" marR="91436" marT="45733" marB="4573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i="0" dirty="0">
                          <a:solidFill>
                            <a:srgbClr val="002060"/>
                          </a:solidFill>
                        </a:rPr>
                        <a:t>I</a:t>
                      </a:r>
                      <a:endParaRPr lang="zh-CN" altLang="en-US" sz="1800" i="0" dirty="0"/>
                    </a:p>
                  </a:txBody>
                  <a:tcPr marL="91436" marR="91436" marT="45733" marB="4573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43</a:t>
                      </a:r>
                      <a:endParaRPr lang="zh-CN" altLang="en-US" sz="1800" dirty="0"/>
                    </a:p>
                  </a:txBody>
                  <a:tcPr marL="91436" marR="91436" marT="45733" marB="4573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 err="1">
                          <a:solidFill>
                            <a:srgbClr val="002060"/>
                          </a:solidFill>
                        </a:rPr>
                        <a:t>Reg</a:t>
                      </a:r>
                      <a:endParaRPr lang="zh-CN" altLang="en-US" sz="1600" b="0" dirty="0">
                        <a:solidFill>
                          <a:srgbClr val="002060"/>
                        </a:solidFill>
                      </a:endParaRP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altLang="zh-CN" sz="1600" b="0" kern="1200" dirty="0" err="1">
                          <a:solidFill>
                            <a:srgbClr val="002060"/>
                          </a:solidFill>
                          <a:latin typeface="微软雅黑"/>
                          <a:ea typeface="微软雅黑"/>
                          <a:cs typeface="+mn-cs"/>
                        </a:rPr>
                        <a:t>Reg</a:t>
                      </a:r>
                      <a:endParaRPr lang="zh-CN" altLang="en-US" sz="1600" b="0" kern="1200" dirty="0">
                        <a:solidFill>
                          <a:srgbClr val="002060"/>
                        </a:solidFill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>
                          <a:solidFill>
                            <a:srgbClr val="002060"/>
                          </a:solidFill>
                        </a:rPr>
                        <a:t>16bits </a:t>
                      </a:r>
                      <a:r>
                        <a:rPr lang="zh-CN" altLang="en-US" sz="1600" b="0" dirty="0">
                          <a:solidFill>
                            <a:srgbClr val="002060"/>
                          </a:solidFill>
                        </a:rPr>
                        <a:t>立即数</a:t>
                      </a: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60606"/>
                      </a:solidFill>
                    </a:lnL>
                    <a:lnR w="12700" cmpd="sng">
                      <a:solidFill>
                        <a:srgbClr val="060606"/>
                      </a:solidFill>
                    </a:lnR>
                    <a:lnT w="12700" cmpd="sng">
                      <a:solidFill>
                        <a:srgbClr val="060606"/>
                      </a:solidFill>
                    </a:lnT>
                    <a:lnB w="12700" cmpd="sng">
                      <a:solidFill>
                        <a:srgbClr val="06060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60606"/>
                      </a:solidFill>
                    </a:lnL>
                    <a:lnR w="12700" cmpd="sng">
                      <a:solidFill>
                        <a:srgbClr val="060606"/>
                      </a:solidFill>
                    </a:lnR>
                    <a:lnT w="12700" cmpd="sng">
                      <a:solidFill>
                        <a:srgbClr val="060606"/>
                      </a:solidFill>
                    </a:lnT>
                    <a:lnB w="12700" cmpd="sng">
                      <a:solidFill>
                        <a:srgbClr val="06060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 err="1"/>
                        <a:t>andi</a:t>
                      </a:r>
                      <a:endParaRPr lang="zh-CN" altLang="en-US" sz="1800" dirty="0"/>
                    </a:p>
                  </a:txBody>
                  <a:tcPr marL="91436" marR="91436" marT="45733" marB="4573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i="0" dirty="0">
                          <a:solidFill>
                            <a:srgbClr val="002060"/>
                          </a:solidFill>
                        </a:rPr>
                        <a:t>I</a:t>
                      </a:r>
                      <a:endParaRPr lang="zh-CN" altLang="en-US" sz="1800" b="0" i="0" dirty="0">
                        <a:solidFill>
                          <a:srgbClr val="002060"/>
                        </a:solidFill>
                      </a:endParaRP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12</a:t>
                      </a:r>
                      <a:endParaRPr lang="zh-CN" altLang="en-US" sz="1800" dirty="0"/>
                    </a:p>
                  </a:txBody>
                  <a:tcPr marL="91436" marR="91436" marT="45733" marB="4573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 err="1">
                          <a:solidFill>
                            <a:srgbClr val="002060"/>
                          </a:solidFill>
                        </a:rPr>
                        <a:t>Reg</a:t>
                      </a:r>
                      <a:endParaRPr lang="zh-CN" altLang="en-US" sz="1600" b="0" dirty="0">
                        <a:solidFill>
                          <a:srgbClr val="002060"/>
                        </a:solidFill>
                      </a:endParaRP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 err="1">
                          <a:solidFill>
                            <a:srgbClr val="0000FF"/>
                          </a:solidFill>
                        </a:rPr>
                        <a:t>Reg</a:t>
                      </a:r>
                      <a:endParaRPr lang="zh-CN" alt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>
                          <a:solidFill>
                            <a:srgbClr val="002060"/>
                          </a:solidFill>
                        </a:rPr>
                        <a:t>16bits </a:t>
                      </a:r>
                      <a:r>
                        <a:rPr lang="zh-CN" altLang="en-US" sz="1600" b="0" dirty="0">
                          <a:solidFill>
                            <a:srgbClr val="002060"/>
                          </a:solidFill>
                        </a:rPr>
                        <a:t>立即数</a:t>
                      </a: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60606"/>
                      </a:solidFill>
                    </a:lnL>
                    <a:lnR w="12700" cmpd="sng">
                      <a:solidFill>
                        <a:srgbClr val="060606"/>
                      </a:solidFill>
                    </a:lnR>
                    <a:lnT w="12700" cmpd="sng">
                      <a:solidFill>
                        <a:srgbClr val="060606"/>
                      </a:solidFill>
                    </a:lnT>
                    <a:lnB w="12700" cmpd="sng">
                      <a:solidFill>
                        <a:srgbClr val="06060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60606"/>
                      </a:solidFill>
                    </a:lnL>
                    <a:lnR w="12700" cmpd="sng">
                      <a:solidFill>
                        <a:srgbClr val="060606"/>
                      </a:solidFill>
                    </a:lnR>
                    <a:lnT w="12700" cmpd="sng">
                      <a:solidFill>
                        <a:srgbClr val="060606"/>
                      </a:solidFill>
                    </a:lnT>
                    <a:lnB w="12700" cmpd="sng">
                      <a:solidFill>
                        <a:srgbClr val="06060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 err="1"/>
                        <a:t>ori</a:t>
                      </a:r>
                      <a:endParaRPr lang="zh-CN" altLang="en-US" sz="1800" dirty="0"/>
                    </a:p>
                  </a:txBody>
                  <a:tcPr marL="91436" marR="91436" marT="45733" marB="4573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i="0" dirty="0">
                          <a:solidFill>
                            <a:srgbClr val="002060"/>
                          </a:solidFill>
                        </a:rPr>
                        <a:t>I</a:t>
                      </a:r>
                      <a:endParaRPr lang="zh-CN" altLang="en-US" sz="1800" i="0" dirty="0"/>
                    </a:p>
                  </a:txBody>
                  <a:tcPr marL="91436" marR="91436" marT="45733" marB="4573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13</a:t>
                      </a:r>
                      <a:endParaRPr lang="zh-CN" altLang="en-US" sz="1800" dirty="0"/>
                    </a:p>
                  </a:txBody>
                  <a:tcPr marL="91436" marR="91436" marT="45733" marB="4573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 err="1">
                          <a:solidFill>
                            <a:srgbClr val="002060"/>
                          </a:solidFill>
                        </a:rPr>
                        <a:t>Reg</a:t>
                      </a:r>
                      <a:endParaRPr lang="zh-CN" altLang="en-US" sz="1600" b="0" dirty="0">
                        <a:solidFill>
                          <a:srgbClr val="002060"/>
                        </a:solidFill>
                      </a:endParaRP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 err="1">
                          <a:solidFill>
                            <a:srgbClr val="0000FF"/>
                          </a:solidFill>
                        </a:rPr>
                        <a:t>Reg</a:t>
                      </a:r>
                      <a:endParaRPr lang="zh-CN" altLang="en-US" sz="1600" b="0" dirty="0">
                        <a:solidFill>
                          <a:srgbClr val="0000FF"/>
                        </a:solidFill>
                      </a:endParaRP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>
                          <a:solidFill>
                            <a:srgbClr val="002060"/>
                          </a:solidFill>
                        </a:rPr>
                        <a:t>16bits </a:t>
                      </a:r>
                      <a:r>
                        <a:rPr lang="zh-CN" altLang="en-US" sz="1600" b="0" dirty="0">
                          <a:solidFill>
                            <a:srgbClr val="002060"/>
                          </a:solidFill>
                        </a:rPr>
                        <a:t>立即数</a:t>
                      </a: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60606"/>
                      </a:solidFill>
                    </a:lnL>
                    <a:lnR w="12700" cmpd="sng">
                      <a:solidFill>
                        <a:srgbClr val="060606"/>
                      </a:solidFill>
                    </a:lnR>
                    <a:lnT w="12700" cmpd="sng">
                      <a:solidFill>
                        <a:srgbClr val="060606"/>
                      </a:solidFill>
                    </a:lnT>
                    <a:lnB w="12700" cmpd="sng">
                      <a:solidFill>
                        <a:srgbClr val="06060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60606"/>
                      </a:solidFill>
                    </a:lnL>
                    <a:lnR w="12700" cmpd="sng">
                      <a:solidFill>
                        <a:srgbClr val="060606"/>
                      </a:solidFill>
                    </a:lnR>
                    <a:lnT w="12700" cmpd="sng">
                      <a:solidFill>
                        <a:srgbClr val="060606"/>
                      </a:solidFill>
                    </a:lnT>
                    <a:lnB w="12700" cmpd="sng">
                      <a:solidFill>
                        <a:srgbClr val="06060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 err="1"/>
                        <a:t>beq</a:t>
                      </a:r>
                      <a:endParaRPr lang="zh-CN" altLang="en-US" sz="1800" dirty="0"/>
                    </a:p>
                  </a:txBody>
                  <a:tcPr marL="91436" marR="91436" marT="45733" marB="4573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i="0" dirty="0">
                          <a:solidFill>
                            <a:srgbClr val="002060"/>
                          </a:solidFill>
                        </a:rPr>
                        <a:t>I</a:t>
                      </a:r>
                      <a:endParaRPr lang="zh-CN" altLang="en-US" sz="1800" i="0" dirty="0"/>
                    </a:p>
                  </a:txBody>
                  <a:tcPr marL="91436" marR="91436" marT="45733" marB="4573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36" marR="91436" marT="45733" marB="4573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 err="1">
                          <a:solidFill>
                            <a:srgbClr val="002060"/>
                          </a:solidFill>
                        </a:rPr>
                        <a:t>Reg</a:t>
                      </a:r>
                      <a:endParaRPr lang="zh-CN" altLang="en-US" sz="1600" b="0" dirty="0">
                        <a:solidFill>
                          <a:srgbClr val="002060"/>
                        </a:solidFill>
                      </a:endParaRP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 err="1">
                          <a:solidFill>
                            <a:srgbClr val="002060"/>
                          </a:solidFill>
                        </a:rPr>
                        <a:t>Reg</a:t>
                      </a:r>
                      <a:endParaRPr lang="zh-CN" altLang="en-US" sz="1600" b="0" dirty="0">
                        <a:solidFill>
                          <a:srgbClr val="002060"/>
                        </a:solidFill>
                      </a:endParaRP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>
                          <a:solidFill>
                            <a:srgbClr val="002060"/>
                          </a:solidFill>
                        </a:rPr>
                        <a:t>16bits </a:t>
                      </a:r>
                      <a:r>
                        <a:rPr lang="zh-CN" altLang="en-US" sz="1600" b="0" dirty="0">
                          <a:solidFill>
                            <a:srgbClr val="002060"/>
                          </a:solidFill>
                        </a:rPr>
                        <a:t>立即数（相对寻址）</a:t>
                      </a: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60606"/>
                      </a:solidFill>
                    </a:lnL>
                    <a:lnR w="12700" cmpd="sng">
                      <a:solidFill>
                        <a:srgbClr val="060606"/>
                      </a:solidFill>
                    </a:lnR>
                    <a:lnT w="12700" cmpd="sng">
                      <a:solidFill>
                        <a:srgbClr val="060606"/>
                      </a:solidFill>
                    </a:lnT>
                    <a:lnB w="12700" cmpd="sng">
                      <a:solidFill>
                        <a:srgbClr val="06060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60606"/>
                      </a:solidFill>
                    </a:lnL>
                    <a:lnR w="12700" cmpd="sng">
                      <a:solidFill>
                        <a:srgbClr val="060606"/>
                      </a:solidFill>
                    </a:lnR>
                    <a:lnT w="12700" cmpd="sng">
                      <a:solidFill>
                        <a:srgbClr val="060606"/>
                      </a:solidFill>
                    </a:lnT>
                    <a:lnB w="12700" cmpd="sng">
                      <a:solidFill>
                        <a:srgbClr val="06060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 err="1"/>
                        <a:t>bne</a:t>
                      </a:r>
                      <a:endParaRPr lang="zh-CN" altLang="en-US" sz="1800" dirty="0"/>
                    </a:p>
                  </a:txBody>
                  <a:tcPr marL="91436" marR="91436" marT="45733" marB="4573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i="0" dirty="0">
                          <a:solidFill>
                            <a:srgbClr val="002060"/>
                          </a:solidFill>
                        </a:rPr>
                        <a:t>I</a:t>
                      </a:r>
                      <a:endParaRPr lang="zh-CN" altLang="en-US" sz="1800" i="0" dirty="0"/>
                    </a:p>
                  </a:txBody>
                  <a:tcPr marL="91436" marR="91436" marT="45733" marB="4573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36" marR="91436" marT="45733" marB="45733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 err="1">
                          <a:solidFill>
                            <a:srgbClr val="002060"/>
                          </a:solidFill>
                        </a:rPr>
                        <a:t>Reg</a:t>
                      </a:r>
                      <a:endParaRPr lang="zh-CN" altLang="en-US" sz="1600" b="0" dirty="0">
                        <a:solidFill>
                          <a:srgbClr val="002060"/>
                        </a:solidFill>
                      </a:endParaRP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 err="1">
                          <a:solidFill>
                            <a:srgbClr val="002060"/>
                          </a:solidFill>
                        </a:rPr>
                        <a:t>Reg</a:t>
                      </a:r>
                      <a:endParaRPr lang="zh-CN" altLang="en-US" sz="1600" b="0" dirty="0">
                        <a:solidFill>
                          <a:srgbClr val="002060"/>
                        </a:solidFill>
                      </a:endParaRP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>
                          <a:solidFill>
                            <a:srgbClr val="002060"/>
                          </a:solidFill>
                        </a:rPr>
                        <a:t>16bits </a:t>
                      </a:r>
                      <a:r>
                        <a:rPr lang="zh-CN" altLang="en-US" sz="1600" b="0" dirty="0">
                          <a:solidFill>
                            <a:srgbClr val="002060"/>
                          </a:solidFill>
                        </a:rPr>
                        <a:t>立即数（相对寻址）</a:t>
                      </a:r>
                    </a:p>
                  </a:txBody>
                  <a:tcPr marL="91436" marR="91436" marT="45811" marB="45811" anchor="ctr" anchorCtr="1">
                    <a:lnL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60606"/>
                      </a:solidFill>
                    </a:lnL>
                    <a:lnR w="12700" cmpd="sng">
                      <a:solidFill>
                        <a:srgbClr val="060606"/>
                      </a:solidFill>
                    </a:lnR>
                    <a:lnT w="12700" cmpd="sng">
                      <a:solidFill>
                        <a:srgbClr val="060606"/>
                      </a:solidFill>
                    </a:lnT>
                    <a:lnB w="12700" cmpd="sng">
                      <a:solidFill>
                        <a:srgbClr val="06060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60606"/>
                      </a:solidFill>
                    </a:lnL>
                    <a:lnR w="12700" cmpd="sng">
                      <a:solidFill>
                        <a:srgbClr val="060606"/>
                      </a:solidFill>
                    </a:lnR>
                    <a:lnT w="12700" cmpd="sng">
                      <a:solidFill>
                        <a:srgbClr val="060606"/>
                      </a:solidFill>
                    </a:lnT>
                    <a:lnB w="12700" cmpd="sng">
                      <a:solidFill>
                        <a:srgbClr val="06060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06D00C8-CF14-4815-814A-190814418E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332912"/>
              </p:ext>
            </p:extLst>
          </p:nvPr>
        </p:nvGraphicFramePr>
        <p:xfrm>
          <a:off x="196927" y="5619671"/>
          <a:ext cx="8839569" cy="421917"/>
        </p:xfrm>
        <a:graphic>
          <a:graphicData uri="http://schemas.openxmlformats.org/drawingml/2006/table">
            <a:tbl>
              <a:tblPr firstRow="1" bandRow="1"/>
              <a:tblGrid>
                <a:gridCol w="1144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4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4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4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19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j</a:t>
                      </a:r>
                      <a:endParaRPr lang="zh-CN" altLang="en-US" sz="1800" dirty="0"/>
                    </a:p>
                  </a:txBody>
                  <a:tcPr marL="91436" marR="91436" marT="45602" marB="45602">
                    <a:lnL w="12700" cmpd="sng">
                      <a:solidFill>
                        <a:srgbClr val="060606"/>
                      </a:solidFill>
                    </a:lnL>
                    <a:lnR w="12700" cmpd="sng">
                      <a:solidFill>
                        <a:srgbClr val="060606"/>
                      </a:solidFill>
                    </a:lnR>
                    <a:lnT w="12700" cmpd="sng">
                      <a:solidFill>
                        <a:srgbClr val="060606"/>
                      </a:solidFill>
                    </a:lnT>
                    <a:lnB w="25400" cmpd="sng">
                      <a:solidFill>
                        <a:srgbClr val="06060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J</a:t>
                      </a:r>
                      <a:endParaRPr lang="zh-CN" altLang="en-US" sz="1800" dirty="0"/>
                    </a:p>
                  </a:txBody>
                  <a:tcPr marL="91436" marR="91436" marT="45602" marB="45602">
                    <a:lnL w="12700" cmpd="sng">
                      <a:solidFill>
                        <a:srgbClr val="060606"/>
                      </a:solidFill>
                    </a:lnL>
                    <a:lnR w="12700" cmpd="sng">
                      <a:solidFill>
                        <a:srgbClr val="060606"/>
                      </a:solidFill>
                    </a:lnR>
                    <a:lnT w="12700" cmpd="sng">
                      <a:solidFill>
                        <a:srgbClr val="060606"/>
                      </a:solidFill>
                    </a:lnT>
                    <a:lnB w="25400" cmpd="sng">
                      <a:solidFill>
                        <a:srgbClr val="06060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36" marR="91436" marT="45602" marB="45602">
                    <a:lnL w="12700" cmpd="sng">
                      <a:solidFill>
                        <a:srgbClr val="060606"/>
                      </a:solidFill>
                    </a:lnL>
                    <a:lnR w="12700" cmpd="sng">
                      <a:solidFill>
                        <a:srgbClr val="060606"/>
                      </a:solidFill>
                    </a:lnR>
                    <a:lnT w="12700" cmpd="sng">
                      <a:solidFill>
                        <a:srgbClr val="060606"/>
                      </a:solidFill>
                    </a:lnT>
                    <a:lnB w="25400" cmpd="sng">
                      <a:solidFill>
                        <a:srgbClr val="06060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+mn-cs"/>
                        </a:rPr>
                        <a:t>26bits 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+mn-cs"/>
                        </a:rPr>
                        <a:t>立即数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+mn-cs"/>
                        </a:rPr>
                        <a:t>(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+mn-cs"/>
                        </a:rPr>
                        <a:t>伪直接寻址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+mn-cs"/>
                        </a:rPr>
                        <a:t>)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marL="91436" marR="91436" marT="45680" marB="45680">
                    <a:lnL w="12700" cmpd="sng">
                      <a:solidFill>
                        <a:srgbClr val="060606"/>
                      </a:solidFill>
                    </a:lnL>
                    <a:lnR w="12700" cap="flat" cmpd="sng" algn="ctr">
                      <a:solidFill>
                        <a:srgbClr val="0606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60606"/>
                      </a:solidFill>
                    </a:lnT>
                    <a:lnB w="25400" cap="flat" cmpd="sng" algn="ctr">
                      <a:solidFill>
                        <a:srgbClr val="0606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0A0F9CAF-AF8A-4BA7-8B0C-19F9E6B10B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889901"/>
              </p:ext>
            </p:extLst>
          </p:nvPr>
        </p:nvGraphicFramePr>
        <p:xfrm>
          <a:off x="196927" y="6168941"/>
          <a:ext cx="8839568" cy="421917"/>
        </p:xfrm>
        <a:graphic>
          <a:graphicData uri="http://schemas.openxmlformats.org/drawingml/2006/table">
            <a:tbl>
              <a:tblPr firstRow="1" bandRow="1"/>
              <a:tblGrid>
                <a:gridCol w="1121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5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19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 err="1"/>
                        <a:t>jal</a:t>
                      </a:r>
                      <a:endParaRPr lang="zh-CN" altLang="en-US" sz="1800" dirty="0"/>
                    </a:p>
                  </a:txBody>
                  <a:tcPr marL="91436" marR="91436" marT="45539" marB="45539">
                    <a:lnL w="12700" cmpd="sng">
                      <a:solidFill>
                        <a:srgbClr val="060606"/>
                      </a:solidFill>
                    </a:lnL>
                    <a:lnR w="12700" cmpd="sng">
                      <a:solidFill>
                        <a:srgbClr val="060606"/>
                      </a:solidFill>
                    </a:lnR>
                    <a:lnT w="12700" cmpd="sng">
                      <a:solidFill>
                        <a:srgbClr val="060606"/>
                      </a:solidFill>
                    </a:lnT>
                    <a:lnB w="25400" cmpd="sng">
                      <a:solidFill>
                        <a:srgbClr val="06060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J</a:t>
                      </a:r>
                    </a:p>
                  </a:txBody>
                  <a:tcPr marL="91436" marR="91436" marT="45539" marB="45539">
                    <a:lnL w="12700" cmpd="sng">
                      <a:solidFill>
                        <a:srgbClr val="060606"/>
                      </a:solidFill>
                    </a:lnL>
                    <a:lnR w="12700" cmpd="sng">
                      <a:solidFill>
                        <a:srgbClr val="060606"/>
                      </a:solidFill>
                    </a:lnR>
                    <a:lnT w="12700" cmpd="sng">
                      <a:solidFill>
                        <a:srgbClr val="060606"/>
                      </a:solidFill>
                    </a:lnT>
                    <a:lnB w="25400" cmpd="sng">
                      <a:solidFill>
                        <a:srgbClr val="06060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36" marR="91436" marT="45539" marB="45539">
                    <a:lnL w="12700" cmpd="sng">
                      <a:solidFill>
                        <a:srgbClr val="060606"/>
                      </a:solidFill>
                    </a:lnL>
                    <a:lnR w="12700" cmpd="sng">
                      <a:solidFill>
                        <a:srgbClr val="060606"/>
                      </a:solidFill>
                    </a:lnR>
                    <a:lnT w="12700" cmpd="sng">
                      <a:solidFill>
                        <a:srgbClr val="060606"/>
                      </a:solidFill>
                    </a:lnT>
                    <a:lnB w="25400" cmpd="sng">
                      <a:solidFill>
                        <a:srgbClr val="06060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+mn-cs"/>
                        </a:rPr>
                        <a:t>26bits 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+mn-cs"/>
                        </a:rPr>
                        <a:t>立即数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+mn-cs"/>
                        </a:rPr>
                        <a:t>(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+mn-cs"/>
                        </a:rPr>
                        <a:t>伪直接寻址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+mn-cs"/>
                        </a:rPr>
                        <a:t>)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marL="91436" marR="91436" marT="45617" marB="45617">
                    <a:lnL w="12700" cmpd="sng">
                      <a:solidFill>
                        <a:srgbClr val="060606"/>
                      </a:solidFill>
                    </a:lnL>
                    <a:lnR w="12700" cap="flat" cmpd="sng" algn="ctr">
                      <a:solidFill>
                        <a:srgbClr val="0606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60606"/>
                      </a:solidFill>
                    </a:lnT>
                    <a:lnB w="25400" cap="flat" cmpd="sng" algn="ctr">
                      <a:solidFill>
                        <a:srgbClr val="0606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05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id="{0D1E22CE-7166-4CDF-B730-E7B5FADE04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5.5 MIPS32</a:t>
            </a:r>
            <a:r>
              <a:rPr lang="zh-CN" altLang="en-US"/>
              <a:t>指令简介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456882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zh-CN" dirty="0"/>
              <a:t>5.5.1 MIPS</a:t>
            </a:r>
            <a:r>
              <a:rPr lang="zh-CN" altLang="en-US" dirty="0"/>
              <a:t>中的寄存器组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5.5.2 MIPS</a:t>
            </a:r>
            <a:r>
              <a:rPr lang="zh-CN" altLang="en-US" dirty="0"/>
              <a:t>的指令格式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5.5.3 MIPS</a:t>
            </a:r>
            <a:r>
              <a:rPr lang="zh-CN" altLang="en-US" dirty="0"/>
              <a:t>的寻址方式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7021F6-595D-4D1A-9BC5-67C38B3573D3}"/>
              </a:ext>
            </a:extLst>
          </p:cNvPr>
          <p:cNvSpPr/>
          <p:nvPr/>
        </p:nvSpPr>
        <p:spPr>
          <a:xfrm>
            <a:off x="899592" y="3396905"/>
            <a:ext cx="4264309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altLang="zh-CN" sz="3200" kern="0" dirty="0">
                <a:solidFill>
                  <a:srgbClr val="000000"/>
                </a:solidFill>
              </a:rPr>
              <a:t>5.5.3 MIPS</a:t>
            </a:r>
            <a:r>
              <a:rPr lang="zh-CN" altLang="en-US" sz="3200" kern="0" dirty="0">
                <a:solidFill>
                  <a:srgbClr val="000000"/>
                </a:solidFill>
              </a:rPr>
              <a:t>的寻址方式</a:t>
            </a:r>
          </a:p>
        </p:txBody>
      </p:sp>
    </p:spTree>
    <p:extLst>
      <p:ext uri="{BB962C8B-B14F-4D97-AF65-F5344CB8AC3E}">
        <p14:creationId xmlns:p14="http://schemas.microsoft.com/office/powerpoint/2010/main" val="4119745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0A0DCD1-E771-4946-B6BA-5686E052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5.5.3 MIPS</a:t>
            </a:r>
            <a:r>
              <a:rPr lang="zh-CN" altLang="en-US" dirty="0"/>
              <a:t>的寻址方式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EDD69B14-BB39-4820-BD4B-6526528A9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578" y="1204905"/>
            <a:ext cx="8097378" cy="5637024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寄存器寻址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变址寻址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立即数寻址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PC</a:t>
            </a:r>
            <a:r>
              <a:rPr lang="zh-CN" altLang="en-US" dirty="0"/>
              <a:t>相对寻址 </a:t>
            </a:r>
            <a:r>
              <a:rPr lang="en-US" altLang="zh-CN" b="1" dirty="0" err="1">
                <a:solidFill>
                  <a:srgbClr val="7030A0"/>
                </a:solidFill>
                <a:latin typeface="Courier New" pitchFamily="-65" charset="0"/>
              </a:rPr>
              <a:t>beq</a:t>
            </a:r>
            <a:r>
              <a:rPr lang="en-US" altLang="zh-CN" b="1" dirty="0">
                <a:solidFill>
                  <a:srgbClr val="7030A0"/>
                </a:solidFill>
                <a:latin typeface="Courier New" pitchFamily="-65" charset="0"/>
              </a:rPr>
              <a:t> reg1,reg2,offset</a:t>
            </a:r>
          </a:p>
          <a:p>
            <a:pPr lvl="1">
              <a:defRPr/>
            </a:pPr>
            <a:r>
              <a:rPr lang="en-US" altLang="zh-CN" dirty="0"/>
              <a:t>PC + 4 + 16</a:t>
            </a:r>
            <a:r>
              <a:rPr lang="zh-CN" altLang="en-US" dirty="0"/>
              <a:t>位偏移地址左移两位   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字地址变字节地址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伪直接寻址  </a:t>
            </a:r>
            <a:r>
              <a:rPr lang="en-US" altLang="zh-CN" b="1" dirty="0">
                <a:solidFill>
                  <a:srgbClr val="7030A0"/>
                </a:solidFill>
                <a:latin typeface="Courier New" pitchFamily="-65" charset="0"/>
              </a:rPr>
              <a:t>J label</a:t>
            </a:r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6F92F21-803C-4EFD-AB2E-6D7083068796}"/>
              </a:ext>
            </a:extLst>
          </p:cNvPr>
          <p:cNvGrpSpPr/>
          <p:nvPr/>
        </p:nvGrpSpPr>
        <p:grpSpPr>
          <a:xfrm>
            <a:off x="2813333" y="5499827"/>
            <a:ext cx="5391549" cy="552054"/>
            <a:chOff x="3193651" y="5685261"/>
            <a:chExt cx="5391549" cy="552054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FE24704D-A89A-4181-B0D0-D2C714855952}"/>
                </a:ext>
              </a:extLst>
            </p:cNvPr>
            <p:cNvGrpSpPr/>
            <p:nvPr/>
          </p:nvGrpSpPr>
          <p:grpSpPr>
            <a:xfrm>
              <a:off x="3193651" y="5685262"/>
              <a:ext cx="4729922" cy="552053"/>
              <a:chOff x="1691680" y="4293097"/>
              <a:chExt cx="3672408" cy="428625"/>
            </a:xfrm>
          </p:grpSpPr>
          <p:sp>
            <p:nvSpPr>
              <p:cNvPr id="10" name="矩形 7">
                <a:extLst>
                  <a:ext uri="{FF2B5EF4-FFF2-40B4-BE49-F238E27FC236}">
                    <a16:creationId xmlns:a16="http://schemas.microsoft.com/office/drawing/2014/main" id="{7042E1D1-48EB-4B39-90F9-8EEBDFC5173E}"/>
                  </a:ext>
                </a:extLst>
              </p:cNvPr>
              <p:cNvSpPr/>
              <p:nvPr/>
            </p:nvSpPr>
            <p:spPr>
              <a:xfrm>
                <a:off x="1691680" y="4293097"/>
                <a:ext cx="1180108" cy="428625"/>
              </a:xfrm>
              <a:prstGeom prst="rect">
                <a:avLst/>
              </a:prstGeom>
              <a:gradFill rotWithShape="1">
                <a:gsLst>
                  <a:gs pos="0">
                    <a:srgbClr val="9BBB59">
                      <a:shade val="51000"/>
                      <a:satMod val="130000"/>
                    </a:srgbClr>
                  </a:gs>
                  <a:gs pos="80000">
                    <a:srgbClr val="9BBB59">
                      <a:shade val="93000"/>
                      <a:satMod val="130000"/>
                    </a:srgbClr>
                  </a:gs>
                  <a:gs pos="100000">
                    <a:srgbClr val="9BBB59">
                      <a:shade val="94000"/>
                      <a:satMod val="13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9BBB59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r>
                  <a:rPr lang="en-US" altLang="zh-CN" kern="0" dirty="0">
                    <a:solidFill>
                      <a:sysClr val="window" lastClr="FFFFFF"/>
                    </a:solidFill>
                    <a:latin typeface="+mn-ea"/>
                  </a:rPr>
                  <a:t>PC </a:t>
                </a:r>
                <a:r>
                  <a:rPr lang="zh-CN" altLang="en-US" kern="0" dirty="0">
                    <a:solidFill>
                      <a:sysClr val="window" lastClr="FFFFFF"/>
                    </a:solidFill>
                    <a:latin typeface="+mn-ea"/>
                  </a:rPr>
                  <a:t>高</a:t>
                </a:r>
                <a:r>
                  <a:rPr lang="en-US" altLang="zh-CN" kern="0" dirty="0">
                    <a:solidFill>
                      <a:sysClr val="window" lastClr="FFFFFF"/>
                    </a:solidFill>
                    <a:latin typeface="+mn-ea"/>
                  </a:rPr>
                  <a:t>4</a:t>
                </a:r>
                <a:r>
                  <a:rPr lang="zh-CN" altLang="en-US" kern="0" dirty="0">
                    <a:solidFill>
                      <a:sysClr val="window" lastClr="FFFFFF"/>
                    </a:solidFill>
                    <a:latin typeface="+mn-ea"/>
                  </a:rPr>
                  <a:t>位</a:t>
                </a:r>
              </a:p>
            </p:txBody>
          </p:sp>
          <p:sp>
            <p:nvSpPr>
              <p:cNvPr id="11" name="矩形 26">
                <a:extLst>
                  <a:ext uri="{FF2B5EF4-FFF2-40B4-BE49-F238E27FC236}">
                    <a16:creationId xmlns:a16="http://schemas.microsoft.com/office/drawing/2014/main" id="{FE4EE5DD-8378-4EC2-B94D-365102C4973E}"/>
                  </a:ext>
                </a:extLst>
              </p:cNvPr>
              <p:cNvSpPr/>
              <p:nvPr/>
            </p:nvSpPr>
            <p:spPr>
              <a:xfrm>
                <a:off x="2928938" y="4293097"/>
                <a:ext cx="2435150" cy="428625"/>
              </a:xfrm>
              <a:prstGeom prst="rect">
                <a:avLst/>
              </a:prstGeom>
              <a:gradFill rotWithShape="1">
                <a:gsLst>
                  <a:gs pos="0">
                    <a:srgbClr val="4BACC6">
                      <a:shade val="51000"/>
                      <a:satMod val="130000"/>
                    </a:srgbClr>
                  </a:gs>
                  <a:gs pos="80000">
                    <a:srgbClr val="4BACC6">
                      <a:shade val="93000"/>
                      <a:satMod val="130000"/>
                    </a:srgbClr>
                  </a:gs>
                  <a:gs pos="100000">
                    <a:srgbClr val="4BACC6">
                      <a:shade val="94000"/>
                      <a:satMod val="13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4BACC6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r>
                  <a:rPr lang="en-US" altLang="zh-CN" kern="0" dirty="0">
                    <a:solidFill>
                      <a:sysClr val="window" lastClr="FFFFFF"/>
                    </a:solidFill>
                    <a:latin typeface="+mn-ea"/>
                  </a:rPr>
                  <a:t>26</a:t>
                </a:r>
                <a:r>
                  <a:rPr lang="zh-CN" altLang="en-US" kern="0" dirty="0">
                    <a:solidFill>
                      <a:sysClr val="window" lastClr="FFFFFF"/>
                    </a:solidFill>
                    <a:latin typeface="+mn-ea"/>
                  </a:rPr>
                  <a:t>位立即数</a:t>
                </a:r>
              </a:p>
            </p:txBody>
          </p:sp>
        </p:grpSp>
        <p:sp>
          <p:nvSpPr>
            <p:cNvPr id="9" name="矩形 26">
              <a:extLst>
                <a:ext uri="{FF2B5EF4-FFF2-40B4-BE49-F238E27FC236}">
                  <a16:creationId xmlns:a16="http://schemas.microsoft.com/office/drawing/2014/main" id="{8850D88E-83C3-423A-B3A3-11C193E369F2}"/>
                </a:ext>
              </a:extLst>
            </p:cNvPr>
            <p:cNvSpPr/>
            <p:nvPr/>
          </p:nvSpPr>
          <p:spPr>
            <a:xfrm>
              <a:off x="7997180" y="5685261"/>
              <a:ext cx="588020" cy="552053"/>
            </a:xfrm>
            <a:prstGeom prst="rect">
              <a:avLst/>
            </a:prstGeom>
            <a:gradFill rotWithShape="1">
              <a:gsLst>
                <a:gs pos="0">
                  <a:srgbClr val="4BACC6">
                    <a:shade val="51000"/>
                    <a:satMod val="130000"/>
                  </a:srgbClr>
                </a:gs>
                <a:gs pos="80000">
                  <a:srgbClr val="4BACC6">
                    <a:shade val="93000"/>
                    <a:satMod val="130000"/>
                  </a:srgbClr>
                </a:gs>
                <a:gs pos="100000">
                  <a:srgbClr val="4BACC6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kern="0" dirty="0">
                  <a:solidFill>
                    <a:sysClr val="window" lastClr="FFFFFF"/>
                  </a:solidFill>
                  <a:latin typeface="+mn-ea"/>
                </a:rPr>
                <a:t>00</a:t>
              </a:r>
              <a:endParaRPr lang="zh-CN" altLang="en-US" kern="0" dirty="0">
                <a:solidFill>
                  <a:sysClr val="window" lastClr="FFFFFF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6487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05FFAB1-9771-4D41-92D1-96ADF35735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algn="ctr" eaLnBrk="1" hangingPunct="1"/>
            <a:r>
              <a:rPr lang="zh-CN" altLang="en-US" b="1"/>
              <a:t>第</a:t>
            </a:r>
            <a:r>
              <a:rPr lang="en-US" altLang="zh-CN" b="1"/>
              <a:t>5</a:t>
            </a:r>
            <a:r>
              <a:rPr lang="zh-CN" altLang="en-US" b="1"/>
              <a:t>章 指令系统</a:t>
            </a:r>
          </a:p>
        </p:txBody>
      </p:sp>
      <p:sp>
        <p:nvSpPr>
          <p:cNvPr id="14339" name="内容占位符 1">
            <a:extLst>
              <a:ext uri="{FF2B5EF4-FFF2-40B4-BE49-F238E27FC236}">
                <a16:creationId xmlns:a16="http://schemas.microsoft.com/office/drawing/2014/main" id="{877C247C-809B-4347-98C0-B44484B4F3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23975" y="1549400"/>
            <a:ext cx="7450138" cy="4525963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5.1</a:t>
            </a:r>
            <a:r>
              <a:rPr lang="zh-CN" altLang="en-US" dirty="0"/>
              <a:t>指令系统概述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5.2 </a:t>
            </a:r>
            <a:r>
              <a:rPr lang="zh-CN" altLang="en-US" dirty="0"/>
              <a:t>指令的格式 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5.3</a:t>
            </a:r>
            <a:r>
              <a:rPr lang="zh-CN" altLang="en-US" dirty="0"/>
              <a:t>寻址方式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5.4 </a:t>
            </a:r>
            <a:r>
              <a:rPr lang="zh-CN" altLang="en-US" dirty="0"/>
              <a:t>指令的分类 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5.5 MIPS32</a:t>
            </a:r>
            <a:r>
              <a:rPr lang="zh-CN" altLang="en-US" dirty="0"/>
              <a:t>指令简介 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5.6</a:t>
            </a:r>
            <a:r>
              <a:rPr lang="zh-CN" altLang="en-US" dirty="0"/>
              <a:t>常用</a:t>
            </a:r>
            <a:r>
              <a:rPr lang="en-US" altLang="zh-CN" dirty="0"/>
              <a:t>MIPS</a:t>
            </a:r>
            <a:r>
              <a:rPr lang="zh-CN" altLang="en-US" dirty="0"/>
              <a:t>汇编指令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5.7 MISP</a:t>
            </a:r>
            <a:r>
              <a:rPr lang="zh-CN" altLang="en-US" dirty="0"/>
              <a:t>指令与</a:t>
            </a:r>
            <a:r>
              <a:rPr lang="en-US" altLang="zh-CN" dirty="0"/>
              <a:t>C</a:t>
            </a:r>
            <a:r>
              <a:rPr lang="zh-CN" altLang="en-US" dirty="0"/>
              <a:t>语言程序的关系</a:t>
            </a:r>
          </a:p>
        </p:txBody>
      </p:sp>
      <p:sp>
        <p:nvSpPr>
          <p:cNvPr id="14340" name="AutoShape 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763C9C2-A3C4-4B61-A6D4-65AEB7144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9963" y="6499225"/>
            <a:ext cx="184150" cy="368300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D67CA4-03D2-4867-8379-5DE67C6D1C43}"/>
              </a:ext>
            </a:extLst>
          </p:cNvPr>
          <p:cNvSpPr/>
          <p:nvPr/>
        </p:nvSpPr>
        <p:spPr>
          <a:xfrm>
            <a:off x="1323975" y="4437063"/>
            <a:ext cx="4219575" cy="584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200" kern="0" dirty="0">
                <a:solidFill>
                  <a:srgbClr val="000000"/>
                </a:solidFill>
              </a:rPr>
              <a:t>5.6</a:t>
            </a:r>
            <a:r>
              <a:rPr lang="zh-CN" altLang="en-US" sz="3200" kern="0" dirty="0">
                <a:solidFill>
                  <a:srgbClr val="000000"/>
                </a:solidFill>
              </a:rPr>
              <a:t>常用</a:t>
            </a:r>
            <a:r>
              <a:rPr lang="en-US" altLang="zh-CN" sz="3200" kern="0" dirty="0">
                <a:solidFill>
                  <a:srgbClr val="000000"/>
                </a:solidFill>
              </a:rPr>
              <a:t>MIPS</a:t>
            </a:r>
            <a:r>
              <a:rPr lang="zh-CN" altLang="en-US" sz="3200" kern="0" dirty="0">
                <a:solidFill>
                  <a:srgbClr val="000000"/>
                </a:solidFill>
              </a:rPr>
              <a:t>汇编指令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:a16="http://schemas.microsoft.com/office/drawing/2014/main" id="{3EE67A2D-F4FB-4218-A1AB-FF4E1A7877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5.6</a:t>
            </a:r>
            <a:r>
              <a:rPr lang="zh-CN" altLang="en-US"/>
              <a:t>常用</a:t>
            </a:r>
            <a:r>
              <a:rPr lang="en-US" altLang="zh-CN"/>
              <a:t>MIPS</a:t>
            </a:r>
            <a:r>
              <a:rPr lang="zh-CN" altLang="en-US"/>
              <a:t>汇编指令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45688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5.6.1</a:t>
            </a:r>
            <a:r>
              <a:rPr lang="zh-CN" altLang="en-US" dirty="0"/>
              <a:t>数据传送类指令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5.6.2</a:t>
            </a:r>
            <a:r>
              <a:rPr lang="zh-CN" altLang="en-US" dirty="0"/>
              <a:t>算术运算和逻辑运算指令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5.6.3</a:t>
            </a:r>
            <a:r>
              <a:rPr lang="zh-CN" altLang="en-US" dirty="0"/>
              <a:t>移位类指令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5.6.4</a:t>
            </a:r>
            <a:r>
              <a:rPr lang="zh-CN" altLang="en-US" dirty="0"/>
              <a:t>程序控制类指令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7021F6-595D-4D1A-9BC5-67C38B3573D3}"/>
              </a:ext>
            </a:extLst>
          </p:cNvPr>
          <p:cNvSpPr/>
          <p:nvPr/>
        </p:nvSpPr>
        <p:spPr>
          <a:xfrm>
            <a:off x="900113" y="1700213"/>
            <a:ext cx="3967162" cy="58578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200" kern="0" dirty="0">
                <a:solidFill>
                  <a:srgbClr val="000000"/>
                </a:solidFill>
              </a:rPr>
              <a:t>5.6.1</a:t>
            </a:r>
            <a:r>
              <a:rPr lang="zh-CN" altLang="en-US" sz="3200" kern="0" dirty="0">
                <a:solidFill>
                  <a:srgbClr val="000000"/>
                </a:solidFill>
              </a:rPr>
              <a:t>数据传送类指令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9DFB345-B27F-4EA6-A884-15F544691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5.6.1</a:t>
            </a:r>
            <a:r>
              <a:rPr lang="zh-CN" altLang="en-US" dirty="0"/>
              <a:t>数据传送类指令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8D51FA8-E4B6-4C85-B006-C682F63D7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867" y="942764"/>
            <a:ext cx="7886699" cy="1550132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1.	</a:t>
            </a:r>
            <a:r>
              <a:rPr lang="zh-CN" altLang="en-US" dirty="0"/>
              <a:t>寄存器到存储器（存数指令）</a:t>
            </a:r>
            <a:endParaRPr lang="en-US" altLang="zh-CN" dirty="0"/>
          </a:p>
          <a:p>
            <a:pPr lvl="1"/>
            <a:r>
              <a:rPr lang="zh-CN" altLang="en-US" dirty="0"/>
              <a:t>将存放在寄存器中的数据写入到数据存储器 </a:t>
            </a:r>
            <a:endParaRPr lang="en-US" altLang="zh-CN" dirty="0"/>
          </a:p>
          <a:p>
            <a:pPr lvl="1"/>
            <a:r>
              <a:rPr lang="zh-CN" altLang="en-US" dirty="0"/>
              <a:t>寄存器</a:t>
            </a:r>
            <a:r>
              <a:rPr lang="en-US" altLang="zh-CN" dirty="0"/>
              <a:t>32</a:t>
            </a:r>
            <a:r>
              <a:rPr lang="zh-CN" altLang="en-US" dirty="0"/>
              <a:t>位              存储器：</a:t>
            </a:r>
            <a:r>
              <a:rPr lang="en-US" altLang="zh-CN" dirty="0"/>
              <a:t>8</a:t>
            </a:r>
            <a:r>
              <a:rPr lang="zh-CN" altLang="en-US" dirty="0"/>
              <a:t>位    </a:t>
            </a:r>
            <a:r>
              <a:rPr lang="en-US" altLang="zh-CN" dirty="0"/>
              <a:t>16</a:t>
            </a:r>
            <a:r>
              <a:rPr lang="zh-CN" altLang="en-US" dirty="0"/>
              <a:t>位   </a:t>
            </a:r>
            <a:r>
              <a:rPr lang="en-US" altLang="zh-CN" dirty="0"/>
              <a:t>32</a:t>
            </a:r>
            <a:r>
              <a:rPr lang="zh-CN" altLang="en-US" dirty="0"/>
              <a:t>位 </a:t>
            </a:r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55E89B0-C96C-4368-825C-41C87E9608C3}"/>
              </a:ext>
            </a:extLst>
          </p:cNvPr>
          <p:cNvGraphicFramePr>
            <a:graphicFrameLocks noGrp="1"/>
          </p:cNvGraphicFramePr>
          <p:nvPr/>
        </p:nvGraphicFramePr>
        <p:xfrm>
          <a:off x="388493" y="2420888"/>
          <a:ext cx="8310590" cy="3123084"/>
        </p:xfrm>
        <a:graphic>
          <a:graphicData uri="http://schemas.openxmlformats.org/drawingml/2006/table">
            <a:tbl>
              <a:tblPr firstRow="1" firstCol="1" bandRow="1"/>
              <a:tblGrid>
                <a:gridCol w="1397821">
                  <a:extLst>
                    <a:ext uri="{9D8B030D-6E8A-4147-A177-3AD203B41FA5}">
                      <a16:colId xmlns:a16="http://schemas.microsoft.com/office/drawing/2014/main" val="329287828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804317553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3569452283"/>
                    </a:ext>
                  </a:extLst>
                </a:gridCol>
                <a:gridCol w="3816425">
                  <a:extLst>
                    <a:ext uri="{9D8B030D-6E8A-4147-A177-3AD203B41FA5}">
                      <a16:colId xmlns:a16="http://schemas.microsoft.com/office/drawing/2014/main" val="4226396813"/>
                    </a:ext>
                  </a:extLst>
                </a:gridCol>
              </a:tblGrid>
              <a:tr h="1249233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功能说明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Opcode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汇编指令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操作描述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9699205"/>
                  </a:ext>
                </a:extLst>
              </a:tr>
              <a:tr h="624617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存字节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28H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SB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rt,offset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Mem[G[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]+offset][7:0]</a:t>
                      </a: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R[rt][7:0]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8026716"/>
                  </a:ext>
                </a:extLst>
              </a:tr>
              <a:tr h="624617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存半字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29H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rt,offset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Mem[G[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]+offset] [15:0]</a:t>
                      </a: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R[rt][15:0]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53233"/>
                  </a:ext>
                </a:extLst>
              </a:tr>
              <a:tr h="624617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存字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2BH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SW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rt,offset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Mem[G[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]+offset]</a:t>
                      </a: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R[rt]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659141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E512566B-5157-4B1D-A70B-A044A585867A}"/>
              </a:ext>
            </a:extLst>
          </p:cNvPr>
          <p:cNvSpPr/>
          <p:nvPr/>
        </p:nvSpPr>
        <p:spPr>
          <a:xfrm>
            <a:off x="888835" y="5769388"/>
            <a:ext cx="6840761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2667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半字地址必须是偶数地址（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</a:t>
            </a:r>
            <a:r>
              <a:rPr kumimoji="0" lang="en-US" altLang="zh-CN" sz="2400" b="0" i="0" u="none" strike="noStrike" kern="100" cap="none" spc="0" normalizeH="0" baseline="-2500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0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=0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），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字地址必须是四的整数倍（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A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A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0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=0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66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9DFB345-B27F-4EA6-A884-15F544691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5.6.1</a:t>
            </a:r>
            <a:r>
              <a:rPr lang="zh-CN" altLang="en-US" dirty="0"/>
              <a:t>数据传送类指令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8D51FA8-E4B6-4C85-B006-C682F63D7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867" y="942764"/>
            <a:ext cx="7886699" cy="1550132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2.	</a:t>
            </a:r>
            <a:r>
              <a:rPr lang="zh-CN" altLang="en-US" dirty="0"/>
              <a:t>存储器到寄存器（取数指令）</a:t>
            </a:r>
            <a:endParaRPr lang="en-US" altLang="zh-CN" dirty="0"/>
          </a:p>
          <a:p>
            <a:pPr lvl="1"/>
            <a:r>
              <a:rPr lang="zh-CN" altLang="en-US" dirty="0"/>
              <a:t>指将存储器中的数据取出放入寄存器中</a:t>
            </a:r>
            <a:endParaRPr lang="en-US" altLang="zh-CN" dirty="0"/>
          </a:p>
          <a:p>
            <a:pPr lvl="1"/>
            <a:r>
              <a:rPr lang="zh-CN" altLang="en-US" dirty="0"/>
              <a:t>寄存器</a:t>
            </a:r>
            <a:r>
              <a:rPr lang="en-US" altLang="zh-CN" dirty="0"/>
              <a:t>32</a:t>
            </a:r>
            <a:r>
              <a:rPr lang="zh-CN" altLang="en-US" dirty="0"/>
              <a:t>位              存储器：</a:t>
            </a:r>
            <a:r>
              <a:rPr lang="en-US" altLang="zh-CN" dirty="0"/>
              <a:t>8</a:t>
            </a:r>
            <a:r>
              <a:rPr lang="zh-CN" altLang="en-US" dirty="0"/>
              <a:t>位    </a:t>
            </a:r>
            <a:r>
              <a:rPr lang="en-US" altLang="zh-CN" dirty="0"/>
              <a:t>16</a:t>
            </a:r>
            <a:r>
              <a:rPr lang="zh-CN" altLang="en-US" dirty="0"/>
              <a:t>位   </a:t>
            </a:r>
            <a:r>
              <a:rPr lang="en-US" altLang="zh-CN" dirty="0"/>
              <a:t>32</a:t>
            </a:r>
            <a:r>
              <a:rPr lang="zh-CN" altLang="en-US" dirty="0"/>
              <a:t>位 </a:t>
            </a:r>
          </a:p>
          <a:p>
            <a:pPr marL="342900" lvl="1" indent="0">
              <a:buNone/>
            </a:pPr>
            <a:endParaRPr lang="zh-CN" altLang="en-US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B88AA96-CBDC-4D8F-B7C9-BF825194F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394878"/>
              </p:ext>
            </p:extLst>
          </p:nvPr>
        </p:nvGraphicFramePr>
        <p:xfrm>
          <a:off x="467544" y="2384090"/>
          <a:ext cx="8407846" cy="3962030"/>
        </p:xfrm>
        <a:graphic>
          <a:graphicData uri="http://schemas.openxmlformats.org/drawingml/2006/table">
            <a:tbl>
              <a:tblPr firstRow="1" firstCol="1" bandRow="1"/>
              <a:tblGrid>
                <a:gridCol w="2664296">
                  <a:extLst>
                    <a:ext uri="{9D8B030D-6E8A-4147-A177-3AD203B41FA5}">
                      <a16:colId xmlns:a16="http://schemas.microsoft.com/office/drawing/2014/main" val="1576131471"/>
                    </a:ext>
                  </a:extLst>
                </a:gridCol>
                <a:gridCol w="5743550">
                  <a:extLst>
                    <a:ext uri="{9D8B030D-6E8A-4147-A177-3AD203B41FA5}">
                      <a16:colId xmlns:a16="http://schemas.microsoft.com/office/drawing/2014/main" val="483469066"/>
                    </a:ext>
                  </a:extLst>
                </a:gridCol>
              </a:tblGrid>
              <a:tr h="719254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汇编指令</a:t>
                      </a:r>
                      <a:endParaRPr lang="zh-CN" sz="24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7" marR="629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操作描述</a:t>
                      </a:r>
                      <a:endParaRPr lang="zh-CN" sz="24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7" marR="629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734794"/>
                  </a:ext>
                </a:extLst>
              </a:tr>
              <a:tr h="719254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LB </a:t>
                      </a:r>
                      <a:r>
                        <a:rPr lang="en-US" sz="24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rt,offset</a:t>
                      </a:r>
                      <a:r>
                        <a:rPr lang="en-US" sz="24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24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4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7" marR="6291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R[rt] </a:t>
                      </a: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{24</a:t>
                      </a: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位符号扩展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,Mem[G[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]+offset][7:0]}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7" marR="6291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6285982"/>
                  </a:ext>
                </a:extLst>
              </a:tr>
              <a:tr h="719254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LBU </a:t>
                      </a:r>
                      <a:r>
                        <a:rPr lang="en-US" sz="24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rt,offset</a:t>
                      </a:r>
                      <a:r>
                        <a:rPr lang="en-US" sz="24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24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4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7" marR="6291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R[rt] </a:t>
                      </a: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{24’h0,Mem[G[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]+offset][7:0]}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7" marR="6291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1810"/>
                  </a:ext>
                </a:extLst>
              </a:tr>
              <a:tr h="719254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LH </a:t>
                      </a:r>
                      <a:r>
                        <a:rPr lang="en-US" sz="24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rt,offset</a:t>
                      </a:r>
                      <a:r>
                        <a:rPr lang="en-US" sz="24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24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4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7" marR="6291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R[rt] </a:t>
                      </a: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{16</a:t>
                      </a: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位符号扩展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,Mem[G[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]+offset][15:0]}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7" marR="6291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3592308"/>
                  </a:ext>
                </a:extLst>
              </a:tr>
              <a:tr h="719254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LHU rt,offset(rs)</a:t>
                      </a:r>
                      <a:endParaRPr lang="zh-CN" sz="24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7" marR="6291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R[rt] </a:t>
                      </a: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{24’h0,Mem[G[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]+offset][15:0]}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7" marR="6291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8205043"/>
                  </a:ext>
                </a:extLst>
              </a:tr>
              <a:tr h="359627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LW rt,offset(rs)</a:t>
                      </a:r>
                      <a:endParaRPr lang="zh-CN" sz="24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7" marR="6291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R[rt]</a:t>
                      </a: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Mem[G[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]+offset] 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7" marR="6291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00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720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492EA-ACD0-461E-B268-530142BF2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请分析：</a:t>
            </a:r>
          </a:p>
        </p:txBody>
      </p:sp>
      <p:sp>
        <p:nvSpPr>
          <p:cNvPr id="4" name="Rectangle 38">
            <a:extLst>
              <a:ext uri="{FF2B5EF4-FFF2-40B4-BE49-F238E27FC236}">
                <a16:creationId xmlns:a16="http://schemas.microsoft.com/office/drawing/2014/main" id="{1FEE5859-BF7D-4608-BD43-9A01DC10E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823" y="910878"/>
            <a:ext cx="4636508" cy="4145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562100" indent="-22860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981200" indent="-22860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438400" indent="-22860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895600" indent="-22860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352800" indent="-22860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10000" indent="-22860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cs typeface="+mn-cs"/>
              </a:rPr>
              <a:t>若</a:t>
            </a:r>
            <a:r>
              <a:rPr kumimoji="0" lang="en-US" altLang="zh-TW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cs typeface="+mn-cs"/>
              </a:rPr>
              <a:t>$s0 = 1000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Char char="t"/>
              <a:tabLst/>
              <a:defRPr/>
            </a:pPr>
            <a:endParaRPr kumimoji="0" lang="en-US" altLang="zh-TW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cs typeface="+mn-cs"/>
            </a:endParaRPr>
          </a:p>
          <a:p>
            <a:pPr marL="0" indent="0">
              <a:buClr>
                <a:srgbClr val="0000FF"/>
              </a:buClr>
              <a:buNone/>
            </a:pPr>
            <a:r>
              <a:rPr kumimoji="0" lang="en-US" altLang="zh-TW" sz="3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cs typeface="+mn-cs"/>
              </a:rPr>
              <a:t>lw</a:t>
            </a:r>
            <a:r>
              <a:rPr kumimoji="0" lang="en-US" altLang="zh-TW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cs typeface="+mn-cs"/>
              </a:rPr>
              <a:t> $t0, 12($s0)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n-US" altLang="zh-TW" sz="3600" kern="0" dirty="0" err="1">
                <a:solidFill>
                  <a:srgbClr val="000000"/>
                </a:solidFill>
                <a:latin typeface="Century Gothic"/>
              </a:rPr>
              <a:t>l</a:t>
            </a:r>
            <a:r>
              <a:rPr lang="en-US" altLang="zh-CN" sz="3600" kern="0" dirty="0" err="1">
                <a:solidFill>
                  <a:srgbClr val="000000"/>
                </a:solidFill>
                <a:latin typeface="Century Gothic"/>
              </a:rPr>
              <a:t>b</a:t>
            </a:r>
            <a:r>
              <a:rPr lang="en-US" altLang="zh-TW" sz="3600" kern="0" dirty="0">
                <a:solidFill>
                  <a:srgbClr val="000000"/>
                </a:solidFill>
                <a:latin typeface="Century Gothic"/>
              </a:rPr>
              <a:t> $t0, 12($s0)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n-US" altLang="zh-TW" sz="3600" kern="0" dirty="0" err="1">
                <a:solidFill>
                  <a:srgbClr val="000000"/>
                </a:solidFill>
                <a:latin typeface="Century Gothic"/>
              </a:rPr>
              <a:t>l</a:t>
            </a:r>
            <a:r>
              <a:rPr lang="en-US" altLang="zh-CN" sz="3600" kern="0" dirty="0" err="1">
                <a:solidFill>
                  <a:srgbClr val="000000"/>
                </a:solidFill>
                <a:latin typeface="Century Gothic"/>
              </a:rPr>
              <a:t>h</a:t>
            </a:r>
            <a:r>
              <a:rPr lang="en-US" altLang="zh-TW" sz="3600" kern="0" dirty="0">
                <a:solidFill>
                  <a:srgbClr val="000000"/>
                </a:solidFill>
                <a:latin typeface="Century Gothic"/>
              </a:rPr>
              <a:t> $t0, 12($s0)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n-US" altLang="zh-TW" sz="3600" kern="0" dirty="0" err="1">
                <a:solidFill>
                  <a:srgbClr val="000000"/>
                </a:solidFill>
                <a:latin typeface="Century Gothic"/>
              </a:rPr>
              <a:t>l</a:t>
            </a:r>
            <a:r>
              <a:rPr lang="en-US" altLang="zh-CN" sz="3600" kern="0" dirty="0" err="1">
                <a:solidFill>
                  <a:srgbClr val="000000"/>
                </a:solidFill>
                <a:latin typeface="Century Gothic"/>
              </a:rPr>
              <a:t>bu</a:t>
            </a:r>
            <a:r>
              <a:rPr lang="en-US" altLang="zh-TW" sz="3600" kern="0" dirty="0">
                <a:solidFill>
                  <a:srgbClr val="000000"/>
                </a:solidFill>
                <a:latin typeface="Century Gothic"/>
              </a:rPr>
              <a:t> $t0, 12($s0)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n-US" altLang="zh-TW" sz="3600" kern="0" dirty="0" err="1">
                <a:solidFill>
                  <a:srgbClr val="000000"/>
                </a:solidFill>
                <a:latin typeface="Century Gothic"/>
              </a:rPr>
              <a:t>l</a:t>
            </a:r>
            <a:r>
              <a:rPr lang="en-US" altLang="zh-CN" sz="3600" kern="0" dirty="0" err="1">
                <a:solidFill>
                  <a:srgbClr val="000000"/>
                </a:solidFill>
                <a:latin typeface="Century Gothic"/>
              </a:rPr>
              <a:t>hu</a:t>
            </a:r>
            <a:r>
              <a:rPr lang="en-US" altLang="zh-TW" sz="3600" kern="0" dirty="0">
                <a:solidFill>
                  <a:srgbClr val="000000"/>
                </a:solidFill>
                <a:latin typeface="Century Gothic"/>
              </a:rPr>
              <a:t> $t0, 12($s0)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None/>
              <a:tabLst/>
              <a:defRPr/>
            </a:pPr>
            <a:endParaRPr kumimoji="0" lang="en-US" altLang="zh-TW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Char char="t"/>
              <a:tabLst/>
              <a:defRPr/>
            </a:pPr>
            <a:endParaRPr kumimoji="0" lang="zh-TW" altLang="en-US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481227E-A0D7-4D6D-8392-A2D34E4F462F}"/>
              </a:ext>
            </a:extLst>
          </p:cNvPr>
          <p:cNvSpPr/>
          <p:nvPr/>
        </p:nvSpPr>
        <p:spPr>
          <a:xfrm>
            <a:off x="6509295" y="1047403"/>
            <a:ext cx="1979613" cy="4618038"/>
          </a:xfrm>
          <a:prstGeom prst="rect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0" cap="none" spc="0" normalizeH="0" baseline="0" noProof="0">
              <a:ln>
                <a:noFill/>
              </a:ln>
              <a:solidFill>
                <a:srgbClr val="BAC8F1"/>
              </a:solidFill>
              <a:effectLst/>
              <a:uLnTx/>
              <a:uFillTx/>
              <a:latin typeface="Century Gothic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6BD779-6E36-47AD-88E7-EFC80FC454D7}"/>
              </a:ext>
            </a:extLst>
          </p:cNvPr>
          <p:cNvSpPr/>
          <p:nvPr/>
        </p:nvSpPr>
        <p:spPr>
          <a:xfrm>
            <a:off x="6444208" y="980728"/>
            <a:ext cx="2111375" cy="131763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0" cap="none" spc="0" normalizeH="0" baseline="0" noProof="0">
              <a:ln>
                <a:noFill/>
              </a:ln>
              <a:solidFill>
                <a:srgbClr val="BAC8F1"/>
              </a:solidFill>
              <a:effectLst/>
              <a:uLnTx/>
              <a:uFillTx/>
              <a:latin typeface="Century Gothic"/>
              <a:cs typeface="+mn-cs"/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9E80C77-6191-4E70-9DFE-D7ED950061BD}"/>
              </a:ext>
            </a:extLst>
          </p:cNvPr>
          <p:cNvCxnSpPr/>
          <p:nvPr/>
        </p:nvCxnSpPr>
        <p:spPr>
          <a:xfrm>
            <a:off x="6509295" y="1706216"/>
            <a:ext cx="1979613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96D7A809-6371-4BB8-9B49-13E886386CFB}"/>
              </a:ext>
            </a:extLst>
          </p:cNvPr>
          <p:cNvCxnSpPr/>
          <p:nvPr/>
        </p:nvCxnSpPr>
        <p:spPr>
          <a:xfrm>
            <a:off x="6509295" y="3685828"/>
            <a:ext cx="1979613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021CE773-C968-4BAA-8914-5B2886794C56}"/>
              </a:ext>
            </a:extLst>
          </p:cNvPr>
          <p:cNvCxnSpPr/>
          <p:nvPr/>
        </p:nvCxnSpPr>
        <p:spPr>
          <a:xfrm>
            <a:off x="6509295" y="4346228"/>
            <a:ext cx="1979613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FC4B9154-B97A-41E4-A0D3-5B7F5C5105DB}"/>
              </a:ext>
            </a:extLst>
          </p:cNvPr>
          <p:cNvCxnSpPr/>
          <p:nvPr/>
        </p:nvCxnSpPr>
        <p:spPr>
          <a:xfrm>
            <a:off x="6509295" y="5006628"/>
            <a:ext cx="1979613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FE48D9EB-EFF0-468A-A241-0043DD01B35F}"/>
              </a:ext>
            </a:extLst>
          </p:cNvPr>
          <p:cNvCxnSpPr/>
          <p:nvPr/>
        </p:nvCxnSpPr>
        <p:spPr>
          <a:xfrm>
            <a:off x="6509295" y="2366616"/>
            <a:ext cx="1979613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3A96DB49-4FED-43C0-AEFD-319E715FBF38}"/>
              </a:ext>
            </a:extLst>
          </p:cNvPr>
          <p:cNvCxnSpPr/>
          <p:nvPr/>
        </p:nvCxnSpPr>
        <p:spPr>
          <a:xfrm>
            <a:off x="6509295" y="3020666"/>
            <a:ext cx="1979613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926B33B2-44A9-4D46-A5B4-AD379F3B6A57}"/>
              </a:ext>
            </a:extLst>
          </p:cNvPr>
          <p:cNvCxnSpPr/>
          <p:nvPr/>
        </p:nvCxnSpPr>
        <p:spPr>
          <a:xfrm>
            <a:off x="6509295" y="1876078"/>
            <a:ext cx="1979613" cy="0"/>
          </a:xfrm>
          <a:prstGeom prst="line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</a:ln>
          <a:effectLst/>
        </p:spPr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05224E72-429A-4CAB-8059-3BE34E9C4FE1}"/>
              </a:ext>
            </a:extLst>
          </p:cNvPr>
          <p:cNvCxnSpPr/>
          <p:nvPr/>
        </p:nvCxnSpPr>
        <p:spPr>
          <a:xfrm>
            <a:off x="6509295" y="2036416"/>
            <a:ext cx="1979613" cy="0"/>
          </a:xfrm>
          <a:prstGeom prst="line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</a:ln>
          <a:effectLst/>
        </p:spPr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FC3EC5EA-1867-4A4B-94A4-E7064E7AAF81}"/>
              </a:ext>
            </a:extLst>
          </p:cNvPr>
          <p:cNvCxnSpPr/>
          <p:nvPr/>
        </p:nvCxnSpPr>
        <p:spPr>
          <a:xfrm>
            <a:off x="6509295" y="2212628"/>
            <a:ext cx="1979613" cy="0"/>
          </a:xfrm>
          <a:prstGeom prst="line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</a:ln>
          <a:effectLst/>
        </p:spPr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0F83E4BE-6D0E-4414-9F96-66994661D158}"/>
              </a:ext>
            </a:extLst>
          </p:cNvPr>
          <p:cNvCxnSpPr/>
          <p:nvPr/>
        </p:nvCxnSpPr>
        <p:spPr>
          <a:xfrm>
            <a:off x="6509295" y="2536478"/>
            <a:ext cx="1979613" cy="0"/>
          </a:xfrm>
          <a:prstGeom prst="line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</a:ln>
          <a:effectLst/>
        </p:spPr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B9553EC4-D5C7-4210-A844-F5C8E78F080F}"/>
              </a:ext>
            </a:extLst>
          </p:cNvPr>
          <p:cNvCxnSpPr/>
          <p:nvPr/>
        </p:nvCxnSpPr>
        <p:spPr>
          <a:xfrm>
            <a:off x="6509295" y="2696816"/>
            <a:ext cx="1979613" cy="0"/>
          </a:xfrm>
          <a:prstGeom prst="line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</a:ln>
          <a:effectLst/>
        </p:spPr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A7A3366C-7FC5-4CAA-8850-DDF35DD3D2F2}"/>
              </a:ext>
            </a:extLst>
          </p:cNvPr>
          <p:cNvCxnSpPr/>
          <p:nvPr/>
        </p:nvCxnSpPr>
        <p:spPr>
          <a:xfrm>
            <a:off x="6509295" y="2871441"/>
            <a:ext cx="1979613" cy="0"/>
          </a:xfrm>
          <a:prstGeom prst="line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</a:ln>
          <a:effectLst/>
        </p:spPr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7D9C79B-D3C1-4E3B-8677-49269A6E8FC9}"/>
              </a:ext>
            </a:extLst>
          </p:cNvPr>
          <p:cNvCxnSpPr/>
          <p:nvPr/>
        </p:nvCxnSpPr>
        <p:spPr>
          <a:xfrm>
            <a:off x="6509295" y="3196878"/>
            <a:ext cx="1979613" cy="0"/>
          </a:xfrm>
          <a:prstGeom prst="line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</a:ln>
          <a:effectLst/>
        </p:spPr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DDCD2674-0C91-4B11-A7D9-50167A984BC1}"/>
              </a:ext>
            </a:extLst>
          </p:cNvPr>
          <p:cNvCxnSpPr/>
          <p:nvPr/>
        </p:nvCxnSpPr>
        <p:spPr>
          <a:xfrm>
            <a:off x="6509295" y="3357216"/>
            <a:ext cx="1979613" cy="0"/>
          </a:xfrm>
          <a:prstGeom prst="line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</a:ln>
          <a:effectLst/>
        </p:spPr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CDB945B0-AC1B-4E11-974D-7DA6DD0BF416}"/>
              </a:ext>
            </a:extLst>
          </p:cNvPr>
          <p:cNvCxnSpPr/>
          <p:nvPr/>
        </p:nvCxnSpPr>
        <p:spPr>
          <a:xfrm>
            <a:off x="6509295" y="3531841"/>
            <a:ext cx="1979613" cy="0"/>
          </a:xfrm>
          <a:prstGeom prst="line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</a:ln>
          <a:effectLst/>
        </p:spPr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A602F76E-026B-4715-92B9-8A7B38314A28}"/>
              </a:ext>
            </a:extLst>
          </p:cNvPr>
          <p:cNvCxnSpPr/>
          <p:nvPr/>
        </p:nvCxnSpPr>
        <p:spPr>
          <a:xfrm>
            <a:off x="6509295" y="3855691"/>
            <a:ext cx="1979613" cy="0"/>
          </a:xfrm>
          <a:prstGeom prst="line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</a:ln>
          <a:effectLst/>
        </p:spPr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491F250D-1744-4AFF-AA14-B748852B9210}"/>
              </a:ext>
            </a:extLst>
          </p:cNvPr>
          <p:cNvCxnSpPr/>
          <p:nvPr/>
        </p:nvCxnSpPr>
        <p:spPr>
          <a:xfrm>
            <a:off x="6509295" y="4016028"/>
            <a:ext cx="1979613" cy="0"/>
          </a:xfrm>
          <a:prstGeom prst="line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</a:ln>
          <a:effectLst/>
        </p:spPr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FCB1EA5F-C936-4773-9306-9123DCFFE9DD}"/>
              </a:ext>
            </a:extLst>
          </p:cNvPr>
          <p:cNvCxnSpPr/>
          <p:nvPr/>
        </p:nvCxnSpPr>
        <p:spPr>
          <a:xfrm>
            <a:off x="6509295" y="4192241"/>
            <a:ext cx="1979613" cy="0"/>
          </a:xfrm>
          <a:prstGeom prst="line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</a:ln>
          <a:effectLst/>
        </p:spPr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A94D5D32-4F24-411F-B698-631075BA8EB7}"/>
              </a:ext>
            </a:extLst>
          </p:cNvPr>
          <p:cNvCxnSpPr/>
          <p:nvPr/>
        </p:nvCxnSpPr>
        <p:spPr>
          <a:xfrm>
            <a:off x="6509295" y="4516091"/>
            <a:ext cx="1979613" cy="0"/>
          </a:xfrm>
          <a:prstGeom prst="line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</a:ln>
          <a:effectLst/>
        </p:spPr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FB8775D2-9B84-409E-8B58-7D3C8DECC492}"/>
              </a:ext>
            </a:extLst>
          </p:cNvPr>
          <p:cNvCxnSpPr/>
          <p:nvPr/>
        </p:nvCxnSpPr>
        <p:spPr>
          <a:xfrm>
            <a:off x="6509295" y="4676428"/>
            <a:ext cx="1979613" cy="0"/>
          </a:xfrm>
          <a:prstGeom prst="line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</a:ln>
          <a:effectLst/>
        </p:spPr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912A0380-1122-4A46-B2AC-B2B4799F5F96}"/>
              </a:ext>
            </a:extLst>
          </p:cNvPr>
          <p:cNvCxnSpPr/>
          <p:nvPr/>
        </p:nvCxnSpPr>
        <p:spPr>
          <a:xfrm>
            <a:off x="6509295" y="4852641"/>
            <a:ext cx="1979613" cy="0"/>
          </a:xfrm>
          <a:prstGeom prst="line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</a:ln>
          <a:effectLst/>
        </p:spPr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6F588D86-6155-400F-B390-054BB6B1A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3033" y="1039466"/>
            <a:ext cx="593725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‧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‧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‧</a:t>
            </a:r>
            <a:endParaRPr lang="zh-TW" altLang="en-US" sz="1400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71F2CD37-551B-48EE-9D9F-8E11C7B3C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3033" y="4989166"/>
            <a:ext cx="593725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‧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‧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‧</a:t>
            </a:r>
            <a:endParaRPr lang="zh-TW" altLang="en-US" sz="1400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F2664400-1459-4ADC-94D4-E20148EFC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1845" y="1609378"/>
            <a:ext cx="1187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1000</a:t>
            </a:r>
            <a:endParaRPr lang="zh-TW" altLang="en-US" sz="2000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726E959-E6ED-40B2-84B3-157219498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1845" y="2928591"/>
            <a:ext cx="1187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1008</a:t>
            </a:r>
            <a:endParaRPr lang="zh-TW" altLang="en-US" sz="2000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02A324B-7064-44DC-AEE5-3B6341071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1845" y="2253903"/>
            <a:ext cx="1187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1004</a:t>
            </a:r>
            <a:endParaRPr lang="zh-TW" altLang="en-US" sz="2000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9D8D7CDC-E763-4F1F-A70E-F58295447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1845" y="3582641"/>
            <a:ext cx="1187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1012</a:t>
            </a:r>
            <a:endParaRPr lang="zh-TW" altLang="en-US" sz="2000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2A3A0D96-DA12-4681-8A90-B1FE16D965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545" y="4239866"/>
            <a:ext cx="11890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1016</a:t>
            </a:r>
            <a:endParaRPr lang="zh-TW" altLang="en-US" sz="2000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6" name="文字方塊 36">
            <a:extLst>
              <a:ext uri="{FF2B5EF4-FFF2-40B4-BE49-F238E27FC236}">
                <a16:creationId xmlns:a16="http://schemas.microsoft.com/office/drawing/2014/main" id="{79BA09A0-2BED-4387-8DF0-AE89B2962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7433" y="682278"/>
            <a:ext cx="1300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Memory</a:t>
            </a:r>
            <a:endParaRPr lang="zh-TW" altLang="en-US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AADF3814-5BA0-4A7D-BF88-537FB4C5C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5570" y="3778499"/>
            <a:ext cx="32394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0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x1234ABCD</a:t>
            </a:r>
            <a:endParaRPr lang="zh-TW" altLang="en-US" dirty="0">
              <a:solidFill>
                <a:srgbClr val="0070C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67CF819-320E-43F5-9509-278DFB99EA28}"/>
              </a:ext>
            </a:extLst>
          </p:cNvPr>
          <p:cNvSpPr/>
          <p:nvPr/>
        </p:nvSpPr>
        <p:spPr>
          <a:xfrm>
            <a:off x="3443550" y="5719416"/>
            <a:ext cx="1633781" cy="5909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lvl="0">
              <a:lnSpc>
                <a:spcPct val="90000"/>
              </a:lnSpc>
              <a:spcBef>
                <a:spcPct val="15000"/>
              </a:spcBef>
              <a:buClr>
                <a:srgbClr val="0000FF"/>
              </a:buClr>
              <a:buSzPct val="75000"/>
              <a:defRPr/>
            </a:pPr>
            <a:r>
              <a:rPr lang="en-US" altLang="zh-TW" sz="3600" b="1" kern="0" dirty="0">
                <a:solidFill>
                  <a:srgbClr val="000000"/>
                </a:solidFill>
                <a:latin typeface="Century Gothic"/>
              </a:rPr>
              <a:t>$t0 = ?</a:t>
            </a:r>
            <a:endParaRPr lang="zh-TW" altLang="en-US" sz="3600" b="1" kern="0" dirty="0">
              <a:solidFill>
                <a:srgbClr val="000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24551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3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9DFB345-B27F-4EA6-A884-15F544691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5.6.1</a:t>
            </a:r>
            <a:r>
              <a:rPr lang="zh-CN" altLang="en-US" dirty="0"/>
              <a:t>数据传送类指令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8D51FA8-E4B6-4C85-B006-C682F63D7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867" y="942764"/>
            <a:ext cx="7886699" cy="2486236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3.	</a:t>
            </a:r>
            <a:r>
              <a:rPr lang="zh-CN" altLang="en-US" dirty="0"/>
              <a:t>寄存器到寄存器</a:t>
            </a:r>
            <a:r>
              <a:rPr lang="en-US" altLang="zh-CN" dirty="0"/>
              <a:t> </a:t>
            </a:r>
            <a:r>
              <a:rPr lang="zh-CN" altLang="en-US" dirty="0"/>
              <a:t>（没有提供）</a:t>
            </a:r>
            <a:endParaRPr lang="en-US" altLang="zh-CN" dirty="0"/>
          </a:p>
          <a:p>
            <a:pPr lvl="1"/>
            <a:r>
              <a:rPr lang="zh-CN" altLang="en-US" dirty="0"/>
              <a:t> 利用</a:t>
            </a:r>
            <a:r>
              <a:rPr lang="en-US" altLang="zh-CN" dirty="0"/>
              <a:t>$0</a:t>
            </a:r>
          </a:p>
          <a:p>
            <a:pPr lvl="1"/>
            <a:r>
              <a:rPr lang="en-US" altLang="zh-CN" dirty="0"/>
              <a:t>ADDU $t1, $s1, $zero</a:t>
            </a:r>
          </a:p>
          <a:p>
            <a:pPr lvl="1"/>
            <a:r>
              <a:rPr lang="en-US" altLang="zh-CN" dirty="0"/>
              <a:t>OR $t1, $s1, $zero</a:t>
            </a:r>
          </a:p>
          <a:p>
            <a:pPr marL="342900" lvl="1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  <a:p>
            <a:pPr marL="342900" lvl="1" indent="0">
              <a:buNone/>
            </a:pPr>
            <a:endParaRPr lang="zh-CN" altLang="en-US" dirty="0"/>
          </a:p>
        </p:txBody>
      </p:sp>
      <p:sp>
        <p:nvSpPr>
          <p:cNvPr id="6" name="内容占位符 4">
            <a:extLst>
              <a:ext uri="{FF2B5EF4-FFF2-40B4-BE49-F238E27FC236}">
                <a16:creationId xmlns:a16="http://schemas.microsoft.com/office/drawing/2014/main" id="{4A97F0F1-E183-42B4-8FDB-E76B7430314D}"/>
              </a:ext>
            </a:extLst>
          </p:cNvPr>
          <p:cNvSpPr txBox="1">
            <a:spLocks/>
          </p:cNvSpPr>
          <p:nvPr/>
        </p:nvSpPr>
        <p:spPr>
          <a:xfrm>
            <a:off x="352903" y="3521408"/>
            <a:ext cx="7886699" cy="2486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just" defTabSz="685800" rtl="0" eaLnBrk="1" latinLnBrk="0" hangingPunct="1">
              <a:lnSpc>
                <a:spcPct val="150000"/>
              </a:lnSpc>
              <a:spcBef>
                <a:spcPts val="750"/>
              </a:spcBef>
              <a:buClr>
                <a:schemeClr val="tx1"/>
              </a:buClr>
              <a:buFont typeface="Wingdings" panose="05000000000000000000" pitchFamily="2" charset="2"/>
              <a:buChar char="u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9600" indent="-266700" algn="just" defTabSz="685800" rtl="0" eaLnBrk="1" latinLnBrk="0" hangingPunct="1">
              <a:lnSpc>
                <a:spcPct val="150000"/>
              </a:lnSpc>
              <a:spcBef>
                <a:spcPts val="375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4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just" defTabSz="685800" rtl="0" eaLnBrk="1" latinLnBrk="0" hangingPunct="1">
              <a:lnSpc>
                <a:spcPct val="150000"/>
              </a:lnSpc>
              <a:spcBef>
                <a:spcPts val="375"/>
              </a:spcBef>
              <a:buClr>
                <a:srgbClr val="FFC000"/>
              </a:buClr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just" defTabSz="685800" rtl="0" eaLnBrk="1" latinLnBrk="0" hangingPunct="1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just" defTabSz="685800" rtl="0" eaLnBrk="1" latinLnBrk="0" hangingPunct="1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1" indent="0" algn="just" defTabSz="685800" rtl="0" eaLnBrk="1" fontAlgn="auto" latinLnBrk="0" hangingPunct="1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09600" marR="0" lvl="1" indent="-266700" algn="just" defTabSz="685800" rtl="0" eaLnBrk="1" fontAlgn="auto" latinLnBrk="0" hangingPunct="1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1" indent="0" algn="just" defTabSz="685800" rtl="0" eaLnBrk="1" fontAlgn="auto" latinLnBrk="0" hangingPunct="1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338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9DFB345-B27F-4EA6-A884-15F544691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5.6.1</a:t>
            </a:r>
            <a:r>
              <a:rPr lang="zh-CN" altLang="en-US" dirty="0"/>
              <a:t>数据传送类指令</a:t>
            </a:r>
          </a:p>
        </p:txBody>
      </p:sp>
      <p:sp>
        <p:nvSpPr>
          <p:cNvPr id="6" name="内容占位符 4">
            <a:extLst>
              <a:ext uri="{FF2B5EF4-FFF2-40B4-BE49-F238E27FC236}">
                <a16:creationId xmlns:a16="http://schemas.microsoft.com/office/drawing/2014/main" id="{4A97F0F1-E183-42B4-8FDB-E76B7430314D}"/>
              </a:ext>
            </a:extLst>
          </p:cNvPr>
          <p:cNvSpPr txBox="1">
            <a:spLocks/>
          </p:cNvSpPr>
          <p:nvPr/>
        </p:nvSpPr>
        <p:spPr>
          <a:xfrm>
            <a:off x="518266" y="3496508"/>
            <a:ext cx="7886699" cy="2486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just" defTabSz="685800" rtl="0" eaLnBrk="1" latinLnBrk="0" hangingPunct="1">
              <a:lnSpc>
                <a:spcPct val="150000"/>
              </a:lnSpc>
              <a:spcBef>
                <a:spcPts val="750"/>
              </a:spcBef>
              <a:buClr>
                <a:schemeClr val="tx1"/>
              </a:buClr>
              <a:buFont typeface="Wingdings" panose="05000000000000000000" pitchFamily="2" charset="2"/>
              <a:buChar char="u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9600" indent="-266700" algn="just" defTabSz="685800" rtl="0" eaLnBrk="1" latinLnBrk="0" hangingPunct="1">
              <a:lnSpc>
                <a:spcPct val="150000"/>
              </a:lnSpc>
              <a:spcBef>
                <a:spcPts val="375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4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just" defTabSz="685800" rtl="0" eaLnBrk="1" latinLnBrk="0" hangingPunct="1">
              <a:lnSpc>
                <a:spcPct val="150000"/>
              </a:lnSpc>
              <a:spcBef>
                <a:spcPts val="375"/>
              </a:spcBef>
              <a:buClr>
                <a:srgbClr val="FFC000"/>
              </a:buClr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just" defTabSz="685800" rtl="0" eaLnBrk="1" latinLnBrk="0" hangingPunct="1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just" defTabSz="685800" rtl="0" eaLnBrk="1" latinLnBrk="0" hangingPunct="1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zh-CN" altLang="en-US" dirty="0"/>
              <a:t>常用寄存器初始化指令：</a:t>
            </a:r>
            <a:endParaRPr lang="en-US" altLang="zh-CN" dirty="0"/>
          </a:p>
          <a:p>
            <a:pPr marL="342900" lvl="1" indent="0" fontAlgn="auto">
              <a:spcAft>
                <a:spcPts val="0"/>
              </a:spcAft>
              <a:buNone/>
            </a:pPr>
            <a:r>
              <a:rPr lang="en-US" altLang="zh-CN" dirty="0"/>
              <a:t>ADDI</a:t>
            </a:r>
            <a:r>
              <a:rPr lang="zh-CN" altLang="en-US" dirty="0"/>
              <a:t>指令</a:t>
            </a:r>
            <a:endParaRPr lang="en-US" altLang="zh-CN" dirty="0"/>
          </a:p>
          <a:p>
            <a:pPr marL="342900" lvl="1" indent="0" fontAlgn="auto">
              <a:spcAft>
                <a:spcPts val="0"/>
              </a:spcAft>
              <a:buNone/>
            </a:pPr>
            <a:r>
              <a:rPr lang="en-US" altLang="zh-CN" dirty="0"/>
              <a:t>ORI</a:t>
            </a:r>
            <a:r>
              <a:rPr lang="zh-CN" altLang="en-US" dirty="0"/>
              <a:t>执行实现寄存器的初始化</a:t>
            </a:r>
            <a:endParaRPr lang="en-US" altLang="zh-CN" dirty="0"/>
          </a:p>
          <a:p>
            <a:pPr marL="342900" lvl="1" indent="0" fontAlgn="auto">
              <a:spcAft>
                <a:spcPts val="0"/>
              </a:spcAft>
              <a:buNone/>
            </a:pPr>
            <a:endParaRPr lang="zh-CN" altLang="en-US" dirty="0"/>
          </a:p>
          <a:p>
            <a:pPr marL="342900" lvl="1" indent="0" fontAlgn="auto">
              <a:spcAft>
                <a:spcPts val="0"/>
              </a:spcAft>
              <a:buNone/>
            </a:pPr>
            <a:endParaRPr lang="zh-CN" altLang="en-US" dirty="0"/>
          </a:p>
        </p:txBody>
      </p:sp>
      <p:sp>
        <p:nvSpPr>
          <p:cNvPr id="9" name="内容占位符 4">
            <a:extLst>
              <a:ext uri="{FF2B5EF4-FFF2-40B4-BE49-F238E27FC236}">
                <a16:creationId xmlns:a16="http://schemas.microsoft.com/office/drawing/2014/main" id="{C3F0473A-0D52-4C0E-8AC4-320C3A2504D7}"/>
              </a:ext>
            </a:extLst>
          </p:cNvPr>
          <p:cNvSpPr txBox="1">
            <a:spLocks/>
          </p:cNvSpPr>
          <p:nvPr/>
        </p:nvSpPr>
        <p:spPr>
          <a:xfrm>
            <a:off x="518266" y="875256"/>
            <a:ext cx="7886699" cy="2486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just" defTabSz="685800" rtl="0" eaLnBrk="1" latinLnBrk="0" hangingPunct="1">
              <a:lnSpc>
                <a:spcPct val="150000"/>
              </a:lnSpc>
              <a:spcBef>
                <a:spcPts val="750"/>
              </a:spcBef>
              <a:buClr>
                <a:schemeClr val="tx1"/>
              </a:buClr>
              <a:buFont typeface="Wingdings" panose="05000000000000000000" pitchFamily="2" charset="2"/>
              <a:buChar char="u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9600" indent="-266700" algn="just" defTabSz="685800" rtl="0" eaLnBrk="1" latinLnBrk="0" hangingPunct="1">
              <a:lnSpc>
                <a:spcPct val="150000"/>
              </a:lnSpc>
              <a:spcBef>
                <a:spcPts val="375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4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just" defTabSz="685800" rtl="0" eaLnBrk="1" latinLnBrk="0" hangingPunct="1">
              <a:lnSpc>
                <a:spcPct val="150000"/>
              </a:lnSpc>
              <a:spcBef>
                <a:spcPts val="375"/>
              </a:spcBef>
              <a:buClr>
                <a:srgbClr val="FFC000"/>
              </a:buClr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just" defTabSz="685800" rtl="0" eaLnBrk="1" latinLnBrk="0" hangingPunct="1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just" defTabSz="685800" rtl="0" eaLnBrk="1" latinLnBrk="0" hangingPunct="1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dirty="0"/>
              <a:t>4.	</a:t>
            </a:r>
            <a:r>
              <a:rPr lang="zh-CN" altLang="en-US" dirty="0"/>
              <a:t>寄存器初始化</a:t>
            </a:r>
            <a:endParaRPr lang="en-US" altLang="zh-CN" dirty="0"/>
          </a:p>
          <a:p>
            <a:pPr marL="342900" lvl="1" indent="0" fontAlgn="auto">
              <a:spcAft>
                <a:spcPts val="0"/>
              </a:spcAft>
              <a:buNone/>
            </a:pPr>
            <a:endParaRPr lang="zh-CN" altLang="en-US" dirty="0"/>
          </a:p>
          <a:p>
            <a:pPr marL="342900" lvl="1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F4F1815-354E-44C7-B069-C3D94B3BE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830068"/>
              </p:ext>
            </p:extLst>
          </p:nvPr>
        </p:nvGraphicFramePr>
        <p:xfrm>
          <a:off x="798223" y="2118374"/>
          <a:ext cx="7326784" cy="853440"/>
        </p:xfrm>
        <a:graphic>
          <a:graphicData uri="http://schemas.openxmlformats.org/drawingml/2006/table">
            <a:tbl>
              <a:tblPr firstRow="1" firstCol="1" bandRow="1"/>
              <a:tblGrid>
                <a:gridCol w="2351771">
                  <a:extLst>
                    <a:ext uri="{9D8B030D-6E8A-4147-A177-3AD203B41FA5}">
                      <a16:colId xmlns:a16="http://schemas.microsoft.com/office/drawing/2014/main" val="2469468906"/>
                    </a:ext>
                  </a:extLst>
                </a:gridCol>
                <a:gridCol w="4975013">
                  <a:extLst>
                    <a:ext uri="{9D8B030D-6E8A-4147-A177-3AD203B41FA5}">
                      <a16:colId xmlns:a16="http://schemas.microsoft.com/office/drawing/2014/main" val="38066271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汇编指令</a:t>
                      </a:r>
                      <a:endParaRPr lang="zh-CN" sz="28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操作描述</a:t>
                      </a:r>
                      <a:endParaRPr lang="zh-CN" sz="2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51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LUI rt</a:t>
                      </a:r>
                      <a:r>
                        <a:rPr lang="zh-CN" sz="2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sz="2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endParaRPr lang="zh-CN" sz="2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R[rt] </a:t>
                      </a:r>
                      <a:r>
                        <a:rPr lang="zh-CN" sz="2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2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{imm,16’h0}</a:t>
                      </a:r>
                      <a:endParaRPr lang="zh-CN" sz="2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651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180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9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ECD74B-3BAE-4616-80B2-1AD787375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MIPS</a:t>
            </a:r>
            <a:r>
              <a:rPr lang="zh-CN" altLang="en-US" dirty="0"/>
              <a:t>指令举例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6B2ECD-C13F-4A8C-8937-7185372B2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>
              <a:buNone/>
            </a:pPr>
            <a:r>
              <a:rPr lang="zh-CN" altLang="zh-CN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【例</a:t>
            </a:r>
            <a:r>
              <a:rPr lang="en-US" altLang="zh-CN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】用</a:t>
            </a:r>
            <a:r>
              <a:rPr lang="en-US" altLang="zh-CN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MISP</a:t>
            </a:r>
            <a:r>
              <a:rPr lang="zh-CN" altLang="zh-CN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指令实现将寄存器</a:t>
            </a:r>
            <a:r>
              <a:rPr lang="en-US" altLang="zh-CN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$s0</a:t>
            </a:r>
            <a:r>
              <a:rPr lang="zh-CN" altLang="zh-CN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初始为</a:t>
            </a:r>
            <a:r>
              <a:rPr lang="en-US" altLang="zh-CN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12345678H</a:t>
            </a:r>
            <a:r>
              <a:rPr lang="zh-CN" altLang="zh-CN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kern="100" dirty="0">
              <a:solidFill>
                <a:srgbClr val="333333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/>
              <a:t>	LUI $s0</a:t>
            </a:r>
            <a:r>
              <a:rPr lang="zh-CN" altLang="zh-CN" dirty="0"/>
              <a:t>，</a:t>
            </a:r>
            <a:r>
              <a:rPr lang="en-US" altLang="zh-CN" dirty="0"/>
              <a:t>0x1234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	ORI $s0</a:t>
            </a:r>
            <a:r>
              <a:rPr lang="zh-CN" altLang="zh-CN" dirty="0"/>
              <a:t>，</a:t>
            </a:r>
            <a:r>
              <a:rPr lang="en-US" altLang="zh-CN" dirty="0"/>
              <a:t>0x5678</a:t>
            </a:r>
            <a:endParaRPr lang="zh-CN" altLang="zh-CN" dirty="0"/>
          </a:p>
          <a:p>
            <a:pPr indent="266700"/>
            <a:endParaRPr lang="zh-CN" altLang="zh-CN" kern="100" dirty="0">
              <a:solidFill>
                <a:srgbClr val="333333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9853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5E797-A67A-4199-A8EA-C1206718B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MIPS</a:t>
            </a:r>
            <a:r>
              <a:rPr lang="zh-CN" altLang="en-US" dirty="0"/>
              <a:t>指令举例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2】</a:t>
            </a:r>
            <a:r>
              <a:rPr lang="zh-CN" altLang="en-US" dirty="0"/>
              <a:t>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CB05E2-E995-47B3-9ED4-83A91C26C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867" y="942764"/>
            <a:ext cx="7886699" cy="21261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若有</a:t>
            </a:r>
            <a:r>
              <a:rPr lang="en-US" altLang="zh-CN" dirty="0"/>
              <a:t>$s1:g, $s2:h, $s3</a:t>
            </a:r>
            <a:r>
              <a:rPr lang="zh-CN" altLang="en-US" dirty="0"/>
              <a:t>：</a:t>
            </a:r>
            <a:r>
              <a:rPr lang="en-US" altLang="zh-CN" dirty="0"/>
              <a:t>&amp;A </a:t>
            </a:r>
            <a:r>
              <a:rPr lang="zh-CN" altLang="en-US" dirty="0"/>
              <a:t>（</a:t>
            </a:r>
            <a:r>
              <a:rPr lang="en-US" altLang="zh-CN" dirty="0"/>
              <a:t>A</a:t>
            </a:r>
            <a:r>
              <a:rPr lang="zh-CN" altLang="en-US" dirty="0"/>
              <a:t>的地址）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</a:t>
            </a:r>
            <a:r>
              <a:rPr lang="zh-CN" altLang="en-US" dirty="0"/>
              <a:t>语句：</a:t>
            </a:r>
            <a:r>
              <a:rPr lang="en-US" altLang="zh-CN" dirty="0"/>
              <a:t>g = h + A[8];</a:t>
            </a:r>
          </a:p>
          <a:p>
            <a:pPr marL="0" indent="0">
              <a:buNone/>
            </a:pPr>
            <a:r>
              <a:rPr lang="zh-CN" altLang="en-US" dirty="0"/>
              <a:t>请手工编译该指令为</a:t>
            </a:r>
            <a:r>
              <a:rPr lang="en-US" altLang="zh-CN" dirty="0"/>
              <a:t>MIPS</a:t>
            </a:r>
            <a:r>
              <a:rPr lang="zh-CN" altLang="en-US" dirty="0"/>
              <a:t>指令序列。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55CEF3-1299-4751-9AC1-EA834D041DBB}"/>
              </a:ext>
            </a:extLst>
          </p:cNvPr>
          <p:cNvSpPr/>
          <p:nvPr/>
        </p:nvSpPr>
        <p:spPr>
          <a:xfrm>
            <a:off x="1104860" y="3163521"/>
            <a:ext cx="6408712" cy="275171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lw</a:t>
            </a:r>
            <a:r>
              <a:rPr kumimoji="0" lang="en-US" altLang="zh-TW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$t0,</a:t>
            </a:r>
            <a:r>
              <a:rPr kumimoji="0" lang="en-US" altLang="zh-TW" sz="40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kumimoji="0" lang="en-US" altLang="zh-TW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($s3)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$s1,$s2,$t0	</a:t>
            </a:r>
            <a:endParaRPr kumimoji="0" lang="en-US" altLang="zh-TW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161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5E797-A67A-4199-A8EA-C1206718B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MIPS</a:t>
            </a:r>
            <a:r>
              <a:rPr lang="zh-CN" altLang="en-US" dirty="0"/>
              <a:t>指令举例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3】</a:t>
            </a:r>
            <a:r>
              <a:rPr lang="zh-CN" altLang="en-US" dirty="0"/>
              <a:t>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CB05E2-E995-47B3-9ED4-83A91C26C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867" y="942764"/>
            <a:ext cx="7886699" cy="21261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若有</a:t>
            </a:r>
            <a:r>
              <a:rPr lang="en-US" altLang="zh-CN" dirty="0"/>
              <a:t>$s1:x, $s2:y</a:t>
            </a:r>
          </a:p>
          <a:p>
            <a:pPr marL="0" indent="0">
              <a:buNone/>
            </a:pPr>
            <a:r>
              <a:rPr lang="en-US" altLang="zh-CN" dirty="0"/>
              <a:t>C</a:t>
            </a:r>
            <a:r>
              <a:rPr lang="zh-CN" altLang="en-US" dirty="0"/>
              <a:t>语句：</a:t>
            </a:r>
            <a:r>
              <a:rPr lang="en-US" altLang="zh-CN" dirty="0"/>
              <a:t>x= y;</a:t>
            </a:r>
          </a:p>
          <a:p>
            <a:pPr marL="0" indent="0">
              <a:buNone/>
            </a:pPr>
            <a:r>
              <a:rPr lang="zh-CN" altLang="en-US" dirty="0"/>
              <a:t>请手工编译该指令为</a:t>
            </a:r>
            <a:r>
              <a:rPr lang="en-US" altLang="zh-CN" dirty="0"/>
              <a:t>MIPS</a:t>
            </a:r>
            <a:r>
              <a:rPr lang="zh-CN" altLang="en-US" dirty="0"/>
              <a:t>指令序列。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55CEF3-1299-4751-9AC1-EA834D041DBB}"/>
              </a:ext>
            </a:extLst>
          </p:cNvPr>
          <p:cNvSpPr/>
          <p:nvPr/>
        </p:nvSpPr>
        <p:spPr>
          <a:xfrm>
            <a:off x="1104860" y="3163521"/>
            <a:ext cx="6408712" cy="275171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lw</a:t>
            </a:r>
            <a:r>
              <a:rPr kumimoji="0" lang="en-US" altLang="zh-TW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$t0,</a:t>
            </a:r>
            <a:r>
              <a:rPr kumimoji="0" lang="en-US" altLang="zh-TW" sz="40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0</a:t>
            </a:r>
            <a:r>
              <a:rPr kumimoji="0" lang="en-US" altLang="zh-TW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($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s2</a:t>
            </a:r>
            <a:r>
              <a:rPr kumimoji="0" lang="en-US" altLang="zh-TW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add $s1,$s2,$Zero	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864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:a16="http://schemas.microsoft.com/office/drawing/2014/main" id="{3EE67A2D-F4FB-4218-A1AB-FF4E1A7877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5.6</a:t>
            </a:r>
            <a:r>
              <a:rPr lang="zh-CN" altLang="en-US"/>
              <a:t>常用</a:t>
            </a:r>
            <a:r>
              <a:rPr lang="en-US" altLang="zh-CN"/>
              <a:t>MIPS</a:t>
            </a:r>
            <a:r>
              <a:rPr lang="zh-CN" altLang="en-US"/>
              <a:t>汇编指令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45688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5.6.1</a:t>
            </a:r>
            <a:r>
              <a:rPr lang="zh-CN" altLang="en-US" dirty="0"/>
              <a:t>数据传送类指令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5.6.2</a:t>
            </a:r>
            <a:r>
              <a:rPr lang="zh-CN" altLang="en-US" dirty="0"/>
              <a:t>算术运算和逻辑运算指令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5.6.3</a:t>
            </a:r>
            <a:r>
              <a:rPr lang="zh-CN" altLang="en-US" dirty="0"/>
              <a:t>移位类指令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5.6.4</a:t>
            </a:r>
            <a:r>
              <a:rPr lang="zh-CN" altLang="en-US" dirty="0"/>
              <a:t>程序控制类指令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7021F6-595D-4D1A-9BC5-67C38B3573D3}"/>
              </a:ext>
            </a:extLst>
          </p:cNvPr>
          <p:cNvSpPr/>
          <p:nvPr/>
        </p:nvSpPr>
        <p:spPr>
          <a:xfrm>
            <a:off x="827584" y="2636912"/>
            <a:ext cx="5609228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altLang="zh-CN" sz="3200" kern="0" dirty="0">
                <a:solidFill>
                  <a:srgbClr val="000000"/>
                </a:solidFill>
              </a:rPr>
              <a:t>5.6.2</a:t>
            </a:r>
            <a:r>
              <a:rPr lang="zh-CN" altLang="en-US" sz="3200" kern="0" dirty="0">
                <a:solidFill>
                  <a:srgbClr val="000000"/>
                </a:solidFill>
              </a:rPr>
              <a:t>算术运算和逻辑运算指令</a:t>
            </a:r>
          </a:p>
        </p:txBody>
      </p:sp>
    </p:spTree>
    <p:extLst>
      <p:ext uri="{BB962C8B-B14F-4D97-AF65-F5344CB8AC3E}">
        <p14:creationId xmlns:p14="http://schemas.microsoft.com/office/powerpoint/2010/main" val="1310694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9DFB345-B27F-4EA6-A884-15F544691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5.6.2</a:t>
            </a:r>
            <a:r>
              <a:rPr lang="zh-CN" altLang="en-US" dirty="0"/>
              <a:t>算术运算和逻辑运算指令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8D51FA8-E4B6-4C85-B006-C682F63D7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875256"/>
            <a:ext cx="7886699" cy="2232248"/>
          </a:xfrm>
        </p:spPr>
        <p:txBody>
          <a:bodyPr>
            <a:norm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算术运算指令：</a:t>
            </a:r>
            <a:endParaRPr lang="en-US" altLang="zh-CN" dirty="0"/>
          </a:p>
          <a:p>
            <a:pPr lvl="1"/>
            <a:r>
              <a:rPr lang="zh-CN" altLang="en-US" dirty="0"/>
              <a:t>运算：加、减、乘、除、比较置位</a:t>
            </a:r>
            <a:endParaRPr lang="en-US" altLang="zh-CN" dirty="0"/>
          </a:p>
          <a:p>
            <a:pPr lvl="1"/>
            <a:r>
              <a:rPr lang="zh-CN" altLang="en-US" dirty="0"/>
              <a:t>数据类型：有符号数、无符号数</a:t>
            </a:r>
            <a:endParaRPr lang="en-US" altLang="zh-CN" dirty="0"/>
          </a:p>
          <a:p>
            <a:pPr marL="342900" lvl="1" indent="0">
              <a:buNone/>
            </a:pPr>
            <a:endParaRPr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68AE68C-C7EB-4249-84AF-F524180E8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99108"/>
              </p:ext>
            </p:extLst>
          </p:nvPr>
        </p:nvGraphicFramePr>
        <p:xfrm>
          <a:off x="107504" y="2852936"/>
          <a:ext cx="8699736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356">
                  <a:extLst>
                    <a:ext uri="{9D8B030D-6E8A-4147-A177-3AD203B41FA5}">
                      <a16:colId xmlns:a16="http://schemas.microsoft.com/office/drawing/2014/main" val="3073013788"/>
                    </a:ext>
                  </a:extLst>
                </a:gridCol>
                <a:gridCol w="2204101">
                  <a:extLst>
                    <a:ext uri="{9D8B030D-6E8A-4147-A177-3AD203B41FA5}">
                      <a16:colId xmlns:a16="http://schemas.microsoft.com/office/drawing/2014/main" val="2049175938"/>
                    </a:ext>
                  </a:extLst>
                </a:gridCol>
                <a:gridCol w="4570279">
                  <a:extLst>
                    <a:ext uri="{9D8B030D-6E8A-4147-A177-3AD203B41FA5}">
                      <a16:colId xmlns:a16="http://schemas.microsoft.com/office/drawing/2014/main" val="33625555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功能说明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汇编指令</a:t>
                      </a:r>
                      <a:endParaRPr lang="zh-CN" sz="18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操作描述</a:t>
                      </a:r>
                      <a:endParaRPr lang="zh-CN" sz="18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Verilog HDL</a:t>
                      </a:r>
                      <a:r>
                        <a:rPr lang="zh-CN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描述）</a:t>
                      </a:r>
                      <a:endParaRPr lang="zh-CN" sz="18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27206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加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ADD  rd,rs,rt</a:t>
                      </a:r>
                      <a:endParaRPr lang="zh-CN" sz="20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R[rd]=R[rs]+R[rt]</a:t>
                      </a:r>
                      <a:endParaRPr lang="zh-CN" sz="18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86267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无符号加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ADDU 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rd,rs,rt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]=R[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]+R[rt]        </a:t>
                      </a: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（不考虑溢出）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8181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加立即数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ADDI 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rt,rs,imm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R[rt]=R[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]+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SignExt</a:t>
                      </a: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8477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加无符号立即数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ADDIU 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rt,rs,imm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R[rt]=R[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]+ 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SignExt</a:t>
                      </a: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（不考虑溢出）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9108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减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SUB  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rd,rs,rt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R[rd]=R[rs]-R[rt]  </a:t>
                      </a:r>
                      <a:endParaRPr lang="zh-CN" sz="18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8254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无符号减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SUBU 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rd,rs,rt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]=R[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]-R[rt]          </a:t>
                      </a: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（不考虑溢出）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9157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392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9DFB345-B27F-4EA6-A884-15F544691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5.6.2</a:t>
            </a:r>
            <a:r>
              <a:rPr lang="zh-CN" altLang="en-US" dirty="0"/>
              <a:t>算术运算和逻辑运算指令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8D51FA8-E4B6-4C85-B006-C682F63D7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875256"/>
            <a:ext cx="7886699" cy="2232248"/>
          </a:xfrm>
        </p:spPr>
        <p:txBody>
          <a:bodyPr>
            <a:norm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算术运算指令：</a:t>
            </a:r>
            <a:endParaRPr lang="en-US" altLang="zh-CN" dirty="0"/>
          </a:p>
          <a:p>
            <a:pPr marL="342900" lvl="1" indent="0">
              <a:buNone/>
            </a:pPr>
            <a:endParaRPr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68AE68C-C7EB-4249-84AF-F524180E8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236963"/>
              </p:ext>
            </p:extLst>
          </p:nvPr>
        </p:nvGraphicFramePr>
        <p:xfrm>
          <a:off x="205320" y="1637217"/>
          <a:ext cx="8699736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2504">
                  <a:extLst>
                    <a:ext uri="{9D8B030D-6E8A-4147-A177-3AD203B41FA5}">
                      <a16:colId xmlns:a16="http://schemas.microsoft.com/office/drawing/2014/main" val="3073013788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49175938"/>
                    </a:ext>
                  </a:extLst>
                </a:gridCol>
                <a:gridCol w="3901008">
                  <a:extLst>
                    <a:ext uri="{9D8B030D-6E8A-4147-A177-3AD203B41FA5}">
                      <a16:colId xmlns:a16="http://schemas.microsoft.com/office/drawing/2014/main" val="33625555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功能说明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汇编指令</a:t>
                      </a:r>
                      <a:endParaRPr lang="zh-CN" sz="18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操作描述</a:t>
                      </a:r>
                      <a:endParaRPr lang="zh-CN" sz="18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Verilog HDL</a:t>
                      </a:r>
                      <a:r>
                        <a:rPr lang="zh-CN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描述）</a:t>
                      </a:r>
                      <a:endParaRPr lang="zh-CN" sz="18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27206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乘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MULT rs,rt</a:t>
                      </a:r>
                      <a:endParaRPr lang="zh-CN" sz="18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 HI ,LO } ¬R[ rs] </a:t>
                      </a:r>
                      <a:r>
                        <a:rPr lang="zh-CN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en-US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 rt]</a:t>
                      </a:r>
                      <a:endParaRPr lang="zh-CN" sz="18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86267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无符号数乘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MULTU rs,rt</a:t>
                      </a:r>
                      <a:endParaRPr lang="zh-CN" sz="18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 HI ,LO } ¬R[ rs] </a:t>
                      </a:r>
                      <a:r>
                        <a:rPr lang="zh-CN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en-US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 rt]</a:t>
                      </a:r>
                      <a:endParaRPr lang="zh-CN" sz="18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183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除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DIV 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rs,rt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LO =R[ 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 </a:t>
                      </a: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÷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 rt]</a:t>
                      </a: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（商）</a:t>
                      </a:r>
                      <a:endParaRPr lang="en-US" altLang="zh-CN" sz="1800" kern="1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HI =R[ 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 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modR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 rt]</a:t>
                      </a: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（余数）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1212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无符号数除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DIVU 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rs,rt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LO =R[ 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 </a:t>
                      </a: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÷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 rt]</a:t>
                      </a: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（商）</a:t>
                      </a:r>
                      <a:endParaRPr lang="en-US" altLang="zh-CN" sz="1800" kern="1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HI =R[ 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 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modR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 rt]</a:t>
                      </a: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（余数）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8181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小于置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SLT  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rd,rs,rt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R[rd]=R[rs]&lt;R[rt]? 1:0</a:t>
                      </a:r>
                      <a:endParaRPr lang="zh-CN" sz="18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8477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无符号数小于置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SLTU  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rd,rs,rt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]=R[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]&lt;R[rt]? 1:0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9108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小于立即数置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SLTI rt,rs,imm</a:t>
                      </a:r>
                      <a:endParaRPr lang="zh-CN" sz="18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]=R[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]&lt; 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SignExt</a:t>
                      </a: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? 1:0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8254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无符号数小于立即数置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SLTIU  rt,rs,imm</a:t>
                      </a:r>
                      <a:endParaRPr lang="zh-CN" sz="18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]=R[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]&lt; 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SignExt</a:t>
                      </a: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? 1:0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9157222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9DAFCE25-5FDC-4F64-B8D1-DCF8723C386A}"/>
              </a:ext>
            </a:extLst>
          </p:cNvPr>
          <p:cNvSpPr/>
          <p:nvPr/>
        </p:nvSpPr>
        <p:spPr>
          <a:xfrm>
            <a:off x="254240" y="5877272"/>
            <a:ext cx="8922635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32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位寄存器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HI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LO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用于保存乘除运算的结果，有专用的访问指令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859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比较指令 </a:t>
            </a:r>
            <a:r>
              <a:rPr lang="en-US" altLang="zh-CN" dirty="0" err="1"/>
              <a:t>slt</a:t>
            </a:r>
            <a:r>
              <a:rPr lang="en-US" altLang="zh-CN" dirty="0"/>
              <a:t>  </a:t>
            </a:r>
            <a:r>
              <a:rPr lang="en-US" altLang="zh-CN" dirty="0" err="1"/>
              <a:t>slti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zh-CN" sz="2800" dirty="0"/>
              <a:t>MIPS</a:t>
            </a:r>
            <a:r>
              <a:rPr lang="zh-CN" altLang="en-US" sz="2800" dirty="0"/>
              <a:t>比较指令 </a:t>
            </a:r>
            <a:r>
              <a:rPr lang="en-US" altLang="zh-CN" sz="2800" dirty="0"/>
              <a:t>(</a:t>
            </a:r>
            <a:r>
              <a:rPr lang="en-US" altLang="zh-CN" sz="2800" u="sng" dirty="0"/>
              <a:t>S</a:t>
            </a:r>
            <a:r>
              <a:rPr lang="en-US" altLang="zh-CN" sz="2800" dirty="0"/>
              <a:t>et on </a:t>
            </a:r>
            <a:r>
              <a:rPr lang="en-US" altLang="zh-CN" sz="2800" u="sng" dirty="0"/>
              <a:t>L</a:t>
            </a:r>
            <a:r>
              <a:rPr lang="en-US" altLang="zh-CN" sz="2800" dirty="0"/>
              <a:t>ess </a:t>
            </a:r>
            <a:r>
              <a:rPr lang="en-US" altLang="zh-CN" sz="2800" u="sng" dirty="0"/>
              <a:t>T</a:t>
            </a:r>
            <a:r>
              <a:rPr lang="en-US" altLang="zh-CN" sz="2800" dirty="0"/>
              <a:t>han)</a:t>
            </a:r>
          </a:p>
          <a:p>
            <a:pPr lvl="1" algn="l">
              <a:defRPr/>
            </a:pPr>
            <a:r>
              <a:rPr lang="en-US" altLang="zh-CN" sz="2400" b="1" dirty="0" err="1">
                <a:solidFill>
                  <a:srgbClr val="7030A0"/>
                </a:solidFill>
                <a:latin typeface="Courier New"/>
                <a:cs typeface="Courier New"/>
              </a:rPr>
              <a:t>slt</a:t>
            </a:r>
            <a:r>
              <a:rPr lang="en-US" altLang="zh-CN" sz="2400" b="1" dirty="0">
                <a:solidFill>
                  <a:srgbClr val="7030A0"/>
                </a:solidFill>
                <a:latin typeface="Courier New"/>
                <a:cs typeface="Courier New"/>
              </a:rPr>
              <a:t> reg</a:t>
            </a:r>
            <a:r>
              <a:rPr lang="en-US" altLang="zh-CN" sz="2400" b="1" baseline="-25000" dirty="0">
                <a:solidFill>
                  <a:srgbClr val="7030A0"/>
                </a:solidFill>
                <a:latin typeface="Courier New"/>
                <a:cs typeface="Courier New"/>
              </a:rPr>
              <a:t>1</a:t>
            </a:r>
            <a:r>
              <a:rPr lang="en-US" altLang="zh-CN" sz="2400" b="1" dirty="0">
                <a:solidFill>
                  <a:srgbClr val="7030A0"/>
                </a:solidFill>
                <a:latin typeface="Courier New"/>
                <a:cs typeface="Courier New"/>
              </a:rPr>
              <a:t>,reg</a:t>
            </a:r>
            <a:r>
              <a:rPr lang="en-US" altLang="zh-CN" sz="2400" b="1" baseline="-25000" dirty="0">
                <a:solidFill>
                  <a:srgbClr val="7030A0"/>
                </a:solidFill>
                <a:latin typeface="Courier New"/>
                <a:cs typeface="Courier New"/>
              </a:rPr>
              <a:t>2</a:t>
            </a:r>
            <a:r>
              <a:rPr lang="en-US" altLang="zh-CN" sz="2400" b="1" dirty="0">
                <a:solidFill>
                  <a:srgbClr val="7030A0"/>
                </a:solidFill>
                <a:latin typeface="Courier New"/>
                <a:cs typeface="Courier New"/>
              </a:rPr>
              <a:t>,reg</a:t>
            </a:r>
            <a:r>
              <a:rPr lang="en-US" altLang="zh-CN" sz="2400" b="1" baseline="-25000" dirty="0">
                <a:solidFill>
                  <a:srgbClr val="7030A0"/>
                </a:solidFill>
                <a:latin typeface="Courier New"/>
                <a:cs typeface="Courier New"/>
              </a:rPr>
              <a:t>3</a:t>
            </a:r>
          </a:p>
          <a:p>
            <a:pPr marL="0" indent="0" algn="l">
              <a:buNone/>
              <a:defRPr/>
            </a:pPr>
            <a:r>
              <a:rPr lang="en-US" altLang="zh-CN" sz="2400" b="1" dirty="0">
                <a:solidFill>
                  <a:schemeClr val="accent2"/>
                </a:solidFill>
                <a:latin typeface="Courier New"/>
                <a:cs typeface="Courier New"/>
              </a:rPr>
              <a:t>  	reg1 = (reg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Courier New"/>
                <a:cs typeface="Courier New"/>
              </a:rPr>
              <a:t>2</a:t>
            </a:r>
            <a:r>
              <a:rPr lang="en-US" altLang="zh-CN" sz="2400" b="1" dirty="0">
                <a:solidFill>
                  <a:schemeClr val="accent2"/>
                </a:solidFill>
                <a:latin typeface="Courier New"/>
                <a:cs typeface="Courier New"/>
              </a:rPr>
              <a:t> &lt; reg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Courier New"/>
                <a:cs typeface="Courier New"/>
              </a:rPr>
              <a:t>3</a:t>
            </a:r>
            <a:r>
              <a:rPr lang="en-US" altLang="zh-CN" sz="2400" b="1" dirty="0">
                <a:solidFill>
                  <a:schemeClr val="accent2"/>
                </a:solidFill>
                <a:latin typeface="Courier New"/>
                <a:cs typeface="Courier New"/>
              </a:rPr>
              <a:t>)? 1:0;   </a:t>
            </a:r>
            <a:r>
              <a:rPr lang="zh-CN" altLang="en-US" sz="2400" b="1" dirty="0">
                <a:solidFill>
                  <a:schemeClr val="accent2"/>
                </a:solidFill>
                <a:latin typeface="Courier New"/>
                <a:cs typeface="Courier New"/>
              </a:rPr>
              <a:t>（</a:t>
            </a:r>
            <a:r>
              <a:rPr lang="en-US" altLang="zh-CN" sz="2400" b="1" dirty="0">
                <a:solidFill>
                  <a:schemeClr val="accent2"/>
                </a:solidFill>
                <a:latin typeface="Courier New"/>
                <a:cs typeface="Courier New"/>
              </a:rPr>
              <a:t>C</a:t>
            </a:r>
            <a:r>
              <a:rPr lang="zh-CN" altLang="en-US" sz="2400" b="1" dirty="0">
                <a:solidFill>
                  <a:schemeClr val="accent2"/>
                </a:solidFill>
                <a:latin typeface="Courier New"/>
                <a:cs typeface="Courier New"/>
              </a:rPr>
              <a:t>语言）</a:t>
            </a:r>
            <a:endParaRPr lang="en-US" altLang="zh-CN" sz="2400" b="1" dirty="0">
              <a:solidFill>
                <a:schemeClr val="accent2"/>
              </a:solidFill>
              <a:latin typeface="Courier New"/>
              <a:cs typeface="Courier New"/>
            </a:endParaRPr>
          </a:p>
          <a:p>
            <a:pPr algn="l">
              <a:defRPr/>
            </a:pPr>
            <a:r>
              <a:rPr lang="en-US" altLang="zh-CN" sz="2800" b="1" dirty="0">
                <a:latin typeface="Courier New"/>
                <a:cs typeface="Courier New"/>
              </a:rPr>
              <a:t>If (g&lt;h) </a:t>
            </a:r>
            <a:r>
              <a:rPr lang="en-US" altLang="zh-CN" sz="2800" b="1" dirty="0" err="1">
                <a:latin typeface="Courier New"/>
                <a:cs typeface="Courier New"/>
              </a:rPr>
              <a:t>goto</a:t>
            </a:r>
            <a:r>
              <a:rPr lang="en-US" altLang="zh-CN" sz="2800" b="1" dirty="0">
                <a:latin typeface="Courier New"/>
                <a:cs typeface="Courier New"/>
              </a:rPr>
              <a:t> Less;    </a:t>
            </a:r>
          </a:p>
          <a:p>
            <a:pPr lvl="1" algn="l">
              <a:defRPr/>
            </a:pPr>
            <a:r>
              <a:rPr lang="en-US" altLang="zh-CN" sz="2400" b="1" dirty="0" err="1">
                <a:solidFill>
                  <a:srgbClr val="7030A0"/>
                </a:solidFill>
                <a:latin typeface="Courier New" pitchFamily="-65" charset="0"/>
              </a:rPr>
              <a:t>slt</a:t>
            </a:r>
            <a:r>
              <a:rPr lang="en-US" altLang="zh-CN" sz="2400" b="1" dirty="0">
                <a:solidFill>
                  <a:srgbClr val="7030A0"/>
                </a:solidFill>
                <a:latin typeface="Courier New" pitchFamily="-65" charset="0"/>
              </a:rPr>
              <a:t> $t0,$s0,$s1   </a:t>
            </a:r>
            <a:r>
              <a:rPr lang="en-US" altLang="zh-CN" sz="2400" b="1" i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# $t0 = 1 if</a:t>
            </a: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 </a:t>
            </a:r>
            <a:r>
              <a:rPr lang="en-US" altLang="zh-CN" sz="2400" b="1" i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g&lt;h</a:t>
            </a:r>
            <a:endParaRPr lang="en-US" altLang="zh-CN" sz="2400" b="1" i="1" dirty="0">
              <a:latin typeface="Courier New" pitchFamily="-65" charset="0"/>
            </a:endParaRPr>
          </a:p>
          <a:p>
            <a:pPr lvl="1" algn="l">
              <a:defRPr/>
            </a:pPr>
            <a:r>
              <a:rPr lang="en-US" altLang="zh-CN" sz="2400" b="1" dirty="0" err="1">
                <a:solidFill>
                  <a:srgbClr val="7030A0"/>
                </a:solidFill>
                <a:latin typeface="Courier New" pitchFamily="-65" charset="0"/>
              </a:rPr>
              <a:t>bne</a:t>
            </a:r>
            <a:r>
              <a:rPr lang="en-US" altLang="zh-CN" sz="2400" b="1" dirty="0">
                <a:solidFill>
                  <a:srgbClr val="7030A0"/>
                </a:solidFill>
                <a:latin typeface="Courier New" pitchFamily="-65" charset="0"/>
              </a:rPr>
              <a:t> $t0,$0, Less  </a:t>
            </a:r>
            <a:r>
              <a:rPr lang="en-US" altLang="zh-CN" sz="2400" b="1" i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# if $t0!=0  </a:t>
            </a:r>
            <a:r>
              <a:rPr lang="en-US" altLang="zh-CN" sz="2400" b="1" i="1" dirty="0" err="1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goto</a:t>
            </a:r>
            <a:r>
              <a:rPr lang="en-US" altLang="zh-CN" sz="2400" b="1" i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 </a:t>
            </a: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Less:</a:t>
            </a:r>
          </a:p>
          <a:p>
            <a:pPr marL="0" lvl="1" indent="0" algn="l">
              <a:buNone/>
              <a:defRPr/>
            </a:pPr>
            <a:r>
              <a:rPr lang="en-US" altLang="zh-CN" sz="1800" b="1" dirty="0">
                <a:latin typeface="Courier New" pitchFamily="-65" charset="0"/>
              </a:rPr>
              <a:t> </a:t>
            </a:r>
            <a:endParaRPr lang="en-US" altLang="zh-CN" sz="1800" b="1" dirty="0">
              <a:solidFill>
                <a:schemeClr val="bg2">
                  <a:lumMod val="50000"/>
                </a:schemeClr>
              </a:solidFill>
              <a:latin typeface="Courier New"/>
              <a:cs typeface="Courier New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75D0B61-AAFD-4712-9362-2B6ED950AD90}"/>
              </a:ext>
            </a:extLst>
          </p:cNvPr>
          <p:cNvGrpSpPr/>
          <p:nvPr/>
        </p:nvGrpSpPr>
        <p:grpSpPr>
          <a:xfrm>
            <a:off x="5799604" y="2683867"/>
            <a:ext cx="2916434" cy="434968"/>
            <a:chOff x="747312" y="4732301"/>
            <a:chExt cx="1887609" cy="57995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92CCF2A-585B-441C-A964-3ADD4C579FF7}"/>
                </a:ext>
              </a:extLst>
            </p:cNvPr>
            <p:cNvSpPr/>
            <p:nvPr/>
          </p:nvSpPr>
          <p:spPr>
            <a:xfrm>
              <a:off x="747312" y="4732301"/>
              <a:ext cx="1887608" cy="579957"/>
            </a:xfrm>
            <a:prstGeom prst="rect">
              <a:avLst/>
            </a:prstGeom>
            <a:solidFill>
              <a:schemeClr val="tx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35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9405752-B0D7-4978-B7C4-9A42E03DB2F8}"/>
                </a:ext>
              </a:extLst>
            </p:cNvPr>
            <p:cNvSpPr/>
            <p:nvPr/>
          </p:nvSpPr>
          <p:spPr>
            <a:xfrm>
              <a:off x="757451" y="4822224"/>
              <a:ext cx="1877470" cy="430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500" b="1" dirty="0">
                  <a:solidFill>
                    <a:prstClr val="white"/>
                  </a:solidFill>
                  <a:latin typeface="微软雅黑"/>
                  <a:ea typeface="微软雅黑"/>
                </a:rPr>
                <a:t>利用通用寄存器存储比较结果！</a:t>
              </a:r>
              <a:endParaRPr lang="en-US" altLang="zh-CN" sz="1500" b="1" dirty="0">
                <a:solidFill>
                  <a:srgbClr val="FF0000"/>
                </a:solidFill>
                <a:latin typeface="微软雅黑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5807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9DFB345-B27F-4EA6-A884-15F544691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5.6.2</a:t>
            </a:r>
            <a:r>
              <a:rPr lang="zh-CN" altLang="en-US" dirty="0"/>
              <a:t>算术运算和逻辑运算指令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8D51FA8-E4B6-4C85-B006-C682F63D7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723" y="849910"/>
            <a:ext cx="8028844" cy="2363066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逻辑运算类指令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运算：与、或、异或  </a:t>
            </a:r>
            <a:endParaRPr lang="en-US" altLang="zh-CN" dirty="0"/>
          </a:p>
          <a:p>
            <a:pPr lvl="1"/>
            <a:r>
              <a:rPr lang="zh-CN" altLang="en-US" dirty="0"/>
              <a:t>数据类型：无符号数</a:t>
            </a:r>
            <a:endParaRPr lang="en-US" altLang="zh-CN" dirty="0"/>
          </a:p>
          <a:p>
            <a:pPr lvl="1"/>
            <a:r>
              <a:rPr lang="zh-CN" altLang="en-US" dirty="0"/>
              <a:t>按位运算</a:t>
            </a:r>
            <a:endParaRPr lang="en-US" altLang="zh-CN" dirty="0"/>
          </a:p>
          <a:p>
            <a:pPr marL="342900" lvl="1" indent="0">
              <a:buNone/>
            </a:pPr>
            <a:endParaRPr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68AE68C-C7EB-4249-84AF-F524180E8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290183"/>
              </p:ext>
            </p:extLst>
          </p:nvPr>
        </p:nvGraphicFramePr>
        <p:xfrm>
          <a:off x="220541" y="3393885"/>
          <a:ext cx="8699736" cy="314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>
                  <a:extLst>
                    <a:ext uri="{9D8B030D-6E8A-4147-A177-3AD203B41FA5}">
                      <a16:colId xmlns:a16="http://schemas.microsoft.com/office/drawing/2014/main" val="3073013788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49175938"/>
                    </a:ext>
                  </a:extLst>
                </a:gridCol>
                <a:gridCol w="4307248">
                  <a:extLst>
                    <a:ext uri="{9D8B030D-6E8A-4147-A177-3AD203B41FA5}">
                      <a16:colId xmlns:a16="http://schemas.microsoft.com/office/drawing/2014/main" val="3362555531"/>
                    </a:ext>
                  </a:extLst>
                </a:gridCol>
              </a:tblGrid>
              <a:tr h="470272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功能说明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汇编指令</a:t>
                      </a:r>
                      <a:endParaRPr lang="zh-CN" sz="18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操作描述</a:t>
                      </a:r>
                      <a:endParaRPr lang="zh-CN" sz="18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Verilog HDL</a:t>
                      </a:r>
                      <a:r>
                        <a:rPr lang="zh-CN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描述）</a:t>
                      </a:r>
                      <a:endParaRPr lang="zh-CN" sz="18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27206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寄存器按位与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AND 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rd,rs,rt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R[rd]=R[rs]&amp;R[rt]</a:t>
                      </a:r>
                      <a:endParaRPr lang="zh-CN" sz="18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86267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立即数按位与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ANDI 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rt,rs,imm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R[rd]=R[rs]&amp;ZeroExt</a:t>
                      </a:r>
                      <a:r>
                        <a:rPr lang="zh-CN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zh-CN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8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3637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寄存器按位或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OR 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rd,rs,rt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]=R[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]|R[rt]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8181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立即数按位或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ORI 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rt,rs,imm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]=R[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]|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ZeroExt</a:t>
                      </a: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8477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按位异或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XOR rd,rs,rt</a:t>
                      </a:r>
                      <a:endParaRPr lang="zh-CN" sz="18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]=R[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]^R[rt]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9108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立即数按位异或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XORI rt,rs,imm</a:t>
                      </a:r>
                      <a:endParaRPr lang="zh-CN" sz="18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]=R[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]^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ZeroExt</a:t>
                      </a: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8254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按位或非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NOR rd,rs,rt</a:t>
                      </a:r>
                      <a:endParaRPr lang="zh-CN" sz="18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]=~ (R[</a:t>
                      </a:r>
                      <a:r>
                        <a:rPr lang="en-US" sz="18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]|R[rt])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9157222"/>
                  </a:ext>
                </a:extLst>
              </a:tr>
            </a:tbl>
          </a:graphicData>
        </a:graphic>
      </p:graphicFrame>
      <p:sp>
        <p:nvSpPr>
          <p:cNvPr id="2" name="对话气泡: 椭圆形 1">
            <a:extLst>
              <a:ext uri="{FF2B5EF4-FFF2-40B4-BE49-F238E27FC236}">
                <a16:creationId xmlns:a16="http://schemas.microsoft.com/office/drawing/2014/main" id="{2CF9749C-B001-498E-8BFA-1BA60128D75C}"/>
              </a:ext>
            </a:extLst>
          </p:cNvPr>
          <p:cNvSpPr/>
          <p:nvPr/>
        </p:nvSpPr>
        <p:spPr>
          <a:xfrm>
            <a:off x="5364088" y="923503"/>
            <a:ext cx="3168352" cy="936104"/>
          </a:xfrm>
          <a:prstGeom prst="wedgeEllipseCallout">
            <a:avLst>
              <a:gd name="adj1" fmla="val -115613"/>
              <a:gd name="adj2" fmla="val 25870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没有非运算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zh-CN" altLang="en-US" dirty="0">
                <a:solidFill>
                  <a:srgbClr val="FF0000"/>
                </a:solidFill>
              </a:rPr>
              <a:t>如何实现非运算？</a:t>
            </a:r>
          </a:p>
        </p:txBody>
      </p:sp>
    </p:spTree>
    <p:extLst>
      <p:ext uri="{BB962C8B-B14F-4D97-AF65-F5344CB8AC3E}">
        <p14:creationId xmlns:p14="http://schemas.microsoft.com/office/powerpoint/2010/main" val="379494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D8D977-BA5D-4101-ABA5-1FAEDD7D3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逻辑运算：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0653F-3F75-4778-9563-D60BA3AAB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999" y="903173"/>
            <a:ext cx="7886699" cy="5637024"/>
          </a:xfrm>
        </p:spPr>
        <p:txBody>
          <a:bodyPr/>
          <a:lstStyle/>
          <a:p>
            <a:pPr lvl="1"/>
            <a:r>
              <a:rPr lang="en-US" altLang="zh-CN" dirty="0"/>
              <a:t>or $t0, $t1, $t2</a:t>
            </a:r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051092A-E584-48AD-8F4A-37B3D4FA0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205" y="2372693"/>
            <a:ext cx="663575" cy="1604962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en-US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0A9DEE75-752A-4C6A-BD34-6D94843E8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80" y="2348880"/>
            <a:ext cx="6218237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0000 0000 0000 0000 0000 1101 1100 0000</a:t>
            </a:r>
            <a:endParaRPr kumimoji="0" lang="en-AU" altLang="zh-TW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7997CE56-A102-472D-8D90-532B5E071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80" y="2909268"/>
            <a:ext cx="6218237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0000 0000 0000 0000 0011 1100 0000 0000</a:t>
            </a:r>
            <a:endParaRPr kumimoji="0" lang="en-AU" altLang="zh-TW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F7757674-E594-4932-A148-DAD2EBB9D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705" y="2348880"/>
            <a:ext cx="608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$t2</a:t>
            </a:r>
            <a:endParaRPr lang="en-AU" altLang="zh-TW" b="0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021A9FF0-78B8-4389-84E8-C303E4CC3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705" y="2909268"/>
            <a:ext cx="608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$t1</a:t>
            </a:r>
            <a:endParaRPr lang="en-AU" altLang="zh-TW" b="0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948F0599-8F74-4DB9-BDB2-3E3C6F33B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80" y="3556968"/>
            <a:ext cx="6218237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0000 0000 0000 0000 0011 1101 1100 0000</a:t>
            </a:r>
            <a:endParaRPr kumimoji="0" lang="en-AU" altLang="zh-TW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0EDEBDC3-CFFF-456C-9B25-CB2A533A7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705" y="3556968"/>
            <a:ext cx="608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$t0</a:t>
            </a:r>
            <a:endParaRPr lang="en-AU" altLang="zh-TW" b="0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8268961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:a16="http://schemas.microsoft.com/office/drawing/2014/main" id="{3EE67A2D-F4FB-4218-A1AB-FF4E1A7877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5.6</a:t>
            </a:r>
            <a:r>
              <a:rPr lang="zh-CN" altLang="en-US"/>
              <a:t>常用</a:t>
            </a:r>
            <a:r>
              <a:rPr lang="en-US" altLang="zh-CN"/>
              <a:t>MIPS</a:t>
            </a:r>
            <a:r>
              <a:rPr lang="zh-CN" altLang="en-US"/>
              <a:t>汇编指令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45688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5.6.1</a:t>
            </a:r>
            <a:r>
              <a:rPr lang="zh-CN" altLang="en-US" dirty="0"/>
              <a:t>数据传送类指令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5.6.2</a:t>
            </a:r>
            <a:r>
              <a:rPr lang="zh-CN" altLang="en-US" dirty="0"/>
              <a:t>算术运算和逻辑运算指令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5.6.3</a:t>
            </a:r>
            <a:r>
              <a:rPr lang="zh-CN" altLang="en-US" dirty="0"/>
              <a:t>移位类指令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5.6.4</a:t>
            </a:r>
            <a:r>
              <a:rPr lang="zh-CN" altLang="en-US" dirty="0"/>
              <a:t>程序控制类指令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7021F6-595D-4D1A-9BC5-67C38B3573D3}"/>
              </a:ext>
            </a:extLst>
          </p:cNvPr>
          <p:cNvSpPr/>
          <p:nvPr/>
        </p:nvSpPr>
        <p:spPr>
          <a:xfrm>
            <a:off x="827584" y="3549362"/>
            <a:ext cx="3147015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altLang="zh-CN" sz="3200" kern="0" dirty="0">
                <a:solidFill>
                  <a:srgbClr val="000000"/>
                </a:solidFill>
              </a:rPr>
              <a:t>5.6.3</a:t>
            </a:r>
            <a:r>
              <a:rPr lang="zh-CN" altLang="en-US" sz="3200" kern="0" dirty="0">
                <a:solidFill>
                  <a:srgbClr val="000000"/>
                </a:solidFill>
              </a:rPr>
              <a:t>移位类指令</a:t>
            </a:r>
          </a:p>
        </p:txBody>
      </p:sp>
    </p:spTree>
    <p:extLst>
      <p:ext uri="{BB962C8B-B14F-4D97-AF65-F5344CB8AC3E}">
        <p14:creationId xmlns:p14="http://schemas.microsoft.com/office/powerpoint/2010/main" val="2298804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9DFB345-B27F-4EA6-A884-15F544691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5.6.3</a:t>
            </a:r>
            <a:r>
              <a:rPr lang="zh-CN" altLang="en-US" dirty="0"/>
              <a:t>移位类指令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8D51FA8-E4B6-4C85-B006-C682F63D7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723" y="849910"/>
            <a:ext cx="8028844" cy="7788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移位：逻辑移位、算术移位</a:t>
            </a:r>
            <a:endParaRPr lang="en-US" altLang="zh-CN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68AE68C-C7EB-4249-84AF-F524180E8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547164"/>
              </p:ext>
            </p:extLst>
          </p:nvPr>
        </p:nvGraphicFramePr>
        <p:xfrm>
          <a:off x="330471" y="2214880"/>
          <a:ext cx="8699736" cy="2807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9321">
                  <a:extLst>
                    <a:ext uri="{9D8B030D-6E8A-4147-A177-3AD203B41FA5}">
                      <a16:colId xmlns:a16="http://schemas.microsoft.com/office/drawing/2014/main" val="3073013788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49175938"/>
                    </a:ext>
                  </a:extLst>
                </a:gridCol>
                <a:gridCol w="3954151">
                  <a:extLst>
                    <a:ext uri="{9D8B030D-6E8A-4147-A177-3AD203B41FA5}">
                      <a16:colId xmlns:a16="http://schemas.microsoft.com/office/drawing/2014/main" val="3362555531"/>
                    </a:ext>
                  </a:extLst>
                </a:gridCol>
              </a:tblGrid>
              <a:tr h="477417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功能说明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汇编指令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操作描述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Verilog HDL</a:t>
                      </a:r>
                      <a:r>
                        <a:rPr lang="zh-CN" sz="18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描述）</a:t>
                      </a:r>
                      <a:endParaRPr lang="zh-CN" sz="18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27206726"/>
                  </a:ext>
                </a:extLst>
              </a:tr>
              <a:tr h="322698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逻辑左移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SLL rd,rt,shamt</a:t>
                      </a:r>
                      <a:endParaRPr lang="zh-CN" sz="20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R[rd]=R[rt]&lt;&lt;shamt</a:t>
                      </a:r>
                      <a:endParaRPr lang="zh-CN" sz="20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86267111"/>
                  </a:ext>
                </a:extLst>
              </a:tr>
              <a:tr h="322698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逻辑右移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SRL 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rd,rt,shamt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R[rd]=R[rt]&gt;&gt;shamt</a:t>
                      </a:r>
                      <a:endParaRPr lang="zh-CN" sz="20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3637004"/>
                  </a:ext>
                </a:extLst>
              </a:tr>
              <a:tr h="322698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算术右移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SRA 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rd,rt,shamt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]=R[rt]&gt;&gt;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shamt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8181080"/>
                  </a:ext>
                </a:extLst>
              </a:tr>
              <a:tr h="322698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逻辑可变左移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SLLV 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rd,rt,rs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]=R[rt]&lt;&lt;R[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][4:0]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8477626"/>
                  </a:ext>
                </a:extLst>
              </a:tr>
              <a:tr h="322698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逻辑可变右移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SRLV rd,rt,rs</a:t>
                      </a:r>
                      <a:endParaRPr lang="zh-CN" sz="20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]=R[rt]&gt;&gt;R[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][4:0]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9108949"/>
                  </a:ext>
                </a:extLst>
              </a:tr>
              <a:tr h="645396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算术可变右移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SRAV 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rd,rt,rs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]=R[rt]&gt;&gt;R[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][4:0]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8254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1370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4746FB-146A-45EA-AE1C-E034A3FD9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逻辑左移和右移：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3C407392-C81F-4676-B700-69B58EEE9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124744"/>
            <a:ext cx="8420100" cy="5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562100" indent="-22860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981200" indent="-22860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438400" indent="-22860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895600" indent="-22860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352800" indent="-22860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10000" indent="-22860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Char char="t"/>
              <a:tabLst/>
              <a:defRPr/>
            </a:pPr>
            <a:endParaRPr kumimoji="0" lang="en-US" altLang="zh-TW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cs typeface="+mn-cs"/>
            </a:endParaRPr>
          </a:p>
          <a:p>
            <a:pPr>
              <a:buClr>
                <a:srgbClr val="0000FF"/>
              </a:buClr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cs typeface="+mn-cs"/>
              </a:rPr>
              <a:t>逻辑右移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cs typeface="+mn-cs"/>
              </a:rPr>
              <a:t>8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cs typeface="+mn-cs"/>
              </a:rPr>
              <a:t>位：</a:t>
            </a:r>
            <a:endParaRPr kumimoji="0" lang="en-US" altLang="zh-TW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None/>
              <a:tabLst/>
              <a:defRPr/>
            </a:pPr>
            <a:r>
              <a:rPr kumimoji="0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cs typeface="+mn-cs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cs typeface="+mn-cs"/>
              </a:rPr>
              <a:t>	0001 0010 0011 0100 0101 0110 0111 1000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TW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cs typeface="+mn-cs"/>
              </a:rPr>
              <a:t>	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cs typeface="+mn-cs"/>
              </a:rPr>
              <a:t>	0000 0000 0001 0010 0011 0100 0101 0110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Char char="t"/>
              <a:tabLst/>
              <a:defRPr/>
            </a:pPr>
            <a:endParaRPr kumimoji="0" lang="en-US" altLang="zh-TW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Char char="t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cs typeface="+mn-cs"/>
              </a:rPr>
              <a:t>逻辑左移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cs typeface="+mn-cs"/>
              </a:rPr>
              <a:t>8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cs typeface="+mn-cs"/>
              </a:rPr>
              <a:t>位：</a:t>
            </a:r>
            <a:endParaRPr kumimoji="0" lang="en-US" altLang="zh-TW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cs typeface="+mn-cs"/>
              </a:rPr>
              <a:t>	0001 0010 0011 0100 0101 0110 0111 1000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TW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TW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cs typeface="+mn-cs"/>
              </a:rPr>
              <a:t>	0011 0100 0101 0110 0111 1000 0000 0000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TW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cs typeface="+mn-cs"/>
            </a:endParaRP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C22C2634-4A6C-40AC-AF24-C9075BB0100D}"/>
              </a:ext>
            </a:extLst>
          </p:cNvPr>
          <p:cNvGrpSpPr>
            <a:grpSpLocks/>
          </p:cNvGrpSpPr>
          <p:nvPr/>
        </p:nvGrpSpPr>
        <p:grpSpPr bwMode="auto">
          <a:xfrm>
            <a:off x="841177" y="5025232"/>
            <a:ext cx="6305550" cy="623887"/>
            <a:chOff x="672" y="3312"/>
            <a:chExt cx="4416" cy="480"/>
          </a:xfrm>
        </p:grpSpPr>
        <p:sp>
          <p:nvSpPr>
            <p:cNvPr id="18" name="Line 5">
              <a:extLst>
                <a:ext uri="{FF2B5EF4-FFF2-40B4-BE49-F238E27FC236}">
                  <a16:creationId xmlns:a16="http://schemas.microsoft.com/office/drawing/2014/main" id="{C0C47B49-BC0E-499D-B20E-7D6518929C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" y="3312"/>
              <a:ext cx="1056" cy="48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19" name="Line 6">
              <a:extLst>
                <a:ext uri="{FF2B5EF4-FFF2-40B4-BE49-F238E27FC236}">
                  <a16:creationId xmlns:a16="http://schemas.microsoft.com/office/drawing/2014/main" id="{2A141B7D-E88D-41D9-BD86-8AFDAD0E0A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4" y="3312"/>
              <a:ext cx="1104" cy="48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grpSp>
        <p:nvGrpSpPr>
          <p:cNvPr id="20" name="Group 7">
            <a:extLst>
              <a:ext uri="{FF2B5EF4-FFF2-40B4-BE49-F238E27FC236}">
                <a16:creationId xmlns:a16="http://schemas.microsoft.com/office/drawing/2014/main" id="{E9DD969F-94A0-4AC9-9944-C1ADEDB4E71D}"/>
              </a:ext>
            </a:extLst>
          </p:cNvPr>
          <p:cNvGrpSpPr>
            <a:grpSpLocks/>
          </p:cNvGrpSpPr>
          <p:nvPr/>
        </p:nvGrpSpPr>
        <p:grpSpPr bwMode="auto">
          <a:xfrm>
            <a:off x="884040" y="2713832"/>
            <a:ext cx="6207125" cy="609600"/>
            <a:chOff x="576" y="1968"/>
            <a:chExt cx="4512" cy="480"/>
          </a:xfrm>
        </p:grpSpPr>
        <p:sp>
          <p:nvSpPr>
            <p:cNvPr id="21" name="Line 8">
              <a:extLst>
                <a:ext uri="{FF2B5EF4-FFF2-40B4-BE49-F238E27FC236}">
                  <a16:creationId xmlns:a16="http://schemas.microsoft.com/office/drawing/2014/main" id="{E1A90A99-196D-4C63-B5C2-0C4BDEEA9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968"/>
              <a:ext cx="1152" cy="48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2" name="Line 9">
              <a:extLst>
                <a:ext uri="{FF2B5EF4-FFF2-40B4-BE49-F238E27FC236}">
                  <a16:creationId xmlns:a16="http://schemas.microsoft.com/office/drawing/2014/main" id="{1DB705FF-1C16-46BD-8E86-9E446F374C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968"/>
              <a:ext cx="1104" cy="48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sp>
        <p:nvSpPr>
          <p:cNvPr id="23" name="Rectangle 10">
            <a:extLst>
              <a:ext uri="{FF2B5EF4-FFF2-40B4-BE49-F238E27FC236}">
                <a16:creationId xmlns:a16="http://schemas.microsoft.com/office/drawing/2014/main" id="{8F251513-E21A-48FE-AC7A-4D51B13BE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365" y="3321844"/>
            <a:ext cx="4643437" cy="4572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BCBF1B9C-685B-423C-905E-04279DEBC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215" y="2250282"/>
            <a:ext cx="4641850" cy="4572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20E15BFC-997A-4991-94DC-CAB3B5C4B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9790" y="4512469"/>
            <a:ext cx="4683125" cy="4572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7B72133A-2EA3-4E03-B301-DBF6210EE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640" y="5684044"/>
            <a:ext cx="4654550" cy="4572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3855343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92A63E-9A08-4420-AB88-CC384827B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算术右移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3DA85A-5C5D-4984-95EA-2AD5A9D3C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052736"/>
            <a:ext cx="8420100" cy="5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562100" indent="-22860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981200" indent="-22860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438400" indent="-22860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895600" indent="-22860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352800" indent="-22860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10000" indent="-228600" algn="l" rtl="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Char char="t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cs typeface="+mn-cs"/>
              </a:rPr>
              <a:t>算术右移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cs typeface="+mn-cs"/>
              </a:rPr>
              <a:t>8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cs typeface="+mn-cs"/>
              </a:rPr>
              <a:t>位（正数）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None/>
              <a:tabLst/>
              <a:defRPr/>
            </a:pPr>
            <a:r>
              <a:rPr lang="en-US" altLang="zh-TW" kern="0" dirty="0">
                <a:solidFill>
                  <a:srgbClr val="000000"/>
                </a:solidFill>
                <a:latin typeface="Century Gothic"/>
              </a:rPr>
              <a:t>   0</a:t>
            </a:r>
            <a:r>
              <a:rPr kumimoji="0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cs typeface="+mn-cs"/>
              </a:rPr>
              <a:t>001 0010 0011 0100 0101 0110 0111 1000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TW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TW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TW" kern="0" dirty="0">
                <a:solidFill>
                  <a:srgbClr val="FF0000"/>
                </a:solidFill>
                <a:latin typeface="Century Gothic"/>
              </a:rPr>
              <a:t>  </a:t>
            </a:r>
            <a:r>
              <a:rPr kumimoji="0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/>
                <a:cs typeface="+mn-cs"/>
              </a:rPr>
              <a:t>0000 0000</a:t>
            </a:r>
            <a:r>
              <a:rPr kumimoji="0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cs typeface="+mn-cs"/>
              </a:rPr>
              <a:t> 0001 0010 0011 0100 0101 0110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None/>
              <a:tabLst/>
              <a:defRPr/>
            </a:pPr>
            <a:endParaRPr kumimoji="0" lang="en-US" altLang="zh-TW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cs typeface="+mn-cs"/>
            </a:endParaRPr>
          </a:p>
          <a:p>
            <a:pPr>
              <a:buClr>
                <a:srgbClr val="0000FF"/>
              </a:buClr>
            </a:pPr>
            <a:r>
              <a:rPr lang="zh-CN" altLang="en-US" kern="0" dirty="0">
                <a:solidFill>
                  <a:srgbClr val="000000"/>
                </a:solidFill>
                <a:latin typeface="Century Gothic"/>
              </a:rPr>
              <a:t>算术右移</a:t>
            </a:r>
            <a:r>
              <a:rPr lang="en-US" altLang="zh-CN" kern="0" dirty="0">
                <a:solidFill>
                  <a:srgbClr val="000000"/>
                </a:solidFill>
                <a:latin typeface="Century Gothic"/>
              </a:rPr>
              <a:t>8</a:t>
            </a:r>
            <a:r>
              <a:rPr lang="zh-CN" altLang="en-US" kern="0" dirty="0">
                <a:solidFill>
                  <a:srgbClr val="000000"/>
                </a:solidFill>
                <a:latin typeface="Century Gothic"/>
              </a:rPr>
              <a:t>位（负数）</a:t>
            </a:r>
            <a:endParaRPr kumimoji="0" lang="en-US" altLang="zh-TW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None/>
              <a:tabLst/>
              <a:defRPr/>
            </a:pPr>
            <a:r>
              <a:rPr lang="en-US" altLang="zh-TW" kern="0" dirty="0">
                <a:solidFill>
                  <a:srgbClr val="FF0000"/>
                </a:solidFill>
                <a:latin typeface="Century Gothic"/>
              </a:rPr>
              <a:t>   </a:t>
            </a:r>
            <a:r>
              <a:rPr kumimoji="0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/>
                <a:cs typeface="+mn-cs"/>
              </a:rPr>
              <a:t>1</a:t>
            </a:r>
            <a:r>
              <a:rPr kumimoji="0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cs typeface="+mn-cs"/>
              </a:rPr>
              <a:t>001 0010 0011 0100 0101 0110 0111 1000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TW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TW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TW" kern="0" dirty="0">
                <a:solidFill>
                  <a:srgbClr val="FF0000"/>
                </a:solidFill>
                <a:latin typeface="Century Gothic"/>
              </a:rPr>
              <a:t>   </a:t>
            </a:r>
            <a:r>
              <a:rPr kumimoji="0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/>
                <a:cs typeface="+mn-cs"/>
              </a:rPr>
              <a:t>1111 1111</a:t>
            </a:r>
            <a:r>
              <a:rPr kumimoji="0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cs typeface="+mn-cs"/>
              </a:rPr>
              <a:t> 1001 0010 0011 0100 0101 0110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A1CC1EA-A5B1-458D-A8A3-F41137129D3D}"/>
              </a:ext>
            </a:extLst>
          </p:cNvPr>
          <p:cNvGrpSpPr>
            <a:grpSpLocks/>
          </p:cNvGrpSpPr>
          <p:nvPr/>
        </p:nvGrpSpPr>
        <p:grpSpPr bwMode="auto">
          <a:xfrm>
            <a:off x="778617" y="4164236"/>
            <a:ext cx="6083300" cy="741363"/>
            <a:chOff x="672" y="2592"/>
            <a:chExt cx="4464" cy="528"/>
          </a:xfrm>
        </p:grpSpPr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AD6364B5-42ED-4A3C-82D5-9901A769BF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2592"/>
              <a:ext cx="1104" cy="5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DE0EE52A-C886-4AF1-A0E1-E1BFB44432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592"/>
              <a:ext cx="1104" cy="5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2DF0530-165B-4BDB-A41B-43FB00C0FF6D}"/>
              </a:ext>
            </a:extLst>
          </p:cNvPr>
          <p:cNvGrpSpPr>
            <a:grpSpLocks/>
          </p:cNvGrpSpPr>
          <p:nvPr/>
        </p:nvGrpSpPr>
        <p:grpSpPr bwMode="auto">
          <a:xfrm>
            <a:off x="778617" y="1905224"/>
            <a:ext cx="6138863" cy="658812"/>
            <a:chOff x="672" y="1152"/>
            <a:chExt cx="4464" cy="528"/>
          </a:xfrm>
        </p:grpSpPr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13F556B0-B4CE-49F9-A3EA-FF2137809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152"/>
              <a:ext cx="1104" cy="5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C720EF8A-D868-47C6-B85E-7926AE25A7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152"/>
              <a:ext cx="1104" cy="5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755EC4CC-0A20-4913-8742-30A39F2EC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30" y="1425799"/>
            <a:ext cx="4586287" cy="457200"/>
          </a:xfrm>
          <a:prstGeom prst="rect">
            <a:avLst/>
          </a:prstGeom>
          <a:noFill/>
          <a:ln w="571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A38D46-DD55-440C-BCDD-64B12C75B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7217" y="2564036"/>
            <a:ext cx="4629150" cy="457200"/>
          </a:xfrm>
          <a:prstGeom prst="rect">
            <a:avLst/>
          </a:prstGeom>
          <a:noFill/>
          <a:ln w="571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319F80-1AD8-40E6-98EB-569AC4BF6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617" y="3740374"/>
            <a:ext cx="4600575" cy="457200"/>
          </a:xfrm>
          <a:prstGeom prst="rect">
            <a:avLst/>
          </a:prstGeom>
          <a:noFill/>
          <a:ln w="571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4D6582-84C3-407E-BC35-9B267CCC0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0080" y="4907186"/>
            <a:ext cx="4600575" cy="457200"/>
          </a:xfrm>
          <a:prstGeom prst="rect">
            <a:avLst/>
          </a:prstGeom>
          <a:noFill/>
          <a:ln w="571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itchFamily="65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2303A97-7006-4B00-8FBA-D35DA393340A}"/>
              </a:ext>
            </a:extLst>
          </p:cNvPr>
          <p:cNvGrpSpPr>
            <a:grpSpLocks/>
          </p:cNvGrpSpPr>
          <p:nvPr/>
        </p:nvGrpSpPr>
        <p:grpSpPr bwMode="auto">
          <a:xfrm>
            <a:off x="777030" y="4205511"/>
            <a:ext cx="1333500" cy="781050"/>
            <a:chOff x="768" y="2736"/>
            <a:chExt cx="912" cy="624"/>
          </a:xfrm>
        </p:grpSpPr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82CFF233-A15F-47E6-857D-C973E09020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736"/>
              <a:ext cx="0" cy="57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952A30D5-EBFB-4328-9351-DAA498AEEE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736"/>
              <a:ext cx="96" cy="57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60E23D59-1375-4045-90B9-190C7E5B0C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736"/>
              <a:ext cx="240" cy="57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FC1F604D-4545-4B87-8FCB-61A8338847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736"/>
              <a:ext cx="336" cy="57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45092F36-821A-4172-A6C7-55CF8A3E5B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736"/>
              <a:ext cx="528" cy="62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ADE080BF-E640-4FF3-B969-7AFD3B1313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736"/>
              <a:ext cx="624" cy="62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56F612D0-8925-434C-A40E-6C52D4E8CA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736"/>
              <a:ext cx="768" cy="62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2D280DF6-1801-4FF0-A07B-4CC5FC804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736"/>
              <a:ext cx="912" cy="62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C27C4FE-B12F-4352-AAAC-A413D946F3DA}"/>
              </a:ext>
            </a:extLst>
          </p:cNvPr>
          <p:cNvGrpSpPr>
            <a:grpSpLocks/>
          </p:cNvGrpSpPr>
          <p:nvPr/>
        </p:nvGrpSpPr>
        <p:grpSpPr bwMode="auto">
          <a:xfrm>
            <a:off x="778617" y="1871886"/>
            <a:ext cx="1427163" cy="768350"/>
            <a:chOff x="768" y="2736"/>
            <a:chExt cx="912" cy="624"/>
          </a:xfrm>
        </p:grpSpPr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F3EC4C20-F78E-436D-B34D-5457ECC9F8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736"/>
              <a:ext cx="0" cy="57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7A975B3F-7944-4AF0-B134-811C4F62A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736"/>
              <a:ext cx="96" cy="57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240BC6D8-BC90-464D-A86D-CA83C57878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736"/>
              <a:ext cx="240" cy="57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0EB09823-4D98-4502-8508-B48A8CD4E5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736"/>
              <a:ext cx="336" cy="57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792B93CC-744B-4CC0-8DC0-20EE795137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736"/>
              <a:ext cx="528" cy="62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0EAAE102-D385-4AD5-82AC-D63FD5EBF2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736"/>
              <a:ext cx="624" cy="62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F54B00F1-06D2-4382-9530-C65AAD28DD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736"/>
              <a:ext cx="768" cy="62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83983952-66CA-4612-8FB8-CB7B57E155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736"/>
              <a:ext cx="912" cy="62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134562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:a16="http://schemas.microsoft.com/office/drawing/2014/main" id="{3EE67A2D-F4FB-4218-A1AB-FF4E1A7877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</a:t>
            </a:r>
            <a:r>
              <a:rPr lang="zh-CN" altLang="en-US" dirty="0"/>
              <a:t>常用</a:t>
            </a:r>
            <a:r>
              <a:rPr lang="en-US" altLang="zh-CN" dirty="0"/>
              <a:t>MIPS</a:t>
            </a:r>
            <a:r>
              <a:rPr lang="zh-CN" altLang="en-US" dirty="0"/>
              <a:t>汇编指令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45688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5.6.1</a:t>
            </a:r>
            <a:r>
              <a:rPr lang="zh-CN" altLang="en-US" dirty="0"/>
              <a:t>数据传送类指令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5.6.2</a:t>
            </a:r>
            <a:r>
              <a:rPr lang="zh-CN" altLang="en-US" dirty="0"/>
              <a:t>算术运算和逻辑运算指令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5.6.3</a:t>
            </a:r>
            <a:r>
              <a:rPr lang="zh-CN" altLang="en-US" dirty="0"/>
              <a:t>移位类指令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5.6.4</a:t>
            </a:r>
            <a:r>
              <a:rPr lang="zh-CN" altLang="en-US" dirty="0"/>
              <a:t>程序控制类指令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40C3B49-17BA-4ED2-9C61-17CE50498BE2}"/>
              </a:ext>
            </a:extLst>
          </p:cNvPr>
          <p:cNvSpPr/>
          <p:nvPr/>
        </p:nvSpPr>
        <p:spPr>
          <a:xfrm>
            <a:off x="827584" y="4293096"/>
            <a:ext cx="3967753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altLang="zh-CN" sz="3200" kern="0" dirty="0">
                <a:solidFill>
                  <a:srgbClr val="000000"/>
                </a:solidFill>
              </a:rPr>
              <a:t>5.6.4</a:t>
            </a:r>
            <a:r>
              <a:rPr lang="zh-CN" altLang="en-US" sz="3200" kern="0" dirty="0">
                <a:solidFill>
                  <a:srgbClr val="000000"/>
                </a:solidFill>
              </a:rPr>
              <a:t>程序控制类指令</a:t>
            </a:r>
          </a:p>
        </p:txBody>
      </p:sp>
    </p:spTree>
    <p:extLst>
      <p:ext uri="{BB962C8B-B14F-4D97-AF65-F5344CB8AC3E}">
        <p14:creationId xmlns:p14="http://schemas.microsoft.com/office/powerpoint/2010/main" val="12982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6EA68918-F81D-4FD8-A53A-95B4DD264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5.6.4</a:t>
            </a:r>
            <a:r>
              <a:rPr lang="zh-CN" altLang="en-US" dirty="0"/>
              <a:t>程序控制类指令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5C63212C-2F7A-4980-8E2A-1A76384D5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836712"/>
            <a:ext cx="8568952" cy="201622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1. </a:t>
            </a:r>
            <a:r>
              <a:rPr lang="zh-CN" altLang="en-US" dirty="0"/>
              <a:t>短转移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程序指针</a:t>
            </a:r>
            <a:r>
              <a:rPr lang="en-US" altLang="zh-CN" dirty="0">
                <a:solidFill>
                  <a:srgbClr val="FF0000"/>
                </a:solidFill>
              </a:rPr>
              <a:t>PC</a:t>
            </a:r>
            <a:r>
              <a:rPr lang="zh-CN" altLang="en-US" dirty="0">
                <a:solidFill>
                  <a:srgbClr val="FF0000"/>
                </a:solidFill>
              </a:rPr>
              <a:t>的转移范围是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en-US" altLang="zh-CN" baseline="30000" dirty="0">
                <a:solidFill>
                  <a:srgbClr val="FF0000"/>
                </a:solidFill>
              </a:rPr>
              <a:t>16</a:t>
            </a:r>
            <a:r>
              <a:rPr lang="zh-CN" altLang="en-US" dirty="0">
                <a:solidFill>
                  <a:srgbClr val="FF0000"/>
                </a:solidFill>
              </a:rPr>
              <a:t>字（即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en-US" altLang="zh-CN" baseline="30000" dirty="0">
                <a:solidFill>
                  <a:srgbClr val="FF0000"/>
                </a:solidFill>
              </a:rPr>
              <a:t>18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I</a:t>
            </a:r>
            <a:r>
              <a:rPr lang="zh-CN" altLang="en-US" dirty="0">
                <a:solidFill>
                  <a:srgbClr val="FF0000"/>
                </a:solidFill>
              </a:rPr>
              <a:t>型指令</a:t>
            </a:r>
            <a:endParaRPr lang="en-US" altLang="zh-CN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5BF72ED9-95EF-4031-89C5-D39201A26B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686063"/>
              </p:ext>
            </p:extLst>
          </p:nvPr>
        </p:nvGraphicFramePr>
        <p:xfrm>
          <a:off x="107504" y="2852936"/>
          <a:ext cx="8712967" cy="2834640"/>
        </p:xfrm>
        <a:graphic>
          <a:graphicData uri="http://schemas.openxmlformats.org/drawingml/2006/table">
            <a:tbl>
              <a:tblPr firstRow="1" bandRow="1"/>
              <a:tblGrid>
                <a:gridCol w="2074002">
                  <a:extLst>
                    <a:ext uri="{9D8B030D-6E8A-4147-A177-3AD203B41FA5}">
                      <a16:colId xmlns:a16="http://schemas.microsoft.com/office/drawing/2014/main" val="3073013788"/>
                    </a:ext>
                  </a:extLst>
                </a:gridCol>
                <a:gridCol w="2061735">
                  <a:extLst>
                    <a:ext uri="{9D8B030D-6E8A-4147-A177-3AD203B41FA5}">
                      <a16:colId xmlns:a16="http://schemas.microsoft.com/office/drawing/2014/main" val="2049175938"/>
                    </a:ext>
                  </a:extLst>
                </a:gridCol>
                <a:gridCol w="4577230">
                  <a:extLst>
                    <a:ext uri="{9D8B030D-6E8A-4147-A177-3AD203B41FA5}">
                      <a16:colId xmlns:a16="http://schemas.microsoft.com/office/drawing/2014/main" val="3362555531"/>
                    </a:ext>
                  </a:extLst>
                </a:gridCol>
              </a:tblGrid>
              <a:tr h="5533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功能说明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汇编指令</a:t>
                      </a:r>
                      <a:endParaRPr lang="zh-CN" sz="20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操作描述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Verilog HDL</a:t>
                      </a: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描述）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206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等于转移</a:t>
                      </a: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BEQ rs,rt,offset</a:t>
                      </a:r>
                      <a:endParaRPr lang="zh-CN" sz="20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if (R[rs]==R[rt])  PC=PC+4+offset</a:t>
                      </a:r>
                      <a:endParaRPr lang="zh-CN" sz="20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267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不等转移</a:t>
                      </a: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BNE  rs,rt,offset</a:t>
                      </a:r>
                      <a:endParaRPr lang="zh-CN" sz="20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if (R[rs]</a:t>
                      </a:r>
                      <a:r>
                        <a:rPr lang="zh-CN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！</a:t>
                      </a:r>
                      <a:r>
                        <a:rPr lang="en-US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=R[rt])  PC=PC+4+ offset</a:t>
                      </a:r>
                      <a:endParaRPr lang="zh-CN" sz="20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181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小于等于</a:t>
                      </a:r>
                      <a:r>
                        <a:rPr lang="en-US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转移</a:t>
                      </a: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BLEZ  rs,offset</a:t>
                      </a:r>
                      <a:endParaRPr lang="zh-CN" sz="20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if (R[rs]&lt;=0)  PC=PC+4+ offset</a:t>
                      </a:r>
                      <a:endParaRPr lang="zh-CN" sz="20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477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大于</a:t>
                      </a:r>
                      <a:r>
                        <a:rPr lang="en-US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转移</a:t>
                      </a: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BGTZ  rs,offset</a:t>
                      </a:r>
                      <a:endParaRPr lang="zh-CN" sz="20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if (R[rs]&gt;0)  PC=PC+4+ offset</a:t>
                      </a:r>
                      <a:endParaRPr lang="zh-CN" sz="20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108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小于</a:t>
                      </a:r>
                      <a:r>
                        <a:rPr lang="en-US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转移</a:t>
                      </a: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BLTZ rs,offset</a:t>
                      </a:r>
                      <a:endParaRPr lang="zh-CN" sz="20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if (R[rs]&lt;0)  PC=PC+4+ offset</a:t>
                      </a:r>
                      <a:endParaRPr lang="zh-CN" sz="20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254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大于等于</a:t>
                      </a:r>
                      <a:r>
                        <a:rPr lang="en-US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转移</a:t>
                      </a: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BGEZ  rs,offset</a:t>
                      </a:r>
                      <a:endParaRPr lang="zh-CN" sz="20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if (R[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]&gt;=0)  PC=PC+4+ offset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157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5320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bldLvl="2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6EA68918-F81D-4FD8-A53A-95B4DD264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5.6.4</a:t>
            </a:r>
            <a:r>
              <a:rPr lang="zh-CN" altLang="en-US" dirty="0"/>
              <a:t>程序控制类指令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5C63212C-2F7A-4980-8E2A-1A76384D5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836712"/>
            <a:ext cx="8568952" cy="201622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长转移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程序指针</a:t>
            </a:r>
            <a:r>
              <a:rPr lang="en-US" altLang="zh-CN" dirty="0">
                <a:solidFill>
                  <a:srgbClr val="FF0000"/>
                </a:solidFill>
              </a:rPr>
              <a:t>PC</a:t>
            </a:r>
            <a:r>
              <a:rPr lang="zh-CN" altLang="en-US" dirty="0">
                <a:solidFill>
                  <a:srgbClr val="FF0000"/>
                </a:solidFill>
              </a:rPr>
              <a:t>的转移范围是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en-US" altLang="zh-CN" baseline="30000" dirty="0">
                <a:solidFill>
                  <a:srgbClr val="FF0000"/>
                </a:solidFill>
              </a:rPr>
              <a:t>26</a:t>
            </a:r>
            <a:r>
              <a:rPr lang="zh-CN" altLang="en-US" dirty="0">
                <a:solidFill>
                  <a:srgbClr val="FF0000"/>
                </a:solidFill>
              </a:rPr>
              <a:t>字（即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en-US" altLang="zh-CN" baseline="30000" dirty="0">
                <a:solidFill>
                  <a:srgbClr val="FF0000"/>
                </a:solidFill>
              </a:rPr>
              <a:t>28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I</a:t>
            </a:r>
            <a:r>
              <a:rPr lang="zh-CN" altLang="en-US" dirty="0">
                <a:solidFill>
                  <a:srgbClr val="FF0000"/>
                </a:solidFill>
              </a:rPr>
              <a:t>型指令</a:t>
            </a:r>
            <a:endParaRPr lang="en-US" altLang="zh-CN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5BF72ED9-95EF-4031-89C5-D39201A26B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73452"/>
              </p:ext>
            </p:extLst>
          </p:nvPr>
        </p:nvGraphicFramePr>
        <p:xfrm>
          <a:off x="107504" y="2852936"/>
          <a:ext cx="8712967" cy="2092960"/>
        </p:xfrm>
        <a:graphic>
          <a:graphicData uri="http://schemas.openxmlformats.org/drawingml/2006/table">
            <a:tbl>
              <a:tblPr firstRow="1" bandRow="1"/>
              <a:tblGrid>
                <a:gridCol w="2304256">
                  <a:extLst>
                    <a:ext uri="{9D8B030D-6E8A-4147-A177-3AD203B41FA5}">
                      <a16:colId xmlns:a16="http://schemas.microsoft.com/office/drawing/2014/main" val="3073013788"/>
                    </a:ext>
                  </a:extLst>
                </a:gridCol>
                <a:gridCol w="1831481">
                  <a:extLst>
                    <a:ext uri="{9D8B030D-6E8A-4147-A177-3AD203B41FA5}">
                      <a16:colId xmlns:a16="http://schemas.microsoft.com/office/drawing/2014/main" val="2049175938"/>
                    </a:ext>
                  </a:extLst>
                </a:gridCol>
                <a:gridCol w="4577230">
                  <a:extLst>
                    <a:ext uri="{9D8B030D-6E8A-4147-A177-3AD203B41FA5}">
                      <a16:colId xmlns:a16="http://schemas.microsoft.com/office/drawing/2014/main" val="3362555531"/>
                    </a:ext>
                  </a:extLst>
                </a:gridCol>
              </a:tblGrid>
              <a:tr h="5533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功能说明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汇编指令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操作描述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Verilog HDL</a:t>
                      </a:r>
                      <a:r>
                        <a:rPr lang="zh-CN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描述）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206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跳转</a:t>
                      </a: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13335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J Target</a:t>
                      </a:r>
                      <a:endParaRPr lang="zh-CN" sz="20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PC= Target</a:t>
                      </a:r>
                      <a:endParaRPr lang="zh-CN" sz="20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267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kern="10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跳转并链接</a:t>
                      </a: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126365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JAL Target</a:t>
                      </a:r>
                      <a:endParaRPr lang="zh-CN" sz="20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R[31]=PC+4;PC= Target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181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跳转并链接寄存器</a:t>
                      </a: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126365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RALR rd</a:t>
                      </a:r>
                      <a:r>
                        <a:rPr lang="zh-CN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zh-CN" sz="20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R[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]=PC+4;PC=R[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477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12700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跳转寄存器</a:t>
                      </a: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126365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JR rs</a:t>
                      </a:r>
                      <a:endParaRPr lang="zh-CN" sz="2000" kern="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PC=R[</a:t>
                      </a:r>
                      <a:r>
                        <a:rPr lang="en-US" sz="2000" kern="100" dirty="0" err="1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2000" kern="1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</a:t>
                      </a:r>
                      <a:endParaRPr lang="zh-CN" sz="2000" kern="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108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58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bldLvl="2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8BAC737-515D-4C6A-A32A-F8E91CF91A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algn="ctr" eaLnBrk="1" hangingPunct="1"/>
            <a:r>
              <a:rPr lang="zh-CN" altLang="en-US" b="1"/>
              <a:t>第</a:t>
            </a:r>
            <a:r>
              <a:rPr lang="en-US" altLang="zh-CN" b="1"/>
              <a:t>5</a:t>
            </a:r>
            <a:r>
              <a:rPr lang="zh-CN" altLang="en-US" b="1"/>
              <a:t>章 指令系统</a:t>
            </a:r>
          </a:p>
        </p:txBody>
      </p:sp>
      <p:sp>
        <p:nvSpPr>
          <p:cNvPr id="16387" name="内容占位符 1">
            <a:extLst>
              <a:ext uri="{FF2B5EF4-FFF2-40B4-BE49-F238E27FC236}">
                <a16:creationId xmlns:a16="http://schemas.microsoft.com/office/drawing/2014/main" id="{A8CAF530-BD19-4AA9-AD42-9FDF6FCE35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23975" y="1549400"/>
            <a:ext cx="7450138" cy="4525963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/>
              <a:t>5.1</a:t>
            </a:r>
            <a:r>
              <a:rPr lang="zh-CN" altLang="en-US"/>
              <a:t>指令系统概述</a:t>
            </a:r>
            <a:endParaRPr lang="en-US" altLang="zh-CN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/>
              <a:t>5.2 </a:t>
            </a:r>
            <a:r>
              <a:rPr lang="zh-CN" altLang="en-US"/>
              <a:t>指令的格式 </a:t>
            </a:r>
            <a:endParaRPr lang="en-US" altLang="zh-CN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/>
              <a:t>5.3</a:t>
            </a:r>
            <a:r>
              <a:rPr lang="zh-CN" altLang="en-US"/>
              <a:t>寻址方式</a:t>
            </a:r>
            <a:endParaRPr lang="en-US" altLang="zh-CN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/>
              <a:t>5.4 </a:t>
            </a:r>
            <a:r>
              <a:rPr lang="zh-CN" altLang="en-US"/>
              <a:t>指令的分类 </a:t>
            </a:r>
            <a:endParaRPr lang="en-US" altLang="zh-CN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/>
              <a:t>5.5 MIPS32</a:t>
            </a:r>
            <a:r>
              <a:rPr lang="zh-CN" altLang="en-US"/>
              <a:t>指令简介 </a:t>
            </a:r>
            <a:endParaRPr lang="en-US" altLang="zh-CN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/>
              <a:t>5.6</a:t>
            </a:r>
            <a:r>
              <a:rPr lang="zh-CN" altLang="en-US"/>
              <a:t>常用</a:t>
            </a:r>
            <a:r>
              <a:rPr lang="en-US" altLang="zh-CN"/>
              <a:t>MIPS</a:t>
            </a:r>
            <a:r>
              <a:rPr lang="zh-CN" altLang="en-US"/>
              <a:t>汇编指令</a:t>
            </a:r>
            <a:endParaRPr lang="en-US" altLang="zh-CN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/>
              <a:t>5.7 MISP</a:t>
            </a:r>
            <a:r>
              <a:rPr lang="zh-CN" altLang="en-US"/>
              <a:t>指令与</a:t>
            </a:r>
            <a:r>
              <a:rPr lang="en-US" altLang="zh-CN"/>
              <a:t>C</a:t>
            </a:r>
            <a:r>
              <a:rPr lang="zh-CN" altLang="en-US"/>
              <a:t>语言程序的关系</a:t>
            </a:r>
          </a:p>
        </p:txBody>
      </p:sp>
      <p:sp>
        <p:nvSpPr>
          <p:cNvPr id="16388" name="AutoShape 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6452E04-D131-4A4E-AED6-EDBE5B01C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9963" y="6499225"/>
            <a:ext cx="184150" cy="368300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D67CA4-03D2-4867-8379-5DE67C6D1C43}"/>
              </a:ext>
            </a:extLst>
          </p:cNvPr>
          <p:cNvSpPr/>
          <p:nvPr/>
        </p:nvSpPr>
        <p:spPr>
          <a:xfrm>
            <a:off x="1323975" y="5016500"/>
            <a:ext cx="6272213" cy="58578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200" kern="0" dirty="0">
                <a:solidFill>
                  <a:srgbClr val="000000"/>
                </a:solidFill>
              </a:rPr>
              <a:t>5.7 MISP</a:t>
            </a:r>
            <a:r>
              <a:rPr lang="zh-CN" altLang="en-US" sz="3200" kern="0" dirty="0">
                <a:solidFill>
                  <a:srgbClr val="000000"/>
                </a:solidFill>
              </a:rPr>
              <a:t>指令与</a:t>
            </a:r>
            <a:r>
              <a:rPr lang="en-US" altLang="zh-CN" sz="3200" kern="0" dirty="0">
                <a:solidFill>
                  <a:srgbClr val="000000"/>
                </a:solidFill>
              </a:rPr>
              <a:t>C</a:t>
            </a:r>
            <a:r>
              <a:rPr lang="zh-CN" altLang="en-US" sz="3200" kern="0" dirty="0">
                <a:solidFill>
                  <a:srgbClr val="000000"/>
                </a:solidFill>
              </a:rPr>
              <a:t>语言程序的关系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F2E57854-E7DA-4A6E-9BC4-0ABC810ACF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794750" cy="1143000"/>
          </a:xfrm>
        </p:spPr>
        <p:txBody>
          <a:bodyPr/>
          <a:lstStyle/>
          <a:p>
            <a:r>
              <a:rPr lang="en-US" altLang="zh-CN" sz="4000"/>
              <a:t>5.7 MISP</a:t>
            </a:r>
            <a:r>
              <a:rPr lang="zh-CN" altLang="en-US" sz="4000"/>
              <a:t>指令与</a:t>
            </a:r>
            <a:r>
              <a:rPr lang="en-US" altLang="zh-CN" sz="4000"/>
              <a:t>C</a:t>
            </a:r>
            <a:r>
              <a:rPr lang="zh-CN" altLang="en-US" sz="4000"/>
              <a:t>语言程序的关系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45688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5.7.1.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语言简单变量的运算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5.7.2. 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语言中的数组访问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5.7.3 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语言中的分支程序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5.7.4 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语言中的循环程序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5.7.5  </a:t>
            </a:r>
            <a:r>
              <a:rPr lang="zh-CN" altLang="en-US" dirty="0"/>
              <a:t>实现子程序调用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7021F6-595D-4D1A-9BC5-67C38B3573D3}"/>
              </a:ext>
            </a:extLst>
          </p:cNvPr>
          <p:cNvSpPr/>
          <p:nvPr/>
        </p:nvSpPr>
        <p:spPr>
          <a:xfrm>
            <a:off x="827088" y="1700213"/>
            <a:ext cx="6019800" cy="58578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200" kern="0" dirty="0">
                <a:solidFill>
                  <a:srgbClr val="000000"/>
                </a:solidFill>
              </a:rPr>
              <a:t>5.7.1.</a:t>
            </a:r>
            <a:r>
              <a:rPr lang="zh-CN" altLang="en-US" sz="3200" kern="0" dirty="0">
                <a:solidFill>
                  <a:srgbClr val="000000"/>
                </a:solidFill>
              </a:rPr>
              <a:t>实现</a:t>
            </a:r>
            <a:r>
              <a:rPr lang="en-US" altLang="zh-CN" sz="3200" kern="0" dirty="0">
                <a:solidFill>
                  <a:srgbClr val="000000"/>
                </a:solidFill>
              </a:rPr>
              <a:t>C</a:t>
            </a:r>
            <a:r>
              <a:rPr lang="zh-CN" altLang="en-US" sz="3200" kern="0" dirty="0">
                <a:solidFill>
                  <a:srgbClr val="000000"/>
                </a:solidFill>
              </a:rPr>
              <a:t>语言简单变量的运算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汇编语言的变量</a:t>
            </a:r>
            <a:r>
              <a:rPr lang="en-US" altLang="zh-CN" dirty="0"/>
              <a:t>---</a:t>
            </a:r>
            <a:r>
              <a:rPr lang="zh-CN" altLang="en-US" dirty="0"/>
              <a:t>寄存器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zh-CN" altLang="en-US" dirty="0"/>
              <a:t>汇编语言不能使用变量（</a:t>
            </a:r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/>
              <a:t>JAVA</a:t>
            </a:r>
            <a:r>
              <a:rPr lang="zh-CN" altLang="en-US" dirty="0"/>
              <a:t>可以）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int a;   float b;</a:t>
            </a:r>
          </a:p>
          <a:p>
            <a:pPr lvl="1">
              <a:defRPr/>
            </a:pPr>
            <a:r>
              <a:rPr lang="zh-CN" altLang="en-US" dirty="0"/>
              <a:t>寄存器变量没有数据类型    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汇编语言的操作对象是寄存器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好处：</a:t>
            </a:r>
            <a:r>
              <a:rPr lang="zh-CN" altLang="en-US" dirty="0">
                <a:solidFill>
                  <a:srgbClr val="00B050"/>
                </a:solidFill>
              </a:rPr>
              <a:t>寄存器是最快的数据单元</a:t>
            </a:r>
            <a:endParaRPr lang="en-US" altLang="zh-CN" dirty="0">
              <a:solidFill>
                <a:srgbClr val="00B050"/>
              </a:solidFill>
            </a:endParaRPr>
          </a:p>
          <a:p>
            <a:pPr lvl="1">
              <a:defRPr/>
            </a:pPr>
            <a:r>
              <a:rPr lang="zh-CN" altLang="en-US" dirty="0"/>
              <a:t>缺陷：寄存器数量有限，需仔细高效的使用各寄存器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MIPS</a:t>
            </a:r>
            <a:r>
              <a:rPr lang="zh-CN" altLang="en-US" dirty="0"/>
              <a:t>包括</a:t>
            </a:r>
            <a:r>
              <a:rPr lang="en-US" altLang="zh-CN" dirty="0"/>
              <a:t>32</a:t>
            </a:r>
            <a:r>
              <a:rPr lang="zh-CN" altLang="en-US" dirty="0"/>
              <a:t>个通用寄存器，字长</a:t>
            </a:r>
            <a:r>
              <a:rPr lang="en-US" altLang="zh-CN" dirty="0"/>
              <a:t>---32bits= 1 Word</a:t>
            </a:r>
          </a:p>
          <a:p>
            <a:pPr marL="504825" lvl="2" indent="-257175">
              <a:buFont typeface="Wingdings" pitchFamily="2" charset="2"/>
              <a:buChar char="n"/>
              <a:defRPr/>
            </a:pPr>
            <a:r>
              <a:rPr lang="en-US" altLang="zh-CN" dirty="0">
                <a:solidFill>
                  <a:srgbClr val="C00000"/>
                </a:solidFill>
              </a:rPr>
              <a:t>$0, $1, $2, … $30, $31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736747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BA82A8-FB00-42F5-9CC3-2AF062C0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5.7.1.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语言简单变量的运算</a:t>
            </a:r>
          </a:p>
        </p:txBody>
      </p:sp>
      <p:sp>
        <p:nvSpPr>
          <p:cNvPr id="4" name="内容占位符 6">
            <a:extLst>
              <a:ext uri="{FF2B5EF4-FFF2-40B4-BE49-F238E27FC236}">
                <a16:creationId xmlns:a16="http://schemas.microsoft.com/office/drawing/2014/main" id="{DD9BC0EE-339D-473D-94E5-7ADE43F05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3" y="942764"/>
            <a:ext cx="7396546" cy="5637024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如何编译下面的</a:t>
            </a:r>
            <a:r>
              <a:rPr lang="en-US" altLang="zh-CN" sz="2800" dirty="0"/>
              <a:t>C</a:t>
            </a:r>
            <a:r>
              <a:rPr lang="zh-CN" altLang="en-US" sz="2800" dirty="0"/>
              <a:t>语言表达式</a:t>
            </a:r>
            <a:r>
              <a:rPr lang="en-US" altLang="zh-CN" sz="2800" dirty="0"/>
              <a:t>?</a:t>
            </a:r>
          </a:p>
          <a:p>
            <a:pPr algn="ctr" eaLnBrk="1" hangingPunct="1">
              <a:buFont typeface="Times" pitchFamily="18" charset="0"/>
              <a:buNone/>
            </a:pP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ea typeface="MS PGothic" pitchFamily="34" charset="-128"/>
              </a:rPr>
              <a:t>a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  <a:ea typeface="MS PGothic" pitchFamily="34" charset="-128"/>
              </a:rPr>
              <a:t> </a:t>
            </a:r>
            <a:r>
              <a:rPr lang="en-US" altLang="zh-CN" sz="2800" b="1" dirty="0">
                <a:latin typeface="Courier New" pitchFamily="49" charset="0"/>
                <a:ea typeface="MS PGothic" pitchFamily="34" charset="-128"/>
              </a:rPr>
              <a:t>=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  <a:ea typeface="MS PGothic" pitchFamily="34" charset="-128"/>
              </a:rPr>
              <a:t> 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Courier New" pitchFamily="49" charset="0"/>
                <a:ea typeface="MS PGothic" pitchFamily="34" charset="-128"/>
              </a:rPr>
              <a:t>b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  <a:ea typeface="MS PGothic" pitchFamily="34" charset="-128"/>
              </a:rPr>
              <a:t> </a:t>
            </a:r>
            <a:r>
              <a:rPr lang="en-US" altLang="zh-CN" sz="2800" b="1" dirty="0">
                <a:latin typeface="Courier New" pitchFamily="49" charset="0"/>
                <a:ea typeface="MS PGothic" pitchFamily="34" charset="-128"/>
              </a:rPr>
              <a:t>+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  <a:ea typeface="MS PGothic" pitchFamily="34" charset="-128"/>
              </a:rPr>
              <a:t> </a:t>
            </a:r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latin typeface="Courier New" pitchFamily="49" charset="0"/>
                <a:ea typeface="MS PGothic" pitchFamily="34" charset="-128"/>
              </a:rPr>
              <a:t>c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  <a:ea typeface="MS PGothic" pitchFamily="34" charset="-128"/>
              </a:rPr>
              <a:t> </a:t>
            </a:r>
            <a:r>
              <a:rPr lang="en-US" altLang="zh-CN" sz="2800" b="1" dirty="0">
                <a:latin typeface="Courier New" pitchFamily="49" charset="0"/>
                <a:ea typeface="MS PGothic" pitchFamily="34" charset="-128"/>
              </a:rPr>
              <a:t>+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  <a:ea typeface="MS PGothic" pitchFamily="34" charset="-128"/>
              </a:rPr>
              <a:t> </a:t>
            </a:r>
            <a:r>
              <a:rPr lang="en-US" altLang="zh-CN" sz="2800" b="1" dirty="0">
                <a:solidFill>
                  <a:srgbClr val="7030A0"/>
                </a:solidFill>
                <a:latin typeface="Courier New" pitchFamily="49" charset="0"/>
                <a:ea typeface="MS PGothic" pitchFamily="34" charset="-128"/>
              </a:rPr>
              <a:t>d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  <a:ea typeface="MS PGothic" pitchFamily="34" charset="-128"/>
              </a:rPr>
              <a:t> </a:t>
            </a:r>
            <a:r>
              <a:rPr lang="en-US" altLang="zh-CN" sz="2800" b="1" dirty="0">
                <a:latin typeface="Courier New" pitchFamily="49" charset="0"/>
                <a:ea typeface="MS PGothic" pitchFamily="34" charset="-128"/>
              </a:rPr>
              <a:t>-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  <a:ea typeface="MS PGothic" pitchFamily="34" charset="-128"/>
              </a:rPr>
              <a:t> e;</a:t>
            </a:r>
          </a:p>
          <a:p>
            <a:r>
              <a:rPr lang="zh-CN" altLang="en-US" sz="2800" dirty="0"/>
              <a:t>编译成多行汇编指令</a:t>
            </a:r>
            <a:endParaRPr lang="en-US" altLang="zh-CN" sz="2800" dirty="0"/>
          </a:p>
          <a:p>
            <a:pPr lvl="1" eaLnBrk="1" hangingPunct="1"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rPr>
              <a:t>add $t0</a:t>
            </a:r>
            <a:r>
              <a:rPr lang="en-US" altLang="zh-CN" sz="2400" b="1" dirty="0">
                <a:solidFill>
                  <a:srgbClr val="7030A0"/>
                </a:solidFill>
                <a:latin typeface="Courier New" pitchFamily="49" charset="0"/>
                <a:ea typeface="MS PGothic" pitchFamily="34" charset="-128"/>
              </a:rPr>
              <a:t>, </a:t>
            </a:r>
            <a:r>
              <a:rPr lang="en-US" altLang="zh-CN" sz="2400" b="1" dirty="0">
                <a:solidFill>
                  <a:srgbClr val="0070C0"/>
                </a:solidFill>
                <a:latin typeface="Courier New" pitchFamily="49" charset="0"/>
                <a:ea typeface="MS PGothic" pitchFamily="34" charset="-128"/>
              </a:rPr>
              <a:t>$s1</a:t>
            </a:r>
            <a:r>
              <a:rPr lang="en-US" altLang="zh-CN" sz="2400" b="1" dirty="0">
                <a:solidFill>
                  <a:srgbClr val="7030A0"/>
                </a:solidFill>
                <a:latin typeface="Courier New" pitchFamily="49" charset="0"/>
                <a:ea typeface="MS PGothic" pitchFamily="34" charset="-128"/>
              </a:rPr>
              <a:t>, </a:t>
            </a:r>
            <a:r>
              <a:rPr lang="en-US" altLang="zh-CN" sz="2400" b="1" dirty="0">
                <a:solidFill>
                  <a:schemeClr val="accent4">
                    <a:lumMod val="50000"/>
                  </a:schemeClr>
                </a:solidFill>
                <a:latin typeface="Courier New" pitchFamily="49" charset="0"/>
                <a:ea typeface="MS PGothic" pitchFamily="34" charset="-128"/>
              </a:rPr>
              <a:t>$s2  </a:t>
            </a:r>
            <a:r>
              <a:rPr lang="en-US" altLang="zh-CN" sz="2400" b="1" i="1" dirty="0">
                <a:solidFill>
                  <a:schemeClr val="bg2">
                    <a:lumMod val="50000"/>
                  </a:schemeClr>
                </a:solidFill>
                <a:latin typeface="Courier New" pitchFamily="49" charset="0"/>
                <a:ea typeface="MS PGothic" pitchFamily="34" charset="-128"/>
              </a:rPr>
              <a:t># temp = b + c</a:t>
            </a:r>
          </a:p>
          <a:p>
            <a:pPr lvl="1" eaLnBrk="1" hangingPunct="1"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rPr>
              <a:t>add $t0, $t0, </a:t>
            </a:r>
            <a:r>
              <a:rPr lang="en-US" altLang="zh-CN" sz="2400" b="1" dirty="0">
                <a:solidFill>
                  <a:srgbClr val="7030A0"/>
                </a:solidFill>
                <a:latin typeface="Courier New" pitchFamily="49" charset="0"/>
                <a:ea typeface="MS PGothic" pitchFamily="34" charset="-128"/>
              </a:rPr>
              <a:t>$s3  </a:t>
            </a:r>
            <a:r>
              <a:rPr lang="en-US" altLang="zh-CN" sz="2400" b="1" i="1" dirty="0">
                <a:solidFill>
                  <a:schemeClr val="bg2">
                    <a:lumMod val="50000"/>
                  </a:schemeClr>
                </a:solidFill>
                <a:latin typeface="Courier New" pitchFamily="49" charset="0"/>
                <a:ea typeface="MS PGothic" pitchFamily="34" charset="-128"/>
              </a:rPr>
              <a:t># temp = temp + d</a:t>
            </a:r>
          </a:p>
          <a:p>
            <a:pPr lvl="1"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rPr>
              <a:t>sub</a:t>
            </a:r>
            <a:r>
              <a:rPr lang="en-US" altLang="zh-CN" sz="2400" b="1" dirty="0">
                <a:solidFill>
                  <a:srgbClr val="7030A0"/>
                </a:solidFill>
                <a:latin typeface="Courier New" pitchFamily="49" charset="0"/>
                <a:ea typeface="MS PGothic" pitchFamily="34" charset="-128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ea typeface="MS PGothic" pitchFamily="34" charset="-128"/>
              </a:rPr>
              <a:t>$s0</a:t>
            </a:r>
            <a:r>
              <a:rPr lang="en-US" altLang="zh-CN" sz="2400" b="1" dirty="0">
                <a:solidFill>
                  <a:srgbClr val="7030A0"/>
                </a:solidFill>
                <a:latin typeface="Courier New" pitchFamily="49" charset="0"/>
                <a:ea typeface="MS PGothic" pitchFamily="34" charset="-128"/>
              </a:rPr>
              <a:t>, </a:t>
            </a: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rPr>
              <a:t>$t0</a:t>
            </a:r>
            <a:r>
              <a:rPr lang="en-US" altLang="zh-CN" sz="2400" b="1" dirty="0">
                <a:solidFill>
                  <a:srgbClr val="7030A0"/>
                </a:solidFill>
                <a:latin typeface="Courier New" pitchFamily="49" charset="0"/>
                <a:ea typeface="MS PGothic" pitchFamily="34" charset="-128"/>
              </a:rPr>
              <a:t>, </a:t>
            </a:r>
            <a:r>
              <a:rPr lang="en-US" altLang="zh-CN" sz="2400" b="1" dirty="0">
                <a:latin typeface="Courier New" pitchFamily="49" charset="0"/>
                <a:ea typeface="MS PGothic" pitchFamily="34" charset="-128"/>
              </a:rPr>
              <a:t>$s4  </a:t>
            </a:r>
            <a:r>
              <a:rPr lang="en-US" altLang="zh-CN" sz="2400" b="1" i="1" dirty="0">
                <a:solidFill>
                  <a:schemeClr val="bg2">
                    <a:lumMod val="50000"/>
                  </a:schemeClr>
                </a:solidFill>
                <a:latin typeface="Courier New" pitchFamily="49" charset="0"/>
                <a:ea typeface="MS PGothic" pitchFamily="34" charset="-128"/>
              </a:rPr>
              <a:t># a = temp - e</a:t>
            </a:r>
          </a:p>
          <a:p>
            <a:pPr eaLnBrk="1" hangingPunct="1"/>
            <a:r>
              <a:rPr lang="zh-CN" altLang="en-US" sz="2800" dirty="0"/>
              <a:t>一个简单的</a:t>
            </a:r>
            <a:r>
              <a:rPr lang="en-US" altLang="zh-CN" sz="2800" dirty="0"/>
              <a:t>C</a:t>
            </a:r>
            <a:r>
              <a:rPr lang="zh-CN" altLang="en-US" sz="2800" dirty="0"/>
              <a:t>语言表达式变成多行汇编语句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28986902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F2E57854-E7DA-4A6E-9BC4-0ABC810ACF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794750" cy="1143000"/>
          </a:xfrm>
        </p:spPr>
        <p:txBody>
          <a:bodyPr/>
          <a:lstStyle/>
          <a:p>
            <a:r>
              <a:rPr lang="en-US" altLang="zh-CN" sz="4000" dirty="0"/>
              <a:t>5.7 MISP</a:t>
            </a:r>
            <a:r>
              <a:rPr lang="zh-CN" altLang="en-US" sz="4000" dirty="0"/>
              <a:t>指令与</a:t>
            </a:r>
            <a:r>
              <a:rPr lang="en-US" altLang="zh-CN" sz="4000" dirty="0"/>
              <a:t>C</a:t>
            </a:r>
            <a:r>
              <a:rPr lang="zh-CN" altLang="en-US" sz="4000" dirty="0"/>
              <a:t>语言程序的关系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45688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5.7.1.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语言简单变量的运算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5.7.2. 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语言中的数组访问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5.7.3 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语言中的分支程序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5.7.4 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语言中的循环程序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5.7.5  </a:t>
            </a:r>
            <a:r>
              <a:rPr lang="zh-CN" altLang="en-US" dirty="0"/>
              <a:t>实现子程序调用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7021F6-595D-4D1A-9BC5-67C38B3573D3}"/>
              </a:ext>
            </a:extLst>
          </p:cNvPr>
          <p:cNvSpPr/>
          <p:nvPr/>
        </p:nvSpPr>
        <p:spPr>
          <a:xfrm>
            <a:off x="899592" y="2492896"/>
            <a:ext cx="5723042" cy="73539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3200" kern="0" dirty="0">
                <a:solidFill>
                  <a:srgbClr val="000000"/>
                </a:solidFill>
              </a:rPr>
              <a:t>5.7.2. </a:t>
            </a:r>
            <a:r>
              <a:rPr lang="zh-CN" altLang="en-US" sz="3200" kern="0" dirty="0">
                <a:solidFill>
                  <a:srgbClr val="000000"/>
                </a:solidFill>
              </a:rPr>
              <a:t>实现</a:t>
            </a:r>
            <a:r>
              <a:rPr lang="en-US" altLang="zh-CN" sz="3200" kern="0" dirty="0">
                <a:solidFill>
                  <a:srgbClr val="000000"/>
                </a:solidFill>
              </a:rPr>
              <a:t>C</a:t>
            </a:r>
            <a:r>
              <a:rPr lang="zh-CN" altLang="en-US" sz="3200" kern="0" dirty="0">
                <a:solidFill>
                  <a:srgbClr val="000000"/>
                </a:solidFill>
              </a:rPr>
              <a:t>语言中的数组访问</a:t>
            </a:r>
            <a:endParaRPr lang="en-US" altLang="zh-CN" sz="32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7091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BA82A8-FB00-42F5-9CC3-2AF062C0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5.7.2. 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语言中的数组访问</a:t>
            </a:r>
          </a:p>
        </p:txBody>
      </p:sp>
      <p:sp>
        <p:nvSpPr>
          <p:cNvPr id="4" name="内容占位符 6">
            <a:extLst>
              <a:ext uri="{FF2B5EF4-FFF2-40B4-BE49-F238E27FC236}">
                <a16:creationId xmlns:a16="http://schemas.microsoft.com/office/drawing/2014/main" id="{DD9BC0EE-339D-473D-94E5-7ADE43F05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3" y="942764"/>
            <a:ext cx="7396546" cy="5637024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如何编译下面的</a:t>
            </a:r>
            <a:r>
              <a:rPr lang="en-US" altLang="zh-CN" sz="2800" dirty="0"/>
              <a:t>C</a:t>
            </a:r>
            <a:r>
              <a:rPr lang="zh-CN" altLang="en-US" sz="2800" dirty="0"/>
              <a:t>语言表达式</a:t>
            </a:r>
            <a:r>
              <a:rPr lang="en-US" altLang="zh-CN" sz="2800" dirty="0"/>
              <a:t>?</a:t>
            </a:r>
          </a:p>
          <a:p>
            <a:pPr algn="ctr">
              <a:buNone/>
            </a:pPr>
            <a:r>
              <a:rPr lang="pt-BR" altLang="zh-CN" b="1" dirty="0">
                <a:solidFill>
                  <a:srgbClr val="00B050"/>
                </a:solidFill>
                <a:latin typeface="Courier New" pitchFamily="49" charset="0"/>
                <a:ea typeface="MS PGothic" pitchFamily="34" charset="-128"/>
              </a:rPr>
              <a:t>A</a:t>
            </a:r>
            <a:r>
              <a:rPr lang="pt-BR" altLang="zh-CN" b="1" dirty="0">
                <a:solidFill>
                  <a:srgbClr val="FF0000"/>
                </a:solidFill>
                <a:latin typeface="Courier New" pitchFamily="49" charset="0"/>
                <a:ea typeface="MS PGothic" pitchFamily="34" charset="-128"/>
              </a:rPr>
              <a:t>[10] </a:t>
            </a:r>
            <a:r>
              <a:rPr lang="pt-BR" altLang="zh-CN" b="1" dirty="0">
                <a:solidFill>
                  <a:srgbClr val="00B050"/>
                </a:solidFill>
                <a:latin typeface="Courier New" pitchFamily="49" charset="0"/>
                <a:ea typeface="MS PGothic" pitchFamily="34" charset="-128"/>
              </a:rPr>
              <a:t>= h + A</a:t>
            </a:r>
            <a:r>
              <a:rPr lang="pt-BR" altLang="zh-CN" b="1" dirty="0">
                <a:solidFill>
                  <a:srgbClr val="00B0F0"/>
                </a:solidFill>
                <a:latin typeface="Courier New" pitchFamily="49" charset="0"/>
                <a:ea typeface="MS PGothic" pitchFamily="34" charset="-128"/>
              </a:rPr>
              <a:t>[3]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  <a:ea typeface="MS PGothic" pitchFamily="34" charset="-128"/>
              </a:rPr>
              <a:t>;</a:t>
            </a:r>
          </a:p>
          <a:p>
            <a:r>
              <a:rPr lang="zh-CN" altLang="en-US" sz="2800" dirty="0"/>
              <a:t>编译汇编指令</a:t>
            </a:r>
            <a:endParaRPr lang="en-US" altLang="zh-CN" sz="2800" dirty="0"/>
          </a:p>
          <a:p>
            <a:pPr lvl="1" eaLnBrk="1" hangingPunct="1"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rPr>
              <a:t> </a:t>
            </a:r>
            <a:r>
              <a:rPr lang="en-US" altLang="zh-CN" dirty="0"/>
              <a:t>	LW  $t0,</a:t>
            </a:r>
            <a:r>
              <a:rPr lang="en-US" altLang="zh-CN" dirty="0">
                <a:solidFill>
                  <a:srgbClr val="00B0F0"/>
                </a:solidFill>
              </a:rPr>
              <a:t>12</a:t>
            </a:r>
            <a:r>
              <a:rPr lang="en-US" altLang="zh-CN" dirty="0">
                <a:solidFill>
                  <a:schemeClr val="accent6"/>
                </a:solidFill>
              </a:rPr>
              <a:t>($s3</a:t>
            </a:r>
            <a:r>
              <a:rPr lang="en-US" altLang="zh-CN" dirty="0">
                <a:solidFill>
                  <a:srgbClr val="92D050"/>
                </a:solidFill>
              </a:rPr>
              <a:t>)</a:t>
            </a:r>
            <a:r>
              <a:rPr lang="en-US" altLang="zh-CN" dirty="0"/>
              <a:t>    # $t0= A[3]</a:t>
            </a:r>
          </a:p>
          <a:p>
            <a:pPr lvl="1" eaLnBrk="1" hangingPunct="1">
              <a:buFontTx/>
              <a:buNone/>
            </a:pPr>
            <a:r>
              <a:rPr lang="en-US" altLang="zh-CN" dirty="0"/>
              <a:t>  ADD $t0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en-US" altLang="zh-CN" dirty="0">
                <a:solidFill>
                  <a:schemeClr val="accent5"/>
                </a:solidFill>
              </a:rPr>
              <a:t>$s2</a:t>
            </a:r>
            <a:r>
              <a:rPr lang="en-US" altLang="zh-CN" dirty="0">
                <a:solidFill>
                  <a:srgbClr val="FFC000"/>
                </a:solidFill>
              </a:rPr>
              <a:t>,$t0</a:t>
            </a:r>
            <a:r>
              <a:rPr lang="en-US" altLang="zh-CN" dirty="0"/>
              <a:t>    # $t0= h + A[3]</a:t>
            </a:r>
          </a:p>
          <a:p>
            <a:pPr lvl="1" eaLnBrk="1" hangingPunct="1">
              <a:buFontTx/>
              <a:buNone/>
            </a:pPr>
            <a:r>
              <a:rPr lang="en-US" altLang="zh-CN" dirty="0"/>
              <a:t>   SW	 $t0,</a:t>
            </a:r>
            <a:r>
              <a:rPr lang="en-US" altLang="zh-CN" dirty="0">
                <a:solidFill>
                  <a:srgbClr val="FF0000"/>
                </a:solidFill>
              </a:rPr>
              <a:t>40</a:t>
            </a:r>
            <a:r>
              <a:rPr lang="en-US" altLang="zh-CN" dirty="0">
                <a:solidFill>
                  <a:srgbClr val="92D050"/>
                </a:solidFill>
              </a:rPr>
              <a:t>($s3)</a:t>
            </a:r>
            <a:r>
              <a:rPr lang="en-US" altLang="zh-CN" dirty="0"/>
              <a:t>   # A[10] = h + A[3]</a:t>
            </a:r>
          </a:p>
          <a:p>
            <a:pPr marL="0" indent="0" eaLnBrk="1" hangingPunct="1">
              <a:buNone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11114683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F2E57854-E7DA-4A6E-9BC4-0ABC810ACF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794750" cy="1143000"/>
          </a:xfrm>
        </p:spPr>
        <p:txBody>
          <a:bodyPr/>
          <a:lstStyle/>
          <a:p>
            <a:r>
              <a:rPr lang="en-US" altLang="zh-CN" sz="4000" dirty="0"/>
              <a:t>5.7 MISP</a:t>
            </a:r>
            <a:r>
              <a:rPr lang="zh-CN" altLang="en-US" sz="4000" dirty="0"/>
              <a:t>指令与</a:t>
            </a:r>
            <a:r>
              <a:rPr lang="en-US" altLang="zh-CN" sz="4000" dirty="0"/>
              <a:t>C</a:t>
            </a:r>
            <a:r>
              <a:rPr lang="zh-CN" altLang="en-US" sz="4000" dirty="0"/>
              <a:t>语言程序的关系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45688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5.7.1.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语言简单变量的运算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5.7.2. 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语言中的数组访问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5.7.3 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语言中的分支程序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5.7.4 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语言中的循环程序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5.7.5  </a:t>
            </a:r>
            <a:r>
              <a:rPr lang="zh-CN" altLang="en-US" dirty="0"/>
              <a:t>实现子程序调用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7021F6-595D-4D1A-9BC5-67C38B3573D3}"/>
              </a:ext>
            </a:extLst>
          </p:cNvPr>
          <p:cNvSpPr/>
          <p:nvPr/>
        </p:nvSpPr>
        <p:spPr>
          <a:xfrm>
            <a:off x="899592" y="3429000"/>
            <a:ext cx="5723042" cy="73539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3200" kern="0" dirty="0">
                <a:solidFill>
                  <a:srgbClr val="000000"/>
                </a:solidFill>
              </a:rPr>
              <a:t>5.7.3 </a:t>
            </a:r>
            <a:r>
              <a:rPr lang="zh-CN" altLang="en-US" sz="3200" kern="0" dirty="0">
                <a:solidFill>
                  <a:srgbClr val="000000"/>
                </a:solidFill>
              </a:rPr>
              <a:t>实现</a:t>
            </a:r>
            <a:r>
              <a:rPr lang="en-US" altLang="zh-CN" sz="3200" kern="0" dirty="0">
                <a:solidFill>
                  <a:srgbClr val="000000"/>
                </a:solidFill>
              </a:rPr>
              <a:t>C</a:t>
            </a:r>
            <a:r>
              <a:rPr lang="zh-CN" altLang="en-US" sz="3200" kern="0" dirty="0">
                <a:solidFill>
                  <a:srgbClr val="000000"/>
                </a:solidFill>
              </a:rPr>
              <a:t>语言中的分支程序</a:t>
            </a:r>
          </a:p>
        </p:txBody>
      </p:sp>
    </p:spTree>
    <p:extLst>
      <p:ext uri="{BB962C8B-B14F-4D97-AF65-F5344CB8AC3E}">
        <p14:creationId xmlns:p14="http://schemas.microsoft.com/office/powerpoint/2010/main" val="21968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BA82A8-FB00-42F5-9CC3-2AF062C0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5.7.3 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语言中的分支程序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B1CE032-D735-4AE6-B935-31D9EDFCD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3" y="942764"/>
            <a:ext cx="8188634" cy="5637024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  <a:defRPr/>
            </a:pPr>
            <a:r>
              <a:rPr lang="zh-CN" altLang="en-US" b="1" dirty="0">
                <a:solidFill>
                  <a:srgbClr val="7030A0"/>
                </a:solidFill>
                <a:latin typeface="Courier New"/>
                <a:cs typeface="Courier New"/>
              </a:rPr>
              <a:t>实现</a:t>
            </a:r>
            <a:r>
              <a:rPr lang="en-US" altLang="zh-CN" b="1" dirty="0">
                <a:solidFill>
                  <a:srgbClr val="7030A0"/>
                </a:solidFill>
                <a:latin typeface="Courier New"/>
                <a:cs typeface="Courier New"/>
              </a:rPr>
              <a:t>if</a:t>
            </a:r>
            <a:r>
              <a:rPr lang="zh-CN" altLang="en-US" b="1" dirty="0">
                <a:solidFill>
                  <a:srgbClr val="7030A0"/>
                </a:solidFill>
                <a:latin typeface="Courier New"/>
                <a:cs typeface="Courier New"/>
              </a:rPr>
              <a:t>语句：</a:t>
            </a:r>
            <a:endParaRPr lang="en-US" altLang="zh-CN" b="1" dirty="0">
              <a:solidFill>
                <a:srgbClr val="7030A0"/>
              </a:solidFill>
              <a:latin typeface="Courier New"/>
              <a:cs typeface="Courier New"/>
            </a:endParaRPr>
          </a:p>
          <a:p>
            <a:pPr algn="l">
              <a:defRPr/>
            </a:pPr>
            <a:r>
              <a:rPr lang="en-US" altLang="zh-CN" b="1" dirty="0" err="1">
                <a:solidFill>
                  <a:srgbClr val="7030A0"/>
                </a:solidFill>
                <a:latin typeface="Courier New"/>
                <a:cs typeface="Courier New"/>
              </a:rPr>
              <a:t>slt</a:t>
            </a:r>
            <a:r>
              <a:rPr lang="en-US" altLang="zh-CN" b="1" dirty="0">
                <a:solidFill>
                  <a:srgbClr val="7030A0"/>
                </a:solidFill>
                <a:latin typeface="Courier New"/>
                <a:cs typeface="Courier New"/>
              </a:rPr>
              <a:t> reg</a:t>
            </a:r>
            <a:r>
              <a:rPr lang="en-US" altLang="zh-CN" b="1" baseline="-25000" dirty="0">
                <a:solidFill>
                  <a:srgbClr val="7030A0"/>
                </a:solidFill>
                <a:latin typeface="Courier New"/>
                <a:cs typeface="Courier New"/>
              </a:rPr>
              <a:t>1</a:t>
            </a:r>
            <a:r>
              <a:rPr lang="en-US" altLang="zh-CN" b="1" dirty="0">
                <a:solidFill>
                  <a:srgbClr val="7030A0"/>
                </a:solidFill>
                <a:latin typeface="Courier New"/>
                <a:cs typeface="Courier New"/>
              </a:rPr>
              <a:t>,reg</a:t>
            </a:r>
            <a:r>
              <a:rPr lang="en-US" altLang="zh-CN" b="1" baseline="-25000" dirty="0">
                <a:solidFill>
                  <a:srgbClr val="7030A0"/>
                </a:solidFill>
                <a:latin typeface="Courier New"/>
                <a:cs typeface="Courier New"/>
              </a:rPr>
              <a:t>2</a:t>
            </a:r>
            <a:r>
              <a:rPr lang="en-US" altLang="zh-CN" b="1" dirty="0">
                <a:solidFill>
                  <a:srgbClr val="7030A0"/>
                </a:solidFill>
                <a:latin typeface="Courier New"/>
                <a:cs typeface="Courier New"/>
              </a:rPr>
              <a:t>,reg</a:t>
            </a:r>
            <a:r>
              <a:rPr lang="en-US" altLang="zh-CN" b="1" baseline="-25000" dirty="0">
                <a:solidFill>
                  <a:srgbClr val="7030A0"/>
                </a:solidFill>
                <a:latin typeface="Courier New"/>
                <a:cs typeface="Courier New"/>
              </a:rPr>
              <a:t>3</a:t>
            </a:r>
          </a:p>
          <a:p>
            <a:pPr marL="0" indent="0" algn="l">
              <a:buNone/>
              <a:defRPr/>
            </a:pPr>
            <a:r>
              <a:rPr lang="en-US" altLang="zh-CN" sz="2400" b="1" dirty="0">
                <a:solidFill>
                  <a:schemeClr val="accent2"/>
                </a:solidFill>
                <a:latin typeface="Courier New"/>
                <a:cs typeface="Courier New"/>
              </a:rPr>
              <a:t>    reg1 = (reg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Courier New"/>
                <a:cs typeface="Courier New"/>
              </a:rPr>
              <a:t>2</a:t>
            </a:r>
            <a:r>
              <a:rPr lang="en-US" altLang="zh-CN" sz="2400" b="1" dirty="0">
                <a:solidFill>
                  <a:schemeClr val="accent2"/>
                </a:solidFill>
                <a:latin typeface="Courier New"/>
                <a:cs typeface="Courier New"/>
              </a:rPr>
              <a:t> &lt; reg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Courier New"/>
                <a:cs typeface="Courier New"/>
              </a:rPr>
              <a:t>3</a:t>
            </a:r>
            <a:r>
              <a:rPr lang="en-US" altLang="zh-CN" sz="2400" b="1" dirty="0">
                <a:solidFill>
                  <a:schemeClr val="accent2"/>
                </a:solidFill>
                <a:latin typeface="Courier New"/>
                <a:cs typeface="Courier New"/>
              </a:rPr>
              <a:t>)? 1:0;   </a:t>
            </a:r>
            <a:r>
              <a:rPr lang="zh-CN" altLang="en-US" sz="1800" b="1" dirty="0">
                <a:solidFill>
                  <a:schemeClr val="accent2"/>
                </a:solidFill>
                <a:latin typeface="Courier New"/>
                <a:cs typeface="Courier New"/>
              </a:rPr>
              <a:t>（</a:t>
            </a:r>
            <a:r>
              <a:rPr lang="en-US" altLang="zh-CN" sz="1800" b="1" dirty="0">
                <a:solidFill>
                  <a:schemeClr val="accent2"/>
                </a:solidFill>
                <a:latin typeface="Courier New"/>
                <a:cs typeface="Courier New"/>
              </a:rPr>
              <a:t>C</a:t>
            </a:r>
            <a:r>
              <a:rPr lang="zh-CN" altLang="en-US" sz="1800" b="1" dirty="0">
                <a:solidFill>
                  <a:schemeClr val="accent2"/>
                </a:solidFill>
                <a:latin typeface="Courier New"/>
                <a:cs typeface="Courier New"/>
              </a:rPr>
              <a:t>语言）</a:t>
            </a:r>
            <a:endParaRPr lang="en-US" altLang="zh-CN" sz="1800" b="1" dirty="0">
              <a:solidFill>
                <a:schemeClr val="accent2"/>
              </a:solidFill>
              <a:latin typeface="Courier New"/>
              <a:cs typeface="Courier New"/>
            </a:endParaRPr>
          </a:p>
          <a:p>
            <a:pPr algn="l">
              <a:defRPr/>
            </a:pPr>
            <a:r>
              <a:rPr lang="en-US" altLang="zh-CN" sz="2600" b="1" dirty="0">
                <a:solidFill>
                  <a:srgbClr val="7030A0"/>
                </a:solidFill>
                <a:latin typeface="Courier New"/>
                <a:cs typeface="Courier New"/>
              </a:rPr>
              <a:t>If (g&lt;h) </a:t>
            </a:r>
            <a:r>
              <a:rPr lang="en-US" altLang="zh-CN" sz="2600" b="1" dirty="0" err="1">
                <a:solidFill>
                  <a:srgbClr val="7030A0"/>
                </a:solidFill>
                <a:latin typeface="Courier New"/>
                <a:cs typeface="Courier New"/>
              </a:rPr>
              <a:t>goto</a:t>
            </a:r>
            <a:r>
              <a:rPr lang="en-US" altLang="zh-CN" sz="2600" b="1" dirty="0">
                <a:solidFill>
                  <a:srgbClr val="7030A0"/>
                </a:solidFill>
                <a:latin typeface="Courier New"/>
                <a:cs typeface="Courier New"/>
              </a:rPr>
              <a:t> Less;    </a:t>
            </a:r>
          </a:p>
          <a:p>
            <a:pPr marL="0" indent="0" algn="l">
              <a:buNone/>
              <a:defRPr/>
            </a:pPr>
            <a:r>
              <a:rPr lang="en-US" altLang="zh-CN" sz="2400" b="1" dirty="0">
                <a:solidFill>
                  <a:srgbClr val="7030A0"/>
                </a:solidFill>
                <a:latin typeface="Courier New" pitchFamily="-65" charset="0"/>
              </a:rPr>
              <a:t>    </a:t>
            </a:r>
            <a:r>
              <a:rPr lang="en-US" altLang="zh-CN" sz="2400" b="1" dirty="0" err="1">
                <a:solidFill>
                  <a:srgbClr val="7030A0"/>
                </a:solidFill>
                <a:latin typeface="Courier New" pitchFamily="-65" charset="0"/>
              </a:rPr>
              <a:t>slt</a:t>
            </a:r>
            <a:r>
              <a:rPr lang="en-US" altLang="zh-CN" sz="2400" b="1" dirty="0">
                <a:solidFill>
                  <a:srgbClr val="7030A0"/>
                </a:solidFill>
                <a:latin typeface="Courier New" pitchFamily="-65" charset="0"/>
              </a:rPr>
              <a:t> $t0,$s0,$s1   </a:t>
            </a:r>
            <a:r>
              <a:rPr lang="en-US" altLang="zh-CN" sz="2400" b="1" i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# $t0 = 1 if</a:t>
            </a: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 </a:t>
            </a:r>
            <a:r>
              <a:rPr lang="en-US" altLang="zh-CN" sz="2400" b="1" i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g&lt;h</a:t>
            </a:r>
            <a:endParaRPr lang="en-US" altLang="zh-CN" sz="2400" b="1" i="1" dirty="0">
              <a:latin typeface="Courier New" pitchFamily="-65" charset="0"/>
            </a:endParaRPr>
          </a:p>
          <a:p>
            <a:pPr marL="0" indent="0" algn="l">
              <a:buNone/>
              <a:defRPr/>
            </a:pPr>
            <a:r>
              <a:rPr lang="en-US" altLang="zh-CN" sz="2400" b="1" i="1" dirty="0">
                <a:latin typeface="Courier New" pitchFamily="-65" charset="0"/>
              </a:rPr>
              <a:t>    </a:t>
            </a:r>
            <a:r>
              <a:rPr lang="en-US" altLang="zh-CN" sz="2400" b="1" dirty="0" err="1">
                <a:solidFill>
                  <a:srgbClr val="7030A0"/>
                </a:solidFill>
                <a:latin typeface="Courier New" pitchFamily="-65" charset="0"/>
              </a:rPr>
              <a:t>bne</a:t>
            </a:r>
            <a:r>
              <a:rPr lang="en-US" altLang="zh-CN" sz="2400" b="1" dirty="0">
                <a:solidFill>
                  <a:srgbClr val="7030A0"/>
                </a:solidFill>
                <a:latin typeface="Courier New" pitchFamily="-65" charset="0"/>
              </a:rPr>
              <a:t> $t0,$0, Less  </a:t>
            </a:r>
            <a:r>
              <a:rPr lang="en-US" altLang="zh-CN" sz="2400" b="1" i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# if $t0!=0  </a:t>
            </a:r>
            <a:r>
              <a:rPr lang="en-US" altLang="zh-CN" sz="2400" b="1" i="1" dirty="0" err="1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goto</a:t>
            </a:r>
            <a:r>
              <a:rPr lang="en-US" altLang="zh-CN" sz="2400" b="1" i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 </a:t>
            </a: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Less:…</a:t>
            </a:r>
          </a:p>
          <a:p>
            <a:pPr marL="0" indent="0" algn="l">
              <a:buNone/>
              <a:defRPr/>
            </a:pPr>
            <a:r>
              <a:rPr lang="en-US" altLang="zh-CN" sz="2400" b="1" dirty="0">
                <a:latin typeface="Courier New" pitchFamily="-65" charset="0"/>
              </a:rPr>
              <a:t>     </a:t>
            </a:r>
          </a:p>
          <a:p>
            <a:pPr marL="0" lvl="1" indent="0" algn="l">
              <a:buNone/>
              <a:defRPr/>
            </a:pPr>
            <a:r>
              <a:rPr lang="en-US" altLang="zh-CN" sz="2400" b="1" dirty="0">
                <a:latin typeface="Courier New" pitchFamily="-65" charset="0"/>
              </a:rPr>
              <a:t> </a:t>
            </a:r>
            <a:endParaRPr lang="en-US" altLang="zh-CN" sz="2400" b="1" dirty="0">
              <a:solidFill>
                <a:schemeClr val="bg2">
                  <a:lumMod val="50000"/>
                </a:schemeClr>
              </a:solidFill>
              <a:latin typeface="Courier New"/>
              <a:cs typeface="Courier New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38D0AD3-C561-4781-9408-7E0CDD884301}"/>
              </a:ext>
            </a:extLst>
          </p:cNvPr>
          <p:cNvGrpSpPr/>
          <p:nvPr/>
        </p:nvGrpSpPr>
        <p:grpSpPr>
          <a:xfrm>
            <a:off x="2771800" y="5517232"/>
            <a:ext cx="3888579" cy="579957"/>
            <a:chOff x="747312" y="4732301"/>
            <a:chExt cx="1887609" cy="579957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2800003-53E3-467F-AB83-0CCC3CD59F20}"/>
                </a:ext>
              </a:extLst>
            </p:cNvPr>
            <p:cNvSpPr/>
            <p:nvPr/>
          </p:nvSpPr>
          <p:spPr>
            <a:xfrm>
              <a:off x="747312" y="4732301"/>
              <a:ext cx="1887608" cy="579957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9C6F93A-A728-4F8B-ACE0-4BD0842A4A91}"/>
                </a:ext>
              </a:extLst>
            </p:cNvPr>
            <p:cNvSpPr/>
            <p:nvPr/>
          </p:nvSpPr>
          <p:spPr>
            <a:xfrm>
              <a:off x="757451" y="4822224"/>
              <a:ext cx="1877470" cy="40011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chemeClr val="bg1"/>
                  </a:solidFill>
                  <a:latin typeface="+mn-ea"/>
                </a:rPr>
                <a:t>利用通用寄存器存储比较结果！</a:t>
              </a:r>
              <a:endParaRPr lang="en-US" altLang="zh-CN" sz="2000" b="1" dirty="0">
                <a:solidFill>
                  <a:srgbClr val="FF0000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177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BA82A8-FB00-42F5-9CC3-2AF062C0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5.7.3 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语言中的分支程序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556B4B-6B11-4EA5-8084-216258F99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438" y="963361"/>
            <a:ext cx="7886699" cy="520194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zh-CN" altLang="en-US" dirty="0"/>
              <a:t>手工编译如下</a:t>
            </a:r>
            <a:r>
              <a:rPr lang="en-US" altLang="zh-CN" dirty="0"/>
              <a:t>C</a:t>
            </a:r>
            <a:r>
              <a:rPr lang="zh-CN" altLang="en-US" dirty="0"/>
              <a:t>语句：</a:t>
            </a:r>
            <a:endParaRPr lang="en-US" altLang="zh-CN" dirty="0"/>
          </a:p>
          <a:p>
            <a:pPr marL="0" indent="0" algn="l"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if (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>
                <a:solidFill>
                  <a:srgbClr val="FF0000"/>
                </a:solidFill>
              </a:rPr>
              <a:t> == j) f=</a:t>
            </a:r>
            <a:r>
              <a:rPr lang="en-US" altLang="zh-CN" dirty="0" err="1">
                <a:solidFill>
                  <a:srgbClr val="FF0000"/>
                </a:solidFill>
              </a:rPr>
              <a:t>g+h</a:t>
            </a:r>
            <a:r>
              <a:rPr lang="en-US" altLang="zh-CN" dirty="0">
                <a:solidFill>
                  <a:srgbClr val="FF0000"/>
                </a:solidFill>
              </a:rPr>
              <a:t>; </a:t>
            </a:r>
            <a:br>
              <a:rPr lang="en-US" altLang="zh-CN" dirty="0">
                <a:solidFill>
                  <a:srgbClr val="FF0000"/>
                </a:solidFill>
              </a:rPr>
            </a:br>
            <a:r>
              <a:rPr lang="en-US" altLang="zh-CN" dirty="0">
                <a:solidFill>
                  <a:srgbClr val="FF0000"/>
                </a:solidFill>
              </a:rPr>
              <a:t>	else f=g-h;</a:t>
            </a:r>
          </a:p>
          <a:p>
            <a:pPr algn="l"/>
            <a:r>
              <a:rPr lang="zh-CN" altLang="en-US" dirty="0"/>
              <a:t>假设</a:t>
            </a:r>
            <a:r>
              <a:rPr lang="en-US" altLang="zh-CN" dirty="0"/>
              <a:t>:</a:t>
            </a:r>
          </a:p>
          <a:p>
            <a:pPr marL="0" indent="0" algn="l">
              <a:buNone/>
            </a:pPr>
            <a:r>
              <a:rPr lang="en-US" altLang="zh-CN" dirty="0"/>
              <a:t> 	</a:t>
            </a:r>
            <a:r>
              <a:rPr lang="en-US" altLang="zh-CN" dirty="0">
                <a:solidFill>
                  <a:schemeClr val="accent1"/>
                </a:solidFill>
              </a:rPr>
              <a:t> f, g.., j : $s0,$s1, $s2,$s3, $s4</a:t>
            </a:r>
          </a:p>
          <a:p>
            <a:pPr algn="l"/>
            <a:r>
              <a:rPr lang="zh-CN" altLang="en-US" dirty="0"/>
              <a:t>编译后的</a:t>
            </a:r>
            <a:r>
              <a:rPr lang="en-US" altLang="zh-CN" dirty="0"/>
              <a:t>MIPS </a:t>
            </a:r>
            <a:r>
              <a:rPr lang="zh-CN" altLang="en-US" dirty="0"/>
              <a:t>代码：</a:t>
            </a:r>
            <a:endParaRPr lang="en-US" altLang="zh-CN" dirty="0"/>
          </a:p>
          <a:p>
            <a:pPr marL="0" indent="0" algn="l">
              <a:buNone/>
            </a:pPr>
            <a:r>
              <a:rPr lang="en-US" altLang="zh-CN" dirty="0"/>
              <a:t>		</a:t>
            </a:r>
            <a:r>
              <a:rPr lang="en-US" altLang="zh-CN" sz="3400" b="1" dirty="0" err="1">
                <a:solidFill>
                  <a:srgbClr val="7030A0"/>
                </a:solidFill>
                <a:latin typeface="Courier New" pitchFamily="-65" charset="0"/>
              </a:rPr>
              <a:t>bne</a:t>
            </a:r>
            <a:r>
              <a:rPr lang="en-US" altLang="zh-CN" sz="3400" b="1" dirty="0">
                <a:solidFill>
                  <a:srgbClr val="7030A0"/>
                </a:solidFill>
                <a:latin typeface="Courier New" pitchFamily="-65" charset="0"/>
              </a:rPr>
              <a:t>	$s3,$s4,</a:t>
            </a:r>
            <a:r>
              <a:rPr lang="en-US" altLang="zh-CN" sz="3400" b="1" dirty="0">
                <a:solidFill>
                  <a:srgbClr val="FF0000"/>
                </a:solidFill>
                <a:latin typeface="Courier New" pitchFamily="-65" charset="0"/>
              </a:rPr>
              <a:t>Else</a:t>
            </a:r>
            <a:r>
              <a:rPr lang="en-US" altLang="zh-CN" dirty="0"/>
              <a:t>	 	# branch </a:t>
            </a:r>
            <a:r>
              <a:rPr lang="en-US" altLang="zh-CN" dirty="0" err="1"/>
              <a:t>i</a:t>
            </a:r>
            <a:r>
              <a:rPr lang="en-US" altLang="zh-CN" dirty="0"/>
              <a:t>!=j</a:t>
            </a:r>
            <a:br>
              <a:rPr lang="en-US" altLang="zh-CN" dirty="0"/>
            </a:br>
            <a:r>
              <a:rPr lang="en-US" altLang="zh-CN" dirty="0"/>
              <a:t>		</a:t>
            </a:r>
            <a:r>
              <a:rPr lang="en-US" altLang="zh-CN" sz="3400" b="1" dirty="0">
                <a:solidFill>
                  <a:srgbClr val="7030A0"/>
                </a:solidFill>
                <a:latin typeface="Courier New" pitchFamily="-65" charset="0"/>
              </a:rPr>
              <a:t>add	$s0,$s1,$s2</a:t>
            </a:r>
            <a:r>
              <a:rPr lang="en-US" altLang="zh-CN" dirty="0"/>
              <a:t>		# f=</a:t>
            </a:r>
            <a:r>
              <a:rPr lang="en-US" altLang="zh-CN" dirty="0" err="1"/>
              <a:t>g+h</a:t>
            </a:r>
            <a:r>
              <a:rPr lang="en-US" altLang="zh-CN" dirty="0"/>
              <a:t>(true)</a:t>
            </a:r>
            <a:br>
              <a:rPr lang="en-US" altLang="zh-CN" dirty="0"/>
            </a:br>
            <a:r>
              <a:rPr lang="en-US" altLang="zh-CN" dirty="0"/>
              <a:t> 		</a:t>
            </a:r>
            <a:r>
              <a:rPr lang="en-US" altLang="zh-CN" sz="3400" b="1" dirty="0">
                <a:solidFill>
                  <a:srgbClr val="7030A0"/>
                </a:solidFill>
                <a:latin typeface="Courier New" pitchFamily="-65" charset="0"/>
              </a:rPr>
              <a:t>j	</a:t>
            </a:r>
            <a:r>
              <a:rPr lang="en-US" altLang="zh-CN" sz="3400" b="1" dirty="0">
                <a:solidFill>
                  <a:srgbClr val="00B0F0"/>
                </a:solidFill>
                <a:latin typeface="Courier New" pitchFamily="-65" charset="0"/>
              </a:rPr>
              <a:t>Exit</a:t>
            </a:r>
            <a:r>
              <a:rPr lang="en-US" altLang="zh-CN" sz="3400" b="1" dirty="0">
                <a:solidFill>
                  <a:srgbClr val="7030A0"/>
                </a:solidFill>
                <a:latin typeface="Courier New" pitchFamily="-65" charset="0"/>
              </a:rPr>
              <a:t> </a:t>
            </a:r>
            <a:r>
              <a:rPr lang="en-US" altLang="zh-CN" dirty="0"/>
              <a:t>			# go to Exit</a:t>
            </a:r>
            <a:br>
              <a:rPr lang="en-US" altLang="zh-CN" dirty="0"/>
            </a:br>
            <a:r>
              <a:rPr lang="en-US" altLang="zh-CN" sz="3800" b="1" dirty="0">
                <a:solidFill>
                  <a:srgbClr val="FF0000"/>
                </a:solidFill>
                <a:latin typeface="Courier New" pitchFamily="-65" charset="0"/>
              </a:rPr>
              <a:t>Else</a:t>
            </a:r>
            <a:r>
              <a:rPr lang="en-US" altLang="zh-CN" sz="3800" b="1" dirty="0">
                <a:solidFill>
                  <a:srgbClr val="7030A0"/>
                </a:solidFill>
                <a:latin typeface="Courier New" pitchFamily="-65" charset="0"/>
              </a:rPr>
              <a:t>:	sub	$s0,$s1,$s2</a:t>
            </a:r>
            <a:r>
              <a:rPr lang="en-US" altLang="zh-CN" dirty="0"/>
              <a:t>		# f=g-h (false)</a:t>
            </a:r>
            <a:br>
              <a:rPr lang="en-US" altLang="zh-CN" dirty="0"/>
            </a:br>
            <a:r>
              <a:rPr lang="en-US" altLang="zh-CN" sz="3800" b="1" dirty="0">
                <a:solidFill>
                  <a:srgbClr val="00B0F0"/>
                </a:solidFill>
                <a:latin typeface="Courier New" pitchFamily="-65" charset="0"/>
              </a:rPr>
              <a:t>Exit</a:t>
            </a:r>
            <a:r>
              <a:rPr lang="en-US" altLang="zh-CN" sz="3800" b="1" dirty="0">
                <a:solidFill>
                  <a:srgbClr val="7030A0"/>
                </a:solidFill>
                <a:latin typeface="Courier New" pitchFamily="-65" charset="0"/>
              </a:rPr>
              <a:t>:</a:t>
            </a:r>
          </a:p>
          <a:p>
            <a:endParaRPr lang="zh-CN" altLang="en-US" dirty="0"/>
          </a:p>
        </p:txBody>
      </p:sp>
      <p:grpSp>
        <p:nvGrpSpPr>
          <p:cNvPr id="10" name="Group 2">
            <a:extLst>
              <a:ext uri="{FF2B5EF4-FFF2-40B4-BE49-F238E27FC236}">
                <a16:creationId xmlns:a16="http://schemas.microsoft.com/office/drawing/2014/main" id="{0AD58897-0E5A-4B37-ADE5-47C419B20CC8}"/>
              </a:ext>
            </a:extLst>
          </p:cNvPr>
          <p:cNvGrpSpPr>
            <a:grpSpLocks/>
          </p:cNvGrpSpPr>
          <p:nvPr/>
        </p:nvGrpSpPr>
        <p:grpSpPr bwMode="auto">
          <a:xfrm>
            <a:off x="4774187" y="944377"/>
            <a:ext cx="4016375" cy="2768600"/>
            <a:chOff x="3119" y="480"/>
            <a:chExt cx="2335" cy="1744"/>
          </a:xfrm>
        </p:grpSpPr>
        <p:sp>
          <p:nvSpPr>
            <p:cNvPr id="11" name="Text Box 3">
              <a:extLst>
                <a:ext uri="{FF2B5EF4-FFF2-40B4-BE49-F238E27FC236}">
                  <a16:creationId xmlns:a16="http://schemas.microsoft.com/office/drawing/2014/main" id="{BAF6070D-F31A-434B-A450-4AC5A1FDC2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949"/>
              <a:ext cx="447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7294" tIns="43647" rIns="87294" bIns="43647">
              <a:spAutoFit/>
            </a:bodyPr>
            <a:lstStyle>
              <a:lvl1pPr defTabSz="873125"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1pPr>
              <a:lvl2pPr marL="742950" indent="-285750" defTabSz="873125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2pPr>
              <a:lvl3pPr marL="1143000" indent="-228600" defTabSz="873125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3pPr>
              <a:lvl4pPr marL="1600200" indent="-228600" defTabSz="873125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4pPr>
              <a:lvl5pPr marL="2057400" indent="-228600" defTabSz="873125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5pPr>
              <a:lvl6pPr marL="2514600" indent="-228600" defTabSz="873125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6pPr>
              <a:lvl7pPr marL="2971800" indent="-228600" defTabSz="873125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7pPr>
              <a:lvl8pPr marL="3429000" indent="-228600" defTabSz="873125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8pPr>
              <a:lvl9pPr marL="3886200" indent="-228600" defTabSz="873125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9pPr>
            </a:lstStyle>
            <a:p>
              <a:pPr marL="0" marR="0" lvl="0" indent="0" defTabSz="873125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3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anose="020B0604020202020204" pitchFamily="34" charset="0"/>
                  <a:ea typeface="新細明體" panose="02020500000000000000" pitchFamily="18" charset="-120"/>
                </a:rPr>
                <a:t>Exit</a:t>
              </a:r>
            </a:p>
          </p:txBody>
        </p:sp>
        <p:sp>
          <p:nvSpPr>
            <p:cNvPr id="12" name="AutoShape 4">
              <a:extLst>
                <a:ext uri="{FF2B5EF4-FFF2-40B4-BE49-F238E27FC236}">
                  <a16:creationId xmlns:a16="http://schemas.microsoft.com/office/drawing/2014/main" id="{B4CEC62A-9AA0-4A6F-B05C-67FB53E99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5" y="624"/>
              <a:ext cx="1055" cy="480"/>
            </a:xfrm>
            <a:prstGeom prst="flowChartDecision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1pPr>
              <a:lvl2pPr marL="742950" indent="-285750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2pPr>
              <a:lvl3pPr marL="11430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3pPr>
              <a:lvl4pPr marL="1600200" indent="-228600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4pPr>
              <a:lvl5pPr marL="20574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13" name="Text Box 5">
              <a:extLst>
                <a:ext uri="{FF2B5EF4-FFF2-40B4-BE49-F238E27FC236}">
                  <a16:creationId xmlns:a16="http://schemas.microsoft.com/office/drawing/2014/main" id="{6703AB07-F6AB-4FDC-90F3-617F609D24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728"/>
              <a:ext cx="880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7294" tIns="43647" rIns="87294" bIns="43647">
              <a:spAutoFit/>
            </a:bodyPr>
            <a:lstStyle>
              <a:lvl1pPr defTabSz="873125"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1pPr>
              <a:lvl2pPr marL="742950" indent="-285750" defTabSz="873125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2pPr>
              <a:lvl3pPr marL="1143000" indent="-228600" defTabSz="873125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3pPr>
              <a:lvl4pPr marL="1600200" indent="-228600" defTabSz="873125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4pPr>
              <a:lvl5pPr marL="2057400" indent="-228600" defTabSz="873125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5pPr>
              <a:lvl6pPr marL="2514600" indent="-228600" defTabSz="873125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6pPr>
              <a:lvl7pPr marL="2971800" indent="-228600" defTabSz="873125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7pPr>
              <a:lvl8pPr marL="3429000" indent="-228600" defTabSz="873125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8pPr>
              <a:lvl9pPr marL="3886200" indent="-228600" defTabSz="873125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9pPr>
            </a:lstStyle>
            <a:p>
              <a:pPr marL="0" marR="0" lvl="0" indent="0" defTabSz="873125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3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</a:rPr>
                <a:t>i == j?</a:t>
              </a:r>
            </a:p>
          </p:txBody>
        </p:sp>
        <p:sp>
          <p:nvSpPr>
            <p:cNvPr id="14" name="Text Box 6">
              <a:extLst>
                <a:ext uri="{FF2B5EF4-FFF2-40B4-BE49-F238E27FC236}">
                  <a16:creationId xmlns:a16="http://schemas.microsoft.com/office/drawing/2014/main" id="{4FE63384-A239-429A-BE3D-9F276727D2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8" y="1304"/>
              <a:ext cx="678" cy="293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7294" tIns="43647" rIns="87294" bIns="43647">
              <a:spAutoFit/>
            </a:bodyPr>
            <a:lstStyle>
              <a:lvl1pPr defTabSz="873125"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1pPr>
              <a:lvl2pPr marL="742950" indent="-285750" defTabSz="873125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2pPr>
              <a:lvl3pPr marL="1143000" indent="-228600" defTabSz="873125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3pPr>
              <a:lvl4pPr marL="1600200" indent="-228600" defTabSz="873125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4pPr>
              <a:lvl5pPr marL="2057400" indent="-228600" defTabSz="873125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5pPr>
              <a:lvl6pPr marL="2514600" indent="-228600" defTabSz="873125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6pPr>
              <a:lvl7pPr marL="2971800" indent="-228600" defTabSz="873125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7pPr>
              <a:lvl8pPr marL="3429000" indent="-228600" defTabSz="873125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8pPr>
              <a:lvl9pPr marL="3886200" indent="-228600" defTabSz="873125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9pPr>
            </a:lstStyle>
            <a:p>
              <a:pPr marL="0" marR="0" lvl="0" indent="0" defTabSz="873125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3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</a:rPr>
                <a:t>f=g+h</a:t>
              </a:r>
            </a:p>
          </p:txBody>
        </p:sp>
        <p:sp>
          <p:nvSpPr>
            <p:cNvPr id="15" name="Text Box 7">
              <a:extLst>
                <a:ext uri="{FF2B5EF4-FFF2-40B4-BE49-F238E27FC236}">
                  <a16:creationId xmlns:a16="http://schemas.microsoft.com/office/drawing/2014/main" id="{E8BFCF88-E072-47ED-8D58-F657DEB76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2" y="1304"/>
              <a:ext cx="678" cy="293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7294" tIns="43647" rIns="87294" bIns="43647">
              <a:spAutoFit/>
            </a:bodyPr>
            <a:lstStyle>
              <a:lvl1pPr defTabSz="873125"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1pPr>
              <a:lvl2pPr marL="742950" indent="-285750" defTabSz="873125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2pPr>
              <a:lvl3pPr marL="1143000" indent="-228600" defTabSz="873125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3pPr>
              <a:lvl4pPr marL="1600200" indent="-228600" defTabSz="873125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4pPr>
              <a:lvl5pPr marL="2057400" indent="-228600" defTabSz="873125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5pPr>
              <a:lvl6pPr marL="2514600" indent="-228600" defTabSz="873125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6pPr>
              <a:lvl7pPr marL="2971800" indent="-228600" defTabSz="873125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7pPr>
              <a:lvl8pPr marL="3429000" indent="-228600" defTabSz="873125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8pPr>
              <a:lvl9pPr marL="3886200" indent="-228600" defTabSz="873125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9pPr>
            </a:lstStyle>
            <a:p>
              <a:pPr marL="0" marR="0" lvl="0" indent="0" defTabSz="873125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3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</a:rPr>
                <a:t>f=g-h</a:t>
              </a:r>
            </a:p>
          </p:txBody>
        </p:sp>
        <p:sp>
          <p:nvSpPr>
            <p:cNvPr id="16" name="Line 8">
              <a:extLst>
                <a:ext uri="{FF2B5EF4-FFF2-40B4-BE49-F238E27FC236}">
                  <a16:creationId xmlns:a16="http://schemas.microsoft.com/office/drawing/2014/main" id="{7E9977D0-473A-492C-A98E-6CBB18C64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864"/>
              <a:ext cx="0" cy="43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17" name="Line 9">
              <a:extLst>
                <a:ext uri="{FF2B5EF4-FFF2-40B4-BE49-F238E27FC236}">
                  <a16:creationId xmlns:a16="http://schemas.microsoft.com/office/drawing/2014/main" id="{48304AB3-E314-4E98-AE99-9CD34DDA61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5" y="864"/>
              <a:ext cx="0" cy="43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18" name="Line 10">
              <a:extLst>
                <a:ext uri="{FF2B5EF4-FFF2-40B4-BE49-F238E27FC236}">
                  <a16:creationId xmlns:a16="http://schemas.microsoft.com/office/drawing/2014/main" id="{7E5A43DD-F4F3-4EB8-9415-64F8B244CB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5" y="1584"/>
              <a:ext cx="0" cy="19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19" name="Line 11">
              <a:extLst>
                <a:ext uri="{FF2B5EF4-FFF2-40B4-BE49-F238E27FC236}">
                  <a16:creationId xmlns:a16="http://schemas.microsoft.com/office/drawing/2014/main" id="{93EA4AEE-F806-43E0-A232-47D8443673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0" y="1584"/>
              <a:ext cx="0" cy="19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0" name="Line 12">
              <a:extLst>
                <a:ext uri="{FF2B5EF4-FFF2-40B4-BE49-F238E27FC236}">
                  <a16:creationId xmlns:a16="http://schemas.microsoft.com/office/drawing/2014/main" id="{CB89F23A-222D-4147-ABDD-8BC265EBE6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5" y="1776"/>
              <a:ext cx="107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1" name="Line 13">
              <a:extLst>
                <a:ext uri="{FF2B5EF4-FFF2-40B4-BE49-F238E27FC236}">
                  <a16:creationId xmlns:a16="http://schemas.microsoft.com/office/drawing/2014/main" id="{A632EF72-D7DF-48E0-AC90-7EA879AA5E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4" y="1776"/>
              <a:ext cx="0" cy="2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22" name="Text Box 14">
              <a:extLst>
                <a:ext uri="{FF2B5EF4-FFF2-40B4-BE49-F238E27FC236}">
                  <a16:creationId xmlns:a16="http://schemas.microsoft.com/office/drawing/2014/main" id="{B6D53739-8297-4A22-B9F7-07CEAF9363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3" y="586"/>
              <a:ext cx="701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7294" tIns="43647" rIns="87294" bIns="43647">
              <a:spAutoFit/>
            </a:bodyPr>
            <a:lstStyle>
              <a:lvl1pPr defTabSz="873125"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1pPr>
              <a:lvl2pPr marL="742950" indent="-285750" defTabSz="873125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2pPr>
              <a:lvl3pPr marL="1143000" indent="-228600" defTabSz="873125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3pPr>
              <a:lvl4pPr marL="1600200" indent="-228600" defTabSz="873125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4pPr>
              <a:lvl5pPr marL="2057400" indent="-228600" defTabSz="873125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5pPr>
              <a:lvl6pPr marL="2514600" indent="-228600" defTabSz="873125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6pPr>
              <a:lvl7pPr marL="2971800" indent="-228600" defTabSz="873125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7pPr>
              <a:lvl8pPr marL="3429000" indent="-228600" defTabSz="873125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8pPr>
              <a:lvl9pPr marL="3886200" indent="-228600" defTabSz="873125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9pPr>
            </a:lstStyle>
            <a:p>
              <a:pPr marL="0" marR="0" lvl="0" indent="0" algn="ctr" defTabSz="873125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23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anose="020B0604020202020204" pitchFamily="34" charset="0"/>
                  <a:ea typeface="新細明體" panose="02020500000000000000" pitchFamily="18" charset="-120"/>
                </a:rPr>
                <a:t>(</a:t>
              </a:r>
              <a:r>
                <a:rPr kumimoji="1" lang="en-US" altLang="zh-TW" sz="23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anose="020B0604020202020204" pitchFamily="34" charset="0"/>
                  <a:ea typeface="新細明體" panose="02020500000000000000" pitchFamily="18" charset="-120"/>
                </a:rPr>
                <a:t>false) </a:t>
              </a:r>
              <a:br>
                <a:rPr kumimoji="1" lang="en-US" altLang="zh-TW" sz="23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anose="020B0604020202020204" pitchFamily="34" charset="0"/>
                  <a:ea typeface="新細明體" panose="02020500000000000000" pitchFamily="18" charset="-120"/>
                </a:rPr>
              </a:br>
              <a:r>
                <a:rPr kumimoji="1" lang="en-US" altLang="zh-TW" sz="23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anose="020B0604020202020204" pitchFamily="34" charset="0"/>
                  <a:ea typeface="新細明體" panose="02020500000000000000" pitchFamily="18" charset="-120"/>
                </a:rPr>
                <a:t>i</a:t>
              </a:r>
              <a:r>
                <a:rPr kumimoji="1" lang="en-US" altLang="zh-TW" sz="23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anose="020B0604020202020204" pitchFamily="34" charset="0"/>
                  <a:ea typeface="新細明體" panose="02020500000000000000" pitchFamily="18" charset="-120"/>
                </a:rPr>
                <a:t> != j</a:t>
              </a:r>
            </a:p>
          </p:txBody>
        </p:sp>
        <p:sp>
          <p:nvSpPr>
            <p:cNvPr id="23" name="Text Box 15">
              <a:extLst>
                <a:ext uri="{FF2B5EF4-FFF2-40B4-BE49-F238E27FC236}">
                  <a16:creationId xmlns:a16="http://schemas.microsoft.com/office/drawing/2014/main" id="{BC3917E7-B43B-4DE8-841C-23F5313B4E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9" y="634"/>
              <a:ext cx="630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7294" tIns="43647" rIns="87294" bIns="43647">
              <a:spAutoFit/>
            </a:bodyPr>
            <a:lstStyle>
              <a:lvl1pPr defTabSz="873125"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1pPr>
              <a:lvl2pPr marL="742950" indent="-285750" defTabSz="873125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2pPr>
              <a:lvl3pPr marL="1143000" indent="-228600" defTabSz="873125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3pPr>
              <a:lvl4pPr marL="1600200" indent="-228600" defTabSz="873125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4pPr>
              <a:lvl5pPr marL="2057400" indent="-228600" defTabSz="873125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5pPr>
              <a:lvl6pPr marL="2514600" indent="-228600" defTabSz="873125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6pPr>
              <a:lvl7pPr marL="2971800" indent="-228600" defTabSz="873125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7pPr>
              <a:lvl8pPr marL="3429000" indent="-228600" defTabSz="873125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8pPr>
              <a:lvl9pPr marL="3886200" indent="-228600" defTabSz="873125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itchFamily="65" charset="-128"/>
                </a:defRPr>
              </a:lvl9pPr>
            </a:lstStyle>
            <a:p>
              <a:pPr marL="0" marR="0" lvl="0" indent="0" algn="ctr" defTabSz="873125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23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anose="020B0604020202020204" pitchFamily="34" charset="0"/>
                  <a:ea typeface="新細明體" panose="02020500000000000000" pitchFamily="18" charset="-120"/>
                </a:rPr>
                <a:t>(</a:t>
              </a:r>
              <a:r>
                <a:rPr kumimoji="1" lang="en-US" altLang="zh-TW" sz="23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anose="020B0604020202020204" pitchFamily="34" charset="0"/>
                  <a:ea typeface="新細明體" panose="02020500000000000000" pitchFamily="18" charset="-120"/>
                </a:rPr>
                <a:t>true) </a:t>
              </a:r>
              <a:br>
                <a:rPr kumimoji="1" lang="en-US" altLang="zh-TW" sz="23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anose="020B0604020202020204" pitchFamily="34" charset="0"/>
                  <a:ea typeface="新細明體" panose="02020500000000000000" pitchFamily="18" charset="-120"/>
                </a:rPr>
              </a:br>
              <a:r>
                <a:rPr kumimoji="1" lang="en-US" altLang="zh-TW" sz="23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anose="020B0604020202020204" pitchFamily="34" charset="0"/>
                  <a:ea typeface="新細明體" panose="02020500000000000000" pitchFamily="18" charset="-120"/>
                </a:rPr>
                <a:t>i == j</a:t>
              </a:r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51B9EE09-6A50-402F-99A6-2307FA21A7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3" y="480"/>
              <a:ext cx="0" cy="1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CB18C7EA-CA6F-4018-B3EA-A7759310E042}"/>
              </a:ext>
            </a:extLst>
          </p:cNvPr>
          <p:cNvSpPr/>
          <p:nvPr/>
        </p:nvSpPr>
        <p:spPr>
          <a:xfrm>
            <a:off x="911925" y="5883750"/>
            <a:ext cx="6769724" cy="66255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57175" lvl="0" indent="-257175" defTabSz="685800" eaLnBrk="1" fontAlgn="auto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prstClr val="black"/>
              </a:buClr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注：编译程序会自动生成地址标签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885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F2E57854-E7DA-4A6E-9BC4-0ABC810ACF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794750" cy="1143000"/>
          </a:xfrm>
        </p:spPr>
        <p:txBody>
          <a:bodyPr/>
          <a:lstStyle/>
          <a:p>
            <a:r>
              <a:rPr lang="en-US" altLang="zh-CN" sz="4000" dirty="0"/>
              <a:t>5.7 MISP</a:t>
            </a:r>
            <a:r>
              <a:rPr lang="zh-CN" altLang="en-US" sz="4000" dirty="0"/>
              <a:t>指令与</a:t>
            </a:r>
            <a:r>
              <a:rPr lang="en-US" altLang="zh-CN" sz="4000" dirty="0"/>
              <a:t>C</a:t>
            </a:r>
            <a:r>
              <a:rPr lang="zh-CN" altLang="en-US" sz="4000" dirty="0"/>
              <a:t>语言程序的关系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45688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5.7.1.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语言简单变量的运算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5.7.2. 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语言中的数组访问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5.7.3 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语言中的分支程序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5.7.4 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语言中的循环程序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5.7.5  </a:t>
            </a:r>
            <a:r>
              <a:rPr lang="zh-CN" altLang="en-US" dirty="0"/>
              <a:t>实现子程序调用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7021F6-595D-4D1A-9BC5-67C38B3573D3}"/>
              </a:ext>
            </a:extLst>
          </p:cNvPr>
          <p:cNvSpPr/>
          <p:nvPr/>
        </p:nvSpPr>
        <p:spPr>
          <a:xfrm>
            <a:off x="827584" y="4149080"/>
            <a:ext cx="5723042" cy="73539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3200" kern="0" dirty="0">
                <a:solidFill>
                  <a:srgbClr val="000000"/>
                </a:solidFill>
              </a:rPr>
              <a:t>5.7.4 </a:t>
            </a:r>
            <a:r>
              <a:rPr lang="zh-CN" altLang="en-US" sz="3200" kern="0" dirty="0">
                <a:solidFill>
                  <a:srgbClr val="000000"/>
                </a:solidFill>
              </a:rPr>
              <a:t>实现</a:t>
            </a:r>
            <a:r>
              <a:rPr lang="en-US" altLang="zh-CN" sz="3200" kern="0" dirty="0">
                <a:solidFill>
                  <a:srgbClr val="000000"/>
                </a:solidFill>
              </a:rPr>
              <a:t>C</a:t>
            </a:r>
            <a:r>
              <a:rPr lang="zh-CN" altLang="en-US" sz="3200" kern="0" dirty="0">
                <a:solidFill>
                  <a:srgbClr val="000000"/>
                </a:solidFill>
              </a:rPr>
              <a:t>语言中的循环程序</a:t>
            </a:r>
          </a:p>
        </p:txBody>
      </p:sp>
    </p:spTree>
    <p:extLst>
      <p:ext uri="{BB962C8B-B14F-4D97-AF65-F5344CB8AC3E}">
        <p14:creationId xmlns:p14="http://schemas.microsoft.com/office/powerpoint/2010/main" val="357028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956" y="116632"/>
            <a:ext cx="7886700" cy="617641"/>
          </a:xfrm>
        </p:spPr>
        <p:txBody>
          <a:bodyPr>
            <a:normAutofit/>
          </a:bodyPr>
          <a:lstStyle/>
          <a:p>
            <a:r>
              <a:rPr lang="en-US" altLang="zh-CN" dirty="0"/>
              <a:t>5.7.4 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语言中的循环程序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956" y="734273"/>
            <a:ext cx="7886699" cy="5637024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  <a:defRPr/>
            </a:pPr>
            <a:r>
              <a:rPr lang="zh-CN" altLang="en-US" dirty="0">
                <a:solidFill>
                  <a:srgbClr val="FF0000"/>
                </a:solidFill>
              </a:rPr>
              <a:t>举例：</a:t>
            </a:r>
            <a:r>
              <a:rPr lang="en-US" altLang="zh-CN" dirty="0">
                <a:solidFill>
                  <a:srgbClr val="FF0000"/>
                </a:solidFill>
              </a:rPr>
              <a:t>do while</a:t>
            </a:r>
            <a:r>
              <a:rPr lang="zh-CN" altLang="en-US" dirty="0">
                <a:solidFill>
                  <a:srgbClr val="FF0000"/>
                </a:solidFill>
              </a:rPr>
              <a:t>循环结构</a:t>
            </a:r>
            <a:endParaRPr lang="en-US" altLang="zh-CN" dirty="0">
              <a:solidFill>
                <a:srgbClr val="FF0000"/>
              </a:solidFill>
            </a:endParaRPr>
          </a:p>
          <a:p>
            <a:pPr algn="l">
              <a:defRPr/>
            </a:pPr>
            <a:r>
              <a:rPr lang="en-US" altLang="zh-CN" dirty="0"/>
              <a:t>C</a:t>
            </a:r>
            <a:r>
              <a:rPr lang="zh-CN" altLang="en-US" dirty="0"/>
              <a:t>语言简单循环结构，</a:t>
            </a:r>
            <a:r>
              <a:rPr lang="en-US" altLang="zh-CN" dirty="0"/>
              <a:t>A</a:t>
            </a:r>
            <a:r>
              <a:rPr lang="zh-CN" altLang="en-US" dirty="0"/>
              <a:t>为</a:t>
            </a:r>
            <a:r>
              <a:rPr lang="en-US" altLang="zh-CN" dirty="0" err="1"/>
              <a:t>int</a:t>
            </a:r>
            <a:r>
              <a:rPr lang="zh-CN" altLang="en-US" dirty="0"/>
              <a:t>数组</a:t>
            </a:r>
            <a:endParaRPr lang="en-US" altLang="zh-CN" dirty="0"/>
          </a:p>
          <a:p>
            <a:pPr lvl="1" algn="l">
              <a:defRPr/>
            </a:pPr>
            <a:r>
              <a:rPr lang="en-US" altLang="zh-CN" b="1" dirty="0">
                <a:latin typeface="Courier New" pitchFamily="49" charset="0"/>
                <a:ea typeface="ＭＳ Ｐゴシック" pitchFamily="34" charset="-128"/>
              </a:rPr>
              <a:t>	do {</a:t>
            </a:r>
          </a:p>
          <a:p>
            <a:pPr marL="342900" lvl="1" indent="0" algn="l">
              <a:buNone/>
              <a:defRPr/>
            </a:pPr>
            <a:r>
              <a:rPr lang="en-US" altLang="zh-CN" b="1" dirty="0">
                <a:latin typeface="Courier New" pitchFamily="49" charset="0"/>
                <a:ea typeface="ＭＳ Ｐゴシック" pitchFamily="34" charset="-128"/>
              </a:rPr>
              <a:t>       g = g + </a:t>
            </a:r>
            <a:r>
              <a:rPr lang="en-US" altLang="zh-CN" b="1" dirty="0">
                <a:solidFill>
                  <a:srgbClr val="7030A0"/>
                </a:solidFill>
                <a:latin typeface="Courier New" pitchFamily="49" charset="0"/>
                <a:ea typeface="ＭＳ Ｐゴシック" pitchFamily="34" charset="-128"/>
              </a:rPr>
              <a:t>A[</a:t>
            </a:r>
            <a:r>
              <a:rPr lang="en-US" altLang="zh-CN" b="1" dirty="0" err="1">
                <a:solidFill>
                  <a:srgbClr val="7030A0"/>
                </a:solidFill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US" altLang="zh-CN" b="1" dirty="0">
                <a:solidFill>
                  <a:srgbClr val="7030A0"/>
                </a:solidFill>
                <a:latin typeface="Courier New" pitchFamily="49" charset="0"/>
                <a:ea typeface="ＭＳ Ｐゴシック" pitchFamily="34" charset="-128"/>
              </a:rPr>
              <a:t>]</a:t>
            </a:r>
            <a:r>
              <a:rPr lang="en-US" altLang="zh-CN" b="1" dirty="0">
                <a:latin typeface="Courier New" pitchFamily="49" charset="0"/>
                <a:ea typeface="ＭＳ Ｐゴシック" pitchFamily="34" charset="-128"/>
              </a:rPr>
              <a:t>;</a:t>
            </a:r>
            <a:br>
              <a:rPr lang="en-US" altLang="zh-CN" b="1" dirty="0">
                <a:latin typeface="Courier New" pitchFamily="49" charset="0"/>
                <a:ea typeface="ＭＳ Ｐゴシック" pitchFamily="34" charset="-128"/>
              </a:rPr>
            </a:br>
            <a:r>
              <a:rPr lang="en-US" altLang="zh-CN" b="1" dirty="0">
                <a:latin typeface="Courier New" pitchFamily="49" charset="0"/>
                <a:ea typeface="ＭＳ Ｐゴシック" pitchFamily="34" charset="-128"/>
              </a:rPr>
              <a:t>       </a:t>
            </a:r>
            <a:r>
              <a:rPr lang="en-US" altLang="zh-CN" b="1" dirty="0" err="1"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US" altLang="zh-CN" b="1" dirty="0">
                <a:latin typeface="Courier New" pitchFamily="49" charset="0"/>
                <a:ea typeface="ＭＳ Ｐゴシック" pitchFamily="34" charset="-128"/>
              </a:rPr>
              <a:t> = </a:t>
            </a:r>
            <a:r>
              <a:rPr lang="en-US" altLang="zh-CN" b="1" dirty="0" err="1"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US" altLang="zh-CN" b="1" dirty="0">
                <a:latin typeface="Courier New" pitchFamily="49" charset="0"/>
                <a:ea typeface="ＭＳ Ｐゴシック" pitchFamily="34" charset="-128"/>
              </a:rPr>
              <a:t> + j;</a:t>
            </a:r>
            <a:br>
              <a:rPr lang="en-US" altLang="zh-CN" b="1" dirty="0">
                <a:latin typeface="Courier New" pitchFamily="49" charset="0"/>
                <a:ea typeface="ＭＳ Ｐゴシック" pitchFamily="34" charset="-128"/>
              </a:rPr>
            </a:br>
            <a:r>
              <a:rPr lang="en-US" altLang="zh-CN" b="1" dirty="0">
                <a:latin typeface="Courier New" pitchFamily="49" charset="0"/>
                <a:ea typeface="ＭＳ Ｐゴシック" pitchFamily="34" charset="-128"/>
              </a:rPr>
              <a:t>      } while (</a:t>
            </a:r>
            <a:r>
              <a:rPr lang="en-US" altLang="zh-CN" b="1" dirty="0" err="1"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US" altLang="zh-CN" b="1" dirty="0">
                <a:latin typeface="Courier New" pitchFamily="49" charset="0"/>
                <a:ea typeface="ＭＳ Ｐゴシック" pitchFamily="34" charset="-128"/>
              </a:rPr>
              <a:t> != h);</a:t>
            </a:r>
          </a:p>
          <a:p>
            <a:pPr algn="l">
              <a:defRPr/>
            </a:pPr>
            <a:r>
              <a:rPr lang="zh-CN" altLang="en-US" dirty="0"/>
              <a:t>重写代码</a:t>
            </a:r>
            <a:endParaRPr lang="en-US" altLang="zh-CN" dirty="0"/>
          </a:p>
          <a:p>
            <a:pPr lvl="1" algn="l">
              <a:defRPr/>
            </a:pPr>
            <a:r>
              <a:rPr lang="en-US" altLang="zh-CN" b="1" dirty="0"/>
              <a:t>	</a:t>
            </a:r>
            <a:r>
              <a:rPr lang="en-US" altLang="zh-CN" b="1" dirty="0">
                <a:latin typeface="Courier New" pitchFamily="49" charset="0"/>
                <a:ea typeface="ＭＳ Ｐゴシック" pitchFamily="34" charset="-128"/>
              </a:rPr>
              <a:t>Loop:	g = g + </a:t>
            </a:r>
            <a:r>
              <a:rPr lang="en-US" altLang="zh-CN" b="1" dirty="0">
                <a:solidFill>
                  <a:srgbClr val="7030A0"/>
                </a:solidFill>
                <a:latin typeface="Courier New" pitchFamily="49" charset="0"/>
                <a:ea typeface="ＭＳ Ｐゴシック" pitchFamily="34" charset="-128"/>
              </a:rPr>
              <a:t>A[</a:t>
            </a:r>
            <a:r>
              <a:rPr lang="en-US" altLang="zh-CN" b="1" dirty="0" err="1">
                <a:solidFill>
                  <a:srgbClr val="7030A0"/>
                </a:solidFill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US" altLang="zh-CN" b="1" dirty="0">
                <a:solidFill>
                  <a:srgbClr val="7030A0"/>
                </a:solidFill>
                <a:latin typeface="Courier New" pitchFamily="49" charset="0"/>
                <a:ea typeface="ＭＳ Ｐゴシック" pitchFamily="34" charset="-128"/>
              </a:rPr>
              <a:t>]</a:t>
            </a:r>
            <a:r>
              <a:rPr lang="en-US" altLang="zh-CN" b="1" dirty="0">
                <a:latin typeface="Courier New" pitchFamily="49" charset="0"/>
                <a:ea typeface="ＭＳ Ｐゴシック" pitchFamily="34" charset="-128"/>
              </a:rPr>
              <a:t>;</a:t>
            </a:r>
          </a:p>
          <a:p>
            <a:pPr marL="933450" lvl="3" indent="0" algn="l">
              <a:buNone/>
              <a:defRPr/>
            </a:pPr>
            <a:r>
              <a:rPr lang="en-US" altLang="zh-CN" sz="1500" b="1" dirty="0">
                <a:latin typeface="Courier New" pitchFamily="49" charset="0"/>
                <a:ea typeface="ＭＳ Ｐゴシック" pitchFamily="34" charset="-128"/>
              </a:rPr>
              <a:t>    </a:t>
            </a:r>
            <a:r>
              <a:rPr lang="en-US" altLang="zh-CN" sz="1500" b="1" dirty="0" err="1"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US" altLang="zh-CN" sz="1500" b="1" dirty="0">
                <a:latin typeface="Courier New" pitchFamily="49" charset="0"/>
                <a:ea typeface="ＭＳ Ｐゴシック" pitchFamily="34" charset="-128"/>
              </a:rPr>
              <a:t> = </a:t>
            </a:r>
            <a:r>
              <a:rPr lang="en-US" altLang="zh-CN" sz="1500" b="1" dirty="0" err="1"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US" altLang="zh-CN" sz="1500" b="1" dirty="0">
                <a:latin typeface="Courier New" pitchFamily="49" charset="0"/>
                <a:ea typeface="ＭＳ Ｐゴシック" pitchFamily="34" charset="-128"/>
              </a:rPr>
              <a:t> + j;</a:t>
            </a:r>
            <a:br>
              <a:rPr lang="en-US" altLang="zh-CN" sz="1500" b="1" dirty="0">
                <a:latin typeface="Courier New" pitchFamily="49" charset="0"/>
                <a:ea typeface="ＭＳ Ｐゴシック" pitchFamily="34" charset="-128"/>
              </a:rPr>
            </a:br>
            <a:r>
              <a:rPr lang="en-US" altLang="zh-CN" sz="1500" b="1" dirty="0">
                <a:latin typeface="Courier New" pitchFamily="49" charset="0"/>
                <a:ea typeface="ＭＳ Ｐゴシック" pitchFamily="34" charset="-128"/>
              </a:rPr>
              <a:t>    if (</a:t>
            </a:r>
            <a:r>
              <a:rPr lang="en-US" altLang="zh-CN" sz="1500" b="1" dirty="0" err="1">
                <a:latin typeface="Courier New" pitchFamily="49" charset="0"/>
                <a:ea typeface="ＭＳ Ｐゴシック" pitchFamily="34" charset="-128"/>
              </a:rPr>
              <a:t>i</a:t>
            </a:r>
            <a:r>
              <a:rPr lang="en-US" altLang="zh-CN" sz="1500" b="1" dirty="0">
                <a:latin typeface="Courier New" pitchFamily="49" charset="0"/>
                <a:ea typeface="ＭＳ Ｐゴシック" pitchFamily="34" charset="-128"/>
              </a:rPr>
              <a:t> != h) </a:t>
            </a:r>
            <a:r>
              <a:rPr lang="en-US" altLang="zh-CN" sz="1500" b="1" dirty="0" err="1">
                <a:latin typeface="Courier New" pitchFamily="49" charset="0"/>
                <a:ea typeface="ＭＳ Ｐゴシック" pitchFamily="34" charset="-128"/>
              </a:rPr>
              <a:t>goto</a:t>
            </a:r>
            <a:r>
              <a:rPr lang="en-US" altLang="zh-CN" sz="1500" b="1" dirty="0">
                <a:latin typeface="Courier New" pitchFamily="49" charset="0"/>
                <a:ea typeface="ＭＳ Ｐゴシック" pitchFamily="34" charset="-128"/>
              </a:rPr>
              <a:t> Loop;</a:t>
            </a:r>
          </a:p>
          <a:p>
            <a:pPr algn="l">
              <a:defRPr/>
            </a:pPr>
            <a:r>
              <a:rPr lang="zh-CN" altLang="en-US" dirty="0"/>
              <a:t>编译后的变量映射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en-US" altLang="zh-CN" dirty="0"/>
              <a:t>  </a:t>
            </a:r>
            <a:endParaRPr lang="zh-CN" altLang="en-US" dirty="0"/>
          </a:p>
          <a:p>
            <a:pPr algn="l"/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020368"/>
              </p:ext>
            </p:extLst>
          </p:nvPr>
        </p:nvGraphicFramePr>
        <p:xfrm>
          <a:off x="2123728" y="5915236"/>
          <a:ext cx="5021515" cy="609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4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3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3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43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9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g</a:t>
                      </a:r>
                      <a:endParaRPr lang="zh-CN" altLang="en-US" sz="1500" dirty="0"/>
                    </a:p>
                  </a:txBody>
                  <a:tcPr marL="75323" marR="75323" marT="37661" marB="37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h</a:t>
                      </a:r>
                      <a:endParaRPr lang="zh-CN" altLang="en-US" sz="1500" dirty="0"/>
                    </a:p>
                  </a:txBody>
                  <a:tcPr marL="75323" marR="75323" marT="37661" marB="37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i</a:t>
                      </a:r>
                      <a:endParaRPr lang="zh-CN" altLang="en-US" sz="1500" dirty="0"/>
                    </a:p>
                  </a:txBody>
                  <a:tcPr marL="75323" marR="75323" marT="37661" marB="37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j</a:t>
                      </a:r>
                      <a:endParaRPr lang="zh-CN" altLang="en-US" sz="1500" dirty="0"/>
                    </a:p>
                  </a:txBody>
                  <a:tcPr marL="75323" marR="75323" marT="37661" marB="37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A[0]</a:t>
                      </a:r>
                      <a:endParaRPr lang="zh-CN" altLang="en-US" sz="1500" dirty="0"/>
                    </a:p>
                  </a:txBody>
                  <a:tcPr marL="75323" marR="75323" marT="37661" marB="3766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4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$s1</a:t>
                      </a:r>
                      <a:endParaRPr lang="zh-CN" altLang="en-US" sz="1500" dirty="0"/>
                    </a:p>
                  </a:txBody>
                  <a:tcPr marL="75323" marR="75323" marT="37661" marB="37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$s2</a:t>
                      </a:r>
                      <a:endParaRPr lang="zh-CN" altLang="en-US" sz="1500" dirty="0"/>
                    </a:p>
                  </a:txBody>
                  <a:tcPr marL="75323" marR="75323" marT="37661" marB="37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$s3</a:t>
                      </a:r>
                      <a:endParaRPr lang="zh-CN" altLang="en-US" sz="1500" dirty="0"/>
                    </a:p>
                  </a:txBody>
                  <a:tcPr marL="75323" marR="75323" marT="37661" marB="37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$s4</a:t>
                      </a:r>
                      <a:endParaRPr lang="zh-CN" altLang="en-US" sz="1500" dirty="0"/>
                    </a:p>
                  </a:txBody>
                  <a:tcPr marL="75323" marR="75323" marT="37661" marB="376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$s5</a:t>
                      </a:r>
                      <a:endParaRPr lang="zh-CN" altLang="en-US" sz="1500" dirty="0"/>
                    </a:p>
                  </a:txBody>
                  <a:tcPr marL="75323" marR="75323" marT="37661" marB="3766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539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548680"/>
            <a:ext cx="7886699" cy="6309320"/>
          </a:xfrm>
        </p:spPr>
        <p:txBody>
          <a:bodyPr>
            <a:normAutofit fontScale="85000" lnSpcReduction="20000"/>
          </a:bodyPr>
          <a:lstStyle/>
          <a:p>
            <a:pPr algn="l">
              <a:defRPr/>
            </a:pPr>
            <a:r>
              <a:rPr lang="zh-CN" altLang="en-US" dirty="0"/>
              <a:t>原始</a:t>
            </a:r>
            <a:r>
              <a:rPr lang="en-US" altLang="zh-CN" dirty="0"/>
              <a:t>C</a:t>
            </a:r>
            <a:r>
              <a:rPr lang="zh-CN" altLang="en-US" dirty="0"/>
              <a:t>代码</a:t>
            </a:r>
            <a:r>
              <a:rPr lang="en-US" altLang="zh-CN" dirty="0"/>
              <a:t>:</a:t>
            </a:r>
            <a:r>
              <a:rPr lang="en-US" altLang="zh-CN" dirty="0">
                <a:latin typeface="Courier New" pitchFamily="-65" charset="0"/>
              </a:rPr>
              <a:t> </a:t>
            </a:r>
            <a:r>
              <a:rPr lang="en-US" altLang="zh-CN" b="1" dirty="0" err="1">
                <a:latin typeface="Courier New" pitchFamily="-65" charset="0"/>
              </a:rPr>
              <a:t>Loop:</a:t>
            </a:r>
            <a:r>
              <a:rPr lang="en-US" altLang="zh-CN" b="1" dirty="0" err="1">
                <a:solidFill>
                  <a:srgbClr val="0070C0"/>
                </a:solidFill>
                <a:latin typeface="Courier New" pitchFamily="-65" charset="0"/>
              </a:rPr>
              <a:t>g</a:t>
            </a:r>
            <a:r>
              <a:rPr lang="en-US" altLang="zh-CN" b="1" dirty="0">
                <a:latin typeface="Courier New" pitchFamily="-65" charset="0"/>
              </a:rPr>
              <a:t> = </a:t>
            </a:r>
            <a:r>
              <a:rPr lang="en-US" altLang="zh-CN" b="1" dirty="0">
                <a:solidFill>
                  <a:srgbClr val="0070C0"/>
                </a:solidFill>
                <a:latin typeface="Courier New" pitchFamily="-65" charset="0"/>
              </a:rPr>
              <a:t>g</a:t>
            </a:r>
            <a:r>
              <a:rPr lang="en-US" altLang="zh-CN" b="1" dirty="0">
                <a:latin typeface="Courier New" pitchFamily="-65" charset="0"/>
              </a:rPr>
              <a:t> + </a:t>
            </a:r>
            <a:r>
              <a:rPr lang="en-US" altLang="zh-CN" b="1" dirty="0">
                <a:solidFill>
                  <a:srgbClr val="800000"/>
                </a:solidFill>
                <a:latin typeface="Courier New" pitchFamily="-65" charset="0"/>
              </a:rPr>
              <a:t>A</a:t>
            </a:r>
            <a:r>
              <a:rPr lang="en-US" altLang="zh-CN" b="1" dirty="0">
                <a:latin typeface="Courier New" pitchFamily="-65" charset="0"/>
              </a:rPr>
              <a:t>[</a:t>
            </a:r>
            <a:r>
              <a:rPr lang="en-US" altLang="zh-CN" b="1" dirty="0" err="1">
                <a:solidFill>
                  <a:srgbClr val="FF0000"/>
                </a:solidFill>
                <a:latin typeface="Courier New" pitchFamily="-65" charset="0"/>
              </a:rPr>
              <a:t>i</a:t>
            </a:r>
            <a:r>
              <a:rPr lang="en-US" altLang="zh-CN" b="1" dirty="0">
                <a:latin typeface="Courier New" pitchFamily="-65" charset="0"/>
              </a:rPr>
              <a:t>];</a:t>
            </a:r>
            <a:br>
              <a:rPr lang="en-US" altLang="zh-CN" b="1" dirty="0">
                <a:latin typeface="Courier New" pitchFamily="-65" charset="0"/>
              </a:rPr>
            </a:br>
            <a:r>
              <a:rPr lang="en-US" altLang="zh-CN" b="1" dirty="0">
                <a:latin typeface="Courier New" pitchFamily="-65" charset="0"/>
              </a:rPr>
              <a:t>	           	 </a:t>
            </a:r>
            <a:r>
              <a:rPr lang="en-US" altLang="zh-CN" b="1" dirty="0" err="1">
                <a:solidFill>
                  <a:srgbClr val="FF0000"/>
                </a:solidFill>
                <a:latin typeface="Courier New" pitchFamily="-65" charset="0"/>
              </a:rPr>
              <a:t>i</a:t>
            </a:r>
            <a:r>
              <a:rPr lang="en-US" altLang="zh-CN" b="1" dirty="0">
                <a:latin typeface="Courier New" pitchFamily="-65" charset="0"/>
              </a:rPr>
              <a:t> = </a:t>
            </a:r>
            <a:r>
              <a:rPr lang="en-US" altLang="zh-CN" b="1" dirty="0" err="1">
                <a:solidFill>
                  <a:srgbClr val="FF0000"/>
                </a:solidFill>
                <a:latin typeface="Courier New" pitchFamily="-65" charset="0"/>
              </a:rPr>
              <a:t>i</a:t>
            </a:r>
            <a:r>
              <a:rPr lang="en-US" altLang="zh-CN" b="1" dirty="0">
                <a:latin typeface="Courier New" pitchFamily="-65" charset="0"/>
              </a:rPr>
              <a:t> + </a:t>
            </a:r>
            <a:r>
              <a:rPr lang="en-US" altLang="zh-CN" b="1" dirty="0">
                <a:solidFill>
                  <a:srgbClr val="7030A0"/>
                </a:solidFill>
                <a:latin typeface="Courier New" pitchFamily="-65" charset="0"/>
              </a:rPr>
              <a:t>j</a:t>
            </a:r>
            <a:r>
              <a:rPr lang="en-US" altLang="zh-CN" b="1" dirty="0">
                <a:latin typeface="Courier New" pitchFamily="-65" charset="0"/>
              </a:rPr>
              <a:t>;</a:t>
            </a:r>
            <a:br>
              <a:rPr lang="en-US" altLang="zh-CN" b="1" dirty="0">
                <a:latin typeface="Courier New" pitchFamily="-65" charset="0"/>
              </a:rPr>
            </a:br>
            <a:r>
              <a:rPr lang="en-US" altLang="zh-CN" b="1" dirty="0">
                <a:latin typeface="Courier New" pitchFamily="-65" charset="0"/>
              </a:rPr>
              <a:t>		   if (</a:t>
            </a:r>
            <a:r>
              <a:rPr lang="en-US" altLang="zh-CN" b="1" dirty="0" err="1">
                <a:solidFill>
                  <a:srgbClr val="FF0000"/>
                </a:solidFill>
                <a:latin typeface="Courier New" pitchFamily="-65" charset="0"/>
              </a:rPr>
              <a:t>i</a:t>
            </a:r>
            <a:r>
              <a:rPr lang="en-US" altLang="zh-CN" b="1" dirty="0">
                <a:latin typeface="Courier New" pitchFamily="-65" charset="0"/>
              </a:rPr>
              <a:t> != </a:t>
            </a:r>
            <a:r>
              <a:rPr lang="en-US" altLang="zh-CN" b="1" dirty="0">
                <a:solidFill>
                  <a:srgbClr val="FFC000"/>
                </a:solidFill>
                <a:latin typeface="Courier New" pitchFamily="-65" charset="0"/>
              </a:rPr>
              <a:t>h</a:t>
            </a:r>
            <a:r>
              <a:rPr lang="en-US" altLang="zh-CN" b="1" dirty="0">
                <a:latin typeface="Courier New" pitchFamily="-65" charset="0"/>
              </a:rPr>
              <a:t>) </a:t>
            </a:r>
            <a:r>
              <a:rPr lang="en-US" altLang="zh-CN" b="1" dirty="0" err="1">
                <a:latin typeface="Courier New" pitchFamily="-65" charset="0"/>
              </a:rPr>
              <a:t>goto</a:t>
            </a:r>
            <a:r>
              <a:rPr lang="en-US" altLang="zh-CN" b="1" dirty="0">
                <a:latin typeface="Courier New" pitchFamily="-65" charset="0"/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latin typeface="Courier New" pitchFamily="-65" charset="0"/>
              </a:rPr>
              <a:t>Loop</a:t>
            </a:r>
            <a:r>
              <a:rPr lang="en-US" altLang="zh-CN" b="1" dirty="0">
                <a:latin typeface="Courier New" pitchFamily="-65" charset="0"/>
              </a:rPr>
              <a:t>;</a:t>
            </a:r>
          </a:p>
          <a:p>
            <a:pPr algn="l">
              <a:defRPr/>
            </a:pPr>
            <a:r>
              <a:rPr lang="zh-CN" altLang="en-US" dirty="0"/>
              <a:t>最后编译的</a:t>
            </a:r>
            <a:r>
              <a:rPr lang="en-US" altLang="zh-CN" dirty="0"/>
              <a:t>MIPS</a:t>
            </a:r>
            <a:r>
              <a:rPr lang="zh-CN" altLang="en-US" dirty="0"/>
              <a:t>代码</a:t>
            </a:r>
            <a:r>
              <a:rPr lang="en-US" altLang="zh-CN" dirty="0"/>
              <a:t>:</a:t>
            </a:r>
          </a:p>
          <a:p>
            <a:pPr algn="l">
              <a:buNone/>
              <a:defRPr/>
            </a:pPr>
            <a:r>
              <a:rPr lang="en-US" altLang="zh-CN" b="1" dirty="0">
                <a:solidFill>
                  <a:srgbClr val="00B050"/>
                </a:solidFill>
                <a:latin typeface="Courier New" pitchFamily="-65" charset="0"/>
              </a:rPr>
              <a:t>Loop</a:t>
            </a:r>
            <a:r>
              <a:rPr lang="en-US" altLang="zh-CN" b="1" dirty="0">
                <a:latin typeface="Courier New" pitchFamily="-65" charset="0"/>
              </a:rPr>
              <a:t>: </a:t>
            </a:r>
            <a:r>
              <a:rPr lang="en-US" altLang="zh-CN" b="1" dirty="0" err="1">
                <a:latin typeface="Courier New" pitchFamily="-65" charset="0"/>
              </a:rPr>
              <a:t>sll</a:t>
            </a:r>
            <a:r>
              <a:rPr lang="en-US" altLang="zh-CN" b="1" dirty="0">
                <a:latin typeface="Courier New" pitchFamily="-65" charset="0"/>
              </a:rPr>
              <a:t>  $t1,</a:t>
            </a:r>
            <a:r>
              <a:rPr lang="en-US" altLang="zh-CN" b="1" dirty="0">
                <a:solidFill>
                  <a:srgbClr val="FF0000"/>
                </a:solidFill>
                <a:latin typeface="Courier New" pitchFamily="-65" charset="0"/>
              </a:rPr>
              <a:t>$s3</a:t>
            </a:r>
            <a:r>
              <a:rPr lang="en-US" altLang="zh-CN" b="1" dirty="0">
                <a:latin typeface="Courier New" pitchFamily="-65" charset="0"/>
              </a:rPr>
              <a:t>,2      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# $t1= 4*</a:t>
            </a:r>
            <a:r>
              <a:rPr lang="en-US" altLang="zh-CN" b="1" dirty="0" err="1">
                <a:solidFill>
                  <a:srgbClr val="FF0000"/>
                </a:solidFill>
                <a:latin typeface="Courier New" pitchFamily="-65" charset="0"/>
              </a:rPr>
              <a:t>i</a:t>
            </a:r>
            <a:b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</a:br>
            <a:r>
              <a:rPr lang="en-US" altLang="zh-CN" b="1" dirty="0">
                <a:latin typeface="Courier New" pitchFamily="-65" charset="0"/>
              </a:rPr>
              <a:t>    </a:t>
            </a:r>
            <a:r>
              <a:rPr lang="en-US" altLang="zh-CN" b="1" dirty="0" err="1">
                <a:latin typeface="Courier New" pitchFamily="-65" charset="0"/>
              </a:rPr>
              <a:t>addu</a:t>
            </a:r>
            <a:r>
              <a:rPr lang="en-US" altLang="zh-CN" b="1" dirty="0">
                <a:latin typeface="Courier New" pitchFamily="-65" charset="0"/>
              </a:rPr>
              <a:t> $t1,$t1,$s5    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# $t1=&amp;A[0]+4i</a:t>
            </a:r>
            <a:b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</a:br>
            <a:r>
              <a:rPr lang="en-US" altLang="zh-CN" b="1" dirty="0">
                <a:latin typeface="Courier New" pitchFamily="-65" charset="0"/>
              </a:rPr>
              <a:t>    </a:t>
            </a:r>
            <a:r>
              <a:rPr lang="en-US" altLang="zh-CN" b="1" dirty="0" err="1">
                <a:latin typeface="Courier New" pitchFamily="-65" charset="0"/>
              </a:rPr>
              <a:t>lw</a:t>
            </a:r>
            <a:r>
              <a:rPr lang="en-US" altLang="zh-CN" b="1" dirty="0">
                <a:latin typeface="Courier New" pitchFamily="-65" charset="0"/>
              </a:rPr>
              <a:t>   $t1,0($t1)     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# $t1=A[</a:t>
            </a:r>
            <a:r>
              <a:rPr lang="en-US" altLang="zh-CN" b="1" dirty="0" err="1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i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]</a:t>
            </a:r>
            <a:b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</a:br>
            <a:r>
              <a:rPr lang="en-US" altLang="zh-CN" b="1" dirty="0">
                <a:latin typeface="Courier New" pitchFamily="-65" charset="0"/>
              </a:rPr>
              <a:t>    </a:t>
            </a:r>
            <a:r>
              <a:rPr lang="en-US" altLang="zh-CN" b="1" dirty="0" err="1">
                <a:latin typeface="Courier New" pitchFamily="-65" charset="0"/>
              </a:rPr>
              <a:t>addu</a:t>
            </a:r>
            <a:r>
              <a:rPr lang="en-US" altLang="zh-CN" b="1" dirty="0">
                <a:latin typeface="Courier New" pitchFamily="-65" charset="0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latin typeface="Courier New" pitchFamily="-65" charset="0"/>
              </a:rPr>
              <a:t>$s1,$s1</a:t>
            </a:r>
            <a:r>
              <a:rPr lang="en-US" altLang="zh-CN" b="1" dirty="0">
                <a:latin typeface="Courier New" pitchFamily="-65" charset="0"/>
              </a:rPr>
              <a:t>,$t1    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# </a:t>
            </a:r>
            <a:r>
              <a:rPr lang="en-US" altLang="zh-CN" b="1" dirty="0">
                <a:solidFill>
                  <a:srgbClr val="0070C0"/>
                </a:solidFill>
                <a:latin typeface="Courier New" pitchFamily="-65" charset="0"/>
              </a:rPr>
              <a:t>g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=</a:t>
            </a:r>
            <a:r>
              <a:rPr lang="en-US" altLang="zh-CN" b="1" dirty="0" err="1">
                <a:solidFill>
                  <a:srgbClr val="0070C0"/>
                </a:solidFill>
                <a:latin typeface="Courier New" pitchFamily="-65" charset="0"/>
              </a:rPr>
              <a:t>g</a:t>
            </a:r>
            <a:r>
              <a:rPr lang="en-US" altLang="zh-CN" b="1" dirty="0" err="1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+A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[</a:t>
            </a:r>
            <a:r>
              <a:rPr lang="en-US" altLang="zh-CN" b="1" dirty="0" err="1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i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]</a:t>
            </a:r>
            <a:b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</a:br>
            <a:r>
              <a:rPr lang="en-US" altLang="zh-CN" b="1" dirty="0">
                <a:latin typeface="Courier New" pitchFamily="-65" charset="0"/>
              </a:rPr>
              <a:t>    </a:t>
            </a:r>
            <a:r>
              <a:rPr lang="en-US" altLang="zh-CN" b="1" dirty="0" err="1">
                <a:latin typeface="Courier New" pitchFamily="-65" charset="0"/>
              </a:rPr>
              <a:t>addu</a:t>
            </a:r>
            <a:r>
              <a:rPr lang="en-US" altLang="zh-CN" b="1" dirty="0">
                <a:latin typeface="Courier New" pitchFamily="-65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Courier New" pitchFamily="-65" charset="0"/>
              </a:rPr>
              <a:t>$s3</a:t>
            </a:r>
            <a:r>
              <a:rPr lang="en-US" altLang="zh-CN" b="1" dirty="0">
                <a:latin typeface="Courier New" pitchFamily="-65" charset="0"/>
              </a:rPr>
              <a:t>,</a:t>
            </a:r>
            <a:r>
              <a:rPr lang="en-US" altLang="zh-CN" b="1" dirty="0">
                <a:solidFill>
                  <a:srgbClr val="FF0000"/>
                </a:solidFill>
                <a:latin typeface="Courier New" pitchFamily="-65" charset="0"/>
              </a:rPr>
              <a:t>$s3</a:t>
            </a:r>
            <a:r>
              <a:rPr lang="en-US" altLang="zh-CN" b="1" dirty="0">
                <a:latin typeface="Courier New" pitchFamily="-65" charset="0"/>
              </a:rPr>
              <a:t>,</a:t>
            </a:r>
            <a:r>
              <a:rPr lang="en-US" altLang="zh-CN" b="1" dirty="0">
                <a:solidFill>
                  <a:srgbClr val="7030A0"/>
                </a:solidFill>
                <a:latin typeface="Courier New" pitchFamily="-65" charset="0"/>
              </a:rPr>
              <a:t>$s4</a:t>
            </a:r>
            <a:r>
              <a:rPr lang="en-US" altLang="zh-CN" b="1" dirty="0">
                <a:latin typeface="Courier New" pitchFamily="-65" charset="0"/>
              </a:rPr>
              <a:t>    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# </a:t>
            </a:r>
            <a:r>
              <a:rPr lang="en-US" altLang="zh-CN" b="1" dirty="0" err="1">
                <a:solidFill>
                  <a:srgbClr val="FF0000"/>
                </a:solidFill>
                <a:latin typeface="Courier New" pitchFamily="-65" charset="0"/>
              </a:rPr>
              <a:t>i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=</a:t>
            </a:r>
            <a:r>
              <a:rPr lang="en-US" altLang="zh-CN" b="1" dirty="0" err="1">
                <a:solidFill>
                  <a:srgbClr val="FF0000"/>
                </a:solidFill>
                <a:latin typeface="Courier New" pitchFamily="-65" charset="0"/>
              </a:rPr>
              <a:t>i</a:t>
            </a:r>
            <a:r>
              <a:rPr lang="en-US" altLang="zh-CN" b="1" dirty="0" err="1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+</a:t>
            </a:r>
            <a:r>
              <a:rPr lang="en-US" altLang="zh-CN" b="1" dirty="0" err="1">
                <a:solidFill>
                  <a:srgbClr val="7030A0"/>
                </a:solidFill>
                <a:latin typeface="Courier New" pitchFamily="-65" charset="0"/>
              </a:rPr>
              <a:t>j</a:t>
            </a:r>
            <a:b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</a:br>
            <a:r>
              <a:rPr lang="en-US" altLang="zh-CN" b="1" dirty="0">
                <a:latin typeface="Courier New" pitchFamily="-65" charset="0"/>
              </a:rPr>
              <a:t>    </a:t>
            </a:r>
            <a:r>
              <a:rPr lang="en-US" altLang="zh-CN" b="1" dirty="0" err="1">
                <a:latin typeface="Courier New" pitchFamily="-65" charset="0"/>
              </a:rPr>
              <a:t>bne</a:t>
            </a:r>
            <a:r>
              <a:rPr lang="en-US" altLang="zh-CN" b="1" dirty="0">
                <a:latin typeface="Courier New" pitchFamily="-65" charset="0"/>
              </a:rPr>
              <a:t>  </a:t>
            </a:r>
            <a:r>
              <a:rPr lang="en-US" altLang="zh-CN" b="1" dirty="0">
                <a:solidFill>
                  <a:srgbClr val="FF0000"/>
                </a:solidFill>
                <a:latin typeface="Courier New" pitchFamily="-65" charset="0"/>
              </a:rPr>
              <a:t>$s3</a:t>
            </a:r>
            <a:r>
              <a:rPr lang="en-US" altLang="zh-CN" b="1" dirty="0">
                <a:latin typeface="Courier New" pitchFamily="-65" charset="0"/>
              </a:rPr>
              <a:t>,</a:t>
            </a:r>
            <a:r>
              <a:rPr lang="en-US" altLang="zh-CN" b="1" dirty="0">
                <a:solidFill>
                  <a:srgbClr val="FFC000"/>
                </a:solidFill>
                <a:latin typeface="Courier New" pitchFamily="-65" charset="0"/>
              </a:rPr>
              <a:t>$s2</a:t>
            </a:r>
            <a:r>
              <a:rPr lang="en-US" altLang="zh-CN" b="1" dirty="0">
                <a:latin typeface="Courier New" pitchFamily="-65" charset="0"/>
              </a:rPr>
              <a:t>,</a:t>
            </a:r>
            <a:r>
              <a:rPr lang="en-US" altLang="zh-CN" b="1" dirty="0">
                <a:solidFill>
                  <a:srgbClr val="00B050"/>
                </a:solidFill>
                <a:latin typeface="Courier New" pitchFamily="-65" charset="0"/>
              </a:rPr>
              <a:t>Loop</a:t>
            </a:r>
            <a:r>
              <a:rPr lang="en-US" altLang="zh-CN" b="1" dirty="0">
                <a:latin typeface="Courier New" pitchFamily="-65" charset="0"/>
              </a:rPr>
              <a:t>   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# if </a:t>
            </a:r>
            <a:r>
              <a:rPr lang="en-US" altLang="zh-CN" b="1" dirty="0" err="1">
                <a:solidFill>
                  <a:srgbClr val="FF0000"/>
                </a:solidFill>
                <a:latin typeface="Courier New" pitchFamily="-65" charset="0"/>
              </a:rPr>
              <a:t>i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!=</a:t>
            </a:r>
            <a:r>
              <a:rPr lang="en-US" altLang="zh-CN" b="1" dirty="0">
                <a:solidFill>
                  <a:srgbClr val="FFC000"/>
                </a:solidFill>
                <a:latin typeface="Courier New" pitchFamily="-65" charset="0"/>
              </a:rPr>
              <a:t>h </a:t>
            </a:r>
            <a:r>
              <a:rPr lang="en-US" altLang="zh-CN" b="1" dirty="0" err="1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goto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 Loop</a:t>
            </a:r>
            <a:br>
              <a:rPr lang="en-US" altLang="zh-CN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-65" charset="0"/>
              </a:rPr>
            </a:br>
            <a:endParaRPr lang="en-US" altLang="zh-CN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itchFamily="-65" charset="0"/>
            </a:endParaRPr>
          </a:p>
          <a:p>
            <a:pPr algn="l"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463246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F2E57854-E7DA-4A6E-9BC4-0ABC810ACF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794750" cy="1143000"/>
          </a:xfrm>
        </p:spPr>
        <p:txBody>
          <a:bodyPr/>
          <a:lstStyle/>
          <a:p>
            <a:r>
              <a:rPr lang="en-US" altLang="zh-CN" sz="4000" dirty="0"/>
              <a:t>5.7 MISP</a:t>
            </a:r>
            <a:r>
              <a:rPr lang="zh-CN" altLang="en-US" sz="4000" dirty="0"/>
              <a:t>指令与</a:t>
            </a:r>
            <a:r>
              <a:rPr lang="en-US" altLang="zh-CN" sz="4000" dirty="0"/>
              <a:t>C</a:t>
            </a:r>
            <a:r>
              <a:rPr lang="zh-CN" altLang="en-US" sz="4000" dirty="0"/>
              <a:t>语言程序的关系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45688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5.7.1.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语言简单变量的运算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5.7.2. 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语言中的数组访问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5.7.3 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语言中的分支程序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5.7.4 </a:t>
            </a:r>
            <a:r>
              <a:rPr lang="zh-CN" altLang="en-US" dirty="0"/>
              <a:t>实现</a:t>
            </a:r>
            <a:r>
              <a:rPr lang="en-US" altLang="zh-CN" dirty="0"/>
              <a:t>C</a:t>
            </a:r>
            <a:r>
              <a:rPr lang="zh-CN" altLang="en-US" dirty="0"/>
              <a:t>语言中的循环程序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dirty="0"/>
              <a:t>5.7.5  </a:t>
            </a:r>
            <a:r>
              <a:rPr lang="zh-CN" altLang="en-US" dirty="0"/>
              <a:t>实现子程序调用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7021F6-595D-4D1A-9BC5-67C38B3573D3}"/>
              </a:ext>
            </a:extLst>
          </p:cNvPr>
          <p:cNvSpPr/>
          <p:nvPr/>
        </p:nvSpPr>
        <p:spPr>
          <a:xfrm>
            <a:off x="899592" y="5085184"/>
            <a:ext cx="4195379" cy="73539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3200" kern="0" dirty="0">
                <a:solidFill>
                  <a:srgbClr val="000000"/>
                </a:solidFill>
              </a:rPr>
              <a:t>5.7.5  </a:t>
            </a:r>
            <a:r>
              <a:rPr lang="zh-CN" altLang="en-US" sz="3200" kern="0" dirty="0">
                <a:solidFill>
                  <a:srgbClr val="000000"/>
                </a:solidFill>
              </a:rPr>
              <a:t>实现子程序调用</a:t>
            </a:r>
          </a:p>
        </p:txBody>
      </p:sp>
    </p:spTree>
    <p:extLst>
      <p:ext uri="{BB962C8B-B14F-4D97-AF65-F5344CB8AC3E}">
        <p14:creationId xmlns:p14="http://schemas.microsoft.com/office/powerpoint/2010/main" val="211543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5.7.5  </a:t>
            </a:r>
            <a:r>
              <a:rPr lang="zh-CN" altLang="en-US" dirty="0"/>
              <a:t>实现子程序调用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60000"/>
              </a:lnSpc>
              <a:defRPr/>
            </a:pPr>
            <a:r>
              <a:rPr lang="en-US" altLang="zh-CN" sz="2100" dirty="0"/>
              <a:t>C</a:t>
            </a:r>
            <a:r>
              <a:rPr lang="zh-CN" altLang="en-US" sz="2100" dirty="0"/>
              <a:t>语言函数调用</a:t>
            </a:r>
            <a:endParaRPr lang="en-US" altLang="zh-CN" sz="2100" dirty="0"/>
          </a:p>
          <a:p>
            <a:pPr marL="342900" lvl="1" indent="0">
              <a:lnSpc>
                <a:spcPct val="160000"/>
              </a:lnSpc>
              <a:buNone/>
              <a:defRPr/>
            </a:pPr>
            <a:r>
              <a:rPr lang="en-US" altLang="zh-CN" sz="1800" dirty="0" err="1">
                <a:solidFill>
                  <a:srgbClr val="0070C0"/>
                </a:solidFill>
              </a:rPr>
              <a:t>int</a:t>
            </a:r>
            <a:r>
              <a:rPr lang="en-US" altLang="zh-CN" sz="1800" dirty="0">
                <a:solidFill>
                  <a:srgbClr val="0070C0"/>
                </a:solidFill>
              </a:rPr>
              <a:t> function(</a:t>
            </a:r>
            <a:r>
              <a:rPr lang="en-US" altLang="zh-CN" sz="1800" dirty="0" err="1">
                <a:solidFill>
                  <a:srgbClr val="0070C0"/>
                </a:solidFill>
              </a:rPr>
              <a:t>int</a:t>
            </a:r>
            <a:r>
              <a:rPr lang="en-US" altLang="zh-CN" sz="1800" dirty="0">
                <a:solidFill>
                  <a:srgbClr val="0070C0"/>
                </a:solidFill>
              </a:rPr>
              <a:t> a ,</a:t>
            </a:r>
            <a:r>
              <a:rPr lang="en-US" altLang="zh-CN" sz="1800" dirty="0" err="1">
                <a:solidFill>
                  <a:srgbClr val="0070C0"/>
                </a:solidFill>
              </a:rPr>
              <a:t>int</a:t>
            </a:r>
            <a:r>
              <a:rPr lang="en-US" altLang="zh-CN" sz="1800" dirty="0">
                <a:solidFill>
                  <a:srgbClr val="0070C0"/>
                </a:solidFill>
              </a:rPr>
              <a:t> b) </a:t>
            </a:r>
          </a:p>
          <a:p>
            <a:pPr marL="342900" lvl="1" indent="0">
              <a:lnSpc>
                <a:spcPct val="160000"/>
              </a:lnSpc>
              <a:buNone/>
              <a:defRPr/>
            </a:pPr>
            <a:r>
              <a:rPr lang="en-US" altLang="zh-CN" sz="1800" dirty="0">
                <a:solidFill>
                  <a:srgbClr val="0070C0"/>
                </a:solidFill>
              </a:rPr>
              <a:t> {  return (</a:t>
            </a:r>
            <a:r>
              <a:rPr lang="en-US" altLang="zh-CN" sz="1800" dirty="0" err="1">
                <a:solidFill>
                  <a:srgbClr val="0070C0"/>
                </a:solidFill>
              </a:rPr>
              <a:t>a+b</a:t>
            </a:r>
            <a:r>
              <a:rPr lang="en-US" altLang="zh-CN" sz="1800" dirty="0">
                <a:solidFill>
                  <a:srgbClr val="0070C0"/>
                </a:solidFill>
              </a:rPr>
              <a:t>); }</a:t>
            </a:r>
          </a:p>
          <a:p>
            <a:pPr>
              <a:lnSpc>
                <a:spcPct val="160000"/>
              </a:lnSpc>
              <a:defRPr/>
            </a:pPr>
            <a:r>
              <a:rPr lang="en-US" altLang="zh-CN" sz="2100" dirty="0"/>
              <a:t>MIPS</a:t>
            </a:r>
            <a:r>
              <a:rPr lang="zh-CN" altLang="en-US" sz="2100" dirty="0"/>
              <a:t>实现过程调用的机制</a:t>
            </a:r>
            <a:endParaRPr lang="en-US" altLang="zh-CN" sz="2100" dirty="0"/>
          </a:p>
          <a:p>
            <a:pPr lvl="1">
              <a:lnSpc>
                <a:spcPct val="160000"/>
              </a:lnSpc>
              <a:defRPr/>
            </a:pPr>
            <a:r>
              <a:rPr lang="zh-CN" altLang="en-US" sz="1800" dirty="0"/>
              <a:t>返回地址寄存器  </a:t>
            </a:r>
            <a:r>
              <a:rPr lang="en-US" altLang="zh-CN" sz="1800" b="1" dirty="0">
                <a:latin typeface="Courier New" pitchFamily="-65" charset="0"/>
              </a:rPr>
              <a:t>$</a:t>
            </a:r>
            <a:r>
              <a:rPr lang="en-US" altLang="zh-CN" sz="1800" b="1" dirty="0" err="1">
                <a:latin typeface="Courier New" pitchFamily="-65" charset="0"/>
              </a:rPr>
              <a:t>ra</a:t>
            </a:r>
            <a:endParaRPr lang="en-US" altLang="zh-CN" sz="1800" b="1" dirty="0">
              <a:latin typeface="Courier New" pitchFamily="-65" charset="0"/>
            </a:endParaRPr>
          </a:p>
          <a:p>
            <a:pPr lvl="1">
              <a:lnSpc>
                <a:spcPct val="160000"/>
              </a:lnSpc>
              <a:defRPr/>
            </a:pPr>
            <a:r>
              <a:rPr lang="zh-CN" altLang="en-US" sz="1800" dirty="0"/>
              <a:t>参数寄存器         </a:t>
            </a:r>
            <a:r>
              <a:rPr lang="en-US" altLang="zh-CN" sz="1800" b="1" dirty="0">
                <a:latin typeface="Courier New" pitchFamily="-65" charset="0"/>
              </a:rPr>
              <a:t>$a0, $a1, $a2, $a3</a:t>
            </a:r>
          </a:p>
          <a:p>
            <a:pPr lvl="1">
              <a:lnSpc>
                <a:spcPct val="160000"/>
              </a:lnSpc>
              <a:defRPr/>
            </a:pPr>
            <a:r>
              <a:rPr lang="zh-CN" altLang="en-US" sz="1800" dirty="0"/>
              <a:t>返回值寄存器     </a:t>
            </a:r>
            <a:r>
              <a:rPr lang="en-US" altLang="zh-CN" sz="1800" b="1" dirty="0">
                <a:latin typeface="Courier New" pitchFamily="-65" charset="0"/>
              </a:rPr>
              <a:t>$v0 $v1</a:t>
            </a:r>
          </a:p>
          <a:p>
            <a:pPr lvl="1">
              <a:lnSpc>
                <a:spcPct val="160000"/>
              </a:lnSpc>
              <a:defRPr/>
            </a:pPr>
            <a:r>
              <a:rPr lang="zh-CN" altLang="en-US" sz="1800" dirty="0"/>
              <a:t>局部变量</a:t>
            </a:r>
            <a:r>
              <a:rPr lang="zh-CN" altLang="en-US" sz="1800" b="1" dirty="0">
                <a:latin typeface="Courier New" pitchFamily="-65" charset="0"/>
              </a:rPr>
              <a:t>      </a:t>
            </a:r>
            <a:r>
              <a:rPr lang="en-US" altLang="zh-CN" sz="1800" b="1" dirty="0">
                <a:latin typeface="Courier New" pitchFamily="-65" charset="0"/>
              </a:rPr>
              <a:t>$t0~$t9   </a:t>
            </a:r>
          </a:p>
          <a:p>
            <a:pPr lvl="1">
              <a:lnSpc>
                <a:spcPct val="160000"/>
              </a:lnSpc>
              <a:defRPr/>
            </a:pPr>
            <a:r>
              <a:rPr lang="zh-CN" altLang="en-US" sz="1800" dirty="0"/>
              <a:t>堆栈指针      </a:t>
            </a:r>
            <a:r>
              <a:rPr lang="zh-CN" altLang="en-US" sz="1800" b="1" dirty="0">
                <a:latin typeface="Courier New" pitchFamily="-65" charset="0"/>
              </a:rPr>
              <a:t>   </a:t>
            </a:r>
            <a:r>
              <a:rPr lang="en-US" altLang="zh-CN" sz="1800" b="1" dirty="0">
                <a:latin typeface="Courier New" pitchFamily="-65" charset="0"/>
              </a:rPr>
              <a:t>$</a:t>
            </a:r>
            <a:r>
              <a:rPr lang="en-US" altLang="zh-CN" sz="1800" b="1" dirty="0" err="1">
                <a:latin typeface="Courier New" pitchFamily="-65" charset="0"/>
              </a:rPr>
              <a:t>sp</a:t>
            </a:r>
            <a:endParaRPr lang="en-US" altLang="zh-CN" sz="1800" b="1" dirty="0">
              <a:latin typeface="Courier New" pitchFamily="-65" charset="0"/>
            </a:endParaRPr>
          </a:p>
          <a:p>
            <a:pPr lvl="1">
              <a:defRPr/>
            </a:pPr>
            <a:endParaRPr lang="en-US" altLang="zh-CN" b="1" dirty="0"/>
          </a:p>
          <a:p>
            <a:pPr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111255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/>
          <p:cNvSpPr/>
          <p:nvPr/>
        </p:nvSpPr>
        <p:spPr>
          <a:xfrm>
            <a:off x="365866" y="1592036"/>
            <a:ext cx="8409575" cy="1217645"/>
          </a:xfrm>
          <a:prstGeom prst="roundRect">
            <a:avLst>
              <a:gd name="adj" fmla="val 632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过程调用实现机制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>
              <a:lnSpc>
                <a:spcPct val="120000"/>
              </a:lnSpc>
              <a:buFont typeface="Times" pitchFamily="-65" charset="0"/>
              <a:buNone/>
              <a:defRPr/>
            </a:pPr>
            <a:r>
              <a:rPr lang="en-US" altLang="zh-CN" b="1" dirty="0">
                <a:latin typeface="Courier New" pitchFamily="-65" charset="0"/>
              </a:rPr>
              <a:t>   sum(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-65" charset="0"/>
              </a:rPr>
              <a:t>a</a:t>
            </a:r>
            <a:r>
              <a:rPr lang="en-US" altLang="zh-CN" b="1" dirty="0" err="1">
                <a:latin typeface="Courier New" pitchFamily="-65" charset="0"/>
              </a:rPr>
              <a:t>,</a:t>
            </a:r>
            <a:r>
              <a:rPr lang="en-US" altLang="zh-CN" b="1" dirty="0" err="1">
                <a:solidFill>
                  <a:srgbClr val="00B050"/>
                </a:solidFill>
                <a:latin typeface="Courier New" pitchFamily="-65" charset="0"/>
              </a:rPr>
              <a:t>b</a:t>
            </a:r>
            <a:r>
              <a:rPr lang="en-US" altLang="zh-CN" b="1" dirty="0">
                <a:latin typeface="Courier New" pitchFamily="-65" charset="0"/>
              </a:rPr>
              <a:t>);                 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/* 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-65" charset="0"/>
              </a:rPr>
              <a:t>a</a:t>
            </a:r>
            <a:r>
              <a:rPr lang="en-US" altLang="zh-CN" b="1" dirty="0" err="1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,</a:t>
            </a:r>
            <a:r>
              <a:rPr lang="en-US" altLang="zh-CN" b="1" dirty="0" err="1">
                <a:solidFill>
                  <a:schemeClr val="accent6">
                    <a:lumMod val="75000"/>
                  </a:schemeClr>
                </a:solidFill>
                <a:latin typeface="Courier New" pitchFamily="-65" charset="0"/>
              </a:rPr>
              <a:t>b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:</a:t>
            </a:r>
            <a:r>
              <a:rPr lang="en-US" altLang="zh-CN" b="1" dirty="0">
                <a:solidFill>
                  <a:srgbClr val="0000FF"/>
                </a:solidFill>
                <a:latin typeface="Courier New" pitchFamily="-65" charset="0"/>
              </a:rPr>
              <a:t>$s0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,</a:t>
            </a:r>
            <a:r>
              <a:rPr lang="en-US" altLang="zh-CN" b="1" dirty="0">
                <a:solidFill>
                  <a:srgbClr val="00B050"/>
                </a:solidFill>
                <a:latin typeface="Courier New" pitchFamily="-65" charset="0"/>
              </a:rPr>
              <a:t>$s1 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  <a:t>*/</a:t>
            </a:r>
            <a:b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 pitchFamily="-65" charset="0"/>
              </a:rPr>
            </a:br>
            <a:r>
              <a:rPr lang="en-US" altLang="zh-CN" b="1" dirty="0">
                <a:latin typeface="Courier New" pitchFamily="-65" charset="0"/>
              </a:rPr>
              <a:t>}</a:t>
            </a:r>
            <a:br>
              <a:rPr lang="en-US" altLang="zh-CN" b="1" dirty="0">
                <a:latin typeface="Courier New" pitchFamily="-65" charset="0"/>
              </a:rPr>
            </a:br>
            <a:r>
              <a:rPr lang="en-US" altLang="zh-CN" b="1" dirty="0" err="1">
                <a:latin typeface="Courier New" pitchFamily="-65" charset="0"/>
              </a:rPr>
              <a:t>int</a:t>
            </a:r>
            <a:r>
              <a:rPr lang="en-US" altLang="zh-CN" b="1" dirty="0">
                <a:latin typeface="Courier New" pitchFamily="-65" charset="0"/>
              </a:rPr>
              <a:t> sum(</a:t>
            </a:r>
            <a:r>
              <a:rPr lang="en-US" altLang="zh-CN" b="1" dirty="0" err="1">
                <a:latin typeface="Courier New" pitchFamily="-65" charset="0"/>
              </a:rPr>
              <a:t>int</a:t>
            </a:r>
            <a:r>
              <a:rPr lang="en-US" altLang="zh-CN" b="1" dirty="0">
                <a:latin typeface="Courier New" pitchFamily="-65" charset="0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Courier New" pitchFamily="-65" charset="0"/>
              </a:rPr>
              <a:t>x</a:t>
            </a:r>
            <a:r>
              <a:rPr lang="en-US" altLang="zh-CN" b="1" dirty="0">
                <a:latin typeface="Courier New" pitchFamily="-65" charset="0"/>
              </a:rPr>
              <a:t>, </a:t>
            </a:r>
            <a:r>
              <a:rPr lang="en-US" altLang="zh-CN" b="1" dirty="0" err="1">
                <a:latin typeface="Courier New" pitchFamily="-65" charset="0"/>
              </a:rPr>
              <a:t>int</a:t>
            </a:r>
            <a:r>
              <a:rPr lang="en-US" altLang="zh-CN" b="1" dirty="0">
                <a:latin typeface="Courier New" pitchFamily="-65" charset="0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Courier New" pitchFamily="-65" charset="0"/>
              </a:rPr>
              <a:t>y</a:t>
            </a:r>
            <a:r>
              <a:rPr lang="en-US" altLang="zh-CN" b="1" dirty="0">
                <a:latin typeface="Courier New" pitchFamily="-65" charset="0"/>
              </a:rPr>
              <a:t>)</a:t>
            </a:r>
          </a:p>
          <a:p>
            <a:pPr algn="l">
              <a:lnSpc>
                <a:spcPct val="120000"/>
              </a:lnSpc>
              <a:buFont typeface="Times" pitchFamily="-65" charset="0"/>
              <a:buNone/>
              <a:defRPr/>
            </a:pPr>
            <a:r>
              <a:rPr lang="en-US" altLang="zh-CN" b="1" dirty="0">
                <a:latin typeface="Courier New" pitchFamily="-65" charset="0"/>
              </a:rPr>
              <a:t>   { return </a:t>
            </a:r>
            <a:r>
              <a:rPr lang="en-US" altLang="zh-CN" b="1" dirty="0" err="1">
                <a:latin typeface="Courier New" pitchFamily="-65" charset="0"/>
              </a:rPr>
              <a:t>x+y</a:t>
            </a:r>
            <a:r>
              <a:rPr lang="en-US" altLang="zh-CN" b="1" dirty="0">
                <a:latin typeface="Courier New" pitchFamily="-65" charset="0"/>
              </a:rPr>
              <a:t>; }</a:t>
            </a:r>
          </a:p>
          <a:p>
            <a:pPr algn="l">
              <a:lnSpc>
                <a:spcPct val="100000"/>
              </a:lnSpc>
              <a:buFont typeface="Times" pitchFamily="-65" charset="0"/>
              <a:buNone/>
              <a:defRPr/>
            </a:pPr>
            <a:endParaRPr lang="en-US" altLang="zh-CN" b="1" dirty="0">
              <a:latin typeface="Courier New" pitchFamily="-65" charset="0"/>
            </a:endParaRPr>
          </a:p>
          <a:p>
            <a:pPr algn="l">
              <a:lnSpc>
                <a:spcPct val="100000"/>
              </a:lnSpc>
              <a:buFont typeface="Times" pitchFamily="-65" charset="0"/>
              <a:buNone/>
              <a:defRPr/>
            </a:pP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/>
                <a:cs typeface="Courier New"/>
              </a:rPr>
              <a:t> 1000 </a:t>
            </a:r>
            <a:r>
              <a:rPr lang="en-US" altLang="zh-CN" b="1" dirty="0">
                <a:latin typeface="Courier New"/>
                <a:cs typeface="Courier New"/>
              </a:rPr>
              <a:t>add  </a:t>
            </a:r>
            <a:r>
              <a:rPr lang="en-US" altLang="zh-CN" b="1" dirty="0">
                <a:solidFill>
                  <a:srgbClr val="C00000"/>
                </a:solidFill>
                <a:latin typeface="Courier New"/>
                <a:cs typeface="Courier New"/>
              </a:rPr>
              <a:t>$a0</a:t>
            </a:r>
            <a:r>
              <a:rPr lang="en-US" altLang="zh-CN" b="1" dirty="0">
                <a:latin typeface="Courier New" pitchFamily="-65" charset="0"/>
              </a:rPr>
              <a:t>,</a:t>
            </a:r>
            <a:r>
              <a:rPr lang="en-US" altLang="zh-CN" b="1" dirty="0">
                <a:solidFill>
                  <a:srgbClr val="0000FF"/>
                </a:solidFill>
                <a:latin typeface="Courier New" pitchFamily="-65" charset="0"/>
              </a:rPr>
              <a:t>$s0</a:t>
            </a:r>
            <a:r>
              <a:rPr lang="en-US" altLang="zh-CN" b="1" dirty="0">
                <a:latin typeface="Courier New"/>
                <a:cs typeface="Courier New"/>
              </a:rPr>
              <a:t>,$zero   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/>
                <a:cs typeface="Courier New"/>
              </a:rPr>
              <a:t># x =</a:t>
            </a:r>
            <a:r>
              <a:rPr lang="en-US" altLang="zh-CN" b="1" dirty="0">
                <a:latin typeface="Courier New"/>
                <a:cs typeface="Courier New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/>
                <a:cs typeface="Courier New"/>
              </a:rPr>
              <a:t>a</a:t>
            </a:r>
            <a:r>
              <a:rPr lang="en-US" altLang="zh-CN" b="1" dirty="0">
                <a:latin typeface="Courier New"/>
                <a:cs typeface="Courier New"/>
              </a:rPr>
              <a:t>    </a:t>
            </a:r>
            <a:r>
              <a:rPr lang="zh-CN" altLang="en-US" sz="1650" dirty="0">
                <a:solidFill>
                  <a:schemeClr val="bg2">
                    <a:lumMod val="50000"/>
                  </a:schemeClr>
                </a:solidFill>
                <a:latin typeface="Courier New"/>
                <a:cs typeface="Courier New"/>
              </a:rPr>
              <a:t>传参</a:t>
            </a:r>
            <a:endParaRPr lang="en-US" altLang="zh-CN" dirty="0">
              <a:solidFill>
                <a:schemeClr val="bg2">
                  <a:lumMod val="50000"/>
                </a:schemeClr>
              </a:solidFill>
              <a:latin typeface="Courier New"/>
              <a:cs typeface="Courier New"/>
            </a:endParaRPr>
          </a:p>
          <a:p>
            <a:pPr algn="l">
              <a:lnSpc>
                <a:spcPct val="100000"/>
              </a:lnSpc>
              <a:buFont typeface="Times" pitchFamily="-65" charset="0"/>
              <a:buNone/>
              <a:defRPr/>
            </a:pPr>
            <a:r>
              <a:rPr lang="en-US" altLang="zh-CN" b="1" dirty="0">
                <a:latin typeface="Courier New"/>
                <a:cs typeface="Courier New"/>
              </a:rPr>
              <a:t> 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/>
                <a:cs typeface="Courier New"/>
              </a:rPr>
              <a:t>1004</a:t>
            </a:r>
            <a:r>
              <a:rPr lang="en-US" altLang="zh-CN" b="1" dirty="0">
                <a:latin typeface="Courier New"/>
                <a:cs typeface="Courier New"/>
              </a:rPr>
              <a:t> add  </a:t>
            </a:r>
            <a:r>
              <a:rPr lang="en-US" altLang="zh-CN" b="1" dirty="0">
                <a:solidFill>
                  <a:srgbClr val="C00000"/>
                </a:solidFill>
                <a:latin typeface="Courier New"/>
                <a:cs typeface="Courier New"/>
              </a:rPr>
              <a:t>$a1</a:t>
            </a:r>
            <a:r>
              <a:rPr lang="en-US" altLang="zh-CN" b="1" dirty="0">
                <a:latin typeface="Courier New"/>
                <a:cs typeface="Courier New"/>
              </a:rPr>
              <a:t>,</a:t>
            </a:r>
            <a:r>
              <a:rPr lang="en-US" altLang="zh-CN" b="1" dirty="0">
                <a:solidFill>
                  <a:srgbClr val="00B050"/>
                </a:solidFill>
                <a:latin typeface="Courier New" pitchFamily="-65" charset="0"/>
              </a:rPr>
              <a:t>$s1</a:t>
            </a:r>
            <a:r>
              <a:rPr lang="en-US" altLang="zh-CN" b="1" dirty="0">
                <a:latin typeface="Courier New"/>
                <a:cs typeface="Courier New"/>
              </a:rPr>
              <a:t>,$zero   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/>
                <a:cs typeface="Courier New"/>
              </a:rPr>
              <a:t># y = </a:t>
            </a:r>
            <a:r>
              <a:rPr lang="en-US" altLang="zh-CN" b="1" dirty="0">
                <a:solidFill>
                  <a:srgbClr val="00B050"/>
                </a:solidFill>
                <a:latin typeface="Courier New"/>
                <a:cs typeface="Courier New"/>
              </a:rPr>
              <a:t>b    </a:t>
            </a:r>
            <a:r>
              <a:rPr lang="zh-CN" altLang="en-US" sz="1650" dirty="0">
                <a:solidFill>
                  <a:srgbClr val="E7E6E6">
                    <a:lumMod val="50000"/>
                  </a:srgbClr>
                </a:solidFill>
                <a:latin typeface="Courier New"/>
                <a:cs typeface="Courier New"/>
              </a:rPr>
              <a:t>传参</a:t>
            </a:r>
            <a:endParaRPr lang="en-US" altLang="zh-CN" dirty="0">
              <a:solidFill>
                <a:schemeClr val="bg2">
                  <a:lumMod val="50000"/>
                </a:schemeClr>
              </a:solidFill>
              <a:latin typeface="Courier New"/>
              <a:cs typeface="Courier New"/>
            </a:endParaRPr>
          </a:p>
          <a:p>
            <a:pPr algn="l">
              <a:lnSpc>
                <a:spcPct val="100000"/>
              </a:lnSpc>
              <a:buFont typeface="Times" pitchFamily="-65" charset="0"/>
              <a:buNone/>
              <a:defRPr/>
            </a:pP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/>
                <a:cs typeface="Courier New"/>
              </a:rPr>
              <a:t> 1008</a:t>
            </a:r>
            <a:r>
              <a:rPr lang="en-US" altLang="zh-CN" b="1" dirty="0">
                <a:latin typeface="Courier New"/>
                <a:cs typeface="Courier New"/>
              </a:rPr>
              <a:t> </a:t>
            </a:r>
            <a:r>
              <a:rPr lang="en-US" altLang="zh-CN" b="1" dirty="0" err="1">
                <a:latin typeface="Courier New"/>
                <a:cs typeface="Courier New"/>
              </a:rPr>
              <a:t>addi</a:t>
            </a:r>
            <a:r>
              <a:rPr lang="en-US" altLang="zh-CN" b="1" dirty="0">
                <a:latin typeface="Courier New"/>
                <a:cs typeface="Courier New"/>
              </a:rPr>
              <a:t> $ra,$zero,1016  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/>
                <a:cs typeface="Courier New"/>
              </a:rPr>
              <a:t># $</a:t>
            </a:r>
            <a:r>
              <a:rPr lang="en-US" altLang="zh-CN" b="1" dirty="0" err="1">
                <a:solidFill>
                  <a:schemeClr val="bg2">
                    <a:lumMod val="50000"/>
                  </a:schemeClr>
                </a:solidFill>
                <a:latin typeface="Courier New"/>
                <a:cs typeface="Courier New"/>
              </a:rPr>
              <a:t>ra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/>
                <a:cs typeface="Courier New"/>
              </a:rPr>
              <a:t>=1016 </a:t>
            </a:r>
            <a:r>
              <a:rPr lang="zh-CN" altLang="en-US" sz="1650" dirty="0">
                <a:solidFill>
                  <a:srgbClr val="E7E6E6">
                    <a:lumMod val="50000"/>
                  </a:srgbClr>
                </a:solidFill>
                <a:latin typeface="Courier New"/>
                <a:cs typeface="Courier New"/>
              </a:rPr>
              <a:t>保存返回地址</a:t>
            </a:r>
            <a:endParaRPr lang="en-US" altLang="zh-CN" dirty="0">
              <a:solidFill>
                <a:schemeClr val="bg2">
                  <a:lumMod val="50000"/>
                </a:schemeClr>
              </a:solidFill>
              <a:latin typeface="Courier New"/>
              <a:cs typeface="Courier New"/>
            </a:endParaRPr>
          </a:p>
          <a:p>
            <a:pPr algn="l">
              <a:lnSpc>
                <a:spcPct val="100000"/>
              </a:lnSpc>
              <a:buFont typeface="Times" pitchFamily="-65" charset="0"/>
              <a:buNone/>
              <a:defRPr/>
            </a:pPr>
            <a:r>
              <a:rPr lang="en-US" altLang="zh-CN" b="1" i="1" dirty="0">
                <a:solidFill>
                  <a:schemeClr val="bg2">
                    <a:lumMod val="50000"/>
                  </a:schemeClr>
                </a:solidFill>
                <a:latin typeface="Courier New"/>
                <a:cs typeface="Courier New"/>
              </a:rPr>
              <a:t> 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/>
                <a:cs typeface="Courier New"/>
              </a:rPr>
              <a:t>1012</a:t>
            </a:r>
            <a:r>
              <a:rPr lang="en-US" altLang="zh-CN" b="1" dirty="0">
                <a:latin typeface="Courier New"/>
                <a:cs typeface="Courier New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Courier New"/>
                <a:cs typeface="Courier New"/>
              </a:rPr>
              <a:t>j    sum </a:t>
            </a:r>
            <a:r>
              <a:rPr lang="en-US" altLang="zh-CN" b="1" dirty="0">
                <a:latin typeface="Courier New"/>
                <a:cs typeface="Courier New"/>
              </a:rPr>
              <a:t>		       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/>
                <a:cs typeface="Courier New"/>
              </a:rPr>
              <a:t>#</a:t>
            </a:r>
            <a:r>
              <a:rPr lang="en-US" altLang="zh-CN" i="1" dirty="0">
                <a:solidFill>
                  <a:schemeClr val="bg2">
                    <a:lumMod val="50000"/>
                  </a:schemeClr>
                </a:solidFill>
                <a:latin typeface="Courier New"/>
                <a:cs typeface="Courier New"/>
              </a:rPr>
              <a:t> 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Courier New"/>
                <a:cs typeface="Courier New"/>
              </a:rPr>
              <a:t>跳转，调用过程</a:t>
            </a:r>
            <a:r>
              <a:rPr lang="en-US" altLang="zh-CN" b="1" dirty="0">
                <a:solidFill>
                  <a:srgbClr val="FF0000"/>
                </a:solidFill>
                <a:latin typeface="Courier New"/>
                <a:cs typeface="Courier New"/>
              </a:rPr>
              <a:t>sum</a:t>
            </a:r>
          </a:p>
          <a:p>
            <a:pPr algn="l">
              <a:lnSpc>
                <a:spcPct val="100000"/>
              </a:lnSpc>
              <a:buFont typeface="Times" pitchFamily="-65" charset="0"/>
              <a:buNone/>
              <a:defRPr/>
            </a:pPr>
            <a:r>
              <a:rPr lang="en-US" altLang="zh-CN" b="1" i="1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/>
                <a:cs typeface="Courier New"/>
              </a:rPr>
              <a:t>1016</a:t>
            </a:r>
            <a:r>
              <a:rPr lang="en-US" altLang="zh-CN" b="1" dirty="0">
                <a:latin typeface="Courier New"/>
                <a:cs typeface="Courier New"/>
              </a:rPr>
              <a:t> </a:t>
            </a:r>
          </a:p>
          <a:p>
            <a:pPr algn="l">
              <a:lnSpc>
                <a:spcPct val="100000"/>
              </a:lnSpc>
              <a:buFont typeface="Times" pitchFamily="-65" charset="0"/>
              <a:buNone/>
              <a:defRPr/>
            </a:pPr>
            <a:r>
              <a:rPr lang="en-US" altLang="zh-CN" b="1" dirty="0">
                <a:latin typeface="Courier New"/>
                <a:cs typeface="Courier New"/>
              </a:rPr>
              <a:t> …</a:t>
            </a:r>
          </a:p>
          <a:p>
            <a:pPr algn="l">
              <a:lnSpc>
                <a:spcPct val="100000"/>
              </a:lnSpc>
              <a:buFont typeface="Times" pitchFamily="-65" charset="0"/>
              <a:buNone/>
              <a:defRPr/>
            </a:pPr>
            <a:r>
              <a:rPr lang="en-US" altLang="zh-CN" b="1" dirty="0">
                <a:latin typeface="Courier New"/>
                <a:cs typeface="Courier New"/>
              </a:rPr>
              <a:t> 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/>
                <a:cs typeface="Courier New"/>
              </a:rPr>
              <a:t>2000</a:t>
            </a:r>
            <a:r>
              <a:rPr lang="en-US" altLang="zh-CN" b="1" dirty="0">
                <a:latin typeface="Courier New"/>
                <a:cs typeface="Courier New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latin typeface="Courier New"/>
                <a:cs typeface="Courier New"/>
              </a:rPr>
              <a:t>sum: </a:t>
            </a:r>
            <a:r>
              <a:rPr lang="en-US" altLang="zh-CN" b="1" dirty="0">
                <a:latin typeface="Courier New"/>
                <a:cs typeface="Courier New"/>
              </a:rPr>
              <a:t>add $v0,$a0,$a1 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/>
                <a:cs typeface="Courier New"/>
              </a:rPr>
              <a:t># </a:t>
            </a:r>
            <a:r>
              <a:rPr lang="zh-CN" altLang="en-US" sz="1500" b="1" dirty="0">
                <a:solidFill>
                  <a:schemeClr val="bg2">
                    <a:lumMod val="50000"/>
                  </a:schemeClr>
                </a:solidFill>
                <a:latin typeface="Courier New"/>
                <a:cs typeface="Courier New"/>
              </a:rPr>
              <a:t>过程入口</a:t>
            </a:r>
            <a:endParaRPr lang="en-US" altLang="zh-CN" sz="1500" b="1" dirty="0">
              <a:solidFill>
                <a:schemeClr val="bg2">
                  <a:lumMod val="50000"/>
                </a:schemeClr>
              </a:solidFill>
              <a:latin typeface="Courier New"/>
              <a:cs typeface="Courier New"/>
            </a:endParaRPr>
          </a:p>
          <a:p>
            <a:pPr algn="l">
              <a:lnSpc>
                <a:spcPct val="100000"/>
              </a:lnSpc>
              <a:buNone/>
              <a:defRPr/>
            </a:pPr>
            <a:r>
              <a:rPr lang="en-US" altLang="zh-CN" b="1" dirty="0">
                <a:latin typeface="Courier New"/>
                <a:cs typeface="Courier New"/>
              </a:rPr>
              <a:t> 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/>
                <a:cs typeface="Courier New"/>
              </a:rPr>
              <a:t>2004</a:t>
            </a:r>
            <a:r>
              <a:rPr lang="en-US" altLang="zh-CN" b="1" dirty="0">
                <a:latin typeface="Courier New"/>
                <a:cs typeface="Courier New"/>
              </a:rPr>
              <a:t> </a:t>
            </a:r>
            <a:r>
              <a:rPr lang="en-US" altLang="zh-CN" b="1" dirty="0" err="1">
                <a:latin typeface="Courier New"/>
                <a:cs typeface="Courier New"/>
              </a:rPr>
              <a:t>jr</a:t>
            </a:r>
            <a:r>
              <a:rPr lang="en-US" altLang="zh-CN" b="1" dirty="0">
                <a:latin typeface="Courier New"/>
                <a:cs typeface="Courier New"/>
              </a:rPr>
              <a:t>   $</a:t>
            </a:r>
            <a:r>
              <a:rPr lang="en-US" altLang="zh-CN" b="1" dirty="0" err="1">
                <a:latin typeface="Courier New"/>
                <a:cs typeface="Courier New"/>
              </a:rPr>
              <a:t>ra</a:t>
            </a:r>
            <a:r>
              <a:rPr lang="en-US" altLang="zh-CN" b="1" dirty="0">
                <a:latin typeface="Courier New"/>
                <a:cs typeface="Courier New"/>
              </a:rPr>
              <a:t>	           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Courier New"/>
                <a:cs typeface="Courier New"/>
              </a:rPr>
              <a:t> # </a:t>
            </a:r>
            <a:r>
              <a:rPr lang="zh-CN" altLang="en-US" sz="1575" b="1" dirty="0">
                <a:solidFill>
                  <a:schemeClr val="bg2">
                    <a:lumMod val="50000"/>
                  </a:schemeClr>
                </a:solidFill>
                <a:latin typeface="Courier New"/>
                <a:cs typeface="Courier New"/>
              </a:rPr>
              <a:t>返回主程序</a:t>
            </a:r>
            <a:endParaRPr lang="en-US" altLang="zh-CN" sz="1575" b="1" dirty="0">
              <a:solidFill>
                <a:schemeClr val="bg2">
                  <a:lumMod val="50000"/>
                </a:schemeClr>
              </a:solidFill>
              <a:latin typeface="Courier New"/>
              <a:cs typeface="Courier New"/>
            </a:endParaRPr>
          </a:p>
          <a:p>
            <a:pPr marL="0" indent="0" algn="l">
              <a:buNone/>
            </a:pPr>
            <a:endParaRPr lang="zh-CN" altLang="en-US" dirty="0"/>
          </a:p>
        </p:txBody>
      </p:sp>
      <p:sp>
        <p:nvSpPr>
          <p:cNvPr id="5" name="矩形​​ 5"/>
          <p:cNvSpPr/>
          <p:nvPr/>
        </p:nvSpPr>
        <p:spPr>
          <a:xfrm>
            <a:off x="6843228" y="3535915"/>
            <a:ext cx="2065735" cy="651272"/>
          </a:xfrm>
          <a:prstGeom prst="rect">
            <a:avLst/>
          </a:prstGeom>
          <a:solidFill>
            <a:srgbClr val="080808"/>
          </a:solidFill>
          <a:ln w="38100" cap="flat" cmpd="sng" algn="ctr">
            <a:solidFill>
              <a:srgbClr val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defTabSz="685800" eaLnBrk="1" hangingPunct="1">
              <a:defRPr/>
            </a:pPr>
            <a:r>
              <a:rPr lang="en-US" altLang="zh-CN" b="1" kern="0">
                <a:solidFill>
                  <a:srgbClr val="FFFF00"/>
                </a:solidFill>
                <a:latin typeface="Courier New" pitchFamily="49" charset="0"/>
                <a:ea typeface="微软雅黑"/>
              </a:rPr>
              <a:t>1008 jal sum</a:t>
            </a:r>
          </a:p>
          <a:p>
            <a:pPr defTabSz="685800" eaLnBrk="1" hangingPunct="1">
              <a:defRPr/>
            </a:pPr>
            <a:r>
              <a:rPr lang="en-US" altLang="zh-CN" b="1" kern="0">
                <a:solidFill>
                  <a:srgbClr val="FFFF00"/>
                </a:solidFill>
                <a:latin typeface="Courier New" pitchFamily="49" charset="0"/>
                <a:ea typeface="微软雅黑"/>
              </a:rPr>
              <a:t>1012</a:t>
            </a:r>
            <a:endParaRPr lang="zh-CN" altLang="en-US" b="1" kern="0">
              <a:solidFill>
                <a:srgbClr val="FFFF00"/>
              </a:solidFill>
              <a:latin typeface="Courier New" pitchFamily="49" charset="0"/>
              <a:ea typeface="微软雅黑"/>
            </a:endParaRPr>
          </a:p>
        </p:txBody>
      </p:sp>
      <p:sp>
        <p:nvSpPr>
          <p:cNvPr id="8" name="矩形​​ 4"/>
          <p:cNvSpPr/>
          <p:nvPr/>
        </p:nvSpPr>
        <p:spPr>
          <a:xfrm>
            <a:off x="5476415" y="5298962"/>
            <a:ext cx="1493553" cy="323850"/>
          </a:xfrm>
          <a:prstGeom prst="rect">
            <a:avLst/>
          </a:prstGeom>
          <a:solidFill>
            <a:srgbClr val="080808"/>
          </a:solidFill>
          <a:ln w="38100" cap="flat" cmpd="sng" algn="ctr">
            <a:solidFill>
              <a:srgbClr val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algn="ctr" defTabSz="685800" eaLnBrk="1" hangingPunct="1">
              <a:defRPr/>
            </a:pPr>
            <a:r>
              <a:rPr lang="en-US" altLang="zh-CN" b="1" i="1" kern="0" dirty="0">
                <a:solidFill>
                  <a:srgbClr val="FFFF00"/>
                </a:solidFill>
                <a:latin typeface="Courier New" pitchFamily="49" charset="0"/>
                <a:ea typeface="微软雅黑"/>
              </a:rPr>
              <a:t>J </a:t>
            </a:r>
            <a:r>
              <a:rPr lang="en-US" altLang="zh-CN" sz="1350" kern="0" dirty="0">
                <a:solidFill>
                  <a:srgbClr val="FFFF00"/>
                </a:solidFill>
                <a:latin typeface="微软雅黑"/>
                <a:ea typeface="微软雅黑"/>
              </a:rPr>
              <a:t> </a:t>
            </a:r>
            <a:r>
              <a:rPr lang="en-US" altLang="zh-CN" b="1" i="1" kern="0" dirty="0">
                <a:solidFill>
                  <a:srgbClr val="FFFF00"/>
                </a:solidFill>
                <a:latin typeface="Courier New" pitchFamily="49" charset="0"/>
                <a:ea typeface="微软雅黑"/>
              </a:rPr>
              <a:t>1016</a:t>
            </a:r>
            <a:endParaRPr lang="zh-CN" altLang="en-US" b="1" i="1" kern="0" dirty="0">
              <a:solidFill>
                <a:srgbClr val="FFFF00"/>
              </a:solidFill>
              <a:latin typeface="Courier New" pitchFamily="49" charset="0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7675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8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过程调用机制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52425" lvl="1" indent="0">
              <a:lnSpc>
                <a:spcPct val="170000"/>
              </a:lnSpc>
              <a:buNone/>
              <a:defRPr/>
            </a:pPr>
            <a:r>
              <a:rPr lang="en-US" altLang="zh-CN" sz="1800" b="1" dirty="0" err="1">
                <a:solidFill>
                  <a:srgbClr val="7030A0"/>
                </a:solidFill>
                <a:latin typeface="Courier New"/>
                <a:cs typeface="Courier New"/>
              </a:rPr>
              <a:t>jal</a:t>
            </a:r>
            <a:r>
              <a:rPr lang="en-US" altLang="zh-CN" sz="1800" b="1" dirty="0">
                <a:solidFill>
                  <a:srgbClr val="7030A0"/>
                </a:solidFill>
                <a:latin typeface="Courier New"/>
                <a:cs typeface="Courier New"/>
              </a:rPr>
              <a:t> Label   </a:t>
            </a:r>
            <a:r>
              <a:rPr lang="en-US" altLang="zh-CN" sz="1800" b="1" dirty="0">
                <a:solidFill>
                  <a:schemeClr val="bg2">
                    <a:lumMod val="75000"/>
                  </a:schemeClr>
                </a:solidFill>
                <a:latin typeface="Courier New"/>
                <a:cs typeface="Courier New"/>
              </a:rPr>
              <a:t># jump and link</a:t>
            </a:r>
          </a:p>
          <a:p>
            <a:pPr>
              <a:defRPr/>
            </a:pPr>
            <a:r>
              <a:rPr lang="zh-CN" altLang="en-US" dirty="0"/>
              <a:t>等效于如下指令</a:t>
            </a:r>
            <a:endParaRPr lang="en-US" altLang="zh-CN" dirty="0"/>
          </a:p>
          <a:p>
            <a:pPr marL="352425" lvl="1" indent="0">
              <a:lnSpc>
                <a:spcPct val="160000"/>
              </a:lnSpc>
              <a:buNone/>
              <a:defRPr/>
            </a:pPr>
            <a:r>
              <a:rPr lang="en-US" altLang="zh-CN" sz="1800" b="1" dirty="0">
                <a:latin typeface="Courier New"/>
                <a:cs typeface="Courier New"/>
              </a:rPr>
              <a:t>$</a:t>
            </a:r>
            <a:r>
              <a:rPr lang="en-US" altLang="zh-CN" sz="1800" b="1" dirty="0" err="1">
                <a:latin typeface="Courier New"/>
                <a:cs typeface="Courier New"/>
              </a:rPr>
              <a:t>ra</a:t>
            </a:r>
            <a:r>
              <a:rPr lang="en-US" altLang="zh-CN" sz="1800" b="1" dirty="0">
                <a:latin typeface="Courier New"/>
                <a:cs typeface="Courier New"/>
              </a:rPr>
              <a:t>=PC+4; </a:t>
            </a:r>
            <a:r>
              <a:rPr lang="en-US" altLang="zh-CN" sz="1800" b="1" dirty="0">
                <a:solidFill>
                  <a:schemeClr val="bg2">
                    <a:lumMod val="75000"/>
                  </a:schemeClr>
                </a:solidFill>
                <a:latin typeface="Courier New"/>
                <a:cs typeface="Courier New"/>
              </a:rPr>
              <a:t>#save next instruction address </a:t>
            </a:r>
          </a:p>
          <a:p>
            <a:pPr marL="352425" lvl="1" indent="0">
              <a:buNone/>
              <a:defRPr/>
            </a:pPr>
            <a:r>
              <a:rPr lang="en-US" altLang="zh-CN" sz="1800" b="1" dirty="0">
                <a:latin typeface="Courier New"/>
                <a:cs typeface="Courier New"/>
              </a:rPr>
              <a:t>j Label</a:t>
            </a:r>
          </a:p>
          <a:p>
            <a:pPr>
              <a:defRPr/>
            </a:pPr>
            <a:r>
              <a:rPr lang="zh-CN" altLang="en-US" dirty="0"/>
              <a:t>过程返回指令</a:t>
            </a:r>
            <a:endParaRPr lang="en-US" altLang="zh-CN" dirty="0"/>
          </a:p>
          <a:p>
            <a:pPr marL="352425" lvl="1" indent="0">
              <a:buNone/>
              <a:defRPr/>
            </a:pPr>
            <a:r>
              <a:rPr lang="en-US" altLang="zh-CN" sz="1800" b="1" dirty="0" err="1">
                <a:solidFill>
                  <a:srgbClr val="7030A0"/>
                </a:solidFill>
                <a:latin typeface="Courier New"/>
                <a:cs typeface="Courier New"/>
              </a:rPr>
              <a:t>jr</a:t>
            </a:r>
            <a:r>
              <a:rPr lang="en-US" altLang="zh-CN" sz="1800" b="1" dirty="0">
                <a:solidFill>
                  <a:srgbClr val="7030A0"/>
                </a:solidFill>
                <a:latin typeface="Courier New"/>
                <a:cs typeface="Courier New"/>
              </a:rPr>
              <a:t> $</a:t>
            </a:r>
            <a:r>
              <a:rPr lang="en-US" altLang="zh-CN" sz="1800" b="1" dirty="0" err="1">
                <a:solidFill>
                  <a:srgbClr val="7030A0"/>
                </a:solidFill>
                <a:latin typeface="Courier New"/>
                <a:cs typeface="Courier New"/>
              </a:rPr>
              <a:t>ra</a:t>
            </a:r>
            <a:r>
              <a:rPr lang="en-US" altLang="zh-CN" sz="1800" b="1" dirty="0">
                <a:solidFill>
                  <a:srgbClr val="7030A0"/>
                </a:solidFill>
                <a:latin typeface="Courier New"/>
                <a:cs typeface="Courier New"/>
              </a:rPr>
              <a:t>    </a:t>
            </a:r>
            <a:r>
              <a:rPr lang="en-US" altLang="zh-CN" sz="1800" b="1" dirty="0">
                <a:solidFill>
                  <a:schemeClr val="bg2">
                    <a:lumMod val="75000"/>
                  </a:schemeClr>
                </a:solidFill>
                <a:latin typeface="Courier New"/>
                <a:cs typeface="Courier New"/>
              </a:rPr>
              <a:t>#return to main program</a:t>
            </a:r>
          </a:p>
          <a:p>
            <a:pPr>
              <a:defRPr/>
            </a:pPr>
            <a:r>
              <a:rPr lang="zh-CN" altLang="en-US" dirty="0"/>
              <a:t>问题：利用</a:t>
            </a:r>
            <a:r>
              <a:rPr lang="en-US" altLang="zh-CN" b="1" dirty="0">
                <a:solidFill>
                  <a:srgbClr val="7030A0"/>
                </a:solidFill>
                <a:latin typeface="Courier New"/>
                <a:cs typeface="Courier New"/>
              </a:rPr>
              <a:t>$</a:t>
            </a:r>
            <a:r>
              <a:rPr lang="en-US" altLang="zh-CN" b="1" dirty="0" err="1">
                <a:solidFill>
                  <a:srgbClr val="7030A0"/>
                </a:solidFill>
                <a:latin typeface="Courier New"/>
                <a:cs typeface="Courier New"/>
              </a:rPr>
              <a:t>ra</a:t>
            </a:r>
            <a:r>
              <a:rPr lang="zh-CN" altLang="en-US" dirty="0"/>
              <a:t>做返回地址，如果过程嵌套如何返回？</a:t>
            </a:r>
            <a:endParaRPr lang="en-US" altLang="zh-CN" dirty="0"/>
          </a:p>
          <a:p>
            <a:pPr lvl="1">
              <a:defRPr/>
            </a:pPr>
            <a:r>
              <a:rPr lang="en-US" altLang="zh-CN" b="1" dirty="0">
                <a:solidFill>
                  <a:srgbClr val="7030A0"/>
                </a:solidFill>
                <a:latin typeface="Courier New"/>
                <a:cs typeface="Courier New"/>
              </a:rPr>
              <a:t>$</a:t>
            </a:r>
            <a:r>
              <a:rPr lang="en-US" altLang="zh-CN" b="1" dirty="0" err="1">
                <a:solidFill>
                  <a:srgbClr val="7030A0"/>
                </a:solidFill>
                <a:latin typeface="Courier New"/>
                <a:cs typeface="Courier New"/>
              </a:rPr>
              <a:t>ra</a:t>
            </a:r>
            <a:r>
              <a:rPr lang="en-US" altLang="zh-CN" b="1" dirty="0">
                <a:solidFill>
                  <a:srgbClr val="7030A0"/>
                </a:solidFill>
                <a:latin typeface="Courier New"/>
                <a:cs typeface="Courier New"/>
              </a:rPr>
              <a:t> </a:t>
            </a:r>
            <a:r>
              <a:rPr lang="zh-CN" altLang="en-US" dirty="0"/>
              <a:t>会被多次覆盖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利用堆栈保存</a:t>
            </a:r>
            <a:r>
              <a:rPr lang="en-US" altLang="zh-CN" b="1" dirty="0">
                <a:solidFill>
                  <a:srgbClr val="7030A0"/>
                </a:solidFill>
                <a:latin typeface="Courier New"/>
                <a:cs typeface="Courier New"/>
              </a:rPr>
              <a:t>$</a:t>
            </a:r>
            <a:r>
              <a:rPr lang="en-US" altLang="zh-CN" b="1" dirty="0" err="1">
                <a:solidFill>
                  <a:srgbClr val="7030A0"/>
                </a:solidFill>
                <a:latin typeface="Courier New"/>
                <a:cs typeface="Courier New"/>
              </a:rPr>
              <a:t>ra</a:t>
            </a:r>
            <a:endParaRPr lang="en-US" altLang="zh-CN" dirty="0"/>
          </a:p>
          <a:p>
            <a:pPr marL="352425" lvl="1" indent="0">
              <a:buNone/>
              <a:defRPr/>
            </a:pPr>
            <a:endParaRPr lang="en-US" altLang="zh-CN" sz="1800" b="1" dirty="0">
              <a:latin typeface="Courier New"/>
              <a:cs typeface="Courier New"/>
            </a:endParaRPr>
          </a:p>
          <a:p>
            <a:pPr marL="352425" lvl="1" indent="0">
              <a:buNone/>
              <a:defRPr/>
            </a:pPr>
            <a:endParaRPr lang="en-US" altLang="zh-CN" sz="1800" b="1" dirty="0">
              <a:latin typeface="Courier New"/>
              <a:cs typeface="Courier New"/>
            </a:endParaRPr>
          </a:p>
          <a:p>
            <a:pPr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577301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多级过程调用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Times" pitchFamily="-65" charset="0"/>
              <a:buNone/>
              <a:defRPr/>
            </a:pPr>
            <a:r>
              <a:rPr lang="en-US" altLang="zh-CN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lang="en-US" altLang="zh-CN" b="1" dirty="0" err="1">
                <a:solidFill>
                  <a:schemeClr val="accent2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solidFill>
                  <a:schemeClr val="accent2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chemeClr val="accent2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sumSquare</a:t>
            </a:r>
            <a:r>
              <a:rPr lang="en-US" altLang="zh-CN" b="1" dirty="0">
                <a:solidFill>
                  <a:schemeClr val="accent2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b="1" dirty="0" err="1">
                <a:solidFill>
                  <a:schemeClr val="accent2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solidFill>
                  <a:schemeClr val="accent2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x, </a:t>
            </a:r>
            <a:r>
              <a:rPr lang="en-US" altLang="zh-CN" b="1" dirty="0" err="1">
                <a:solidFill>
                  <a:schemeClr val="accent2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solidFill>
                  <a:schemeClr val="accent2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y) </a:t>
            </a:r>
          </a:p>
          <a:p>
            <a:pPr>
              <a:buFont typeface="Times" pitchFamily="-65" charset="0"/>
              <a:buNone/>
              <a:defRPr/>
            </a:pPr>
            <a:r>
              <a:rPr lang="en-US" altLang="zh-CN" b="1" dirty="0">
                <a:solidFill>
                  <a:schemeClr val="accent2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{	return 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mult</a:t>
            </a:r>
            <a:r>
              <a:rPr lang="en-US" altLang="zh-CN" b="1" dirty="0">
                <a:solidFill>
                  <a:schemeClr val="accent2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b="1" dirty="0" err="1">
                <a:solidFill>
                  <a:schemeClr val="accent2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x,</a:t>
            </a:r>
            <a:r>
              <a:rPr lang="en-US" altLang="zh-CN" b="1" dirty="0" err="1">
                <a:solidFill>
                  <a:srgbClr val="7030A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x</a:t>
            </a:r>
            <a:r>
              <a:rPr lang="en-US" altLang="zh-CN" b="1" dirty="0">
                <a:solidFill>
                  <a:schemeClr val="accent2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)+ y; }</a:t>
            </a:r>
          </a:p>
          <a:p>
            <a:pPr>
              <a:buFont typeface="Times" pitchFamily="-65" charset="0"/>
              <a:buNone/>
              <a:defRPr/>
            </a:pPr>
            <a:endParaRPr lang="en-US" altLang="zh-CN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zh-CN" altLang="en-US" dirty="0">
                <a:latin typeface="+mn-ea"/>
                <a:ea typeface="+mn-ea"/>
              </a:rPr>
              <a:t>主程序调用</a:t>
            </a:r>
            <a:r>
              <a:rPr lang="en-US" altLang="zh-CN" b="1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sumSquare</a:t>
            </a:r>
            <a:r>
              <a:rPr lang="en-US" altLang="zh-CN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(x</a:t>
            </a:r>
            <a:r>
              <a:rPr lang="zh-CN" altLang="en-US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，</a:t>
            </a:r>
            <a:r>
              <a:rPr lang="en-US" altLang="zh-CN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y)</a:t>
            </a:r>
            <a:r>
              <a:rPr lang="zh-CN" altLang="en-US" dirty="0">
                <a:latin typeface="+mn-ea"/>
                <a:ea typeface="+mn-ea"/>
              </a:rPr>
              <a:t>时</a:t>
            </a:r>
            <a:r>
              <a:rPr lang="en-US" altLang="zh-CN" b="1" dirty="0">
                <a:latin typeface="+mn-ea"/>
                <a:ea typeface="+mn-ea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$</a:t>
            </a:r>
            <a:r>
              <a:rPr lang="en-US" altLang="zh-CN" b="1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ra</a:t>
            </a:r>
            <a:r>
              <a:rPr lang="zh-CN" altLang="en-US" dirty="0">
                <a:latin typeface="+mn-ea"/>
                <a:ea typeface="+mn-ea"/>
              </a:rPr>
              <a:t>保存一次，保证该过程执行完毕后能返回主程序。</a:t>
            </a:r>
            <a:endParaRPr lang="en-US" altLang="zh-CN" dirty="0">
              <a:latin typeface="+mn-ea"/>
              <a:ea typeface="+mn-ea"/>
            </a:endParaRPr>
          </a:p>
          <a:p>
            <a:pPr>
              <a:defRPr/>
            </a:pPr>
            <a:r>
              <a:rPr lang="zh-CN" altLang="en-US" dirty="0">
                <a:latin typeface="+mn-ea"/>
                <a:ea typeface="+mn-ea"/>
              </a:rPr>
              <a:t>调用</a:t>
            </a:r>
            <a:r>
              <a:rPr lang="en-US" altLang="zh-CN" dirty="0">
                <a:latin typeface="+mn-ea"/>
                <a:ea typeface="+mn-ea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latin typeface="+mn-ea"/>
                <a:ea typeface="+mn-ea"/>
              </a:rPr>
              <a:t>mult</a:t>
            </a:r>
            <a:r>
              <a:rPr lang="zh-CN" altLang="en-US" dirty="0">
                <a:latin typeface="+mn-ea"/>
                <a:ea typeface="+mn-ea"/>
              </a:rPr>
              <a:t>时会覆盖</a:t>
            </a:r>
            <a:r>
              <a:rPr lang="en-US" altLang="zh-CN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$</a:t>
            </a:r>
            <a:r>
              <a:rPr lang="en-US" altLang="zh-CN" b="1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ra</a:t>
            </a:r>
            <a:endParaRPr lang="en-US" altLang="zh-CN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1">
              <a:defRPr/>
            </a:pPr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</a:rPr>
              <a:t>需要保存</a:t>
            </a:r>
            <a:r>
              <a:rPr lang="en-US" altLang="zh-CN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zh-CN" b="1" dirty="0" err="1">
                <a:solidFill>
                  <a:srgbClr val="C0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sumSquare</a:t>
            </a:r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</a:rPr>
              <a:t>的返回地址</a:t>
            </a:r>
            <a:endParaRPr lang="en-US" altLang="zh-CN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zh-CN" altLang="en-US">
                <a:latin typeface="+mn-ea"/>
                <a:ea typeface="+mn-ea"/>
              </a:rPr>
              <a:t>其它</a:t>
            </a:r>
            <a:r>
              <a:rPr lang="zh-CN" altLang="en-US" dirty="0">
                <a:latin typeface="+mn-ea"/>
                <a:ea typeface="+mn-ea"/>
              </a:rPr>
              <a:t>被复用的寄存器</a:t>
            </a:r>
            <a:r>
              <a:rPr lang="en-US" altLang="zh-CN" dirty="0">
                <a:latin typeface="+mn-ea"/>
                <a:ea typeface="+mn-ea"/>
              </a:rPr>
              <a:t>$a0,$a1</a:t>
            </a:r>
            <a:r>
              <a:rPr lang="zh-CN" altLang="en-US" dirty="0">
                <a:latin typeface="+mn-ea"/>
                <a:ea typeface="+mn-ea"/>
              </a:rPr>
              <a:t>也存在同样的问题，这是寄存器传参的弊端</a:t>
            </a:r>
            <a:endParaRPr lang="en-US" altLang="zh-CN" dirty="0">
              <a:latin typeface="+mn-ea"/>
              <a:ea typeface="+mn-ea"/>
            </a:endParaRPr>
          </a:p>
          <a:p>
            <a:pPr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506822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堆栈操作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6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sumSquare</a:t>
            </a:r>
            <a:r>
              <a:rPr lang="en-US" altLang="zh-CN" sz="16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marL="342900" lvl="1" indent="733425">
              <a:lnSpc>
                <a:spcPct val="120000"/>
              </a:lnSpc>
              <a:buNone/>
              <a:defRPr/>
            </a:pPr>
            <a:r>
              <a:rPr lang="en-US" altLang="zh-CN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$sp,$sp,-8     </a:t>
            </a:r>
            <a:r>
              <a:rPr lang="en-US" altLang="zh-CN" sz="1800" b="1" i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space on stack</a:t>
            </a:r>
          </a:p>
          <a:p>
            <a:pPr marL="342900" lvl="1" indent="733425">
              <a:lnSpc>
                <a:spcPct val="120000"/>
              </a:lnSpc>
              <a:buNone/>
              <a:defRPr/>
            </a:pPr>
            <a:r>
              <a:rPr lang="en-US" altLang="zh-CN" sz="1800" b="1" dirty="0" err="1">
                <a:solidFill>
                  <a:schemeClr val="tx1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altLang="zh-CN" sz="1800" b="1" dirty="0">
                <a:solidFill>
                  <a:schemeClr val="tx1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CN" sz="1800" b="1" dirty="0" err="1">
                <a:solidFill>
                  <a:srgbClr val="FF0000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altLang="zh-CN" sz="1800" b="1" dirty="0">
                <a:solidFill>
                  <a:schemeClr val="tx1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 4($</a:t>
            </a:r>
            <a:r>
              <a:rPr lang="en-US" altLang="zh-CN" sz="1800" b="1" dirty="0" err="1">
                <a:solidFill>
                  <a:schemeClr val="tx1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altLang="zh-CN" sz="1800" b="1" dirty="0">
                <a:solidFill>
                  <a:schemeClr val="tx1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8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800" b="1" i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save ret </a:t>
            </a:r>
            <a:r>
              <a:rPr lang="en-US" altLang="zh-CN" sz="1800" b="1" i="1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endParaRPr lang="en-US" altLang="zh-CN" sz="1800" b="1" i="1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1" indent="733425">
              <a:lnSpc>
                <a:spcPct val="120000"/>
              </a:lnSpc>
              <a:buNone/>
              <a:defRPr/>
            </a:pPr>
            <a:r>
              <a:rPr lang="en-US" altLang="zh-CN" sz="1800" b="1" dirty="0" err="1">
                <a:solidFill>
                  <a:schemeClr val="tx1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altLang="zh-CN" sz="1800" b="1" dirty="0">
                <a:solidFill>
                  <a:schemeClr val="tx1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$a1</a:t>
            </a:r>
            <a:r>
              <a:rPr lang="en-US" altLang="zh-CN" sz="1800" b="1" dirty="0">
                <a:solidFill>
                  <a:schemeClr val="tx1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 0($</a:t>
            </a:r>
            <a:r>
              <a:rPr lang="en-US" altLang="zh-CN" sz="1800" b="1" dirty="0" err="1">
                <a:solidFill>
                  <a:schemeClr val="tx1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altLang="zh-CN" sz="1800" b="1" dirty="0">
                <a:solidFill>
                  <a:schemeClr val="tx1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8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800" b="1" i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save y</a:t>
            </a:r>
          </a:p>
          <a:p>
            <a:pPr marL="342900" lvl="1" indent="733425">
              <a:lnSpc>
                <a:spcPct val="120000"/>
              </a:lnSpc>
              <a:buNone/>
              <a:defRPr/>
            </a:pP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altLang="zh-CN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$a1,$a0,$zero</a:t>
            </a:r>
            <a:r>
              <a:rPr lang="en-US" altLang="zh-CN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1800" b="1" i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altLang="zh-CN" sz="1800" b="1" i="1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mult</a:t>
            </a:r>
            <a:r>
              <a:rPr lang="en-US" altLang="zh-CN" sz="1800" b="1" i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800" b="1" i="1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x,x</a:t>
            </a:r>
            <a:r>
              <a:rPr lang="en-US" altLang="zh-CN" sz="1800" b="1" i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733425">
              <a:lnSpc>
                <a:spcPct val="120000"/>
              </a:lnSpc>
              <a:buNone/>
              <a:defRPr/>
            </a:pPr>
            <a:r>
              <a:rPr lang="en-US" altLang="zh-CN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zh-CN" sz="18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800" b="1" i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call </a:t>
            </a:r>
            <a:r>
              <a:rPr lang="en-US" altLang="zh-CN" sz="1800" b="1" i="1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mult</a:t>
            </a:r>
            <a:endParaRPr lang="en-US" altLang="zh-CN" sz="1800" b="1" i="1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1" indent="733425">
              <a:lnSpc>
                <a:spcPct val="120000"/>
              </a:lnSpc>
              <a:buNone/>
              <a:defRPr/>
            </a:pPr>
            <a:r>
              <a:rPr lang="en-US" altLang="zh-CN" sz="1800" b="1" dirty="0" err="1">
                <a:solidFill>
                  <a:schemeClr val="tx1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altLang="zh-CN" sz="1800" b="1" dirty="0">
                <a:solidFill>
                  <a:schemeClr val="tx1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$a1</a:t>
            </a:r>
            <a:r>
              <a:rPr lang="en-US" altLang="zh-CN" sz="1800" b="1" dirty="0">
                <a:solidFill>
                  <a:schemeClr val="tx1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 0($</a:t>
            </a:r>
            <a:r>
              <a:rPr lang="en-US" altLang="zh-CN" sz="1800" b="1" dirty="0" err="1">
                <a:solidFill>
                  <a:schemeClr val="tx1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altLang="zh-CN" sz="1800" b="1" dirty="0">
                <a:solidFill>
                  <a:schemeClr val="tx1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zh-CN" sz="1800" b="1" i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restore y</a:t>
            </a:r>
          </a:p>
          <a:p>
            <a:pPr marL="342900" lvl="1" indent="733425">
              <a:lnSpc>
                <a:spcPct val="120000"/>
              </a:lnSpc>
              <a:buNone/>
              <a:defRPr/>
            </a:pP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 $v0,$v0,$a1</a:t>
            </a:r>
            <a:r>
              <a:rPr lang="en-US" altLang="zh-CN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800" b="1" i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altLang="zh-CN" sz="1800" b="1" i="1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mult</a:t>
            </a:r>
            <a:r>
              <a:rPr lang="en-US" altLang="zh-CN" sz="1800" b="1" i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()+y</a:t>
            </a:r>
          </a:p>
          <a:p>
            <a:pPr marL="342900" lvl="1" indent="733425">
              <a:lnSpc>
                <a:spcPct val="120000"/>
              </a:lnSpc>
              <a:buNone/>
              <a:defRPr/>
            </a:pPr>
            <a:r>
              <a:rPr lang="en-US" altLang="zh-CN" sz="1800" b="1" dirty="0" err="1">
                <a:solidFill>
                  <a:schemeClr val="tx1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altLang="zh-CN" sz="1800" b="1" dirty="0">
                <a:solidFill>
                  <a:schemeClr val="tx1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CN" sz="1800" b="1" dirty="0" err="1">
                <a:solidFill>
                  <a:srgbClr val="FF0000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altLang="zh-CN" sz="1800" b="1" dirty="0">
                <a:solidFill>
                  <a:schemeClr val="tx1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 4($</a:t>
            </a:r>
            <a:r>
              <a:rPr lang="en-US" altLang="zh-CN" sz="1800" b="1" dirty="0" err="1">
                <a:solidFill>
                  <a:schemeClr val="tx1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altLang="zh-CN" sz="1800" b="1" dirty="0">
                <a:solidFill>
                  <a:schemeClr val="tx1"/>
                </a:solidFill>
                <a:highlight>
                  <a:srgbClr val="36B0D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8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800" b="1" i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get ret </a:t>
            </a:r>
            <a:r>
              <a:rPr lang="en-US" altLang="zh-CN" sz="1800" b="1" i="1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endParaRPr lang="en-US" altLang="zh-CN" sz="1800" b="1" i="1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1" indent="733425">
              <a:lnSpc>
                <a:spcPct val="120000"/>
              </a:lnSpc>
              <a:buNone/>
              <a:defRPr/>
            </a:pPr>
            <a:r>
              <a:rPr lang="en-US" altLang="zh-CN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$sp,$sp,8     </a:t>
            </a:r>
            <a:r>
              <a:rPr lang="en-US" altLang="zh-CN" sz="1800" b="1" i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restore stack</a:t>
            </a:r>
          </a:p>
          <a:p>
            <a:pPr marL="342900" lvl="1" indent="733425">
              <a:lnSpc>
                <a:spcPct val="120000"/>
              </a:lnSpc>
              <a:buNone/>
              <a:defRPr/>
            </a:pPr>
            <a:r>
              <a:rPr lang="en-US" altLang="zh-CN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altLang="zh-CN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endParaRPr lang="en-US" altLang="zh-CN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">
              <a:lnSpc>
                <a:spcPct val="110000"/>
              </a:lnSpc>
              <a:defRPr/>
            </a:pPr>
            <a:r>
              <a:rPr lang="en-US" altLang="zh-CN" sz="16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mult</a:t>
            </a:r>
            <a:r>
              <a:rPr lang="en-US" altLang="zh-CN" sz="16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...</a:t>
            </a:r>
          </a:p>
          <a:p>
            <a:pPr marL="171450">
              <a:lnSpc>
                <a:spcPct val="110000"/>
              </a:lnSpc>
              <a:defRPr/>
            </a:pPr>
            <a:r>
              <a:rPr lang="zh-CN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注意：除了返回地址以外，函数参数等会覆盖的变量都需要入栈</a:t>
            </a:r>
            <a:endParaRPr lang="zh-CN" altLang="en-US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88104" y="2257280"/>
            <a:ext cx="818789" cy="32316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itchFamily="34" charset="0"/>
                <a:ea typeface="华文细黑" pitchFamily="2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itchFamily="34" charset="0"/>
                <a:ea typeface="华文细黑" pitchFamily="2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itchFamily="34" charset="0"/>
                <a:ea typeface="华文细黑" pitchFamily="2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itchFamily="34" charset="0"/>
                <a:ea typeface="华文细黑" pitchFamily="2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itchFamily="34" charset="0"/>
                <a:ea typeface="华文细黑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  <a:ea typeface="华文细黑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  <a:ea typeface="华文细黑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  <a:ea typeface="华文细黑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  <a:ea typeface="华文细黑" pitchFamily="2" charset="-122"/>
              </a:defRPr>
            </a:lvl9pPr>
          </a:lstStyle>
          <a:p>
            <a:pPr algn="ctr" defTabSz="685800" eaLnBrk="1" hangingPunct="1">
              <a:spcBef>
                <a:spcPct val="50000"/>
              </a:spcBef>
            </a:pPr>
            <a:r>
              <a:rPr lang="en-US" altLang="zh-CN" sz="1500" b="1" dirty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“push”</a:t>
            </a: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488104" y="3461002"/>
            <a:ext cx="818790" cy="32316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itchFamily="34" charset="0"/>
                <a:ea typeface="华文细黑" pitchFamily="2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itchFamily="34" charset="0"/>
                <a:ea typeface="华文细黑" pitchFamily="2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itchFamily="34" charset="0"/>
                <a:ea typeface="华文细黑" pitchFamily="2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itchFamily="34" charset="0"/>
                <a:ea typeface="华文细黑" pitchFamily="2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itchFamily="34" charset="0"/>
                <a:ea typeface="华文细黑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  <a:ea typeface="华文细黑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  <a:ea typeface="华文细黑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  <a:ea typeface="华文细黑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  <a:ea typeface="华文细黑" pitchFamily="2" charset="-122"/>
              </a:defRPr>
            </a:lvl9pPr>
          </a:lstStyle>
          <a:p>
            <a:pPr algn="ctr" defTabSz="685800" eaLnBrk="1" hangingPunct="1">
              <a:spcBef>
                <a:spcPct val="50000"/>
              </a:spcBef>
            </a:pPr>
            <a:r>
              <a:rPr lang="en-US" altLang="zh-CN" sz="1500" b="1" dirty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“pop”</a:t>
            </a:r>
          </a:p>
        </p:txBody>
      </p:sp>
    </p:spTree>
    <p:extLst>
      <p:ext uri="{BB962C8B-B14F-4D97-AF65-F5344CB8AC3E}">
        <p14:creationId xmlns:p14="http://schemas.microsoft.com/office/powerpoint/2010/main" val="191255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函数调用的机器级表示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5867" y="942764"/>
            <a:ext cx="7886699" cy="5294548"/>
          </a:xfrm>
        </p:spPr>
        <p:txBody>
          <a:bodyPr/>
          <a:lstStyle/>
          <a:p>
            <a:r>
              <a:rPr lang="zh-CN" altLang="en-US" dirty="0"/>
              <a:t>调用子程序包含两个参与者</a:t>
            </a:r>
            <a:endParaRPr lang="en-US" altLang="zh-CN" dirty="0"/>
          </a:p>
          <a:p>
            <a:pPr lvl="1"/>
            <a:r>
              <a:rPr lang="zh-CN" altLang="en-US" dirty="0"/>
              <a:t>调用者（</a:t>
            </a:r>
            <a:r>
              <a:rPr lang="en-US" altLang="zh-CN" dirty="0"/>
              <a:t>caller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准备函数参数，跳转到被调用者子程序</a:t>
            </a:r>
            <a:endParaRPr lang="en-US" altLang="zh-CN" dirty="0"/>
          </a:p>
          <a:p>
            <a:pPr lvl="1"/>
            <a:r>
              <a:rPr lang="zh-CN" altLang="en-US" dirty="0"/>
              <a:t>被调用者（</a:t>
            </a:r>
            <a:r>
              <a:rPr lang="en-US" altLang="zh-CN" dirty="0" err="1"/>
              <a:t>callee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使用调用者提供的参数，然后运行</a:t>
            </a:r>
            <a:endParaRPr lang="en-US" altLang="zh-CN" dirty="0"/>
          </a:p>
          <a:p>
            <a:pPr lvl="2"/>
            <a:r>
              <a:rPr lang="zh-CN" altLang="en-US" dirty="0"/>
              <a:t>运行结束保存返回值</a:t>
            </a:r>
            <a:endParaRPr lang="en-US" altLang="zh-CN" dirty="0"/>
          </a:p>
          <a:p>
            <a:pPr lvl="2"/>
            <a:r>
              <a:rPr lang="zh-CN" altLang="en-US" dirty="0"/>
              <a:t>将控制（如跳回）还给调用者。</a:t>
            </a:r>
          </a:p>
        </p:txBody>
      </p:sp>
    </p:spTree>
    <p:extLst>
      <p:ext uri="{BB962C8B-B14F-4D97-AF65-F5344CB8AC3E}">
        <p14:creationId xmlns:p14="http://schemas.microsoft.com/office/powerpoint/2010/main" val="75906043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函数调用的机器级表示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高级语言函数体中一般使用局部变量</a:t>
            </a:r>
            <a:endParaRPr lang="en-US" altLang="zh-CN" dirty="0"/>
          </a:p>
          <a:p>
            <a:r>
              <a:rPr lang="zh-CN" altLang="en-US" dirty="0"/>
              <a:t>汇编子程序使用寄存器（全局变量）</a:t>
            </a:r>
            <a:endParaRPr lang="en-US" altLang="zh-CN" dirty="0"/>
          </a:p>
          <a:p>
            <a:r>
              <a:rPr lang="zh-CN" altLang="en-US" dirty="0"/>
              <a:t>对全局变量的修改可能会引起调用者逻辑不正确</a:t>
            </a:r>
            <a:endParaRPr lang="en-US" altLang="zh-CN" dirty="0"/>
          </a:p>
          <a:p>
            <a:pPr algn="just" eaLnBrk="1" hangingPunct="1">
              <a:spcBef>
                <a:spcPct val="250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调用者函数和被调用函数可能使用相同寄存器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eaLnBrk="1" hangingPunct="1">
              <a:spcBef>
                <a:spcPct val="25000"/>
              </a:spcBef>
            </a:pPr>
            <a:r>
              <a:rPr lang="zh-CN" altLang="en-US" sz="2000" dirty="0"/>
              <a:t>造成数据破坏？</a:t>
            </a:r>
            <a:endParaRPr lang="en-US" altLang="zh-CN" sz="2000" dirty="0"/>
          </a:p>
          <a:p>
            <a:pPr lvl="1" algn="just" eaLnBrk="1" hangingPunct="1">
              <a:spcBef>
                <a:spcPct val="25000"/>
              </a:spcBef>
            </a:pPr>
            <a:r>
              <a:rPr lang="zh-CN" altLang="en-US" sz="2000" dirty="0"/>
              <a:t>被调用函数需要保存可能被破坏的寄存器（现场）</a:t>
            </a:r>
            <a:endParaRPr lang="en-US" altLang="zh-CN" sz="2000" dirty="0"/>
          </a:p>
          <a:p>
            <a:pPr lvl="1" algn="just" eaLnBrk="1" hangingPunct="1">
              <a:spcBef>
                <a:spcPct val="25000"/>
              </a:spcBef>
            </a:pPr>
            <a:r>
              <a:rPr lang="zh-CN" altLang="en-US" sz="2000" dirty="0"/>
              <a:t>哪些寄存器属于现场？</a:t>
            </a:r>
            <a:endParaRPr lang="en-US" altLang="zh-CN" sz="2000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09466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ISA</a:t>
            </a:r>
            <a:r>
              <a:rPr lang="zh-CN" altLang="en-US" dirty="0"/>
              <a:t>寄存器使用约定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25000"/>
              </a:spcBef>
            </a:pPr>
            <a:r>
              <a:rPr lang="zh-CN" altLang="en-US" dirty="0"/>
              <a:t>调用者保存寄存器</a:t>
            </a:r>
            <a:endParaRPr lang="en-US" altLang="zh-CN" dirty="0"/>
          </a:p>
          <a:p>
            <a:pPr marL="504825" lvl="2" indent="-257175">
              <a:spcBef>
                <a:spcPct val="25000"/>
              </a:spcBef>
              <a:buFont typeface="Wingdings" pitchFamily="2" charset="2"/>
              <a:buChar char="n"/>
            </a:pPr>
            <a:r>
              <a:rPr lang="zh-CN" altLang="en-US" dirty="0">
                <a:solidFill>
                  <a:srgbClr val="C00000"/>
                </a:solidFill>
              </a:rPr>
              <a:t>调用者负责根据需要保存现场</a:t>
            </a:r>
            <a:endParaRPr lang="en-US" altLang="zh-CN" dirty="0">
              <a:solidFill>
                <a:srgbClr val="C00000"/>
              </a:solidFill>
            </a:endParaRPr>
          </a:p>
          <a:p>
            <a:pPr marL="504825" lvl="2" indent="-257175">
              <a:spcBef>
                <a:spcPct val="25000"/>
              </a:spcBef>
              <a:buFont typeface="Wingdings" pitchFamily="2" charset="2"/>
              <a:buChar char="n"/>
            </a:pPr>
            <a:r>
              <a:rPr lang="zh-CN" altLang="en-US" dirty="0">
                <a:solidFill>
                  <a:srgbClr val="C00000"/>
                </a:solidFill>
              </a:rPr>
              <a:t>被调用过程可直接使用，不用压栈。</a:t>
            </a:r>
            <a:endParaRPr lang="en-US" altLang="zh-CN" dirty="0">
              <a:solidFill>
                <a:srgbClr val="C00000"/>
              </a:solidFill>
            </a:endParaRPr>
          </a:p>
          <a:p>
            <a:pPr marL="847725" lvl="3" indent="-257175">
              <a:spcBef>
                <a:spcPct val="25000"/>
              </a:spcBef>
              <a:buFont typeface="Wingdings" pitchFamily="2" charset="2"/>
              <a:buChar char="n"/>
            </a:pPr>
            <a:r>
              <a:rPr lang="en-US" altLang="zh-CN" sz="2000" b="1" dirty="0">
                <a:solidFill>
                  <a:srgbClr val="00B050"/>
                </a:solidFill>
              </a:rPr>
              <a:t>X86: </a:t>
            </a:r>
            <a:r>
              <a:rPr lang="en-US" altLang="zh-CN" sz="2000" dirty="0">
                <a:solidFill>
                  <a:srgbClr val="00B050"/>
                </a:solidFill>
              </a:rPr>
              <a:t> IA32  EAX</a:t>
            </a:r>
            <a:r>
              <a:rPr lang="zh-CN" altLang="en-US" sz="2000" dirty="0">
                <a:solidFill>
                  <a:srgbClr val="00B050"/>
                </a:solidFill>
              </a:rPr>
              <a:t>、</a:t>
            </a:r>
            <a:r>
              <a:rPr lang="en-US" altLang="zh-CN" sz="2000" dirty="0">
                <a:solidFill>
                  <a:srgbClr val="00B050"/>
                </a:solidFill>
              </a:rPr>
              <a:t>EDX</a:t>
            </a:r>
            <a:r>
              <a:rPr lang="zh-CN" altLang="en-US" sz="2000" dirty="0">
                <a:solidFill>
                  <a:srgbClr val="00B050"/>
                </a:solidFill>
              </a:rPr>
              <a:t>、</a:t>
            </a:r>
            <a:r>
              <a:rPr lang="en-US" altLang="zh-CN" sz="2000" dirty="0">
                <a:solidFill>
                  <a:srgbClr val="00B050"/>
                </a:solidFill>
              </a:rPr>
              <a:t>ECX       </a:t>
            </a:r>
            <a:r>
              <a:rPr lang="en-US" altLang="zh-CN" sz="2000" b="1" dirty="0">
                <a:solidFill>
                  <a:srgbClr val="00B050"/>
                </a:solidFill>
              </a:rPr>
              <a:t>MIPS : </a:t>
            </a:r>
            <a:r>
              <a:rPr lang="en-US" altLang="zh-CN" sz="2000" dirty="0">
                <a:solidFill>
                  <a:srgbClr val="00B050"/>
                </a:solidFill>
              </a:rPr>
              <a:t>$t0~$t9</a:t>
            </a:r>
          </a:p>
          <a:p>
            <a:pPr>
              <a:spcBef>
                <a:spcPct val="25000"/>
              </a:spcBef>
            </a:pPr>
            <a:r>
              <a:rPr lang="zh-CN" altLang="en-US" dirty="0"/>
              <a:t>被调用者保存寄存器</a:t>
            </a:r>
            <a:endParaRPr lang="en-US" altLang="zh-CN" dirty="0"/>
          </a:p>
          <a:p>
            <a:pPr marL="504825" lvl="2" indent="-257175">
              <a:spcBef>
                <a:spcPct val="25000"/>
              </a:spcBef>
              <a:buFont typeface="Wingdings" pitchFamily="2" charset="2"/>
              <a:buChar char="n"/>
            </a:pPr>
            <a:r>
              <a:rPr lang="zh-CN" altLang="en-US" dirty="0">
                <a:solidFill>
                  <a:srgbClr val="C00000"/>
                </a:solidFill>
              </a:rPr>
              <a:t>被调用者负责根据需要保存现场  </a:t>
            </a:r>
            <a:r>
              <a:rPr lang="en-US" altLang="zh-CN" dirty="0">
                <a:solidFill>
                  <a:srgbClr val="C00000"/>
                </a:solidFill>
              </a:rPr>
              <a:t>save</a:t>
            </a:r>
          </a:p>
          <a:p>
            <a:pPr marL="504825" lvl="2" indent="-257175">
              <a:spcBef>
                <a:spcPct val="25000"/>
              </a:spcBef>
              <a:buFont typeface="Wingdings" pitchFamily="2" charset="2"/>
              <a:buChar char="n"/>
            </a:pPr>
            <a:r>
              <a:rPr lang="zh-CN" altLang="en-US" dirty="0">
                <a:solidFill>
                  <a:srgbClr val="CC3300"/>
                </a:solidFill>
              </a:rPr>
              <a:t>返回之前恢复它们的值                      </a:t>
            </a:r>
            <a:r>
              <a:rPr lang="en-US" altLang="zh-CN" dirty="0">
                <a:solidFill>
                  <a:srgbClr val="CC3300"/>
                </a:solidFill>
              </a:rPr>
              <a:t>restore</a:t>
            </a:r>
          </a:p>
          <a:p>
            <a:pPr marL="847725" lvl="3" indent="-257175">
              <a:spcBef>
                <a:spcPct val="25000"/>
              </a:spcBef>
              <a:buFont typeface="Wingdings" pitchFamily="2" charset="2"/>
              <a:buChar char="n"/>
            </a:pPr>
            <a:r>
              <a:rPr lang="en-US" altLang="zh-CN" sz="2000" b="1" dirty="0">
                <a:solidFill>
                  <a:srgbClr val="00B050"/>
                </a:solidFill>
              </a:rPr>
              <a:t>X86: </a:t>
            </a:r>
            <a:r>
              <a:rPr lang="en-US" altLang="zh-CN" sz="2000" dirty="0">
                <a:solidFill>
                  <a:srgbClr val="00B050"/>
                </a:solidFill>
              </a:rPr>
              <a:t> IA32 EBX</a:t>
            </a:r>
            <a:r>
              <a:rPr lang="zh-CN" altLang="en-US" sz="2000" dirty="0">
                <a:solidFill>
                  <a:srgbClr val="00B050"/>
                </a:solidFill>
              </a:rPr>
              <a:t>、</a:t>
            </a:r>
            <a:r>
              <a:rPr lang="en-US" altLang="zh-CN" sz="2000" dirty="0">
                <a:solidFill>
                  <a:srgbClr val="00B050"/>
                </a:solidFill>
              </a:rPr>
              <a:t>ESI</a:t>
            </a:r>
            <a:r>
              <a:rPr lang="zh-CN" altLang="en-US" sz="2000" dirty="0">
                <a:solidFill>
                  <a:srgbClr val="00B050"/>
                </a:solidFill>
              </a:rPr>
              <a:t>、</a:t>
            </a:r>
            <a:r>
              <a:rPr lang="en-US" altLang="zh-CN" sz="2000" dirty="0">
                <a:solidFill>
                  <a:srgbClr val="00B050"/>
                </a:solidFill>
              </a:rPr>
              <a:t>EDI           </a:t>
            </a:r>
            <a:r>
              <a:rPr lang="en-US" altLang="zh-CN" sz="2000" b="1" dirty="0">
                <a:solidFill>
                  <a:srgbClr val="00B050"/>
                </a:solidFill>
              </a:rPr>
              <a:t>MIPS:</a:t>
            </a:r>
            <a:r>
              <a:rPr lang="en-US" altLang="zh-CN" sz="2000" dirty="0">
                <a:solidFill>
                  <a:srgbClr val="00B050"/>
                </a:solidFill>
              </a:rPr>
              <a:t>  $s0~$s7, $</a:t>
            </a:r>
            <a:r>
              <a:rPr lang="en-US" altLang="zh-CN" sz="2000" dirty="0" err="1">
                <a:solidFill>
                  <a:srgbClr val="00B050"/>
                </a:solidFill>
              </a:rPr>
              <a:t>fp</a:t>
            </a:r>
            <a:r>
              <a:rPr lang="en-US" altLang="zh-CN" sz="2000" dirty="0">
                <a:solidFill>
                  <a:srgbClr val="00B050"/>
                </a:solidFill>
              </a:rPr>
              <a:t>,$</a:t>
            </a:r>
            <a:r>
              <a:rPr lang="en-US" altLang="zh-CN" sz="2000" dirty="0" err="1">
                <a:solidFill>
                  <a:srgbClr val="00B050"/>
                </a:solidFill>
              </a:rPr>
              <a:t>ra</a:t>
            </a:r>
            <a:endParaRPr lang="en-US" altLang="zh-CN" sz="2000" dirty="0">
              <a:solidFill>
                <a:srgbClr val="00B050"/>
              </a:solidFill>
            </a:endParaRPr>
          </a:p>
          <a:p>
            <a:pPr>
              <a:spcBef>
                <a:spcPct val="25000"/>
              </a:spcBef>
            </a:pPr>
            <a:r>
              <a:rPr lang="zh-CN" altLang="en-US" sz="2400" dirty="0">
                <a:solidFill>
                  <a:srgbClr val="0000FF"/>
                </a:solidFill>
              </a:rPr>
              <a:t>为减少开销，每个过程应优先使用哪些寄存器？</a:t>
            </a:r>
          </a:p>
        </p:txBody>
      </p:sp>
    </p:spTree>
    <p:extLst>
      <p:ext uri="{BB962C8B-B14F-4D97-AF65-F5344CB8AC3E}">
        <p14:creationId xmlns:p14="http://schemas.microsoft.com/office/powerpoint/2010/main" val="233187495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4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FBDF53"/>
      </a:accent1>
      <a:accent2>
        <a:srgbClr val="FF9966"/>
      </a:accent2>
      <a:accent3>
        <a:srgbClr val="FFFFFF"/>
      </a:accent3>
      <a:accent4>
        <a:srgbClr val="000000"/>
      </a:accent4>
      <a:accent5>
        <a:srgbClr val="FDECB3"/>
      </a:accent5>
      <a:accent6>
        <a:srgbClr val="E78A5C"/>
      </a:accent6>
      <a:hlink>
        <a:srgbClr val="CC3300"/>
      </a:hlink>
      <a:folHlink>
        <a:srgbClr val="FF33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14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FF33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FBDF53"/>
      </a:accent1>
      <a:accent2>
        <a:srgbClr val="FF9966"/>
      </a:accent2>
      <a:accent3>
        <a:srgbClr val="FFFFFF"/>
      </a:accent3>
      <a:accent4>
        <a:srgbClr val="000000"/>
      </a:accent4>
      <a:accent5>
        <a:srgbClr val="FDECB3"/>
      </a:accent5>
      <a:accent6>
        <a:srgbClr val="E78A5C"/>
      </a:accent6>
      <a:hlink>
        <a:srgbClr val="CC3300"/>
      </a:hlink>
      <a:folHlink>
        <a:srgbClr val="9966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FF7C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14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15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16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5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5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5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7900</Words>
  <Application>Microsoft Office PowerPoint</Application>
  <PresentationFormat>全屏显示(4:3)</PresentationFormat>
  <Paragraphs>1782</Paragraphs>
  <Slides>106</Slides>
  <Notes>1</Notes>
  <HiddenSlides>1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106</vt:i4>
      </vt:variant>
    </vt:vector>
  </HeadingPairs>
  <TitlesOfParts>
    <vt:vector size="133" baseType="lpstr">
      <vt:lpstr>ˎ̥</vt:lpstr>
      <vt:lpstr>MS PGothic</vt:lpstr>
      <vt:lpstr>MS PGothic</vt:lpstr>
      <vt:lpstr>新細明體</vt:lpstr>
      <vt:lpstr>等线</vt:lpstr>
      <vt:lpstr>方正舒体</vt:lpstr>
      <vt:lpstr>华文细黑</vt:lpstr>
      <vt:lpstr>华文新魏</vt:lpstr>
      <vt:lpstr>宋体</vt:lpstr>
      <vt:lpstr>微软雅黑</vt:lpstr>
      <vt:lpstr>Arial</vt:lpstr>
      <vt:lpstr>Calibri</vt:lpstr>
      <vt:lpstr>Century Gothic</vt:lpstr>
      <vt:lpstr>Courier New</vt:lpstr>
      <vt:lpstr>Garamond</vt:lpstr>
      <vt:lpstr>Helvetica</vt:lpstr>
      <vt:lpstr>Segoe UI Black</vt:lpstr>
      <vt:lpstr>Symbol</vt:lpstr>
      <vt:lpstr>Times</vt:lpstr>
      <vt:lpstr>Times New Roman</vt:lpstr>
      <vt:lpstr>Wingdings</vt:lpstr>
      <vt:lpstr>默认设计模板</vt:lpstr>
      <vt:lpstr>1_默认设计模板</vt:lpstr>
      <vt:lpstr>Office 主题​​</vt:lpstr>
      <vt:lpstr>1_Office 主题​​</vt:lpstr>
      <vt:lpstr>2_Office 主题​​</vt:lpstr>
      <vt:lpstr>Visio</vt:lpstr>
      <vt:lpstr>第5章 指令系统</vt:lpstr>
      <vt:lpstr>5.1指令系统概述</vt:lpstr>
      <vt:lpstr>5.1指令系统概述</vt:lpstr>
      <vt:lpstr>PowerPoint 演示文稿</vt:lpstr>
      <vt:lpstr>PowerPoint 演示文稿</vt:lpstr>
      <vt:lpstr>PowerPoint 演示文稿</vt:lpstr>
      <vt:lpstr>第5章 指令系统</vt:lpstr>
      <vt:lpstr>5.2 指令的格式 </vt:lpstr>
      <vt:lpstr>5.2.1 指令的基本格式</vt:lpstr>
      <vt:lpstr>PowerPoint 演示文稿</vt:lpstr>
      <vt:lpstr>5.2.2 指令的操作码格式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第5章 指令系统</vt:lpstr>
      <vt:lpstr>5.3寻址方式</vt:lpstr>
      <vt:lpstr>5.3.1指令寻址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不同寻址方式对比</vt:lpstr>
      <vt:lpstr>寻址方式举例</vt:lpstr>
      <vt:lpstr>PowerPoint 演示文稿</vt:lpstr>
      <vt:lpstr>PowerPoint 演示文稿</vt:lpstr>
      <vt:lpstr>PowerPoint 演示文稿</vt:lpstr>
      <vt:lpstr>PowerPoint 演示文稿</vt:lpstr>
      <vt:lpstr>第5章 指令系统</vt:lpstr>
      <vt:lpstr>5.4 指令的分类 </vt:lpstr>
      <vt:lpstr>举例：X86指令分类</vt:lpstr>
      <vt:lpstr>举例：X86指令分类</vt:lpstr>
      <vt:lpstr>举例：MIPS指令分类</vt:lpstr>
      <vt:lpstr>第5章 指令系统</vt:lpstr>
      <vt:lpstr>5.5 MIPS32指令简介 </vt:lpstr>
      <vt:lpstr>5.5.1 MIPS中的寄存器组</vt:lpstr>
      <vt:lpstr>5.5.1 MIPS中的寄存器组</vt:lpstr>
      <vt:lpstr>各寄存器分配的用途</vt:lpstr>
      <vt:lpstr>MIPS寄存器举例：R2000寄存器组织</vt:lpstr>
      <vt:lpstr>5.5 MIPS32指令简介 </vt:lpstr>
      <vt:lpstr>5.5.2 MIPS的指令格式</vt:lpstr>
      <vt:lpstr>5.5.2 MIPS的指令格式</vt:lpstr>
      <vt:lpstr>5.5.2 MIPS的指令格式</vt:lpstr>
      <vt:lpstr>5.5.2 MIPS的指令格式</vt:lpstr>
      <vt:lpstr>5.5 MIPS32指令简介 </vt:lpstr>
      <vt:lpstr>5.5.3 MIPS的寻址方式</vt:lpstr>
      <vt:lpstr>第5章 指令系统</vt:lpstr>
      <vt:lpstr>5.6常用MIPS汇编指令</vt:lpstr>
      <vt:lpstr>5.6.1数据传送类指令</vt:lpstr>
      <vt:lpstr>5.6.1数据传送类指令</vt:lpstr>
      <vt:lpstr>请分析：</vt:lpstr>
      <vt:lpstr>5.6.1数据传送类指令</vt:lpstr>
      <vt:lpstr>5.6.1数据传送类指令</vt:lpstr>
      <vt:lpstr>MIPS指令举例</vt:lpstr>
      <vt:lpstr>MIPS指令举例【例2】：</vt:lpstr>
      <vt:lpstr>MIPS指令举例【例3】：</vt:lpstr>
      <vt:lpstr>5.6常用MIPS汇编指令</vt:lpstr>
      <vt:lpstr>5.6.2算术运算和逻辑运算指令</vt:lpstr>
      <vt:lpstr>5.6.2算术运算和逻辑运算指令</vt:lpstr>
      <vt:lpstr>比较指令 slt  slti</vt:lpstr>
      <vt:lpstr>5.6.2算术运算和逻辑运算指令</vt:lpstr>
      <vt:lpstr>逻辑运算：</vt:lpstr>
      <vt:lpstr>5.6常用MIPS汇编指令</vt:lpstr>
      <vt:lpstr>5.6.3移位类指令</vt:lpstr>
      <vt:lpstr>逻辑左移和右移：</vt:lpstr>
      <vt:lpstr>算术右移</vt:lpstr>
      <vt:lpstr>5.6常用MIPS汇编指令</vt:lpstr>
      <vt:lpstr>5.6.4程序控制类指令</vt:lpstr>
      <vt:lpstr>5.6.4程序控制类指令</vt:lpstr>
      <vt:lpstr>第5章 指令系统</vt:lpstr>
      <vt:lpstr>5.7 MISP指令与C语言程序的关系</vt:lpstr>
      <vt:lpstr>汇编语言的变量---寄存器</vt:lpstr>
      <vt:lpstr>5.7.1.实现C语言简单变量的运算</vt:lpstr>
      <vt:lpstr>5.7 MISP指令与C语言程序的关系</vt:lpstr>
      <vt:lpstr>5.7.2. 实现C语言中的数组访问</vt:lpstr>
      <vt:lpstr>5.7 MISP指令与C语言程序的关系</vt:lpstr>
      <vt:lpstr>5.7.3 实现C语言中的分支程序</vt:lpstr>
      <vt:lpstr>5.7.3 实现C语言中的分支程序</vt:lpstr>
      <vt:lpstr>5.7 MISP指令与C语言程序的关系</vt:lpstr>
      <vt:lpstr>5.7.4 实现C语言中的循环程序</vt:lpstr>
      <vt:lpstr>PowerPoint 演示文稿</vt:lpstr>
      <vt:lpstr>5.7 MISP指令与C语言程序的关系</vt:lpstr>
      <vt:lpstr>5.7.5  实现子程序调用 </vt:lpstr>
      <vt:lpstr>过程调用实现机制</vt:lpstr>
      <vt:lpstr>过程调用机制</vt:lpstr>
      <vt:lpstr>多级过程调用</vt:lpstr>
      <vt:lpstr>堆栈操作</vt:lpstr>
      <vt:lpstr>函数调用的机器级表示</vt:lpstr>
      <vt:lpstr>函数调用的机器级表示</vt:lpstr>
      <vt:lpstr>ISA寄存器使用约定 </vt:lpstr>
    </vt:vector>
  </TitlesOfParts>
  <Company>www.xunchi.com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第７章   指 令 系 统</dc:title>
  <dc:creator>kanglei</dc:creator>
  <cp:lastModifiedBy>kanglei</cp:lastModifiedBy>
  <cp:revision>73</cp:revision>
  <dcterms:created xsi:type="dcterms:W3CDTF">2011-08-26T07:59:45Z</dcterms:created>
  <dcterms:modified xsi:type="dcterms:W3CDTF">2021-09-22T13:11:43Z</dcterms:modified>
</cp:coreProperties>
</file>