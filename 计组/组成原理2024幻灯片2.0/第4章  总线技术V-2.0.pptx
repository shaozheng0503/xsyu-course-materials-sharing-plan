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  <p:sldMasterId id="2147483675" r:id="rId3"/>
  </p:sldMasterIdLst>
  <p:notesMasterIdLst>
    <p:notesMasterId r:id="rId62"/>
  </p:notesMasterIdLst>
  <p:sldIdLst>
    <p:sldId id="292" r:id="rId4"/>
    <p:sldId id="401" r:id="rId5"/>
    <p:sldId id="394" r:id="rId6"/>
    <p:sldId id="406" r:id="rId7"/>
    <p:sldId id="405" r:id="rId8"/>
    <p:sldId id="409" r:id="rId9"/>
    <p:sldId id="410" r:id="rId10"/>
    <p:sldId id="4790" r:id="rId11"/>
    <p:sldId id="407" r:id="rId12"/>
    <p:sldId id="408" r:id="rId13"/>
    <p:sldId id="785" r:id="rId14"/>
    <p:sldId id="411" r:id="rId15"/>
    <p:sldId id="412" r:id="rId16"/>
    <p:sldId id="396" r:id="rId17"/>
    <p:sldId id="402" r:id="rId18"/>
    <p:sldId id="786" r:id="rId19"/>
    <p:sldId id="791" r:id="rId20"/>
    <p:sldId id="4783" r:id="rId21"/>
    <p:sldId id="4784" r:id="rId22"/>
    <p:sldId id="726" r:id="rId23"/>
    <p:sldId id="800" r:id="rId24"/>
    <p:sldId id="4798" r:id="rId25"/>
    <p:sldId id="397" r:id="rId26"/>
    <p:sldId id="4799" r:id="rId27"/>
    <p:sldId id="793" r:id="rId28"/>
    <p:sldId id="794" r:id="rId29"/>
    <p:sldId id="795" r:id="rId30"/>
    <p:sldId id="796" r:id="rId31"/>
    <p:sldId id="398" r:id="rId32"/>
    <p:sldId id="4800" r:id="rId33"/>
    <p:sldId id="4801" r:id="rId34"/>
    <p:sldId id="4802" r:id="rId35"/>
    <p:sldId id="283" r:id="rId36"/>
    <p:sldId id="284" r:id="rId37"/>
    <p:sldId id="4806" r:id="rId38"/>
    <p:sldId id="4809" r:id="rId39"/>
    <p:sldId id="4810" r:id="rId40"/>
    <p:sldId id="4812" r:id="rId41"/>
    <p:sldId id="4811" r:id="rId42"/>
    <p:sldId id="399" r:id="rId43"/>
    <p:sldId id="734" r:id="rId44"/>
    <p:sldId id="731" r:id="rId45"/>
    <p:sldId id="733" r:id="rId46"/>
    <p:sldId id="4796" r:id="rId47"/>
    <p:sldId id="4794" r:id="rId48"/>
    <p:sldId id="400" r:id="rId49"/>
    <p:sldId id="4767" r:id="rId50"/>
    <p:sldId id="404" r:id="rId51"/>
    <p:sldId id="752" r:id="rId52"/>
    <p:sldId id="753" r:id="rId53"/>
    <p:sldId id="755" r:id="rId54"/>
    <p:sldId id="756" r:id="rId55"/>
    <p:sldId id="757" r:id="rId56"/>
    <p:sldId id="758" r:id="rId57"/>
    <p:sldId id="759" r:id="rId58"/>
    <p:sldId id="776" r:id="rId59"/>
    <p:sldId id="4813" r:id="rId60"/>
    <p:sldId id="778" r:id="rId6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64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565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AF4D207-DC3A-4320-A12A-6EE1AA596D8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7CC9638-7097-4C5E-B9CB-1669D2821F6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F1ECDB59-702D-4770-A256-3B9F0E0896B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3BD1874F-1F32-457C-93BB-F3C1E087A55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1555ABC3-7780-49B6-945F-D6F3ED1C79B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C0DBE48E-35E4-4A50-9A43-FD0A2D1205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EC108A3-8760-424E-81DA-47FD03EDD2D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134910-8A52-4BEA-A89B-D070EDCD3D5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916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CE584D-DA30-42E6-B6AB-C9D2BEA4D81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5388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108A3-8760-424E-81DA-47FD03EDD2DB}" type="slidenum">
              <a:rPr lang="en-US" altLang="zh-CN" smtClean="0"/>
              <a:pPr/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3905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6A49DF-507E-42BC-AF3B-F0B08DC51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CBCDC7A-E715-4990-93C3-2060018205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168E14-1A10-44F8-98CB-647FD10D3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5D43D2-BD9C-407E-B118-A2C02BDBB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2F6444-79F5-4904-96C5-D09339804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0609AD-87D4-4772-85C1-DC22C267ECC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9831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0D1E17-092E-406C-8A2C-376115220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8FCE2A-2D03-4B4E-A70A-6F8FA73E2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32C7F8-A011-4E09-A77A-123C7495E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390475-4CF7-44CD-985E-9BEBD4F4C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744FA2-4499-4A2C-81BE-B06E65E0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3DA337-5428-4A65-B4C5-0BF0BF88ACD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5914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83D92D-9E10-4DD3-88C3-B9F720651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609ECB-4CA4-4594-ACEA-781A6A2EF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B06475-1E23-417A-95BB-43C494CBF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BDD029-DE5C-4F8C-B748-E2ABE55D3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97521D-4B11-4794-808F-158E61646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F1EF61-FD45-464D-A74E-A03CBF41171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7100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2604E6-A10D-444D-A9CA-D7C75D317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8C77E3-D49D-4245-B3C3-282520F464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1F0892-2D56-46E1-AEC5-3ED6BF1B2E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221A47-37D7-4B77-BFDE-44C2A251A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A52F92-B679-4C92-B473-EDF9D02C7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4D42C6-4217-4C6C-ACAE-935454715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2297A5-9F12-496A-BC31-DA6ABCB9321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9629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43EE19-B6C5-4459-92AB-4AA8DFD26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A2D17B-8E85-4E48-884A-2212711DB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81B3124-B88A-40C3-BF24-5317BF36D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5D30323-DB63-42EC-966F-5BFB6E0A8F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99D4E72-2BF7-4B98-A206-34F3692A78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F353A8D-BCAA-4C0D-BD80-FE92F6633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E996BE6-E9BB-466F-B0D7-C19048B4A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B3E1E68-4A64-49BA-9F7C-DF5CBA7F5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CAA4C7-ED77-469E-B974-490FB478CED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3231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035736-2279-4CE9-BAD9-BA2A91FC7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71A6FB-D185-4303-8B21-E51762A24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B4823D-C021-4C93-9304-7E4FA6E78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01C2CA-5D20-44C1-BFA3-94D093B2A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6887E-7C99-44D8-B275-2CECD5EE755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6161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7F18AB7-5842-484B-8457-CE42B21F8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9C30E32-CA2B-4E11-A168-15C518ADF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E5983A-8873-4CDB-BE4A-D4770A028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6F6E42-977A-49A7-B535-C56BB998BB0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4637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22354B-BA54-4710-A13F-867A2DB79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0FBDAA-558A-4550-B640-41C67E43D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90458AD-BF5D-4B70-A703-ADEDAFBAD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7F4819-AAFE-41D1-99D4-8E6B5F8DD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225B49-55D6-490C-A23A-E707BBA1A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6E8B7B-4DAA-46D2-94E1-66A81DA1A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BCA33C-F412-4B26-9A5F-F3808BEDC91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6988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CAA303-4215-4A62-906E-84C2B608D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3142989-F567-4E56-8A9B-F0C1BD9EA9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8676B5-ED9D-49A6-A5A9-7097F26D24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0F4968-387A-4B94-99FD-55A7BA61A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28D7AE-B623-4CC6-A68E-ED828A035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6E2806-D8C0-4E8E-8286-2426A0F76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BD6B33-0445-487C-89BE-2565727ECA8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5017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7009CC-3F33-4B37-AE1A-7B3756344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286910C-F057-4A5C-8B47-7C715178A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E7DB3A-6CBE-4CE5-802F-B59489CE3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9AC89C-0A93-4588-8837-0AD17F1BB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F6FFA7-8766-4D5F-92AA-6B007EF2A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0BF4FB-7424-46C1-94F5-1ADE667E293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4289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B58ABD9-F9F9-430B-9BEE-B561008B0F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2FE4E6-1C34-4A8F-9E45-B4E71764A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E785EB-DABE-4068-A477-A2CD6517D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BFBF49-B691-4F41-AA93-8005FF0B2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A5461A-69B7-4C6E-8CE1-0AD7A1D55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F5A612-CDB1-485C-9CC1-7F753D142A2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8476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52D12CA-A4C5-4D17-AB9B-199B9448733A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51FA947-138C-482D-AFDE-EE1568E31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09A8B9F-0DD8-4725-B08F-734C1F6A8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71DE2D6-64D7-43D1-BD95-8A656BDD3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3D4A8370-A84D-4233-8055-CEAFA12C25B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5503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9E0306A-A9CD-4A5B-BB4D-82E424284C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6B4D840-F7ED-48B2-8A51-BDEFF4A487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E83D861-592C-4107-AAE9-2C950D869D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26FB09-20A5-4E31-8768-E8A97922A0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48068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小节-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>
            <a:lvl1pPr marL="342900" indent="-342900">
              <a:buFont typeface="Wingdings" panose="05000000000000000000" pitchFamily="2" charset="2"/>
              <a:buChar char="Ø"/>
              <a:defRPr/>
            </a:lvl1pPr>
            <a:lvl4pPr marL="1600200" indent="-228600">
              <a:buFont typeface="Wingdings" panose="05000000000000000000" pitchFamily="2" charset="2"/>
              <a:buChar char="ü"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E04731-956D-4BFC-A37C-EA0730D3FB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60D7006-225E-4D41-8512-EA6C91D06A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63AA916-5FCD-4D2D-B25B-244C8F8D2E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954188-0EA7-4523-A336-55B2F0DB7FE1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83692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正文-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>
            <a:lvl1pPr algn="l">
              <a:defRPr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>
            <a:lvl1pPr marL="457200" indent="-457200">
              <a:buFont typeface="Wingdings" panose="05000000000000000000" pitchFamily="2" charset="2"/>
              <a:buChar char="Ø"/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E04731-956D-4BFC-A37C-EA0730D3FB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60D7006-225E-4D41-8512-EA6C91D06A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63AA916-5FCD-4D2D-B25B-244C8F8D2E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954188-0EA7-4523-A336-55B2F0DB7FE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43653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7FBBD2A-0538-4161-AA06-714FDFE9AF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D3114CE-C4E4-46C3-8877-403346B936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3EB5360-B106-422A-9AF4-12CDE934A2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27FA34-EE99-4FF9-A764-CE42766E00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25489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40B2F1-B976-4915-9773-23EDFCED39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2FD7C3-1AF7-4E5D-88BD-30ABBEE878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CCA660-97F1-4F94-94DD-036014DB7E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849A8C-AFDF-4776-87F7-5C121FB5A2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38941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CD1B369-12BB-48FD-82A5-FAAE70C45A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ACC90E2-B68F-4498-BCEB-B9B819CB66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85F8B3A-D0C9-4014-92E8-9AD4B5D892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C3FCC4-40A7-49E6-AA79-D6291AE16D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67404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390E68A-CC7C-4E24-AA52-84DDE7DCB6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26B8D14-81FE-4BFE-8752-915018F701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8446DE8-AC60-4E19-A885-5112BB2D19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6D0735-4175-41F8-959D-ECBAE7E8E0A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57476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E07DBF9-B14D-4BE0-8DAC-DB75471A86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2B0B922-4769-45DD-87F0-2DF8F28F09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44764F6-5470-4F4F-A9CF-7B837B1789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7B7116-C353-474E-BB71-E44618B462D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82896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1B7AF1-95A6-4C41-8B72-BBBCF43E42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926F3A-159C-45F9-9DBA-3CAE969A86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6951E3-0EEB-4929-B8D4-0A9327C7F5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515E00-5743-440B-A8E8-A5F1175EF9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42196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DCE336-371C-4C40-ABDB-03EE67D544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76EE00-2C48-4573-BC6B-C6A043412C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88AF54-32F1-422B-A680-E26EF6130F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58D092-9956-4B7F-8CAB-1C5C90FD97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47824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9FCBEFB-3E04-4BC8-B2C4-FCC16AAF6E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DD0988C-DEB5-48E7-BFE9-55EBA87522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DA8D1A5-247B-48B6-89B4-45C0CEECF6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37D44C-EAC4-4EE0-BF5C-3693B47653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25855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03149C-F833-458B-B0AD-EEBC3C19D0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7F609F9-0CD7-4C4F-8F0E-A797B0C4C5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ED01381-AA37-49C7-8283-A307F7E9A0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D8FBCE-7420-45AB-BA36-BB0367C9B7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29069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34C77B-02CD-4B82-999D-BBCCD6798D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1944E3-2F7F-4B2A-ADD7-1276B074DC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8B753B-C1F7-4E74-83B8-22FCE32FE5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40E110-D7C0-431F-9F72-4F652A5F66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73280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3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51666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更新1--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5867" y="257615"/>
            <a:ext cx="7886700" cy="617641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365867" y="942764"/>
            <a:ext cx="7886699" cy="5637024"/>
          </a:xfrm>
          <a:prstGeom prst="rect">
            <a:avLst/>
          </a:prstGeom>
        </p:spPr>
        <p:txBody>
          <a:bodyPr/>
          <a:lstStyle>
            <a:lvl1pPr marL="257175" indent="-257175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  <a:defRPr sz="19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-266700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 sz="15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857250" indent="-171450" algn="just">
              <a:lnSpc>
                <a:spcPct val="150000"/>
              </a:lnSpc>
              <a:buClr>
                <a:schemeClr val="accent5"/>
              </a:buClr>
              <a:buFont typeface="Wingdings" panose="05000000000000000000" pitchFamily="2" charset="2"/>
              <a:buChar char="u"/>
              <a:defRPr sz="15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just">
              <a:lnSpc>
                <a:spcPct val="150000"/>
              </a:lnSpc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just">
              <a:lnSpc>
                <a:spcPct val="150000"/>
              </a:lnSpc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46193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2021/8/30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84633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2021/8/30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8878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2021/8/30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7948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2021/8/30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55966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3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33681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2021/8/30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917556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2021/8/30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0442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2021/8/30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08345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2021/8/30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87671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DA9CF-03F6-42E8-909A-D8D840B3AC4D}" type="datetimeFigureOut">
              <a:rPr lang="zh-CN" altLang="en-US" smtClean="0"/>
              <a:t>2021/8/30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B504D-74F3-442C-BEA0-A4B04CBF96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190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3F43F85-E650-49A6-9A8E-BE50DDF03F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EAECBFA-2FEF-4EFA-BD1F-68333795CD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81E66D9-3745-4A92-B540-8AE680937A8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526848-89F9-43EC-9938-9F6DDE45DA5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3B3DFDF-62BD-45C1-AD09-F3AF5391266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B156B09-A012-420D-8803-4836DEAF4C5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4DB2A1B-1202-4991-B338-9414B4EB34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98EC0BA-B38B-4E15-8C8B-8C3285FC99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A5DDBC9-CDC5-473C-B0D7-D7A228EFD24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1B4BE29-6975-4861-BB88-7501EF57B91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40A5E26-58E4-46C5-A2CA-EED4963C649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BA316A10-C89F-4FD3-AE97-FD4C01C915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0309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2B2F23B-AF66-41A9-897D-44609AD9DFB7}" type="datetimeFigureOut">
              <a:rPr lang="zh-CN" altLang="en-US" smtClean="0"/>
              <a:t>2021/8/30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247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288">
          <p15:clr>
            <a:srgbClr val="F26B43"/>
          </p15:clr>
        </p15:guide>
        <p15:guide id="2" pos="3840">
          <p15:clr>
            <a:srgbClr val="F26B43"/>
          </p15:clr>
        </p15:guide>
        <p15:guide id="3" pos="416">
          <p15:clr>
            <a:srgbClr val="F26B43"/>
          </p15:clr>
        </p15:guide>
        <p15:guide id="4" pos="7256">
          <p15:clr>
            <a:srgbClr val="F26B43"/>
          </p15:clr>
        </p15:guide>
        <p15:guide id="5" orient="horz" pos="648">
          <p15:clr>
            <a:srgbClr val="F26B43"/>
          </p15:clr>
        </p15:guide>
        <p15:guide id="6" orient="horz" pos="712">
          <p15:clr>
            <a:srgbClr val="F26B43"/>
          </p15:clr>
        </p15:guide>
        <p15:guide id="7" orient="horz" pos="3928">
          <p15:clr>
            <a:srgbClr val="F26B43"/>
          </p15:clr>
        </p15:guide>
        <p15:guide id="8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7" Type="http://schemas.openxmlformats.org/officeDocument/2006/relationships/slide" Target="slide2.xml"/><Relationship Id="rId2" Type="http://schemas.openxmlformats.org/officeDocument/2006/relationships/slide" Target="slide15.xml"/><Relationship Id="rId1" Type="http://schemas.openxmlformats.org/officeDocument/2006/relationships/slideLayout" Target="../slideLayouts/slideLayout15.xml"/><Relationship Id="rId6" Type="http://schemas.openxmlformats.org/officeDocument/2006/relationships/slide" Target="slide48.xml"/><Relationship Id="rId5" Type="http://schemas.openxmlformats.org/officeDocument/2006/relationships/slide" Target="slide41.xml"/><Relationship Id="rId4" Type="http://schemas.openxmlformats.org/officeDocument/2006/relationships/slide" Target="slide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0.e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1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7.emf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49B2ACD-BCC3-42F3-8A46-1FF68D1E3F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第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b="1" dirty="0">
                <a:solidFill>
                  <a:srgbClr val="FF0000"/>
                </a:solidFill>
              </a:rPr>
              <a:t>章  总线技术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C153F71-F0B3-4B12-888B-BBC670D2D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4135" y="1412776"/>
            <a:ext cx="5544616" cy="4958011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4. 1  </a:t>
            </a:r>
            <a:r>
              <a:rPr lang="zh-CN" altLang="en-US" dirty="0"/>
              <a:t>总 线 概 述</a:t>
            </a:r>
          </a:p>
          <a:p>
            <a:pPr marL="0" indent="0">
              <a:buNone/>
            </a:pPr>
            <a:r>
              <a:rPr lang="en-US" altLang="zh-CN" dirty="0">
                <a:hlinkClick r:id="rId2" action="ppaction://hlinksldjump"/>
              </a:rPr>
              <a:t>4. 2  </a:t>
            </a:r>
            <a:r>
              <a:rPr lang="zh-CN" altLang="en-US" dirty="0">
                <a:hlinkClick r:id="rId2" action="ppaction://hlinksldjump"/>
              </a:rPr>
              <a:t>系统总线结构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>
                <a:hlinkClick r:id="rId3" action="ppaction://hlinksldjump"/>
              </a:rPr>
              <a:t>4. 3  </a:t>
            </a:r>
            <a:r>
              <a:rPr lang="zh-CN" altLang="en-US" dirty="0">
                <a:hlinkClick r:id="rId3" action="ppaction://hlinksldjump"/>
              </a:rPr>
              <a:t>总 线 仲 裁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>
                <a:hlinkClick r:id="rId4" action="ppaction://hlinksldjump"/>
              </a:rPr>
              <a:t>4. 4  </a:t>
            </a:r>
            <a:r>
              <a:rPr lang="zh-CN" altLang="en-US" dirty="0">
                <a:hlinkClick r:id="rId4" action="ppaction://hlinksldjump"/>
              </a:rPr>
              <a:t>总线的通信方式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>
                <a:hlinkClick r:id="rId5" action="ppaction://hlinksldjump"/>
              </a:rPr>
              <a:t>4. 5  </a:t>
            </a:r>
            <a:r>
              <a:rPr lang="zh-CN" altLang="en-US" dirty="0">
                <a:hlinkClick r:id="rId5" action="ppaction://hlinksldjump"/>
              </a:rPr>
              <a:t>总线的信息传送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>
                <a:hlinkClick r:id="rId6" action="ppaction://hlinksldjump"/>
              </a:rPr>
              <a:t>4. 6  </a:t>
            </a:r>
            <a:r>
              <a:rPr lang="zh-CN" altLang="en-US" dirty="0">
                <a:hlinkClick r:id="rId6" action="ppaction://hlinksldjump"/>
              </a:rPr>
              <a:t>总线标准简介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D67CA4-03D2-4867-8379-5DE67C6D1C43}"/>
              </a:ext>
            </a:extLst>
          </p:cNvPr>
          <p:cNvSpPr/>
          <p:nvPr/>
        </p:nvSpPr>
        <p:spPr>
          <a:xfrm>
            <a:off x="1324135" y="1412776"/>
            <a:ext cx="3078087" cy="5847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lvl="0" eaLnBrk="0" hangingPunct="0">
              <a:spcBef>
                <a:spcPct val="20000"/>
              </a:spcBef>
            </a:pPr>
            <a:r>
              <a:rPr lang="en-US" altLang="zh-CN" sz="3200" kern="0" dirty="0">
                <a:solidFill>
                  <a:srgbClr val="000000"/>
                </a:solidFill>
                <a:hlinkClick r:id="rId7" action="ppaction://hlinksldjump"/>
              </a:rPr>
              <a:t>4. 1  </a:t>
            </a:r>
            <a:r>
              <a:rPr lang="zh-CN" altLang="en-US" sz="3200" kern="0" dirty="0">
                <a:solidFill>
                  <a:srgbClr val="000000"/>
                </a:solidFill>
                <a:hlinkClick r:id="rId7" action="ppaction://hlinksldjump"/>
              </a:rPr>
              <a:t>总 线 概 述</a:t>
            </a:r>
            <a:endParaRPr lang="zh-CN" altLang="en-US" sz="3200" kern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CDE5FCC-DA86-4DE0-82C3-8E0656DD6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38" y="48948"/>
            <a:ext cx="8229600" cy="50405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总线的基本概念</a:t>
            </a:r>
          </a:p>
        </p:txBody>
      </p:sp>
      <p:sp>
        <p:nvSpPr>
          <p:cNvPr id="6" name="矩形 3">
            <a:extLst>
              <a:ext uri="{FF2B5EF4-FFF2-40B4-BE49-F238E27FC236}">
                <a16:creationId xmlns:a16="http://schemas.microsoft.com/office/drawing/2014/main" id="{AEABF46E-E73D-450C-8B68-AF3FC91510F0}"/>
              </a:ext>
            </a:extLst>
          </p:cNvPr>
          <p:cNvSpPr txBox="1">
            <a:spLocks noChangeArrowheads="1"/>
          </p:cNvSpPr>
          <p:nvPr/>
        </p:nvSpPr>
        <p:spPr>
          <a:xfrm>
            <a:off x="215713" y="688271"/>
            <a:ext cx="6255891" cy="563702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FFC000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812800" indent="-355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p"/>
              <a:defRPr sz="20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各功能部件间传递信息的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公共通路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比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点对点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控制简单，成本低、扩展性好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计算机体系结构的重要组成部分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可将各功能部件连接起来构成一个完整系统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系统中各部件间的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物理接口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，可减少通信复杂程度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提供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信息交换时所需的数据、地址、时序和控制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信息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遵循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协议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或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标准，方便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计算机系统集成、扩展和进化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不应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成为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整个计算机性能的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瓶颈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3C41550-821D-484C-81B0-8CCFE843FEB1}"/>
              </a:ext>
            </a:extLst>
          </p:cNvPr>
          <p:cNvGrpSpPr/>
          <p:nvPr/>
        </p:nvGrpSpPr>
        <p:grpSpPr>
          <a:xfrm>
            <a:off x="4427984" y="5013176"/>
            <a:ext cx="4585035" cy="1611152"/>
            <a:chOff x="6806738" y="1195313"/>
            <a:chExt cx="4585035" cy="1611152"/>
          </a:xfrm>
        </p:grpSpPr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39574093-1AF2-4EEF-A918-0ADAC2618888}"/>
                </a:ext>
              </a:extLst>
            </p:cNvPr>
            <p:cNvCxnSpPr/>
            <p:nvPr/>
          </p:nvCxnSpPr>
          <p:spPr>
            <a:xfrm>
              <a:off x="8566969" y="1495223"/>
              <a:ext cx="0" cy="625624"/>
            </a:xfrm>
            <a:prstGeom prst="line">
              <a:avLst/>
            </a:prstGeom>
            <a:noFill/>
            <a:ln w="38100" cap="sq" cmpd="sng" algn="ctr">
              <a:solidFill>
                <a:sysClr val="windowText" lastClr="000000">
                  <a:lumMod val="95000"/>
                  <a:lumOff val="5000"/>
                </a:sysClr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13D9D52A-A1B4-4650-8FB7-EE8ADE8FFDBA}"/>
                </a:ext>
              </a:extLst>
            </p:cNvPr>
            <p:cNvCxnSpPr/>
            <p:nvPr/>
          </p:nvCxnSpPr>
          <p:spPr>
            <a:xfrm>
              <a:off x="11127074" y="1503410"/>
              <a:ext cx="0" cy="633814"/>
            </a:xfrm>
            <a:prstGeom prst="line">
              <a:avLst/>
            </a:prstGeom>
            <a:noFill/>
            <a:ln w="38100" cap="sq" cmpd="sng" algn="ctr">
              <a:solidFill>
                <a:sysClr val="windowText" lastClr="000000">
                  <a:lumMod val="95000"/>
                  <a:lumOff val="5000"/>
                </a:sysClr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A5246EDA-FC0F-427D-8D90-CA272FA98EF5}"/>
                </a:ext>
              </a:extLst>
            </p:cNvPr>
            <p:cNvCxnSpPr/>
            <p:nvPr/>
          </p:nvCxnSpPr>
          <p:spPr>
            <a:xfrm>
              <a:off x="9626165" y="1495222"/>
              <a:ext cx="0" cy="633814"/>
            </a:xfrm>
            <a:prstGeom prst="line">
              <a:avLst/>
            </a:prstGeom>
            <a:noFill/>
            <a:ln w="38100" cap="sq" cmpd="sng" algn="ctr">
              <a:solidFill>
                <a:sysClr val="windowText" lastClr="000000">
                  <a:lumMod val="95000"/>
                  <a:lumOff val="5000"/>
                </a:sysClr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7756FD6D-18F5-41B6-AC2A-271C047DE0DE}"/>
                </a:ext>
              </a:extLst>
            </p:cNvPr>
            <p:cNvCxnSpPr/>
            <p:nvPr/>
          </p:nvCxnSpPr>
          <p:spPr>
            <a:xfrm>
              <a:off x="9887585" y="2282760"/>
              <a:ext cx="991925" cy="0"/>
            </a:xfrm>
            <a:prstGeom prst="line">
              <a:avLst/>
            </a:prstGeom>
            <a:noFill/>
            <a:ln w="38100" cap="sq" cmpd="sng" algn="ctr">
              <a:solidFill>
                <a:sysClr val="windowText" lastClr="000000">
                  <a:lumMod val="95000"/>
                  <a:lumOff val="5000"/>
                </a:sysClr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D46949AB-F109-4F05-9513-C10D403B07B4}"/>
                </a:ext>
              </a:extLst>
            </p:cNvPr>
            <p:cNvCxnSpPr/>
            <p:nvPr/>
          </p:nvCxnSpPr>
          <p:spPr>
            <a:xfrm>
              <a:off x="9887585" y="1345269"/>
              <a:ext cx="991925" cy="0"/>
            </a:xfrm>
            <a:prstGeom prst="line">
              <a:avLst/>
            </a:prstGeom>
            <a:noFill/>
            <a:ln w="38100" cap="sq" cmpd="sng" algn="ctr">
              <a:solidFill>
                <a:sysClr val="windowText" lastClr="000000">
                  <a:lumMod val="95000"/>
                  <a:lumOff val="5000"/>
                </a:sysClr>
              </a:solidFill>
              <a:prstDash val="solid"/>
              <a:miter lim="800000"/>
              <a:tailEnd type="none"/>
            </a:ln>
            <a:effectLst/>
          </p:spPr>
        </p:cxnSp>
        <p:sp>
          <p:nvSpPr>
            <p:cNvPr id="13" name="圆角矩形 8">
              <a:extLst>
                <a:ext uri="{FF2B5EF4-FFF2-40B4-BE49-F238E27FC236}">
                  <a16:creationId xmlns:a16="http://schemas.microsoft.com/office/drawing/2014/main" id="{111E80A5-046D-4711-B95B-9DF4A3BFA100}"/>
                </a:ext>
              </a:extLst>
            </p:cNvPr>
            <p:cNvSpPr/>
            <p:nvPr/>
          </p:nvSpPr>
          <p:spPr>
            <a:xfrm>
              <a:off x="9371460" y="1195313"/>
              <a:ext cx="512263" cy="299909"/>
            </a:xfrm>
            <a:prstGeom prst="roundRect">
              <a:avLst/>
            </a:prstGeom>
            <a:solidFill>
              <a:sysClr val="window" lastClr="FFFFFF"/>
            </a:solidFill>
            <a:ln w="19050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 vert="horz" wrap="square" lIns="86699" tIns="43349" rIns="86699" bIns="43349" numCol="1" anchor="ctr" anchorCtr="1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Black" panose="020B0A02040204020203" pitchFamily="34" charset="0"/>
                  <a:ea typeface="微软雅黑"/>
                  <a:cs typeface="Segoe UI Black" panose="020B0A02040204020203" pitchFamily="34" charset="0"/>
                </a:rPr>
                <a:t>A</a:t>
              </a:r>
              <a:endPara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Black" panose="020B0A02040204020203" pitchFamily="34" charset="0"/>
                <a:ea typeface="微软雅黑"/>
                <a:cs typeface="Segoe UI Black" panose="020B0A02040204020203" pitchFamily="34" charset="0"/>
              </a:endParaRPr>
            </a:p>
          </p:txBody>
        </p:sp>
        <p:sp>
          <p:nvSpPr>
            <p:cNvPr id="14" name="圆角矩形 9">
              <a:extLst>
                <a:ext uri="{FF2B5EF4-FFF2-40B4-BE49-F238E27FC236}">
                  <a16:creationId xmlns:a16="http://schemas.microsoft.com/office/drawing/2014/main" id="{D3377F3D-2527-48DF-A92D-D777C898B904}"/>
                </a:ext>
              </a:extLst>
            </p:cNvPr>
            <p:cNvSpPr/>
            <p:nvPr/>
          </p:nvSpPr>
          <p:spPr>
            <a:xfrm>
              <a:off x="10879510" y="1195313"/>
              <a:ext cx="512263" cy="299909"/>
            </a:xfrm>
            <a:prstGeom prst="roundRect">
              <a:avLst/>
            </a:prstGeom>
            <a:solidFill>
              <a:sysClr val="window" lastClr="FFFFFF"/>
            </a:solidFill>
            <a:ln w="19050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 vert="horz" wrap="square" lIns="86699" tIns="43349" rIns="86699" bIns="43349" numCol="1" anchor="ctr" anchorCtr="1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Black" panose="020B0A02040204020203" pitchFamily="34" charset="0"/>
                  <a:ea typeface="微软雅黑"/>
                  <a:cs typeface="Segoe UI Black" panose="020B0A02040204020203" pitchFamily="34" charset="0"/>
                </a:rPr>
                <a:t>B</a:t>
              </a:r>
              <a:endPara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Black" panose="020B0A02040204020203" pitchFamily="34" charset="0"/>
                <a:ea typeface="微软雅黑"/>
                <a:cs typeface="Segoe UI Black" panose="020B0A02040204020203" pitchFamily="34" charset="0"/>
              </a:endParaRPr>
            </a:p>
          </p:txBody>
        </p:sp>
        <p:sp>
          <p:nvSpPr>
            <p:cNvPr id="15" name="圆角矩形 25">
              <a:extLst>
                <a:ext uri="{FF2B5EF4-FFF2-40B4-BE49-F238E27FC236}">
                  <a16:creationId xmlns:a16="http://schemas.microsoft.com/office/drawing/2014/main" id="{57E4AA35-7087-4333-AE91-E30ECA3C96B9}"/>
                </a:ext>
              </a:extLst>
            </p:cNvPr>
            <p:cNvSpPr/>
            <p:nvPr/>
          </p:nvSpPr>
          <p:spPr>
            <a:xfrm>
              <a:off x="9371460" y="2129035"/>
              <a:ext cx="512263" cy="299909"/>
            </a:xfrm>
            <a:prstGeom prst="roundRect">
              <a:avLst/>
            </a:prstGeom>
            <a:solidFill>
              <a:sysClr val="window" lastClr="FFFFFF"/>
            </a:solidFill>
            <a:ln w="19050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 vert="horz" wrap="square" lIns="86699" tIns="43349" rIns="86699" bIns="43349" numCol="1" anchor="ctr" anchorCtr="1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Black" panose="020B0A02040204020203" pitchFamily="34" charset="0"/>
                  <a:ea typeface="微软雅黑"/>
                  <a:cs typeface="Segoe UI Black" panose="020B0A02040204020203" pitchFamily="34" charset="0"/>
                </a:rPr>
                <a:t>C</a:t>
              </a:r>
              <a:endPara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Black" panose="020B0A02040204020203" pitchFamily="34" charset="0"/>
                <a:ea typeface="微软雅黑"/>
                <a:cs typeface="Segoe UI Black" panose="020B0A02040204020203" pitchFamily="34" charset="0"/>
              </a:endParaRPr>
            </a:p>
          </p:txBody>
        </p:sp>
        <p:sp>
          <p:nvSpPr>
            <p:cNvPr id="16" name="圆角矩形 26">
              <a:extLst>
                <a:ext uri="{FF2B5EF4-FFF2-40B4-BE49-F238E27FC236}">
                  <a16:creationId xmlns:a16="http://schemas.microsoft.com/office/drawing/2014/main" id="{48BA95D8-A497-4180-A430-8ADCE754A5B6}"/>
                </a:ext>
              </a:extLst>
            </p:cNvPr>
            <p:cNvSpPr/>
            <p:nvPr/>
          </p:nvSpPr>
          <p:spPr>
            <a:xfrm>
              <a:off x="10879510" y="2129034"/>
              <a:ext cx="512263" cy="299909"/>
            </a:xfrm>
            <a:prstGeom prst="roundRect">
              <a:avLst/>
            </a:prstGeom>
            <a:solidFill>
              <a:sysClr val="window" lastClr="FFFFFF"/>
            </a:solidFill>
            <a:ln w="19050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 vert="horz" wrap="square" lIns="86699" tIns="43349" rIns="86699" bIns="43349" numCol="1" anchor="ctr" anchorCtr="1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Black" panose="020B0A02040204020203" pitchFamily="34" charset="0"/>
                  <a:ea typeface="微软雅黑"/>
                  <a:cs typeface="Segoe UI Black" panose="020B0A02040204020203" pitchFamily="34" charset="0"/>
                </a:rPr>
                <a:t>D</a:t>
              </a:r>
              <a:endPara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Black" panose="020B0A02040204020203" pitchFamily="34" charset="0"/>
                <a:ea typeface="微软雅黑"/>
                <a:cs typeface="Segoe UI Black" panose="020B0A02040204020203" pitchFamily="34" charset="0"/>
              </a:endParaRPr>
            </a:p>
          </p:txBody>
        </p:sp>
        <p:sp>
          <p:nvSpPr>
            <p:cNvPr id="17" name="圆角矩形 28">
              <a:extLst>
                <a:ext uri="{FF2B5EF4-FFF2-40B4-BE49-F238E27FC236}">
                  <a16:creationId xmlns:a16="http://schemas.microsoft.com/office/drawing/2014/main" id="{4B44C79E-ADA9-4E50-BADB-596597F3DED2}"/>
                </a:ext>
              </a:extLst>
            </p:cNvPr>
            <p:cNvSpPr/>
            <p:nvPr/>
          </p:nvSpPr>
          <p:spPr>
            <a:xfrm>
              <a:off x="6806738" y="1195315"/>
              <a:ext cx="512263" cy="299909"/>
            </a:xfrm>
            <a:prstGeom prst="roundRect">
              <a:avLst/>
            </a:prstGeom>
            <a:solidFill>
              <a:sysClr val="window" lastClr="FFFFFF"/>
            </a:solidFill>
            <a:ln w="19050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 vert="horz" wrap="square" lIns="86699" tIns="43349" rIns="86699" bIns="43349" numCol="1" anchor="ctr" anchorCtr="1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Black" panose="020B0A02040204020203" pitchFamily="34" charset="0"/>
                  <a:ea typeface="微软雅黑"/>
                  <a:cs typeface="Segoe UI Black" panose="020B0A02040204020203" pitchFamily="34" charset="0"/>
                </a:rPr>
                <a:t>A</a:t>
              </a:r>
              <a:endPara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Black" panose="020B0A02040204020203" pitchFamily="34" charset="0"/>
                <a:ea typeface="微软雅黑"/>
                <a:cs typeface="Segoe UI Black" panose="020B0A02040204020203" pitchFamily="34" charset="0"/>
              </a:endParaRPr>
            </a:p>
          </p:txBody>
        </p:sp>
        <p:sp>
          <p:nvSpPr>
            <p:cNvPr id="18" name="圆角矩形 29">
              <a:extLst>
                <a:ext uri="{FF2B5EF4-FFF2-40B4-BE49-F238E27FC236}">
                  <a16:creationId xmlns:a16="http://schemas.microsoft.com/office/drawing/2014/main" id="{0F690492-F83C-4F6D-8770-479394FEDD71}"/>
                </a:ext>
              </a:extLst>
            </p:cNvPr>
            <p:cNvSpPr/>
            <p:nvPr/>
          </p:nvSpPr>
          <p:spPr>
            <a:xfrm>
              <a:off x="8314788" y="1195315"/>
              <a:ext cx="512263" cy="299909"/>
            </a:xfrm>
            <a:prstGeom prst="roundRect">
              <a:avLst/>
            </a:prstGeom>
            <a:solidFill>
              <a:sysClr val="window" lastClr="FFFFFF"/>
            </a:solidFill>
            <a:ln w="19050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 vert="horz" wrap="square" lIns="86699" tIns="43349" rIns="86699" bIns="43349" numCol="1" anchor="ctr" anchorCtr="1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Black" panose="020B0A02040204020203" pitchFamily="34" charset="0"/>
                  <a:ea typeface="微软雅黑"/>
                  <a:cs typeface="Segoe UI Black" panose="020B0A02040204020203" pitchFamily="34" charset="0"/>
                </a:rPr>
                <a:t>B</a:t>
              </a:r>
              <a:endPara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Black" panose="020B0A02040204020203" pitchFamily="34" charset="0"/>
                <a:ea typeface="微软雅黑"/>
                <a:cs typeface="Segoe UI Black" panose="020B0A02040204020203" pitchFamily="34" charset="0"/>
              </a:endParaRPr>
            </a:p>
          </p:txBody>
        </p:sp>
        <p:sp>
          <p:nvSpPr>
            <p:cNvPr id="19" name="圆角矩形 30">
              <a:extLst>
                <a:ext uri="{FF2B5EF4-FFF2-40B4-BE49-F238E27FC236}">
                  <a16:creationId xmlns:a16="http://schemas.microsoft.com/office/drawing/2014/main" id="{B863903E-7466-4F8F-B87E-69BB311CED65}"/>
                </a:ext>
              </a:extLst>
            </p:cNvPr>
            <p:cNvSpPr/>
            <p:nvPr/>
          </p:nvSpPr>
          <p:spPr>
            <a:xfrm>
              <a:off x="6806738" y="2129037"/>
              <a:ext cx="512263" cy="299909"/>
            </a:xfrm>
            <a:prstGeom prst="roundRect">
              <a:avLst/>
            </a:prstGeom>
            <a:solidFill>
              <a:sysClr val="window" lastClr="FFFFFF"/>
            </a:solidFill>
            <a:ln w="19050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 vert="horz" wrap="square" lIns="86699" tIns="43349" rIns="86699" bIns="43349" numCol="1" anchor="ctr" anchorCtr="1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Black" panose="020B0A02040204020203" pitchFamily="34" charset="0"/>
                  <a:ea typeface="微软雅黑"/>
                  <a:cs typeface="Segoe UI Black" panose="020B0A02040204020203" pitchFamily="34" charset="0"/>
                </a:rPr>
                <a:t>C</a:t>
              </a:r>
              <a:endPara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Black" panose="020B0A02040204020203" pitchFamily="34" charset="0"/>
                <a:ea typeface="微软雅黑"/>
                <a:cs typeface="Segoe UI Black" panose="020B0A02040204020203" pitchFamily="34" charset="0"/>
              </a:endParaRPr>
            </a:p>
          </p:txBody>
        </p:sp>
        <p:sp>
          <p:nvSpPr>
            <p:cNvPr id="20" name="圆角矩形 31">
              <a:extLst>
                <a:ext uri="{FF2B5EF4-FFF2-40B4-BE49-F238E27FC236}">
                  <a16:creationId xmlns:a16="http://schemas.microsoft.com/office/drawing/2014/main" id="{F507AD7D-2AFE-4E05-A1DB-108409B7062F}"/>
                </a:ext>
              </a:extLst>
            </p:cNvPr>
            <p:cNvSpPr/>
            <p:nvPr/>
          </p:nvSpPr>
          <p:spPr>
            <a:xfrm>
              <a:off x="8314788" y="2129037"/>
              <a:ext cx="512263" cy="299909"/>
            </a:xfrm>
            <a:prstGeom prst="roundRect">
              <a:avLst/>
            </a:prstGeom>
            <a:solidFill>
              <a:sysClr val="window" lastClr="FFFFFF"/>
            </a:solidFill>
            <a:ln w="19050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 vert="horz" wrap="square" lIns="86699" tIns="43349" rIns="86699" bIns="43349" numCol="1" anchor="ctr" anchorCtr="1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Black" panose="020B0A02040204020203" pitchFamily="34" charset="0"/>
                  <a:ea typeface="微软雅黑"/>
                  <a:cs typeface="Segoe UI Black" panose="020B0A02040204020203" pitchFamily="34" charset="0"/>
                </a:rPr>
                <a:t>D</a:t>
              </a:r>
              <a:endPara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Black" panose="020B0A02040204020203" pitchFamily="34" charset="0"/>
                <a:ea typeface="微软雅黑"/>
                <a:cs typeface="Segoe UI Black" panose="020B0A02040204020203" pitchFamily="34" charset="0"/>
              </a:endParaRP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47495F12-B4BD-4A55-8FFF-1470F5EC4E7B}"/>
                </a:ext>
              </a:extLst>
            </p:cNvPr>
            <p:cNvCxnSpPr/>
            <p:nvPr/>
          </p:nvCxnSpPr>
          <p:spPr>
            <a:xfrm flipH="1">
              <a:off x="9883723" y="1495222"/>
              <a:ext cx="995787" cy="642002"/>
            </a:xfrm>
            <a:prstGeom prst="line">
              <a:avLst/>
            </a:prstGeom>
            <a:noFill/>
            <a:ln w="38100" cap="sq" cmpd="sng" algn="ctr">
              <a:solidFill>
                <a:sysClr val="windowText" lastClr="000000">
                  <a:lumMod val="95000"/>
                  <a:lumOff val="5000"/>
                </a:sysClr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C7015850-50AD-4E67-869E-18581EA803F5}"/>
                </a:ext>
              </a:extLst>
            </p:cNvPr>
            <p:cNvCxnSpPr/>
            <p:nvPr/>
          </p:nvCxnSpPr>
          <p:spPr>
            <a:xfrm>
              <a:off x="9883723" y="1503410"/>
              <a:ext cx="995787" cy="633814"/>
            </a:xfrm>
            <a:prstGeom prst="line">
              <a:avLst/>
            </a:prstGeom>
            <a:noFill/>
            <a:ln w="38100" cap="sq" cmpd="sng" algn="ctr">
              <a:solidFill>
                <a:sysClr val="windowText" lastClr="000000">
                  <a:lumMod val="95000"/>
                  <a:lumOff val="5000"/>
                </a:sysClr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D22BE806-10E6-48C9-8074-2EC19E67DB1E}"/>
                </a:ext>
              </a:extLst>
            </p:cNvPr>
            <p:cNvCxnSpPr/>
            <p:nvPr/>
          </p:nvCxnSpPr>
          <p:spPr>
            <a:xfrm>
              <a:off x="7056824" y="1503411"/>
              <a:ext cx="0" cy="625624"/>
            </a:xfrm>
            <a:prstGeom prst="line">
              <a:avLst/>
            </a:prstGeom>
            <a:noFill/>
            <a:ln w="38100" cap="sq" cmpd="sng" algn="ctr">
              <a:solidFill>
                <a:sysClr val="windowText" lastClr="000000">
                  <a:lumMod val="95000"/>
                  <a:lumOff val="5000"/>
                </a:sysClr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93FC8A77-C44D-4423-9868-C5F0F8076767}"/>
                </a:ext>
              </a:extLst>
            </p:cNvPr>
            <p:cNvCxnSpPr/>
            <p:nvPr/>
          </p:nvCxnSpPr>
          <p:spPr>
            <a:xfrm>
              <a:off x="6806738" y="1801846"/>
              <a:ext cx="2020313" cy="0"/>
            </a:xfrm>
            <a:prstGeom prst="straightConnector1">
              <a:avLst/>
            </a:prstGeom>
            <a:noFill/>
            <a:ln w="101600" cap="sq" cmpd="sng" algn="ctr">
              <a:solidFill>
                <a:srgbClr val="5B9BD5">
                  <a:lumMod val="75000"/>
                </a:srgbClr>
              </a:solidFill>
              <a:prstDash val="solid"/>
              <a:miter lim="800000"/>
              <a:headEnd type="none"/>
              <a:tailEnd type="none"/>
            </a:ln>
            <a:effectLst/>
          </p:spPr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F54857FE-6F4E-4DD1-9FE8-CFDD85D834A0}"/>
                </a:ext>
              </a:extLst>
            </p:cNvPr>
            <p:cNvSpPr txBox="1"/>
            <p:nvPr/>
          </p:nvSpPr>
          <p:spPr>
            <a:xfrm rot="16200000">
              <a:off x="7632228" y="1474223"/>
              <a:ext cx="369332" cy="411331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BUS</a:t>
              </a:r>
              <a:endParaRPr kumimoji="0" lang="zh-CN" altLang="en-US" sz="1200" b="1" i="0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5C500023-DFB4-4406-AEB0-2D3765BCD175}"/>
                </a:ext>
              </a:extLst>
            </p:cNvPr>
            <p:cNvSpPr txBox="1"/>
            <p:nvPr/>
          </p:nvSpPr>
          <p:spPr>
            <a:xfrm rot="16200000">
              <a:off x="10196950" y="2037023"/>
              <a:ext cx="369332" cy="1169551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点对点分散连接</a:t>
              </a:r>
              <a:endParaRPr kumimoji="0" lang="zh-CN" altLang="en-US" sz="1200" b="1" i="0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AD86A5AE-DD55-41EA-882C-983E7C94EEE8}"/>
                </a:ext>
              </a:extLst>
            </p:cNvPr>
            <p:cNvSpPr txBox="1"/>
            <p:nvPr/>
          </p:nvSpPr>
          <p:spPr>
            <a:xfrm rot="16200000">
              <a:off x="7632228" y="2105778"/>
              <a:ext cx="369332" cy="1015663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共享总线连接</a:t>
              </a:r>
              <a:endParaRPr kumimoji="0" lang="zh-CN" altLang="en-US" sz="1200" b="1" i="0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4920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77DF15-E172-4155-88DA-ED26DBCE8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4. 1  </a:t>
            </a:r>
            <a:r>
              <a:rPr lang="zh-CN" altLang="en-US" dirty="0"/>
              <a:t>总 线 概 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F21AE-8FE4-4E72-8FEB-81EE75A6E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6794"/>
            <a:ext cx="8229600" cy="4569371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altLang="zh-CN" dirty="0"/>
              <a:t>4. 1. 1  </a:t>
            </a:r>
            <a:r>
              <a:rPr lang="zh-CN" altLang="en-US" dirty="0"/>
              <a:t>总线分类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altLang="zh-CN" dirty="0"/>
              <a:t>4. 1. 2  </a:t>
            </a:r>
            <a:r>
              <a:rPr lang="zh-CN" altLang="en-US" dirty="0"/>
              <a:t>总线性能指标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altLang="zh-CN" dirty="0"/>
              <a:t>4.1.3 </a:t>
            </a:r>
            <a:r>
              <a:rPr lang="zh-CN" altLang="en-US" dirty="0"/>
              <a:t>总线设计规范</a:t>
            </a:r>
          </a:p>
          <a:p>
            <a:pPr marL="0" indent="0">
              <a:spcBef>
                <a:spcPts val="1200"/>
              </a:spcBef>
              <a:buNone/>
            </a:pP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7021F6-595D-4D1A-9BC5-67C38B3573D3}"/>
              </a:ext>
            </a:extLst>
          </p:cNvPr>
          <p:cNvSpPr/>
          <p:nvPr/>
        </p:nvSpPr>
        <p:spPr>
          <a:xfrm>
            <a:off x="827584" y="1700808"/>
            <a:ext cx="3191899" cy="5847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lvl="0" eaLnBrk="0" hangingPunct="0">
              <a:spcBef>
                <a:spcPct val="20000"/>
              </a:spcBef>
            </a:pPr>
            <a:r>
              <a:rPr lang="en-US" altLang="zh-CN" sz="3200" kern="0" dirty="0">
                <a:solidFill>
                  <a:srgbClr val="000000"/>
                </a:solidFill>
              </a:rPr>
              <a:t>4. 1. 1  </a:t>
            </a:r>
            <a:r>
              <a:rPr lang="zh-CN" altLang="en-US" sz="3200" kern="0" dirty="0">
                <a:solidFill>
                  <a:srgbClr val="000000"/>
                </a:solidFill>
              </a:rPr>
              <a:t>总线分类</a:t>
            </a:r>
          </a:p>
        </p:txBody>
      </p:sp>
    </p:spTree>
    <p:extLst>
      <p:ext uri="{BB962C8B-B14F-4D97-AF65-F5344CB8AC3E}">
        <p14:creationId xmlns:p14="http://schemas.microsoft.com/office/powerpoint/2010/main" val="13055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19D4DC-D312-4325-956A-139458B20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4.1</a:t>
            </a:r>
            <a:r>
              <a:rPr lang="zh-CN" altLang="en-US" dirty="0"/>
              <a:t>总线分类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1CDB1C-4ED0-4478-B65A-8743D9C27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algn="just" eaLnBrk="1" fontAlgn="auto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kumimoji="1" lang="zh-CN" altLang="zh-CN" sz="24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按</a:t>
            </a:r>
            <a:r>
              <a:rPr kumimoji="1" lang="zh-CN" altLang="en-US" sz="24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总线</a:t>
            </a:r>
            <a:r>
              <a:rPr kumimoji="1" lang="zh-CN" altLang="zh-CN" sz="24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数量分</a:t>
            </a:r>
            <a:r>
              <a:rPr kumimoji="1" lang="en-US" altLang="zh-CN" sz="24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zh-CN" sz="2400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并行传输总线</a:t>
            </a:r>
            <a:r>
              <a:rPr lang="zh-CN" altLang="en-US" sz="2400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400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串行传输总线</a:t>
            </a:r>
            <a:endParaRPr lang="en-US" altLang="zh-CN" sz="2400" kern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algn="just" eaLnBrk="1" fontAlgn="auto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kumimoji="1" lang="zh-CN" altLang="zh-CN" sz="24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按传输方向分</a:t>
            </a:r>
            <a:r>
              <a:rPr kumimoji="1" lang="en-US" altLang="zh-CN" sz="24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zh-CN" sz="2400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单向传输总线</a:t>
            </a:r>
            <a:r>
              <a:rPr lang="zh-CN" altLang="en-US" sz="2400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400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双向传输总线</a:t>
            </a:r>
            <a:endParaRPr lang="en-US" altLang="zh-CN" sz="2400" kern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algn="just" eaLnBrk="1" fontAlgn="auto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kumimoji="1" lang="zh-CN" altLang="zh-CN" sz="24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按传输</a:t>
            </a:r>
            <a:r>
              <a:rPr kumimoji="1" lang="zh-CN" altLang="en-US" sz="24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速度</a:t>
            </a:r>
            <a:r>
              <a:rPr kumimoji="1" lang="zh-CN" altLang="zh-CN" sz="24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</a:t>
            </a:r>
            <a:r>
              <a:rPr kumimoji="1" lang="en-US" altLang="zh-CN" sz="24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sz="2400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高速</a:t>
            </a:r>
            <a:r>
              <a:rPr lang="zh-CN" altLang="zh-CN" sz="2400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</a:t>
            </a:r>
            <a:r>
              <a:rPr lang="zh-CN" altLang="en-US" sz="2400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、低速总线</a:t>
            </a:r>
            <a:r>
              <a:rPr lang="zh-CN" altLang="zh-CN" sz="2400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</a:t>
            </a:r>
            <a:endParaRPr lang="en-US" altLang="zh-CN" sz="2400" kern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algn="just" eaLnBrk="1" fontAlgn="auto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kumimoji="1" lang="zh-CN" altLang="zh-CN" sz="24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按</a:t>
            </a:r>
            <a:r>
              <a:rPr kumimoji="1" lang="zh-CN" altLang="en-US" sz="24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时序控制</a:t>
            </a:r>
            <a:r>
              <a:rPr kumimoji="1" lang="zh-CN" altLang="zh-CN" sz="24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</a:t>
            </a:r>
            <a:r>
              <a:rPr kumimoji="1" lang="en-US" altLang="zh-CN" sz="24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sz="2400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同步</a:t>
            </a:r>
            <a:r>
              <a:rPr lang="zh-CN" altLang="zh-CN" sz="2400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</a:t>
            </a:r>
            <a:r>
              <a:rPr lang="zh-CN" altLang="en-US" sz="2400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、异步</a:t>
            </a:r>
            <a:r>
              <a:rPr lang="zh-CN" altLang="zh-CN" sz="2400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</a:t>
            </a:r>
          </a:p>
          <a:p>
            <a:pPr marL="811213" lvl="2" indent="-365125" algn="just" eaLnBrk="1" fontAlgn="auto" hangingPunct="1"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Font typeface="Wingdings" panose="05000000000000000000" pitchFamily="2" charset="2"/>
              <a:buChar char="u"/>
            </a:pPr>
            <a:endParaRPr lang="zh-CN" altLang="en-US" sz="1900" kern="1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4488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19D4DC-D312-4325-956A-139458B20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4.1</a:t>
            </a:r>
            <a:r>
              <a:rPr lang="zh-CN" altLang="en-US" dirty="0"/>
              <a:t>总线分类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1CDB1C-4ED0-4478-B65A-8743D9C27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algn="just" eaLnBrk="1" fontAlgn="auto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kumimoji="1" lang="zh-CN" altLang="zh-CN" sz="24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按</a:t>
            </a:r>
            <a:r>
              <a:rPr kumimoji="1" lang="zh-CN" altLang="en-US" sz="24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总线的结构层次分类</a:t>
            </a:r>
            <a:r>
              <a:rPr kumimoji="1" lang="en-US" altLang="zh-CN" sz="24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 marL="812800" lvl="1" indent="-355600" algn="just" eaLnBrk="1" fontAlgn="auto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Font typeface="Wingdings" panose="05000000000000000000" pitchFamily="2" charset="2"/>
              <a:buChar char="u"/>
            </a:pPr>
            <a:r>
              <a:rPr lang="zh-CN" altLang="en-US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片内总线 </a:t>
            </a:r>
            <a:r>
              <a:rPr lang="en-US" altLang="zh-CN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lang="en-US" altLang="zh-CN" sz="20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CPU</a:t>
            </a:r>
            <a:r>
              <a:rPr lang="zh-CN" altLang="en-US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内各功能单元间的连线） </a:t>
            </a:r>
            <a:r>
              <a:rPr lang="en-US" altLang="zh-CN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AMBA</a:t>
            </a:r>
          </a:p>
          <a:p>
            <a:pPr marL="812800" lvl="1" indent="-355600" algn="just" eaLnBrk="1" fontAlgn="auto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Font typeface="Wingdings" panose="05000000000000000000" pitchFamily="2" charset="2"/>
              <a:buChar char="u"/>
            </a:pPr>
            <a:r>
              <a:rPr lang="zh-CN" altLang="en-US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局部总线（芯片之间的连线）</a:t>
            </a:r>
            <a:endParaRPr lang="en-US" altLang="zh-CN" sz="1900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812800" lvl="1" indent="-355600" algn="just" eaLnBrk="1" fontAlgn="auto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Font typeface="Wingdings" panose="05000000000000000000" pitchFamily="2" charset="2"/>
              <a:buChar char="u"/>
            </a:pPr>
            <a:r>
              <a:rPr lang="zh-CN" altLang="en-US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系统总线（系统内各部件间的连线） </a:t>
            </a:r>
            <a:r>
              <a:rPr lang="en-US" altLang="zh-CN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PCI</a:t>
            </a:r>
            <a:r>
              <a:rPr lang="zh-CN" altLang="en-US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、</a:t>
            </a:r>
            <a:r>
              <a:rPr lang="en-US" altLang="zh-CN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AGP</a:t>
            </a:r>
            <a:r>
              <a:rPr lang="zh-CN" altLang="en-US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等</a:t>
            </a:r>
            <a:endParaRPr lang="en-US" altLang="zh-CN" sz="1900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812800" lvl="1" indent="-355600" algn="just" eaLnBrk="1" fontAlgn="auto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Font typeface="Wingdings" panose="05000000000000000000" pitchFamily="2" charset="2"/>
              <a:buChar char="u"/>
            </a:pPr>
            <a:r>
              <a:rPr lang="zh-CN" altLang="en-US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外部总线                   </a:t>
            </a:r>
            <a:r>
              <a:rPr lang="en-US" altLang="zh-CN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USB</a:t>
            </a:r>
            <a:r>
              <a:rPr lang="zh-CN" altLang="en-US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、火线（</a:t>
            </a:r>
            <a:r>
              <a:rPr lang="en-US" altLang="zh-CN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IEEE-1394</a:t>
            </a:r>
            <a:r>
              <a:rPr lang="zh-CN" altLang="en-US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）等</a:t>
            </a:r>
          </a:p>
          <a:p>
            <a:pPr marL="342900" indent="-342900" algn="just" eaLnBrk="1" fontAlgn="auto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kumimoji="1" lang="zh-CN" altLang="en-US" sz="24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按照总线的功能</a:t>
            </a:r>
            <a:endParaRPr kumimoji="1" lang="en-US" altLang="zh-CN" sz="2400" b="1" kern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11213" lvl="2" indent="-365125" algn="just" eaLnBrk="1" fontAlgn="auto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Font typeface="Wingdings" panose="05000000000000000000" pitchFamily="2" charset="2"/>
              <a:buChar char="u"/>
            </a:pPr>
            <a:r>
              <a:rPr lang="zh-CN" altLang="en-US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数据总线（双向）</a:t>
            </a:r>
            <a:endParaRPr lang="en-US" altLang="zh-CN" sz="1900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11213" lvl="2" indent="-365125" algn="just" eaLnBrk="1" fontAlgn="auto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Font typeface="Wingdings" panose="05000000000000000000" pitchFamily="2" charset="2"/>
              <a:buChar char="u"/>
            </a:pPr>
            <a:r>
              <a:rPr lang="zh-CN" altLang="en-US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地址总线（单向）</a:t>
            </a:r>
            <a:endParaRPr lang="en-US" altLang="zh-CN" sz="1900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11213" lvl="2" indent="-365125" algn="just" eaLnBrk="1" fontAlgn="auto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Font typeface="Wingdings" panose="05000000000000000000" pitchFamily="2" charset="2"/>
              <a:buChar char="u"/>
            </a:pPr>
            <a:r>
              <a:rPr lang="zh-CN" altLang="en-US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控制总线（单向）</a:t>
            </a:r>
            <a:endParaRPr lang="en-US" altLang="zh-CN" sz="1900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8" descr="MCj03541600000[1]">
            <a:extLst>
              <a:ext uri="{FF2B5EF4-FFF2-40B4-BE49-F238E27FC236}">
                <a16:creationId xmlns:a16="http://schemas.microsoft.com/office/drawing/2014/main" id="{2F3EC62B-8EC5-4A72-B59B-EDB025305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3696392"/>
            <a:ext cx="1566771" cy="1406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4054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19D4DC-D312-4325-956A-139458B20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4.1</a:t>
            </a:r>
            <a:r>
              <a:rPr lang="zh-CN" altLang="en-US" dirty="0"/>
              <a:t>总线分类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1CDB1C-4ED0-4478-B65A-8743D9C27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algn="just" eaLnBrk="1" fontAlgn="auto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kumimoji="1" lang="zh-CN" altLang="zh-CN" sz="24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按</a:t>
            </a:r>
            <a:r>
              <a:rPr kumimoji="1" lang="zh-CN" altLang="en-US" sz="24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总线的结构层次分类</a:t>
            </a:r>
            <a:r>
              <a:rPr kumimoji="1" lang="en-US" altLang="zh-CN" sz="24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 marL="812800" lvl="1" indent="-355600" algn="just" eaLnBrk="1" fontAlgn="auto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Font typeface="Wingdings" panose="05000000000000000000" pitchFamily="2" charset="2"/>
              <a:buChar char="u"/>
            </a:pPr>
            <a:r>
              <a:rPr lang="zh-CN" altLang="en-US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片内总线 </a:t>
            </a:r>
            <a:r>
              <a:rPr lang="en-US" altLang="zh-CN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lang="en-US" altLang="zh-CN" sz="20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CPU</a:t>
            </a:r>
            <a:r>
              <a:rPr lang="zh-CN" altLang="en-US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内各功能单元间的连线） </a:t>
            </a:r>
            <a:r>
              <a:rPr lang="en-US" altLang="zh-CN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AMBA</a:t>
            </a:r>
          </a:p>
          <a:p>
            <a:pPr marL="812800" lvl="1" indent="-355600" algn="just" eaLnBrk="1" fontAlgn="auto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Font typeface="Wingdings" panose="05000000000000000000" pitchFamily="2" charset="2"/>
              <a:buChar char="u"/>
            </a:pPr>
            <a:r>
              <a:rPr lang="zh-CN" altLang="en-US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局部总线（芯片之间的连线）</a:t>
            </a:r>
            <a:endParaRPr lang="en-US" altLang="zh-CN" sz="1900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812800" lvl="1" indent="-355600" algn="just" eaLnBrk="1" fontAlgn="auto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Font typeface="Wingdings" panose="05000000000000000000" pitchFamily="2" charset="2"/>
              <a:buChar char="u"/>
            </a:pPr>
            <a:r>
              <a:rPr lang="zh-CN" altLang="en-US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系统总线（系统内各部件间的连线） </a:t>
            </a:r>
            <a:r>
              <a:rPr lang="en-US" altLang="zh-CN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PCI</a:t>
            </a:r>
            <a:r>
              <a:rPr lang="zh-CN" altLang="en-US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、</a:t>
            </a:r>
            <a:r>
              <a:rPr lang="en-US" altLang="zh-CN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AGP</a:t>
            </a:r>
            <a:r>
              <a:rPr lang="zh-CN" altLang="en-US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等</a:t>
            </a:r>
            <a:endParaRPr lang="en-US" altLang="zh-CN" sz="1900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812800" lvl="1" indent="-355600" algn="just" eaLnBrk="1" fontAlgn="auto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Font typeface="Wingdings" panose="05000000000000000000" pitchFamily="2" charset="2"/>
              <a:buChar char="u"/>
            </a:pPr>
            <a:r>
              <a:rPr lang="zh-CN" altLang="en-US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外部总线                   </a:t>
            </a:r>
            <a:r>
              <a:rPr lang="en-US" altLang="zh-CN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USB</a:t>
            </a:r>
            <a:r>
              <a:rPr lang="zh-CN" altLang="en-US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、火线（</a:t>
            </a:r>
            <a:r>
              <a:rPr lang="en-US" altLang="zh-CN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IEEE-1394</a:t>
            </a:r>
            <a:r>
              <a:rPr lang="zh-CN" altLang="en-US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）等</a:t>
            </a:r>
          </a:p>
          <a:p>
            <a:pPr marL="342900" indent="-342900" algn="just" eaLnBrk="1" fontAlgn="auto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kumimoji="1" lang="zh-CN" altLang="en-US" sz="24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按照总线的功能</a:t>
            </a:r>
            <a:endParaRPr kumimoji="1" lang="en-US" altLang="zh-CN" sz="2400" b="1" kern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11213" lvl="2" indent="-365125" algn="just" eaLnBrk="1" fontAlgn="auto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Font typeface="Wingdings" panose="05000000000000000000" pitchFamily="2" charset="2"/>
              <a:buChar char="u"/>
            </a:pPr>
            <a:r>
              <a:rPr lang="zh-CN" altLang="en-US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数据总线（双向）</a:t>
            </a:r>
            <a:endParaRPr lang="en-US" altLang="zh-CN" sz="1900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11213" lvl="2" indent="-365125" algn="just" eaLnBrk="1" fontAlgn="auto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Font typeface="Wingdings" panose="05000000000000000000" pitchFamily="2" charset="2"/>
              <a:buChar char="u"/>
            </a:pPr>
            <a:r>
              <a:rPr lang="zh-CN" altLang="en-US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地址总线（单向）</a:t>
            </a:r>
            <a:endParaRPr lang="en-US" altLang="zh-CN" sz="1900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11213" lvl="2" indent="-365125" algn="just" eaLnBrk="1" fontAlgn="auto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Font typeface="Wingdings" panose="05000000000000000000" pitchFamily="2" charset="2"/>
              <a:buChar char="u"/>
            </a:pPr>
            <a:r>
              <a:rPr lang="zh-CN" altLang="en-US" sz="19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控制总线（单向）</a:t>
            </a:r>
            <a:endParaRPr lang="en-US" altLang="zh-CN" sz="1900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8" descr="MCj03541600000[1]">
            <a:extLst>
              <a:ext uri="{FF2B5EF4-FFF2-40B4-BE49-F238E27FC236}">
                <a16:creationId xmlns:a16="http://schemas.microsoft.com/office/drawing/2014/main" id="{2F3EC62B-8EC5-4A72-B59B-EDB025305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3696392"/>
            <a:ext cx="1566771" cy="1406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2151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93526F-D0CB-4A23-8605-713F489F8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4.1</a:t>
            </a:r>
            <a:r>
              <a:rPr lang="zh-CN" altLang="en-US" dirty="0"/>
              <a:t>总线分类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2645E96-7088-4441-BF44-95D3890A9115}"/>
              </a:ext>
            </a:extLst>
          </p:cNvPr>
          <p:cNvSpPr txBox="1">
            <a:spLocks/>
          </p:cNvSpPr>
          <p:nvPr/>
        </p:nvSpPr>
        <p:spPr>
          <a:xfrm>
            <a:off x="241943" y="1527605"/>
            <a:ext cx="2468618" cy="437885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FFC000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812800" indent="-355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p"/>
              <a:defRPr sz="20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数据总线   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传送数据信息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双向传输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地址总线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传送地址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单向传输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控制总线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传送控制信号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时序信号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电源、地线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5A8CF06-6AE0-44A7-8F4B-C4DAB812F0E0}"/>
              </a:ext>
            </a:extLst>
          </p:cNvPr>
          <p:cNvSpPr txBox="1"/>
          <p:nvPr/>
        </p:nvSpPr>
        <p:spPr>
          <a:xfrm>
            <a:off x="8302393" y="1822278"/>
            <a:ext cx="80611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地址总线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E356E1E-96D5-4F13-BA2F-EBB6FC8FCB96}"/>
              </a:ext>
            </a:extLst>
          </p:cNvPr>
          <p:cNvCxnSpPr/>
          <p:nvPr/>
        </p:nvCxnSpPr>
        <p:spPr>
          <a:xfrm>
            <a:off x="3019072" y="2559481"/>
            <a:ext cx="5273964" cy="0"/>
          </a:xfrm>
          <a:prstGeom prst="line">
            <a:avLst/>
          </a:prstGeom>
          <a:noFill/>
          <a:ln w="50800" cap="sq" cmpd="sng" algn="ctr">
            <a:solidFill>
              <a:sysClr val="windowText" lastClr="000000"/>
            </a:solidFill>
            <a:prstDash val="solid"/>
            <a:miter lim="800000"/>
            <a:headEnd type="none"/>
            <a:tailEnd type="none"/>
          </a:ln>
          <a:effectLst/>
        </p:spPr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D0F2102-D17E-4059-8310-1D6F13115F7F}"/>
              </a:ext>
            </a:extLst>
          </p:cNvPr>
          <p:cNvCxnSpPr/>
          <p:nvPr/>
        </p:nvCxnSpPr>
        <p:spPr>
          <a:xfrm>
            <a:off x="3019072" y="2254106"/>
            <a:ext cx="5250934" cy="0"/>
          </a:xfrm>
          <a:prstGeom prst="line">
            <a:avLst/>
          </a:prstGeom>
          <a:noFill/>
          <a:ln w="50800" cap="sq" cmpd="sng" algn="ctr">
            <a:solidFill>
              <a:sysClr val="windowText" lastClr="000000"/>
            </a:solidFill>
            <a:prstDash val="solid"/>
            <a:miter lim="800000"/>
            <a:headEnd type="none"/>
            <a:tailEnd type="none"/>
          </a:ln>
          <a:effectLst/>
        </p:spPr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E92D992-6AE7-4F89-9410-29ABB71E2717}"/>
              </a:ext>
            </a:extLst>
          </p:cNvPr>
          <p:cNvCxnSpPr/>
          <p:nvPr/>
        </p:nvCxnSpPr>
        <p:spPr>
          <a:xfrm>
            <a:off x="3035616" y="1948731"/>
            <a:ext cx="5273964" cy="0"/>
          </a:xfrm>
          <a:prstGeom prst="line">
            <a:avLst/>
          </a:prstGeom>
          <a:noFill/>
          <a:ln w="50800" cap="sq" cmpd="sng" algn="ctr">
            <a:solidFill>
              <a:sysClr val="windowText" lastClr="000000"/>
            </a:solidFill>
            <a:prstDash val="solid"/>
            <a:miter lim="800000"/>
            <a:headEnd type="none"/>
            <a:tailEnd type="none"/>
          </a:ln>
          <a:effectLst/>
        </p:spPr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FEE1B431-C98E-4B52-B8A0-E45E222A572A}"/>
              </a:ext>
            </a:extLst>
          </p:cNvPr>
          <p:cNvGrpSpPr/>
          <p:nvPr/>
        </p:nvGrpSpPr>
        <p:grpSpPr>
          <a:xfrm>
            <a:off x="5950854" y="1948731"/>
            <a:ext cx="925258" cy="1660479"/>
            <a:chOff x="6852559" y="805440"/>
            <a:chExt cx="925258" cy="1660479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8A5F21AD-C6FA-49D1-8D0B-1DE5A930D17E}"/>
                </a:ext>
              </a:extLst>
            </p:cNvPr>
            <p:cNvCxnSpPr/>
            <p:nvPr/>
          </p:nvCxnSpPr>
          <p:spPr>
            <a:xfrm flipV="1">
              <a:off x="7315189" y="1133197"/>
              <a:ext cx="0" cy="1063344"/>
            </a:xfrm>
            <a:prstGeom prst="line">
              <a:avLst/>
            </a:prstGeom>
            <a:noFill/>
            <a:ln w="25400" cap="sq" cmpd="sng" algn="ctr">
              <a:solidFill>
                <a:sysClr val="windowText" lastClr="000000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EC7770DE-9534-473F-9E33-EB6CCD09E4E0}"/>
                </a:ext>
              </a:extLst>
            </p:cNvPr>
            <p:cNvCxnSpPr/>
            <p:nvPr/>
          </p:nvCxnSpPr>
          <p:spPr>
            <a:xfrm flipV="1">
              <a:off x="7079664" y="805440"/>
              <a:ext cx="0" cy="939632"/>
            </a:xfrm>
            <a:prstGeom prst="line">
              <a:avLst/>
            </a:prstGeom>
            <a:noFill/>
            <a:ln w="25400" cap="sq" cmpd="sng" algn="ctr">
              <a:solidFill>
                <a:sysClr val="windowText" lastClr="000000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77E13C12-A283-4E2C-A3CD-81016B8DB56B}"/>
                </a:ext>
              </a:extLst>
            </p:cNvPr>
            <p:cNvCxnSpPr/>
            <p:nvPr/>
          </p:nvCxnSpPr>
          <p:spPr>
            <a:xfrm flipV="1">
              <a:off x="7546096" y="1416190"/>
              <a:ext cx="0" cy="335640"/>
            </a:xfrm>
            <a:prstGeom prst="line">
              <a:avLst/>
            </a:prstGeom>
            <a:noFill/>
            <a:ln w="25400" cap="sq" cmpd="sng" algn="ctr">
              <a:solidFill>
                <a:sysClr val="windowText" lastClr="000000"/>
              </a:solidFill>
              <a:prstDash val="solid"/>
              <a:miter lim="800000"/>
              <a:tailEnd type="none"/>
            </a:ln>
            <a:effectLst/>
          </p:spPr>
        </p:cxn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618B63BC-6488-4615-933A-5EC18282F1EB}"/>
                </a:ext>
              </a:extLst>
            </p:cNvPr>
            <p:cNvGrpSpPr/>
            <p:nvPr/>
          </p:nvGrpSpPr>
          <p:grpSpPr>
            <a:xfrm>
              <a:off x="6852559" y="1745071"/>
              <a:ext cx="925258" cy="316637"/>
              <a:chOff x="572854" y="4071207"/>
              <a:chExt cx="1167661" cy="435700"/>
            </a:xfrm>
          </p:grpSpPr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AEBC18E-2AB8-4DA3-8D3D-169DA99839F5}"/>
                  </a:ext>
                </a:extLst>
              </p:cNvPr>
              <p:cNvSpPr txBox="1"/>
              <p:nvPr/>
            </p:nvSpPr>
            <p:spPr>
              <a:xfrm>
                <a:off x="572855" y="4071207"/>
                <a:ext cx="1167660" cy="392362"/>
              </a:xfrm>
              <a:prstGeom prst="rect">
                <a:avLst/>
              </a:prstGeom>
              <a:solidFill>
                <a:srgbClr val="FDD11E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CE28F2C-8301-42A1-9C6B-24B85562D683}"/>
                  </a:ext>
                </a:extLst>
              </p:cNvPr>
              <p:cNvSpPr txBox="1"/>
              <p:nvPr/>
            </p:nvSpPr>
            <p:spPr>
              <a:xfrm>
                <a:off x="572854" y="4091581"/>
                <a:ext cx="1167660" cy="41532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I/O</a:t>
                </a:r>
                <a:r>
                  <a:rPr kumimoji="0" lang="zh-CN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接口</a:t>
                </a:r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CA49EB71-5FBA-4899-9126-A341F44285FA}"/>
                </a:ext>
              </a:extLst>
            </p:cNvPr>
            <p:cNvGrpSpPr/>
            <p:nvPr/>
          </p:nvGrpSpPr>
          <p:grpSpPr>
            <a:xfrm>
              <a:off x="6852560" y="2168831"/>
              <a:ext cx="925257" cy="297088"/>
              <a:chOff x="572855" y="4071207"/>
              <a:chExt cx="1167661" cy="392361"/>
            </a:xfrm>
          </p:grpSpPr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FCBEA25-4089-4F0D-B282-CB30AED2A089}"/>
                  </a:ext>
                </a:extLst>
              </p:cNvPr>
              <p:cNvSpPr txBox="1"/>
              <p:nvPr/>
            </p:nvSpPr>
            <p:spPr>
              <a:xfrm>
                <a:off x="572855" y="4071207"/>
                <a:ext cx="1167661" cy="392361"/>
              </a:xfrm>
              <a:prstGeom prst="rect">
                <a:avLst/>
              </a:prstGeom>
              <a:solidFill>
                <a:srgbClr val="79F5F9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356FD9E-F7D1-4D4B-8BA7-B398FD13252C}"/>
                  </a:ext>
                </a:extLst>
              </p:cNvPr>
              <p:cNvSpPr txBox="1"/>
              <p:nvPr/>
            </p:nvSpPr>
            <p:spPr>
              <a:xfrm>
                <a:off x="572855" y="4098587"/>
                <a:ext cx="1167661" cy="24919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I/O</a:t>
                </a:r>
                <a:r>
                  <a:rPr kumimoji="0" lang="zh-CN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设备</a:t>
                </a:r>
              </a:p>
            </p:txBody>
          </p:sp>
        </p:grp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6FF9164E-8991-4FA0-8188-908CED76BB63}"/>
              </a:ext>
            </a:extLst>
          </p:cNvPr>
          <p:cNvGrpSpPr/>
          <p:nvPr/>
        </p:nvGrpSpPr>
        <p:grpSpPr>
          <a:xfrm>
            <a:off x="3363089" y="1948731"/>
            <a:ext cx="466432" cy="1216181"/>
            <a:chOff x="7079664" y="879328"/>
            <a:chExt cx="466432" cy="872501"/>
          </a:xfrm>
        </p:grpSpPr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3C770DE8-4C09-4D77-8AA3-93F22DEB6CDF}"/>
                </a:ext>
              </a:extLst>
            </p:cNvPr>
            <p:cNvCxnSpPr/>
            <p:nvPr/>
          </p:nvCxnSpPr>
          <p:spPr>
            <a:xfrm flipV="1">
              <a:off x="7315189" y="1114464"/>
              <a:ext cx="0" cy="637365"/>
            </a:xfrm>
            <a:prstGeom prst="line">
              <a:avLst/>
            </a:prstGeom>
            <a:noFill/>
            <a:ln w="25400" cap="sq" cmpd="sng" algn="ctr">
              <a:solidFill>
                <a:sysClr val="windowText" lastClr="000000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0A22C3FA-164F-454B-B613-25520FCF300C}"/>
                </a:ext>
              </a:extLst>
            </p:cNvPr>
            <p:cNvCxnSpPr/>
            <p:nvPr/>
          </p:nvCxnSpPr>
          <p:spPr>
            <a:xfrm flipV="1">
              <a:off x="7079664" y="879328"/>
              <a:ext cx="0" cy="865744"/>
            </a:xfrm>
            <a:prstGeom prst="line">
              <a:avLst/>
            </a:prstGeom>
            <a:noFill/>
            <a:ln w="25400" cap="sq" cmpd="sng" algn="ctr">
              <a:solidFill>
                <a:sysClr val="windowText" lastClr="000000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6B108D6C-4560-470C-B7E8-B79542B2C617}"/>
                </a:ext>
              </a:extLst>
            </p:cNvPr>
            <p:cNvCxnSpPr/>
            <p:nvPr/>
          </p:nvCxnSpPr>
          <p:spPr>
            <a:xfrm flipV="1">
              <a:off x="7546096" y="1347026"/>
              <a:ext cx="0" cy="404803"/>
            </a:xfrm>
            <a:prstGeom prst="line">
              <a:avLst/>
            </a:prstGeom>
            <a:noFill/>
            <a:ln w="25400" cap="sq" cmpd="sng" algn="ctr">
              <a:solidFill>
                <a:sysClr val="windowText" lastClr="000000"/>
              </a:solidFill>
              <a:prstDash val="solid"/>
              <a:miter lim="800000"/>
              <a:tailEnd type="none"/>
            </a:ln>
            <a:effectLst/>
          </p:spPr>
        </p:cxn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1342CFA-07F8-4886-BA9F-FA3826EFA7EE}"/>
              </a:ext>
            </a:extLst>
          </p:cNvPr>
          <p:cNvGrpSpPr/>
          <p:nvPr/>
        </p:nvGrpSpPr>
        <p:grpSpPr>
          <a:xfrm>
            <a:off x="7384323" y="1948731"/>
            <a:ext cx="925258" cy="1660479"/>
            <a:chOff x="6852559" y="805440"/>
            <a:chExt cx="925258" cy="1660479"/>
          </a:xfrm>
        </p:grpSpPr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363C3632-265E-4F27-9F9A-22A92BB780E4}"/>
                </a:ext>
              </a:extLst>
            </p:cNvPr>
            <p:cNvCxnSpPr/>
            <p:nvPr/>
          </p:nvCxnSpPr>
          <p:spPr>
            <a:xfrm flipV="1">
              <a:off x="7315189" y="1110815"/>
              <a:ext cx="0" cy="1034220"/>
            </a:xfrm>
            <a:prstGeom prst="line">
              <a:avLst/>
            </a:prstGeom>
            <a:noFill/>
            <a:ln w="25400" cap="sq" cmpd="sng" algn="ctr">
              <a:solidFill>
                <a:sysClr val="windowText" lastClr="000000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26383EB3-AD9E-401D-B147-E6E8CB490D36}"/>
                </a:ext>
              </a:extLst>
            </p:cNvPr>
            <p:cNvCxnSpPr/>
            <p:nvPr/>
          </p:nvCxnSpPr>
          <p:spPr>
            <a:xfrm flipV="1">
              <a:off x="7079664" y="805440"/>
              <a:ext cx="0" cy="939632"/>
            </a:xfrm>
            <a:prstGeom prst="line">
              <a:avLst/>
            </a:prstGeom>
            <a:noFill/>
            <a:ln w="25400" cap="sq" cmpd="sng" algn="ctr">
              <a:solidFill>
                <a:sysClr val="windowText" lastClr="000000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04D6BC7D-419D-464A-BE33-EAEF3DE8951D}"/>
                </a:ext>
              </a:extLst>
            </p:cNvPr>
            <p:cNvCxnSpPr/>
            <p:nvPr/>
          </p:nvCxnSpPr>
          <p:spPr>
            <a:xfrm flipV="1">
              <a:off x="7546096" y="1416190"/>
              <a:ext cx="0" cy="335640"/>
            </a:xfrm>
            <a:prstGeom prst="line">
              <a:avLst/>
            </a:prstGeom>
            <a:noFill/>
            <a:ln w="25400" cap="sq" cmpd="sng" algn="ctr">
              <a:solidFill>
                <a:sysClr val="windowText" lastClr="000000"/>
              </a:solidFill>
              <a:prstDash val="solid"/>
              <a:miter lim="800000"/>
              <a:tailEnd type="none"/>
            </a:ln>
            <a:effectLst/>
          </p:spPr>
        </p:cxn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68517205-9BE9-4B03-A61B-C2CEAB752741}"/>
                </a:ext>
              </a:extLst>
            </p:cNvPr>
            <p:cNvGrpSpPr/>
            <p:nvPr/>
          </p:nvGrpSpPr>
          <p:grpSpPr>
            <a:xfrm>
              <a:off x="6852559" y="1745071"/>
              <a:ext cx="925258" cy="316637"/>
              <a:chOff x="572854" y="4071207"/>
              <a:chExt cx="1167661" cy="435700"/>
            </a:xfrm>
          </p:grpSpPr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F140A1F5-9F95-4E29-8DA8-2D48379BAF7A}"/>
                  </a:ext>
                </a:extLst>
              </p:cNvPr>
              <p:cNvSpPr txBox="1"/>
              <p:nvPr/>
            </p:nvSpPr>
            <p:spPr>
              <a:xfrm>
                <a:off x="572855" y="4071207"/>
                <a:ext cx="1167660" cy="392362"/>
              </a:xfrm>
              <a:prstGeom prst="rect">
                <a:avLst/>
              </a:prstGeom>
              <a:solidFill>
                <a:srgbClr val="FDD11E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8E045F4B-F671-444A-844E-24FCC50DC089}"/>
                  </a:ext>
                </a:extLst>
              </p:cNvPr>
              <p:cNvSpPr txBox="1"/>
              <p:nvPr/>
            </p:nvSpPr>
            <p:spPr>
              <a:xfrm>
                <a:off x="572854" y="4091581"/>
                <a:ext cx="1167660" cy="41532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I/O</a:t>
                </a:r>
                <a:r>
                  <a:rPr kumimoji="0" lang="zh-CN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接口</a:t>
                </a:r>
              </a:p>
            </p:txBody>
          </p: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7A1D271E-D070-49EE-B0A5-ECD7CC532DA1}"/>
                </a:ext>
              </a:extLst>
            </p:cNvPr>
            <p:cNvGrpSpPr/>
            <p:nvPr/>
          </p:nvGrpSpPr>
          <p:grpSpPr>
            <a:xfrm>
              <a:off x="6852560" y="2168831"/>
              <a:ext cx="925257" cy="297088"/>
              <a:chOff x="572855" y="4071207"/>
              <a:chExt cx="1167661" cy="392361"/>
            </a:xfrm>
          </p:grpSpPr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F553AE8-ECAB-4A07-9E68-96B5DBB28D5B}"/>
                  </a:ext>
                </a:extLst>
              </p:cNvPr>
              <p:cNvSpPr txBox="1"/>
              <p:nvPr/>
            </p:nvSpPr>
            <p:spPr>
              <a:xfrm>
                <a:off x="572855" y="4071207"/>
                <a:ext cx="1167661" cy="392361"/>
              </a:xfrm>
              <a:prstGeom prst="rect">
                <a:avLst/>
              </a:prstGeom>
              <a:solidFill>
                <a:srgbClr val="79F5F9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68A53026-5F74-4B64-A95A-B77A08AA0A2C}"/>
                  </a:ext>
                </a:extLst>
              </p:cNvPr>
              <p:cNvSpPr txBox="1"/>
              <p:nvPr/>
            </p:nvSpPr>
            <p:spPr>
              <a:xfrm>
                <a:off x="572855" y="4098587"/>
                <a:ext cx="1167661" cy="24919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I/O</a:t>
                </a:r>
                <a:r>
                  <a:rPr kumimoji="0" lang="zh-CN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设备</a:t>
                </a:r>
              </a:p>
            </p:txBody>
          </p:sp>
        </p:grp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5F377718-55BE-40AC-B7DA-17E9BC3E09A1}"/>
              </a:ext>
            </a:extLst>
          </p:cNvPr>
          <p:cNvSpPr txBox="1"/>
          <p:nvPr/>
        </p:nvSpPr>
        <p:spPr>
          <a:xfrm>
            <a:off x="8302393" y="2128903"/>
            <a:ext cx="80611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数据总线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292E6ED-4A7D-416F-A8D0-D61D1BB285CC}"/>
              </a:ext>
            </a:extLst>
          </p:cNvPr>
          <p:cNvSpPr txBox="1"/>
          <p:nvPr/>
        </p:nvSpPr>
        <p:spPr>
          <a:xfrm>
            <a:off x="8302393" y="2438296"/>
            <a:ext cx="80611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控制总线</a:t>
            </a: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24843FE-69E3-4889-B299-908E10208002}"/>
              </a:ext>
            </a:extLst>
          </p:cNvPr>
          <p:cNvGrpSpPr/>
          <p:nvPr/>
        </p:nvGrpSpPr>
        <p:grpSpPr>
          <a:xfrm>
            <a:off x="4791648" y="1948732"/>
            <a:ext cx="466432" cy="1391100"/>
            <a:chOff x="7079664" y="846400"/>
            <a:chExt cx="466432" cy="1163278"/>
          </a:xfrm>
        </p:grpSpPr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C867A617-37C0-4F32-A32B-78C6801DF5A9}"/>
                </a:ext>
              </a:extLst>
            </p:cNvPr>
            <p:cNvCxnSpPr/>
            <p:nvPr/>
          </p:nvCxnSpPr>
          <p:spPr>
            <a:xfrm flipV="1">
              <a:off x="7315189" y="1114464"/>
              <a:ext cx="0" cy="895214"/>
            </a:xfrm>
            <a:prstGeom prst="line">
              <a:avLst/>
            </a:prstGeom>
            <a:noFill/>
            <a:ln w="25400" cap="sq" cmpd="sng" algn="ctr">
              <a:solidFill>
                <a:sysClr val="windowText" lastClr="000000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217BCC88-CA66-45BB-99DB-DE6F718B3E5B}"/>
                </a:ext>
              </a:extLst>
            </p:cNvPr>
            <p:cNvCxnSpPr/>
            <p:nvPr/>
          </p:nvCxnSpPr>
          <p:spPr>
            <a:xfrm flipV="1">
              <a:off x="7079664" y="846400"/>
              <a:ext cx="0" cy="865744"/>
            </a:xfrm>
            <a:prstGeom prst="line">
              <a:avLst/>
            </a:prstGeom>
            <a:noFill/>
            <a:ln w="25400" cap="sq" cmpd="sng" algn="ctr">
              <a:solidFill>
                <a:sysClr val="windowText" lastClr="000000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58F1AC1-8E3F-4883-B0F6-DEF45F491986}"/>
                </a:ext>
              </a:extLst>
            </p:cNvPr>
            <p:cNvCxnSpPr/>
            <p:nvPr/>
          </p:nvCxnSpPr>
          <p:spPr>
            <a:xfrm flipV="1">
              <a:off x="7546096" y="1380017"/>
              <a:ext cx="0" cy="371812"/>
            </a:xfrm>
            <a:prstGeom prst="line">
              <a:avLst/>
            </a:prstGeom>
            <a:noFill/>
            <a:ln w="25400" cap="sq" cmpd="sng" algn="ctr">
              <a:solidFill>
                <a:sysClr val="windowText" lastClr="000000"/>
              </a:solidFill>
              <a:prstDash val="solid"/>
              <a:miter lim="800000"/>
              <a:tailEnd type="none"/>
            </a:ln>
            <a:effectLst/>
          </p:spPr>
        </p:cxn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8C9B79DD-C278-4FD3-A3B9-F2B05E840BE2}"/>
              </a:ext>
            </a:extLst>
          </p:cNvPr>
          <p:cNvGrpSpPr/>
          <p:nvPr/>
        </p:nvGrpSpPr>
        <p:grpSpPr>
          <a:xfrm>
            <a:off x="4362608" y="2883440"/>
            <a:ext cx="1294708" cy="717610"/>
            <a:chOff x="306942" y="3489599"/>
            <a:chExt cx="1675254" cy="973971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DDA3181A-EE8D-4986-A990-6132B90E34EA}"/>
                </a:ext>
              </a:extLst>
            </p:cNvPr>
            <p:cNvSpPr txBox="1"/>
            <p:nvPr/>
          </p:nvSpPr>
          <p:spPr>
            <a:xfrm>
              <a:off x="572855" y="4071210"/>
              <a:ext cx="1167661" cy="392360"/>
            </a:xfrm>
            <a:prstGeom prst="rect">
              <a:avLst/>
            </a:prstGeom>
            <a:solidFill>
              <a:srgbClr val="FB9562"/>
            </a:solidFill>
            <a:ln w="28575">
              <a:solidFill>
                <a:srgbClr val="0070C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AD5C5B56-2B0F-442A-9B5C-432E99E76E36}"/>
                </a:ext>
              </a:extLst>
            </p:cNvPr>
            <p:cNvSpPr txBox="1"/>
            <p:nvPr/>
          </p:nvSpPr>
          <p:spPr>
            <a:xfrm>
              <a:off x="602050" y="4081757"/>
              <a:ext cx="1167661" cy="29575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DRAM</a:t>
              </a:r>
              <a:endPara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FC798F4E-C4FB-4776-BA86-A6E3207613AF}"/>
                </a:ext>
              </a:extLst>
            </p:cNvPr>
            <p:cNvSpPr txBox="1"/>
            <p:nvPr/>
          </p:nvSpPr>
          <p:spPr>
            <a:xfrm>
              <a:off x="565434" y="3489599"/>
              <a:ext cx="1167661" cy="392360"/>
            </a:xfrm>
            <a:prstGeom prst="rect">
              <a:avLst/>
            </a:prstGeom>
            <a:solidFill>
              <a:srgbClr val="FB9562"/>
            </a:solidFill>
            <a:ln w="28575">
              <a:solidFill>
                <a:srgbClr val="0070C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1488A680-446E-4515-BD2C-9E7A3201E6ED}"/>
                </a:ext>
              </a:extLst>
            </p:cNvPr>
            <p:cNvSpPr txBox="1"/>
            <p:nvPr/>
          </p:nvSpPr>
          <p:spPr>
            <a:xfrm>
              <a:off x="306942" y="3501537"/>
              <a:ext cx="1675254" cy="35793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内存控制器</a:t>
              </a: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6FF87177-5C4D-4BE4-AA59-D24BD71E512D}"/>
              </a:ext>
            </a:extLst>
          </p:cNvPr>
          <p:cNvGrpSpPr/>
          <p:nvPr/>
        </p:nvGrpSpPr>
        <p:grpSpPr>
          <a:xfrm>
            <a:off x="3125353" y="2903167"/>
            <a:ext cx="934194" cy="813865"/>
            <a:chOff x="2978790" y="4508125"/>
            <a:chExt cx="934194" cy="813865"/>
          </a:xfrm>
        </p:grpSpPr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61FE775D-11B1-42B3-A349-0A4AEBF12664}"/>
                </a:ext>
              </a:extLst>
            </p:cNvPr>
            <p:cNvGrpSpPr/>
            <p:nvPr/>
          </p:nvGrpSpPr>
          <p:grpSpPr>
            <a:xfrm>
              <a:off x="2978790" y="4508125"/>
              <a:ext cx="932668" cy="813865"/>
              <a:chOff x="572855" y="4071209"/>
              <a:chExt cx="1203411" cy="457568"/>
            </a:xfrm>
          </p:grpSpPr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5EFB9328-0D32-4F2A-B12F-3A38A6C6385A}"/>
                  </a:ext>
                </a:extLst>
              </p:cNvPr>
              <p:cNvSpPr txBox="1"/>
              <p:nvPr/>
            </p:nvSpPr>
            <p:spPr>
              <a:xfrm>
                <a:off x="572855" y="4071209"/>
                <a:ext cx="1187543" cy="392361"/>
              </a:xfrm>
              <a:prstGeom prst="rect">
                <a:avLst/>
              </a:prstGeom>
              <a:solidFill>
                <a:srgbClr val="AECF00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EDCED347-D0FF-460B-A950-20AED6B63DC0}"/>
                  </a:ext>
                </a:extLst>
              </p:cNvPr>
              <p:cNvSpPr txBox="1"/>
              <p:nvPr/>
            </p:nvSpPr>
            <p:spPr>
              <a:xfrm>
                <a:off x="608605" y="4279582"/>
                <a:ext cx="1167661" cy="2491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CPU</a:t>
                </a:r>
                <a:endParaRPr kumimoji="0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DEEB6651-CD09-4E17-A927-23B94B83BCE2}"/>
                </a:ext>
              </a:extLst>
            </p:cNvPr>
            <p:cNvSpPr/>
            <p:nvPr/>
          </p:nvSpPr>
          <p:spPr>
            <a:xfrm>
              <a:off x="3153966" y="4581111"/>
              <a:ext cx="590749" cy="246536"/>
            </a:xfrm>
            <a:prstGeom prst="rect">
              <a:avLst/>
            </a:prstGeom>
            <a:solidFill>
              <a:srgbClr val="44546A">
                <a:lumMod val="20000"/>
                <a:lumOff val="8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05FC6760-40EE-45A0-BBB2-5C7AAE8C14EF}"/>
                </a:ext>
              </a:extLst>
            </p:cNvPr>
            <p:cNvSpPr txBox="1"/>
            <p:nvPr/>
          </p:nvSpPr>
          <p:spPr>
            <a:xfrm>
              <a:off x="3008022" y="4585011"/>
              <a:ext cx="904962" cy="2486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BIU</a:t>
              </a: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0" name="文本框 49">
            <a:extLst>
              <a:ext uri="{FF2B5EF4-FFF2-40B4-BE49-F238E27FC236}">
                <a16:creationId xmlns:a16="http://schemas.microsoft.com/office/drawing/2014/main" id="{17696FF4-F12F-433B-8EA9-3387CE08D490}"/>
              </a:ext>
            </a:extLst>
          </p:cNvPr>
          <p:cNvSpPr txBox="1"/>
          <p:nvPr/>
        </p:nvSpPr>
        <p:spPr>
          <a:xfrm>
            <a:off x="2614703" y="1843796"/>
            <a:ext cx="38117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系统总线</a:t>
            </a:r>
            <a:endParaRPr lang="en-US" altLang="zh-CN" sz="120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sz="120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1" name="内容占位符 2">
            <a:extLst>
              <a:ext uri="{FF2B5EF4-FFF2-40B4-BE49-F238E27FC236}">
                <a16:creationId xmlns:a16="http://schemas.microsoft.com/office/drawing/2014/main" id="{0EE49AF7-C643-4840-925B-6F5423C004A5}"/>
              </a:ext>
            </a:extLst>
          </p:cNvPr>
          <p:cNvSpPr txBox="1">
            <a:spLocks/>
          </p:cNvSpPr>
          <p:nvPr/>
        </p:nvSpPr>
        <p:spPr>
          <a:xfrm>
            <a:off x="3468978" y="4412978"/>
            <a:ext cx="5370023" cy="1698115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FFC000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812800" indent="-355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p"/>
              <a:defRPr sz="20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总线复用技术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可减少引脚，降低成本，性能下降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总线设备分类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主设备、从设备、总线主控技术</a:t>
            </a:r>
          </a:p>
        </p:txBody>
      </p:sp>
    </p:spTree>
    <p:extLst>
      <p:ext uri="{BB962C8B-B14F-4D97-AF65-F5344CB8AC3E}">
        <p14:creationId xmlns:p14="http://schemas.microsoft.com/office/powerpoint/2010/main" val="690172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7F015C-4340-419A-B4D3-29874C2C9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总线与三态门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21FA3C09-C42C-480C-991E-0A6525B853DF}"/>
              </a:ext>
            </a:extLst>
          </p:cNvPr>
          <p:cNvGrpSpPr/>
          <p:nvPr/>
        </p:nvGrpSpPr>
        <p:grpSpPr>
          <a:xfrm>
            <a:off x="1909979" y="1638669"/>
            <a:ext cx="5597444" cy="1044309"/>
            <a:chOff x="2225751" y="1835868"/>
            <a:chExt cx="7463258" cy="1392412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9955541E-3AC4-467F-8120-B9326C5301BF}"/>
                </a:ext>
              </a:extLst>
            </p:cNvPr>
            <p:cNvGrpSpPr/>
            <p:nvPr/>
          </p:nvGrpSpPr>
          <p:grpSpPr>
            <a:xfrm>
              <a:off x="4893237" y="1835868"/>
              <a:ext cx="2151795" cy="1392412"/>
              <a:chOff x="5653696" y="3849839"/>
              <a:chExt cx="2151795" cy="1392412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D0782D5-005B-4A6C-BF28-F20198ED00A4}"/>
                  </a:ext>
                </a:extLst>
              </p:cNvPr>
              <p:cNvSpPr txBox="1"/>
              <p:nvPr/>
            </p:nvSpPr>
            <p:spPr>
              <a:xfrm>
                <a:off x="7022798" y="4518656"/>
                <a:ext cx="782693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350" b="1">
                    <a:solidFill>
                      <a:srgbClr val="00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Q=A</a:t>
                </a:r>
                <a:endParaRPr lang="zh-CN" altLang="en-US" sz="1350" b="1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等腰三角形 5">
                <a:extLst>
                  <a:ext uri="{FF2B5EF4-FFF2-40B4-BE49-F238E27FC236}">
                    <a16:creationId xmlns:a16="http://schemas.microsoft.com/office/drawing/2014/main" id="{B6222BEB-92A1-43D6-9FFB-64501E6582BB}"/>
                  </a:ext>
                </a:extLst>
              </p:cNvPr>
              <p:cNvSpPr/>
              <p:nvPr/>
            </p:nvSpPr>
            <p:spPr>
              <a:xfrm rot="5400000" flipH="1">
                <a:off x="6246853" y="4496776"/>
                <a:ext cx="770675" cy="720276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5400">
                <a:solidFill>
                  <a:srgbClr val="000000"/>
                </a:solidFill>
                <a:round/>
                <a:headEnd/>
                <a:tailEnd type="triangle" w="lg" len="lg"/>
              </a:ln>
            </p:spPr>
            <p:txBody>
              <a:bodyPr vert="horz" wrap="square" lIns="65024" tIns="32512" rIns="65024" bIns="32512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2844" b="1">
                  <a:solidFill>
                    <a:srgbClr val="E7E6E6">
                      <a:lumMod val="75000"/>
                    </a:srgbClr>
                  </a:solidFill>
                  <a:latin typeface="Segoe UI Black" panose="020B0A02040204020203" pitchFamily="34" charset="0"/>
                  <a:ea typeface="微软雅黑"/>
                  <a:cs typeface="Segoe UI Black" panose="020B0A02040204020203" pitchFamily="34" charset="0"/>
                </a:endParaRPr>
              </a:p>
            </p:txBody>
          </p:sp>
          <p:sp>
            <p:nvSpPr>
              <p:cNvPr id="7" name="圆角矩形 57">
                <a:extLst>
                  <a:ext uri="{FF2B5EF4-FFF2-40B4-BE49-F238E27FC236}">
                    <a16:creationId xmlns:a16="http://schemas.microsoft.com/office/drawing/2014/main" id="{02A6FA4E-6559-4938-918C-20B066C1B2B3}"/>
                  </a:ext>
                </a:extLst>
              </p:cNvPr>
              <p:cNvSpPr/>
              <p:nvPr/>
            </p:nvSpPr>
            <p:spPr>
              <a:xfrm>
                <a:off x="6350217" y="4746039"/>
                <a:ext cx="327104" cy="217287"/>
              </a:xfrm>
              <a:prstGeom prst="roundRect">
                <a:avLst>
                  <a:gd name="adj" fmla="val 6762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350" b="1">
                  <a:solidFill>
                    <a:prstClr val="white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3131210E-6981-4F6F-93C3-1EBEC6FE1469}"/>
                  </a:ext>
                </a:extLst>
              </p:cNvPr>
              <p:cNvSpPr/>
              <p:nvPr/>
            </p:nvSpPr>
            <p:spPr>
              <a:xfrm>
                <a:off x="6580917" y="4835452"/>
                <a:ext cx="38574" cy="38574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350" b="1">
                  <a:solidFill>
                    <a:prstClr val="white"/>
                  </a:solidFill>
                  <a:latin typeface="微软雅黑"/>
                  <a:ea typeface="微软雅黑"/>
                </a:endParaRPr>
              </a:p>
            </p:txBody>
          </p: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98212283-B6E6-42E0-95A2-12CB6C894E8B}"/>
                  </a:ext>
                </a:extLst>
              </p:cNvPr>
              <p:cNvCxnSpPr/>
              <p:nvPr/>
            </p:nvCxnSpPr>
            <p:spPr>
              <a:xfrm>
                <a:off x="6430265" y="4853006"/>
                <a:ext cx="140620" cy="0"/>
              </a:xfrm>
              <a:prstGeom prst="line">
                <a:avLst/>
              </a:prstGeom>
              <a:noFill/>
              <a:ln w="34925" cap="rnd">
                <a:solidFill>
                  <a:srgbClr val="FF0000"/>
                </a:solidFill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2FE949B7-D8DC-4050-964F-C0AD917F3B5A}"/>
                  </a:ext>
                </a:extLst>
              </p:cNvPr>
              <p:cNvSpPr/>
              <p:nvPr/>
            </p:nvSpPr>
            <p:spPr>
              <a:xfrm>
                <a:off x="6380685" y="4835452"/>
                <a:ext cx="38574" cy="38574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350" b="1">
                  <a:solidFill>
                    <a:prstClr val="white"/>
                  </a:solidFill>
                  <a:latin typeface="微软雅黑"/>
                  <a:ea typeface="微软雅黑"/>
                </a:endParaRPr>
              </a:p>
            </p:txBody>
          </p: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8B9ED7AE-2B58-4C5C-9679-D4CCCFDB9F2B}"/>
                  </a:ext>
                </a:extLst>
              </p:cNvPr>
              <p:cNvCxnSpPr/>
              <p:nvPr/>
            </p:nvCxnSpPr>
            <p:spPr>
              <a:xfrm>
                <a:off x="6624253" y="4856916"/>
                <a:ext cx="1104186" cy="0"/>
              </a:xfrm>
              <a:prstGeom prst="line">
                <a:avLst/>
              </a:prstGeom>
              <a:noFill/>
              <a:ln w="19050" cap="sq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9E10891F-A7A9-4ACE-8920-472A1AC381C0}"/>
                  </a:ext>
                </a:extLst>
              </p:cNvPr>
              <p:cNvCxnSpPr/>
              <p:nvPr/>
            </p:nvCxnSpPr>
            <p:spPr>
              <a:xfrm>
                <a:off x="5658870" y="4853505"/>
                <a:ext cx="720812" cy="0"/>
              </a:xfrm>
              <a:prstGeom prst="line">
                <a:avLst/>
              </a:prstGeom>
              <a:noFill/>
              <a:ln w="19050" cap="sq">
                <a:solidFill>
                  <a:schemeClr val="tx1">
                    <a:lumMod val="95000"/>
                    <a:lumOff val="5000"/>
                  </a:schemeClr>
                </a:solidFill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FA37BB8D-A0CB-4B6B-9511-FEE5C74D23AD}"/>
                  </a:ext>
                </a:extLst>
              </p:cNvPr>
              <p:cNvCxnSpPr/>
              <p:nvPr/>
            </p:nvCxnSpPr>
            <p:spPr>
              <a:xfrm flipV="1">
                <a:off x="6500575" y="4206033"/>
                <a:ext cx="0" cy="625247"/>
              </a:xfrm>
              <a:prstGeom prst="line">
                <a:avLst/>
              </a:prstGeom>
              <a:noFill/>
              <a:ln w="19050" cap="sq">
                <a:solidFill>
                  <a:schemeClr val="tx1">
                    <a:lumMod val="95000"/>
                    <a:lumOff val="5000"/>
                  </a:schemeClr>
                </a:solidFill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38255B0-69D9-4833-BE3E-83622A335D23}"/>
                  </a:ext>
                </a:extLst>
              </p:cNvPr>
              <p:cNvSpPr txBox="1"/>
              <p:nvPr/>
            </p:nvSpPr>
            <p:spPr>
              <a:xfrm>
                <a:off x="5653696" y="4504694"/>
                <a:ext cx="419347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350" b="1">
                    <a:solidFill>
                      <a:srgbClr val="00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lang="zh-CN" altLang="en-US" sz="1350" b="1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ED35482-2157-4312-8597-E46558CB3713}"/>
                  </a:ext>
                </a:extLst>
              </p:cNvPr>
              <p:cNvSpPr txBox="1"/>
              <p:nvPr/>
            </p:nvSpPr>
            <p:spPr>
              <a:xfrm>
                <a:off x="5927275" y="3849839"/>
                <a:ext cx="1336263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350" b="1">
                    <a:solidFill>
                      <a:srgbClr val="00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Enable=1</a:t>
                </a:r>
                <a:endParaRPr lang="zh-CN" altLang="en-US" sz="1350" b="1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F26FFE81-7A76-426B-81AE-B3CA13B31FF3}"/>
                </a:ext>
              </a:extLst>
            </p:cNvPr>
            <p:cNvGrpSpPr/>
            <p:nvPr/>
          </p:nvGrpSpPr>
          <p:grpSpPr>
            <a:xfrm>
              <a:off x="7560724" y="1835868"/>
              <a:ext cx="2128285" cy="1392412"/>
              <a:chOff x="8281442" y="3862977"/>
              <a:chExt cx="2128285" cy="1392412"/>
            </a:xfrm>
          </p:grpSpPr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25CCAD3-AD42-4868-9973-88FC9C16302B}"/>
                  </a:ext>
                </a:extLst>
              </p:cNvPr>
              <p:cNvSpPr txBox="1"/>
              <p:nvPr/>
            </p:nvSpPr>
            <p:spPr>
              <a:xfrm>
                <a:off x="9650544" y="4531794"/>
                <a:ext cx="759183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350" b="1" dirty="0">
                    <a:solidFill>
                      <a:srgbClr val="00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Q=Z</a:t>
                </a:r>
                <a:endParaRPr lang="zh-CN" altLang="en-US" sz="1350" b="1" dirty="0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等腰三角形 17">
                <a:extLst>
                  <a:ext uri="{FF2B5EF4-FFF2-40B4-BE49-F238E27FC236}">
                    <a16:creationId xmlns:a16="http://schemas.microsoft.com/office/drawing/2014/main" id="{88FCCDF0-07A2-4783-B5F2-D05312E4E182}"/>
                  </a:ext>
                </a:extLst>
              </p:cNvPr>
              <p:cNvSpPr/>
              <p:nvPr/>
            </p:nvSpPr>
            <p:spPr>
              <a:xfrm rot="5400000" flipH="1">
                <a:off x="8874599" y="4509914"/>
                <a:ext cx="770675" cy="720276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5400">
                <a:solidFill>
                  <a:srgbClr val="000000"/>
                </a:solidFill>
                <a:round/>
                <a:headEnd/>
                <a:tailEnd type="triangle" w="lg" len="lg"/>
              </a:ln>
            </p:spPr>
            <p:txBody>
              <a:bodyPr vert="horz" wrap="square" lIns="65024" tIns="32512" rIns="65024" bIns="32512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2844" b="1">
                  <a:solidFill>
                    <a:srgbClr val="E7E6E6">
                      <a:lumMod val="75000"/>
                    </a:srgbClr>
                  </a:solidFill>
                  <a:latin typeface="Segoe UI Black" panose="020B0A02040204020203" pitchFamily="34" charset="0"/>
                  <a:ea typeface="微软雅黑"/>
                  <a:cs typeface="Segoe UI Black" panose="020B0A02040204020203" pitchFamily="34" charset="0"/>
                </a:endParaRPr>
              </a:p>
            </p:txBody>
          </p:sp>
          <p:sp>
            <p:nvSpPr>
              <p:cNvPr id="19" name="圆角矩形 84">
                <a:extLst>
                  <a:ext uri="{FF2B5EF4-FFF2-40B4-BE49-F238E27FC236}">
                    <a16:creationId xmlns:a16="http://schemas.microsoft.com/office/drawing/2014/main" id="{10FADEF7-C7BE-403D-B70A-CA1ECD4AD877}"/>
                  </a:ext>
                </a:extLst>
              </p:cNvPr>
              <p:cNvSpPr/>
              <p:nvPr/>
            </p:nvSpPr>
            <p:spPr>
              <a:xfrm>
                <a:off x="8977963" y="4759177"/>
                <a:ext cx="327104" cy="217287"/>
              </a:xfrm>
              <a:prstGeom prst="roundRect">
                <a:avLst>
                  <a:gd name="adj" fmla="val 6762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350" b="1">
                  <a:solidFill>
                    <a:prstClr val="white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21B9A24B-205A-47F0-8BCE-1EDD9D4423C3}"/>
                  </a:ext>
                </a:extLst>
              </p:cNvPr>
              <p:cNvSpPr/>
              <p:nvPr/>
            </p:nvSpPr>
            <p:spPr>
              <a:xfrm>
                <a:off x="9208663" y="4848590"/>
                <a:ext cx="38574" cy="38574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350" b="1">
                  <a:solidFill>
                    <a:prstClr val="white"/>
                  </a:solidFill>
                  <a:latin typeface="微软雅黑"/>
                  <a:ea typeface="微软雅黑"/>
                </a:endParaRPr>
              </a:p>
            </p:txBody>
          </p: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47E2CB5B-789C-4BAD-AED8-B8F01ED6760D}"/>
                  </a:ext>
                </a:extLst>
              </p:cNvPr>
              <p:cNvCxnSpPr/>
              <p:nvPr/>
            </p:nvCxnSpPr>
            <p:spPr>
              <a:xfrm rot="19800000" flipH="1" flipV="1">
                <a:off x="9047019" y="4816799"/>
                <a:ext cx="156301" cy="11906"/>
              </a:xfrm>
              <a:prstGeom prst="line">
                <a:avLst/>
              </a:prstGeom>
              <a:noFill/>
              <a:ln w="34925" cap="rnd">
                <a:solidFill>
                  <a:srgbClr val="FF0000"/>
                </a:solidFill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A858640F-5FDF-4A2C-9C0A-985A8E494B7E}"/>
                  </a:ext>
                </a:extLst>
              </p:cNvPr>
              <p:cNvSpPr/>
              <p:nvPr/>
            </p:nvSpPr>
            <p:spPr>
              <a:xfrm>
                <a:off x="9008431" y="4848590"/>
                <a:ext cx="38574" cy="38574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350" b="1">
                  <a:solidFill>
                    <a:prstClr val="white"/>
                  </a:solidFill>
                  <a:latin typeface="微软雅黑"/>
                  <a:ea typeface="微软雅黑"/>
                </a:endParaRPr>
              </a:p>
            </p:txBody>
          </p: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4C118C90-2030-4E0C-B87E-CC5F02805321}"/>
                  </a:ext>
                </a:extLst>
              </p:cNvPr>
              <p:cNvCxnSpPr/>
              <p:nvPr/>
            </p:nvCxnSpPr>
            <p:spPr>
              <a:xfrm>
                <a:off x="9251999" y="4870054"/>
                <a:ext cx="1104186" cy="0"/>
              </a:xfrm>
              <a:prstGeom prst="line">
                <a:avLst/>
              </a:prstGeom>
              <a:noFill/>
              <a:ln w="19050" cap="sq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462B39E3-B35F-46E2-8501-C2610676EE46}"/>
                  </a:ext>
                </a:extLst>
              </p:cNvPr>
              <p:cNvCxnSpPr/>
              <p:nvPr/>
            </p:nvCxnSpPr>
            <p:spPr>
              <a:xfrm>
                <a:off x="8286616" y="4866643"/>
                <a:ext cx="720812" cy="0"/>
              </a:xfrm>
              <a:prstGeom prst="line">
                <a:avLst/>
              </a:prstGeom>
              <a:noFill/>
              <a:ln w="19050" cap="sq">
                <a:solidFill>
                  <a:schemeClr val="tx1">
                    <a:lumMod val="95000"/>
                    <a:lumOff val="5000"/>
                  </a:schemeClr>
                </a:solidFill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6A6541CC-E471-4300-966E-0210436E1720}"/>
                  </a:ext>
                </a:extLst>
              </p:cNvPr>
              <p:cNvCxnSpPr/>
              <p:nvPr/>
            </p:nvCxnSpPr>
            <p:spPr>
              <a:xfrm flipV="1">
                <a:off x="9131001" y="4219171"/>
                <a:ext cx="0" cy="579414"/>
              </a:xfrm>
              <a:prstGeom prst="line">
                <a:avLst/>
              </a:prstGeom>
              <a:noFill/>
              <a:ln w="19050" cap="sq">
                <a:solidFill>
                  <a:schemeClr val="tx1">
                    <a:lumMod val="95000"/>
                    <a:lumOff val="5000"/>
                  </a:schemeClr>
                </a:solidFill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847AF89-7CE9-4183-A439-FE8C151D44ED}"/>
                  </a:ext>
                </a:extLst>
              </p:cNvPr>
              <p:cNvSpPr txBox="1"/>
              <p:nvPr/>
            </p:nvSpPr>
            <p:spPr>
              <a:xfrm>
                <a:off x="8281442" y="4517832"/>
                <a:ext cx="419347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350" b="1">
                    <a:solidFill>
                      <a:srgbClr val="00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lang="zh-CN" altLang="en-US" sz="1350" b="1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2C7AFED3-4146-493F-966C-BE794D59593E}"/>
                  </a:ext>
                </a:extLst>
              </p:cNvPr>
              <p:cNvSpPr txBox="1"/>
              <p:nvPr/>
            </p:nvSpPr>
            <p:spPr>
              <a:xfrm>
                <a:off x="8555021" y="3862977"/>
                <a:ext cx="1336262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350" b="1">
                    <a:solidFill>
                      <a:srgbClr val="00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Enable=0</a:t>
                </a:r>
                <a:endParaRPr lang="zh-CN" altLang="en-US" sz="1350" b="1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5F5794DE-D018-493F-8224-4EC257CBF297}"/>
                </a:ext>
              </a:extLst>
            </p:cNvPr>
            <p:cNvGrpSpPr/>
            <p:nvPr/>
          </p:nvGrpSpPr>
          <p:grpSpPr>
            <a:xfrm>
              <a:off x="2225751" y="1835868"/>
              <a:ext cx="2074743" cy="1392412"/>
              <a:chOff x="8281442" y="3862977"/>
              <a:chExt cx="2074743" cy="1392412"/>
            </a:xfrm>
          </p:grpSpPr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43A2B506-2FD7-493E-AAFD-859977D4FC3D}"/>
                  </a:ext>
                </a:extLst>
              </p:cNvPr>
              <p:cNvCxnSpPr/>
              <p:nvPr/>
            </p:nvCxnSpPr>
            <p:spPr>
              <a:xfrm flipV="1">
                <a:off x="9128321" y="4219173"/>
                <a:ext cx="0" cy="483325"/>
              </a:xfrm>
              <a:prstGeom prst="line">
                <a:avLst/>
              </a:prstGeom>
              <a:noFill/>
              <a:ln w="19050" cap="sq">
                <a:solidFill>
                  <a:schemeClr val="tx1">
                    <a:lumMod val="95000"/>
                    <a:lumOff val="5000"/>
                  </a:schemeClr>
                </a:solidFill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DE2C8F8-A4F4-42AF-AB90-B4310F26A247}"/>
                  </a:ext>
                </a:extLst>
              </p:cNvPr>
              <p:cNvSpPr txBox="1"/>
              <p:nvPr/>
            </p:nvSpPr>
            <p:spPr>
              <a:xfrm>
                <a:off x="9853740" y="4531794"/>
                <a:ext cx="434307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350" b="1">
                    <a:solidFill>
                      <a:srgbClr val="00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Q</a:t>
                </a:r>
                <a:endParaRPr lang="zh-CN" altLang="en-US" sz="1350" b="1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等腰三角形 30">
                <a:extLst>
                  <a:ext uri="{FF2B5EF4-FFF2-40B4-BE49-F238E27FC236}">
                    <a16:creationId xmlns:a16="http://schemas.microsoft.com/office/drawing/2014/main" id="{F63C3C6F-606D-469B-BDE9-F6B812A78801}"/>
                  </a:ext>
                </a:extLst>
              </p:cNvPr>
              <p:cNvSpPr/>
              <p:nvPr/>
            </p:nvSpPr>
            <p:spPr>
              <a:xfrm rot="5400000" flipH="1">
                <a:off x="8874599" y="4509914"/>
                <a:ext cx="770675" cy="720276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5400">
                <a:solidFill>
                  <a:srgbClr val="000000"/>
                </a:solidFill>
                <a:round/>
                <a:headEnd/>
                <a:tailEnd type="triangle" w="lg" len="lg"/>
              </a:ln>
            </p:spPr>
            <p:txBody>
              <a:bodyPr vert="horz" wrap="square" lIns="65024" tIns="32512" rIns="65024" bIns="32512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2844" b="1">
                  <a:solidFill>
                    <a:srgbClr val="E7E6E6">
                      <a:lumMod val="75000"/>
                    </a:srgbClr>
                  </a:solidFill>
                  <a:latin typeface="Segoe UI Black" panose="020B0A02040204020203" pitchFamily="34" charset="0"/>
                  <a:ea typeface="微软雅黑"/>
                  <a:cs typeface="Segoe UI Black" panose="020B0A02040204020203" pitchFamily="34" charset="0"/>
                </a:endParaRPr>
              </a:p>
            </p:txBody>
          </p: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132DC568-6678-490F-9D39-5FA26D4CB3EE}"/>
                  </a:ext>
                </a:extLst>
              </p:cNvPr>
              <p:cNvCxnSpPr>
                <a:stCxn id="31" idx="0"/>
              </p:cNvCxnSpPr>
              <p:nvPr/>
            </p:nvCxnSpPr>
            <p:spPr>
              <a:xfrm>
                <a:off x="9620075" y="4870052"/>
                <a:ext cx="736110" cy="2"/>
              </a:xfrm>
              <a:prstGeom prst="line">
                <a:avLst/>
              </a:prstGeom>
              <a:noFill/>
              <a:ln w="19050" cap="sq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FE8A9166-C194-4912-8723-C417D9903262}"/>
                  </a:ext>
                </a:extLst>
              </p:cNvPr>
              <p:cNvCxnSpPr>
                <a:endCxn id="31" idx="3"/>
              </p:cNvCxnSpPr>
              <p:nvPr/>
            </p:nvCxnSpPr>
            <p:spPr>
              <a:xfrm>
                <a:off x="8286616" y="4866643"/>
                <a:ext cx="613183" cy="3409"/>
              </a:xfrm>
              <a:prstGeom prst="line">
                <a:avLst/>
              </a:prstGeom>
              <a:noFill/>
              <a:ln w="19050" cap="sq">
                <a:solidFill>
                  <a:schemeClr val="tx1">
                    <a:lumMod val="95000"/>
                    <a:lumOff val="5000"/>
                  </a:schemeClr>
                </a:solidFill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2569F655-E98E-41EE-B2E3-55BC74443E2B}"/>
                  </a:ext>
                </a:extLst>
              </p:cNvPr>
              <p:cNvSpPr txBox="1"/>
              <p:nvPr/>
            </p:nvSpPr>
            <p:spPr>
              <a:xfrm>
                <a:off x="8281442" y="4517832"/>
                <a:ext cx="419347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350" b="1">
                    <a:solidFill>
                      <a:srgbClr val="00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lang="zh-CN" altLang="en-US" sz="1350" b="1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EAE6BF29-1859-476E-AE88-45B47A3577F2}"/>
                  </a:ext>
                </a:extLst>
              </p:cNvPr>
              <p:cNvSpPr txBox="1"/>
              <p:nvPr/>
            </p:nvSpPr>
            <p:spPr>
              <a:xfrm>
                <a:off x="8688371" y="3862977"/>
                <a:ext cx="1017801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350" b="1">
                    <a:solidFill>
                      <a:srgbClr val="00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Enable</a:t>
                </a:r>
                <a:endParaRPr lang="zh-CN" altLang="en-US" sz="1350" b="1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240CBB11-2979-4FEA-B988-790CC04988E3}"/>
              </a:ext>
            </a:extLst>
          </p:cNvPr>
          <p:cNvGrpSpPr/>
          <p:nvPr/>
        </p:nvGrpSpPr>
        <p:grpSpPr>
          <a:xfrm>
            <a:off x="617310" y="3350049"/>
            <a:ext cx="3913649" cy="1685968"/>
            <a:chOff x="823079" y="3323732"/>
            <a:chExt cx="5218198" cy="2247958"/>
          </a:xfrm>
        </p:grpSpPr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0C5DE726-BAE9-4806-A53A-18D73ABBAA03}"/>
                </a:ext>
              </a:extLst>
            </p:cNvPr>
            <p:cNvGrpSpPr/>
            <p:nvPr/>
          </p:nvGrpSpPr>
          <p:grpSpPr>
            <a:xfrm>
              <a:off x="2010170" y="3643611"/>
              <a:ext cx="356276" cy="1846644"/>
              <a:chOff x="3665698" y="3329231"/>
              <a:chExt cx="394481" cy="2044667"/>
            </a:xfrm>
          </p:grpSpPr>
          <p:cxnSp>
            <p:nvCxnSpPr>
              <p:cNvPr id="75" name="直接连接符 74">
                <a:extLst>
                  <a:ext uri="{FF2B5EF4-FFF2-40B4-BE49-F238E27FC236}">
                    <a16:creationId xmlns:a16="http://schemas.microsoft.com/office/drawing/2014/main" id="{EF130353-4BDF-4681-8BCE-38E2824209D7}"/>
                  </a:ext>
                </a:extLst>
              </p:cNvPr>
              <p:cNvCxnSpPr/>
              <p:nvPr/>
            </p:nvCxnSpPr>
            <p:spPr>
              <a:xfrm>
                <a:off x="3886016" y="3329231"/>
                <a:ext cx="0" cy="2044667"/>
              </a:xfrm>
              <a:prstGeom prst="line">
                <a:avLst/>
              </a:prstGeom>
              <a:noFill/>
              <a:ln w="19050" cap="sq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6" name="直接连接符 75">
                <a:extLst>
                  <a:ext uri="{FF2B5EF4-FFF2-40B4-BE49-F238E27FC236}">
                    <a16:creationId xmlns:a16="http://schemas.microsoft.com/office/drawing/2014/main" id="{F0CE176C-7826-40E7-B49F-D41D6EA82CEB}"/>
                  </a:ext>
                </a:extLst>
              </p:cNvPr>
              <p:cNvCxnSpPr/>
              <p:nvPr/>
            </p:nvCxnSpPr>
            <p:spPr>
              <a:xfrm>
                <a:off x="3665698" y="3970475"/>
                <a:ext cx="163043" cy="0"/>
              </a:xfrm>
              <a:prstGeom prst="line">
                <a:avLst/>
              </a:prstGeom>
              <a:noFill/>
              <a:ln w="19050" cap="sq">
                <a:solidFill>
                  <a:schemeClr val="tx1">
                    <a:lumMod val="95000"/>
                    <a:lumOff val="5000"/>
                  </a:schemeClr>
                </a:solidFill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7" name="等腰三角形 76">
                <a:extLst>
                  <a:ext uri="{FF2B5EF4-FFF2-40B4-BE49-F238E27FC236}">
                    <a16:creationId xmlns:a16="http://schemas.microsoft.com/office/drawing/2014/main" id="{C639FDE3-C3FB-4E90-B0D6-A8601E6D9472}"/>
                  </a:ext>
                </a:extLst>
              </p:cNvPr>
              <p:cNvSpPr/>
              <p:nvPr/>
            </p:nvSpPr>
            <p:spPr>
              <a:xfrm rot="10800000" flipH="1">
                <a:off x="3713041" y="3792487"/>
                <a:ext cx="347138" cy="324436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2225">
                <a:solidFill>
                  <a:srgbClr val="000000"/>
                </a:solidFill>
                <a:round/>
                <a:headEnd/>
                <a:tailEnd type="triangle" w="lg" len="lg"/>
              </a:ln>
            </p:spPr>
            <p:txBody>
              <a:bodyPr vert="horz" wrap="square" lIns="65024" tIns="32512" rIns="65024" bIns="32512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2844" b="1">
                  <a:solidFill>
                    <a:srgbClr val="E7E6E6">
                      <a:lumMod val="75000"/>
                    </a:srgbClr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A6B2AE50-8510-44C8-96ED-9D545773533C}"/>
                </a:ext>
              </a:extLst>
            </p:cNvPr>
            <p:cNvCxnSpPr/>
            <p:nvPr/>
          </p:nvCxnSpPr>
          <p:spPr>
            <a:xfrm>
              <a:off x="1731244" y="5507128"/>
              <a:ext cx="4310033" cy="0"/>
            </a:xfrm>
            <a:prstGeom prst="straightConnector1">
              <a:avLst/>
            </a:prstGeom>
            <a:noFill/>
            <a:ln w="44450" cap="sq">
              <a:solidFill>
                <a:schemeClr val="tx1">
                  <a:lumMod val="95000"/>
                  <a:lumOff val="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9" name="流程图: 手动操作 78">
              <a:extLst>
                <a:ext uri="{FF2B5EF4-FFF2-40B4-BE49-F238E27FC236}">
                  <a16:creationId xmlns:a16="http://schemas.microsoft.com/office/drawing/2014/main" id="{F787E02D-5362-43D1-8CA4-66373BF33DD7}"/>
                </a:ext>
              </a:extLst>
            </p:cNvPr>
            <p:cNvSpPr/>
            <p:nvPr/>
          </p:nvSpPr>
          <p:spPr>
            <a:xfrm rot="5400000" flipH="1">
              <a:off x="716306" y="4328598"/>
              <a:ext cx="865179" cy="395660"/>
            </a:xfrm>
            <a:prstGeom prst="flowChartManualOperation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050" b="1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DA0EB6B4-6970-4B31-BD29-04ECE981A277}"/>
                </a:ext>
              </a:extLst>
            </p:cNvPr>
            <p:cNvCxnSpPr/>
            <p:nvPr/>
          </p:nvCxnSpPr>
          <p:spPr>
            <a:xfrm>
              <a:off x="1362348" y="4221334"/>
              <a:ext cx="635911" cy="0"/>
            </a:xfrm>
            <a:prstGeom prst="line">
              <a:avLst/>
            </a:prstGeom>
            <a:noFill/>
            <a:ln w="19050" cap="sq">
              <a:solidFill>
                <a:schemeClr val="tx1">
                  <a:lumMod val="95000"/>
                  <a:lumOff val="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BCB7A887-F7D4-4C1E-9B22-F7E75273383E}"/>
                </a:ext>
              </a:extLst>
            </p:cNvPr>
            <p:cNvCxnSpPr/>
            <p:nvPr/>
          </p:nvCxnSpPr>
          <p:spPr>
            <a:xfrm>
              <a:off x="1355319" y="4432767"/>
              <a:ext cx="1775134" cy="0"/>
            </a:xfrm>
            <a:prstGeom prst="line">
              <a:avLst/>
            </a:prstGeom>
            <a:noFill/>
            <a:ln w="19050" cap="sq">
              <a:solidFill>
                <a:schemeClr val="tx1">
                  <a:lumMod val="95000"/>
                  <a:lumOff val="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B9452734-CCC5-4A3E-8388-94053C80A0E7}"/>
                </a:ext>
              </a:extLst>
            </p:cNvPr>
            <p:cNvCxnSpPr/>
            <p:nvPr/>
          </p:nvCxnSpPr>
          <p:spPr>
            <a:xfrm>
              <a:off x="1355320" y="4644199"/>
              <a:ext cx="2914359" cy="0"/>
            </a:xfrm>
            <a:prstGeom prst="line">
              <a:avLst/>
            </a:prstGeom>
            <a:noFill/>
            <a:ln w="19050" cap="sq">
              <a:solidFill>
                <a:schemeClr val="tx1">
                  <a:lumMod val="95000"/>
                  <a:lumOff val="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9F6B5673-AEB1-4350-B709-6B2C1E9DC4BC}"/>
                </a:ext>
              </a:extLst>
            </p:cNvPr>
            <p:cNvCxnSpPr/>
            <p:nvPr/>
          </p:nvCxnSpPr>
          <p:spPr>
            <a:xfrm>
              <a:off x="1355321" y="4855632"/>
              <a:ext cx="4053582" cy="0"/>
            </a:xfrm>
            <a:prstGeom prst="line">
              <a:avLst/>
            </a:prstGeom>
            <a:noFill/>
            <a:ln w="19050" cap="sq">
              <a:solidFill>
                <a:schemeClr val="tx1">
                  <a:lumMod val="95000"/>
                  <a:lumOff val="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0410D1D1-75EC-4FB5-9058-38135915DCB3}"/>
                </a:ext>
              </a:extLst>
            </p:cNvPr>
            <p:cNvGrpSpPr/>
            <p:nvPr/>
          </p:nvGrpSpPr>
          <p:grpSpPr>
            <a:xfrm>
              <a:off x="3137485" y="3643611"/>
              <a:ext cx="375215" cy="1846645"/>
              <a:chOff x="3652512" y="3329230"/>
              <a:chExt cx="415451" cy="2044668"/>
            </a:xfrm>
          </p:grpSpPr>
          <p:cxnSp>
            <p:nvCxnSpPr>
              <p:cNvPr id="85" name="直接连接符 84">
                <a:extLst>
                  <a:ext uri="{FF2B5EF4-FFF2-40B4-BE49-F238E27FC236}">
                    <a16:creationId xmlns:a16="http://schemas.microsoft.com/office/drawing/2014/main" id="{9BB78E45-FCA4-491E-AEAC-22EAFDBCA2AF}"/>
                  </a:ext>
                </a:extLst>
              </p:cNvPr>
              <p:cNvCxnSpPr/>
              <p:nvPr/>
            </p:nvCxnSpPr>
            <p:spPr>
              <a:xfrm>
                <a:off x="3893800" y="3329230"/>
                <a:ext cx="0" cy="2044668"/>
              </a:xfrm>
              <a:prstGeom prst="line">
                <a:avLst/>
              </a:prstGeom>
              <a:noFill/>
              <a:ln w="19050" cap="sq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502AFA25-E44F-4E07-B6A0-BCD1D7B95824}"/>
                  </a:ext>
                </a:extLst>
              </p:cNvPr>
              <p:cNvCxnSpPr/>
              <p:nvPr/>
            </p:nvCxnSpPr>
            <p:spPr>
              <a:xfrm>
                <a:off x="3665698" y="3970475"/>
                <a:ext cx="163043" cy="0"/>
              </a:xfrm>
              <a:prstGeom prst="line">
                <a:avLst/>
              </a:prstGeom>
              <a:noFill/>
              <a:ln w="19050" cap="sq">
                <a:solidFill>
                  <a:schemeClr val="tx1">
                    <a:lumMod val="95000"/>
                    <a:lumOff val="5000"/>
                  </a:schemeClr>
                </a:solidFill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8D6ADCD4-6D97-44EA-93D1-505802FDAC4C}"/>
                  </a:ext>
                </a:extLst>
              </p:cNvPr>
              <p:cNvCxnSpPr/>
              <p:nvPr/>
            </p:nvCxnSpPr>
            <p:spPr>
              <a:xfrm>
                <a:off x="3652512" y="3970475"/>
                <a:ext cx="0" cy="232536"/>
              </a:xfrm>
              <a:prstGeom prst="line">
                <a:avLst/>
              </a:prstGeom>
              <a:noFill/>
              <a:ln w="19050" cap="sq">
                <a:solidFill>
                  <a:schemeClr val="tx1">
                    <a:lumMod val="95000"/>
                    <a:lumOff val="5000"/>
                  </a:schemeClr>
                </a:solidFill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88" name="等腰三角形 87">
                <a:extLst>
                  <a:ext uri="{FF2B5EF4-FFF2-40B4-BE49-F238E27FC236}">
                    <a16:creationId xmlns:a16="http://schemas.microsoft.com/office/drawing/2014/main" id="{AE2CACEA-0D61-4D50-A7C4-625E80004337}"/>
                  </a:ext>
                </a:extLst>
              </p:cNvPr>
              <p:cNvSpPr/>
              <p:nvPr/>
            </p:nvSpPr>
            <p:spPr>
              <a:xfrm rot="10800000" flipH="1">
                <a:off x="3720826" y="3792487"/>
                <a:ext cx="347137" cy="324436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2225">
                <a:solidFill>
                  <a:srgbClr val="000000"/>
                </a:solidFill>
                <a:round/>
                <a:headEnd/>
                <a:tailEnd type="triangle" w="lg" len="lg"/>
              </a:ln>
            </p:spPr>
            <p:txBody>
              <a:bodyPr vert="horz" wrap="square" lIns="65024" tIns="32512" rIns="65024" bIns="32512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2844" b="1">
                  <a:solidFill>
                    <a:srgbClr val="E7E6E6">
                      <a:lumMod val="75000"/>
                    </a:srgbClr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9" name="组合 88">
              <a:extLst>
                <a:ext uri="{FF2B5EF4-FFF2-40B4-BE49-F238E27FC236}">
                  <a16:creationId xmlns:a16="http://schemas.microsoft.com/office/drawing/2014/main" id="{C9289100-C541-4085-AD93-F4DD29715C16}"/>
                </a:ext>
              </a:extLst>
            </p:cNvPr>
            <p:cNvGrpSpPr/>
            <p:nvPr/>
          </p:nvGrpSpPr>
          <p:grpSpPr>
            <a:xfrm>
              <a:off x="4276707" y="3643611"/>
              <a:ext cx="373106" cy="1846645"/>
              <a:chOff x="3652512" y="3329230"/>
              <a:chExt cx="413116" cy="2044668"/>
            </a:xfrm>
          </p:grpSpPr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C2C5019E-32BB-4B0B-9042-377E9B7920C8}"/>
                  </a:ext>
                </a:extLst>
              </p:cNvPr>
              <p:cNvCxnSpPr/>
              <p:nvPr/>
            </p:nvCxnSpPr>
            <p:spPr>
              <a:xfrm>
                <a:off x="3893800" y="3329230"/>
                <a:ext cx="0" cy="2044668"/>
              </a:xfrm>
              <a:prstGeom prst="line">
                <a:avLst/>
              </a:prstGeom>
              <a:noFill/>
              <a:ln w="19050" cap="sq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" name="直接连接符 90">
                <a:extLst>
                  <a:ext uri="{FF2B5EF4-FFF2-40B4-BE49-F238E27FC236}">
                    <a16:creationId xmlns:a16="http://schemas.microsoft.com/office/drawing/2014/main" id="{114833BB-514E-44DF-A1BD-A63167A7F834}"/>
                  </a:ext>
                </a:extLst>
              </p:cNvPr>
              <p:cNvCxnSpPr/>
              <p:nvPr/>
            </p:nvCxnSpPr>
            <p:spPr>
              <a:xfrm>
                <a:off x="3665698" y="3970475"/>
                <a:ext cx="163043" cy="0"/>
              </a:xfrm>
              <a:prstGeom prst="line">
                <a:avLst/>
              </a:prstGeom>
              <a:noFill/>
              <a:ln w="19050" cap="sq">
                <a:solidFill>
                  <a:schemeClr val="tx1">
                    <a:lumMod val="95000"/>
                    <a:lumOff val="5000"/>
                  </a:schemeClr>
                </a:solidFill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2" name="直接连接符 91">
                <a:extLst>
                  <a:ext uri="{FF2B5EF4-FFF2-40B4-BE49-F238E27FC236}">
                    <a16:creationId xmlns:a16="http://schemas.microsoft.com/office/drawing/2014/main" id="{6E0D6D1D-45AE-4CE1-BB7B-F02C78BF29A6}"/>
                  </a:ext>
                </a:extLst>
              </p:cNvPr>
              <p:cNvCxnSpPr/>
              <p:nvPr/>
            </p:nvCxnSpPr>
            <p:spPr>
              <a:xfrm>
                <a:off x="3652512" y="3970475"/>
                <a:ext cx="0" cy="466642"/>
              </a:xfrm>
              <a:prstGeom prst="line">
                <a:avLst/>
              </a:prstGeom>
              <a:noFill/>
              <a:ln w="19050" cap="sq">
                <a:solidFill>
                  <a:schemeClr val="tx1">
                    <a:lumMod val="95000"/>
                    <a:lumOff val="5000"/>
                  </a:schemeClr>
                </a:solidFill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93" name="等腰三角形 92">
                <a:extLst>
                  <a:ext uri="{FF2B5EF4-FFF2-40B4-BE49-F238E27FC236}">
                    <a16:creationId xmlns:a16="http://schemas.microsoft.com/office/drawing/2014/main" id="{06DCB6FE-330E-4088-8AB1-3687D0FF1C1E}"/>
                  </a:ext>
                </a:extLst>
              </p:cNvPr>
              <p:cNvSpPr/>
              <p:nvPr/>
            </p:nvSpPr>
            <p:spPr>
              <a:xfrm rot="10800000" flipH="1">
                <a:off x="3718490" y="3792487"/>
                <a:ext cx="347138" cy="324436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2225">
                <a:solidFill>
                  <a:srgbClr val="000000"/>
                </a:solidFill>
                <a:round/>
                <a:headEnd/>
                <a:tailEnd type="triangle" w="lg" len="lg"/>
              </a:ln>
            </p:spPr>
            <p:txBody>
              <a:bodyPr vert="horz" wrap="square" lIns="65024" tIns="32512" rIns="65024" bIns="32512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2844" b="1">
                  <a:solidFill>
                    <a:srgbClr val="E7E6E6">
                      <a:lumMod val="75000"/>
                    </a:srgbClr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26586D58-7908-43F0-A778-67F2ACE6119B}"/>
                </a:ext>
              </a:extLst>
            </p:cNvPr>
            <p:cNvGrpSpPr/>
            <p:nvPr/>
          </p:nvGrpSpPr>
          <p:grpSpPr>
            <a:xfrm>
              <a:off x="5415931" y="3643611"/>
              <a:ext cx="373106" cy="1846645"/>
              <a:chOff x="3652512" y="3329230"/>
              <a:chExt cx="413116" cy="2044668"/>
            </a:xfrm>
          </p:grpSpPr>
          <p:cxnSp>
            <p:nvCxnSpPr>
              <p:cNvPr id="95" name="直接连接符 94">
                <a:extLst>
                  <a:ext uri="{FF2B5EF4-FFF2-40B4-BE49-F238E27FC236}">
                    <a16:creationId xmlns:a16="http://schemas.microsoft.com/office/drawing/2014/main" id="{C1D0389E-F5E4-48ED-8FD4-6519A625592A}"/>
                  </a:ext>
                </a:extLst>
              </p:cNvPr>
              <p:cNvCxnSpPr/>
              <p:nvPr/>
            </p:nvCxnSpPr>
            <p:spPr>
              <a:xfrm>
                <a:off x="3893800" y="3329230"/>
                <a:ext cx="0" cy="2044668"/>
              </a:xfrm>
              <a:prstGeom prst="line">
                <a:avLst/>
              </a:prstGeom>
              <a:noFill/>
              <a:ln w="19050" cap="sq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6" name="直接连接符 95">
                <a:extLst>
                  <a:ext uri="{FF2B5EF4-FFF2-40B4-BE49-F238E27FC236}">
                    <a16:creationId xmlns:a16="http://schemas.microsoft.com/office/drawing/2014/main" id="{0BDBA98E-059A-4A74-A5EF-BCFC8B85C00A}"/>
                  </a:ext>
                </a:extLst>
              </p:cNvPr>
              <p:cNvCxnSpPr/>
              <p:nvPr/>
            </p:nvCxnSpPr>
            <p:spPr>
              <a:xfrm>
                <a:off x="3665698" y="3970475"/>
                <a:ext cx="163043" cy="0"/>
              </a:xfrm>
              <a:prstGeom prst="line">
                <a:avLst/>
              </a:prstGeom>
              <a:noFill/>
              <a:ln w="19050" cap="sq">
                <a:solidFill>
                  <a:schemeClr val="tx1">
                    <a:lumMod val="95000"/>
                    <a:lumOff val="5000"/>
                  </a:schemeClr>
                </a:solidFill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7" name="直接连接符 96">
                <a:extLst>
                  <a:ext uri="{FF2B5EF4-FFF2-40B4-BE49-F238E27FC236}">
                    <a16:creationId xmlns:a16="http://schemas.microsoft.com/office/drawing/2014/main" id="{9F89F096-41D4-4557-82D3-5B77636FCA47}"/>
                  </a:ext>
                </a:extLst>
              </p:cNvPr>
              <p:cNvCxnSpPr/>
              <p:nvPr/>
            </p:nvCxnSpPr>
            <p:spPr>
              <a:xfrm>
                <a:off x="3652512" y="3970475"/>
                <a:ext cx="0" cy="700747"/>
              </a:xfrm>
              <a:prstGeom prst="line">
                <a:avLst/>
              </a:prstGeom>
              <a:noFill/>
              <a:ln w="19050" cap="sq">
                <a:solidFill>
                  <a:schemeClr val="tx1">
                    <a:lumMod val="95000"/>
                    <a:lumOff val="5000"/>
                  </a:schemeClr>
                </a:solidFill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98" name="等腰三角形 97">
                <a:extLst>
                  <a:ext uri="{FF2B5EF4-FFF2-40B4-BE49-F238E27FC236}">
                    <a16:creationId xmlns:a16="http://schemas.microsoft.com/office/drawing/2014/main" id="{9A242B51-6570-4391-B4CE-9D6EF246D637}"/>
                  </a:ext>
                </a:extLst>
              </p:cNvPr>
              <p:cNvSpPr/>
              <p:nvPr/>
            </p:nvSpPr>
            <p:spPr>
              <a:xfrm rot="10800000" flipH="1">
                <a:off x="3718490" y="3792487"/>
                <a:ext cx="347138" cy="324436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2225">
                <a:solidFill>
                  <a:srgbClr val="000000"/>
                </a:solidFill>
                <a:round/>
                <a:headEnd/>
                <a:tailEnd type="triangle" w="lg" len="lg"/>
              </a:ln>
            </p:spPr>
            <p:txBody>
              <a:bodyPr vert="horz" wrap="square" lIns="65024" tIns="32512" rIns="65024" bIns="32512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2844" b="1">
                  <a:solidFill>
                    <a:srgbClr val="E7E6E6">
                      <a:lumMod val="75000"/>
                    </a:srgbClr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4C159D33-F483-4865-87EE-8E5669C82136}"/>
                </a:ext>
              </a:extLst>
            </p:cNvPr>
            <p:cNvSpPr txBox="1"/>
            <p:nvPr/>
          </p:nvSpPr>
          <p:spPr>
            <a:xfrm>
              <a:off x="925505" y="4208509"/>
              <a:ext cx="430887" cy="578364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900" b="1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译码器</a:t>
              </a:r>
            </a:p>
          </p:txBody>
        </p: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21218D26-A6D2-4DD1-86B4-C3C9AF98AD2A}"/>
                </a:ext>
              </a:extLst>
            </p:cNvPr>
            <p:cNvCxnSpPr/>
            <p:nvPr/>
          </p:nvCxnSpPr>
          <p:spPr>
            <a:xfrm flipV="1">
              <a:off x="1116185" y="4855632"/>
              <a:ext cx="0" cy="317353"/>
            </a:xfrm>
            <a:prstGeom prst="line">
              <a:avLst/>
            </a:prstGeom>
            <a:noFill/>
            <a:ln w="19050" cap="sq">
              <a:solidFill>
                <a:schemeClr val="tx1">
                  <a:lumMod val="95000"/>
                  <a:lumOff val="5000"/>
                </a:schemeClr>
              </a:solidFill>
              <a:tailEnd type="stealth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EE37AC78-8453-42A0-870C-831E3D520068}"/>
                </a:ext>
              </a:extLst>
            </p:cNvPr>
            <p:cNvSpPr txBox="1"/>
            <p:nvPr/>
          </p:nvSpPr>
          <p:spPr>
            <a:xfrm rot="16200000">
              <a:off x="959869" y="4963277"/>
              <a:ext cx="430887" cy="70446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DeviceId</a:t>
              </a:r>
              <a:endParaRPr lang="zh-CN" altLang="en-US" sz="900" b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8EABA282-E4E8-479D-A569-72FAA989F719}"/>
                </a:ext>
              </a:extLst>
            </p:cNvPr>
            <p:cNvSpPr txBox="1"/>
            <p:nvPr/>
          </p:nvSpPr>
          <p:spPr>
            <a:xfrm rot="16200000">
              <a:off x="4852698" y="4967679"/>
              <a:ext cx="430887" cy="77713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Data BUS</a:t>
              </a:r>
              <a:endParaRPr lang="zh-CN" altLang="en-US" sz="900" b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ABF9B3DC-A647-4DF8-AD48-281CE34FC987}"/>
                </a:ext>
              </a:extLst>
            </p:cNvPr>
            <p:cNvSpPr txBox="1"/>
            <p:nvPr/>
          </p:nvSpPr>
          <p:spPr>
            <a:xfrm rot="16200000">
              <a:off x="2000739" y="3383578"/>
              <a:ext cx="430887" cy="31119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D0</a:t>
              </a:r>
              <a:endParaRPr lang="zh-CN" altLang="en-US" sz="900" b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4D0D9C50-F0EA-40D0-A585-86270FE2DFE6}"/>
                </a:ext>
              </a:extLst>
            </p:cNvPr>
            <p:cNvSpPr txBox="1"/>
            <p:nvPr/>
          </p:nvSpPr>
          <p:spPr>
            <a:xfrm rot="16200000">
              <a:off x="3148656" y="3383579"/>
              <a:ext cx="430887" cy="31119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D1</a:t>
              </a:r>
              <a:endParaRPr lang="zh-CN" altLang="en-US" sz="900" b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1E5F474F-BD38-4CF1-A4E6-0D2614000AEF}"/>
                </a:ext>
              </a:extLst>
            </p:cNvPr>
            <p:cNvSpPr txBox="1"/>
            <p:nvPr/>
          </p:nvSpPr>
          <p:spPr>
            <a:xfrm rot="16200000">
              <a:off x="4287880" y="3383579"/>
              <a:ext cx="430887" cy="31119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D2</a:t>
              </a:r>
              <a:endParaRPr lang="zh-CN" altLang="en-US" sz="900" b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895D8673-E856-4152-BD2A-46D2C72FC56F}"/>
                </a:ext>
              </a:extLst>
            </p:cNvPr>
            <p:cNvSpPr txBox="1"/>
            <p:nvPr/>
          </p:nvSpPr>
          <p:spPr>
            <a:xfrm rot="16200000">
              <a:off x="5435794" y="3383579"/>
              <a:ext cx="430887" cy="31119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D3</a:t>
              </a:r>
              <a:endParaRPr lang="zh-CN" altLang="en-US" sz="900" b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B847C2C7-8504-4162-9841-1C2C3D9E9034}"/>
                </a:ext>
              </a:extLst>
            </p:cNvPr>
            <p:cNvSpPr txBox="1"/>
            <p:nvPr/>
          </p:nvSpPr>
          <p:spPr>
            <a:xfrm rot="16200000">
              <a:off x="1616784" y="3887954"/>
              <a:ext cx="430887" cy="44831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EN0</a:t>
              </a:r>
              <a:endParaRPr lang="zh-CN" altLang="en-US" sz="900" b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F9FAB170-773D-4014-B22D-9E624DC9D0A2}"/>
                </a:ext>
              </a:extLst>
            </p:cNvPr>
            <p:cNvSpPr txBox="1"/>
            <p:nvPr/>
          </p:nvSpPr>
          <p:spPr>
            <a:xfrm rot="16200000">
              <a:off x="2664579" y="4109674"/>
              <a:ext cx="430887" cy="413788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EN1</a:t>
              </a:r>
              <a:endParaRPr lang="zh-CN" altLang="en-US" sz="900" b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18F5FC93-C2A0-42CF-97B6-C00838ACBF4B}"/>
                </a:ext>
              </a:extLst>
            </p:cNvPr>
            <p:cNvSpPr txBox="1"/>
            <p:nvPr/>
          </p:nvSpPr>
          <p:spPr>
            <a:xfrm rot="16200000">
              <a:off x="3803800" y="4332299"/>
              <a:ext cx="430887" cy="413788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EN2</a:t>
              </a:r>
              <a:endParaRPr lang="zh-CN" altLang="en-US" sz="900" b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2C88C876-BAA2-46F7-A50D-6A8B74D83B39}"/>
                </a:ext>
              </a:extLst>
            </p:cNvPr>
            <p:cNvSpPr txBox="1"/>
            <p:nvPr/>
          </p:nvSpPr>
          <p:spPr>
            <a:xfrm rot="16200000">
              <a:off x="4943021" y="4544699"/>
              <a:ext cx="430887" cy="413788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EN3</a:t>
              </a:r>
              <a:endParaRPr lang="zh-CN" altLang="en-US" sz="900" b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35" name="内容占位符 134">
            <a:extLst>
              <a:ext uri="{FF2B5EF4-FFF2-40B4-BE49-F238E27FC236}">
                <a16:creationId xmlns:a16="http://schemas.microsoft.com/office/drawing/2014/main" id="{0B80003E-FD79-4777-8B3B-97DA87C3A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835" y="5108129"/>
            <a:ext cx="1791147" cy="597912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 dirty="0"/>
              <a:t>总线输出控制</a:t>
            </a:r>
          </a:p>
        </p:txBody>
      </p: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9A8D9E54-799B-45E4-8891-D470F024C34C}"/>
              </a:ext>
            </a:extLst>
          </p:cNvPr>
          <p:cNvGrpSpPr/>
          <p:nvPr/>
        </p:nvGrpSpPr>
        <p:grpSpPr>
          <a:xfrm>
            <a:off x="5528062" y="3083836"/>
            <a:ext cx="4356845" cy="805078"/>
            <a:chOff x="7370749" y="2968782"/>
            <a:chExt cx="5809127" cy="1073437"/>
          </a:xfrm>
        </p:grpSpPr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E3D3F9F6-FD28-4E5C-B4AE-B1143D246E61}"/>
                </a:ext>
              </a:extLst>
            </p:cNvPr>
            <p:cNvCxnSpPr>
              <a:stCxn id="117" idx="3"/>
              <a:endCxn id="118" idx="1"/>
            </p:cNvCxnSpPr>
            <p:nvPr/>
          </p:nvCxnSpPr>
          <p:spPr>
            <a:xfrm>
              <a:off x="7860668" y="3646350"/>
              <a:ext cx="2059924" cy="0"/>
            </a:xfrm>
            <a:prstGeom prst="line">
              <a:avLst/>
            </a:prstGeom>
            <a:noFill/>
            <a:ln w="19050" cap="sq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7CB632D2-5CE5-4701-A1F3-9237DDDFE516}"/>
                </a:ext>
              </a:extLst>
            </p:cNvPr>
            <p:cNvCxnSpPr/>
            <p:nvPr/>
          </p:nvCxnSpPr>
          <p:spPr>
            <a:xfrm flipV="1">
              <a:off x="8899960" y="3328559"/>
              <a:ext cx="0" cy="260992"/>
            </a:xfrm>
            <a:prstGeom prst="line">
              <a:avLst/>
            </a:prstGeom>
            <a:noFill/>
            <a:ln w="19050" cap="sq">
              <a:solidFill>
                <a:schemeClr val="tx1">
                  <a:lumMod val="95000"/>
                  <a:lumOff val="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6" name="等腰三角形 115">
              <a:extLst>
                <a:ext uri="{FF2B5EF4-FFF2-40B4-BE49-F238E27FC236}">
                  <a16:creationId xmlns:a16="http://schemas.microsoft.com/office/drawing/2014/main" id="{CC6001E2-3EBA-4B23-8534-A3A59EEE3329}"/>
                </a:ext>
              </a:extLst>
            </p:cNvPr>
            <p:cNvSpPr/>
            <p:nvPr/>
          </p:nvSpPr>
          <p:spPr>
            <a:xfrm rot="5400000" flipH="1">
              <a:off x="8739588" y="3496467"/>
              <a:ext cx="320745" cy="299769"/>
            </a:xfrm>
            <a:prstGeom prst="triangl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2225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 vert="horz" wrap="square" lIns="65024" tIns="32512" rIns="65024" bIns="32512" numCol="1" anchor="t" anchorCtr="0" compatLnSpc="1">
              <a:prstTxWarp prst="textNoShape">
                <a:avLst/>
              </a:prstTxWarp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3000" b="1">
                <a:solidFill>
                  <a:srgbClr val="E7E6E6">
                    <a:lumMod val="75000"/>
                  </a:srgb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endParaRPr>
            </a:p>
          </p:txBody>
        </p:sp>
        <p:sp>
          <p:nvSpPr>
            <p:cNvPr id="117" name="圆角矩形 155">
              <a:extLst>
                <a:ext uri="{FF2B5EF4-FFF2-40B4-BE49-F238E27FC236}">
                  <a16:creationId xmlns:a16="http://schemas.microsoft.com/office/drawing/2014/main" id="{3A82946C-D7A0-4F36-AAC4-5EF9BD44565D}"/>
                </a:ext>
              </a:extLst>
            </p:cNvPr>
            <p:cNvSpPr/>
            <p:nvPr/>
          </p:nvSpPr>
          <p:spPr>
            <a:xfrm>
              <a:off x="7370749" y="3476499"/>
              <a:ext cx="489919" cy="339702"/>
            </a:xfrm>
            <a:prstGeom prst="roundRect">
              <a:avLst/>
            </a:prstGeom>
            <a:solidFill>
              <a:schemeClr val="bg1"/>
            </a:solidFill>
            <a:ln w="22225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 vert="horz" wrap="square" lIns="65024" tIns="32512" rIns="65024" bIns="32512" numCol="1" anchor="ctr" anchorCtr="1" compatLnSpc="1">
              <a:prstTxWarp prst="textNoShape">
                <a:avLst/>
              </a:prstTxWarp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788" b="1">
                  <a:solidFill>
                    <a:prstClr val="black"/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</a:rPr>
                <a:t>A</a:t>
              </a:r>
              <a:endParaRPr lang="zh-CN" altLang="en-US" sz="788" b="1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endParaRPr>
            </a:p>
          </p:txBody>
        </p:sp>
        <p:sp>
          <p:nvSpPr>
            <p:cNvPr id="118" name="圆角矩形 157">
              <a:extLst>
                <a:ext uri="{FF2B5EF4-FFF2-40B4-BE49-F238E27FC236}">
                  <a16:creationId xmlns:a16="http://schemas.microsoft.com/office/drawing/2014/main" id="{D9D862E7-88AD-4B0F-A66B-87CB87D660D8}"/>
                </a:ext>
              </a:extLst>
            </p:cNvPr>
            <p:cNvSpPr/>
            <p:nvPr/>
          </p:nvSpPr>
          <p:spPr>
            <a:xfrm>
              <a:off x="9920591" y="3476499"/>
              <a:ext cx="504207" cy="339702"/>
            </a:xfrm>
            <a:prstGeom prst="roundRect">
              <a:avLst/>
            </a:prstGeom>
            <a:solidFill>
              <a:schemeClr val="bg1"/>
            </a:solidFill>
            <a:ln w="22225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 vert="horz" wrap="square" lIns="65024" tIns="32512" rIns="65024" bIns="32512" numCol="1" anchor="ctr" anchorCtr="1" compatLnSpc="1">
              <a:prstTxWarp prst="textNoShape">
                <a:avLst/>
              </a:prstTxWarp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788" b="1">
                  <a:solidFill>
                    <a:prstClr val="black"/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</a:rPr>
                <a:t>B</a:t>
              </a:r>
              <a:endParaRPr lang="zh-CN" altLang="en-US" sz="788" b="1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endParaRPr>
            </a:p>
          </p:txBody>
        </p: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0E3A6FE5-0BB4-4824-95A7-270C2D76E246}"/>
                </a:ext>
              </a:extLst>
            </p:cNvPr>
            <p:cNvSpPr txBox="1"/>
            <p:nvPr/>
          </p:nvSpPr>
          <p:spPr>
            <a:xfrm rot="16200000">
              <a:off x="8669127" y="2930737"/>
              <a:ext cx="461665" cy="53775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 b="1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EN</a:t>
              </a:r>
              <a:r>
                <a:rPr lang="en-US" altLang="zh-CN" sz="1050" b="1" baseline="-2500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AB</a:t>
              </a:r>
              <a:endParaRPr lang="zh-CN" altLang="en-US" sz="1050" b="1" baseline="-2500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6" name="内容占位符 134">
              <a:extLst>
                <a:ext uri="{FF2B5EF4-FFF2-40B4-BE49-F238E27FC236}">
                  <a16:creationId xmlns:a16="http://schemas.microsoft.com/office/drawing/2014/main" id="{B719C7D1-C5F1-465D-BF78-42710CE496C1}"/>
                </a:ext>
              </a:extLst>
            </p:cNvPr>
            <p:cNvSpPr txBox="1">
              <a:spLocks/>
            </p:cNvSpPr>
            <p:nvPr/>
          </p:nvSpPr>
          <p:spPr>
            <a:xfrm>
              <a:off x="10791680" y="3245003"/>
              <a:ext cx="2388196" cy="797216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/>
            </a:bodyPr>
            <a:lstStyle>
              <a:lvl1pPr marL="342900" indent="-342900" algn="just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Clr>
                  <a:srgbClr val="FFC000"/>
                </a:buClr>
                <a:buFont typeface="Wingdings" panose="05000000000000000000" pitchFamily="2" charset="2"/>
                <a:buChar char="n"/>
                <a:defRPr sz="26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812800" indent="-355600" algn="just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Clr>
                  <a:srgbClr val="FFC000"/>
                </a:buClr>
                <a:buFont typeface="Wingdings" panose="05000000000000000000" pitchFamily="2" charset="2"/>
                <a:buChar char="p"/>
                <a:defRPr sz="2000" kern="120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2pPr>
              <a:lvl3pPr marL="1143000" indent="-228600" algn="just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Clr>
                  <a:srgbClr val="FFC000"/>
                </a:buClr>
                <a:buFont typeface="Wingdings" panose="05000000000000000000" pitchFamily="2" charset="2"/>
                <a:buChar char="u"/>
                <a:defRPr sz="20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3pPr>
              <a:lvl4pPr marL="1600200" indent="-228600" algn="just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4pPr>
              <a:lvl5pPr marL="2057400" indent="-228600" algn="just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685800" fontAlgn="auto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CN" altLang="en-US" sz="1950" b="1" dirty="0">
                  <a:solidFill>
                    <a:prstClr val="black"/>
                  </a:solidFill>
                </a:rPr>
                <a:t>单向</a:t>
              </a:r>
            </a:p>
          </p:txBody>
        </p:sp>
      </p:grp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5F505E45-838B-4696-86BA-10096D824260}"/>
              </a:ext>
            </a:extLst>
          </p:cNvPr>
          <p:cNvGrpSpPr/>
          <p:nvPr/>
        </p:nvGrpSpPr>
        <p:grpSpPr>
          <a:xfrm>
            <a:off x="5510558" y="3950845"/>
            <a:ext cx="4369974" cy="1538020"/>
            <a:chOff x="7347410" y="4124792"/>
            <a:chExt cx="5826632" cy="2050693"/>
          </a:xfrm>
        </p:grpSpPr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E3571378-0B1D-43C0-90DB-7E021204ACBF}"/>
                </a:ext>
              </a:extLst>
            </p:cNvPr>
            <p:cNvCxnSpPr/>
            <p:nvPr/>
          </p:nvCxnSpPr>
          <p:spPr>
            <a:xfrm flipH="1">
              <a:off x="8288440" y="5458527"/>
              <a:ext cx="1120337" cy="0"/>
            </a:xfrm>
            <a:prstGeom prst="line">
              <a:avLst/>
            </a:prstGeom>
            <a:noFill/>
            <a:ln w="19050" cap="sq">
              <a:solidFill>
                <a:schemeClr val="tx1">
                  <a:lumMod val="95000"/>
                  <a:lumOff val="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0D35C1FE-F4E0-4A5E-8247-BF1A483C8C1E}"/>
                </a:ext>
              </a:extLst>
            </p:cNvPr>
            <p:cNvCxnSpPr/>
            <p:nvPr/>
          </p:nvCxnSpPr>
          <p:spPr>
            <a:xfrm>
              <a:off x="8288440" y="4816953"/>
              <a:ext cx="1129879" cy="0"/>
            </a:xfrm>
            <a:prstGeom prst="line">
              <a:avLst/>
            </a:prstGeom>
            <a:noFill/>
            <a:ln w="19050" cap="sq">
              <a:solidFill>
                <a:schemeClr val="tx1">
                  <a:lumMod val="95000"/>
                  <a:lumOff val="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7E7FEEC3-3B26-4F31-9A63-99C57FED63D3}"/>
                </a:ext>
              </a:extLst>
            </p:cNvPr>
            <p:cNvCxnSpPr/>
            <p:nvPr/>
          </p:nvCxnSpPr>
          <p:spPr>
            <a:xfrm flipV="1">
              <a:off x="8853379" y="4491426"/>
              <a:ext cx="0" cy="260992"/>
            </a:xfrm>
            <a:prstGeom prst="line">
              <a:avLst/>
            </a:prstGeom>
            <a:noFill/>
            <a:ln w="19050" cap="sq">
              <a:solidFill>
                <a:schemeClr val="tx1">
                  <a:lumMod val="95000"/>
                  <a:lumOff val="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1" name="等腰三角形 120">
              <a:extLst>
                <a:ext uri="{FF2B5EF4-FFF2-40B4-BE49-F238E27FC236}">
                  <a16:creationId xmlns:a16="http://schemas.microsoft.com/office/drawing/2014/main" id="{B1E180DD-A84A-4223-8615-097422452F31}"/>
                </a:ext>
              </a:extLst>
            </p:cNvPr>
            <p:cNvSpPr/>
            <p:nvPr/>
          </p:nvSpPr>
          <p:spPr>
            <a:xfrm rot="5400000" flipH="1">
              <a:off x="8693007" y="4673718"/>
              <a:ext cx="320745" cy="299769"/>
            </a:xfrm>
            <a:prstGeom prst="triangl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2225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 vert="horz" wrap="square" lIns="65024" tIns="32512" rIns="65024" bIns="32512" numCol="1" anchor="t" anchorCtr="0" compatLnSpc="1">
              <a:prstTxWarp prst="textNoShape">
                <a:avLst/>
              </a:prstTxWarp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3000" b="1">
                <a:solidFill>
                  <a:srgbClr val="E7E6E6">
                    <a:lumMod val="75000"/>
                  </a:srgb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endParaRPr>
            </a:p>
          </p:txBody>
        </p:sp>
        <p:sp>
          <p:nvSpPr>
            <p:cNvPr id="122" name="圆角矩形 161">
              <a:extLst>
                <a:ext uri="{FF2B5EF4-FFF2-40B4-BE49-F238E27FC236}">
                  <a16:creationId xmlns:a16="http://schemas.microsoft.com/office/drawing/2014/main" id="{126D1109-54FC-4186-93B8-DE66F55B9B25}"/>
                </a:ext>
              </a:extLst>
            </p:cNvPr>
            <p:cNvSpPr/>
            <p:nvPr/>
          </p:nvSpPr>
          <p:spPr>
            <a:xfrm>
              <a:off x="7347410" y="4969591"/>
              <a:ext cx="498471" cy="339702"/>
            </a:xfrm>
            <a:prstGeom prst="roundRect">
              <a:avLst/>
            </a:prstGeom>
            <a:solidFill>
              <a:schemeClr val="bg1"/>
            </a:solidFill>
            <a:ln w="22225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 vert="horz" wrap="square" lIns="65024" tIns="32512" rIns="65024" bIns="32512" numCol="1" anchor="ctr" anchorCtr="1" compatLnSpc="1">
              <a:prstTxWarp prst="textNoShape">
                <a:avLst/>
              </a:prstTxWarp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788" b="1">
                  <a:solidFill>
                    <a:prstClr val="black"/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</a:rPr>
                <a:t>A</a:t>
              </a:r>
              <a:endParaRPr lang="zh-CN" altLang="en-US" sz="788" b="1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endParaRPr>
            </a:p>
          </p:txBody>
        </p: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B62CFEC7-86EE-49CA-9185-4B618F7E066C}"/>
                </a:ext>
              </a:extLst>
            </p:cNvPr>
            <p:cNvCxnSpPr/>
            <p:nvPr/>
          </p:nvCxnSpPr>
          <p:spPr>
            <a:xfrm flipH="1" flipV="1">
              <a:off x="8853380" y="5527542"/>
              <a:ext cx="0" cy="260992"/>
            </a:xfrm>
            <a:prstGeom prst="line">
              <a:avLst/>
            </a:prstGeom>
            <a:noFill/>
            <a:ln w="19050" cap="sq">
              <a:solidFill>
                <a:schemeClr val="tx1">
                  <a:lumMod val="95000"/>
                  <a:lumOff val="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4" name="等腰三角形 123">
              <a:extLst>
                <a:ext uri="{FF2B5EF4-FFF2-40B4-BE49-F238E27FC236}">
                  <a16:creationId xmlns:a16="http://schemas.microsoft.com/office/drawing/2014/main" id="{F1CD923B-3559-4EA1-8B7D-18F66FADC6E1}"/>
                </a:ext>
              </a:extLst>
            </p:cNvPr>
            <p:cNvSpPr/>
            <p:nvPr/>
          </p:nvSpPr>
          <p:spPr>
            <a:xfrm rot="16200000">
              <a:off x="8693007" y="5309456"/>
              <a:ext cx="320745" cy="299769"/>
            </a:xfrm>
            <a:prstGeom prst="triangl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2225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 vert="horz" wrap="square" lIns="65024" tIns="32512" rIns="65024" bIns="32512" numCol="1" anchor="t" anchorCtr="0" compatLnSpc="1">
              <a:prstTxWarp prst="textNoShape">
                <a:avLst/>
              </a:prstTxWarp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3000" b="1">
                <a:solidFill>
                  <a:srgbClr val="E7E6E6">
                    <a:lumMod val="75000"/>
                  </a:srgb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endParaRPr>
            </a:p>
          </p:txBody>
        </p: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E13700E-60D5-47BE-B24F-3B4C72278C91}"/>
                </a:ext>
              </a:extLst>
            </p:cNvPr>
            <p:cNvCxnSpPr/>
            <p:nvPr/>
          </p:nvCxnSpPr>
          <p:spPr>
            <a:xfrm>
              <a:off x="7856671" y="5139443"/>
              <a:ext cx="430141" cy="0"/>
            </a:xfrm>
            <a:prstGeom prst="line">
              <a:avLst/>
            </a:prstGeom>
            <a:noFill/>
            <a:ln w="19050" cap="sq">
              <a:solidFill>
                <a:schemeClr val="tx1">
                  <a:lumMod val="95000"/>
                  <a:lumOff val="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340DECFB-8F4C-4466-95FF-B05D434A3F56}"/>
                </a:ext>
              </a:extLst>
            </p:cNvPr>
            <p:cNvCxnSpPr/>
            <p:nvPr/>
          </p:nvCxnSpPr>
          <p:spPr>
            <a:xfrm flipV="1">
              <a:off x="8286812" y="4815771"/>
              <a:ext cx="0" cy="634126"/>
            </a:xfrm>
            <a:prstGeom prst="line">
              <a:avLst/>
            </a:prstGeom>
            <a:noFill/>
            <a:ln w="19050" cap="sq">
              <a:solidFill>
                <a:schemeClr val="tx1">
                  <a:lumMod val="95000"/>
                  <a:lumOff val="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8F95D2E3-D384-4052-8E50-D09532EF9429}"/>
                </a:ext>
              </a:extLst>
            </p:cNvPr>
            <p:cNvCxnSpPr/>
            <p:nvPr/>
          </p:nvCxnSpPr>
          <p:spPr>
            <a:xfrm flipV="1">
              <a:off x="9418319" y="4819366"/>
              <a:ext cx="0" cy="637723"/>
            </a:xfrm>
            <a:prstGeom prst="line">
              <a:avLst/>
            </a:prstGeom>
            <a:noFill/>
            <a:ln w="19050" cap="sq">
              <a:solidFill>
                <a:schemeClr val="tx1">
                  <a:lumMod val="95000"/>
                  <a:lumOff val="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4B1E6447-F7EB-4516-8EF8-1F912F442153}"/>
                </a:ext>
              </a:extLst>
            </p:cNvPr>
            <p:cNvSpPr txBox="1"/>
            <p:nvPr/>
          </p:nvSpPr>
          <p:spPr>
            <a:xfrm rot="16200000">
              <a:off x="8617775" y="5675775"/>
              <a:ext cx="461665" cy="53775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 b="1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EN</a:t>
              </a:r>
              <a:r>
                <a:rPr lang="en-US" altLang="zh-CN" sz="1050" b="1" baseline="-2500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BA</a:t>
              </a:r>
              <a:endParaRPr lang="zh-CN" altLang="en-US" sz="1050" b="1" baseline="-2500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C1296789-A177-4649-9943-3332DCAD70E2}"/>
                </a:ext>
              </a:extLst>
            </p:cNvPr>
            <p:cNvCxnSpPr>
              <a:cxnSpLocks/>
              <a:endCxn id="132" idx="1"/>
            </p:cNvCxnSpPr>
            <p:nvPr/>
          </p:nvCxnSpPr>
          <p:spPr>
            <a:xfrm>
              <a:off x="9408777" y="5139443"/>
              <a:ext cx="486537" cy="4905"/>
            </a:xfrm>
            <a:prstGeom prst="line">
              <a:avLst/>
            </a:prstGeom>
            <a:noFill/>
            <a:ln w="19050" cap="sq">
              <a:solidFill>
                <a:schemeClr val="tx1">
                  <a:lumMod val="95000"/>
                  <a:lumOff val="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2" name="圆角矩形 71">
              <a:extLst>
                <a:ext uri="{FF2B5EF4-FFF2-40B4-BE49-F238E27FC236}">
                  <a16:creationId xmlns:a16="http://schemas.microsoft.com/office/drawing/2014/main" id="{3500E1FF-40FA-456E-8153-667A48CCC06F}"/>
                </a:ext>
              </a:extLst>
            </p:cNvPr>
            <p:cNvSpPr/>
            <p:nvPr/>
          </p:nvSpPr>
          <p:spPr>
            <a:xfrm>
              <a:off x="9895314" y="4974497"/>
              <a:ext cx="498471" cy="339702"/>
            </a:xfrm>
            <a:prstGeom prst="roundRect">
              <a:avLst/>
            </a:prstGeom>
            <a:solidFill>
              <a:schemeClr val="bg1"/>
            </a:solidFill>
            <a:ln w="22225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 vert="horz" wrap="square" lIns="65024" tIns="32512" rIns="65024" bIns="32512" numCol="1" anchor="ctr" anchorCtr="1" compatLnSpc="1">
              <a:prstTxWarp prst="textNoShape">
                <a:avLst/>
              </a:prstTxWarp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788" b="1">
                  <a:solidFill>
                    <a:prstClr val="black"/>
                  </a:solidFill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</a:rPr>
                <a:t>B</a:t>
              </a:r>
              <a:endParaRPr lang="zh-CN" altLang="en-US" sz="788" b="1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endParaRPr>
            </a:p>
          </p:txBody>
        </p:sp>
        <p:sp>
          <p:nvSpPr>
            <p:cNvPr id="137" name="内容占位符 134">
              <a:extLst>
                <a:ext uri="{FF2B5EF4-FFF2-40B4-BE49-F238E27FC236}">
                  <a16:creationId xmlns:a16="http://schemas.microsoft.com/office/drawing/2014/main" id="{69931D9D-E2F4-405D-BCB2-84988DF1B028}"/>
                </a:ext>
              </a:extLst>
            </p:cNvPr>
            <p:cNvSpPr txBox="1">
              <a:spLocks/>
            </p:cNvSpPr>
            <p:nvPr/>
          </p:nvSpPr>
          <p:spPr>
            <a:xfrm>
              <a:off x="10785846" y="4815771"/>
              <a:ext cx="2388196" cy="797216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/>
            </a:bodyPr>
            <a:lstStyle>
              <a:lvl1pPr marL="342900" indent="-342900" algn="just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Clr>
                  <a:srgbClr val="FFC000"/>
                </a:buClr>
                <a:buFont typeface="Wingdings" panose="05000000000000000000" pitchFamily="2" charset="2"/>
                <a:buChar char="n"/>
                <a:defRPr sz="26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812800" indent="-355600" algn="just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Clr>
                  <a:srgbClr val="FFC000"/>
                </a:buClr>
                <a:buFont typeface="Wingdings" panose="05000000000000000000" pitchFamily="2" charset="2"/>
                <a:buChar char="p"/>
                <a:defRPr sz="2000" kern="120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2pPr>
              <a:lvl3pPr marL="1143000" indent="-228600" algn="just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Clr>
                  <a:srgbClr val="FFC000"/>
                </a:buClr>
                <a:buFont typeface="Wingdings" panose="05000000000000000000" pitchFamily="2" charset="2"/>
                <a:buChar char="u"/>
                <a:defRPr sz="20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3pPr>
              <a:lvl4pPr marL="1600200" indent="-228600" algn="just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4pPr>
              <a:lvl5pPr marL="2057400" indent="-228600" algn="just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685800" fontAlgn="auto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CN" altLang="en-US" sz="1950" b="1" dirty="0">
                  <a:solidFill>
                    <a:prstClr val="black"/>
                  </a:solidFill>
                </a:rPr>
                <a:t>双向</a:t>
              </a:r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49568F1D-3C75-4ACE-A63A-8920FA42C60E}"/>
                </a:ext>
              </a:extLst>
            </p:cNvPr>
            <p:cNvSpPr txBox="1"/>
            <p:nvPr/>
          </p:nvSpPr>
          <p:spPr>
            <a:xfrm rot="16200000">
              <a:off x="8617775" y="4086747"/>
              <a:ext cx="461665" cy="53775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EN</a:t>
              </a:r>
              <a:r>
                <a:rPr lang="en-US" altLang="zh-CN" sz="1050" b="1" baseline="-2500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AB</a:t>
              </a:r>
              <a:endParaRPr lang="zh-CN" altLang="en-US" sz="105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34088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77DF15-E172-4155-88DA-ED26DBCE8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4. 1  </a:t>
            </a:r>
            <a:r>
              <a:rPr lang="zh-CN" altLang="en-US" dirty="0"/>
              <a:t>总 线 概 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F21AE-8FE4-4E72-8FEB-81EE75A6E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6794"/>
            <a:ext cx="8229600" cy="4569371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altLang="zh-CN" dirty="0"/>
              <a:t>4. 1. 1  </a:t>
            </a:r>
            <a:r>
              <a:rPr lang="zh-CN" altLang="en-US" dirty="0"/>
              <a:t>总线分类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altLang="zh-CN" dirty="0"/>
              <a:t>4. 1. 2  </a:t>
            </a:r>
            <a:r>
              <a:rPr lang="zh-CN" altLang="en-US" dirty="0"/>
              <a:t>总线性能指标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altLang="zh-CN" dirty="0"/>
              <a:t>4.1.3 </a:t>
            </a:r>
            <a:r>
              <a:rPr lang="zh-CN" altLang="en-US" dirty="0"/>
              <a:t>总线设计规范</a:t>
            </a:r>
          </a:p>
          <a:p>
            <a:pPr marL="0" indent="0">
              <a:spcBef>
                <a:spcPts val="1200"/>
              </a:spcBef>
              <a:buNone/>
            </a:pP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7021F6-595D-4D1A-9BC5-67C38B3573D3}"/>
              </a:ext>
            </a:extLst>
          </p:cNvPr>
          <p:cNvSpPr/>
          <p:nvPr/>
        </p:nvSpPr>
        <p:spPr>
          <a:xfrm>
            <a:off x="827584" y="2564904"/>
            <a:ext cx="4012637" cy="5847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lvl="0" eaLnBrk="0" hangingPunct="0">
              <a:spcBef>
                <a:spcPct val="20000"/>
              </a:spcBef>
            </a:pPr>
            <a:r>
              <a:rPr lang="en-US" altLang="zh-CN" sz="3200" kern="0" dirty="0">
                <a:solidFill>
                  <a:srgbClr val="000000"/>
                </a:solidFill>
              </a:rPr>
              <a:t>4. 1. 2  </a:t>
            </a:r>
            <a:r>
              <a:rPr lang="zh-CN" altLang="en-US" sz="3200" kern="0" dirty="0">
                <a:solidFill>
                  <a:srgbClr val="000000"/>
                </a:solidFill>
              </a:rPr>
              <a:t>总线性能指标</a:t>
            </a:r>
          </a:p>
        </p:txBody>
      </p:sp>
    </p:spTree>
    <p:extLst>
      <p:ext uri="{BB962C8B-B14F-4D97-AF65-F5344CB8AC3E}">
        <p14:creationId xmlns:p14="http://schemas.microsoft.com/office/powerpoint/2010/main" val="111639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371EC36-FA51-44D1-9CDF-CB8192D9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003"/>
            <a:ext cx="8229600" cy="850106"/>
          </a:xfrm>
        </p:spPr>
        <p:txBody>
          <a:bodyPr/>
          <a:lstStyle/>
          <a:p>
            <a:r>
              <a:rPr lang="en-US" altLang="zh-CN" dirty="0"/>
              <a:t>4. 1. 2  </a:t>
            </a:r>
            <a:r>
              <a:rPr lang="zh-CN" altLang="en-US" dirty="0"/>
              <a:t>总线性能指标</a:t>
            </a:r>
          </a:p>
        </p:txBody>
      </p:sp>
      <p:sp>
        <p:nvSpPr>
          <p:cNvPr id="6" name="矩形 3">
            <a:extLst>
              <a:ext uri="{FF2B5EF4-FFF2-40B4-BE49-F238E27FC236}">
                <a16:creationId xmlns:a16="http://schemas.microsoft.com/office/drawing/2014/main" id="{0D1F9E43-3E24-43B0-9F02-EE3BA643224A}"/>
              </a:ext>
            </a:extLst>
          </p:cNvPr>
          <p:cNvSpPr txBox="1">
            <a:spLocks noChangeArrowheads="1"/>
          </p:cNvSpPr>
          <p:nvPr/>
        </p:nvSpPr>
        <p:spPr>
          <a:xfrm>
            <a:off x="487823" y="942764"/>
            <a:ext cx="8548674" cy="563702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FF0000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812800" indent="-355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sz="20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5"/>
              </a:buClr>
              <a:buFont typeface="Wingdings" panose="05000000000000000000" pitchFamily="2" charset="2"/>
              <a:buChar char="u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lang="zh-CN" altLang="zh-CN" b="1" dirty="0">
                <a:solidFill>
                  <a:srgbClr val="0000FF"/>
                </a:solidFill>
                <a:latin typeface="华文新魏" panose="02010800040101010101" pitchFamily="2" charset="-122"/>
              </a:rPr>
              <a:t>总线宽度</a:t>
            </a:r>
            <a:endParaRPr lang="en-US" altLang="zh-CN" b="1" dirty="0">
              <a:solidFill>
                <a:srgbClr val="0000FF"/>
              </a:solidFill>
              <a:latin typeface="华文新魏" panose="02010800040101010101" pitchFamily="2" charset="-122"/>
            </a:endParaRPr>
          </a:p>
          <a:p>
            <a:pPr lvl="1" fontAlgn="auto">
              <a:lnSpc>
                <a:spcPct val="160000"/>
              </a:lnSpc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</a:rPr>
              <a:t>总线能同时传送的二进制数据的位数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总线传输周期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ysClr val="windowText" lastClr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个总线输周期包括多个总线时钟周期（申请，寻址，传输，结束）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 fontAlgn="auto">
              <a:spcAft>
                <a:spcPts val="0"/>
              </a:spcAft>
            </a:pPr>
            <a:r>
              <a:rPr lang="zh-CN" altLang="en-US" dirty="0">
                <a:solidFill>
                  <a:sysClr val="windowText" lastClr="000000"/>
                </a:solidFill>
              </a:rPr>
              <a:t>总线工作频率</a:t>
            </a:r>
            <a:endParaRPr lang="en-US" altLang="zh-CN" dirty="0">
              <a:solidFill>
                <a:sysClr val="windowText" lastClr="000000"/>
              </a:solidFill>
            </a:endParaRPr>
          </a:p>
          <a:p>
            <a:pPr lvl="1" fontAlgn="auto">
              <a:spcAft>
                <a:spcPts val="0"/>
              </a:spcAft>
            </a:pPr>
            <a:r>
              <a:rPr lang="zh-CN" altLang="en-US" dirty="0">
                <a:solidFill>
                  <a:sysClr val="windowText" lastClr="000000"/>
                </a:solidFill>
              </a:rPr>
              <a:t>总线每秒传输数据的次数</a:t>
            </a:r>
            <a:endParaRPr lang="en-US" altLang="zh-CN" dirty="0">
              <a:solidFill>
                <a:sysClr val="windowText" lastClr="000000"/>
              </a:solidFill>
            </a:endParaRPr>
          </a:p>
          <a:p>
            <a:pPr lvl="1" fontAlgn="auto">
              <a:spcAft>
                <a:spcPts val="0"/>
              </a:spcAft>
            </a:pPr>
            <a:r>
              <a:rPr lang="zh-CN" altLang="en-US" dirty="0">
                <a:solidFill>
                  <a:sysClr val="windowText" lastClr="000000"/>
                </a:solidFill>
              </a:rPr>
              <a:t>单时钟传输次数（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DDR=2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QDR=4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微软雅黑" panose="020B0503020204020204" pitchFamily="34" charset="-122"/>
                <a:cs typeface="+mn-cs"/>
              </a:rPr>
              <a:t>总线带宽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新魏" panose="02010800040101010101" pitchFamily="2" charset="-122"/>
                <a:ea typeface="微软雅黑" panose="020B0503020204020204" pitchFamily="34" charset="-122"/>
                <a:cs typeface="+mn-cs"/>
              </a:rPr>
              <a:t>总线的最高传输速率</a:t>
            </a:r>
          </a:p>
          <a:p>
            <a:pPr marL="812800" marR="0" lvl="1" indent="-355600" algn="just" defTabSz="914400" rtl="0" eaLnBrk="1" fontAlgn="auto" latinLnBrk="0" hangingPunct="1">
              <a:lnSpc>
                <a:spcPct val="160000"/>
              </a:lnSpc>
              <a:spcBef>
                <a:spcPts val="500"/>
              </a:spcBef>
              <a:spcAft>
                <a:spcPts val="0"/>
              </a:spcAft>
              <a:buClr>
                <a:sysClr val="windowText" lastClr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不考虑申请、寻址等开销， 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单位：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Byte/s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微软雅黑" panose="020B0503020204020204" pitchFamily="34" charset="-122"/>
                <a:cs typeface="+mn-cs"/>
              </a:rPr>
              <a:t>总线带宽 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= 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总线宽度 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× 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总线时钟频率 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× 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单时钟传输次数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ysClr val="windowText" lastClr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总线宽度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，总线传输频率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ysClr val="windowText" lastClr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信号线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类型、是否允许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突发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模式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ysClr val="windowText" lastClr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总线连接方式、总线定时方式、并串模式</a:t>
            </a:r>
            <a:endParaRPr kumimoji="0" lang="zh-CN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新魏" panose="02010800040101010101" pitchFamily="2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9738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举例：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DF8F58D-25D4-4FBE-97BA-5CF77C1BD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92" y="856894"/>
            <a:ext cx="8332650" cy="5637024"/>
          </a:xfrm>
        </p:spPr>
        <p:txBody>
          <a:bodyPr>
            <a:normAutofit/>
          </a:bodyPr>
          <a:lstStyle/>
          <a:p>
            <a:r>
              <a:rPr lang="zh-CN" altLang="zh-CN" b="1" dirty="0"/>
              <a:t>例</a:t>
            </a:r>
            <a:r>
              <a:rPr lang="en-US" altLang="zh-CN" b="1" dirty="0"/>
              <a:t>8.1</a:t>
            </a:r>
            <a:r>
              <a:rPr lang="en-US" altLang="zh-CN" dirty="0"/>
              <a:t> </a:t>
            </a:r>
            <a:r>
              <a:rPr lang="zh-CN" altLang="zh-CN" dirty="0"/>
              <a:t>某</a:t>
            </a:r>
            <a:r>
              <a:rPr lang="en-US" altLang="zh-CN" dirty="0"/>
              <a:t>32</a:t>
            </a:r>
            <a:r>
              <a:rPr lang="zh-CN" altLang="zh-CN" dirty="0"/>
              <a:t>位同步总线时钟频率为</a:t>
            </a:r>
            <a:r>
              <a:rPr lang="en-US" altLang="zh-CN" dirty="0"/>
              <a:t>400MHz</a:t>
            </a:r>
            <a:r>
              <a:rPr lang="zh-CN" altLang="zh-CN" dirty="0"/>
              <a:t>，每个总线时钟周期可以传输一个机器字，求总线的带宽是多少，为优化总线性能，将总线宽度增加到</a:t>
            </a:r>
            <a:r>
              <a:rPr lang="en-US" altLang="zh-CN" dirty="0"/>
              <a:t>64</a:t>
            </a:r>
            <a:r>
              <a:rPr lang="zh-CN" altLang="zh-CN" dirty="0"/>
              <a:t>位，并采用了</a:t>
            </a:r>
            <a:r>
              <a:rPr lang="en-US" altLang="zh-CN" dirty="0"/>
              <a:t>QDR</a:t>
            </a:r>
            <a:r>
              <a:rPr lang="zh-CN" altLang="zh-CN" dirty="0"/>
              <a:t>技术，一个总线时钟周期可以传输</a:t>
            </a:r>
            <a:r>
              <a:rPr lang="en-US" altLang="zh-CN" dirty="0"/>
              <a:t>4</a:t>
            </a:r>
            <a:r>
              <a:rPr lang="zh-CN" altLang="zh-CN" dirty="0"/>
              <a:t>次，则总线的带宽是多少，提升了多少倍？</a:t>
            </a:r>
          </a:p>
          <a:p>
            <a:pPr marL="0" indent="360363">
              <a:buNone/>
            </a:pPr>
            <a:r>
              <a:rPr lang="zh-CN" altLang="zh-CN" b="1" dirty="0">
                <a:solidFill>
                  <a:srgbClr val="C00000"/>
                </a:solidFill>
              </a:rPr>
              <a:t>解：</a:t>
            </a:r>
            <a:r>
              <a:rPr lang="zh-CN" altLang="zh-CN" dirty="0">
                <a:solidFill>
                  <a:srgbClr val="C00000"/>
                </a:solidFill>
              </a:rPr>
              <a:t>由同步总线带宽计算公式，可得</a:t>
            </a:r>
          </a:p>
          <a:p>
            <a:pPr marL="0" indent="360363">
              <a:buNone/>
            </a:pPr>
            <a:r>
              <a:rPr lang="en-US" altLang="zh-CN" dirty="0">
                <a:solidFill>
                  <a:srgbClr val="C00000"/>
                </a:solidFill>
              </a:rPr>
              <a:t>      </a:t>
            </a:r>
            <a:r>
              <a:rPr lang="zh-CN" altLang="en-US" b="1" dirty="0">
                <a:solidFill>
                  <a:srgbClr val="C00000"/>
                </a:solidFill>
              </a:rPr>
              <a:t>总线带宽</a:t>
            </a:r>
            <a:r>
              <a:rPr lang="en-US" altLang="zh-CN" dirty="0">
                <a:solidFill>
                  <a:srgbClr val="C00000"/>
                </a:solidFill>
              </a:rPr>
              <a:t>= 4B</a:t>
            </a:r>
            <a:r>
              <a:rPr lang="zh-CN" altLang="zh-CN" dirty="0">
                <a:solidFill>
                  <a:srgbClr val="C00000"/>
                </a:solidFill>
              </a:rPr>
              <a:t>×</a:t>
            </a:r>
            <a:r>
              <a:rPr lang="en-US" altLang="zh-CN" dirty="0">
                <a:solidFill>
                  <a:srgbClr val="C00000"/>
                </a:solidFill>
              </a:rPr>
              <a:t>400MHz</a:t>
            </a:r>
            <a:r>
              <a:rPr lang="zh-CN" altLang="zh-CN" dirty="0">
                <a:solidFill>
                  <a:srgbClr val="C00000"/>
                </a:solidFill>
              </a:rPr>
              <a:t>×</a:t>
            </a:r>
            <a:r>
              <a:rPr lang="en-US" altLang="zh-CN" dirty="0">
                <a:solidFill>
                  <a:srgbClr val="C00000"/>
                </a:solidFill>
              </a:rPr>
              <a:t>1 = 1.6 GB/s</a:t>
            </a:r>
            <a:r>
              <a:rPr lang="zh-CN" altLang="zh-CN" dirty="0">
                <a:solidFill>
                  <a:srgbClr val="C00000"/>
                </a:solidFill>
              </a:rPr>
              <a:t>。</a:t>
            </a:r>
          </a:p>
          <a:p>
            <a:pPr marL="0" indent="360363">
              <a:buNone/>
            </a:pPr>
            <a:r>
              <a:rPr lang="zh-CN" altLang="zh-CN" b="1" dirty="0">
                <a:solidFill>
                  <a:srgbClr val="C00000"/>
                </a:solidFill>
              </a:rPr>
              <a:t>改进后的总线带宽</a:t>
            </a:r>
            <a:r>
              <a:rPr lang="en-US" altLang="zh-CN" dirty="0">
                <a:solidFill>
                  <a:srgbClr val="C00000"/>
                </a:solidFill>
              </a:rPr>
              <a:t>= 8B</a:t>
            </a:r>
            <a:r>
              <a:rPr lang="zh-CN" altLang="zh-CN" dirty="0">
                <a:solidFill>
                  <a:srgbClr val="C00000"/>
                </a:solidFill>
              </a:rPr>
              <a:t>×</a:t>
            </a:r>
            <a:r>
              <a:rPr lang="en-US" altLang="zh-CN" dirty="0">
                <a:solidFill>
                  <a:srgbClr val="C00000"/>
                </a:solidFill>
              </a:rPr>
              <a:t>400MHz</a:t>
            </a:r>
            <a:r>
              <a:rPr lang="zh-CN" altLang="zh-CN" dirty="0">
                <a:solidFill>
                  <a:srgbClr val="C00000"/>
                </a:solidFill>
              </a:rPr>
              <a:t>×</a:t>
            </a:r>
            <a:r>
              <a:rPr lang="en-US" altLang="zh-CN" dirty="0">
                <a:solidFill>
                  <a:srgbClr val="C00000"/>
                </a:solidFill>
              </a:rPr>
              <a:t>4 = 12.8 GB/s</a:t>
            </a:r>
            <a:r>
              <a:rPr lang="zh-CN" altLang="zh-CN" dirty="0">
                <a:solidFill>
                  <a:srgbClr val="C00000"/>
                </a:solidFill>
              </a:rPr>
              <a:t>，提升了</a:t>
            </a:r>
            <a:r>
              <a:rPr lang="en-US" altLang="zh-CN" dirty="0">
                <a:solidFill>
                  <a:srgbClr val="C00000"/>
                </a:solidFill>
              </a:rPr>
              <a:t>8</a:t>
            </a:r>
            <a:r>
              <a:rPr lang="zh-CN" altLang="zh-CN" dirty="0">
                <a:solidFill>
                  <a:srgbClr val="C00000"/>
                </a:solidFill>
              </a:rPr>
              <a:t>倍。</a:t>
            </a:r>
          </a:p>
          <a:p>
            <a:pPr marL="0" indent="0"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8232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77DF15-E172-4155-88DA-ED26DBCE8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4. 1  </a:t>
            </a:r>
            <a:r>
              <a:rPr lang="zh-CN" altLang="en-US" dirty="0"/>
              <a:t>总 线 概 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F21AE-8FE4-4E72-8FEB-81EE75A6E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6794"/>
            <a:ext cx="8229600" cy="4569371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altLang="zh-CN" dirty="0"/>
              <a:t>4. 1. 1  </a:t>
            </a:r>
            <a:r>
              <a:rPr lang="zh-CN" altLang="en-US" dirty="0"/>
              <a:t>总线分类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altLang="zh-CN" dirty="0"/>
              <a:t>4. 1. 2  </a:t>
            </a:r>
            <a:r>
              <a:rPr lang="zh-CN" altLang="en-US" dirty="0"/>
              <a:t>总线性能指标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altLang="zh-CN" dirty="0"/>
              <a:t>4. 1. 3  </a:t>
            </a:r>
            <a:r>
              <a:rPr lang="zh-CN" altLang="en-US" dirty="0"/>
              <a:t>总线设计规范</a:t>
            </a:r>
          </a:p>
          <a:p>
            <a:pPr marL="0" indent="0">
              <a:spcBef>
                <a:spcPts val="1200"/>
              </a:spcBef>
              <a:buNone/>
            </a:pP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7021F6-595D-4D1A-9BC5-67C38B3573D3}"/>
              </a:ext>
            </a:extLst>
          </p:cNvPr>
          <p:cNvSpPr/>
          <p:nvPr/>
        </p:nvSpPr>
        <p:spPr>
          <a:xfrm>
            <a:off x="827584" y="3429000"/>
            <a:ext cx="4012637" cy="5847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lvl="0" eaLnBrk="0" hangingPunct="0">
              <a:spcBef>
                <a:spcPct val="20000"/>
              </a:spcBef>
            </a:pPr>
            <a:r>
              <a:rPr lang="en-US" altLang="zh-CN" sz="3200" kern="0" dirty="0">
                <a:solidFill>
                  <a:srgbClr val="000000"/>
                </a:solidFill>
              </a:rPr>
              <a:t>4. 1. 3  </a:t>
            </a:r>
            <a:r>
              <a:rPr lang="zh-CN" altLang="en-US" sz="3200" kern="0" dirty="0">
                <a:solidFill>
                  <a:srgbClr val="000000"/>
                </a:solidFill>
              </a:rPr>
              <a:t>总线设计规范</a:t>
            </a:r>
          </a:p>
        </p:txBody>
      </p:sp>
    </p:spTree>
    <p:extLst>
      <p:ext uri="{BB962C8B-B14F-4D97-AF65-F5344CB8AC3E}">
        <p14:creationId xmlns:p14="http://schemas.microsoft.com/office/powerpoint/2010/main" val="1271257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153848E-20B8-4221-8A01-B689A6C96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4. 1. 3  </a:t>
            </a:r>
            <a:r>
              <a:rPr lang="zh-CN" altLang="en-US" dirty="0"/>
              <a:t>总线设计规范</a:t>
            </a:r>
          </a:p>
        </p:txBody>
      </p:sp>
      <p:sp>
        <p:nvSpPr>
          <p:cNvPr id="6" name="矩形 3">
            <a:extLst>
              <a:ext uri="{FF2B5EF4-FFF2-40B4-BE49-F238E27FC236}">
                <a16:creationId xmlns:a16="http://schemas.microsoft.com/office/drawing/2014/main" id="{91E7F048-424F-4777-AE86-1AC987FF9CC8}"/>
              </a:ext>
            </a:extLst>
          </p:cNvPr>
          <p:cNvSpPr txBox="1">
            <a:spLocks noChangeArrowheads="1"/>
          </p:cNvSpPr>
          <p:nvPr/>
        </p:nvSpPr>
        <p:spPr>
          <a:xfrm>
            <a:off x="165309" y="946338"/>
            <a:ext cx="8813382" cy="563702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FFC000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812800" indent="-355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p"/>
              <a:defRPr sz="20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总线标准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12800" marR="0" lvl="1" indent="-355600" algn="just" defTabSz="914400" rtl="0" eaLnBrk="1" fontAlgn="auto" latinLnBrk="0" hangingPunct="1">
              <a:lnSpc>
                <a:spcPct val="160000"/>
              </a:lnSpc>
              <a:spcBef>
                <a:spcPts val="500"/>
              </a:spcBef>
              <a:spcAft>
                <a:spcPts val="60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关于总线与总线接口的物理特性、电气特性、功能特性、时间特性的详细规范和协议</a:t>
            </a:r>
            <a:endParaRPr kumimoji="0" lang="en-US" altLang="zh-CN" sz="21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物理规范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---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总线的物理连接方式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60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根数，插头，座的形状，引线的排列方式</a:t>
            </a:r>
          </a:p>
          <a:p>
            <a:pPr fontAlgn="auto">
              <a:spcAft>
                <a:spcPts val="0"/>
              </a:spcAft>
            </a:pPr>
            <a:r>
              <a:rPr lang="zh-CN" altLang="en-US" b="1" dirty="0">
                <a:solidFill>
                  <a:sysClr val="windowText" lastClr="000000"/>
                </a:solidFill>
              </a:rPr>
              <a:t>功能规范</a:t>
            </a:r>
            <a:r>
              <a:rPr lang="en-US" altLang="zh-CN" dirty="0">
                <a:solidFill>
                  <a:sysClr val="windowText" lastClr="000000"/>
                </a:solidFill>
              </a:rPr>
              <a:t>---</a:t>
            </a:r>
            <a:r>
              <a:rPr lang="zh-CN" altLang="en-US" dirty="0">
                <a:solidFill>
                  <a:sysClr val="windowText" lastClr="000000"/>
                </a:solidFill>
              </a:rPr>
              <a:t>定义信号线的功能</a:t>
            </a:r>
            <a:endParaRPr lang="en-US" altLang="zh-CN" dirty="0">
              <a:solidFill>
                <a:sysClr val="windowText" lastClr="000000"/>
              </a:solidFill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电气规范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---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定义信号线的传递方向及有效电平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60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双向，电平高有效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低有效及范围</a:t>
            </a:r>
            <a:endParaRPr kumimoji="0" lang="en-US" altLang="zh-CN" sz="21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时间规范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---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总线上各信号有效的时序关系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60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同步、异步、多路复用：地址线和数据线能否共用一条物理线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8939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49B2ACD-BCC3-42F3-8A46-1FF68D1E3F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第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zh-CN" altLang="en-US" b="1" dirty="0">
                <a:solidFill>
                  <a:srgbClr val="FF0000"/>
                </a:solidFill>
              </a:rPr>
              <a:t>章  总线技术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C153F71-F0B3-4B12-888B-BBC670D2D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4135" y="1548745"/>
            <a:ext cx="5544616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4. 1  </a:t>
            </a:r>
            <a:r>
              <a:rPr lang="zh-CN" altLang="en-US" dirty="0"/>
              <a:t>总 线 概 述</a:t>
            </a:r>
          </a:p>
          <a:p>
            <a:pPr marL="0" indent="0">
              <a:buNone/>
            </a:pPr>
            <a:r>
              <a:rPr lang="en-US" altLang="zh-CN" dirty="0"/>
              <a:t>4. 2  </a:t>
            </a:r>
            <a:r>
              <a:rPr lang="zh-CN" altLang="en-US" dirty="0"/>
              <a:t>系统总线结构</a:t>
            </a:r>
          </a:p>
          <a:p>
            <a:pPr marL="0" indent="0">
              <a:buNone/>
            </a:pPr>
            <a:r>
              <a:rPr lang="en-US" altLang="zh-CN" dirty="0"/>
              <a:t>4. 3  </a:t>
            </a:r>
            <a:r>
              <a:rPr lang="zh-CN" altLang="en-US" dirty="0"/>
              <a:t>总 线 仲 裁</a:t>
            </a:r>
          </a:p>
          <a:p>
            <a:pPr marL="0" indent="0">
              <a:buNone/>
            </a:pPr>
            <a:r>
              <a:rPr lang="en-US" altLang="zh-CN" dirty="0"/>
              <a:t>4. 4  </a:t>
            </a:r>
            <a:r>
              <a:rPr lang="zh-CN" altLang="en-US" dirty="0"/>
              <a:t>总线的通信方式</a:t>
            </a:r>
          </a:p>
          <a:p>
            <a:pPr marL="0" indent="0">
              <a:buNone/>
            </a:pPr>
            <a:r>
              <a:rPr lang="en-US" altLang="zh-CN" dirty="0"/>
              <a:t>4. 5  </a:t>
            </a:r>
            <a:r>
              <a:rPr lang="zh-CN" altLang="en-US" dirty="0"/>
              <a:t>总线的信息传送</a:t>
            </a:r>
          </a:p>
          <a:p>
            <a:pPr marL="0" indent="0">
              <a:buNone/>
            </a:pPr>
            <a:r>
              <a:rPr lang="en-US" altLang="zh-CN" dirty="0"/>
              <a:t>4. 6  </a:t>
            </a:r>
            <a:r>
              <a:rPr lang="zh-CN" altLang="en-US" dirty="0"/>
              <a:t>总线标准简介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D67CA4-03D2-4867-8379-5DE67C6D1C43}"/>
              </a:ext>
            </a:extLst>
          </p:cNvPr>
          <p:cNvSpPr/>
          <p:nvPr/>
        </p:nvSpPr>
        <p:spPr>
          <a:xfrm>
            <a:off x="1324135" y="2132856"/>
            <a:ext cx="3557384" cy="5847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lvl="0" eaLnBrk="0" hangingPunct="0">
              <a:spcBef>
                <a:spcPct val="20000"/>
              </a:spcBef>
            </a:pPr>
            <a:r>
              <a:rPr lang="en-US" altLang="zh-CN" sz="3200" kern="0" dirty="0">
                <a:solidFill>
                  <a:srgbClr val="000000"/>
                </a:solidFill>
              </a:rPr>
              <a:t>4. 2  </a:t>
            </a:r>
            <a:r>
              <a:rPr lang="zh-CN" altLang="en-US" sz="3200" kern="0" dirty="0">
                <a:solidFill>
                  <a:srgbClr val="000000"/>
                </a:solidFill>
              </a:rPr>
              <a:t>系统总线结构</a:t>
            </a:r>
          </a:p>
        </p:txBody>
      </p:sp>
    </p:spTree>
    <p:extLst>
      <p:ext uri="{BB962C8B-B14F-4D97-AF65-F5344CB8AC3E}">
        <p14:creationId xmlns:p14="http://schemas.microsoft.com/office/powerpoint/2010/main" val="3960793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77DF15-E172-4155-88DA-ED26DBCE8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4. 2  </a:t>
            </a:r>
            <a:r>
              <a:rPr lang="zh-CN" altLang="en-US" dirty="0"/>
              <a:t>系统总线结构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F21AE-8FE4-4E72-8FEB-81EE75A6E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6794"/>
            <a:ext cx="8229600" cy="4569371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altLang="zh-CN" dirty="0"/>
              <a:t>4.2.1</a:t>
            </a:r>
            <a:r>
              <a:rPr lang="zh-CN" altLang="en-US" dirty="0"/>
              <a:t>单总线结构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altLang="zh-CN" dirty="0"/>
              <a:t>4.2.2</a:t>
            </a:r>
            <a:r>
              <a:rPr lang="zh-CN" altLang="en-US" dirty="0"/>
              <a:t>双总线结构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altLang="zh-CN" dirty="0"/>
              <a:t>4.2.3</a:t>
            </a:r>
            <a:r>
              <a:rPr lang="zh-CN" altLang="en-US" dirty="0"/>
              <a:t>多总线结构</a:t>
            </a:r>
          </a:p>
        </p:txBody>
      </p:sp>
    </p:spTree>
    <p:extLst>
      <p:ext uri="{BB962C8B-B14F-4D97-AF65-F5344CB8AC3E}">
        <p14:creationId xmlns:p14="http://schemas.microsoft.com/office/powerpoint/2010/main" val="1585745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4238" y="197342"/>
            <a:ext cx="7886700" cy="617641"/>
          </a:xfrm>
        </p:spPr>
        <p:txBody>
          <a:bodyPr>
            <a:noAutofit/>
          </a:bodyPr>
          <a:lstStyle/>
          <a:p>
            <a:r>
              <a:rPr lang="en-US" altLang="zh-CN" sz="4000" dirty="0"/>
              <a:t>1.</a:t>
            </a:r>
            <a:r>
              <a:rPr lang="zh-CN" altLang="en-US" sz="4000" dirty="0"/>
              <a:t>单总线结构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8775" y="4204021"/>
            <a:ext cx="5871903" cy="2033282"/>
          </a:xfrm>
        </p:spPr>
        <p:txBody>
          <a:bodyPr>
            <a:normAutofit fontScale="85000" lnSpcReduction="20000"/>
          </a:bodyPr>
          <a:lstStyle/>
          <a:p>
            <a:r>
              <a:rPr lang="zh-CN" altLang="zh-CN" sz="2475" dirty="0"/>
              <a:t>总线结构简单，使用灵活，扩充容易</a:t>
            </a:r>
          </a:p>
          <a:p>
            <a:r>
              <a:rPr lang="zh-CN" altLang="zh-CN" sz="2475" dirty="0"/>
              <a:t>统一编址，简化指令系统，存储空间减少</a:t>
            </a:r>
          </a:p>
          <a:p>
            <a:r>
              <a:rPr lang="zh-CN" altLang="zh-CN" sz="2475" dirty="0"/>
              <a:t>共享总线，分时使用，通信速度慢</a:t>
            </a:r>
            <a:endParaRPr lang="en-US" altLang="zh-CN" sz="2475" dirty="0"/>
          </a:p>
          <a:p>
            <a:r>
              <a:rPr lang="zh-CN" altLang="zh-CN" sz="2475" dirty="0"/>
              <a:t>高速设备的高速特性得不到发挥</a:t>
            </a:r>
            <a:endParaRPr lang="zh-CN" altLang="en-US" dirty="0"/>
          </a:p>
        </p:txBody>
      </p:sp>
      <p:pic>
        <p:nvPicPr>
          <p:cNvPr id="22" name="图片 7" descr="MCj02810780000[1]">
            <a:extLst>
              <a:ext uri="{FF2B5EF4-FFF2-40B4-BE49-F238E27FC236}">
                <a16:creationId xmlns:a16="http://schemas.microsoft.com/office/drawing/2014/main" id="{82FD32DA-EE3F-49CD-8A00-F6B8609C6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8387" y="5753838"/>
            <a:ext cx="1039127" cy="1014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图片 5" descr="j0216858">
            <a:extLst>
              <a:ext uri="{FF2B5EF4-FFF2-40B4-BE49-F238E27FC236}">
                <a16:creationId xmlns:a16="http://schemas.microsoft.com/office/drawing/2014/main" id="{B5C05141-0E55-413F-9DB1-ED6D522AD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7274" y="5086863"/>
            <a:ext cx="1288574" cy="587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图片 6" descr="MCj01681080000[1]">
            <a:extLst>
              <a:ext uri="{FF2B5EF4-FFF2-40B4-BE49-F238E27FC236}">
                <a16:creationId xmlns:a16="http://schemas.microsoft.com/office/drawing/2014/main" id="{4DF16798-7977-4F7A-AF51-C9F7DBA55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6597" y="4131205"/>
            <a:ext cx="979616" cy="824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图片 4" descr="MCj01918470000[1]">
            <a:extLst>
              <a:ext uri="{FF2B5EF4-FFF2-40B4-BE49-F238E27FC236}">
                <a16:creationId xmlns:a16="http://schemas.microsoft.com/office/drawing/2014/main" id="{E9A6CBA2-11D2-45A6-9EA8-F2295D6B9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855255" y="3996598"/>
            <a:ext cx="1204517" cy="871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组合 3"/>
          <p:cNvGrpSpPr/>
          <p:nvPr/>
        </p:nvGrpSpPr>
        <p:grpSpPr>
          <a:xfrm>
            <a:off x="1619672" y="1190980"/>
            <a:ext cx="6037602" cy="2528258"/>
            <a:chOff x="2861836" y="1212134"/>
            <a:chExt cx="5407230" cy="2186140"/>
          </a:xfrm>
        </p:grpSpPr>
        <p:cxnSp>
          <p:nvCxnSpPr>
            <p:cNvPr id="121" name="直接连接符 120"/>
            <p:cNvCxnSpPr/>
            <p:nvPr/>
          </p:nvCxnSpPr>
          <p:spPr>
            <a:xfrm flipV="1">
              <a:off x="5260722" y="2446761"/>
              <a:ext cx="0" cy="528123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22" name="组合 121"/>
            <p:cNvGrpSpPr/>
            <p:nvPr/>
          </p:nvGrpSpPr>
          <p:grpSpPr>
            <a:xfrm>
              <a:off x="7196825" y="2445181"/>
              <a:ext cx="925258" cy="942333"/>
              <a:chOff x="6852559" y="1523586"/>
              <a:chExt cx="925258" cy="942333"/>
            </a:xfrm>
          </p:grpSpPr>
          <p:cxnSp>
            <p:nvCxnSpPr>
              <p:cNvPr id="123" name="直接连接符 122"/>
              <p:cNvCxnSpPr/>
              <p:nvPr/>
            </p:nvCxnSpPr>
            <p:spPr>
              <a:xfrm flipV="1">
                <a:off x="7305953" y="1523586"/>
                <a:ext cx="0" cy="672953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124" name="组合 123"/>
              <p:cNvGrpSpPr/>
              <p:nvPr/>
            </p:nvGrpSpPr>
            <p:grpSpPr>
              <a:xfrm>
                <a:off x="6852559" y="1745074"/>
                <a:ext cx="925258" cy="316635"/>
                <a:chOff x="572854" y="4071210"/>
                <a:chExt cx="1167661" cy="435697"/>
              </a:xfrm>
            </p:grpSpPr>
            <p:sp>
              <p:nvSpPr>
                <p:cNvPr id="128" name="文本框 127"/>
                <p:cNvSpPr txBox="1"/>
                <p:nvPr/>
              </p:nvSpPr>
              <p:spPr>
                <a:xfrm>
                  <a:off x="572855" y="4071210"/>
                  <a:ext cx="1167660" cy="392362"/>
                </a:xfrm>
                <a:prstGeom prst="rect">
                  <a:avLst/>
                </a:prstGeom>
                <a:solidFill>
                  <a:srgbClr val="FDD11E"/>
                </a:solidFill>
                <a:ln w="28575">
                  <a:solidFill>
                    <a:srgbClr val="0070C0"/>
                  </a:solidFill>
                </a:ln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zh-CN" altLang="en-US" sz="1125" b="1">
                    <a:solidFill>
                      <a:prstClr val="black"/>
                    </a:solidFill>
                    <a:latin typeface="微软雅黑"/>
                    <a:ea typeface="微软雅黑"/>
                  </a:endParaRPr>
                </a:p>
              </p:txBody>
            </p:sp>
            <p:sp>
              <p:nvSpPr>
                <p:cNvPr id="129" name="文本框 128"/>
                <p:cNvSpPr txBox="1"/>
                <p:nvPr/>
              </p:nvSpPr>
              <p:spPr>
                <a:xfrm>
                  <a:off x="572854" y="4091581"/>
                  <a:ext cx="1167660" cy="4153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 defTabSz="685800" fontAlgn="auto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125" b="1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I/O</a:t>
                  </a:r>
                  <a:r>
                    <a:rPr lang="zh-CN" altLang="en-US" sz="1125" b="1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接口</a:t>
                  </a:r>
                </a:p>
              </p:txBody>
            </p:sp>
          </p:grpSp>
          <p:grpSp>
            <p:nvGrpSpPr>
              <p:cNvPr id="125" name="组合 124"/>
              <p:cNvGrpSpPr/>
              <p:nvPr/>
            </p:nvGrpSpPr>
            <p:grpSpPr>
              <a:xfrm>
                <a:off x="6852560" y="2168831"/>
                <a:ext cx="925257" cy="297088"/>
                <a:chOff x="572855" y="4071206"/>
                <a:chExt cx="1167661" cy="392361"/>
              </a:xfrm>
            </p:grpSpPr>
            <p:sp>
              <p:nvSpPr>
                <p:cNvPr id="126" name="文本框 125"/>
                <p:cNvSpPr txBox="1"/>
                <p:nvPr/>
              </p:nvSpPr>
              <p:spPr>
                <a:xfrm>
                  <a:off x="572855" y="4071206"/>
                  <a:ext cx="1167661" cy="392361"/>
                </a:xfrm>
                <a:prstGeom prst="rect">
                  <a:avLst/>
                </a:prstGeom>
                <a:solidFill>
                  <a:srgbClr val="79F5F9"/>
                </a:solidFill>
                <a:ln w="28575">
                  <a:solidFill>
                    <a:srgbClr val="0070C0"/>
                  </a:solidFill>
                </a:ln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zh-CN" altLang="en-US" sz="1125" b="1">
                    <a:solidFill>
                      <a:prstClr val="black"/>
                    </a:solidFill>
                    <a:latin typeface="微软雅黑"/>
                    <a:ea typeface="微软雅黑"/>
                  </a:endParaRPr>
                </a:p>
              </p:txBody>
            </p:sp>
            <p:sp>
              <p:nvSpPr>
                <p:cNvPr id="127" name="文本框 126"/>
                <p:cNvSpPr txBox="1"/>
                <p:nvPr/>
              </p:nvSpPr>
              <p:spPr>
                <a:xfrm>
                  <a:off x="572855" y="4098586"/>
                  <a:ext cx="1167661" cy="2491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 defTabSz="685800" fontAlgn="auto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125" b="1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I/O</a:t>
                  </a:r>
                  <a:r>
                    <a:rPr lang="zh-CN" altLang="en-US" sz="1125" b="1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设备</a:t>
                  </a:r>
                </a:p>
              </p:txBody>
            </p:sp>
          </p:grpSp>
        </p:grpSp>
        <p:cxnSp>
          <p:nvCxnSpPr>
            <p:cNvPr id="130" name="直接连接符 129"/>
            <p:cNvCxnSpPr/>
            <p:nvPr/>
          </p:nvCxnSpPr>
          <p:spPr>
            <a:xfrm flipV="1">
              <a:off x="6597355" y="1927876"/>
              <a:ext cx="0" cy="512537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 flipV="1">
              <a:off x="5624810" y="1926728"/>
              <a:ext cx="0" cy="512537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 flipV="1">
              <a:off x="3174388" y="2430347"/>
              <a:ext cx="0" cy="528123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flipV="1">
              <a:off x="3317874" y="1911143"/>
              <a:ext cx="0" cy="528123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34" name="组合 133"/>
            <p:cNvGrpSpPr/>
            <p:nvPr/>
          </p:nvGrpSpPr>
          <p:grpSpPr>
            <a:xfrm>
              <a:off x="2886342" y="1479250"/>
              <a:ext cx="904962" cy="436139"/>
              <a:chOff x="572855" y="4071203"/>
              <a:chExt cx="1167661" cy="392360"/>
            </a:xfrm>
          </p:grpSpPr>
          <p:sp>
            <p:nvSpPr>
              <p:cNvPr id="135" name="文本框 134"/>
              <p:cNvSpPr txBox="1"/>
              <p:nvPr/>
            </p:nvSpPr>
            <p:spPr>
              <a:xfrm>
                <a:off x="572855" y="4071203"/>
                <a:ext cx="1167661" cy="392360"/>
              </a:xfrm>
              <a:prstGeom prst="rect">
                <a:avLst/>
              </a:prstGeom>
              <a:solidFill>
                <a:srgbClr val="AECF00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125" b="1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36" name="文本框 135"/>
              <p:cNvSpPr txBox="1"/>
              <p:nvPr/>
            </p:nvSpPr>
            <p:spPr>
              <a:xfrm>
                <a:off x="572855" y="4145501"/>
                <a:ext cx="1167661" cy="2491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CPU</a:t>
                </a:r>
                <a:endParaRPr lang="zh-CN" altLang="en-US" sz="1125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137" name="直接连接符 136"/>
            <p:cNvCxnSpPr/>
            <p:nvPr/>
          </p:nvCxnSpPr>
          <p:spPr>
            <a:xfrm flipV="1">
              <a:off x="4555007" y="1899387"/>
              <a:ext cx="0" cy="512537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文本框 137"/>
            <p:cNvSpPr txBox="1"/>
            <p:nvPr/>
          </p:nvSpPr>
          <p:spPr>
            <a:xfrm>
              <a:off x="3411993" y="2159325"/>
              <a:ext cx="1167661" cy="27699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25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系统总线</a:t>
              </a:r>
            </a:p>
          </p:txBody>
        </p:sp>
        <p:grpSp>
          <p:nvGrpSpPr>
            <p:cNvPr id="139" name="组合 138"/>
            <p:cNvGrpSpPr/>
            <p:nvPr/>
          </p:nvGrpSpPr>
          <p:grpSpPr>
            <a:xfrm>
              <a:off x="7242914" y="1212134"/>
              <a:ext cx="837323" cy="1218213"/>
              <a:chOff x="5717004" y="1582306"/>
              <a:chExt cx="837323" cy="1664104"/>
            </a:xfrm>
          </p:grpSpPr>
          <p:grpSp>
            <p:nvGrpSpPr>
              <p:cNvPr id="140" name="组合 139"/>
              <p:cNvGrpSpPr/>
              <p:nvPr/>
            </p:nvGrpSpPr>
            <p:grpSpPr>
              <a:xfrm flipV="1">
                <a:off x="5717004" y="1913917"/>
                <a:ext cx="837323" cy="1332493"/>
                <a:chOff x="5798761" y="3426692"/>
                <a:chExt cx="837323" cy="1332493"/>
              </a:xfrm>
            </p:grpSpPr>
            <p:sp>
              <p:nvSpPr>
                <p:cNvPr id="142" name="文本框 141"/>
                <p:cNvSpPr txBox="1"/>
                <p:nvPr/>
              </p:nvSpPr>
              <p:spPr>
                <a:xfrm>
                  <a:off x="5798761" y="3768864"/>
                  <a:ext cx="68973" cy="990321"/>
                </a:xfrm>
                <a:prstGeom prst="rect">
                  <a:avLst/>
                </a:prstGeom>
                <a:solidFill>
                  <a:srgbClr val="FDD11E"/>
                </a:solidFill>
                <a:ln w="28575">
                  <a:solidFill>
                    <a:srgbClr val="0070C0"/>
                  </a:solidFill>
                </a:ln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zh-CN" altLang="en-US" sz="1125" b="1">
                    <a:solidFill>
                      <a:prstClr val="black"/>
                    </a:solidFill>
                    <a:latin typeface="微软雅黑"/>
                    <a:ea typeface="微软雅黑"/>
                  </a:endParaRPr>
                </a:p>
              </p:txBody>
            </p:sp>
            <p:sp>
              <p:nvSpPr>
                <p:cNvPr id="143" name="文本框 142"/>
                <p:cNvSpPr txBox="1"/>
                <p:nvPr/>
              </p:nvSpPr>
              <p:spPr>
                <a:xfrm>
                  <a:off x="5990849" y="3768864"/>
                  <a:ext cx="68973" cy="990321"/>
                </a:xfrm>
                <a:prstGeom prst="rect">
                  <a:avLst/>
                </a:prstGeom>
                <a:solidFill>
                  <a:srgbClr val="FDD11E"/>
                </a:solidFill>
                <a:ln w="28575">
                  <a:solidFill>
                    <a:srgbClr val="0070C0"/>
                  </a:solidFill>
                </a:ln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zh-CN" altLang="en-US" sz="1125" b="1">
                    <a:solidFill>
                      <a:prstClr val="black"/>
                    </a:solidFill>
                    <a:latin typeface="微软雅黑"/>
                    <a:ea typeface="微软雅黑"/>
                  </a:endParaRPr>
                </a:p>
              </p:txBody>
            </p:sp>
            <p:sp>
              <p:nvSpPr>
                <p:cNvPr id="144" name="文本框 143"/>
                <p:cNvSpPr txBox="1"/>
                <p:nvPr/>
              </p:nvSpPr>
              <p:spPr>
                <a:xfrm>
                  <a:off x="6182937" y="3768864"/>
                  <a:ext cx="68973" cy="990321"/>
                </a:xfrm>
                <a:prstGeom prst="rect">
                  <a:avLst/>
                </a:prstGeom>
                <a:solidFill>
                  <a:srgbClr val="FDD11E"/>
                </a:solidFill>
                <a:ln w="28575">
                  <a:solidFill>
                    <a:srgbClr val="0070C0"/>
                  </a:solidFill>
                </a:ln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zh-CN" altLang="en-US" sz="1125" b="1">
                    <a:solidFill>
                      <a:prstClr val="black"/>
                    </a:solidFill>
                    <a:latin typeface="微软雅黑"/>
                    <a:ea typeface="微软雅黑"/>
                  </a:endParaRPr>
                </a:p>
              </p:txBody>
            </p:sp>
            <p:sp>
              <p:nvSpPr>
                <p:cNvPr id="145" name="文本框 144"/>
                <p:cNvSpPr txBox="1"/>
                <p:nvPr/>
              </p:nvSpPr>
              <p:spPr>
                <a:xfrm>
                  <a:off x="6375025" y="3768864"/>
                  <a:ext cx="68973" cy="990321"/>
                </a:xfrm>
                <a:prstGeom prst="rect">
                  <a:avLst/>
                </a:prstGeom>
                <a:solidFill>
                  <a:srgbClr val="FDD11E"/>
                </a:solidFill>
                <a:ln w="28575">
                  <a:solidFill>
                    <a:srgbClr val="0070C0"/>
                  </a:solidFill>
                </a:ln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zh-CN" altLang="en-US" sz="1125" b="1">
                    <a:solidFill>
                      <a:prstClr val="black"/>
                    </a:solidFill>
                    <a:latin typeface="微软雅黑"/>
                    <a:ea typeface="微软雅黑"/>
                  </a:endParaRPr>
                </a:p>
              </p:txBody>
            </p:sp>
            <p:grpSp>
              <p:nvGrpSpPr>
                <p:cNvPr id="146" name="组合 145"/>
                <p:cNvGrpSpPr/>
                <p:nvPr/>
              </p:nvGrpSpPr>
              <p:grpSpPr>
                <a:xfrm>
                  <a:off x="5833247" y="3426692"/>
                  <a:ext cx="768350" cy="323700"/>
                  <a:chOff x="5833247" y="3290605"/>
                  <a:chExt cx="768350" cy="478259"/>
                </a:xfrm>
              </p:grpSpPr>
              <p:cxnSp>
                <p:nvCxnSpPr>
                  <p:cNvPr id="148" name="直接连接符 147"/>
                  <p:cNvCxnSpPr/>
                  <p:nvPr/>
                </p:nvCxnSpPr>
                <p:spPr>
                  <a:xfrm flipV="1">
                    <a:off x="5833247" y="3290605"/>
                    <a:ext cx="0" cy="478259"/>
                  </a:xfrm>
                  <a:prstGeom prst="line">
                    <a:avLst/>
                  </a:prstGeom>
                  <a:noFill/>
                  <a:ln w="25400" cap="sq">
                    <a:solidFill>
                      <a:schemeClr val="tx1"/>
                    </a:solidFill>
                    <a:tailEnd type="none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49" name="直接连接符 148"/>
                  <p:cNvCxnSpPr/>
                  <p:nvPr/>
                </p:nvCxnSpPr>
                <p:spPr>
                  <a:xfrm flipV="1">
                    <a:off x="6025335" y="3290605"/>
                    <a:ext cx="0" cy="478259"/>
                  </a:xfrm>
                  <a:prstGeom prst="line">
                    <a:avLst/>
                  </a:prstGeom>
                  <a:noFill/>
                  <a:ln w="25400" cap="sq">
                    <a:solidFill>
                      <a:schemeClr val="tx1"/>
                    </a:solidFill>
                    <a:tailEnd type="none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50" name="直接连接符 149"/>
                  <p:cNvCxnSpPr/>
                  <p:nvPr/>
                </p:nvCxnSpPr>
                <p:spPr>
                  <a:xfrm flipV="1">
                    <a:off x="6217423" y="3290605"/>
                    <a:ext cx="0" cy="478259"/>
                  </a:xfrm>
                  <a:prstGeom prst="line">
                    <a:avLst/>
                  </a:prstGeom>
                  <a:noFill/>
                  <a:ln w="25400" cap="sq">
                    <a:solidFill>
                      <a:schemeClr val="tx1"/>
                    </a:solidFill>
                    <a:tailEnd type="none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51" name="直接连接符 150"/>
                  <p:cNvCxnSpPr/>
                  <p:nvPr/>
                </p:nvCxnSpPr>
                <p:spPr>
                  <a:xfrm flipV="1">
                    <a:off x="6409511" y="3290605"/>
                    <a:ext cx="0" cy="478259"/>
                  </a:xfrm>
                  <a:prstGeom prst="line">
                    <a:avLst/>
                  </a:prstGeom>
                  <a:noFill/>
                  <a:ln w="25400" cap="sq">
                    <a:solidFill>
                      <a:schemeClr val="tx1"/>
                    </a:solidFill>
                    <a:tailEnd type="none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52" name="直接连接符 151"/>
                  <p:cNvCxnSpPr/>
                  <p:nvPr/>
                </p:nvCxnSpPr>
                <p:spPr>
                  <a:xfrm flipV="1">
                    <a:off x="6601597" y="3290605"/>
                    <a:ext cx="0" cy="478259"/>
                  </a:xfrm>
                  <a:prstGeom prst="line">
                    <a:avLst/>
                  </a:prstGeom>
                  <a:noFill/>
                  <a:ln w="25400" cap="sq">
                    <a:solidFill>
                      <a:schemeClr val="tx1"/>
                    </a:solidFill>
                    <a:tailEnd type="none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sp>
              <p:nvSpPr>
                <p:cNvPr id="147" name="文本框 146"/>
                <p:cNvSpPr txBox="1"/>
                <p:nvPr/>
              </p:nvSpPr>
              <p:spPr>
                <a:xfrm>
                  <a:off x="6567111" y="3768864"/>
                  <a:ext cx="68973" cy="990321"/>
                </a:xfrm>
                <a:prstGeom prst="rect">
                  <a:avLst/>
                </a:prstGeom>
                <a:solidFill>
                  <a:srgbClr val="FDD11E"/>
                </a:solidFill>
                <a:ln w="28575">
                  <a:solidFill>
                    <a:srgbClr val="0070C0"/>
                  </a:solidFill>
                </a:ln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zh-CN" altLang="en-US" sz="1125" b="1">
                    <a:solidFill>
                      <a:prstClr val="black"/>
                    </a:solidFill>
                    <a:latin typeface="微软雅黑"/>
                    <a:ea typeface="微软雅黑"/>
                  </a:endParaRPr>
                </a:p>
              </p:txBody>
            </p:sp>
          </p:grpSp>
          <p:sp>
            <p:nvSpPr>
              <p:cNvPr id="141" name="文本框 140"/>
              <p:cNvSpPr txBox="1"/>
              <p:nvPr/>
            </p:nvSpPr>
            <p:spPr>
              <a:xfrm>
                <a:off x="5744873" y="1582306"/>
                <a:ext cx="740481" cy="37838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扩展槽</a:t>
                </a:r>
              </a:p>
            </p:txBody>
          </p:sp>
        </p:grpSp>
        <p:cxnSp>
          <p:nvCxnSpPr>
            <p:cNvPr id="153" name="直接连接符 152"/>
            <p:cNvCxnSpPr/>
            <p:nvPr/>
          </p:nvCxnSpPr>
          <p:spPr>
            <a:xfrm flipV="1">
              <a:off x="4102526" y="2451013"/>
              <a:ext cx="0" cy="528123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4" name="组合 153"/>
            <p:cNvGrpSpPr/>
            <p:nvPr/>
          </p:nvGrpSpPr>
          <p:grpSpPr>
            <a:xfrm>
              <a:off x="3697191" y="2961924"/>
              <a:ext cx="829238" cy="436139"/>
              <a:chOff x="572855" y="4071203"/>
              <a:chExt cx="1167661" cy="392360"/>
            </a:xfrm>
          </p:grpSpPr>
          <p:sp>
            <p:nvSpPr>
              <p:cNvPr id="155" name="文本框 154"/>
              <p:cNvSpPr txBox="1"/>
              <p:nvPr/>
            </p:nvSpPr>
            <p:spPr>
              <a:xfrm>
                <a:off x="572855" y="4071203"/>
                <a:ext cx="1167661" cy="392360"/>
              </a:xfrm>
              <a:prstGeom prst="rect">
                <a:avLst/>
              </a:prstGeom>
              <a:solidFill>
                <a:srgbClr val="FDD11E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125" b="1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56" name="文本框 155"/>
              <p:cNvSpPr txBox="1"/>
              <p:nvPr/>
            </p:nvSpPr>
            <p:spPr>
              <a:xfrm>
                <a:off x="572855" y="4145501"/>
                <a:ext cx="1167661" cy="2491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Timer</a:t>
                </a:r>
                <a:endParaRPr lang="zh-CN" altLang="en-US" sz="1125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7" name="组合 156"/>
            <p:cNvGrpSpPr/>
            <p:nvPr/>
          </p:nvGrpSpPr>
          <p:grpSpPr>
            <a:xfrm>
              <a:off x="4724125" y="2962135"/>
              <a:ext cx="1084751" cy="436139"/>
              <a:chOff x="572855" y="4071205"/>
              <a:chExt cx="1167661" cy="392361"/>
            </a:xfrm>
          </p:grpSpPr>
          <p:sp>
            <p:nvSpPr>
              <p:cNvPr id="158" name="文本框 157"/>
              <p:cNvSpPr txBox="1"/>
              <p:nvPr/>
            </p:nvSpPr>
            <p:spPr>
              <a:xfrm>
                <a:off x="572855" y="4071205"/>
                <a:ext cx="1167661" cy="392361"/>
              </a:xfrm>
              <a:prstGeom prst="rect">
                <a:avLst/>
              </a:prstGeom>
              <a:solidFill>
                <a:srgbClr val="FDD11E"/>
              </a:solidFill>
              <a:ln w="28575">
                <a:solidFill>
                  <a:srgbClr val="0070C0"/>
                </a:solidFill>
                <a:prstDash val="solid"/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125" b="1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59" name="文本框 158"/>
              <p:cNvSpPr txBox="1"/>
              <p:nvPr/>
            </p:nvSpPr>
            <p:spPr>
              <a:xfrm>
                <a:off x="572855" y="4145500"/>
                <a:ext cx="1167661" cy="249195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DMA</a:t>
                </a:r>
                <a:r>
                  <a:rPr lang="zh-CN" altLang="en-US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控制器</a:t>
                </a:r>
              </a:p>
            </p:txBody>
          </p:sp>
        </p:grpSp>
        <p:grpSp>
          <p:nvGrpSpPr>
            <p:cNvPr id="160" name="组合 159"/>
            <p:cNvGrpSpPr/>
            <p:nvPr/>
          </p:nvGrpSpPr>
          <p:grpSpPr>
            <a:xfrm>
              <a:off x="2861836" y="2961577"/>
              <a:ext cx="643159" cy="436139"/>
              <a:chOff x="572855" y="4071203"/>
              <a:chExt cx="1167661" cy="392360"/>
            </a:xfrm>
          </p:grpSpPr>
          <p:sp>
            <p:nvSpPr>
              <p:cNvPr id="161" name="文本框 160"/>
              <p:cNvSpPr txBox="1"/>
              <p:nvPr/>
            </p:nvSpPr>
            <p:spPr>
              <a:xfrm>
                <a:off x="572855" y="4071203"/>
                <a:ext cx="1167661" cy="392360"/>
              </a:xfrm>
              <a:prstGeom prst="rect">
                <a:avLst/>
              </a:prstGeom>
              <a:solidFill>
                <a:srgbClr val="FDD11E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125" b="1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62" name="文本框 161"/>
              <p:cNvSpPr txBox="1"/>
              <p:nvPr/>
            </p:nvSpPr>
            <p:spPr>
              <a:xfrm>
                <a:off x="572855" y="4145501"/>
                <a:ext cx="1167661" cy="2491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BIOS</a:t>
                </a:r>
                <a:endParaRPr lang="zh-CN" altLang="en-US" sz="1125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3" name="组合 162"/>
            <p:cNvGrpSpPr/>
            <p:nvPr/>
          </p:nvGrpSpPr>
          <p:grpSpPr>
            <a:xfrm>
              <a:off x="5993362" y="2960611"/>
              <a:ext cx="954576" cy="436139"/>
              <a:chOff x="572855" y="4071203"/>
              <a:chExt cx="1167661" cy="392360"/>
            </a:xfrm>
          </p:grpSpPr>
          <p:sp>
            <p:nvSpPr>
              <p:cNvPr id="164" name="文本框 163"/>
              <p:cNvSpPr txBox="1"/>
              <p:nvPr/>
            </p:nvSpPr>
            <p:spPr>
              <a:xfrm>
                <a:off x="572855" y="4071203"/>
                <a:ext cx="1167661" cy="392360"/>
              </a:xfrm>
              <a:prstGeom prst="rect">
                <a:avLst/>
              </a:prstGeom>
              <a:solidFill>
                <a:srgbClr val="FDD11E"/>
              </a:solidFill>
              <a:ln w="28575">
                <a:solidFill>
                  <a:srgbClr val="0070C0"/>
                </a:solidFill>
                <a:prstDash val="solid"/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125" b="1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65" name="文本框 164"/>
              <p:cNvSpPr txBox="1"/>
              <p:nvPr/>
            </p:nvSpPr>
            <p:spPr>
              <a:xfrm>
                <a:off x="572855" y="4145501"/>
                <a:ext cx="1167661" cy="249195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中断控制器</a:t>
                </a:r>
              </a:p>
            </p:txBody>
          </p:sp>
        </p:grpSp>
        <p:cxnSp>
          <p:nvCxnSpPr>
            <p:cNvPr id="166" name="直接连接符 165"/>
            <p:cNvCxnSpPr/>
            <p:nvPr/>
          </p:nvCxnSpPr>
          <p:spPr>
            <a:xfrm flipV="1">
              <a:off x="6468477" y="2446967"/>
              <a:ext cx="0" cy="478259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直接连接符 166"/>
            <p:cNvCxnSpPr/>
            <p:nvPr/>
          </p:nvCxnSpPr>
          <p:spPr>
            <a:xfrm>
              <a:off x="2904814" y="2439266"/>
              <a:ext cx="5364252" cy="0"/>
            </a:xfrm>
            <a:prstGeom prst="line">
              <a:avLst/>
            </a:prstGeom>
            <a:noFill/>
            <a:ln w="50800" cap="sq">
              <a:solidFill>
                <a:schemeClr val="tx1">
                  <a:lumMod val="95000"/>
                  <a:lumOff val="5000"/>
                </a:schemeClr>
              </a:solidFill>
              <a:headEnd type="non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68" name="组合 167"/>
            <p:cNvGrpSpPr/>
            <p:nvPr/>
          </p:nvGrpSpPr>
          <p:grpSpPr>
            <a:xfrm>
              <a:off x="5311069" y="1454900"/>
              <a:ext cx="643159" cy="436139"/>
              <a:chOff x="572855" y="4071203"/>
              <a:chExt cx="1167661" cy="392360"/>
            </a:xfrm>
          </p:grpSpPr>
          <p:sp>
            <p:nvSpPr>
              <p:cNvPr id="169" name="文本框 168"/>
              <p:cNvSpPr txBox="1"/>
              <p:nvPr/>
            </p:nvSpPr>
            <p:spPr>
              <a:xfrm>
                <a:off x="572855" y="4071203"/>
                <a:ext cx="1167661" cy="392360"/>
              </a:xfrm>
              <a:prstGeom prst="rect">
                <a:avLst/>
              </a:prstGeom>
              <a:solidFill>
                <a:srgbClr val="79F5F9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125" b="1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70" name="文本框 169"/>
              <p:cNvSpPr txBox="1"/>
              <p:nvPr/>
            </p:nvSpPr>
            <p:spPr>
              <a:xfrm>
                <a:off x="572855" y="4145501"/>
                <a:ext cx="1167661" cy="2491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显卡</a:t>
                </a:r>
              </a:p>
            </p:txBody>
          </p:sp>
        </p:grpSp>
        <p:grpSp>
          <p:nvGrpSpPr>
            <p:cNvPr id="171" name="组合 170"/>
            <p:cNvGrpSpPr/>
            <p:nvPr/>
          </p:nvGrpSpPr>
          <p:grpSpPr>
            <a:xfrm>
              <a:off x="6118648" y="1465284"/>
              <a:ext cx="957413" cy="436139"/>
              <a:chOff x="223434" y="4071203"/>
              <a:chExt cx="1621264" cy="392360"/>
            </a:xfrm>
          </p:grpSpPr>
          <p:sp>
            <p:nvSpPr>
              <p:cNvPr id="172" name="文本框 171"/>
              <p:cNvSpPr txBox="1"/>
              <p:nvPr/>
            </p:nvSpPr>
            <p:spPr>
              <a:xfrm>
                <a:off x="446085" y="4071203"/>
                <a:ext cx="1167660" cy="392360"/>
              </a:xfrm>
              <a:prstGeom prst="rect">
                <a:avLst/>
              </a:prstGeom>
              <a:solidFill>
                <a:srgbClr val="79F5F9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125" b="1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73" name="文本框 172"/>
              <p:cNvSpPr txBox="1"/>
              <p:nvPr/>
            </p:nvSpPr>
            <p:spPr>
              <a:xfrm>
                <a:off x="223434" y="4145298"/>
                <a:ext cx="1621264" cy="24919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磁盘接口</a:t>
                </a:r>
              </a:p>
            </p:txBody>
          </p:sp>
        </p:grpSp>
        <p:grpSp>
          <p:nvGrpSpPr>
            <p:cNvPr id="174" name="组合 173"/>
            <p:cNvGrpSpPr/>
            <p:nvPr/>
          </p:nvGrpSpPr>
          <p:grpSpPr>
            <a:xfrm>
              <a:off x="4181643" y="1465032"/>
              <a:ext cx="769545" cy="436297"/>
              <a:chOff x="572855" y="4071206"/>
              <a:chExt cx="1167661" cy="392360"/>
            </a:xfrm>
          </p:grpSpPr>
          <p:sp>
            <p:nvSpPr>
              <p:cNvPr id="175" name="文本框 174"/>
              <p:cNvSpPr txBox="1"/>
              <p:nvPr/>
            </p:nvSpPr>
            <p:spPr>
              <a:xfrm>
                <a:off x="572855" y="4071206"/>
                <a:ext cx="1167661" cy="392360"/>
              </a:xfrm>
              <a:prstGeom prst="rect">
                <a:avLst/>
              </a:prstGeom>
              <a:solidFill>
                <a:srgbClr val="FB9562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125" b="1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76" name="文本框 175"/>
              <p:cNvSpPr txBox="1"/>
              <p:nvPr/>
            </p:nvSpPr>
            <p:spPr>
              <a:xfrm>
                <a:off x="572855" y="4145500"/>
                <a:ext cx="1167661" cy="29575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DRAM</a:t>
                </a:r>
                <a:endParaRPr lang="zh-CN" altLang="en-US" sz="1125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/>
              <a:t>2.</a:t>
            </a:r>
            <a:r>
              <a:rPr lang="zh-CN" altLang="en-US" sz="4000" dirty="0"/>
              <a:t>双总线结构</a:t>
            </a:r>
            <a:r>
              <a:rPr lang="en-US" altLang="zh-CN" sz="4000" dirty="0"/>
              <a:t>--</a:t>
            </a:r>
            <a:r>
              <a:rPr lang="zh-CN" altLang="en-US" sz="4000" dirty="0"/>
              <a:t>（①主存为中心</a:t>
            </a:r>
            <a:r>
              <a:rPr lang="en-US" altLang="zh-CN" sz="4000" dirty="0"/>
              <a:t>)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8607" y="4998874"/>
            <a:ext cx="7527047" cy="1601512"/>
          </a:xfrm>
        </p:spPr>
        <p:txBody>
          <a:bodyPr>
            <a:normAutofit lnSpcReduction="10000"/>
          </a:bodyPr>
          <a:lstStyle/>
          <a:p>
            <a:r>
              <a:rPr lang="zh-CN" altLang="zh-CN" dirty="0"/>
              <a:t>存储总线</a:t>
            </a:r>
            <a:r>
              <a:rPr lang="zh-CN" altLang="en-US" dirty="0"/>
              <a:t>有效</a:t>
            </a:r>
            <a:r>
              <a:rPr lang="zh-CN" altLang="zh-CN" dirty="0"/>
              <a:t>降低系统总线负载</a:t>
            </a:r>
            <a:r>
              <a:rPr lang="zh-CN" altLang="en-US" dirty="0"/>
              <a:t>，提升了并行性</a:t>
            </a:r>
            <a:endParaRPr lang="en-US" altLang="zh-CN" dirty="0"/>
          </a:p>
          <a:p>
            <a:r>
              <a:rPr lang="zh-CN" altLang="en-US" dirty="0"/>
              <a:t>需增加专门的</a:t>
            </a:r>
            <a:r>
              <a:rPr lang="en-US" altLang="zh-CN" dirty="0"/>
              <a:t>I/O</a:t>
            </a:r>
            <a:r>
              <a:rPr lang="zh-CN" altLang="en-US" dirty="0"/>
              <a:t>指令，存储空间扩大</a:t>
            </a:r>
            <a:endParaRPr lang="en-US" altLang="zh-CN" dirty="0"/>
          </a:p>
          <a:p>
            <a:r>
              <a:rPr lang="zh-CN" altLang="en-US" dirty="0"/>
              <a:t>结构简单，</a:t>
            </a:r>
            <a:r>
              <a:rPr lang="zh-CN" altLang="zh-CN" dirty="0"/>
              <a:t>系统扩展容易</a:t>
            </a:r>
          </a:p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1360215" y="1316872"/>
            <a:ext cx="6423570" cy="3240385"/>
            <a:chOff x="4673096" y="1130300"/>
            <a:chExt cx="5396350" cy="2248641"/>
          </a:xfrm>
        </p:grpSpPr>
        <p:cxnSp>
          <p:nvCxnSpPr>
            <p:cNvPr id="89" name="直接连接符 88"/>
            <p:cNvCxnSpPr/>
            <p:nvPr/>
          </p:nvCxnSpPr>
          <p:spPr>
            <a:xfrm>
              <a:off x="7389882" y="1641166"/>
              <a:ext cx="687639" cy="0"/>
            </a:xfrm>
            <a:prstGeom prst="line">
              <a:avLst/>
            </a:prstGeom>
            <a:noFill/>
            <a:ln w="25400" cap="sq">
              <a:solidFill>
                <a:srgbClr val="0070C0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>
              <a:off x="5596809" y="1643576"/>
              <a:ext cx="864245" cy="0"/>
            </a:xfrm>
            <a:prstGeom prst="line">
              <a:avLst/>
            </a:prstGeom>
            <a:noFill/>
            <a:ln w="50800" cap="sq">
              <a:solidFill>
                <a:schemeClr val="tx1">
                  <a:lumMod val="95000"/>
                  <a:lumOff val="5000"/>
                </a:schemeClr>
              </a:solidFill>
              <a:headEnd type="non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 flipV="1">
              <a:off x="4984500" y="2408060"/>
              <a:ext cx="0" cy="528123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V="1">
              <a:off x="6356297" y="2387026"/>
              <a:ext cx="0" cy="54910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7" name="直接连接符 136"/>
            <p:cNvCxnSpPr/>
            <p:nvPr/>
          </p:nvCxnSpPr>
          <p:spPr>
            <a:xfrm flipV="1">
              <a:off x="5123379" y="1868219"/>
              <a:ext cx="0" cy="528123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38" name="组合 137"/>
            <p:cNvGrpSpPr/>
            <p:nvPr/>
          </p:nvGrpSpPr>
          <p:grpSpPr>
            <a:xfrm>
              <a:off x="4691847" y="1436321"/>
              <a:ext cx="904963" cy="436139"/>
              <a:chOff x="572854" y="4071209"/>
              <a:chExt cx="1167662" cy="392361"/>
            </a:xfrm>
          </p:grpSpPr>
          <p:sp>
            <p:nvSpPr>
              <p:cNvPr id="139" name="文本框 138"/>
              <p:cNvSpPr txBox="1"/>
              <p:nvPr/>
            </p:nvSpPr>
            <p:spPr>
              <a:xfrm>
                <a:off x="572855" y="4071209"/>
                <a:ext cx="1167661" cy="392361"/>
              </a:xfrm>
              <a:prstGeom prst="rect">
                <a:avLst/>
              </a:prstGeom>
              <a:solidFill>
                <a:srgbClr val="AECF00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125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0" name="文本框 139"/>
              <p:cNvSpPr txBox="1"/>
              <p:nvPr/>
            </p:nvSpPr>
            <p:spPr>
              <a:xfrm>
                <a:off x="572854" y="4145502"/>
                <a:ext cx="1167661" cy="2491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CPU</a:t>
                </a:r>
                <a:endParaRPr lang="zh-CN" altLang="en-US" sz="1125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41" name="直接连接符 140"/>
            <p:cNvCxnSpPr/>
            <p:nvPr/>
          </p:nvCxnSpPr>
          <p:spPr>
            <a:xfrm flipV="1">
              <a:off x="6935396" y="1868219"/>
              <a:ext cx="0" cy="512537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2" name="文本框 141"/>
            <p:cNvSpPr txBox="1"/>
            <p:nvPr/>
          </p:nvSpPr>
          <p:spPr>
            <a:xfrm>
              <a:off x="7314210" y="2118675"/>
              <a:ext cx="144856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25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系统总线</a:t>
              </a:r>
            </a:p>
          </p:txBody>
        </p:sp>
        <p:grpSp>
          <p:nvGrpSpPr>
            <p:cNvPr id="143" name="组合 142"/>
            <p:cNvGrpSpPr/>
            <p:nvPr/>
          </p:nvGrpSpPr>
          <p:grpSpPr>
            <a:xfrm>
              <a:off x="4673096" y="2922703"/>
              <a:ext cx="643159" cy="436139"/>
              <a:chOff x="572855" y="4071209"/>
              <a:chExt cx="1167661" cy="392361"/>
            </a:xfrm>
          </p:grpSpPr>
          <p:sp>
            <p:nvSpPr>
              <p:cNvPr id="144" name="文本框 143"/>
              <p:cNvSpPr txBox="1"/>
              <p:nvPr/>
            </p:nvSpPr>
            <p:spPr>
              <a:xfrm>
                <a:off x="572855" y="4071209"/>
                <a:ext cx="1167661" cy="392361"/>
              </a:xfrm>
              <a:prstGeom prst="rect">
                <a:avLst/>
              </a:prstGeom>
              <a:solidFill>
                <a:srgbClr val="FDD11E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125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5" name="文本框 144"/>
              <p:cNvSpPr txBox="1"/>
              <p:nvPr/>
            </p:nvSpPr>
            <p:spPr>
              <a:xfrm>
                <a:off x="572855" y="4145503"/>
                <a:ext cx="1167661" cy="2491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BIOS</a:t>
                </a:r>
                <a:endParaRPr lang="zh-CN" altLang="en-US" sz="1125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46" name="文本框 145"/>
            <p:cNvSpPr txBox="1"/>
            <p:nvPr/>
          </p:nvSpPr>
          <p:spPr>
            <a:xfrm>
              <a:off x="5647451" y="1364167"/>
              <a:ext cx="836848" cy="27699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25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存储总线</a:t>
              </a:r>
            </a:p>
          </p:txBody>
        </p:sp>
        <p:grpSp>
          <p:nvGrpSpPr>
            <p:cNvPr id="147" name="组合 146"/>
            <p:cNvGrpSpPr/>
            <p:nvPr/>
          </p:nvGrpSpPr>
          <p:grpSpPr>
            <a:xfrm>
              <a:off x="6043745" y="2936048"/>
              <a:ext cx="643159" cy="436139"/>
              <a:chOff x="572855" y="4071209"/>
              <a:chExt cx="1167661" cy="392361"/>
            </a:xfrm>
          </p:grpSpPr>
          <p:sp>
            <p:nvSpPr>
              <p:cNvPr id="148" name="文本框 147"/>
              <p:cNvSpPr txBox="1"/>
              <p:nvPr/>
            </p:nvSpPr>
            <p:spPr>
              <a:xfrm>
                <a:off x="572855" y="4071209"/>
                <a:ext cx="1167661" cy="392361"/>
              </a:xfrm>
              <a:prstGeom prst="rect">
                <a:avLst/>
              </a:prstGeom>
              <a:solidFill>
                <a:srgbClr val="FDD11E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125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9" name="文本框 148"/>
              <p:cNvSpPr txBox="1"/>
              <p:nvPr/>
            </p:nvSpPr>
            <p:spPr>
              <a:xfrm>
                <a:off x="572855" y="4145503"/>
                <a:ext cx="1167661" cy="2491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芯片组</a:t>
                </a:r>
              </a:p>
            </p:txBody>
          </p:sp>
        </p:grpSp>
        <p:grpSp>
          <p:nvGrpSpPr>
            <p:cNvPr id="150" name="组合 149"/>
            <p:cNvGrpSpPr/>
            <p:nvPr/>
          </p:nvGrpSpPr>
          <p:grpSpPr>
            <a:xfrm>
              <a:off x="9086571" y="1130300"/>
              <a:ext cx="837323" cy="1226829"/>
              <a:chOff x="5717004" y="1570537"/>
              <a:chExt cx="837323" cy="1675873"/>
            </a:xfrm>
          </p:grpSpPr>
          <p:grpSp>
            <p:nvGrpSpPr>
              <p:cNvPr id="151" name="组合 150"/>
              <p:cNvGrpSpPr/>
              <p:nvPr/>
            </p:nvGrpSpPr>
            <p:grpSpPr>
              <a:xfrm flipV="1">
                <a:off x="5717004" y="1913917"/>
                <a:ext cx="837323" cy="1332493"/>
                <a:chOff x="5798761" y="3426692"/>
                <a:chExt cx="837323" cy="1332493"/>
              </a:xfrm>
            </p:grpSpPr>
            <p:sp>
              <p:nvSpPr>
                <p:cNvPr id="153" name="文本框 152"/>
                <p:cNvSpPr txBox="1"/>
                <p:nvPr/>
              </p:nvSpPr>
              <p:spPr>
                <a:xfrm>
                  <a:off x="5798761" y="3768864"/>
                  <a:ext cx="68973" cy="990321"/>
                </a:xfrm>
                <a:prstGeom prst="rect">
                  <a:avLst/>
                </a:prstGeom>
                <a:solidFill>
                  <a:srgbClr val="FDD11E"/>
                </a:solidFill>
                <a:ln w="28575">
                  <a:solidFill>
                    <a:srgbClr val="0070C0"/>
                  </a:solidFill>
                </a:ln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zh-CN" altLang="en-US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4" name="文本框 153"/>
                <p:cNvSpPr txBox="1"/>
                <p:nvPr/>
              </p:nvSpPr>
              <p:spPr>
                <a:xfrm>
                  <a:off x="5990849" y="3768864"/>
                  <a:ext cx="68973" cy="990321"/>
                </a:xfrm>
                <a:prstGeom prst="rect">
                  <a:avLst/>
                </a:prstGeom>
                <a:solidFill>
                  <a:srgbClr val="FDD11E"/>
                </a:solidFill>
                <a:ln w="28575">
                  <a:solidFill>
                    <a:srgbClr val="0070C0"/>
                  </a:solidFill>
                </a:ln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zh-CN" altLang="en-US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5" name="文本框 154"/>
                <p:cNvSpPr txBox="1"/>
                <p:nvPr/>
              </p:nvSpPr>
              <p:spPr>
                <a:xfrm>
                  <a:off x="6182937" y="3768864"/>
                  <a:ext cx="68973" cy="990321"/>
                </a:xfrm>
                <a:prstGeom prst="rect">
                  <a:avLst/>
                </a:prstGeom>
                <a:solidFill>
                  <a:srgbClr val="FDD11E"/>
                </a:solidFill>
                <a:ln w="28575">
                  <a:solidFill>
                    <a:srgbClr val="0070C0"/>
                  </a:solidFill>
                </a:ln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zh-CN" altLang="en-US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6" name="文本框 155"/>
                <p:cNvSpPr txBox="1"/>
                <p:nvPr/>
              </p:nvSpPr>
              <p:spPr>
                <a:xfrm>
                  <a:off x="6375025" y="3768864"/>
                  <a:ext cx="68973" cy="990321"/>
                </a:xfrm>
                <a:prstGeom prst="rect">
                  <a:avLst/>
                </a:prstGeom>
                <a:solidFill>
                  <a:srgbClr val="FDD11E"/>
                </a:solidFill>
                <a:ln w="28575">
                  <a:solidFill>
                    <a:srgbClr val="0070C0"/>
                  </a:solidFill>
                </a:ln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zh-CN" altLang="en-US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57" name="组合 156"/>
                <p:cNvGrpSpPr/>
                <p:nvPr/>
              </p:nvGrpSpPr>
              <p:grpSpPr>
                <a:xfrm>
                  <a:off x="5833247" y="3426692"/>
                  <a:ext cx="768350" cy="323700"/>
                  <a:chOff x="5833247" y="3290605"/>
                  <a:chExt cx="768350" cy="478259"/>
                </a:xfrm>
              </p:grpSpPr>
              <p:cxnSp>
                <p:nvCxnSpPr>
                  <p:cNvPr id="159" name="直接连接符 158"/>
                  <p:cNvCxnSpPr/>
                  <p:nvPr/>
                </p:nvCxnSpPr>
                <p:spPr>
                  <a:xfrm flipV="1">
                    <a:off x="5833247" y="3290605"/>
                    <a:ext cx="0" cy="478259"/>
                  </a:xfrm>
                  <a:prstGeom prst="line">
                    <a:avLst/>
                  </a:prstGeom>
                  <a:noFill/>
                  <a:ln w="25400" cap="sq">
                    <a:solidFill>
                      <a:schemeClr val="tx1"/>
                    </a:solidFill>
                    <a:tailEnd type="none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60" name="直接连接符 159"/>
                  <p:cNvCxnSpPr/>
                  <p:nvPr/>
                </p:nvCxnSpPr>
                <p:spPr>
                  <a:xfrm flipV="1">
                    <a:off x="6025335" y="3290605"/>
                    <a:ext cx="0" cy="478259"/>
                  </a:xfrm>
                  <a:prstGeom prst="line">
                    <a:avLst/>
                  </a:prstGeom>
                  <a:noFill/>
                  <a:ln w="25400" cap="sq">
                    <a:solidFill>
                      <a:schemeClr val="tx1"/>
                    </a:solidFill>
                    <a:tailEnd type="none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61" name="直接连接符 160"/>
                  <p:cNvCxnSpPr/>
                  <p:nvPr/>
                </p:nvCxnSpPr>
                <p:spPr>
                  <a:xfrm flipV="1">
                    <a:off x="6217423" y="3290605"/>
                    <a:ext cx="0" cy="478259"/>
                  </a:xfrm>
                  <a:prstGeom prst="line">
                    <a:avLst/>
                  </a:prstGeom>
                  <a:noFill/>
                  <a:ln w="25400" cap="sq">
                    <a:solidFill>
                      <a:schemeClr val="tx1"/>
                    </a:solidFill>
                    <a:tailEnd type="none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62" name="直接连接符 161"/>
                  <p:cNvCxnSpPr/>
                  <p:nvPr/>
                </p:nvCxnSpPr>
                <p:spPr>
                  <a:xfrm flipV="1">
                    <a:off x="6409511" y="3290605"/>
                    <a:ext cx="0" cy="478259"/>
                  </a:xfrm>
                  <a:prstGeom prst="line">
                    <a:avLst/>
                  </a:prstGeom>
                  <a:noFill/>
                  <a:ln w="25400" cap="sq">
                    <a:solidFill>
                      <a:schemeClr val="tx1"/>
                    </a:solidFill>
                    <a:tailEnd type="none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63" name="直接连接符 162"/>
                  <p:cNvCxnSpPr/>
                  <p:nvPr/>
                </p:nvCxnSpPr>
                <p:spPr>
                  <a:xfrm flipV="1">
                    <a:off x="6601597" y="3290605"/>
                    <a:ext cx="0" cy="478259"/>
                  </a:xfrm>
                  <a:prstGeom prst="line">
                    <a:avLst/>
                  </a:prstGeom>
                  <a:noFill/>
                  <a:ln w="25400" cap="sq">
                    <a:solidFill>
                      <a:schemeClr val="tx1"/>
                    </a:solidFill>
                    <a:tailEnd type="none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sp>
              <p:nvSpPr>
                <p:cNvPr id="158" name="文本框 157"/>
                <p:cNvSpPr txBox="1"/>
                <p:nvPr/>
              </p:nvSpPr>
              <p:spPr>
                <a:xfrm>
                  <a:off x="6567111" y="3768864"/>
                  <a:ext cx="68973" cy="990321"/>
                </a:xfrm>
                <a:prstGeom prst="rect">
                  <a:avLst/>
                </a:prstGeom>
                <a:solidFill>
                  <a:srgbClr val="FDD11E"/>
                </a:solidFill>
                <a:ln w="28575">
                  <a:solidFill>
                    <a:srgbClr val="0070C0"/>
                  </a:solidFill>
                </a:ln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zh-CN" altLang="en-US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52" name="文本框 151"/>
              <p:cNvSpPr txBox="1"/>
              <p:nvPr/>
            </p:nvSpPr>
            <p:spPr>
              <a:xfrm>
                <a:off x="5752056" y="1570537"/>
                <a:ext cx="740481" cy="37838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扩展槽</a:t>
                </a:r>
              </a:p>
            </p:txBody>
          </p:sp>
        </p:grpSp>
        <p:cxnSp>
          <p:nvCxnSpPr>
            <p:cNvPr id="164" name="直接连接符 163"/>
            <p:cNvCxnSpPr/>
            <p:nvPr/>
          </p:nvCxnSpPr>
          <p:spPr>
            <a:xfrm>
              <a:off x="4710319" y="2396342"/>
              <a:ext cx="5359127" cy="0"/>
            </a:xfrm>
            <a:prstGeom prst="line">
              <a:avLst/>
            </a:prstGeom>
            <a:noFill/>
            <a:ln w="50800" cap="sq">
              <a:solidFill>
                <a:schemeClr val="tx1"/>
              </a:solidFill>
              <a:headEnd type="non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65" name="组合 164"/>
            <p:cNvGrpSpPr/>
            <p:nvPr/>
          </p:nvGrpSpPr>
          <p:grpSpPr>
            <a:xfrm>
              <a:off x="7424989" y="2429850"/>
              <a:ext cx="925258" cy="942333"/>
              <a:chOff x="6852559" y="1523586"/>
              <a:chExt cx="925258" cy="942333"/>
            </a:xfrm>
          </p:grpSpPr>
          <p:cxnSp>
            <p:nvCxnSpPr>
              <p:cNvPr id="166" name="直接连接符 165"/>
              <p:cNvCxnSpPr/>
              <p:nvPr/>
            </p:nvCxnSpPr>
            <p:spPr>
              <a:xfrm flipV="1">
                <a:off x="7305953" y="1523586"/>
                <a:ext cx="0" cy="672953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167" name="组合 166"/>
              <p:cNvGrpSpPr/>
              <p:nvPr/>
            </p:nvGrpSpPr>
            <p:grpSpPr>
              <a:xfrm>
                <a:off x="6852559" y="1745071"/>
                <a:ext cx="925258" cy="316637"/>
                <a:chOff x="572854" y="4071207"/>
                <a:chExt cx="1167661" cy="435700"/>
              </a:xfrm>
            </p:grpSpPr>
            <p:sp>
              <p:nvSpPr>
                <p:cNvPr id="171" name="文本框 170"/>
                <p:cNvSpPr txBox="1"/>
                <p:nvPr/>
              </p:nvSpPr>
              <p:spPr>
                <a:xfrm>
                  <a:off x="572855" y="4071207"/>
                  <a:ext cx="1167660" cy="392362"/>
                </a:xfrm>
                <a:prstGeom prst="rect">
                  <a:avLst/>
                </a:prstGeom>
                <a:solidFill>
                  <a:srgbClr val="FDD11E"/>
                </a:solidFill>
                <a:ln w="28575">
                  <a:solidFill>
                    <a:srgbClr val="0070C0"/>
                  </a:solidFill>
                </a:ln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zh-CN" altLang="en-US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2" name="文本框 171"/>
                <p:cNvSpPr txBox="1"/>
                <p:nvPr/>
              </p:nvSpPr>
              <p:spPr>
                <a:xfrm>
                  <a:off x="572854" y="4091581"/>
                  <a:ext cx="1167660" cy="4153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 defTabSz="685800" fontAlgn="auto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125" b="1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I/O</a:t>
                  </a:r>
                  <a:r>
                    <a:rPr lang="zh-CN" altLang="en-US" sz="1125" b="1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接口</a:t>
                  </a:r>
                </a:p>
              </p:txBody>
            </p:sp>
          </p:grpSp>
          <p:grpSp>
            <p:nvGrpSpPr>
              <p:cNvPr id="168" name="组合 167"/>
              <p:cNvGrpSpPr/>
              <p:nvPr/>
            </p:nvGrpSpPr>
            <p:grpSpPr>
              <a:xfrm>
                <a:off x="6852560" y="2168831"/>
                <a:ext cx="925257" cy="297088"/>
                <a:chOff x="572855" y="4071207"/>
                <a:chExt cx="1167661" cy="392361"/>
              </a:xfrm>
            </p:grpSpPr>
            <p:sp>
              <p:nvSpPr>
                <p:cNvPr id="169" name="文本框 168"/>
                <p:cNvSpPr txBox="1"/>
                <p:nvPr/>
              </p:nvSpPr>
              <p:spPr>
                <a:xfrm>
                  <a:off x="572855" y="4071207"/>
                  <a:ext cx="1167661" cy="392361"/>
                </a:xfrm>
                <a:prstGeom prst="rect">
                  <a:avLst/>
                </a:prstGeom>
                <a:solidFill>
                  <a:srgbClr val="79F5F9"/>
                </a:solidFill>
                <a:ln w="28575">
                  <a:solidFill>
                    <a:srgbClr val="0070C0"/>
                  </a:solidFill>
                </a:ln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zh-CN" altLang="en-US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0" name="文本框 169"/>
                <p:cNvSpPr txBox="1"/>
                <p:nvPr/>
              </p:nvSpPr>
              <p:spPr>
                <a:xfrm>
                  <a:off x="572855" y="4098587"/>
                  <a:ext cx="1167661" cy="2491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 defTabSz="685800" fontAlgn="auto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125" b="1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I/O</a:t>
                  </a:r>
                  <a:r>
                    <a:rPr lang="zh-CN" altLang="en-US" sz="1125" b="1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设备</a:t>
                  </a:r>
                </a:p>
              </p:txBody>
            </p:sp>
          </p:grpSp>
        </p:grpSp>
        <p:grpSp>
          <p:nvGrpSpPr>
            <p:cNvPr id="173" name="组合 172"/>
            <p:cNvGrpSpPr/>
            <p:nvPr/>
          </p:nvGrpSpPr>
          <p:grpSpPr>
            <a:xfrm>
              <a:off x="9110255" y="2428988"/>
              <a:ext cx="925258" cy="949953"/>
              <a:chOff x="6852559" y="1515966"/>
              <a:chExt cx="925258" cy="949953"/>
            </a:xfrm>
          </p:grpSpPr>
          <p:cxnSp>
            <p:nvCxnSpPr>
              <p:cNvPr id="174" name="直接连接符 173"/>
              <p:cNvCxnSpPr/>
              <p:nvPr/>
            </p:nvCxnSpPr>
            <p:spPr>
              <a:xfrm flipV="1">
                <a:off x="7305953" y="1515966"/>
                <a:ext cx="0" cy="672953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175" name="组合 174"/>
              <p:cNvGrpSpPr/>
              <p:nvPr/>
            </p:nvGrpSpPr>
            <p:grpSpPr>
              <a:xfrm>
                <a:off x="6852559" y="1745071"/>
                <a:ext cx="925258" cy="316637"/>
                <a:chOff x="572854" y="4071207"/>
                <a:chExt cx="1167661" cy="435700"/>
              </a:xfrm>
            </p:grpSpPr>
            <p:sp>
              <p:nvSpPr>
                <p:cNvPr id="179" name="文本框 178"/>
                <p:cNvSpPr txBox="1"/>
                <p:nvPr/>
              </p:nvSpPr>
              <p:spPr>
                <a:xfrm>
                  <a:off x="572855" y="4071207"/>
                  <a:ext cx="1167660" cy="392362"/>
                </a:xfrm>
                <a:prstGeom prst="rect">
                  <a:avLst/>
                </a:prstGeom>
                <a:solidFill>
                  <a:srgbClr val="FDD11E"/>
                </a:solidFill>
                <a:ln w="28575">
                  <a:solidFill>
                    <a:srgbClr val="0070C0"/>
                  </a:solidFill>
                </a:ln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zh-CN" altLang="en-US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0" name="文本框 179"/>
                <p:cNvSpPr txBox="1"/>
                <p:nvPr/>
              </p:nvSpPr>
              <p:spPr>
                <a:xfrm>
                  <a:off x="572854" y="4091581"/>
                  <a:ext cx="1167660" cy="4153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 defTabSz="685800" fontAlgn="auto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125" b="1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I/O</a:t>
                  </a:r>
                  <a:r>
                    <a:rPr lang="zh-CN" altLang="en-US" sz="1125" b="1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接口</a:t>
                  </a:r>
                </a:p>
              </p:txBody>
            </p:sp>
          </p:grpSp>
          <p:grpSp>
            <p:nvGrpSpPr>
              <p:cNvPr id="176" name="组合 175"/>
              <p:cNvGrpSpPr/>
              <p:nvPr/>
            </p:nvGrpSpPr>
            <p:grpSpPr>
              <a:xfrm>
                <a:off x="6852560" y="2168831"/>
                <a:ext cx="925257" cy="297088"/>
                <a:chOff x="572855" y="4071207"/>
                <a:chExt cx="1167661" cy="392361"/>
              </a:xfrm>
            </p:grpSpPr>
            <p:sp>
              <p:nvSpPr>
                <p:cNvPr id="177" name="文本框 176"/>
                <p:cNvSpPr txBox="1"/>
                <p:nvPr/>
              </p:nvSpPr>
              <p:spPr>
                <a:xfrm>
                  <a:off x="572855" y="4071207"/>
                  <a:ext cx="1167661" cy="392361"/>
                </a:xfrm>
                <a:prstGeom prst="rect">
                  <a:avLst/>
                </a:prstGeom>
                <a:solidFill>
                  <a:srgbClr val="79F5F9"/>
                </a:solidFill>
                <a:ln w="28575">
                  <a:solidFill>
                    <a:srgbClr val="0070C0"/>
                  </a:solidFill>
                </a:ln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zh-CN" altLang="en-US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8" name="文本框 177"/>
                <p:cNvSpPr txBox="1"/>
                <p:nvPr/>
              </p:nvSpPr>
              <p:spPr>
                <a:xfrm>
                  <a:off x="572855" y="4098587"/>
                  <a:ext cx="1167661" cy="2491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 defTabSz="685800" fontAlgn="auto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125" b="1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I/O</a:t>
                  </a:r>
                  <a:r>
                    <a:rPr lang="zh-CN" altLang="en-US" sz="1125" b="1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设备</a:t>
                  </a:r>
                </a:p>
              </p:txBody>
            </p:sp>
          </p:grpSp>
        </p:grpSp>
        <p:grpSp>
          <p:nvGrpSpPr>
            <p:cNvPr id="184" name="组合 183"/>
            <p:cNvGrpSpPr/>
            <p:nvPr/>
          </p:nvGrpSpPr>
          <p:grpSpPr>
            <a:xfrm>
              <a:off x="7993228" y="1423031"/>
              <a:ext cx="769545" cy="436296"/>
              <a:chOff x="572855" y="4071210"/>
              <a:chExt cx="1167661" cy="392360"/>
            </a:xfrm>
          </p:grpSpPr>
          <p:sp>
            <p:nvSpPr>
              <p:cNvPr id="185" name="文本框 184"/>
              <p:cNvSpPr txBox="1"/>
              <p:nvPr/>
            </p:nvSpPr>
            <p:spPr>
              <a:xfrm>
                <a:off x="572855" y="4071210"/>
                <a:ext cx="1167661" cy="392360"/>
              </a:xfrm>
              <a:prstGeom prst="rect">
                <a:avLst/>
              </a:prstGeom>
              <a:solidFill>
                <a:srgbClr val="FB9562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125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6" name="文本框 185"/>
              <p:cNvSpPr txBox="1"/>
              <p:nvPr/>
            </p:nvSpPr>
            <p:spPr>
              <a:xfrm>
                <a:off x="572855" y="4145504"/>
                <a:ext cx="1167661" cy="29575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DRAM</a:t>
                </a:r>
                <a:endParaRPr lang="zh-CN" altLang="en-US" sz="1125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87" name="组合 186"/>
            <p:cNvGrpSpPr/>
            <p:nvPr/>
          </p:nvGrpSpPr>
          <p:grpSpPr>
            <a:xfrm>
              <a:off x="6421341" y="1354775"/>
              <a:ext cx="1065503" cy="555772"/>
              <a:chOff x="498483" y="4071208"/>
              <a:chExt cx="1068003" cy="392361"/>
            </a:xfrm>
          </p:grpSpPr>
          <p:sp>
            <p:nvSpPr>
              <p:cNvPr id="188" name="文本框 187"/>
              <p:cNvSpPr txBox="1"/>
              <p:nvPr/>
            </p:nvSpPr>
            <p:spPr>
              <a:xfrm>
                <a:off x="572856" y="4071208"/>
                <a:ext cx="912314" cy="392361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125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9" name="文本框 188"/>
              <p:cNvSpPr txBox="1"/>
              <p:nvPr/>
            </p:nvSpPr>
            <p:spPr>
              <a:xfrm>
                <a:off x="498483" y="4120666"/>
                <a:ext cx="1068003" cy="32592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双端口</a:t>
                </a:r>
                <a:endParaRPr lang="en-US" altLang="zh-CN" sz="1125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存储控制器</a:t>
                </a:r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/>
              <a:t>2.</a:t>
            </a:r>
            <a:r>
              <a:rPr lang="zh-CN" altLang="en-US" sz="4000" dirty="0"/>
              <a:t>双总线结构</a:t>
            </a:r>
            <a:r>
              <a:rPr lang="en-US" altLang="zh-CN" sz="4000" dirty="0"/>
              <a:t>--</a:t>
            </a:r>
            <a:r>
              <a:rPr lang="zh-CN" altLang="en-US" sz="4000" dirty="0"/>
              <a:t>②桥接器架构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70421" y="5155528"/>
            <a:ext cx="5755901" cy="1609928"/>
          </a:xfrm>
        </p:spPr>
        <p:txBody>
          <a:bodyPr>
            <a:normAutofit/>
          </a:bodyPr>
          <a:lstStyle/>
          <a:p>
            <a:r>
              <a:rPr lang="zh-CN" altLang="en-US" dirty="0"/>
              <a:t>慢速设备通过</a:t>
            </a:r>
            <a:r>
              <a:rPr lang="en-US" altLang="zh-CN" dirty="0"/>
              <a:t>I/O</a:t>
            </a:r>
            <a:r>
              <a:rPr lang="zh-CN" altLang="en-US" dirty="0"/>
              <a:t>总线相连</a:t>
            </a:r>
            <a:endParaRPr lang="en-US" altLang="zh-CN" dirty="0"/>
          </a:p>
          <a:p>
            <a:r>
              <a:rPr lang="zh-CN" altLang="en-US" dirty="0"/>
              <a:t>系统总线与</a:t>
            </a:r>
            <a:r>
              <a:rPr lang="en-US" altLang="zh-CN" dirty="0"/>
              <a:t>I/O</a:t>
            </a:r>
            <a:r>
              <a:rPr lang="zh-CN" altLang="en-US" dirty="0"/>
              <a:t>总线通过桥接器相连</a:t>
            </a:r>
            <a:endParaRPr lang="zh-CN" altLang="zh-CN" dirty="0"/>
          </a:p>
          <a:p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1414001" y="1268760"/>
            <a:ext cx="6365162" cy="3380209"/>
            <a:chOff x="6875983" y="1599270"/>
            <a:chExt cx="5227914" cy="2197863"/>
          </a:xfrm>
        </p:grpSpPr>
        <p:cxnSp>
          <p:nvCxnSpPr>
            <p:cNvPr id="59" name="直接连接符 58"/>
            <p:cNvCxnSpPr/>
            <p:nvPr/>
          </p:nvCxnSpPr>
          <p:spPr>
            <a:xfrm flipV="1">
              <a:off x="7187387" y="2837758"/>
              <a:ext cx="0" cy="528123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V="1">
              <a:off x="10932377" y="2837758"/>
              <a:ext cx="0" cy="510903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61" name="组合 60"/>
            <p:cNvGrpSpPr/>
            <p:nvPr/>
          </p:nvGrpSpPr>
          <p:grpSpPr>
            <a:xfrm>
              <a:off x="10619825" y="3360994"/>
              <a:ext cx="643159" cy="436139"/>
              <a:chOff x="572855" y="4071205"/>
              <a:chExt cx="1167661" cy="392361"/>
            </a:xfrm>
          </p:grpSpPr>
          <p:sp>
            <p:nvSpPr>
              <p:cNvPr id="62" name="文本框 61"/>
              <p:cNvSpPr txBox="1"/>
              <p:nvPr/>
            </p:nvSpPr>
            <p:spPr>
              <a:xfrm>
                <a:off x="572855" y="4071205"/>
                <a:ext cx="1167661" cy="392361"/>
              </a:xfrm>
              <a:prstGeom prst="rect">
                <a:avLst/>
              </a:prstGeom>
              <a:solidFill>
                <a:srgbClr val="FDD11E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125" b="1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572855" y="4145503"/>
                <a:ext cx="1167661" cy="2491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BIOS</a:t>
                </a:r>
                <a:endParaRPr lang="zh-CN" altLang="en-US" sz="1125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64" name="直接连接符 63"/>
            <p:cNvCxnSpPr/>
            <p:nvPr/>
          </p:nvCxnSpPr>
          <p:spPr>
            <a:xfrm flipV="1">
              <a:off x="8041752" y="3097890"/>
              <a:ext cx="0" cy="256591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V="1">
              <a:off x="7326266" y="2297917"/>
              <a:ext cx="0" cy="528123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66" name="组合 65"/>
            <p:cNvGrpSpPr/>
            <p:nvPr/>
          </p:nvGrpSpPr>
          <p:grpSpPr>
            <a:xfrm>
              <a:off x="6894734" y="1866015"/>
              <a:ext cx="904962" cy="436139"/>
              <a:chOff x="572855" y="4071205"/>
              <a:chExt cx="1167661" cy="392361"/>
            </a:xfrm>
          </p:grpSpPr>
          <p:sp>
            <p:nvSpPr>
              <p:cNvPr id="67" name="文本框 66"/>
              <p:cNvSpPr txBox="1"/>
              <p:nvPr/>
            </p:nvSpPr>
            <p:spPr>
              <a:xfrm>
                <a:off x="572855" y="4071205"/>
                <a:ext cx="1167661" cy="392361"/>
              </a:xfrm>
              <a:prstGeom prst="rect">
                <a:avLst/>
              </a:prstGeom>
              <a:solidFill>
                <a:srgbClr val="AECF00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125" b="1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68" name="文本框 67"/>
              <p:cNvSpPr txBox="1"/>
              <p:nvPr/>
            </p:nvSpPr>
            <p:spPr>
              <a:xfrm>
                <a:off x="572855" y="4145503"/>
                <a:ext cx="1167661" cy="2491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CPU</a:t>
                </a:r>
                <a:endParaRPr lang="zh-CN" altLang="en-US" sz="1125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69" name="直接连接符 68"/>
            <p:cNvCxnSpPr/>
            <p:nvPr/>
          </p:nvCxnSpPr>
          <p:spPr>
            <a:xfrm flipV="1">
              <a:off x="9116422" y="2286161"/>
              <a:ext cx="0" cy="512537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0" name="文本框 69"/>
            <p:cNvSpPr txBox="1"/>
            <p:nvPr/>
          </p:nvSpPr>
          <p:spPr>
            <a:xfrm>
              <a:off x="7511583" y="2546467"/>
              <a:ext cx="1448563" cy="27699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25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局部总线</a:t>
              </a:r>
            </a:p>
          </p:txBody>
        </p:sp>
        <p:grpSp>
          <p:nvGrpSpPr>
            <p:cNvPr id="71" name="组合 70"/>
            <p:cNvGrpSpPr/>
            <p:nvPr/>
          </p:nvGrpSpPr>
          <p:grpSpPr>
            <a:xfrm>
              <a:off x="10809720" y="1599270"/>
              <a:ext cx="837323" cy="1217849"/>
              <a:chOff x="5717004" y="1568427"/>
              <a:chExt cx="837323" cy="1677983"/>
            </a:xfrm>
          </p:grpSpPr>
          <p:grpSp>
            <p:nvGrpSpPr>
              <p:cNvPr id="72" name="组合 71"/>
              <p:cNvGrpSpPr/>
              <p:nvPr/>
            </p:nvGrpSpPr>
            <p:grpSpPr>
              <a:xfrm flipV="1">
                <a:off x="5717004" y="1913917"/>
                <a:ext cx="837323" cy="1332493"/>
                <a:chOff x="5798761" y="3426692"/>
                <a:chExt cx="837323" cy="1332493"/>
              </a:xfrm>
            </p:grpSpPr>
            <p:sp>
              <p:nvSpPr>
                <p:cNvPr id="74" name="文本框 73"/>
                <p:cNvSpPr txBox="1"/>
                <p:nvPr/>
              </p:nvSpPr>
              <p:spPr>
                <a:xfrm>
                  <a:off x="5798761" y="3768864"/>
                  <a:ext cx="68973" cy="990321"/>
                </a:xfrm>
                <a:prstGeom prst="rect">
                  <a:avLst/>
                </a:prstGeom>
                <a:solidFill>
                  <a:srgbClr val="FDD11E"/>
                </a:solidFill>
                <a:ln w="28575">
                  <a:solidFill>
                    <a:srgbClr val="0070C0"/>
                  </a:solidFill>
                </a:ln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zh-CN" altLang="en-US" sz="1125" b="1">
                    <a:solidFill>
                      <a:prstClr val="black"/>
                    </a:solidFill>
                    <a:latin typeface="微软雅黑"/>
                    <a:ea typeface="微软雅黑"/>
                  </a:endParaRPr>
                </a:p>
              </p:txBody>
            </p:sp>
            <p:sp>
              <p:nvSpPr>
                <p:cNvPr id="75" name="文本框 74"/>
                <p:cNvSpPr txBox="1"/>
                <p:nvPr/>
              </p:nvSpPr>
              <p:spPr>
                <a:xfrm>
                  <a:off x="5990849" y="3768864"/>
                  <a:ext cx="68973" cy="990321"/>
                </a:xfrm>
                <a:prstGeom prst="rect">
                  <a:avLst/>
                </a:prstGeom>
                <a:solidFill>
                  <a:srgbClr val="FDD11E"/>
                </a:solidFill>
                <a:ln w="28575">
                  <a:solidFill>
                    <a:srgbClr val="0070C0"/>
                  </a:solidFill>
                </a:ln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zh-CN" altLang="en-US" sz="1125" b="1">
                    <a:solidFill>
                      <a:prstClr val="black"/>
                    </a:solidFill>
                    <a:latin typeface="微软雅黑"/>
                    <a:ea typeface="微软雅黑"/>
                  </a:endParaRPr>
                </a:p>
              </p:txBody>
            </p:sp>
            <p:sp>
              <p:nvSpPr>
                <p:cNvPr id="76" name="文本框 75"/>
                <p:cNvSpPr txBox="1"/>
                <p:nvPr/>
              </p:nvSpPr>
              <p:spPr>
                <a:xfrm>
                  <a:off x="6182937" y="3768864"/>
                  <a:ext cx="68973" cy="990321"/>
                </a:xfrm>
                <a:prstGeom prst="rect">
                  <a:avLst/>
                </a:prstGeom>
                <a:solidFill>
                  <a:srgbClr val="FDD11E"/>
                </a:solidFill>
                <a:ln w="28575">
                  <a:solidFill>
                    <a:srgbClr val="0070C0"/>
                  </a:solidFill>
                </a:ln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zh-CN" altLang="en-US" sz="1125" b="1">
                    <a:solidFill>
                      <a:prstClr val="black"/>
                    </a:solidFill>
                    <a:latin typeface="微软雅黑"/>
                    <a:ea typeface="微软雅黑"/>
                  </a:endParaRPr>
                </a:p>
              </p:txBody>
            </p:sp>
            <p:sp>
              <p:nvSpPr>
                <p:cNvPr id="77" name="文本框 76"/>
                <p:cNvSpPr txBox="1"/>
                <p:nvPr/>
              </p:nvSpPr>
              <p:spPr>
                <a:xfrm>
                  <a:off x="6375025" y="3768864"/>
                  <a:ext cx="68973" cy="990321"/>
                </a:xfrm>
                <a:prstGeom prst="rect">
                  <a:avLst/>
                </a:prstGeom>
                <a:solidFill>
                  <a:srgbClr val="FDD11E"/>
                </a:solidFill>
                <a:ln w="28575">
                  <a:solidFill>
                    <a:srgbClr val="0070C0"/>
                  </a:solidFill>
                </a:ln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zh-CN" altLang="en-US" sz="1125" b="1">
                    <a:solidFill>
                      <a:prstClr val="black"/>
                    </a:solidFill>
                    <a:latin typeface="微软雅黑"/>
                    <a:ea typeface="微软雅黑"/>
                  </a:endParaRPr>
                </a:p>
              </p:txBody>
            </p:sp>
            <p:grpSp>
              <p:nvGrpSpPr>
                <p:cNvPr id="78" name="组合 77"/>
                <p:cNvGrpSpPr/>
                <p:nvPr/>
              </p:nvGrpSpPr>
              <p:grpSpPr>
                <a:xfrm>
                  <a:off x="5833247" y="3426692"/>
                  <a:ext cx="768350" cy="323700"/>
                  <a:chOff x="5833247" y="3290605"/>
                  <a:chExt cx="768350" cy="478259"/>
                </a:xfrm>
              </p:grpSpPr>
              <p:cxnSp>
                <p:nvCxnSpPr>
                  <p:cNvPr id="80" name="直接连接符 79"/>
                  <p:cNvCxnSpPr/>
                  <p:nvPr/>
                </p:nvCxnSpPr>
                <p:spPr>
                  <a:xfrm flipV="1">
                    <a:off x="5833247" y="3290605"/>
                    <a:ext cx="0" cy="478259"/>
                  </a:xfrm>
                  <a:prstGeom prst="line">
                    <a:avLst/>
                  </a:prstGeom>
                  <a:noFill/>
                  <a:ln w="25400" cap="sq">
                    <a:solidFill>
                      <a:schemeClr val="tx1"/>
                    </a:solidFill>
                    <a:tailEnd type="none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81" name="直接连接符 80"/>
                  <p:cNvCxnSpPr/>
                  <p:nvPr/>
                </p:nvCxnSpPr>
                <p:spPr>
                  <a:xfrm flipV="1">
                    <a:off x="6025335" y="3290605"/>
                    <a:ext cx="0" cy="478259"/>
                  </a:xfrm>
                  <a:prstGeom prst="line">
                    <a:avLst/>
                  </a:prstGeom>
                  <a:noFill/>
                  <a:ln w="25400" cap="sq">
                    <a:solidFill>
                      <a:schemeClr val="tx1"/>
                    </a:solidFill>
                    <a:tailEnd type="none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82" name="直接连接符 81"/>
                  <p:cNvCxnSpPr/>
                  <p:nvPr/>
                </p:nvCxnSpPr>
                <p:spPr>
                  <a:xfrm flipV="1">
                    <a:off x="6217423" y="3290605"/>
                    <a:ext cx="0" cy="478259"/>
                  </a:xfrm>
                  <a:prstGeom prst="line">
                    <a:avLst/>
                  </a:prstGeom>
                  <a:noFill/>
                  <a:ln w="25400" cap="sq">
                    <a:solidFill>
                      <a:schemeClr val="tx1"/>
                    </a:solidFill>
                    <a:tailEnd type="none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83" name="直接连接符 82"/>
                  <p:cNvCxnSpPr/>
                  <p:nvPr/>
                </p:nvCxnSpPr>
                <p:spPr>
                  <a:xfrm flipV="1">
                    <a:off x="6409511" y="3290605"/>
                    <a:ext cx="0" cy="478259"/>
                  </a:xfrm>
                  <a:prstGeom prst="line">
                    <a:avLst/>
                  </a:prstGeom>
                  <a:noFill/>
                  <a:ln w="25400" cap="sq">
                    <a:solidFill>
                      <a:schemeClr val="tx1"/>
                    </a:solidFill>
                    <a:tailEnd type="none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84" name="直接连接符 83"/>
                  <p:cNvCxnSpPr/>
                  <p:nvPr/>
                </p:nvCxnSpPr>
                <p:spPr>
                  <a:xfrm flipV="1">
                    <a:off x="6601597" y="3290605"/>
                    <a:ext cx="0" cy="478259"/>
                  </a:xfrm>
                  <a:prstGeom prst="line">
                    <a:avLst/>
                  </a:prstGeom>
                  <a:noFill/>
                  <a:ln w="25400" cap="sq">
                    <a:solidFill>
                      <a:schemeClr val="tx1"/>
                    </a:solidFill>
                    <a:tailEnd type="none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sp>
              <p:nvSpPr>
                <p:cNvPr id="79" name="文本框 78"/>
                <p:cNvSpPr txBox="1"/>
                <p:nvPr/>
              </p:nvSpPr>
              <p:spPr>
                <a:xfrm>
                  <a:off x="6567111" y="3768864"/>
                  <a:ext cx="68973" cy="990321"/>
                </a:xfrm>
                <a:prstGeom prst="rect">
                  <a:avLst/>
                </a:prstGeom>
                <a:solidFill>
                  <a:srgbClr val="FDD11E"/>
                </a:solidFill>
                <a:ln w="28575">
                  <a:solidFill>
                    <a:srgbClr val="0070C0"/>
                  </a:solidFill>
                </a:ln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zh-CN" altLang="en-US" sz="1125" b="1">
                    <a:solidFill>
                      <a:prstClr val="black"/>
                    </a:solidFill>
                    <a:latin typeface="微软雅黑"/>
                    <a:ea typeface="微软雅黑"/>
                  </a:endParaRPr>
                </a:p>
              </p:txBody>
            </p:sp>
          </p:grpSp>
          <p:sp>
            <p:nvSpPr>
              <p:cNvPr id="73" name="文本框 72"/>
              <p:cNvSpPr txBox="1"/>
              <p:nvPr/>
            </p:nvSpPr>
            <p:spPr>
              <a:xfrm>
                <a:off x="5800862" y="1568427"/>
                <a:ext cx="669608" cy="38165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扩展槽</a:t>
                </a:r>
              </a:p>
            </p:txBody>
          </p:sp>
        </p:grpSp>
        <p:cxnSp>
          <p:nvCxnSpPr>
            <p:cNvPr id="85" name="直接连接符 84"/>
            <p:cNvCxnSpPr/>
            <p:nvPr/>
          </p:nvCxnSpPr>
          <p:spPr>
            <a:xfrm flipV="1">
              <a:off x="8820953" y="2837758"/>
              <a:ext cx="0" cy="510904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flipV="1">
              <a:off x="9595825" y="3101819"/>
              <a:ext cx="0" cy="250899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87" name="组合 86"/>
            <p:cNvGrpSpPr/>
            <p:nvPr/>
          </p:nvGrpSpPr>
          <p:grpSpPr>
            <a:xfrm>
              <a:off x="7729200" y="3357578"/>
              <a:ext cx="643159" cy="436139"/>
              <a:chOff x="572855" y="4071205"/>
              <a:chExt cx="1167661" cy="392361"/>
            </a:xfrm>
          </p:grpSpPr>
          <p:sp>
            <p:nvSpPr>
              <p:cNvPr id="88" name="文本框 87"/>
              <p:cNvSpPr txBox="1"/>
              <p:nvPr/>
            </p:nvSpPr>
            <p:spPr>
              <a:xfrm>
                <a:off x="572855" y="4071205"/>
                <a:ext cx="1167661" cy="392361"/>
              </a:xfrm>
              <a:prstGeom prst="rect">
                <a:avLst/>
              </a:prstGeom>
              <a:solidFill>
                <a:srgbClr val="79F5F9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125" b="1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91" name="文本框 90"/>
              <p:cNvSpPr txBox="1"/>
              <p:nvPr/>
            </p:nvSpPr>
            <p:spPr>
              <a:xfrm>
                <a:off x="572855" y="4145503"/>
                <a:ext cx="1167661" cy="2491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显卡</a:t>
                </a:r>
              </a:p>
            </p:txBody>
          </p:sp>
        </p:grpSp>
        <p:cxnSp>
          <p:nvCxnSpPr>
            <p:cNvPr id="92" name="直接连接符 91"/>
            <p:cNvCxnSpPr/>
            <p:nvPr/>
          </p:nvCxnSpPr>
          <p:spPr>
            <a:xfrm flipV="1">
              <a:off x="11742874" y="2824593"/>
              <a:ext cx="0" cy="528123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93" name="组合 92"/>
            <p:cNvGrpSpPr/>
            <p:nvPr/>
          </p:nvGrpSpPr>
          <p:grpSpPr>
            <a:xfrm>
              <a:off x="11404456" y="3355814"/>
              <a:ext cx="699441" cy="436139"/>
              <a:chOff x="525895" y="4071205"/>
              <a:chExt cx="1269841" cy="392361"/>
            </a:xfrm>
          </p:grpSpPr>
          <p:sp>
            <p:nvSpPr>
              <p:cNvPr id="94" name="文本框 93"/>
              <p:cNvSpPr txBox="1"/>
              <p:nvPr/>
            </p:nvSpPr>
            <p:spPr>
              <a:xfrm>
                <a:off x="572855" y="4071205"/>
                <a:ext cx="1167661" cy="392361"/>
              </a:xfrm>
              <a:prstGeom prst="rect">
                <a:avLst/>
              </a:prstGeom>
              <a:solidFill>
                <a:srgbClr val="FDD11E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125" b="1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95" name="文本框 94"/>
              <p:cNvSpPr txBox="1"/>
              <p:nvPr/>
            </p:nvSpPr>
            <p:spPr>
              <a:xfrm>
                <a:off x="525895" y="4145503"/>
                <a:ext cx="1269841" cy="2491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板载</a:t>
                </a:r>
                <a:r>
                  <a:rPr lang="en-US" altLang="zh-CN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IO</a:t>
                </a:r>
                <a:endParaRPr lang="zh-CN" altLang="en-US" sz="1125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6" name="组合 95"/>
            <p:cNvGrpSpPr/>
            <p:nvPr/>
          </p:nvGrpSpPr>
          <p:grpSpPr>
            <a:xfrm>
              <a:off x="6875983" y="3352397"/>
              <a:ext cx="643159" cy="436139"/>
              <a:chOff x="572855" y="4071205"/>
              <a:chExt cx="1167661" cy="392361"/>
            </a:xfrm>
          </p:grpSpPr>
          <p:sp>
            <p:nvSpPr>
              <p:cNvPr id="97" name="文本框 96"/>
              <p:cNvSpPr txBox="1"/>
              <p:nvPr/>
            </p:nvSpPr>
            <p:spPr>
              <a:xfrm>
                <a:off x="572855" y="4071205"/>
                <a:ext cx="1167661" cy="392361"/>
              </a:xfrm>
              <a:prstGeom prst="rect">
                <a:avLst/>
              </a:prstGeom>
              <a:solidFill>
                <a:srgbClr val="FDD11E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125" b="1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572855" y="4145503"/>
                <a:ext cx="1167661" cy="2491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芯片组</a:t>
                </a:r>
              </a:p>
            </p:txBody>
          </p:sp>
        </p:grpSp>
        <p:cxnSp>
          <p:nvCxnSpPr>
            <p:cNvPr id="99" name="直接连接符 98"/>
            <p:cNvCxnSpPr/>
            <p:nvPr/>
          </p:nvCxnSpPr>
          <p:spPr>
            <a:xfrm>
              <a:off x="6913206" y="2835276"/>
              <a:ext cx="5190691" cy="0"/>
            </a:xfrm>
            <a:prstGeom prst="line">
              <a:avLst/>
            </a:prstGeom>
            <a:noFill/>
            <a:ln w="50800" cap="sq">
              <a:solidFill>
                <a:schemeClr val="tx1"/>
              </a:solidFill>
              <a:headEnd type="non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00" name="组合 99"/>
            <p:cNvGrpSpPr/>
            <p:nvPr/>
          </p:nvGrpSpPr>
          <p:grpSpPr>
            <a:xfrm>
              <a:off x="9879184" y="2608336"/>
              <a:ext cx="696540" cy="436139"/>
              <a:chOff x="556900" y="4071205"/>
              <a:chExt cx="1232651" cy="392361"/>
            </a:xfrm>
          </p:grpSpPr>
          <p:sp>
            <p:nvSpPr>
              <p:cNvPr id="101" name="文本框 100"/>
              <p:cNvSpPr txBox="1"/>
              <p:nvPr/>
            </p:nvSpPr>
            <p:spPr>
              <a:xfrm>
                <a:off x="572855" y="4071205"/>
                <a:ext cx="1167661" cy="392361"/>
              </a:xfrm>
              <a:prstGeom prst="rect">
                <a:avLst/>
              </a:prstGeom>
              <a:solidFill>
                <a:srgbClr val="92C5F8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125" b="1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02" name="文本框 101"/>
              <p:cNvSpPr txBox="1"/>
              <p:nvPr/>
            </p:nvSpPr>
            <p:spPr>
              <a:xfrm>
                <a:off x="556900" y="4145503"/>
                <a:ext cx="1232651" cy="2491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ISA</a:t>
                </a:r>
                <a:r>
                  <a:rPr lang="zh-CN" altLang="en-US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桥</a:t>
                </a:r>
              </a:p>
            </p:txBody>
          </p:sp>
        </p:grpSp>
        <p:sp>
          <p:nvSpPr>
            <p:cNvPr id="103" name="文本框 102"/>
            <p:cNvSpPr txBox="1"/>
            <p:nvPr/>
          </p:nvSpPr>
          <p:spPr>
            <a:xfrm>
              <a:off x="10619825" y="2854965"/>
              <a:ext cx="1448563" cy="27699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25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ISA</a:t>
              </a:r>
              <a:r>
                <a:rPr lang="zh-CN" altLang="en-US" sz="1125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总线</a:t>
              </a:r>
            </a:p>
          </p:txBody>
        </p:sp>
        <p:cxnSp>
          <p:nvCxnSpPr>
            <p:cNvPr id="104" name="直接连接符 103"/>
            <p:cNvCxnSpPr/>
            <p:nvPr/>
          </p:nvCxnSpPr>
          <p:spPr>
            <a:xfrm>
              <a:off x="8046331" y="3096668"/>
              <a:ext cx="1549494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05" name="组合 104"/>
            <p:cNvGrpSpPr/>
            <p:nvPr/>
          </p:nvGrpSpPr>
          <p:grpSpPr>
            <a:xfrm>
              <a:off x="8742214" y="1873645"/>
              <a:ext cx="769545" cy="436297"/>
              <a:chOff x="572855" y="4071203"/>
              <a:chExt cx="1167661" cy="392360"/>
            </a:xfrm>
          </p:grpSpPr>
          <p:sp>
            <p:nvSpPr>
              <p:cNvPr id="106" name="文本框 105"/>
              <p:cNvSpPr txBox="1"/>
              <p:nvPr/>
            </p:nvSpPr>
            <p:spPr>
              <a:xfrm>
                <a:off x="572855" y="4071203"/>
                <a:ext cx="1167661" cy="392360"/>
              </a:xfrm>
              <a:prstGeom prst="rect">
                <a:avLst/>
              </a:prstGeom>
              <a:solidFill>
                <a:srgbClr val="FB9562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125" b="1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07" name="文本框 106"/>
              <p:cNvSpPr txBox="1"/>
              <p:nvPr/>
            </p:nvSpPr>
            <p:spPr>
              <a:xfrm>
                <a:off x="572855" y="4145501"/>
                <a:ext cx="1167661" cy="29575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DRAM</a:t>
                </a:r>
                <a:endParaRPr lang="zh-CN" altLang="en-US" sz="1125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8" name="组合 107"/>
            <p:cNvGrpSpPr/>
            <p:nvPr/>
          </p:nvGrpSpPr>
          <p:grpSpPr>
            <a:xfrm>
              <a:off x="8535691" y="3357578"/>
              <a:ext cx="553382" cy="436139"/>
              <a:chOff x="572855" y="4071205"/>
              <a:chExt cx="1167661" cy="392361"/>
            </a:xfrm>
          </p:grpSpPr>
          <p:sp>
            <p:nvSpPr>
              <p:cNvPr id="109" name="文本框 108"/>
              <p:cNvSpPr txBox="1"/>
              <p:nvPr/>
            </p:nvSpPr>
            <p:spPr>
              <a:xfrm>
                <a:off x="572855" y="4071205"/>
                <a:ext cx="1167661" cy="392361"/>
              </a:xfrm>
              <a:prstGeom prst="rect">
                <a:avLst/>
              </a:prstGeom>
              <a:solidFill>
                <a:srgbClr val="79F5F9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125" b="1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10" name="文本框 109"/>
              <p:cNvSpPr txBox="1"/>
              <p:nvPr/>
            </p:nvSpPr>
            <p:spPr>
              <a:xfrm>
                <a:off x="572855" y="4145503"/>
                <a:ext cx="1167661" cy="2491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125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SCSI</a:t>
                </a:r>
                <a:endParaRPr lang="zh-CN" altLang="en-US" sz="1125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1" name="组合 110"/>
            <p:cNvGrpSpPr/>
            <p:nvPr/>
          </p:nvGrpSpPr>
          <p:grpSpPr>
            <a:xfrm>
              <a:off x="9205960" y="3348659"/>
              <a:ext cx="806566" cy="436139"/>
              <a:chOff x="572855" y="4071205"/>
              <a:chExt cx="1167661" cy="392361"/>
            </a:xfrm>
          </p:grpSpPr>
          <p:sp>
            <p:nvSpPr>
              <p:cNvPr id="112" name="文本框 111"/>
              <p:cNvSpPr txBox="1"/>
              <p:nvPr/>
            </p:nvSpPr>
            <p:spPr>
              <a:xfrm>
                <a:off x="572855" y="4071205"/>
                <a:ext cx="1167661" cy="392361"/>
              </a:xfrm>
              <a:prstGeom prst="rect">
                <a:avLst/>
              </a:prstGeom>
              <a:solidFill>
                <a:srgbClr val="79F5F9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125" b="1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13" name="文本框 112"/>
              <p:cNvSpPr txBox="1"/>
              <p:nvPr/>
            </p:nvSpPr>
            <p:spPr>
              <a:xfrm>
                <a:off x="572855" y="4145503"/>
                <a:ext cx="1167661" cy="2491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高速网卡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613556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4000" dirty="0"/>
              <a:t>3.</a:t>
            </a:r>
            <a:r>
              <a:rPr lang="zh-CN" altLang="en-US" sz="4000" dirty="0"/>
              <a:t>多总线结构</a:t>
            </a:r>
          </a:p>
        </p:txBody>
      </p:sp>
      <p:sp>
        <p:nvSpPr>
          <p:cNvPr id="53" name="内容占位符 2"/>
          <p:cNvSpPr txBox="1"/>
          <p:nvPr/>
        </p:nvSpPr>
        <p:spPr bwMode="auto">
          <a:xfrm>
            <a:off x="706718" y="5085025"/>
            <a:ext cx="7277356" cy="18060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68580" tIns="34290" rIns="68580" bIns="34290" numCol="1" anchor="t" anchorCtr="0" compatLnSpc="1"/>
          <a:lstStyle/>
          <a:p>
            <a:pPr marL="257175" indent="-257175" defTabSz="685800" eaLnBrk="0" hangingPunct="0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kern="0" dirty="0">
                <a:solidFill>
                  <a:prstClr val="black"/>
                </a:solidFill>
                <a:latin typeface="微软雅黑"/>
                <a:ea typeface="微软雅黑"/>
              </a:rPr>
              <a:t>高速与低速传输活动分离</a:t>
            </a:r>
            <a:endParaRPr lang="en-US" altLang="zh-CN" kern="0" dirty="0">
              <a:solidFill>
                <a:prstClr val="black"/>
              </a:solidFill>
              <a:latin typeface="微软雅黑"/>
              <a:ea typeface="微软雅黑"/>
            </a:endParaRPr>
          </a:p>
          <a:p>
            <a:pPr marL="609600" lvl="1" indent="-266700" defTabSz="685800" eaLnBrk="0" hangingPunct="0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zh-CN" sz="1500" kern="0" dirty="0">
                <a:solidFill>
                  <a:srgbClr val="C00000"/>
                </a:solidFill>
                <a:latin typeface="微软雅黑"/>
                <a:ea typeface="微软雅黑"/>
              </a:rPr>
              <a:t>将</a:t>
            </a:r>
            <a:r>
              <a:rPr lang="en-US" altLang="zh-CN" sz="1500" kern="0" dirty="0">
                <a:solidFill>
                  <a:srgbClr val="C00000"/>
                </a:solidFill>
                <a:latin typeface="微软雅黑"/>
                <a:ea typeface="微软雅黑"/>
              </a:rPr>
              <a:t>I/O</a:t>
            </a:r>
            <a:r>
              <a:rPr lang="zh-CN" altLang="zh-CN" sz="1500" kern="0" dirty="0">
                <a:solidFill>
                  <a:srgbClr val="C00000"/>
                </a:solidFill>
                <a:latin typeface="微软雅黑"/>
                <a:ea typeface="微软雅黑"/>
              </a:rPr>
              <a:t>设备与主存之间的通信与处理器的活动分离</a:t>
            </a:r>
            <a:endParaRPr lang="en-US" altLang="zh-CN" sz="1500" kern="0" dirty="0">
              <a:solidFill>
                <a:srgbClr val="C00000"/>
              </a:solidFill>
              <a:latin typeface="微软雅黑"/>
              <a:ea typeface="微软雅黑"/>
            </a:endParaRPr>
          </a:p>
          <a:p>
            <a:pPr marL="609600" lvl="1" indent="-266700" defTabSz="685800" eaLnBrk="0" hangingPunct="0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zh-CN" sz="1500" kern="0" dirty="0">
                <a:solidFill>
                  <a:srgbClr val="C00000"/>
                </a:solidFill>
                <a:latin typeface="微软雅黑"/>
                <a:ea typeface="微软雅黑"/>
              </a:rPr>
              <a:t>高速设备靠近</a:t>
            </a:r>
            <a:r>
              <a:rPr lang="en-US" altLang="zh-CN" sz="1500" kern="0" dirty="0">
                <a:solidFill>
                  <a:srgbClr val="C00000"/>
                </a:solidFill>
                <a:latin typeface="微软雅黑"/>
                <a:ea typeface="微软雅黑"/>
              </a:rPr>
              <a:t>CPU</a:t>
            </a:r>
            <a:r>
              <a:rPr lang="zh-CN" altLang="zh-CN" sz="1500" kern="0" dirty="0">
                <a:solidFill>
                  <a:srgbClr val="C00000"/>
                </a:solidFill>
                <a:latin typeface="微软雅黑"/>
                <a:ea typeface="微软雅黑"/>
              </a:rPr>
              <a:t>，慢速设备远离</a:t>
            </a:r>
            <a:r>
              <a:rPr lang="en-US" altLang="zh-CN" sz="1500" kern="0" dirty="0">
                <a:solidFill>
                  <a:srgbClr val="C00000"/>
                </a:solidFill>
                <a:latin typeface="微软雅黑"/>
                <a:ea typeface="微软雅黑"/>
              </a:rPr>
              <a:t>CPU</a:t>
            </a:r>
          </a:p>
          <a:p>
            <a:pPr marL="257175" indent="-257175" defTabSz="685800" eaLnBrk="0" hangingPunct="0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kern="0" dirty="0">
                <a:solidFill>
                  <a:prstClr val="black"/>
                </a:solidFill>
                <a:latin typeface="微软雅黑"/>
                <a:ea typeface="微软雅黑"/>
              </a:rPr>
              <a:t>不</a:t>
            </a:r>
            <a:r>
              <a:rPr lang="zh-CN" altLang="zh-CN" kern="0" dirty="0">
                <a:solidFill>
                  <a:prstClr val="black"/>
                </a:solidFill>
                <a:latin typeface="微软雅黑"/>
                <a:ea typeface="微软雅黑"/>
              </a:rPr>
              <a:t>同层次总线之间采用桥接方式连接和缓冲</a:t>
            </a:r>
          </a:p>
          <a:p>
            <a:pPr marL="257175" indent="-257175" defTabSz="685800" eaLnBrk="0" hangingPunct="0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Font typeface="Wingdings" panose="05000000000000000000" pitchFamily="2" charset="2"/>
              <a:buChar char="n"/>
              <a:defRPr/>
            </a:pPr>
            <a:endParaRPr lang="zh-CN" altLang="en-US" sz="2400" kern="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06718" y="1196752"/>
            <a:ext cx="7681706" cy="3672408"/>
            <a:chOff x="923935" y="1028700"/>
            <a:chExt cx="5525338" cy="3460594"/>
          </a:xfrm>
        </p:grpSpPr>
        <p:cxnSp>
          <p:nvCxnSpPr>
            <p:cNvPr id="28" name="直接连接符 27"/>
            <p:cNvCxnSpPr/>
            <p:nvPr/>
          </p:nvCxnSpPr>
          <p:spPr>
            <a:xfrm flipV="1">
              <a:off x="4640588" y="3665320"/>
              <a:ext cx="0" cy="365273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54" name="组合 53"/>
            <p:cNvGrpSpPr/>
            <p:nvPr/>
          </p:nvGrpSpPr>
          <p:grpSpPr>
            <a:xfrm>
              <a:off x="4328036" y="4042925"/>
              <a:ext cx="643159" cy="436139"/>
              <a:chOff x="572855" y="4071205"/>
              <a:chExt cx="1167661" cy="392361"/>
            </a:xfrm>
          </p:grpSpPr>
          <p:sp>
            <p:nvSpPr>
              <p:cNvPr id="55" name="文本框 54"/>
              <p:cNvSpPr txBox="1"/>
              <p:nvPr/>
            </p:nvSpPr>
            <p:spPr>
              <a:xfrm>
                <a:off x="572855" y="4071205"/>
                <a:ext cx="1167661" cy="392361"/>
              </a:xfrm>
              <a:prstGeom prst="rect">
                <a:avLst/>
              </a:prstGeom>
              <a:solidFill>
                <a:srgbClr val="FDD11E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125" b="1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572855" y="4145503"/>
                <a:ext cx="1167661" cy="2491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BIOS</a:t>
                </a:r>
                <a:endParaRPr lang="zh-CN" altLang="en-US" sz="1125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57" name="直接连接符 56"/>
            <p:cNvCxnSpPr/>
            <p:nvPr/>
          </p:nvCxnSpPr>
          <p:spPr>
            <a:xfrm flipV="1">
              <a:off x="1376416" y="1334837"/>
              <a:ext cx="0" cy="528123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8" name="文本框 57"/>
            <p:cNvSpPr txBox="1"/>
            <p:nvPr/>
          </p:nvSpPr>
          <p:spPr>
            <a:xfrm>
              <a:off x="1623912" y="1028700"/>
              <a:ext cx="1448563" cy="27699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25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HOST</a:t>
              </a:r>
              <a:r>
                <a:rPr lang="zh-CN" altLang="en-US" sz="1125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总线</a:t>
              </a:r>
            </a:p>
          </p:txBody>
        </p:sp>
        <p:grpSp>
          <p:nvGrpSpPr>
            <p:cNvPr id="59" name="组合 58"/>
            <p:cNvGrpSpPr/>
            <p:nvPr/>
          </p:nvGrpSpPr>
          <p:grpSpPr>
            <a:xfrm>
              <a:off x="4917896" y="1482517"/>
              <a:ext cx="1463971" cy="967099"/>
              <a:chOff x="5717004" y="1913917"/>
              <a:chExt cx="1463971" cy="1332493"/>
            </a:xfrm>
          </p:grpSpPr>
          <p:grpSp>
            <p:nvGrpSpPr>
              <p:cNvPr id="60" name="组合 59"/>
              <p:cNvGrpSpPr/>
              <p:nvPr/>
            </p:nvGrpSpPr>
            <p:grpSpPr>
              <a:xfrm flipV="1">
                <a:off x="5717004" y="1913917"/>
                <a:ext cx="837323" cy="1332493"/>
                <a:chOff x="5798761" y="3426692"/>
                <a:chExt cx="837323" cy="1332493"/>
              </a:xfrm>
            </p:grpSpPr>
            <p:sp>
              <p:nvSpPr>
                <p:cNvPr id="62" name="文本框 61"/>
                <p:cNvSpPr txBox="1"/>
                <p:nvPr/>
              </p:nvSpPr>
              <p:spPr>
                <a:xfrm>
                  <a:off x="5798761" y="3768864"/>
                  <a:ext cx="68973" cy="990321"/>
                </a:xfrm>
                <a:prstGeom prst="rect">
                  <a:avLst/>
                </a:prstGeom>
                <a:solidFill>
                  <a:srgbClr val="FDD11E"/>
                </a:solidFill>
                <a:ln w="28575">
                  <a:solidFill>
                    <a:srgbClr val="0070C0"/>
                  </a:solidFill>
                </a:ln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zh-CN" altLang="en-US" sz="1125" b="1">
                    <a:solidFill>
                      <a:prstClr val="black"/>
                    </a:solidFill>
                    <a:latin typeface="微软雅黑"/>
                    <a:ea typeface="微软雅黑"/>
                  </a:endParaRPr>
                </a:p>
              </p:txBody>
            </p:sp>
            <p:sp>
              <p:nvSpPr>
                <p:cNvPr id="63" name="文本框 62"/>
                <p:cNvSpPr txBox="1"/>
                <p:nvPr/>
              </p:nvSpPr>
              <p:spPr>
                <a:xfrm>
                  <a:off x="5990849" y="3768864"/>
                  <a:ext cx="68973" cy="990321"/>
                </a:xfrm>
                <a:prstGeom prst="rect">
                  <a:avLst/>
                </a:prstGeom>
                <a:solidFill>
                  <a:srgbClr val="FDD11E"/>
                </a:solidFill>
                <a:ln w="28575">
                  <a:solidFill>
                    <a:srgbClr val="0070C0"/>
                  </a:solidFill>
                </a:ln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zh-CN" altLang="en-US" sz="1125" b="1">
                    <a:solidFill>
                      <a:prstClr val="black"/>
                    </a:solidFill>
                    <a:latin typeface="微软雅黑"/>
                    <a:ea typeface="微软雅黑"/>
                  </a:endParaRPr>
                </a:p>
              </p:txBody>
            </p:sp>
            <p:sp>
              <p:nvSpPr>
                <p:cNvPr id="64" name="文本框 63"/>
                <p:cNvSpPr txBox="1"/>
                <p:nvPr/>
              </p:nvSpPr>
              <p:spPr>
                <a:xfrm>
                  <a:off x="6182937" y="3768864"/>
                  <a:ext cx="68973" cy="990321"/>
                </a:xfrm>
                <a:prstGeom prst="rect">
                  <a:avLst/>
                </a:prstGeom>
                <a:solidFill>
                  <a:srgbClr val="FDD11E"/>
                </a:solidFill>
                <a:ln w="28575">
                  <a:solidFill>
                    <a:srgbClr val="0070C0"/>
                  </a:solidFill>
                </a:ln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zh-CN" altLang="en-US" sz="1125" b="1">
                    <a:solidFill>
                      <a:prstClr val="black"/>
                    </a:solidFill>
                    <a:latin typeface="微软雅黑"/>
                    <a:ea typeface="微软雅黑"/>
                  </a:endParaRPr>
                </a:p>
              </p:txBody>
            </p:sp>
            <p:sp>
              <p:nvSpPr>
                <p:cNvPr id="65" name="文本框 64"/>
                <p:cNvSpPr txBox="1"/>
                <p:nvPr/>
              </p:nvSpPr>
              <p:spPr>
                <a:xfrm>
                  <a:off x="6375025" y="3768864"/>
                  <a:ext cx="68973" cy="990321"/>
                </a:xfrm>
                <a:prstGeom prst="rect">
                  <a:avLst/>
                </a:prstGeom>
                <a:solidFill>
                  <a:srgbClr val="FDD11E"/>
                </a:solidFill>
                <a:ln w="28575">
                  <a:solidFill>
                    <a:srgbClr val="0070C0"/>
                  </a:solidFill>
                </a:ln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zh-CN" altLang="en-US" sz="1125" b="1">
                    <a:solidFill>
                      <a:prstClr val="black"/>
                    </a:solidFill>
                    <a:latin typeface="微软雅黑"/>
                    <a:ea typeface="微软雅黑"/>
                  </a:endParaRPr>
                </a:p>
              </p:txBody>
            </p:sp>
            <p:grpSp>
              <p:nvGrpSpPr>
                <p:cNvPr id="66" name="组合 65"/>
                <p:cNvGrpSpPr/>
                <p:nvPr/>
              </p:nvGrpSpPr>
              <p:grpSpPr>
                <a:xfrm>
                  <a:off x="5833247" y="3426692"/>
                  <a:ext cx="768350" cy="323700"/>
                  <a:chOff x="5833247" y="3290605"/>
                  <a:chExt cx="768350" cy="478259"/>
                </a:xfrm>
              </p:grpSpPr>
              <p:cxnSp>
                <p:nvCxnSpPr>
                  <p:cNvPr id="68" name="直接连接符 67"/>
                  <p:cNvCxnSpPr/>
                  <p:nvPr/>
                </p:nvCxnSpPr>
                <p:spPr>
                  <a:xfrm flipV="1">
                    <a:off x="5833247" y="3290605"/>
                    <a:ext cx="0" cy="478259"/>
                  </a:xfrm>
                  <a:prstGeom prst="line">
                    <a:avLst/>
                  </a:prstGeom>
                  <a:noFill/>
                  <a:ln w="25400" cap="sq">
                    <a:solidFill>
                      <a:schemeClr val="tx1"/>
                    </a:solidFill>
                    <a:tailEnd type="none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9" name="直接连接符 68"/>
                  <p:cNvCxnSpPr/>
                  <p:nvPr/>
                </p:nvCxnSpPr>
                <p:spPr>
                  <a:xfrm flipV="1">
                    <a:off x="6025335" y="3290605"/>
                    <a:ext cx="0" cy="478259"/>
                  </a:xfrm>
                  <a:prstGeom prst="line">
                    <a:avLst/>
                  </a:prstGeom>
                  <a:noFill/>
                  <a:ln w="25400" cap="sq">
                    <a:solidFill>
                      <a:schemeClr val="tx1"/>
                    </a:solidFill>
                    <a:tailEnd type="none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70" name="直接连接符 69"/>
                  <p:cNvCxnSpPr/>
                  <p:nvPr/>
                </p:nvCxnSpPr>
                <p:spPr>
                  <a:xfrm flipV="1">
                    <a:off x="6217423" y="3290605"/>
                    <a:ext cx="0" cy="478259"/>
                  </a:xfrm>
                  <a:prstGeom prst="line">
                    <a:avLst/>
                  </a:prstGeom>
                  <a:noFill/>
                  <a:ln w="25400" cap="sq">
                    <a:solidFill>
                      <a:schemeClr val="tx1"/>
                    </a:solidFill>
                    <a:tailEnd type="none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71" name="直接连接符 70"/>
                  <p:cNvCxnSpPr/>
                  <p:nvPr/>
                </p:nvCxnSpPr>
                <p:spPr>
                  <a:xfrm flipV="1">
                    <a:off x="6409511" y="3290605"/>
                    <a:ext cx="0" cy="478259"/>
                  </a:xfrm>
                  <a:prstGeom prst="line">
                    <a:avLst/>
                  </a:prstGeom>
                  <a:noFill/>
                  <a:ln w="25400" cap="sq">
                    <a:solidFill>
                      <a:schemeClr val="tx1"/>
                    </a:solidFill>
                    <a:tailEnd type="none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72" name="直接连接符 71"/>
                  <p:cNvCxnSpPr/>
                  <p:nvPr/>
                </p:nvCxnSpPr>
                <p:spPr>
                  <a:xfrm flipV="1">
                    <a:off x="6601597" y="3290605"/>
                    <a:ext cx="0" cy="478259"/>
                  </a:xfrm>
                  <a:prstGeom prst="line">
                    <a:avLst/>
                  </a:prstGeom>
                  <a:noFill/>
                  <a:ln w="25400" cap="sq">
                    <a:solidFill>
                      <a:schemeClr val="tx1"/>
                    </a:solidFill>
                    <a:tailEnd type="none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sp>
              <p:nvSpPr>
                <p:cNvPr id="67" name="文本框 66"/>
                <p:cNvSpPr txBox="1"/>
                <p:nvPr/>
              </p:nvSpPr>
              <p:spPr>
                <a:xfrm>
                  <a:off x="6567111" y="3768864"/>
                  <a:ext cx="68973" cy="990321"/>
                </a:xfrm>
                <a:prstGeom prst="rect">
                  <a:avLst/>
                </a:prstGeom>
                <a:solidFill>
                  <a:srgbClr val="FDD11E"/>
                </a:solidFill>
                <a:ln w="28575">
                  <a:solidFill>
                    <a:srgbClr val="0070C0"/>
                  </a:solidFill>
                </a:ln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lstStyle/>
                <a:p>
                  <a:pPr defTabSz="685800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zh-CN" altLang="en-US" sz="1125" b="1">
                    <a:solidFill>
                      <a:prstClr val="black"/>
                    </a:solidFill>
                    <a:latin typeface="微软雅黑"/>
                    <a:ea typeface="微软雅黑"/>
                  </a:endParaRPr>
                </a:p>
              </p:txBody>
            </p:sp>
          </p:grpSp>
          <p:sp>
            <p:nvSpPr>
              <p:cNvPr id="61" name="文本框 60"/>
              <p:cNvSpPr txBox="1"/>
              <p:nvPr/>
            </p:nvSpPr>
            <p:spPr>
              <a:xfrm>
                <a:off x="6511367" y="2253655"/>
                <a:ext cx="669608" cy="38165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扩展槽</a:t>
                </a:r>
              </a:p>
            </p:txBody>
          </p:sp>
        </p:grpSp>
        <p:cxnSp>
          <p:nvCxnSpPr>
            <p:cNvPr id="73" name="直接连接符 72"/>
            <p:cNvCxnSpPr/>
            <p:nvPr/>
          </p:nvCxnSpPr>
          <p:spPr>
            <a:xfrm>
              <a:off x="923935" y="1308273"/>
              <a:ext cx="5506866" cy="0"/>
            </a:xfrm>
            <a:prstGeom prst="line">
              <a:avLst/>
            </a:prstGeom>
            <a:noFill/>
            <a:ln w="50800" cap="sq">
              <a:solidFill>
                <a:schemeClr val="tx1"/>
              </a:solidFill>
              <a:headEnd type="non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4" name="文本框 73"/>
            <p:cNvSpPr txBox="1"/>
            <p:nvPr/>
          </p:nvSpPr>
          <p:spPr>
            <a:xfrm>
              <a:off x="3611422" y="3377868"/>
              <a:ext cx="923171" cy="24614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25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ISA</a:t>
              </a:r>
              <a:r>
                <a:rPr lang="zh-CN" altLang="en-US" sz="1125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总线</a:t>
              </a:r>
            </a:p>
          </p:txBody>
        </p:sp>
        <p:cxnSp>
          <p:nvCxnSpPr>
            <p:cNvPr id="75" name="直接连接符 74"/>
            <p:cNvCxnSpPr/>
            <p:nvPr/>
          </p:nvCxnSpPr>
          <p:spPr>
            <a:xfrm flipV="1">
              <a:off x="2636392" y="1350423"/>
              <a:ext cx="0" cy="512537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V="1">
              <a:off x="3881485" y="1334837"/>
              <a:ext cx="0" cy="333902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>
              <a:off x="1401147" y="2490909"/>
              <a:ext cx="5029654" cy="0"/>
            </a:xfrm>
            <a:prstGeom prst="line">
              <a:avLst/>
            </a:prstGeom>
            <a:noFill/>
            <a:ln w="50800" cap="sq">
              <a:solidFill>
                <a:schemeClr val="tx1"/>
              </a:solidFill>
              <a:headEnd type="non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923935" y="1689498"/>
              <a:ext cx="904962" cy="436139"/>
              <a:chOff x="572855" y="4071205"/>
              <a:chExt cx="1167661" cy="392361"/>
            </a:xfrm>
          </p:grpSpPr>
          <p:sp>
            <p:nvSpPr>
              <p:cNvPr id="79" name="文本框 78"/>
              <p:cNvSpPr txBox="1"/>
              <p:nvPr/>
            </p:nvSpPr>
            <p:spPr>
              <a:xfrm>
                <a:off x="572855" y="4071205"/>
                <a:ext cx="1167661" cy="392361"/>
              </a:xfrm>
              <a:prstGeom prst="rect">
                <a:avLst/>
              </a:prstGeom>
              <a:solidFill>
                <a:srgbClr val="AECF00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125" b="1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80" name="文本框 79"/>
              <p:cNvSpPr txBox="1"/>
              <p:nvPr/>
            </p:nvSpPr>
            <p:spPr>
              <a:xfrm>
                <a:off x="572855" y="4145503"/>
                <a:ext cx="1167661" cy="2491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CPU</a:t>
                </a:r>
                <a:endParaRPr lang="zh-CN" altLang="en-US" sz="1125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1" name="组合 80"/>
            <p:cNvGrpSpPr/>
            <p:nvPr/>
          </p:nvGrpSpPr>
          <p:grpSpPr>
            <a:xfrm>
              <a:off x="3460945" y="1673912"/>
              <a:ext cx="864274" cy="436139"/>
              <a:chOff x="556900" y="4071205"/>
              <a:chExt cx="1232651" cy="392361"/>
            </a:xfrm>
          </p:grpSpPr>
          <p:sp>
            <p:nvSpPr>
              <p:cNvPr id="82" name="文本框 81"/>
              <p:cNvSpPr txBox="1"/>
              <p:nvPr/>
            </p:nvSpPr>
            <p:spPr>
              <a:xfrm>
                <a:off x="572855" y="4071205"/>
                <a:ext cx="1167661" cy="392361"/>
              </a:xfrm>
              <a:prstGeom prst="rect">
                <a:avLst/>
              </a:prstGeom>
              <a:solidFill>
                <a:srgbClr val="92C5F8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125" b="1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83" name="文本框 82"/>
              <p:cNvSpPr txBox="1"/>
              <p:nvPr/>
            </p:nvSpPr>
            <p:spPr>
              <a:xfrm>
                <a:off x="556900" y="4145503"/>
                <a:ext cx="1232651" cy="2491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PCI</a:t>
                </a:r>
                <a:r>
                  <a:rPr lang="zh-CN" altLang="en-US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桥</a:t>
                </a:r>
              </a:p>
            </p:txBody>
          </p:sp>
        </p:grpSp>
        <p:grpSp>
          <p:nvGrpSpPr>
            <p:cNvPr id="84" name="组合 83"/>
            <p:cNvGrpSpPr/>
            <p:nvPr/>
          </p:nvGrpSpPr>
          <p:grpSpPr>
            <a:xfrm>
              <a:off x="2254731" y="1689340"/>
              <a:ext cx="769545" cy="436297"/>
              <a:chOff x="572855" y="4071203"/>
              <a:chExt cx="1167661" cy="392360"/>
            </a:xfrm>
          </p:grpSpPr>
          <p:sp>
            <p:nvSpPr>
              <p:cNvPr id="85" name="文本框 84"/>
              <p:cNvSpPr txBox="1"/>
              <p:nvPr/>
            </p:nvSpPr>
            <p:spPr>
              <a:xfrm>
                <a:off x="572855" y="4071203"/>
                <a:ext cx="1167661" cy="392360"/>
              </a:xfrm>
              <a:prstGeom prst="rect">
                <a:avLst/>
              </a:prstGeom>
              <a:solidFill>
                <a:srgbClr val="FB9562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125" b="1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86" name="文本框 85"/>
              <p:cNvSpPr txBox="1"/>
              <p:nvPr/>
            </p:nvSpPr>
            <p:spPr>
              <a:xfrm>
                <a:off x="572855" y="4145501"/>
                <a:ext cx="1167661" cy="29575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DRAM</a:t>
                </a:r>
                <a:endParaRPr lang="zh-CN" altLang="en-US" sz="1125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87" name="直接连接符 86"/>
            <p:cNvCxnSpPr/>
            <p:nvPr/>
          </p:nvCxnSpPr>
          <p:spPr>
            <a:xfrm flipV="1">
              <a:off x="2110643" y="2506495"/>
              <a:ext cx="0" cy="528123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flipV="1">
              <a:off x="4717527" y="2522081"/>
              <a:ext cx="0" cy="512537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 flipV="1">
              <a:off x="3411352" y="2509111"/>
              <a:ext cx="0" cy="333902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90" name="组合 89"/>
            <p:cNvGrpSpPr/>
            <p:nvPr/>
          </p:nvGrpSpPr>
          <p:grpSpPr>
            <a:xfrm>
              <a:off x="1658162" y="2861156"/>
              <a:ext cx="904962" cy="436139"/>
              <a:chOff x="572855" y="4071205"/>
              <a:chExt cx="1167661" cy="392361"/>
            </a:xfrm>
          </p:grpSpPr>
          <p:sp>
            <p:nvSpPr>
              <p:cNvPr id="91" name="文本框 90"/>
              <p:cNvSpPr txBox="1"/>
              <p:nvPr/>
            </p:nvSpPr>
            <p:spPr>
              <a:xfrm>
                <a:off x="572855" y="4071205"/>
                <a:ext cx="1167661" cy="392361"/>
              </a:xfrm>
              <a:prstGeom prst="rect">
                <a:avLst/>
              </a:prstGeom>
              <a:solidFill>
                <a:srgbClr val="79F5F9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125" b="1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92" name="文本框 91"/>
              <p:cNvSpPr txBox="1"/>
              <p:nvPr/>
            </p:nvSpPr>
            <p:spPr>
              <a:xfrm>
                <a:off x="572855" y="4145503"/>
                <a:ext cx="1167661" cy="2491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显卡</a:t>
                </a: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2944785" y="2848186"/>
              <a:ext cx="910301" cy="436139"/>
              <a:chOff x="491255" y="4071205"/>
              <a:chExt cx="1298296" cy="392361"/>
            </a:xfrm>
          </p:grpSpPr>
          <p:sp>
            <p:nvSpPr>
              <p:cNvPr id="94" name="文本框 93"/>
              <p:cNvSpPr txBox="1"/>
              <p:nvPr/>
            </p:nvSpPr>
            <p:spPr>
              <a:xfrm>
                <a:off x="572855" y="4071205"/>
                <a:ext cx="1167661" cy="392361"/>
              </a:xfrm>
              <a:prstGeom prst="rect">
                <a:avLst/>
              </a:prstGeom>
              <a:solidFill>
                <a:srgbClr val="92C5F8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125" b="1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95" name="文本框 94"/>
              <p:cNvSpPr txBox="1"/>
              <p:nvPr/>
            </p:nvSpPr>
            <p:spPr>
              <a:xfrm>
                <a:off x="491255" y="4145503"/>
                <a:ext cx="1298296" cy="2491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PCI/ISA</a:t>
                </a:r>
                <a:r>
                  <a:rPr lang="zh-CN" altLang="en-US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桥</a:t>
                </a:r>
              </a:p>
            </p:txBody>
          </p:sp>
        </p:grpSp>
        <p:grpSp>
          <p:nvGrpSpPr>
            <p:cNvPr id="96" name="组合 95"/>
            <p:cNvGrpSpPr/>
            <p:nvPr/>
          </p:nvGrpSpPr>
          <p:grpSpPr>
            <a:xfrm>
              <a:off x="4335866" y="2860998"/>
              <a:ext cx="769545" cy="436297"/>
              <a:chOff x="572855" y="4071203"/>
              <a:chExt cx="1167661" cy="392360"/>
            </a:xfrm>
          </p:grpSpPr>
          <p:sp>
            <p:nvSpPr>
              <p:cNvPr id="97" name="文本框 96"/>
              <p:cNvSpPr txBox="1"/>
              <p:nvPr/>
            </p:nvSpPr>
            <p:spPr>
              <a:xfrm>
                <a:off x="572855" y="4071203"/>
                <a:ext cx="1167661" cy="392360"/>
              </a:xfrm>
              <a:prstGeom prst="rect">
                <a:avLst/>
              </a:prstGeom>
              <a:solidFill>
                <a:srgbClr val="79F5F9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125" b="1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572855" y="4145501"/>
                <a:ext cx="1167661" cy="29575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磁盘</a:t>
                </a:r>
              </a:p>
            </p:txBody>
          </p:sp>
        </p:grpSp>
        <p:cxnSp>
          <p:nvCxnSpPr>
            <p:cNvPr id="99" name="直接连接符 98"/>
            <p:cNvCxnSpPr/>
            <p:nvPr/>
          </p:nvCxnSpPr>
          <p:spPr>
            <a:xfrm flipV="1">
              <a:off x="5998664" y="2524896"/>
              <a:ext cx="0" cy="333902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V="1">
              <a:off x="3881485" y="2131467"/>
              <a:ext cx="0" cy="333902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1" name="文本框 100"/>
            <p:cNvSpPr txBox="1"/>
            <p:nvPr/>
          </p:nvSpPr>
          <p:spPr>
            <a:xfrm>
              <a:off x="2652987" y="2223011"/>
              <a:ext cx="1000455" cy="27699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25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PCI</a:t>
              </a:r>
              <a:r>
                <a:rPr lang="zh-CN" altLang="en-US" sz="1125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总线</a:t>
              </a:r>
            </a:p>
          </p:txBody>
        </p:sp>
        <p:cxnSp>
          <p:nvCxnSpPr>
            <p:cNvPr id="102" name="直接连接符 101"/>
            <p:cNvCxnSpPr/>
            <p:nvPr/>
          </p:nvCxnSpPr>
          <p:spPr>
            <a:xfrm>
              <a:off x="1851666" y="3665320"/>
              <a:ext cx="4579135" cy="0"/>
            </a:xfrm>
            <a:prstGeom prst="line">
              <a:avLst/>
            </a:prstGeom>
            <a:noFill/>
            <a:ln w="50800" cap="sq">
              <a:solidFill>
                <a:schemeClr val="tx1"/>
              </a:solidFill>
              <a:headEnd type="non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flipV="1">
              <a:off x="3422949" y="3294937"/>
              <a:ext cx="0" cy="333902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 flipV="1">
              <a:off x="2314410" y="3665320"/>
              <a:ext cx="0" cy="398006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05" name="组合 104"/>
            <p:cNvGrpSpPr/>
            <p:nvPr/>
          </p:nvGrpSpPr>
          <p:grpSpPr>
            <a:xfrm>
              <a:off x="1940137" y="4052997"/>
              <a:ext cx="769545" cy="436297"/>
              <a:chOff x="572855" y="4071203"/>
              <a:chExt cx="1167661" cy="392360"/>
            </a:xfrm>
          </p:grpSpPr>
          <p:sp>
            <p:nvSpPr>
              <p:cNvPr id="106" name="文本框 105"/>
              <p:cNvSpPr txBox="1"/>
              <p:nvPr/>
            </p:nvSpPr>
            <p:spPr>
              <a:xfrm>
                <a:off x="572855" y="4071203"/>
                <a:ext cx="1167661" cy="392360"/>
              </a:xfrm>
              <a:prstGeom prst="rect">
                <a:avLst/>
              </a:prstGeom>
              <a:solidFill>
                <a:srgbClr val="79F5F9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125" b="1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07" name="文本框 106"/>
              <p:cNvSpPr txBox="1"/>
              <p:nvPr/>
            </p:nvSpPr>
            <p:spPr>
              <a:xfrm>
                <a:off x="572855" y="4145501"/>
                <a:ext cx="1167661" cy="29575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串口</a:t>
                </a:r>
              </a:p>
            </p:txBody>
          </p:sp>
        </p:grpSp>
        <p:cxnSp>
          <p:nvCxnSpPr>
            <p:cNvPr id="108" name="直接连接符 107"/>
            <p:cNvCxnSpPr/>
            <p:nvPr/>
          </p:nvCxnSpPr>
          <p:spPr>
            <a:xfrm flipV="1">
              <a:off x="3507539" y="3665320"/>
              <a:ext cx="0" cy="398006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09" name="组合 108"/>
            <p:cNvGrpSpPr/>
            <p:nvPr/>
          </p:nvGrpSpPr>
          <p:grpSpPr>
            <a:xfrm>
              <a:off x="3133266" y="4052997"/>
              <a:ext cx="769545" cy="436297"/>
              <a:chOff x="572855" y="4071203"/>
              <a:chExt cx="1167661" cy="392360"/>
            </a:xfrm>
          </p:grpSpPr>
          <p:sp>
            <p:nvSpPr>
              <p:cNvPr id="110" name="文本框 109"/>
              <p:cNvSpPr txBox="1"/>
              <p:nvPr/>
            </p:nvSpPr>
            <p:spPr>
              <a:xfrm>
                <a:off x="572855" y="4071203"/>
                <a:ext cx="1167661" cy="392360"/>
              </a:xfrm>
              <a:prstGeom prst="rect">
                <a:avLst/>
              </a:prstGeom>
              <a:solidFill>
                <a:srgbClr val="79F5F9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125" b="1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11" name="文本框 110"/>
              <p:cNvSpPr txBox="1"/>
              <p:nvPr/>
            </p:nvSpPr>
            <p:spPr>
              <a:xfrm>
                <a:off x="572855" y="4145501"/>
                <a:ext cx="1167661" cy="29575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并口</a:t>
                </a:r>
              </a:p>
            </p:txBody>
          </p:sp>
        </p:grpSp>
        <p:cxnSp>
          <p:nvCxnSpPr>
            <p:cNvPr id="112" name="直接连接符 111"/>
            <p:cNvCxnSpPr/>
            <p:nvPr/>
          </p:nvCxnSpPr>
          <p:spPr>
            <a:xfrm flipV="1">
              <a:off x="5773658" y="3660209"/>
              <a:ext cx="0" cy="365273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13" name="组合 112"/>
            <p:cNvGrpSpPr/>
            <p:nvPr/>
          </p:nvGrpSpPr>
          <p:grpSpPr>
            <a:xfrm>
              <a:off x="5461106" y="4037814"/>
              <a:ext cx="643159" cy="436139"/>
              <a:chOff x="572855" y="4071205"/>
              <a:chExt cx="1167661" cy="392361"/>
            </a:xfrm>
          </p:grpSpPr>
          <p:sp>
            <p:nvSpPr>
              <p:cNvPr id="114" name="文本框 113"/>
              <p:cNvSpPr txBox="1"/>
              <p:nvPr/>
            </p:nvSpPr>
            <p:spPr>
              <a:xfrm>
                <a:off x="572855" y="4071205"/>
                <a:ext cx="1167661" cy="392361"/>
              </a:xfrm>
              <a:prstGeom prst="rect">
                <a:avLst/>
              </a:prstGeom>
              <a:solidFill>
                <a:srgbClr val="FDD11E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125" b="1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15" name="文本框 114"/>
              <p:cNvSpPr txBox="1"/>
              <p:nvPr/>
            </p:nvSpPr>
            <p:spPr>
              <a:xfrm>
                <a:off x="572855" y="4145503"/>
                <a:ext cx="1167661" cy="2491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Timer</a:t>
                </a:r>
                <a:endParaRPr lang="zh-CN" altLang="en-US" sz="1125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6" name="组合 115"/>
            <p:cNvGrpSpPr/>
            <p:nvPr/>
          </p:nvGrpSpPr>
          <p:grpSpPr>
            <a:xfrm>
              <a:off x="5512632" y="2858798"/>
              <a:ext cx="936641" cy="436139"/>
              <a:chOff x="480034" y="4071205"/>
              <a:chExt cx="1335863" cy="392361"/>
            </a:xfrm>
          </p:grpSpPr>
          <p:sp>
            <p:nvSpPr>
              <p:cNvPr id="117" name="文本框 116"/>
              <p:cNvSpPr txBox="1"/>
              <p:nvPr/>
            </p:nvSpPr>
            <p:spPr>
              <a:xfrm>
                <a:off x="572855" y="4071205"/>
                <a:ext cx="1167661" cy="392361"/>
              </a:xfrm>
              <a:prstGeom prst="rect">
                <a:avLst/>
              </a:prstGeom>
              <a:solidFill>
                <a:srgbClr val="92C5F8"/>
              </a:solidFill>
              <a:ln w="28575">
                <a:solidFill>
                  <a:srgbClr val="0070C0"/>
                </a:solidFill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125" b="1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18" name="文本框 117"/>
              <p:cNvSpPr txBox="1"/>
              <p:nvPr/>
            </p:nvSpPr>
            <p:spPr>
              <a:xfrm>
                <a:off x="480034" y="4145503"/>
                <a:ext cx="1335863" cy="2491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PCI/PCI</a:t>
                </a:r>
                <a:r>
                  <a:rPr lang="zh-CN" altLang="en-US" sz="1125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桥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22167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矩形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000" dirty="0"/>
              <a:t>总线结构与系统性能关系</a:t>
            </a:r>
          </a:p>
        </p:txBody>
      </p:sp>
      <p:sp>
        <p:nvSpPr>
          <p:cNvPr id="19460" name="矩形 3"/>
          <p:cNvSpPr>
            <a:spLocks noGrp="1" noChangeArrowheads="1"/>
          </p:cNvSpPr>
          <p:nvPr>
            <p:ph type="body" idx="1"/>
          </p:nvPr>
        </p:nvSpPr>
        <p:spPr>
          <a:xfrm>
            <a:off x="365867" y="942764"/>
            <a:ext cx="8238581" cy="5438564"/>
          </a:xfrm>
        </p:spPr>
        <p:txBody>
          <a:bodyPr/>
          <a:lstStyle/>
          <a:p>
            <a:r>
              <a:rPr lang="zh-CN" altLang="en-US" b="1" dirty="0"/>
              <a:t>最大存储容量</a:t>
            </a:r>
          </a:p>
          <a:p>
            <a:pPr lvl="1"/>
            <a:r>
              <a:rPr lang="zh-CN" altLang="en-US" sz="1800" dirty="0"/>
              <a:t>单总线系统中</a:t>
            </a:r>
            <a:r>
              <a:rPr lang="en-US" altLang="zh-CN" sz="1800" dirty="0"/>
              <a:t>,</a:t>
            </a:r>
            <a:r>
              <a:rPr lang="zh-CN" altLang="en-US" sz="1800" dirty="0"/>
              <a:t>内存要为外设保留一些地址</a:t>
            </a:r>
            <a:endParaRPr lang="en-US" altLang="zh-CN" sz="1800" dirty="0"/>
          </a:p>
          <a:p>
            <a:r>
              <a:rPr lang="zh-CN" altLang="en-US" b="1" dirty="0"/>
              <a:t>指令系统    </a:t>
            </a:r>
          </a:p>
          <a:p>
            <a:pPr lvl="1"/>
            <a:r>
              <a:rPr lang="zh-CN" altLang="en-US" sz="1800" dirty="0"/>
              <a:t>单总线系统中</a:t>
            </a:r>
            <a:r>
              <a:rPr lang="en-US" altLang="zh-CN" sz="1800" dirty="0"/>
              <a:t>,</a:t>
            </a:r>
            <a:r>
              <a:rPr lang="zh-CN" altLang="en-US" sz="1800" dirty="0"/>
              <a:t>无须专门的</a:t>
            </a:r>
            <a:r>
              <a:rPr lang="en-US" altLang="zh-CN" sz="1800" dirty="0"/>
              <a:t>I/O</a:t>
            </a:r>
            <a:r>
              <a:rPr lang="zh-CN" altLang="en-US" sz="1800" dirty="0"/>
              <a:t>指令</a:t>
            </a:r>
            <a:endParaRPr lang="en-US" altLang="zh-CN" sz="1800" dirty="0"/>
          </a:p>
          <a:p>
            <a:pPr lvl="1"/>
            <a:r>
              <a:rPr lang="zh-CN" altLang="en-US" sz="1800" dirty="0"/>
              <a:t>双总线系统中</a:t>
            </a:r>
            <a:r>
              <a:rPr lang="en-US" altLang="zh-CN" sz="1800" dirty="0"/>
              <a:t>,</a:t>
            </a:r>
            <a:r>
              <a:rPr lang="zh-CN" altLang="en-US" sz="1800" dirty="0"/>
              <a:t>设有专门的</a:t>
            </a:r>
            <a:r>
              <a:rPr lang="en-US" altLang="zh-CN" sz="1800" dirty="0"/>
              <a:t>I/O</a:t>
            </a:r>
            <a:r>
              <a:rPr lang="zh-CN" altLang="en-US" sz="1800" dirty="0"/>
              <a:t>指令</a:t>
            </a:r>
            <a:endParaRPr lang="en-US" altLang="zh-CN" sz="1800" dirty="0"/>
          </a:p>
          <a:p>
            <a:r>
              <a:rPr lang="zh-CN" altLang="en-US" b="1" dirty="0"/>
              <a:t>吞吐量</a:t>
            </a:r>
          </a:p>
          <a:p>
            <a:pPr lvl="1"/>
            <a:r>
              <a:rPr lang="zh-CN" altLang="en-US" sz="1800" dirty="0"/>
              <a:t>三总线系统比单总线系统要大得多</a:t>
            </a:r>
            <a:endParaRPr lang="en-US" altLang="zh-CN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587209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4.</a:t>
            </a:r>
            <a:r>
              <a:rPr lang="zh-CN" altLang="en-US" sz="4000" dirty="0"/>
              <a:t>高性能总线</a:t>
            </a:r>
            <a:br>
              <a:rPr lang="en-US" altLang="zh-CN" sz="4000" dirty="0"/>
            </a:br>
            <a:r>
              <a:rPr lang="en-US" altLang="zh-CN" sz="4000" dirty="0"/>
              <a:t>—</a:t>
            </a:r>
            <a:r>
              <a:rPr lang="zh-CN" altLang="zh-CN" sz="2400" dirty="0">
                <a:solidFill>
                  <a:schemeClr val="tx1"/>
                </a:solidFill>
              </a:rPr>
              <a:t>采用南北桥结构的奔腾机系统总线结构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" name="Rectangle 55"/>
          <p:cNvSpPr>
            <a:spLocks noChangeArrowheads="1"/>
          </p:cNvSpPr>
          <p:nvPr/>
        </p:nvSpPr>
        <p:spPr bwMode="auto">
          <a:xfrm>
            <a:off x="2195737" y="1994357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endParaRPr lang="zh-CN" altLang="en-US" sz="135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 rotWithShape="1">
          <a:blip r:embed="rId2"/>
          <a:srcRect r="37672"/>
          <a:stretch/>
        </p:blipFill>
        <p:spPr>
          <a:xfrm>
            <a:off x="1871700" y="1534838"/>
            <a:ext cx="5400600" cy="48847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14A45C6F-9C68-4983-A4A7-6F69CE1D58C2}"/>
              </a:ext>
            </a:extLst>
          </p:cNvPr>
          <p:cNvCxnSpPr/>
          <p:nvPr/>
        </p:nvCxnSpPr>
        <p:spPr>
          <a:xfrm>
            <a:off x="2278005" y="4761658"/>
            <a:ext cx="0" cy="348545"/>
          </a:xfrm>
          <a:prstGeom prst="line">
            <a:avLst/>
          </a:prstGeom>
          <a:ln w="19050">
            <a:solidFill>
              <a:srgbClr val="F8901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4000" dirty="0"/>
              <a:t>采用前端总线的南北桥结构 </a:t>
            </a:r>
            <a:r>
              <a:rPr lang="en-US" altLang="zh-CN" sz="4000" dirty="0"/>
              <a:t>IA-64</a:t>
            </a: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A3D32651-0157-408E-A001-B6D1AD51166C}"/>
              </a:ext>
            </a:extLst>
          </p:cNvPr>
          <p:cNvGrpSpPr/>
          <p:nvPr/>
        </p:nvGrpSpPr>
        <p:grpSpPr>
          <a:xfrm>
            <a:off x="1760050" y="2423761"/>
            <a:ext cx="1050266" cy="1050266"/>
            <a:chOff x="7462345" y="2301766"/>
            <a:chExt cx="1408386" cy="1408386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1686DAC7-890C-4C68-B210-A57F4B1557FF}"/>
                </a:ext>
              </a:extLst>
            </p:cNvPr>
            <p:cNvSpPr/>
            <p:nvPr/>
          </p:nvSpPr>
          <p:spPr>
            <a:xfrm>
              <a:off x="7462345" y="2301766"/>
              <a:ext cx="1408386" cy="1408386"/>
            </a:xfrm>
            <a:prstGeom prst="rect">
              <a:avLst/>
            </a:prstGeom>
            <a:solidFill>
              <a:srgbClr val="1E74B5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35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80" name="矩形: 圆角 5">
              <a:extLst>
                <a:ext uri="{FF2B5EF4-FFF2-40B4-BE49-F238E27FC236}">
                  <a16:creationId xmlns:a16="http://schemas.microsoft.com/office/drawing/2014/main" id="{627A2D8B-5B73-4A38-BF43-87B417C5046F}"/>
                </a:ext>
              </a:extLst>
            </p:cNvPr>
            <p:cNvSpPr/>
            <p:nvPr/>
          </p:nvSpPr>
          <p:spPr>
            <a:xfrm>
              <a:off x="7621061" y="2460482"/>
              <a:ext cx="1090954" cy="1090954"/>
            </a:xfrm>
            <a:prstGeom prst="roundRect">
              <a:avLst>
                <a:gd name="adj" fmla="val 11707"/>
              </a:avLst>
            </a:prstGeom>
            <a:solidFill>
              <a:srgbClr val="97ABCF"/>
            </a:solidFill>
            <a:ln>
              <a:solidFill>
                <a:schemeClr val="bg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 b="1">
                  <a:solidFill>
                    <a:prstClr val="white"/>
                  </a:solidFill>
                  <a:latin typeface="微软雅黑"/>
                  <a:ea typeface="微软雅黑"/>
                </a:rPr>
                <a:t>MCH</a:t>
              </a:r>
              <a:endParaRPr lang="zh-CN" altLang="en-US" sz="1050" b="1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E0DA35A7-94E6-44CE-BAD1-4D81403C6F80}"/>
              </a:ext>
            </a:extLst>
          </p:cNvPr>
          <p:cNvGrpSpPr/>
          <p:nvPr/>
        </p:nvGrpSpPr>
        <p:grpSpPr>
          <a:xfrm>
            <a:off x="604990" y="2793805"/>
            <a:ext cx="818987" cy="297836"/>
            <a:chOff x="1678806" y="2245486"/>
            <a:chExt cx="1657321" cy="399393"/>
          </a:xfrm>
        </p:grpSpPr>
        <p:sp>
          <p:nvSpPr>
            <p:cNvPr id="82" name="矩形: 圆角 7">
              <a:extLst>
                <a:ext uri="{FF2B5EF4-FFF2-40B4-BE49-F238E27FC236}">
                  <a16:creationId xmlns:a16="http://schemas.microsoft.com/office/drawing/2014/main" id="{7A3A4247-8A7D-438C-A349-6E7546E23BB2}"/>
                </a:ext>
              </a:extLst>
            </p:cNvPr>
            <p:cNvSpPr/>
            <p:nvPr/>
          </p:nvSpPr>
          <p:spPr>
            <a:xfrm>
              <a:off x="1678806" y="2245486"/>
              <a:ext cx="1657321" cy="399393"/>
            </a:xfrm>
            <a:prstGeom prst="roundRect">
              <a:avLst>
                <a:gd name="adj" fmla="val 50000"/>
              </a:avLst>
            </a:prstGeom>
            <a:solidFill>
              <a:srgbClr val="D10878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35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F699DDB0-BB48-4348-8199-C0F24D7C76AE}"/>
                </a:ext>
              </a:extLst>
            </p:cNvPr>
            <p:cNvSpPr txBox="1"/>
            <p:nvPr/>
          </p:nvSpPr>
          <p:spPr>
            <a:xfrm>
              <a:off x="1950874" y="2308255"/>
              <a:ext cx="1281979" cy="3095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>
                  <a:solidFill>
                    <a:prstClr val="white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rPr>
                <a:t>AGP  4X</a:t>
              </a:r>
              <a:endParaRPr lang="zh-CN" altLang="en-US" sz="900" b="1" dirty="0">
                <a:solidFill>
                  <a:prstClr val="white"/>
                </a:solidFill>
                <a:latin typeface="Consolas" panose="020B0609020204030204" pitchFamily="49" charset="0"/>
                <a:ea typeface="微软雅黑"/>
                <a:cs typeface="Segoe UI Black" panose="020B0A02040204020203" pitchFamily="34" charset="0"/>
              </a:endParaRP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8B7C2EBC-5369-473F-AB29-E55E99C1027F}"/>
              </a:ext>
            </a:extLst>
          </p:cNvPr>
          <p:cNvGrpSpPr/>
          <p:nvPr/>
        </p:nvGrpSpPr>
        <p:grpSpPr>
          <a:xfrm>
            <a:off x="3159917" y="2532649"/>
            <a:ext cx="862214" cy="297836"/>
            <a:chOff x="1507328" y="2245486"/>
            <a:chExt cx="1828799" cy="399393"/>
          </a:xfrm>
        </p:grpSpPr>
        <p:sp>
          <p:nvSpPr>
            <p:cNvPr id="85" name="矩形: 圆角 19">
              <a:extLst>
                <a:ext uri="{FF2B5EF4-FFF2-40B4-BE49-F238E27FC236}">
                  <a16:creationId xmlns:a16="http://schemas.microsoft.com/office/drawing/2014/main" id="{662FF55C-30B1-416D-B8D6-96D4C6580BAD}"/>
                </a:ext>
              </a:extLst>
            </p:cNvPr>
            <p:cNvSpPr/>
            <p:nvPr/>
          </p:nvSpPr>
          <p:spPr>
            <a:xfrm>
              <a:off x="1507328" y="2245486"/>
              <a:ext cx="1828799" cy="399393"/>
            </a:xfrm>
            <a:prstGeom prst="roundRect">
              <a:avLst>
                <a:gd name="adj" fmla="val 50000"/>
              </a:avLst>
            </a:prstGeom>
            <a:solidFill>
              <a:srgbClr val="00A19F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35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FBABF7B2-1F62-4B94-993C-BC6BBFD82F6B}"/>
                </a:ext>
              </a:extLst>
            </p:cNvPr>
            <p:cNvSpPr txBox="1"/>
            <p:nvPr/>
          </p:nvSpPr>
          <p:spPr>
            <a:xfrm>
              <a:off x="1953879" y="2306682"/>
              <a:ext cx="935695" cy="3095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 dirty="0">
                  <a:solidFill>
                    <a:prstClr val="white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rPr>
                <a:t>DDR2</a:t>
              </a:r>
              <a:endParaRPr lang="zh-CN" altLang="en-US" sz="900" b="1" dirty="0">
                <a:solidFill>
                  <a:prstClr val="white"/>
                </a:solidFill>
                <a:latin typeface="Consolas" panose="020B0609020204030204" pitchFamily="49" charset="0"/>
                <a:ea typeface="微软雅黑"/>
                <a:cs typeface="Segoe UI Black" panose="020B0A02040204020203" pitchFamily="34" charset="0"/>
              </a:endParaRPr>
            </a:p>
          </p:txBody>
        </p: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1556E945-162F-4055-9CF6-93DBF27DD980}"/>
              </a:ext>
            </a:extLst>
          </p:cNvPr>
          <p:cNvGrpSpPr/>
          <p:nvPr/>
        </p:nvGrpSpPr>
        <p:grpSpPr>
          <a:xfrm>
            <a:off x="3159917" y="3048362"/>
            <a:ext cx="862214" cy="297836"/>
            <a:chOff x="1507328" y="2245486"/>
            <a:chExt cx="1828799" cy="399393"/>
          </a:xfrm>
        </p:grpSpPr>
        <p:sp>
          <p:nvSpPr>
            <p:cNvPr id="88" name="矩形: 圆角 22">
              <a:extLst>
                <a:ext uri="{FF2B5EF4-FFF2-40B4-BE49-F238E27FC236}">
                  <a16:creationId xmlns:a16="http://schemas.microsoft.com/office/drawing/2014/main" id="{2D8A1A67-F073-401F-AF51-0D79E6DC4A87}"/>
                </a:ext>
              </a:extLst>
            </p:cNvPr>
            <p:cNvSpPr/>
            <p:nvPr/>
          </p:nvSpPr>
          <p:spPr>
            <a:xfrm>
              <a:off x="1507328" y="2245486"/>
              <a:ext cx="1828799" cy="399393"/>
            </a:xfrm>
            <a:prstGeom prst="roundRect">
              <a:avLst>
                <a:gd name="adj" fmla="val 50000"/>
              </a:avLst>
            </a:prstGeom>
            <a:solidFill>
              <a:srgbClr val="00A19F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35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47DB0689-C60B-40E2-95E1-3B99598A10D0}"/>
                </a:ext>
              </a:extLst>
            </p:cNvPr>
            <p:cNvSpPr txBox="1"/>
            <p:nvPr/>
          </p:nvSpPr>
          <p:spPr>
            <a:xfrm>
              <a:off x="1953879" y="2306682"/>
              <a:ext cx="935695" cy="3095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 dirty="0">
                  <a:solidFill>
                    <a:prstClr val="white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rPr>
                <a:t>DDR2</a:t>
              </a:r>
              <a:endParaRPr lang="zh-CN" altLang="en-US" sz="900" b="1" dirty="0">
                <a:solidFill>
                  <a:prstClr val="white"/>
                </a:solidFill>
                <a:latin typeface="Consolas" panose="020B0609020204030204" pitchFamily="49" charset="0"/>
                <a:ea typeface="微软雅黑"/>
                <a:cs typeface="Segoe UI Black" panose="020B0A02040204020203" pitchFamily="34" charset="0"/>
              </a:endParaRPr>
            </a:p>
          </p:txBody>
        </p:sp>
      </p:grp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97361067-2C67-4EE1-A10C-90A2DD24CC47}"/>
              </a:ext>
            </a:extLst>
          </p:cNvPr>
          <p:cNvGrpSpPr/>
          <p:nvPr/>
        </p:nvGrpSpPr>
        <p:grpSpPr>
          <a:xfrm>
            <a:off x="3159917" y="3684228"/>
            <a:ext cx="862214" cy="369332"/>
            <a:chOff x="1507328" y="2214349"/>
            <a:chExt cx="1828799" cy="495267"/>
          </a:xfrm>
        </p:grpSpPr>
        <p:sp>
          <p:nvSpPr>
            <p:cNvPr id="91" name="矩形: 圆角 25">
              <a:extLst>
                <a:ext uri="{FF2B5EF4-FFF2-40B4-BE49-F238E27FC236}">
                  <a16:creationId xmlns:a16="http://schemas.microsoft.com/office/drawing/2014/main" id="{0F55F32B-1DA5-4D71-A613-C0212A95C66A}"/>
                </a:ext>
              </a:extLst>
            </p:cNvPr>
            <p:cNvSpPr/>
            <p:nvPr/>
          </p:nvSpPr>
          <p:spPr>
            <a:xfrm>
              <a:off x="1507328" y="2245486"/>
              <a:ext cx="1828799" cy="399393"/>
            </a:xfrm>
            <a:prstGeom prst="roundRect">
              <a:avLst>
                <a:gd name="adj" fmla="val 50000"/>
              </a:avLst>
            </a:prstGeom>
            <a:solidFill>
              <a:srgbClr val="00A19F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35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FF50261E-9751-42E3-8703-2C6D4618E43D}"/>
                </a:ext>
              </a:extLst>
            </p:cNvPr>
            <p:cNvSpPr txBox="1"/>
            <p:nvPr/>
          </p:nvSpPr>
          <p:spPr>
            <a:xfrm>
              <a:off x="1633499" y="2214349"/>
              <a:ext cx="1615703" cy="4952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>
                  <a:solidFill>
                    <a:prstClr val="white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rPr>
                <a:t>6 Channel</a:t>
              </a:r>
            </a:p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>
                  <a:solidFill>
                    <a:prstClr val="white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rPr>
                <a:t>Audio</a:t>
              </a:r>
              <a:endParaRPr lang="zh-CN" altLang="en-US" sz="900" b="1" dirty="0">
                <a:solidFill>
                  <a:prstClr val="white"/>
                </a:solidFill>
                <a:latin typeface="Consolas" panose="020B0609020204030204" pitchFamily="49" charset="0"/>
                <a:ea typeface="微软雅黑"/>
                <a:cs typeface="Segoe UI Black" panose="020B0A02040204020203" pitchFamily="34" charset="0"/>
              </a:endParaRPr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AC183693-635D-4000-9AD9-CAE139A2D5B2}"/>
              </a:ext>
            </a:extLst>
          </p:cNvPr>
          <p:cNvGrpSpPr/>
          <p:nvPr/>
        </p:nvGrpSpPr>
        <p:grpSpPr>
          <a:xfrm>
            <a:off x="3153515" y="4457318"/>
            <a:ext cx="889988" cy="297837"/>
            <a:chOff x="1493749" y="2245486"/>
            <a:chExt cx="1887709" cy="399393"/>
          </a:xfrm>
        </p:grpSpPr>
        <p:sp>
          <p:nvSpPr>
            <p:cNvPr id="97" name="矩形: 圆角 31">
              <a:extLst>
                <a:ext uri="{FF2B5EF4-FFF2-40B4-BE49-F238E27FC236}">
                  <a16:creationId xmlns:a16="http://schemas.microsoft.com/office/drawing/2014/main" id="{949E666C-16CA-4593-976B-4146CDCD19D3}"/>
                </a:ext>
              </a:extLst>
            </p:cNvPr>
            <p:cNvSpPr/>
            <p:nvPr/>
          </p:nvSpPr>
          <p:spPr>
            <a:xfrm>
              <a:off x="1507328" y="2245486"/>
              <a:ext cx="1828799" cy="399393"/>
            </a:xfrm>
            <a:prstGeom prst="roundRect">
              <a:avLst>
                <a:gd name="adj" fmla="val 50000"/>
              </a:avLst>
            </a:prstGeom>
            <a:solidFill>
              <a:srgbClr val="00A19F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35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8FA8FB2D-35A5-4A99-A870-7F663D1682EC}"/>
                </a:ext>
              </a:extLst>
            </p:cNvPr>
            <p:cNvSpPr txBox="1"/>
            <p:nvPr/>
          </p:nvSpPr>
          <p:spPr>
            <a:xfrm>
              <a:off x="1493749" y="2319570"/>
              <a:ext cx="1887709" cy="3095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>
                  <a:solidFill>
                    <a:prstClr val="white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rPr>
                <a:t>4 USB Ports</a:t>
              </a:r>
              <a:endParaRPr lang="zh-CN" altLang="en-US" sz="900" b="1" dirty="0">
                <a:solidFill>
                  <a:prstClr val="white"/>
                </a:solidFill>
                <a:latin typeface="Consolas" panose="020B0609020204030204" pitchFamily="49" charset="0"/>
                <a:ea typeface="微软雅黑"/>
                <a:cs typeface="Segoe UI Black" panose="020B0A02040204020203" pitchFamily="34" charset="0"/>
              </a:endParaRPr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EC4A3EB3-13C3-4B6B-AD9F-DC29D56D42F0}"/>
              </a:ext>
            </a:extLst>
          </p:cNvPr>
          <p:cNvGrpSpPr/>
          <p:nvPr/>
        </p:nvGrpSpPr>
        <p:grpSpPr>
          <a:xfrm>
            <a:off x="1851583" y="5006305"/>
            <a:ext cx="860813" cy="297837"/>
            <a:chOff x="1507328" y="2245486"/>
            <a:chExt cx="1828799" cy="399393"/>
          </a:xfrm>
        </p:grpSpPr>
        <p:sp>
          <p:nvSpPr>
            <p:cNvPr id="100" name="矩形: 圆角 34">
              <a:extLst>
                <a:ext uri="{FF2B5EF4-FFF2-40B4-BE49-F238E27FC236}">
                  <a16:creationId xmlns:a16="http://schemas.microsoft.com/office/drawing/2014/main" id="{F15E3DCE-4D13-40A0-9F1D-0A5FCEEED04E}"/>
                </a:ext>
              </a:extLst>
            </p:cNvPr>
            <p:cNvSpPr/>
            <p:nvPr/>
          </p:nvSpPr>
          <p:spPr>
            <a:xfrm>
              <a:off x="1507328" y="2245486"/>
              <a:ext cx="1828799" cy="399393"/>
            </a:xfrm>
            <a:prstGeom prst="roundRect">
              <a:avLst>
                <a:gd name="adj" fmla="val 50000"/>
              </a:avLst>
            </a:prstGeom>
            <a:solidFill>
              <a:srgbClr val="00A19F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35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3303E6E6-C39C-4CDE-8DA0-4B6152555826}"/>
                </a:ext>
              </a:extLst>
            </p:cNvPr>
            <p:cNvSpPr txBox="1"/>
            <p:nvPr/>
          </p:nvSpPr>
          <p:spPr>
            <a:xfrm>
              <a:off x="1560045" y="2305888"/>
              <a:ext cx="1754558" cy="3095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>
                  <a:solidFill>
                    <a:prstClr val="white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rPr>
                <a:t>Flash BIOS</a:t>
              </a:r>
              <a:endParaRPr lang="zh-CN" altLang="en-US" sz="900" b="1" dirty="0">
                <a:solidFill>
                  <a:prstClr val="white"/>
                </a:solidFill>
                <a:latin typeface="Consolas" panose="020B0609020204030204" pitchFamily="49" charset="0"/>
                <a:ea typeface="微软雅黑"/>
                <a:cs typeface="Segoe UI Black" panose="020B0A02040204020203" pitchFamily="34" charset="0"/>
              </a:endParaRPr>
            </a:p>
          </p:txBody>
        </p:sp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24D6AF7D-BC3A-4CE1-A743-887131B0AF81}"/>
              </a:ext>
            </a:extLst>
          </p:cNvPr>
          <p:cNvGrpSpPr/>
          <p:nvPr/>
        </p:nvGrpSpPr>
        <p:grpSpPr>
          <a:xfrm>
            <a:off x="1715659" y="1702928"/>
            <a:ext cx="1146469" cy="385018"/>
            <a:chOff x="5428668" y="1339091"/>
            <a:chExt cx="1537393" cy="516301"/>
          </a:xfrm>
        </p:grpSpPr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66C8B0D9-2915-4740-BCFC-305A2FDB8944}"/>
                </a:ext>
              </a:extLst>
            </p:cNvPr>
            <p:cNvSpPr/>
            <p:nvPr/>
          </p:nvSpPr>
          <p:spPr>
            <a:xfrm>
              <a:off x="5476875" y="1339091"/>
              <a:ext cx="1399315" cy="487224"/>
            </a:xfrm>
            <a:prstGeom prst="rect">
              <a:avLst/>
            </a:prstGeom>
            <a:solidFill>
              <a:srgbClr val="E98728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35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66BE758F-048F-44C7-A403-564CB4B97D62}"/>
                </a:ext>
              </a:extLst>
            </p:cNvPr>
            <p:cNvSpPr txBox="1"/>
            <p:nvPr/>
          </p:nvSpPr>
          <p:spPr>
            <a:xfrm>
              <a:off x="5428668" y="1360126"/>
              <a:ext cx="1537393" cy="4952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 dirty="0">
                  <a:solidFill>
                    <a:prstClr val="white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rPr>
                <a:t>Intel Pentium 4</a:t>
              </a:r>
            </a:p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>
                  <a:solidFill>
                    <a:prstClr val="white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rPr>
                <a:t>Processor</a:t>
              </a:r>
              <a:endParaRPr lang="en-US" altLang="zh-CN" sz="900" b="1" dirty="0">
                <a:solidFill>
                  <a:prstClr val="white"/>
                </a:solidFill>
                <a:latin typeface="Consolas" panose="020B0609020204030204" pitchFamily="49" charset="0"/>
                <a:ea typeface="微软雅黑"/>
                <a:cs typeface="Segoe UI Black" panose="020B0A02040204020203" pitchFamily="34" charset="0"/>
              </a:endParaRPr>
            </a:p>
          </p:txBody>
        </p:sp>
      </p:grp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46937F46-4EF2-4541-9D0B-A033CA10549A}"/>
              </a:ext>
            </a:extLst>
          </p:cNvPr>
          <p:cNvCxnSpPr>
            <a:cxnSpLocks/>
            <a:stCxn id="80" idx="2"/>
            <a:endCxn id="126" idx="0"/>
          </p:cNvCxnSpPr>
          <p:nvPr/>
        </p:nvCxnSpPr>
        <p:spPr>
          <a:xfrm>
            <a:off x="2285183" y="3355669"/>
            <a:ext cx="0" cy="3485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82F3128E-D57B-4BA4-AC74-8B4E036897D1}"/>
              </a:ext>
            </a:extLst>
          </p:cNvPr>
          <p:cNvCxnSpPr>
            <a:cxnSpLocks/>
          </p:cNvCxnSpPr>
          <p:nvPr/>
        </p:nvCxnSpPr>
        <p:spPr>
          <a:xfrm>
            <a:off x="2278005" y="3355669"/>
            <a:ext cx="0" cy="348545"/>
          </a:xfrm>
          <a:prstGeom prst="line">
            <a:avLst/>
          </a:prstGeom>
          <a:ln w="57150">
            <a:solidFill>
              <a:srgbClr val="F8901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79656DD0-1562-42E4-9B6F-A5C54AD6D2F0}"/>
              </a:ext>
            </a:extLst>
          </p:cNvPr>
          <p:cNvCxnSpPr/>
          <p:nvPr/>
        </p:nvCxnSpPr>
        <p:spPr>
          <a:xfrm>
            <a:off x="2823523" y="2689017"/>
            <a:ext cx="335375" cy="0"/>
          </a:xfrm>
          <a:prstGeom prst="line">
            <a:avLst/>
          </a:prstGeom>
          <a:ln w="19050">
            <a:solidFill>
              <a:srgbClr val="F8901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017BA423-FC6A-4FE7-A73A-211E39E064F2}"/>
              </a:ext>
            </a:extLst>
          </p:cNvPr>
          <p:cNvCxnSpPr/>
          <p:nvPr/>
        </p:nvCxnSpPr>
        <p:spPr>
          <a:xfrm>
            <a:off x="2830626" y="3221381"/>
            <a:ext cx="335375" cy="0"/>
          </a:xfrm>
          <a:prstGeom prst="line">
            <a:avLst/>
          </a:prstGeom>
          <a:ln w="19050">
            <a:solidFill>
              <a:srgbClr val="F8901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54B54A41-C422-4C40-A180-A7F2806CC912}"/>
              </a:ext>
            </a:extLst>
          </p:cNvPr>
          <p:cNvCxnSpPr/>
          <p:nvPr/>
        </p:nvCxnSpPr>
        <p:spPr>
          <a:xfrm>
            <a:off x="2828445" y="3856362"/>
            <a:ext cx="335375" cy="0"/>
          </a:xfrm>
          <a:prstGeom prst="line">
            <a:avLst/>
          </a:prstGeom>
          <a:ln w="19050">
            <a:solidFill>
              <a:srgbClr val="F8901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389E52F9-D76C-485B-92B4-7EFE36A51313}"/>
              </a:ext>
            </a:extLst>
          </p:cNvPr>
          <p:cNvCxnSpPr/>
          <p:nvPr/>
        </p:nvCxnSpPr>
        <p:spPr>
          <a:xfrm>
            <a:off x="2828444" y="4237405"/>
            <a:ext cx="1345041" cy="0"/>
          </a:xfrm>
          <a:prstGeom prst="line">
            <a:avLst/>
          </a:prstGeom>
          <a:ln w="19050">
            <a:solidFill>
              <a:srgbClr val="F8901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78667E1E-A0F2-4545-AFCD-FFB569929229}"/>
              </a:ext>
            </a:extLst>
          </p:cNvPr>
          <p:cNvCxnSpPr/>
          <p:nvPr/>
        </p:nvCxnSpPr>
        <p:spPr>
          <a:xfrm>
            <a:off x="2828443" y="4618448"/>
            <a:ext cx="335375" cy="0"/>
          </a:xfrm>
          <a:prstGeom prst="line">
            <a:avLst/>
          </a:prstGeom>
          <a:ln w="19050">
            <a:solidFill>
              <a:srgbClr val="F8901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9E0B2D5B-7B5F-4874-9BAB-0F8094B2907A}"/>
              </a:ext>
            </a:extLst>
          </p:cNvPr>
          <p:cNvCxnSpPr/>
          <p:nvPr/>
        </p:nvCxnSpPr>
        <p:spPr>
          <a:xfrm>
            <a:off x="1423030" y="4026765"/>
            <a:ext cx="335375" cy="0"/>
          </a:xfrm>
          <a:prstGeom prst="line">
            <a:avLst/>
          </a:prstGeom>
          <a:ln w="19050">
            <a:solidFill>
              <a:srgbClr val="F8901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>
            <a:extLst>
              <a:ext uri="{FF2B5EF4-FFF2-40B4-BE49-F238E27FC236}">
                <a16:creationId xmlns:a16="http://schemas.microsoft.com/office/drawing/2014/main" id="{FA4E2DEB-AEDC-41D3-A264-C946A432E7A5}"/>
              </a:ext>
            </a:extLst>
          </p:cNvPr>
          <p:cNvCxnSpPr/>
          <p:nvPr/>
        </p:nvCxnSpPr>
        <p:spPr>
          <a:xfrm>
            <a:off x="1416235" y="4408490"/>
            <a:ext cx="335375" cy="0"/>
          </a:xfrm>
          <a:prstGeom prst="line">
            <a:avLst/>
          </a:prstGeom>
          <a:ln w="19050">
            <a:solidFill>
              <a:srgbClr val="F8901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4700073E-B081-404B-96D6-EA98D557C6FA}"/>
              </a:ext>
            </a:extLst>
          </p:cNvPr>
          <p:cNvCxnSpPr/>
          <p:nvPr/>
        </p:nvCxnSpPr>
        <p:spPr>
          <a:xfrm>
            <a:off x="1423030" y="2948894"/>
            <a:ext cx="335375" cy="0"/>
          </a:xfrm>
          <a:prstGeom prst="line">
            <a:avLst/>
          </a:prstGeom>
          <a:ln w="19050">
            <a:solidFill>
              <a:srgbClr val="F8901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7D27AFBB-244E-46DC-AC1A-FA6EE9840015}"/>
              </a:ext>
            </a:extLst>
          </p:cNvPr>
          <p:cNvCxnSpPr/>
          <p:nvPr/>
        </p:nvCxnSpPr>
        <p:spPr>
          <a:xfrm>
            <a:off x="2272937" y="2064865"/>
            <a:ext cx="0" cy="348545"/>
          </a:xfrm>
          <a:prstGeom prst="line">
            <a:avLst/>
          </a:prstGeom>
          <a:ln w="19050">
            <a:solidFill>
              <a:srgbClr val="F8901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矩形 116">
            <a:extLst>
              <a:ext uri="{FF2B5EF4-FFF2-40B4-BE49-F238E27FC236}">
                <a16:creationId xmlns:a16="http://schemas.microsoft.com/office/drawing/2014/main" id="{A2F29170-966C-408C-BD06-8606507550CC}"/>
              </a:ext>
            </a:extLst>
          </p:cNvPr>
          <p:cNvSpPr/>
          <p:nvPr/>
        </p:nvSpPr>
        <p:spPr>
          <a:xfrm>
            <a:off x="1423030" y="2905527"/>
            <a:ext cx="44114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900" b="1" dirty="0">
                <a:solidFill>
                  <a:prstClr val="black"/>
                </a:solidFill>
                <a:latin typeface="Consolas" panose="020B0609020204030204" pitchFamily="49" charset="0"/>
                <a:ea typeface="微软雅黑"/>
                <a:cs typeface="Segoe UI Black" panose="020B0A02040204020203" pitchFamily="34" charset="0"/>
              </a:rPr>
              <a:t>GB/s</a:t>
            </a:r>
            <a:endParaRPr lang="zh-CN" altLang="en-US" sz="9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7603042F-E0E5-4D57-87A3-9E2420281484}"/>
              </a:ext>
            </a:extLst>
          </p:cNvPr>
          <p:cNvSpPr/>
          <p:nvPr/>
        </p:nvSpPr>
        <p:spPr>
          <a:xfrm>
            <a:off x="3349385" y="4201926"/>
            <a:ext cx="44114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900" b="1" dirty="0">
                <a:solidFill>
                  <a:prstClr val="black"/>
                </a:solidFill>
                <a:latin typeface="Consolas" panose="020B0609020204030204" pitchFamily="49" charset="0"/>
                <a:ea typeface="微软雅黑"/>
                <a:cs typeface="Segoe UI Black" panose="020B0A02040204020203" pitchFamily="34" charset="0"/>
              </a:rPr>
              <a:t>MB/s</a:t>
            </a:r>
            <a:endParaRPr lang="zh-CN" altLang="en-US" sz="900" b="1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CC054CB4-BD2E-4FD3-AC17-BF68EB2A8673}"/>
              </a:ext>
            </a:extLst>
          </p:cNvPr>
          <p:cNvSpPr/>
          <p:nvPr/>
        </p:nvSpPr>
        <p:spPr>
          <a:xfrm>
            <a:off x="2782339" y="2856496"/>
            <a:ext cx="63350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900" b="1">
                <a:solidFill>
                  <a:prstClr val="black"/>
                </a:solidFill>
                <a:latin typeface="Consolas" panose="020B0609020204030204" pitchFamily="49" charset="0"/>
                <a:ea typeface="微软雅黑"/>
                <a:cs typeface="Segoe UI Black" panose="020B0A02040204020203" pitchFamily="34" charset="0"/>
              </a:rPr>
              <a:t>3.2GB/s</a:t>
            </a:r>
            <a:endParaRPr lang="zh-CN" altLang="en-US" sz="900" b="1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3AB14011-6517-494F-A839-9D123A4CA164}"/>
              </a:ext>
            </a:extLst>
          </p:cNvPr>
          <p:cNvSpPr/>
          <p:nvPr/>
        </p:nvSpPr>
        <p:spPr>
          <a:xfrm>
            <a:off x="3161359" y="2347466"/>
            <a:ext cx="95410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900" b="1">
                <a:solidFill>
                  <a:prstClr val="black"/>
                </a:solidFill>
                <a:latin typeface="Consolas" panose="020B0609020204030204" pitchFamily="49" charset="0"/>
                <a:ea typeface="微软雅黑"/>
                <a:cs typeface="Segoe UI Black" panose="020B0A02040204020203" pitchFamily="34" charset="0"/>
              </a:rPr>
              <a:t>Dual Channel</a:t>
            </a:r>
            <a:endParaRPr lang="zh-CN" altLang="en-US" sz="900" b="1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58F06A1C-0F5C-4215-AA11-66871A04BC46}"/>
              </a:ext>
            </a:extLst>
          </p:cNvPr>
          <p:cNvSpPr/>
          <p:nvPr/>
        </p:nvSpPr>
        <p:spPr>
          <a:xfrm>
            <a:off x="1954809" y="2140439"/>
            <a:ext cx="95410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900" b="1">
                <a:solidFill>
                  <a:prstClr val="black"/>
                </a:solidFill>
                <a:latin typeface="Consolas" panose="020B0609020204030204" pitchFamily="49" charset="0"/>
                <a:ea typeface="微软雅黑"/>
                <a:cs typeface="Segoe UI Black" panose="020B0A02040204020203" pitchFamily="34" charset="0"/>
              </a:rPr>
              <a:t>FSB  3.2GB/s</a:t>
            </a:r>
            <a:endParaRPr lang="zh-CN" altLang="en-US" sz="900" b="1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BFF0AF56-1848-4B92-AF62-3802EF2F62FF}"/>
              </a:ext>
            </a:extLst>
          </p:cNvPr>
          <p:cNvSpPr/>
          <p:nvPr/>
        </p:nvSpPr>
        <p:spPr>
          <a:xfrm>
            <a:off x="1445800" y="2784668"/>
            <a:ext cx="31290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900" b="1">
                <a:solidFill>
                  <a:prstClr val="black"/>
                </a:solidFill>
                <a:latin typeface="Consolas" panose="020B0609020204030204" pitchFamily="49" charset="0"/>
                <a:ea typeface="微软雅黑"/>
                <a:cs typeface="Segoe UI Black" panose="020B0A02040204020203" pitchFamily="34" charset="0"/>
              </a:rPr>
              <a:t>&gt;1</a:t>
            </a:r>
            <a:endParaRPr lang="zh-CN" altLang="en-US" sz="900" b="1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AF44D125-2B0F-45E7-8EE8-2AC3B966B1A5}"/>
              </a:ext>
            </a:extLst>
          </p:cNvPr>
          <p:cNvSpPr/>
          <p:nvPr/>
        </p:nvSpPr>
        <p:spPr>
          <a:xfrm>
            <a:off x="3365026" y="4067963"/>
            <a:ext cx="37702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900" b="1" dirty="0">
                <a:solidFill>
                  <a:prstClr val="black"/>
                </a:solidFill>
                <a:latin typeface="Consolas" panose="020B0609020204030204" pitchFamily="49" charset="0"/>
                <a:ea typeface="微软雅黑"/>
                <a:cs typeface="Segoe UI Black" panose="020B0A02040204020203" pitchFamily="34" charset="0"/>
              </a:rPr>
              <a:t>133</a:t>
            </a:r>
            <a:endParaRPr lang="zh-CN" altLang="en-US" sz="900" b="1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B8E609D7-9E33-4E71-B417-A1FD61177CE1}"/>
              </a:ext>
            </a:extLst>
          </p:cNvPr>
          <p:cNvSpPr/>
          <p:nvPr/>
        </p:nvSpPr>
        <p:spPr>
          <a:xfrm>
            <a:off x="1676174" y="3498883"/>
            <a:ext cx="1475084" cy="2135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788" b="1">
                <a:solidFill>
                  <a:prstClr val="black"/>
                </a:solidFill>
                <a:latin typeface="Consolas" panose="020B0609020204030204" pitchFamily="49" charset="0"/>
                <a:ea typeface="微软雅黑"/>
                <a:cs typeface="Segoe UI Black" panose="020B0A02040204020203" pitchFamily="34" charset="0"/>
              </a:rPr>
              <a:t>Intel Hub  Architecture</a:t>
            </a:r>
            <a:endParaRPr lang="zh-CN" altLang="en-US" sz="788" b="1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6D305577-2DF6-49BF-BBAD-E1D07D2E4420}"/>
              </a:ext>
            </a:extLst>
          </p:cNvPr>
          <p:cNvGrpSpPr/>
          <p:nvPr/>
        </p:nvGrpSpPr>
        <p:grpSpPr>
          <a:xfrm>
            <a:off x="1760050" y="3704214"/>
            <a:ext cx="1050266" cy="1050266"/>
            <a:chOff x="7462345" y="2301766"/>
            <a:chExt cx="1408386" cy="1408386"/>
          </a:xfrm>
        </p:grpSpPr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D13D9A32-09E9-4940-9655-7B6BAAC174CF}"/>
                </a:ext>
              </a:extLst>
            </p:cNvPr>
            <p:cNvSpPr/>
            <p:nvPr/>
          </p:nvSpPr>
          <p:spPr>
            <a:xfrm>
              <a:off x="7462345" y="2301766"/>
              <a:ext cx="1408386" cy="1408386"/>
            </a:xfrm>
            <a:prstGeom prst="rect">
              <a:avLst/>
            </a:prstGeom>
            <a:solidFill>
              <a:srgbClr val="1E74B5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35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27" name="矩形: 圆角 69">
              <a:extLst>
                <a:ext uri="{FF2B5EF4-FFF2-40B4-BE49-F238E27FC236}">
                  <a16:creationId xmlns:a16="http://schemas.microsoft.com/office/drawing/2014/main" id="{93B2150F-D7D9-4645-BC41-CD80063E30AA}"/>
                </a:ext>
              </a:extLst>
            </p:cNvPr>
            <p:cNvSpPr/>
            <p:nvPr/>
          </p:nvSpPr>
          <p:spPr>
            <a:xfrm>
              <a:off x="7621061" y="2460482"/>
              <a:ext cx="1090954" cy="1090954"/>
            </a:xfrm>
            <a:prstGeom prst="roundRect">
              <a:avLst>
                <a:gd name="adj" fmla="val 11707"/>
              </a:avLst>
            </a:prstGeom>
            <a:solidFill>
              <a:srgbClr val="97ABCF"/>
            </a:solidFill>
            <a:ln>
              <a:solidFill>
                <a:schemeClr val="bg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 b="1">
                  <a:solidFill>
                    <a:prstClr val="white"/>
                  </a:solidFill>
                  <a:latin typeface="微软雅黑"/>
                  <a:ea typeface="微软雅黑"/>
                </a:rPr>
                <a:t>ICH2</a:t>
              </a:r>
              <a:endParaRPr lang="zh-CN" altLang="en-US" sz="1050" b="1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E8EDFCB9-2AA3-4E21-92DD-1C7218B77889}"/>
              </a:ext>
            </a:extLst>
          </p:cNvPr>
          <p:cNvGrpSpPr/>
          <p:nvPr/>
        </p:nvGrpSpPr>
        <p:grpSpPr>
          <a:xfrm>
            <a:off x="250523" y="3856362"/>
            <a:ext cx="1176559" cy="369332"/>
            <a:chOff x="1507328" y="2222626"/>
            <a:chExt cx="1828799" cy="495267"/>
          </a:xfrm>
        </p:grpSpPr>
        <p:sp>
          <p:nvSpPr>
            <p:cNvPr id="129" name="矩形: 圆角 10">
              <a:extLst>
                <a:ext uri="{FF2B5EF4-FFF2-40B4-BE49-F238E27FC236}">
                  <a16:creationId xmlns:a16="http://schemas.microsoft.com/office/drawing/2014/main" id="{30B709AF-14E9-40EA-8CB5-26FD0FA30CC1}"/>
                </a:ext>
              </a:extLst>
            </p:cNvPr>
            <p:cNvSpPr/>
            <p:nvPr/>
          </p:nvSpPr>
          <p:spPr>
            <a:xfrm>
              <a:off x="1507328" y="2245486"/>
              <a:ext cx="1828799" cy="399393"/>
            </a:xfrm>
            <a:prstGeom prst="roundRect">
              <a:avLst>
                <a:gd name="adj" fmla="val 50000"/>
              </a:avLst>
            </a:prstGeom>
            <a:solidFill>
              <a:srgbClr val="D10878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35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F107A139-0E17-453F-9126-2B46C1A14CCD}"/>
                </a:ext>
              </a:extLst>
            </p:cNvPr>
            <p:cNvSpPr txBox="1"/>
            <p:nvPr/>
          </p:nvSpPr>
          <p:spPr>
            <a:xfrm>
              <a:off x="1582826" y="2222626"/>
              <a:ext cx="1682361" cy="4952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>
                  <a:solidFill>
                    <a:prstClr val="white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rPr>
                <a:t>ATA 100MB/s</a:t>
              </a:r>
            </a:p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>
                  <a:solidFill>
                    <a:prstClr val="white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rPr>
                <a:t>2 IDE</a:t>
              </a:r>
              <a:r>
                <a:rPr lang="zh-CN" altLang="en-US" sz="900" b="1">
                  <a:solidFill>
                    <a:prstClr val="white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rPr>
                <a:t> </a:t>
              </a:r>
              <a:r>
                <a:rPr lang="en-US" altLang="zh-CN" sz="900" b="1">
                  <a:solidFill>
                    <a:prstClr val="white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rPr>
                <a:t>Channels</a:t>
              </a:r>
              <a:endParaRPr lang="zh-CN" altLang="en-US" sz="900" b="1" dirty="0">
                <a:solidFill>
                  <a:prstClr val="white"/>
                </a:solidFill>
                <a:latin typeface="Consolas" panose="020B0609020204030204" pitchFamily="49" charset="0"/>
                <a:ea typeface="微软雅黑"/>
                <a:cs typeface="Segoe UI Black" panose="020B0A02040204020203" pitchFamily="34" charset="0"/>
              </a:endParaRPr>
            </a:p>
          </p:txBody>
        </p:sp>
      </p:grp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C205A254-C2A6-40DF-BCF6-175999960832}"/>
              </a:ext>
            </a:extLst>
          </p:cNvPr>
          <p:cNvGrpSpPr/>
          <p:nvPr/>
        </p:nvGrpSpPr>
        <p:grpSpPr>
          <a:xfrm>
            <a:off x="509818" y="4229348"/>
            <a:ext cx="906152" cy="369332"/>
            <a:chOff x="1507328" y="2222626"/>
            <a:chExt cx="1828799" cy="495267"/>
          </a:xfrm>
        </p:grpSpPr>
        <p:sp>
          <p:nvSpPr>
            <p:cNvPr id="132" name="矩形: 圆角 13">
              <a:extLst>
                <a:ext uri="{FF2B5EF4-FFF2-40B4-BE49-F238E27FC236}">
                  <a16:creationId xmlns:a16="http://schemas.microsoft.com/office/drawing/2014/main" id="{9C708AB7-BFC4-4C65-AC69-5A9265B37424}"/>
                </a:ext>
              </a:extLst>
            </p:cNvPr>
            <p:cNvSpPr/>
            <p:nvPr/>
          </p:nvSpPr>
          <p:spPr>
            <a:xfrm>
              <a:off x="1507328" y="2245486"/>
              <a:ext cx="1828799" cy="399393"/>
            </a:xfrm>
            <a:prstGeom prst="roundRect">
              <a:avLst>
                <a:gd name="adj" fmla="val 50000"/>
              </a:avLst>
            </a:prstGeom>
            <a:solidFill>
              <a:srgbClr val="D10878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35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CCD465E1-231D-414F-B1F3-6F16A8145F95}"/>
                </a:ext>
              </a:extLst>
            </p:cNvPr>
            <p:cNvSpPr txBox="1"/>
            <p:nvPr/>
          </p:nvSpPr>
          <p:spPr>
            <a:xfrm>
              <a:off x="1655325" y="2222626"/>
              <a:ext cx="1537360" cy="4952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>
                  <a:solidFill>
                    <a:prstClr val="white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rPr>
                <a:t>LAN</a:t>
              </a:r>
            </a:p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>
                  <a:solidFill>
                    <a:prstClr val="white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rPr>
                <a:t>Interface</a:t>
              </a:r>
              <a:endParaRPr lang="en-US" altLang="zh-CN" sz="900" b="1" dirty="0">
                <a:solidFill>
                  <a:prstClr val="white"/>
                </a:solidFill>
                <a:latin typeface="Consolas" panose="020B0609020204030204" pitchFamily="49" charset="0"/>
                <a:ea typeface="微软雅黑"/>
                <a:cs typeface="Segoe UI Black" panose="020B0A02040204020203" pitchFamily="34" charset="0"/>
              </a:endParaRPr>
            </a:p>
          </p:txBody>
        </p:sp>
      </p:grp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C0A1E1BB-3E18-4C2F-B1AC-F108558825C3}"/>
              </a:ext>
            </a:extLst>
          </p:cNvPr>
          <p:cNvGrpSpPr/>
          <p:nvPr/>
        </p:nvGrpSpPr>
        <p:grpSpPr>
          <a:xfrm>
            <a:off x="4123732" y="3913155"/>
            <a:ext cx="377027" cy="643309"/>
            <a:chOff x="1353191" y="2245486"/>
            <a:chExt cx="2209483" cy="399393"/>
          </a:xfrm>
        </p:grpSpPr>
        <p:sp>
          <p:nvSpPr>
            <p:cNvPr id="94" name="矩形: 圆角 28">
              <a:extLst>
                <a:ext uri="{FF2B5EF4-FFF2-40B4-BE49-F238E27FC236}">
                  <a16:creationId xmlns:a16="http://schemas.microsoft.com/office/drawing/2014/main" id="{8CF06375-888C-41D3-8FEC-2951EA25B3F8}"/>
                </a:ext>
              </a:extLst>
            </p:cNvPr>
            <p:cNvSpPr/>
            <p:nvPr/>
          </p:nvSpPr>
          <p:spPr>
            <a:xfrm>
              <a:off x="1507328" y="2245486"/>
              <a:ext cx="1828799" cy="399393"/>
            </a:xfrm>
            <a:prstGeom prst="roundRect">
              <a:avLst>
                <a:gd name="adj" fmla="val 50000"/>
              </a:avLst>
            </a:prstGeom>
            <a:solidFill>
              <a:srgbClr val="00A19F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35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027DD4C9-3606-4CF9-8E3A-F2E29D52BBE0}"/>
                </a:ext>
              </a:extLst>
            </p:cNvPr>
            <p:cNvSpPr txBox="1"/>
            <p:nvPr/>
          </p:nvSpPr>
          <p:spPr>
            <a:xfrm>
              <a:off x="1353191" y="2387039"/>
              <a:ext cx="2209483" cy="1433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>
                  <a:solidFill>
                    <a:prstClr val="white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rPr>
                <a:t>PCI</a:t>
              </a:r>
              <a:endParaRPr lang="zh-CN" altLang="en-US" sz="900" b="1" dirty="0">
                <a:solidFill>
                  <a:prstClr val="white"/>
                </a:solidFill>
                <a:latin typeface="Consolas" panose="020B0609020204030204" pitchFamily="49" charset="0"/>
                <a:ea typeface="微软雅黑"/>
                <a:cs typeface="Segoe UI Black" panose="020B0A02040204020203" pitchFamily="34" charset="0"/>
              </a:endParaRPr>
            </a:p>
          </p:txBody>
        </p:sp>
      </p:grpSp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10E38290-EAD9-496A-B2BD-F075F00060F8}"/>
              </a:ext>
            </a:extLst>
          </p:cNvPr>
          <p:cNvGrpSpPr/>
          <p:nvPr/>
        </p:nvGrpSpPr>
        <p:grpSpPr>
          <a:xfrm>
            <a:off x="4655148" y="1666279"/>
            <a:ext cx="4344104" cy="3855300"/>
            <a:chOff x="6096000" y="1130300"/>
            <a:chExt cx="5825360" cy="5169883"/>
          </a:xfrm>
        </p:grpSpPr>
        <p:grpSp>
          <p:nvGrpSpPr>
            <p:cNvPr id="136" name="组合 135">
              <a:extLst>
                <a:ext uri="{FF2B5EF4-FFF2-40B4-BE49-F238E27FC236}">
                  <a16:creationId xmlns:a16="http://schemas.microsoft.com/office/drawing/2014/main" id="{A3D32651-0157-408E-A001-B6D1AD51166C}"/>
                </a:ext>
              </a:extLst>
            </p:cNvPr>
            <p:cNvGrpSpPr/>
            <p:nvPr/>
          </p:nvGrpSpPr>
          <p:grpSpPr>
            <a:xfrm>
              <a:off x="8203988" y="2248379"/>
              <a:ext cx="1408386" cy="1408386"/>
              <a:chOff x="7462345" y="2301766"/>
              <a:chExt cx="1408386" cy="1408386"/>
            </a:xfrm>
          </p:grpSpPr>
          <p:sp>
            <p:nvSpPr>
              <p:cNvPr id="201" name="矩形 200">
                <a:extLst>
                  <a:ext uri="{FF2B5EF4-FFF2-40B4-BE49-F238E27FC236}">
                    <a16:creationId xmlns:a16="http://schemas.microsoft.com/office/drawing/2014/main" id="{1686DAC7-890C-4C68-B210-A57F4B1557FF}"/>
                  </a:ext>
                </a:extLst>
              </p:cNvPr>
              <p:cNvSpPr/>
              <p:nvPr/>
            </p:nvSpPr>
            <p:spPr>
              <a:xfrm>
                <a:off x="7462345" y="2301766"/>
                <a:ext cx="1408386" cy="1408386"/>
              </a:xfrm>
              <a:prstGeom prst="rect">
                <a:avLst/>
              </a:prstGeom>
              <a:solidFill>
                <a:srgbClr val="0030F8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350" dirty="0">
                  <a:solidFill>
                    <a:prstClr val="white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202" name="矩形: 圆角 5">
                <a:extLst>
                  <a:ext uri="{FF2B5EF4-FFF2-40B4-BE49-F238E27FC236}">
                    <a16:creationId xmlns:a16="http://schemas.microsoft.com/office/drawing/2014/main" id="{627A2D8B-5B73-4A38-BF43-87B417C5046F}"/>
                  </a:ext>
                </a:extLst>
              </p:cNvPr>
              <p:cNvSpPr/>
              <p:nvPr/>
            </p:nvSpPr>
            <p:spPr>
              <a:xfrm>
                <a:off x="7621061" y="2460482"/>
                <a:ext cx="1090954" cy="1090954"/>
              </a:xfrm>
              <a:prstGeom prst="roundRect">
                <a:avLst>
                  <a:gd name="adj" fmla="val 11707"/>
                </a:avLst>
              </a:prstGeom>
              <a:solidFill>
                <a:srgbClr val="3060F8"/>
              </a:solidFill>
              <a:ln>
                <a:solidFill>
                  <a:schemeClr val="bg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050" b="1" dirty="0">
                    <a:solidFill>
                      <a:prstClr val="white"/>
                    </a:solidFill>
                    <a:latin typeface="微软雅黑"/>
                    <a:ea typeface="微软雅黑"/>
                  </a:rPr>
                  <a:t>82925XE</a:t>
                </a:r>
              </a:p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050" b="1" dirty="0">
                    <a:solidFill>
                      <a:prstClr val="white"/>
                    </a:solidFill>
                    <a:latin typeface="微软雅黑"/>
                    <a:ea typeface="微软雅黑"/>
                  </a:rPr>
                  <a:t>MCH</a:t>
                </a:r>
                <a:endParaRPr lang="zh-CN" altLang="en-US" sz="1050" b="1" dirty="0">
                  <a:solidFill>
                    <a:prstClr val="white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137" name="组合 136">
              <a:extLst>
                <a:ext uri="{FF2B5EF4-FFF2-40B4-BE49-F238E27FC236}">
                  <a16:creationId xmlns:a16="http://schemas.microsoft.com/office/drawing/2014/main" id="{E0DA35A7-94E6-44CE-BAD1-4D81403C6F80}"/>
                </a:ext>
              </a:extLst>
            </p:cNvPr>
            <p:cNvGrpSpPr/>
            <p:nvPr/>
          </p:nvGrpSpPr>
          <p:grpSpPr>
            <a:xfrm>
              <a:off x="6096000" y="2721739"/>
              <a:ext cx="1657321" cy="495267"/>
              <a:chOff x="1678806" y="2222626"/>
              <a:chExt cx="1657321" cy="495267"/>
            </a:xfrm>
          </p:grpSpPr>
          <p:sp>
            <p:nvSpPr>
              <p:cNvPr id="199" name="矩形: 圆角 7">
                <a:extLst>
                  <a:ext uri="{FF2B5EF4-FFF2-40B4-BE49-F238E27FC236}">
                    <a16:creationId xmlns:a16="http://schemas.microsoft.com/office/drawing/2014/main" id="{7A3A4247-8A7D-438C-A349-6E7546E23BB2}"/>
                  </a:ext>
                </a:extLst>
              </p:cNvPr>
              <p:cNvSpPr/>
              <p:nvPr/>
            </p:nvSpPr>
            <p:spPr>
              <a:xfrm>
                <a:off x="1678806" y="2245486"/>
                <a:ext cx="1657321" cy="399393"/>
              </a:xfrm>
              <a:prstGeom prst="roundRect">
                <a:avLst>
                  <a:gd name="adj" fmla="val 50000"/>
                </a:avLst>
              </a:prstGeom>
              <a:solidFill>
                <a:srgbClr val="C830C8"/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350">
                  <a:solidFill>
                    <a:prstClr val="white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200" name="文本框 199">
                <a:extLst>
                  <a:ext uri="{FF2B5EF4-FFF2-40B4-BE49-F238E27FC236}">
                    <a16:creationId xmlns:a16="http://schemas.microsoft.com/office/drawing/2014/main" id="{F699DDB0-BB48-4348-8199-C0F24D7C76AE}"/>
                  </a:ext>
                </a:extLst>
              </p:cNvPr>
              <p:cNvSpPr txBox="1"/>
              <p:nvPr/>
            </p:nvSpPr>
            <p:spPr>
              <a:xfrm>
                <a:off x="1935143" y="2222626"/>
                <a:ext cx="1279439" cy="4952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900" b="1" dirty="0">
                    <a:solidFill>
                      <a:prstClr val="white"/>
                    </a:solidFill>
                    <a:latin typeface="Consolas" panose="020B0609020204030204" pitchFamily="49" charset="0"/>
                    <a:ea typeface="微软雅黑"/>
                    <a:cs typeface="Segoe UI Black" panose="020B0A02040204020203" pitchFamily="34" charset="0"/>
                  </a:rPr>
                  <a:t>PCI Express</a:t>
                </a:r>
                <a:r>
                  <a:rPr lang="en-US" altLang="zh-CN" sz="900" b="1" baseline="30000" dirty="0">
                    <a:solidFill>
                      <a:prstClr val="white"/>
                    </a:solidFill>
                    <a:latin typeface="Consolas" panose="020B0609020204030204" pitchFamily="49" charset="0"/>
                    <a:ea typeface="微软雅黑"/>
                    <a:cs typeface="Segoe UI Black" panose="020B0A02040204020203" pitchFamily="34" charset="0"/>
                  </a:rPr>
                  <a:t>*</a:t>
                </a:r>
              </a:p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900" b="1" dirty="0">
                    <a:solidFill>
                      <a:prstClr val="white"/>
                    </a:solidFill>
                    <a:latin typeface="Consolas" panose="020B0609020204030204" pitchFamily="49" charset="0"/>
                    <a:ea typeface="微软雅黑"/>
                    <a:cs typeface="Segoe UI Black" panose="020B0A02040204020203" pitchFamily="34" charset="0"/>
                  </a:rPr>
                  <a:t>x16 Graphics</a:t>
                </a:r>
                <a:endParaRPr lang="zh-CN" altLang="en-US" sz="900" b="1" dirty="0">
                  <a:solidFill>
                    <a:prstClr val="white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endParaRPr>
              </a:p>
            </p:txBody>
          </p:sp>
        </p:grpSp>
        <p:grpSp>
          <p:nvGrpSpPr>
            <p:cNvPr id="138" name="组合 137">
              <a:extLst>
                <a:ext uri="{FF2B5EF4-FFF2-40B4-BE49-F238E27FC236}">
                  <a16:creationId xmlns:a16="http://schemas.microsoft.com/office/drawing/2014/main" id="{E8EDFCB9-2AA3-4E21-92DD-1C7218B77889}"/>
                </a:ext>
              </a:extLst>
            </p:cNvPr>
            <p:cNvGrpSpPr/>
            <p:nvPr/>
          </p:nvGrpSpPr>
          <p:grpSpPr>
            <a:xfrm>
              <a:off x="6168357" y="3938637"/>
              <a:ext cx="1623375" cy="495267"/>
              <a:chOff x="1483159" y="2222626"/>
              <a:chExt cx="1881692" cy="495267"/>
            </a:xfrm>
          </p:grpSpPr>
          <p:sp>
            <p:nvSpPr>
              <p:cNvPr id="197" name="矩形: 圆角 10">
                <a:extLst>
                  <a:ext uri="{FF2B5EF4-FFF2-40B4-BE49-F238E27FC236}">
                    <a16:creationId xmlns:a16="http://schemas.microsoft.com/office/drawing/2014/main" id="{30B709AF-14E9-40EA-8CB5-26FD0FA30CC1}"/>
                  </a:ext>
                </a:extLst>
              </p:cNvPr>
              <p:cNvSpPr/>
              <p:nvPr/>
            </p:nvSpPr>
            <p:spPr>
              <a:xfrm>
                <a:off x="1507328" y="2245486"/>
                <a:ext cx="1828799" cy="399393"/>
              </a:xfrm>
              <a:prstGeom prst="roundRect">
                <a:avLst>
                  <a:gd name="adj" fmla="val 50000"/>
                </a:avLst>
              </a:prstGeom>
              <a:solidFill>
                <a:srgbClr val="C830C8"/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350">
                  <a:solidFill>
                    <a:prstClr val="white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98" name="文本框 197">
                <a:extLst>
                  <a:ext uri="{FF2B5EF4-FFF2-40B4-BE49-F238E27FC236}">
                    <a16:creationId xmlns:a16="http://schemas.microsoft.com/office/drawing/2014/main" id="{F107A139-0E17-453F-9126-2B46C1A14CCD}"/>
                  </a:ext>
                </a:extLst>
              </p:cNvPr>
              <p:cNvSpPr txBox="1"/>
              <p:nvPr/>
            </p:nvSpPr>
            <p:spPr>
              <a:xfrm>
                <a:off x="1483159" y="2222626"/>
                <a:ext cx="1881692" cy="4952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900" b="1" dirty="0">
                    <a:solidFill>
                      <a:prstClr val="white"/>
                    </a:solidFill>
                    <a:latin typeface="Consolas" panose="020B0609020204030204" pitchFamily="49" charset="0"/>
                    <a:ea typeface="微软雅黑"/>
                    <a:cs typeface="Segoe UI Black" panose="020B0A02040204020203" pitchFamily="34" charset="0"/>
                  </a:rPr>
                  <a:t>Intel</a:t>
                </a:r>
                <a:r>
                  <a:rPr lang="en-US" altLang="zh-CN" sz="750" b="1" baseline="30000" dirty="0">
                    <a:solidFill>
                      <a:prstClr val="white"/>
                    </a:solidFill>
                    <a:latin typeface="微软雅黑"/>
                    <a:ea typeface="微软雅黑"/>
                    <a:cs typeface="Segoe UI Black" panose="020B0A02040204020203" pitchFamily="34" charset="0"/>
                  </a:rPr>
                  <a:t>@</a:t>
                </a:r>
                <a:r>
                  <a:rPr lang="en-US" altLang="zh-CN" sz="900" b="1" dirty="0">
                    <a:solidFill>
                      <a:prstClr val="white"/>
                    </a:solidFill>
                    <a:latin typeface="Consolas" panose="020B0609020204030204" pitchFamily="49" charset="0"/>
                    <a:ea typeface="微软雅黑"/>
                    <a:cs typeface="Segoe UI Black" panose="020B0A02040204020203" pitchFamily="34" charset="0"/>
                  </a:rPr>
                  <a:t> High</a:t>
                </a:r>
              </a:p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900" b="1" dirty="0">
                    <a:solidFill>
                      <a:prstClr val="white"/>
                    </a:solidFill>
                    <a:latin typeface="Consolas" panose="020B0609020204030204" pitchFamily="49" charset="0"/>
                    <a:ea typeface="微软雅黑"/>
                    <a:cs typeface="Segoe UI Black" panose="020B0A02040204020203" pitchFamily="34" charset="0"/>
                  </a:rPr>
                  <a:t>Definition Audio</a:t>
                </a:r>
                <a:endParaRPr lang="zh-CN" altLang="en-US" sz="900" b="1" dirty="0">
                  <a:solidFill>
                    <a:prstClr val="white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endParaRPr>
              </a:p>
            </p:txBody>
          </p:sp>
        </p:grpSp>
        <p:grpSp>
          <p:nvGrpSpPr>
            <p:cNvPr id="139" name="组合 138">
              <a:extLst>
                <a:ext uri="{FF2B5EF4-FFF2-40B4-BE49-F238E27FC236}">
                  <a16:creationId xmlns:a16="http://schemas.microsoft.com/office/drawing/2014/main" id="{C205A254-C2A6-40DF-BCF6-175999960832}"/>
                </a:ext>
              </a:extLst>
            </p:cNvPr>
            <p:cNvGrpSpPr/>
            <p:nvPr/>
          </p:nvGrpSpPr>
          <p:grpSpPr>
            <a:xfrm>
              <a:off x="6174308" y="4438803"/>
              <a:ext cx="1577743" cy="495267"/>
              <a:chOff x="1507328" y="2222626"/>
              <a:chExt cx="1828799" cy="495267"/>
            </a:xfrm>
          </p:grpSpPr>
          <p:sp>
            <p:nvSpPr>
              <p:cNvPr id="195" name="矩形: 圆角 13">
                <a:extLst>
                  <a:ext uri="{FF2B5EF4-FFF2-40B4-BE49-F238E27FC236}">
                    <a16:creationId xmlns:a16="http://schemas.microsoft.com/office/drawing/2014/main" id="{9C708AB7-BFC4-4C65-AC69-5A9265B37424}"/>
                  </a:ext>
                </a:extLst>
              </p:cNvPr>
              <p:cNvSpPr/>
              <p:nvPr/>
            </p:nvSpPr>
            <p:spPr>
              <a:xfrm>
                <a:off x="1507328" y="2245486"/>
                <a:ext cx="1828799" cy="399393"/>
              </a:xfrm>
              <a:prstGeom prst="roundRect">
                <a:avLst>
                  <a:gd name="adj" fmla="val 50000"/>
                </a:avLst>
              </a:prstGeom>
              <a:solidFill>
                <a:srgbClr val="C830C8"/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350">
                  <a:solidFill>
                    <a:prstClr val="white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96" name="文本框 195">
                <a:extLst>
                  <a:ext uri="{FF2B5EF4-FFF2-40B4-BE49-F238E27FC236}">
                    <a16:creationId xmlns:a16="http://schemas.microsoft.com/office/drawing/2014/main" id="{CCD465E1-231D-414F-B1F3-6F16A8145F95}"/>
                  </a:ext>
                </a:extLst>
              </p:cNvPr>
              <p:cNvSpPr txBox="1"/>
              <p:nvPr/>
            </p:nvSpPr>
            <p:spPr>
              <a:xfrm>
                <a:off x="1749767" y="2222626"/>
                <a:ext cx="1348479" cy="4952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900" b="1" dirty="0">
                    <a:solidFill>
                      <a:prstClr val="white"/>
                    </a:solidFill>
                    <a:latin typeface="Consolas" panose="020B0609020204030204" pitchFamily="49" charset="0"/>
                    <a:ea typeface="微软雅黑"/>
                    <a:cs typeface="Segoe UI Black" panose="020B0A02040204020203" pitchFamily="34" charset="0"/>
                  </a:rPr>
                  <a:t>4 PCI</a:t>
                </a:r>
              </a:p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900" b="1" dirty="0">
                    <a:solidFill>
                      <a:prstClr val="white"/>
                    </a:solidFill>
                    <a:latin typeface="Consolas" panose="020B0609020204030204" pitchFamily="49" charset="0"/>
                    <a:ea typeface="微软雅黑"/>
                    <a:cs typeface="Segoe UI Black" panose="020B0A02040204020203" pitchFamily="34" charset="0"/>
                  </a:rPr>
                  <a:t>Express</a:t>
                </a:r>
                <a:r>
                  <a:rPr lang="en-US" altLang="zh-CN" sz="900" b="1" baseline="30000" dirty="0">
                    <a:solidFill>
                      <a:prstClr val="white"/>
                    </a:solidFill>
                    <a:latin typeface="Consolas" panose="020B0609020204030204" pitchFamily="49" charset="0"/>
                    <a:ea typeface="微软雅黑"/>
                    <a:cs typeface="Segoe UI Black" panose="020B0A02040204020203" pitchFamily="34" charset="0"/>
                  </a:rPr>
                  <a:t>*</a:t>
                </a:r>
                <a:r>
                  <a:rPr lang="en-US" altLang="zh-CN" sz="900" b="1" dirty="0">
                    <a:solidFill>
                      <a:prstClr val="white"/>
                    </a:solidFill>
                    <a:latin typeface="Consolas" panose="020B0609020204030204" pitchFamily="49" charset="0"/>
                    <a:ea typeface="微软雅黑"/>
                    <a:cs typeface="Segoe UI Black" panose="020B0A02040204020203" pitchFamily="34" charset="0"/>
                  </a:rPr>
                  <a:t> x1</a:t>
                </a:r>
                <a:endParaRPr lang="zh-CN" altLang="en-US" sz="900" b="1" dirty="0">
                  <a:solidFill>
                    <a:prstClr val="white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endParaRPr>
              </a:p>
            </p:txBody>
          </p:sp>
        </p:grpSp>
        <p:grpSp>
          <p:nvGrpSpPr>
            <p:cNvPr id="140" name="组合 139">
              <a:extLst>
                <a:ext uri="{FF2B5EF4-FFF2-40B4-BE49-F238E27FC236}">
                  <a16:creationId xmlns:a16="http://schemas.microsoft.com/office/drawing/2014/main" id="{27B41324-D005-4A2D-A867-C83360F16967}"/>
                </a:ext>
              </a:extLst>
            </p:cNvPr>
            <p:cNvGrpSpPr/>
            <p:nvPr/>
          </p:nvGrpSpPr>
          <p:grpSpPr>
            <a:xfrm>
              <a:off x="6174307" y="4952476"/>
              <a:ext cx="1577743" cy="495267"/>
              <a:chOff x="1507328" y="2222626"/>
              <a:chExt cx="1828799" cy="495267"/>
            </a:xfrm>
          </p:grpSpPr>
          <p:sp>
            <p:nvSpPr>
              <p:cNvPr id="193" name="矩形: 圆角 16">
                <a:extLst>
                  <a:ext uri="{FF2B5EF4-FFF2-40B4-BE49-F238E27FC236}">
                    <a16:creationId xmlns:a16="http://schemas.microsoft.com/office/drawing/2014/main" id="{588B2D65-CB33-49C2-A26E-F331BEB4B36C}"/>
                  </a:ext>
                </a:extLst>
              </p:cNvPr>
              <p:cNvSpPr/>
              <p:nvPr/>
            </p:nvSpPr>
            <p:spPr>
              <a:xfrm>
                <a:off x="1507328" y="2245486"/>
                <a:ext cx="1828799" cy="399393"/>
              </a:xfrm>
              <a:prstGeom prst="roundRect">
                <a:avLst>
                  <a:gd name="adj" fmla="val 50000"/>
                </a:avLst>
              </a:prstGeom>
              <a:solidFill>
                <a:srgbClr val="C830C8"/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350">
                  <a:solidFill>
                    <a:prstClr val="white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94" name="文本框 193">
                <a:extLst>
                  <a:ext uri="{FF2B5EF4-FFF2-40B4-BE49-F238E27FC236}">
                    <a16:creationId xmlns:a16="http://schemas.microsoft.com/office/drawing/2014/main" id="{3C36D56F-B38E-40E6-8B2B-3D55F6AAC152}"/>
                  </a:ext>
                </a:extLst>
              </p:cNvPr>
              <p:cNvSpPr txBox="1"/>
              <p:nvPr/>
            </p:nvSpPr>
            <p:spPr>
              <a:xfrm>
                <a:off x="1632667" y="2222626"/>
                <a:ext cx="1582695" cy="4952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900" b="1" dirty="0">
                    <a:solidFill>
                      <a:prstClr val="white"/>
                    </a:solidFill>
                    <a:latin typeface="Consolas" panose="020B0609020204030204" pitchFamily="49" charset="0"/>
                    <a:ea typeface="微软雅黑"/>
                    <a:cs typeface="Segoe UI Black" panose="020B0A02040204020203" pitchFamily="34" charset="0"/>
                  </a:rPr>
                  <a:t>8 Hi-Speed</a:t>
                </a:r>
              </a:p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900" b="1" dirty="0">
                    <a:solidFill>
                      <a:prstClr val="white"/>
                    </a:solidFill>
                    <a:latin typeface="Consolas" panose="020B0609020204030204" pitchFamily="49" charset="0"/>
                    <a:ea typeface="微软雅黑"/>
                    <a:cs typeface="Segoe UI Black" panose="020B0A02040204020203" pitchFamily="34" charset="0"/>
                  </a:rPr>
                  <a:t>USB 2.0 Ports</a:t>
                </a:r>
                <a:endParaRPr lang="zh-CN" altLang="en-US" sz="900" b="1" dirty="0">
                  <a:solidFill>
                    <a:prstClr val="white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endParaRPr>
              </a:p>
            </p:txBody>
          </p:sp>
        </p:grpSp>
        <p:grpSp>
          <p:nvGrpSpPr>
            <p:cNvPr id="141" name="组合 140">
              <a:extLst>
                <a:ext uri="{FF2B5EF4-FFF2-40B4-BE49-F238E27FC236}">
                  <a16:creationId xmlns:a16="http://schemas.microsoft.com/office/drawing/2014/main" id="{8B7C2EBC-5369-473F-AB29-E55E99C1027F}"/>
                </a:ext>
              </a:extLst>
            </p:cNvPr>
            <p:cNvGrpSpPr/>
            <p:nvPr/>
          </p:nvGrpSpPr>
          <p:grpSpPr>
            <a:xfrm>
              <a:off x="10081183" y="2394395"/>
              <a:ext cx="1208041" cy="399393"/>
              <a:chOff x="1507328" y="2245486"/>
              <a:chExt cx="1828799" cy="399393"/>
            </a:xfrm>
          </p:grpSpPr>
          <p:sp>
            <p:nvSpPr>
              <p:cNvPr id="191" name="矩形: 圆角 19">
                <a:extLst>
                  <a:ext uri="{FF2B5EF4-FFF2-40B4-BE49-F238E27FC236}">
                    <a16:creationId xmlns:a16="http://schemas.microsoft.com/office/drawing/2014/main" id="{662FF55C-30B1-416D-B8D6-96D4C6580BAD}"/>
                  </a:ext>
                </a:extLst>
              </p:cNvPr>
              <p:cNvSpPr/>
              <p:nvPr/>
            </p:nvSpPr>
            <p:spPr>
              <a:xfrm>
                <a:off x="1507328" y="2245486"/>
                <a:ext cx="1828799" cy="399393"/>
              </a:xfrm>
              <a:prstGeom prst="roundRect">
                <a:avLst>
                  <a:gd name="adj" fmla="val 50000"/>
                </a:avLst>
              </a:prstGeom>
              <a:solidFill>
                <a:srgbClr val="60C830"/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350">
                  <a:solidFill>
                    <a:prstClr val="white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92" name="文本框 191">
                <a:extLst>
                  <a:ext uri="{FF2B5EF4-FFF2-40B4-BE49-F238E27FC236}">
                    <a16:creationId xmlns:a16="http://schemas.microsoft.com/office/drawing/2014/main" id="{FBABF7B2-1F62-4B94-993C-BC6BBFD82F6B}"/>
                  </a:ext>
                </a:extLst>
              </p:cNvPr>
              <p:cNvSpPr txBox="1"/>
              <p:nvPr/>
            </p:nvSpPr>
            <p:spPr>
              <a:xfrm>
                <a:off x="1973949" y="2306682"/>
                <a:ext cx="895550" cy="309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900" b="1" dirty="0">
                    <a:solidFill>
                      <a:prstClr val="white"/>
                    </a:solidFill>
                    <a:latin typeface="Consolas" panose="020B0609020204030204" pitchFamily="49" charset="0"/>
                    <a:ea typeface="微软雅黑"/>
                    <a:cs typeface="Segoe UI Black" panose="020B0A02040204020203" pitchFamily="34" charset="0"/>
                  </a:rPr>
                  <a:t>DDR2</a:t>
                </a:r>
                <a:endParaRPr lang="zh-CN" altLang="en-US" sz="900" b="1" dirty="0">
                  <a:solidFill>
                    <a:prstClr val="white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endParaRPr>
              </a:p>
            </p:txBody>
          </p:sp>
        </p:grpSp>
        <p:grpSp>
          <p:nvGrpSpPr>
            <p:cNvPr id="142" name="组合 141">
              <a:extLst>
                <a:ext uri="{FF2B5EF4-FFF2-40B4-BE49-F238E27FC236}">
                  <a16:creationId xmlns:a16="http://schemas.microsoft.com/office/drawing/2014/main" id="{1556E945-162F-4055-9CF6-93DBF27DD980}"/>
                </a:ext>
              </a:extLst>
            </p:cNvPr>
            <p:cNvGrpSpPr/>
            <p:nvPr/>
          </p:nvGrpSpPr>
          <p:grpSpPr>
            <a:xfrm>
              <a:off x="10081183" y="3085956"/>
              <a:ext cx="1208041" cy="399393"/>
              <a:chOff x="1507328" y="2245486"/>
              <a:chExt cx="1828799" cy="399393"/>
            </a:xfrm>
          </p:grpSpPr>
          <p:sp>
            <p:nvSpPr>
              <p:cNvPr id="189" name="矩形: 圆角 22">
                <a:extLst>
                  <a:ext uri="{FF2B5EF4-FFF2-40B4-BE49-F238E27FC236}">
                    <a16:creationId xmlns:a16="http://schemas.microsoft.com/office/drawing/2014/main" id="{2D8A1A67-F073-401F-AF51-0D79E6DC4A87}"/>
                  </a:ext>
                </a:extLst>
              </p:cNvPr>
              <p:cNvSpPr/>
              <p:nvPr/>
            </p:nvSpPr>
            <p:spPr>
              <a:xfrm>
                <a:off x="1507328" y="2245486"/>
                <a:ext cx="1828799" cy="399393"/>
              </a:xfrm>
              <a:prstGeom prst="roundRect">
                <a:avLst>
                  <a:gd name="adj" fmla="val 50000"/>
                </a:avLst>
              </a:prstGeom>
              <a:solidFill>
                <a:srgbClr val="60C830"/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350">
                  <a:solidFill>
                    <a:prstClr val="white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90" name="文本框 189">
                <a:extLst>
                  <a:ext uri="{FF2B5EF4-FFF2-40B4-BE49-F238E27FC236}">
                    <a16:creationId xmlns:a16="http://schemas.microsoft.com/office/drawing/2014/main" id="{47DB0689-C60B-40E2-95E1-3B99598A10D0}"/>
                  </a:ext>
                </a:extLst>
              </p:cNvPr>
              <p:cNvSpPr txBox="1"/>
              <p:nvPr/>
            </p:nvSpPr>
            <p:spPr>
              <a:xfrm>
                <a:off x="1973949" y="2306682"/>
                <a:ext cx="895550" cy="309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900" b="1" dirty="0">
                    <a:solidFill>
                      <a:prstClr val="white"/>
                    </a:solidFill>
                    <a:latin typeface="Consolas" panose="020B0609020204030204" pitchFamily="49" charset="0"/>
                    <a:ea typeface="微软雅黑"/>
                    <a:cs typeface="Segoe UI Black" panose="020B0A02040204020203" pitchFamily="34" charset="0"/>
                  </a:rPr>
                  <a:t>DDR2</a:t>
                </a:r>
                <a:endParaRPr lang="zh-CN" altLang="en-US" sz="900" b="1" dirty="0">
                  <a:solidFill>
                    <a:prstClr val="white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endParaRPr>
              </a:p>
            </p:txBody>
          </p:sp>
        </p:grpSp>
        <p:grpSp>
          <p:nvGrpSpPr>
            <p:cNvPr id="143" name="组合 142">
              <a:extLst>
                <a:ext uri="{FF2B5EF4-FFF2-40B4-BE49-F238E27FC236}">
                  <a16:creationId xmlns:a16="http://schemas.microsoft.com/office/drawing/2014/main" id="{97361067-2C67-4EE1-A10C-90A2DD24CC47}"/>
                </a:ext>
              </a:extLst>
            </p:cNvPr>
            <p:cNvGrpSpPr/>
            <p:nvPr/>
          </p:nvGrpSpPr>
          <p:grpSpPr>
            <a:xfrm>
              <a:off x="10081183" y="3938637"/>
              <a:ext cx="1208041" cy="495267"/>
              <a:chOff x="1507328" y="2214349"/>
              <a:chExt cx="1828799" cy="495267"/>
            </a:xfrm>
          </p:grpSpPr>
          <p:sp>
            <p:nvSpPr>
              <p:cNvPr id="187" name="矩形: 圆角 25">
                <a:extLst>
                  <a:ext uri="{FF2B5EF4-FFF2-40B4-BE49-F238E27FC236}">
                    <a16:creationId xmlns:a16="http://schemas.microsoft.com/office/drawing/2014/main" id="{0F55F32B-1DA5-4D71-A613-C0212A95C66A}"/>
                  </a:ext>
                </a:extLst>
              </p:cNvPr>
              <p:cNvSpPr/>
              <p:nvPr/>
            </p:nvSpPr>
            <p:spPr>
              <a:xfrm>
                <a:off x="1507328" y="2245486"/>
                <a:ext cx="1828799" cy="399393"/>
              </a:xfrm>
              <a:prstGeom prst="roundRect">
                <a:avLst>
                  <a:gd name="adj" fmla="val 50000"/>
                </a:avLst>
              </a:prstGeom>
              <a:solidFill>
                <a:srgbClr val="60C830"/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350">
                  <a:solidFill>
                    <a:prstClr val="white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88" name="文本框 187">
                <a:extLst>
                  <a:ext uri="{FF2B5EF4-FFF2-40B4-BE49-F238E27FC236}">
                    <a16:creationId xmlns:a16="http://schemas.microsoft.com/office/drawing/2014/main" id="{FF50261E-9751-42E3-8703-2C6D4618E43D}"/>
                  </a:ext>
                </a:extLst>
              </p:cNvPr>
              <p:cNvSpPr txBox="1"/>
              <p:nvPr/>
            </p:nvSpPr>
            <p:spPr>
              <a:xfrm>
                <a:off x="1668157" y="2214349"/>
                <a:ext cx="1546385" cy="4952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900" b="1" dirty="0">
                    <a:solidFill>
                      <a:prstClr val="white"/>
                    </a:solidFill>
                    <a:latin typeface="Consolas" panose="020B0609020204030204" pitchFamily="49" charset="0"/>
                    <a:ea typeface="微软雅黑"/>
                    <a:cs typeface="Segoe UI Black" panose="020B0A02040204020203" pitchFamily="34" charset="0"/>
                  </a:rPr>
                  <a:t>4 Serial</a:t>
                </a:r>
              </a:p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900" b="1" dirty="0">
                    <a:solidFill>
                      <a:prstClr val="white"/>
                    </a:solidFill>
                    <a:latin typeface="Consolas" panose="020B0609020204030204" pitchFamily="49" charset="0"/>
                    <a:ea typeface="微软雅黑"/>
                    <a:cs typeface="Segoe UI Black" panose="020B0A02040204020203" pitchFamily="34" charset="0"/>
                  </a:rPr>
                  <a:t>ATA Ports</a:t>
                </a:r>
                <a:endParaRPr lang="zh-CN" altLang="en-US" sz="900" b="1" dirty="0">
                  <a:solidFill>
                    <a:prstClr val="white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endParaRPr>
              </a:p>
            </p:txBody>
          </p:sp>
        </p:grpSp>
        <p:grpSp>
          <p:nvGrpSpPr>
            <p:cNvPr id="144" name="组合 143">
              <a:extLst>
                <a:ext uri="{FF2B5EF4-FFF2-40B4-BE49-F238E27FC236}">
                  <a16:creationId xmlns:a16="http://schemas.microsoft.com/office/drawing/2014/main" id="{C0A1E1BB-3E18-4C2F-B1AC-F108558825C3}"/>
                </a:ext>
              </a:extLst>
            </p:cNvPr>
            <p:cNvGrpSpPr/>
            <p:nvPr/>
          </p:nvGrpSpPr>
          <p:grpSpPr>
            <a:xfrm>
              <a:off x="10094143" y="4465348"/>
              <a:ext cx="1208041" cy="399393"/>
              <a:chOff x="1507328" y="2245486"/>
              <a:chExt cx="1828799" cy="399393"/>
            </a:xfrm>
          </p:grpSpPr>
          <p:sp>
            <p:nvSpPr>
              <p:cNvPr id="185" name="矩形: 圆角 28">
                <a:extLst>
                  <a:ext uri="{FF2B5EF4-FFF2-40B4-BE49-F238E27FC236}">
                    <a16:creationId xmlns:a16="http://schemas.microsoft.com/office/drawing/2014/main" id="{8CF06375-888C-41D3-8FEC-2951EA25B3F8}"/>
                  </a:ext>
                </a:extLst>
              </p:cNvPr>
              <p:cNvSpPr/>
              <p:nvPr/>
            </p:nvSpPr>
            <p:spPr>
              <a:xfrm>
                <a:off x="1507328" y="2245486"/>
                <a:ext cx="1828799" cy="399393"/>
              </a:xfrm>
              <a:prstGeom prst="roundRect">
                <a:avLst>
                  <a:gd name="adj" fmla="val 50000"/>
                </a:avLst>
              </a:prstGeom>
              <a:solidFill>
                <a:srgbClr val="60C830"/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350">
                  <a:solidFill>
                    <a:prstClr val="white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86" name="文本框 185">
                <a:extLst>
                  <a:ext uri="{FF2B5EF4-FFF2-40B4-BE49-F238E27FC236}">
                    <a16:creationId xmlns:a16="http://schemas.microsoft.com/office/drawing/2014/main" id="{027DD4C9-3606-4CF9-8E3A-F2E29D52BBE0}"/>
                  </a:ext>
                </a:extLst>
              </p:cNvPr>
              <p:cNvSpPr txBox="1"/>
              <p:nvPr/>
            </p:nvSpPr>
            <p:spPr>
              <a:xfrm>
                <a:off x="1908868" y="2306682"/>
                <a:ext cx="1025717" cy="309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900" b="1" dirty="0">
                    <a:solidFill>
                      <a:prstClr val="white"/>
                    </a:solidFill>
                    <a:latin typeface="Consolas" panose="020B0609020204030204" pitchFamily="49" charset="0"/>
                    <a:ea typeface="微软雅黑"/>
                    <a:cs typeface="Segoe UI Black" panose="020B0A02040204020203" pitchFamily="34" charset="0"/>
                  </a:rPr>
                  <a:t>6 PCI</a:t>
                </a:r>
                <a:endParaRPr lang="zh-CN" altLang="en-US" sz="900" b="1" dirty="0">
                  <a:solidFill>
                    <a:prstClr val="white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endParaRPr>
              </a:p>
            </p:txBody>
          </p:sp>
        </p:grpSp>
        <p:grpSp>
          <p:nvGrpSpPr>
            <p:cNvPr id="145" name="组合 144">
              <a:extLst>
                <a:ext uri="{FF2B5EF4-FFF2-40B4-BE49-F238E27FC236}">
                  <a16:creationId xmlns:a16="http://schemas.microsoft.com/office/drawing/2014/main" id="{AC183693-635D-4000-9AD9-CAE139A2D5B2}"/>
                </a:ext>
              </a:extLst>
            </p:cNvPr>
            <p:cNvGrpSpPr/>
            <p:nvPr/>
          </p:nvGrpSpPr>
          <p:grpSpPr>
            <a:xfrm>
              <a:off x="10081183" y="4944199"/>
              <a:ext cx="1840177" cy="495268"/>
              <a:chOff x="1507328" y="2214350"/>
              <a:chExt cx="1828799" cy="495268"/>
            </a:xfrm>
          </p:grpSpPr>
          <p:sp>
            <p:nvSpPr>
              <p:cNvPr id="183" name="矩形: 圆角 31">
                <a:extLst>
                  <a:ext uri="{FF2B5EF4-FFF2-40B4-BE49-F238E27FC236}">
                    <a16:creationId xmlns:a16="http://schemas.microsoft.com/office/drawing/2014/main" id="{949E666C-16CA-4593-976B-4146CDCD19D3}"/>
                  </a:ext>
                </a:extLst>
              </p:cNvPr>
              <p:cNvSpPr/>
              <p:nvPr/>
            </p:nvSpPr>
            <p:spPr>
              <a:xfrm>
                <a:off x="1507328" y="2245486"/>
                <a:ext cx="1828799" cy="399393"/>
              </a:xfrm>
              <a:prstGeom prst="roundRect">
                <a:avLst>
                  <a:gd name="adj" fmla="val 50000"/>
                </a:avLst>
              </a:prstGeom>
              <a:solidFill>
                <a:srgbClr val="60C830"/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350">
                  <a:solidFill>
                    <a:prstClr val="white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84" name="文本框 183">
                <a:extLst>
                  <a:ext uri="{FF2B5EF4-FFF2-40B4-BE49-F238E27FC236}">
                    <a16:creationId xmlns:a16="http://schemas.microsoft.com/office/drawing/2014/main" id="{8FA8FB2D-35A5-4A99-A870-7F663D1682EC}"/>
                  </a:ext>
                </a:extLst>
              </p:cNvPr>
              <p:cNvSpPr txBox="1"/>
              <p:nvPr/>
            </p:nvSpPr>
            <p:spPr>
              <a:xfrm>
                <a:off x="1530971" y="2214350"/>
                <a:ext cx="1784243" cy="4952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900" b="1" dirty="0">
                    <a:solidFill>
                      <a:prstClr val="white"/>
                    </a:solidFill>
                    <a:latin typeface="Consolas" panose="020B0609020204030204" pitchFamily="49" charset="0"/>
                    <a:ea typeface="微软雅黑"/>
                    <a:cs typeface="Segoe UI Black" panose="020B0A02040204020203" pitchFamily="34" charset="0"/>
                  </a:rPr>
                  <a:t>Intel</a:t>
                </a:r>
                <a:r>
                  <a:rPr lang="en-US" altLang="zh-CN" sz="750" b="1" baseline="30000" dirty="0">
                    <a:solidFill>
                      <a:prstClr val="white"/>
                    </a:solidFill>
                    <a:latin typeface="微软雅黑"/>
                    <a:ea typeface="微软雅黑"/>
                    <a:cs typeface="Segoe UI Black" panose="020B0A02040204020203" pitchFamily="34" charset="0"/>
                  </a:rPr>
                  <a:t>@</a:t>
                </a:r>
                <a:r>
                  <a:rPr lang="en-US" altLang="zh-CN" sz="900" b="1" dirty="0">
                    <a:solidFill>
                      <a:prstClr val="white"/>
                    </a:solidFill>
                    <a:latin typeface="Consolas" panose="020B0609020204030204" pitchFamily="49" charset="0"/>
                    <a:ea typeface="微软雅黑"/>
                    <a:cs typeface="Segoe UI Black" panose="020B0A02040204020203" pitchFamily="34" charset="0"/>
                  </a:rPr>
                  <a:t> Matrix</a:t>
                </a:r>
              </a:p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900" b="1" dirty="0">
                    <a:solidFill>
                      <a:prstClr val="white"/>
                    </a:solidFill>
                    <a:latin typeface="Consolas" panose="020B0609020204030204" pitchFamily="49" charset="0"/>
                    <a:ea typeface="微软雅黑"/>
                    <a:cs typeface="Segoe UI Black" panose="020B0A02040204020203" pitchFamily="34" charset="0"/>
                  </a:rPr>
                  <a:t>Storage Technology</a:t>
                </a:r>
                <a:endParaRPr lang="zh-CN" altLang="en-US" sz="900" b="1" dirty="0">
                  <a:solidFill>
                    <a:prstClr val="white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endParaRPr>
              </a:p>
            </p:txBody>
          </p:sp>
        </p:grpSp>
        <p:grpSp>
          <p:nvGrpSpPr>
            <p:cNvPr id="146" name="组合 145">
              <a:extLst>
                <a:ext uri="{FF2B5EF4-FFF2-40B4-BE49-F238E27FC236}">
                  <a16:creationId xmlns:a16="http://schemas.microsoft.com/office/drawing/2014/main" id="{EC4A3EB3-13C3-4B6B-AD9F-DC29D56D42F0}"/>
                </a:ext>
              </a:extLst>
            </p:cNvPr>
            <p:cNvGrpSpPr/>
            <p:nvPr/>
          </p:nvGrpSpPr>
          <p:grpSpPr>
            <a:xfrm>
              <a:off x="8144719" y="5804915"/>
              <a:ext cx="1551230" cy="495268"/>
              <a:chOff x="1507328" y="2214350"/>
              <a:chExt cx="1828799" cy="495268"/>
            </a:xfrm>
          </p:grpSpPr>
          <p:sp>
            <p:nvSpPr>
              <p:cNvPr id="181" name="矩形: 圆角 34">
                <a:extLst>
                  <a:ext uri="{FF2B5EF4-FFF2-40B4-BE49-F238E27FC236}">
                    <a16:creationId xmlns:a16="http://schemas.microsoft.com/office/drawing/2014/main" id="{F15E3DCE-4D13-40A0-9F1D-0A5FCEEED04E}"/>
                  </a:ext>
                </a:extLst>
              </p:cNvPr>
              <p:cNvSpPr/>
              <p:nvPr/>
            </p:nvSpPr>
            <p:spPr>
              <a:xfrm>
                <a:off x="1507328" y="2245486"/>
                <a:ext cx="1828799" cy="399393"/>
              </a:xfrm>
              <a:prstGeom prst="roundRect">
                <a:avLst>
                  <a:gd name="adj" fmla="val 50000"/>
                </a:avLst>
              </a:prstGeom>
              <a:solidFill>
                <a:srgbClr val="60C830"/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350">
                  <a:solidFill>
                    <a:prstClr val="white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3303E6E6-C39C-4CDE-8DA0-4B6152555826}"/>
                  </a:ext>
                </a:extLst>
              </p:cNvPr>
              <p:cNvSpPr txBox="1"/>
              <p:nvPr/>
            </p:nvSpPr>
            <p:spPr>
              <a:xfrm>
                <a:off x="1618236" y="2214350"/>
                <a:ext cx="1609746" cy="4952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900" b="1" dirty="0">
                    <a:solidFill>
                      <a:prstClr val="white"/>
                    </a:solidFill>
                    <a:latin typeface="Consolas" panose="020B0609020204030204" pitchFamily="49" charset="0"/>
                    <a:ea typeface="微软雅黑"/>
                    <a:cs typeface="Segoe UI Black" panose="020B0A02040204020203" pitchFamily="34" charset="0"/>
                  </a:rPr>
                  <a:t>BIOS Supports</a:t>
                </a:r>
              </a:p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900" b="1" dirty="0">
                    <a:solidFill>
                      <a:prstClr val="white"/>
                    </a:solidFill>
                    <a:latin typeface="Consolas" panose="020B0609020204030204" pitchFamily="49" charset="0"/>
                    <a:ea typeface="微软雅黑"/>
                    <a:cs typeface="Segoe UI Black" panose="020B0A02040204020203" pitchFamily="34" charset="0"/>
                  </a:rPr>
                  <a:t>HT Technology</a:t>
                </a:r>
                <a:endParaRPr lang="zh-CN" altLang="en-US" sz="900" b="1" dirty="0">
                  <a:solidFill>
                    <a:prstClr val="white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endParaRPr>
              </a:p>
            </p:txBody>
          </p:sp>
        </p:grpSp>
        <p:grpSp>
          <p:nvGrpSpPr>
            <p:cNvPr id="147" name="组合 146">
              <a:extLst>
                <a:ext uri="{FF2B5EF4-FFF2-40B4-BE49-F238E27FC236}">
                  <a16:creationId xmlns:a16="http://schemas.microsoft.com/office/drawing/2014/main" id="{24D6AF7D-BC3A-4CE1-A743-887131B0AF81}"/>
                </a:ext>
              </a:extLst>
            </p:cNvPr>
            <p:cNvGrpSpPr/>
            <p:nvPr/>
          </p:nvGrpSpPr>
          <p:grpSpPr>
            <a:xfrm>
              <a:off x="8135220" y="1130300"/>
              <a:ext cx="1537393" cy="680991"/>
              <a:chOff x="5419425" y="1187636"/>
              <a:chExt cx="1537393" cy="680991"/>
            </a:xfrm>
          </p:grpSpPr>
          <p:sp>
            <p:nvSpPr>
              <p:cNvPr id="179" name="矩形 178">
                <a:extLst>
                  <a:ext uri="{FF2B5EF4-FFF2-40B4-BE49-F238E27FC236}">
                    <a16:creationId xmlns:a16="http://schemas.microsoft.com/office/drawing/2014/main" id="{66C8B0D9-2915-4740-BCFC-305A2FDB8944}"/>
                  </a:ext>
                </a:extLst>
              </p:cNvPr>
              <p:cNvSpPr/>
              <p:nvPr/>
            </p:nvSpPr>
            <p:spPr>
              <a:xfrm>
                <a:off x="5476875" y="1191413"/>
                <a:ext cx="1399315" cy="634902"/>
              </a:xfrm>
              <a:prstGeom prst="rect">
                <a:avLst/>
              </a:prstGeom>
              <a:solidFill>
                <a:srgbClr val="F86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350">
                  <a:solidFill>
                    <a:prstClr val="white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80" name="文本框 179">
                <a:extLst>
                  <a:ext uri="{FF2B5EF4-FFF2-40B4-BE49-F238E27FC236}">
                    <a16:creationId xmlns:a16="http://schemas.microsoft.com/office/drawing/2014/main" id="{66BE758F-048F-44C7-A403-564CB4B97D62}"/>
                  </a:ext>
                </a:extLst>
              </p:cNvPr>
              <p:cNvSpPr txBox="1"/>
              <p:nvPr/>
            </p:nvSpPr>
            <p:spPr>
              <a:xfrm>
                <a:off x="5419425" y="1187636"/>
                <a:ext cx="1537393" cy="680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900" b="1" dirty="0">
                    <a:solidFill>
                      <a:prstClr val="white"/>
                    </a:solidFill>
                    <a:latin typeface="Consolas" panose="020B0609020204030204" pitchFamily="49" charset="0"/>
                    <a:ea typeface="微软雅黑"/>
                    <a:cs typeface="Segoe UI Black" panose="020B0A02040204020203" pitchFamily="34" charset="0"/>
                  </a:rPr>
                  <a:t>Intel Pentium 4</a:t>
                </a:r>
              </a:p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900" b="1" dirty="0">
                    <a:solidFill>
                      <a:prstClr val="white"/>
                    </a:solidFill>
                    <a:latin typeface="Consolas" panose="020B0609020204030204" pitchFamily="49" charset="0"/>
                    <a:ea typeface="微软雅黑"/>
                    <a:cs typeface="Segoe UI Black" panose="020B0A02040204020203" pitchFamily="34" charset="0"/>
                  </a:rPr>
                  <a:t>Processor</a:t>
                </a:r>
              </a:p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900" b="1" dirty="0">
                    <a:solidFill>
                      <a:prstClr val="white"/>
                    </a:solidFill>
                    <a:latin typeface="Consolas" panose="020B0609020204030204" pitchFamily="49" charset="0"/>
                    <a:ea typeface="微软雅黑"/>
                    <a:cs typeface="Segoe UI Black" panose="020B0A02040204020203" pitchFamily="34" charset="0"/>
                  </a:rPr>
                  <a:t>Extreme Edition</a:t>
                </a:r>
                <a:endParaRPr lang="zh-CN" altLang="en-US" sz="900" b="1" dirty="0">
                  <a:solidFill>
                    <a:prstClr val="white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endParaRPr>
              </a:p>
            </p:txBody>
          </p:sp>
        </p:grp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46937F46-4EF2-4541-9D0B-A033CA10549A}"/>
                </a:ext>
              </a:extLst>
            </p:cNvPr>
            <p:cNvCxnSpPr>
              <a:cxnSpLocks/>
              <a:stCxn id="202" idx="2"/>
              <a:endCxn id="177" idx="0"/>
            </p:cNvCxnSpPr>
            <p:nvPr/>
          </p:nvCxnSpPr>
          <p:spPr>
            <a:xfrm>
              <a:off x="8908181" y="3498049"/>
              <a:ext cx="0" cy="4673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>
              <a:extLst>
                <a:ext uri="{FF2B5EF4-FFF2-40B4-BE49-F238E27FC236}">
                  <a16:creationId xmlns:a16="http://schemas.microsoft.com/office/drawing/2014/main" id="{82F3128E-D57B-4BA4-AC74-8B4E036897D1}"/>
                </a:ext>
              </a:extLst>
            </p:cNvPr>
            <p:cNvCxnSpPr>
              <a:cxnSpLocks/>
            </p:cNvCxnSpPr>
            <p:nvPr/>
          </p:nvCxnSpPr>
          <p:spPr>
            <a:xfrm>
              <a:off x="8898556" y="3498049"/>
              <a:ext cx="0" cy="467393"/>
            </a:xfrm>
            <a:prstGeom prst="line">
              <a:avLst/>
            </a:prstGeom>
            <a:ln w="57150">
              <a:solidFill>
                <a:srgbClr val="F8901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79656DD0-1562-42E4-9B6F-A5C54AD6D2F0}"/>
                </a:ext>
              </a:extLst>
            </p:cNvPr>
            <p:cNvCxnSpPr/>
            <p:nvPr/>
          </p:nvCxnSpPr>
          <p:spPr>
            <a:xfrm>
              <a:off x="9630085" y="2604082"/>
              <a:ext cx="449731" cy="0"/>
            </a:xfrm>
            <a:prstGeom prst="line">
              <a:avLst/>
            </a:prstGeom>
            <a:ln w="19050">
              <a:solidFill>
                <a:srgbClr val="F8901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>
              <a:extLst>
                <a:ext uri="{FF2B5EF4-FFF2-40B4-BE49-F238E27FC236}">
                  <a16:creationId xmlns:a16="http://schemas.microsoft.com/office/drawing/2014/main" id="{017BA423-FC6A-4FE7-A73A-211E39E064F2}"/>
                </a:ext>
              </a:extLst>
            </p:cNvPr>
            <p:cNvCxnSpPr/>
            <p:nvPr/>
          </p:nvCxnSpPr>
          <p:spPr>
            <a:xfrm>
              <a:off x="9639610" y="3317971"/>
              <a:ext cx="449731" cy="0"/>
            </a:xfrm>
            <a:prstGeom prst="line">
              <a:avLst/>
            </a:prstGeom>
            <a:ln w="19050">
              <a:solidFill>
                <a:srgbClr val="F8901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54B54A41-C422-4C40-A180-A7F2806CC912}"/>
                </a:ext>
              </a:extLst>
            </p:cNvPr>
            <p:cNvCxnSpPr/>
            <p:nvPr/>
          </p:nvCxnSpPr>
          <p:spPr>
            <a:xfrm>
              <a:off x="9636686" y="4169469"/>
              <a:ext cx="449731" cy="0"/>
            </a:xfrm>
            <a:prstGeom prst="line">
              <a:avLst/>
            </a:prstGeom>
            <a:ln w="19050">
              <a:solidFill>
                <a:srgbClr val="F8901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连接符 152">
              <a:extLst>
                <a:ext uri="{FF2B5EF4-FFF2-40B4-BE49-F238E27FC236}">
                  <a16:creationId xmlns:a16="http://schemas.microsoft.com/office/drawing/2014/main" id="{389E52F9-D76C-485B-92B4-7EFE36A51313}"/>
                </a:ext>
              </a:extLst>
            </p:cNvPr>
            <p:cNvCxnSpPr/>
            <p:nvPr/>
          </p:nvCxnSpPr>
          <p:spPr>
            <a:xfrm>
              <a:off x="9636685" y="4680440"/>
              <a:ext cx="449731" cy="0"/>
            </a:xfrm>
            <a:prstGeom prst="line">
              <a:avLst/>
            </a:prstGeom>
            <a:ln w="19050">
              <a:solidFill>
                <a:srgbClr val="F8901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>
              <a:extLst>
                <a:ext uri="{FF2B5EF4-FFF2-40B4-BE49-F238E27FC236}">
                  <a16:creationId xmlns:a16="http://schemas.microsoft.com/office/drawing/2014/main" id="{78667E1E-A0F2-4545-AFCD-FFB569929229}"/>
                </a:ext>
              </a:extLst>
            </p:cNvPr>
            <p:cNvCxnSpPr/>
            <p:nvPr/>
          </p:nvCxnSpPr>
          <p:spPr>
            <a:xfrm>
              <a:off x="9636684" y="5191411"/>
              <a:ext cx="449731" cy="0"/>
            </a:xfrm>
            <a:prstGeom prst="line">
              <a:avLst/>
            </a:prstGeom>
            <a:ln w="19050">
              <a:solidFill>
                <a:srgbClr val="F8901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>
              <a:extLst>
                <a:ext uri="{FF2B5EF4-FFF2-40B4-BE49-F238E27FC236}">
                  <a16:creationId xmlns:a16="http://schemas.microsoft.com/office/drawing/2014/main" id="{9E0B2D5B-7B5F-4874-9BAB-0F8094B2907A}"/>
                </a:ext>
              </a:extLst>
            </p:cNvPr>
            <p:cNvCxnSpPr/>
            <p:nvPr/>
          </p:nvCxnSpPr>
          <p:spPr>
            <a:xfrm>
              <a:off x="7762758" y="4169469"/>
              <a:ext cx="449731" cy="0"/>
            </a:xfrm>
            <a:prstGeom prst="line">
              <a:avLst/>
            </a:prstGeom>
            <a:ln w="19050">
              <a:solidFill>
                <a:srgbClr val="F8901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id="{52BF0294-7FF5-4B32-9C25-76332ECA6F21}"/>
                </a:ext>
              </a:extLst>
            </p:cNvPr>
            <p:cNvCxnSpPr/>
            <p:nvPr/>
          </p:nvCxnSpPr>
          <p:spPr>
            <a:xfrm>
              <a:off x="7762757" y="4680440"/>
              <a:ext cx="449731" cy="0"/>
            </a:xfrm>
            <a:prstGeom prst="line">
              <a:avLst/>
            </a:prstGeom>
            <a:ln w="19050">
              <a:solidFill>
                <a:srgbClr val="F8901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>
              <a:extLst>
                <a:ext uri="{FF2B5EF4-FFF2-40B4-BE49-F238E27FC236}">
                  <a16:creationId xmlns:a16="http://schemas.microsoft.com/office/drawing/2014/main" id="{FA4E2DEB-AEDC-41D3-A264-C946A432E7A5}"/>
                </a:ext>
              </a:extLst>
            </p:cNvPr>
            <p:cNvCxnSpPr/>
            <p:nvPr/>
          </p:nvCxnSpPr>
          <p:spPr>
            <a:xfrm>
              <a:off x="7762756" y="5191411"/>
              <a:ext cx="449731" cy="0"/>
            </a:xfrm>
            <a:prstGeom prst="line">
              <a:avLst/>
            </a:prstGeom>
            <a:ln w="19050">
              <a:solidFill>
                <a:srgbClr val="F8901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接连接符 157">
              <a:extLst>
                <a:ext uri="{FF2B5EF4-FFF2-40B4-BE49-F238E27FC236}">
                  <a16:creationId xmlns:a16="http://schemas.microsoft.com/office/drawing/2014/main" id="{4700073E-B081-404B-96D6-EA98D557C6FA}"/>
                </a:ext>
              </a:extLst>
            </p:cNvPr>
            <p:cNvCxnSpPr/>
            <p:nvPr/>
          </p:nvCxnSpPr>
          <p:spPr>
            <a:xfrm>
              <a:off x="7752050" y="2952571"/>
              <a:ext cx="449731" cy="0"/>
            </a:xfrm>
            <a:prstGeom prst="line">
              <a:avLst/>
            </a:prstGeom>
            <a:ln w="19050">
              <a:solidFill>
                <a:srgbClr val="F8901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>
              <a:extLst>
                <a:ext uri="{FF2B5EF4-FFF2-40B4-BE49-F238E27FC236}">
                  <a16:creationId xmlns:a16="http://schemas.microsoft.com/office/drawing/2014/main" id="{7D27AFBB-244E-46DC-AC1A-FA6EE9840015}"/>
                </a:ext>
              </a:extLst>
            </p:cNvPr>
            <p:cNvCxnSpPr/>
            <p:nvPr/>
          </p:nvCxnSpPr>
          <p:spPr>
            <a:xfrm>
              <a:off x="8891759" y="1767106"/>
              <a:ext cx="0" cy="467393"/>
            </a:xfrm>
            <a:prstGeom prst="line">
              <a:avLst/>
            </a:prstGeom>
            <a:ln w="19050">
              <a:solidFill>
                <a:srgbClr val="F8901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>
              <a:extLst>
                <a:ext uri="{FF2B5EF4-FFF2-40B4-BE49-F238E27FC236}">
                  <a16:creationId xmlns:a16="http://schemas.microsoft.com/office/drawing/2014/main" id="{14A45C6F-9C68-4983-A4A7-6F69CE1D58C2}"/>
                </a:ext>
              </a:extLst>
            </p:cNvPr>
            <p:cNvCxnSpPr/>
            <p:nvPr/>
          </p:nvCxnSpPr>
          <p:spPr>
            <a:xfrm>
              <a:off x="8898556" y="5383453"/>
              <a:ext cx="0" cy="467393"/>
            </a:xfrm>
            <a:prstGeom prst="line">
              <a:avLst/>
            </a:prstGeom>
            <a:ln w="19050">
              <a:solidFill>
                <a:srgbClr val="F8901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矩形 160">
              <a:extLst>
                <a:ext uri="{FF2B5EF4-FFF2-40B4-BE49-F238E27FC236}">
                  <a16:creationId xmlns:a16="http://schemas.microsoft.com/office/drawing/2014/main" id="{A2F29170-966C-408C-BD06-8606507550CC}"/>
                </a:ext>
              </a:extLst>
            </p:cNvPr>
            <p:cNvSpPr/>
            <p:nvPr/>
          </p:nvSpPr>
          <p:spPr>
            <a:xfrm>
              <a:off x="7752050" y="2894418"/>
              <a:ext cx="591568" cy="3095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 dirty="0">
                  <a:solidFill>
                    <a:prstClr val="black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rPr>
                <a:t>GB/s</a:t>
              </a:r>
              <a:endParaRPr lang="zh-CN" altLang="en-US" sz="900" dirty="0">
                <a:solidFill>
                  <a:prstClr val="black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0E9A7FF9-DB41-4C27-9E96-3B054ABF1765}"/>
                </a:ext>
              </a:extLst>
            </p:cNvPr>
            <p:cNvSpPr/>
            <p:nvPr/>
          </p:nvSpPr>
          <p:spPr>
            <a:xfrm>
              <a:off x="7751563" y="4644022"/>
              <a:ext cx="591568" cy="3095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 dirty="0">
                  <a:solidFill>
                    <a:prstClr val="black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rPr>
                <a:t>MB/s</a:t>
              </a:r>
              <a:endParaRPr lang="zh-CN" altLang="en-US" sz="900" b="1" dirty="0">
                <a:solidFill>
                  <a:prstClr val="black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63" name="矩形 162">
              <a:extLst>
                <a:ext uri="{FF2B5EF4-FFF2-40B4-BE49-F238E27FC236}">
                  <a16:creationId xmlns:a16="http://schemas.microsoft.com/office/drawing/2014/main" id="{79091A27-636F-4DFD-B843-AF3F3E5CD7C9}"/>
                </a:ext>
              </a:extLst>
            </p:cNvPr>
            <p:cNvSpPr/>
            <p:nvPr/>
          </p:nvSpPr>
          <p:spPr>
            <a:xfrm>
              <a:off x="7730682" y="5141483"/>
              <a:ext cx="591568" cy="3095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 dirty="0">
                  <a:solidFill>
                    <a:prstClr val="black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rPr>
                <a:t>MB/s</a:t>
              </a:r>
              <a:endParaRPr lang="zh-CN" altLang="en-US" sz="900" b="1" dirty="0">
                <a:solidFill>
                  <a:prstClr val="black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64" name="矩形 163">
              <a:extLst>
                <a:ext uri="{FF2B5EF4-FFF2-40B4-BE49-F238E27FC236}">
                  <a16:creationId xmlns:a16="http://schemas.microsoft.com/office/drawing/2014/main" id="{7603042F-E0E5-4D57-87A3-9E2420281484}"/>
                </a:ext>
              </a:extLst>
            </p:cNvPr>
            <p:cNvSpPr/>
            <p:nvPr/>
          </p:nvSpPr>
          <p:spPr>
            <a:xfrm>
              <a:off x="9626729" y="4632864"/>
              <a:ext cx="591568" cy="3095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 dirty="0">
                  <a:solidFill>
                    <a:prstClr val="black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rPr>
                <a:t>MB/s</a:t>
              </a:r>
              <a:endParaRPr lang="zh-CN" altLang="en-US" sz="900" b="1" dirty="0">
                <a:solidFill>
                  <a:prstClr val="black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66" name="矩形 165">
              <a:extLst>
                <a:ext uri="{FF2B5EF4-FFF2-40B4-BE49-F238E27FC236}">
                  <a16:creationId xmlns:a16="http://schemas.microsoft.com/office/drawing/2014/main" id="{CC054CB4-BD2E-4FD3-AC17-BF68EB2A8673}"/>
                </a:ext>
              </a:extLst>
            </p:cNvPr>
            <p:cNvSpPr/>
            <p:nvPr/>
          </p:nvSpPr>
          <p:spPr>
            <a:xfrm>
              <a:off x="10308474" y="2800687"/>
              <a:ext cx="849521" cy="3095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 dirty="0">
                  <a:solidFill>
                    <a:prstClr val="black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rPr>
                <a:t>8.5GB/s</a:t>
              </a:r>
              <a:endParaRPr lang="zh-CN" altLang="en-US" sz="900" b="1" dirty="0">
                <a:solidFill>
                  <a:prstClr val="black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67" name="矩形 166">
              <a:extLst>
                <a:ext uri="{FF2B5EF4-FFF2-40B4-BE49-F238E27FC236}">
                  <a16:creationId xmlns:a16="http://schemas.microsoft.com/office/drawing/2014/main" id="{3AB14011-6517-494F-A839-9D123A4CA164}"/>
                </a:ext>
              </a:extLst>
            </p:cNvPr>
            <p:cNvSpPr/>
            <p:nvPr/>
          </p:nvSpPr>
          <p:spPr>
            <a:xfrm>
              <a:off x="10083115" y="2146069"/>
              <a:ext cx="1279439" cy="3095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 dirty="0">
                  <a:solidFill>
                    <a:prstClr val="black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rPr>
                <a:t>Dual Channel</a:t>
              </a:r>
              <a:endParaRPr lang="zh-CN" altLang="en-US" sz="900" b="1" dirty="0">
                <a:solidFill>
                  <a:prstClr val="black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68" name="矩形 167">
              <a:extLst>
                <a:ext uri="{FF2B5EF4-FFF2-40B4-BE49-F238E27FC236}">
                  <a16:creationId xmlns:a16="http://schemas.microsoft.com/office/drawing/2014/main" id="{58F06A1C-0F5C-4215-AA11-66871A04BC46}"/>
                </a:ext>
              </a:extLst>
            </p:cNvPr>
            <p:cNvSpPr/>
            <p:nvPr/>
          </p:nvSpPr>
          <p:spPr>
            <a:xfrm>
              <a:off x="8465155" y="1868450"/>
              <a:ext cx="1279439" cy="3095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>
                  <a:solidFill>
                    <a:prstClr val="black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rPr>
                <a:t>FSB  8.5GB/s</a:t>
              </a:r>
              <a:endParaRPr lang="zh-CN" altLang="en-US" sz="900" b="1" dirty="0">
                <a:solidFill>
                  <a:prstClr val="black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69" name="矩形 168">
              <a:extLst>
                <a:ext uri="{FF2B5EF4-FFF2-40B4-BE49-F238E27FC236}">
                  <a16:creationId xmlns:a16="http://schemas.microsoft.com/office/drawing/2014/main" id="{BFF0AF56-1848-4B92-AF62-3802EF2F62FF}"/>
                </a:ext>
              </a:extLst>
            </p:cNvPr>
            <p:cNvSpPr/>
            <p:nvPr/>
          </p:nvSpPr>
          <p:spPr>
            <a:xfrm>
              <a:off x="7782586" y="2732347"/>
              <a:ext cx="505585" cy="3095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 dirty="0">
                  <a:solidFill>
                    <a:prstClr val="black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rPr>
                <a:t>8.0</a:t>
              </a:r>
              <a:endParaRPr lang="zh-CN" altLang="en-US" sz="900" b="1" dirty="0">
                <a:solidFill>
                  <a:prstClr val="black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B67887EE-9F8D-4FFA-B62C-E3A8CAAA647D}"/>
                </a:ext>
              </a:extLst>
            </p:cNvPr>
            <p:cNvSpPr/>
            <p:nvPr/>
          </p:nvSpPr>
          <p:spPr>
            <a:xfrm>
              <a:off x="7776612" y="4453182"/>
              <a:ext cx="505585" cy="3095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 dirty="0">
                  <a:solidFill>
                    <a:prstClr val="black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rPr>
                <a:t>500</a:t>
              </a:r>
              <a:endParaRPr lang="zh-CN" altLang="en-US" sz="900" b="1" dirty="0">
                <a:solidFill>
                  <a:prstClr val="black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1F91B5C4-60E6-4CE8-B0C3-165C6B5B67B4}"/>
                </a:ext>
              </a:extLst>
            </p:cNvPr>
            <p:cNvSpPr/>
            <p:nvPr/>
          </p:nvSpPr>
          <p:spPr>
            <a:xfrm>
              <a:off x="7799817" y="4962222"/>
              <a:ext cx="419601" cy="3095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 dirty="0">
                  <a:solidFill>
                    <a:prstClr val="black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rPr>
                <a:t>60</a:t>
              </a:r>
              <a:endParaRPr lang="zh-CN" altLang="en-US" sz="900" b="1" dirty="0">
                <a:solidFill>
                  <a:prstClr val="black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AF44D125-2B0F-45E7-8EE8-2AC3B966B1A5}"/>
                </a:ext>
              </a:extLst>
            </p:cNvPr>
            <p:cNvSpPr/>
            <p:nvPr/>
          </p:nvSpPr>
          <p:spPr>
            <a:xfrm>
              <a:off x="9646872" y="4451799"/>
              <a:ext cx="505585" cy="3095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 dirty="0">
                  <a:solidFill>
                    <a:prstClr val="black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rPr>
                <a:t>133</a:t>
              </a:r>
              <a:endParaRPr lang="zh-CN" altLang="en-US" sz="900" b="1" dirty="0">
                <a:solidFill>
                  <a:prstClr val="black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74" name="矩形 173">
              <a:extLst>
                <a:ext uri="{FF2B5EF4-FFF2-40B4-BE49-F238E27FC236}">
                  <a16:creationId xmlns:a16="http://schemas.microsoft.com/office/drawing/2014/main" id="{B8E609D7-9E33-4E71-B417-A1FD61177CE1}"/>
                </a:ext>
              </a:extLst>
            </p:cNvPr>
            <p:cNvSpPr/>
            <p:nvPr/>
          </p:nvSpPr>
          <p:spPr>
            <a:xfrm>
              <a:off x="8312091" y="3671265"/>
              <a:ext cx="677553" cy="3095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 dirty="0">
                  <a:solidFill>
                    <a:prstClr val="black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rPr>
                <a:t>2GB/s</a:t>
              </a:r>
              <a:endParaRPr lang="zh-CN" altLang="en-US" sz="900" b="1" dirty="0">
                <a:solidFill>
                  <a:prstClr val="black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75" name="矩形 174">
              <a:extLst>
                <a:ext uri="{FF2B5EF4-FFF2-40B4-BE49-F238E27FC236}">
                  <a16:creationId xmlns:a16="http://schemas.microsoft.com/office/drawing/2014/main" id="{5790735E-1A6B-469B-B166-936845DE4797}"/>
                </a:ext>
              </a:extLst>
            </p:cNvPr>
            <p:cNvSpPr/>
            <p:nvPr/>
          </p:nvSpPr>
          <p:spPr>
            <a:xfrm>
              <a:off x="8936781" y="3665934"/>
              <a:ext cx="505585" cy="3095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 dirty="0">
                  <a:solidFill>
                    <a:prstClr val="black"/>
                  </a:solidFill>
                  <a:latin typeface="Consolas" panose="020B0609020204030204" pitchFamily="49" charset="0"/>
                  <a:ea typeface="微软雅黑"/>
                  <a:cs typeface="Segoe UI Black" panose="020B0A02040204020203" pitchFamily="34" charset="0"/>
                </a:rPr>
                <a:t>DMI</a:t>
              </a:r>
              <a:endParaRPr lang="zh-CN" altLang="en-US" sz="900" b="1" dirty="0">
                <a:solidFill>
                  <a:prstClr val="black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176" name="组合 175">
              <a:extLst>
                <a:ext uri="{FF2B5EF4-FFF2-40B4-BE49-F238E27FC236}">
                  <a16:creationId xmlns:a16="http://schemas.microsoft.com/office/drawing/2014/main" id="{6D305577-2DF6-49BF-BBAD-E1D07D2E4420}"/>
                </a:ext>
              </a:extLst>
            </p:cNvPr>
            <p:cNvGrpSpPr/>
            <p:nvPr/>
          </p:nvGrpSpPr>
          <p:grpSpPr>
            <a:xfrm>
              <a:off x="8203988" y="3965442"/>
              <a:ext cx="1408386" cy="1408386"/>
              <a:chOff x="7462345" y="2301766"/>
              <a:chExt cx="1408386" cy="1408386"/>
            </a:xfrm>
          </p:grpSpPr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D13D9A32-09E9-4940-9655-7B6BAAC174CF}"/>
                  </a:ext>
                </a:extLst>
              </p:cNvPr>
              <p:cNvSpPr/>
              <p:nvPr/>
            </p:nvSpPr>
            <p:spPr>
              <a:xfrm>
                <a:off x="7462345" y="2301766"/>
                <a:ext cx="1408386" cy="1408386"/>
              </a:xfrm>
              <a:prstGeom prst="rect">
                <a:avLst/>
              </a:prstGeom>
              <a:solidFill>
                <a:srgbClr val="0030F8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350" dirty="0">
                  <a:solidFill>
                    <a:prstClr val="white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78" name="矩形: 圆角 69">
                <a:extLst>
                  <a:ext uri="{FF2B5EF4-FFF2-40B4-BE49-F238E27FC236}">
                    <a16:creationId xmlns:a16="http://schemas.microsoft.com/office/drawing/2014/main" id="{93B2150F-D7D9-4645-BC41-CD80063E30AA}"/>
                  </a:ext>
                </a:extLst>
              </p:cNvPr>
              <p:cNvSpPr/>
              <p:nvPr/>
            </p:nvSpPr>
            <p:spPr>
              <a:xfrm>
                <a:off x="7621061" y="2460482"/>
                <a:ext cx="1090954" cy="1090954"/>
              </a:xfrm>
              <a:prstGeom prst="roundRect">
                <a:avLst>
                  <a:gd name="adj" fmla="val 11707"/>
                </a:avLst>
              </a:prstGeom>
              <a:solidFill>
                <a:srgbClr val="3060F8"/>
              </a:solidFill>
              <a:ln>
                <a:solidFill>
                  <a:schemeClr val="bg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050" b="1" dirty="0">
                    <a:solidFill>
                      <a:prstClr val="white"/>
                    </a:solidFill>
                    <a:latin typeface="微软雅黑"/>
                    <a:ea typeface="微软雅黑"/>
                  </a:rPr>
                  <a:t>ICH6R</a:t>
                </a:r>
                <a:endParaRPr lang="zh-CN" altLang="en-US" sz="1050" b="1" dirty="0">
                  <a:solidFill>
                    <a:prstClr val="white"/>
                  </a:solidFill>
                  <a:latin typeface="微软雅黑"/>
                  <a:ea typeface="微软雅黑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71558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49B2ACD-BCC3-42F3-8A46-1FF68D1E3F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第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zh-CN" altLang="en-US" b="1" dirty="0">
                <a:solidFill>
                  <a:srgbClr val="FF0000"/>
                </a:solidFill>
              </a:rPr>
              <a:t>章  总线技术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C153F71-F0B3-4B12-888B-BBC670D2D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4135" y="1548745"/>
            <a:ext cx="5544616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4. 1  </a:t>
            </a:r>
            <a:r>
              <a:rPr lang="zh-CN" altLang="en-US" dirty="0"/>
              <a:t>总 线 概 述</a:t>
            </a:r>
          </a:p>
          <a:p>
            <a:pPr marL="0" indent="0">
              <a:buNone/>
            </a:pPr>
            <a:r>
              <a:rPr lang="en-US" altLang="zh-CN" dirty="0"/>
              <a:t>4. 2  </a:t>
            </a:r>
            <a:r>
              <a:rPr lang="zh-CN" altLang="en-US" dirty="0"/>
              <a:t>系统总线结构</a:t>
            </a:r>
          </a:p>
          <a:p>
            <a:pPr marL="0" indent="0">
              <a:buNone/>
            </a:pPr>
            <a:r>
              <a:rPr lang="en-US" altLang="zh-CN" dirty="0"/>
              <a:t>4. 3  </a:t>
            </a:r>
            <a:r>
              <a:rPr lang="zh-CN" altLang="en-US" dirty="0"/>
              <a:t>总 线 仲 裁</a:t>
            </a:r>
          </a:p>
          <a:p>
            <a:pPr marL="0" indent="0">
              <a:buNone/>
            </a:pPr>
            <a:r>
              <a:rPr lang="en-US" altLang="zh-CN" dirty="0"/>
              <a:t>4. 4  </a:t>
            </a:r>
            <a:r>
              <a:rPr lang="zh-CN" altLang="en-US" dirty="0"/>
              <a:t>总线的通信方式</a:t>
            </a:r>
          </a:p>
          <a:p>
            <a:pPr marL="0" indent="0">
              <a:buNone/>
            </a:pPr>
            <a:r>
              <a:rPr lang="en-US" altLang="zh-CN" dirty="0"/>
              <a:t>4. 5  </a:t>
            </a:r>
            <a:r>
              <a:rPr lang="zh-CN" altLang="en-US" dirty="0"/>
              <a:t>总线的信息传送</a:t>
            </a:r>
          </a:p>
          <a:p>
            <a:pPr marL="0" indent="0">
              <a:buNone/>
            </a:pPr>
            <a:r>
              <a:rPr lang="en-US" altLang="zh-CN" dirty="0"/>
              <a:t>4. 6  </a:t>
            </a:r>
            <a:r>
              <a:rPr lang="zh-CN" altLang="en-US" dirty="0"/>
              <a:t>总线标准简介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D67CA4-03D2-4867-8379-5DE67C6D1C43}"/>
              </a:ext>
            </a:extLst>
          </p:cNvPr>
          <p:cNvSpPr/>
          <p:nvPr/>
        </p:nvSpPr>
        <p:spPr>
          <a:xfrm>
            <a:off x="1324135" y="2708920"/>
            <a:ext cx="3078087" cy="5847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lvl="0" eaLnBrk="0" hangingPunct="0">
              <a:spcBef>
                <a:spcPct val="20000"/>
              </a:spcBef>
            </a:pPr>
            <a:r>
              <a:rPr lang="en-US" altLang="zh-CN" sz="3200" kern="0" dirty="0">
                <a:solidFill>
                  <a:srgbClr val="000000"/>
                </a:solidFill>
              </a:rPr>
              <a:t>4. 3  </a:t>
            </a:r>
            <a:r>
              <a:rPr lang="zh-CN" altLang="en-US" sz="3200" kern="0" dirty="0">
                <a:solidFill>
                  <a:srgbClr val="000000"/>
                </a:solidFill>
              </a:rPr>
              <a:t>总 线 仲 裁</a:t>
            </a:r>
          </a:p>
        </p:txBody>
      </p:sp>
    </p:spTree>
    <p:extLst>
      <p:ext uri="{BB962C8B-B14F-4D97-AF65-F5344CB8AC3E}">
        <p14:creationId xmlns:p14="http://schemas.microsoft.com/office/powerpoint/2010/main" val="3073731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8D5C30B-DB7F-43A6-B0F6-96CE3E81A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4. 3  </a:t>
            </a:r>
            <a:r>
              <a:rPr lang="zh-CN" altLang="en-US" dirty="0"/>
              <a:t>总 线 仲 裁</a:t>
            </a:r>
          </a:p>
        </p:txBody>
      </p:sp>
      <p:sp>
        <p:nvSpPr>
          <p:cNvPr id="6" name="矩形 3">
            <a:extLst>
              <a:ext uri="{FF2B5EF4-FFF2-40B4-BE49-F238E27FC236}">
                <a16:creationId xmlns:a16="http://schemas.microsoft.com/office/drawing/2014/main" id="{3A016C37-EB6D-4289-AED5-808FFD15476E}"/>
              </a:ext>
            </a:extLst>
          </p:cNvPr>
          <p:cNvSpPr txBox="1">
            <a:spLocks noChangeArrowheads="1"/>
          </p:cNvSpPr>
          <p:nvPr/>
        </p:nvSpPr>
        <p:spPr>
          <a:xfrm>
            <a:off x="354360" y="1222045"/>
            <a:ext cx="8435280" cy="5637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FF0000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812800" indent="-355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sz="20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5"/>
              </a:buClr>
              <a:buFont typeface="Wingdings" panose="05000000000000000000" pitchFamily="2" charset="2"/>
              <a:buChar char="u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zh-CN" altLang="en-US" b="1">
                <a:solidFill>
                  <a:srgbClr val="0000FF"/>
                </a:solidFill>
                <a:latin typeface="华文新魏" panose="02010800040101010101" pitchFamily="2" charset="-122"/>
              </a:rPr>
              <a:t>总线仲裁</a:t>
            </a:r>
            <a:r>
              <a:rPr lang="zh-CN" altLang="en-US">
                <a:latin typeface="华文新魏" panose="02010800040101010101" pitchFamily="2" charset="-122"/>
              </a:rPr>
              <a:t>：对总线的使用进行合理的分配和管理</a:t>
            </a:r>
            <a:r>
              <a:rPr lang="en-US" altLang="zh-CN">
                <a:latin typeface="华文新魏" panose="02010800040101010101" pitchFamily="2" charset="-122"/>
              </a:rPr>
              <a:t>.</a:t>
            </a:r>
          </a:p>
          <a:p>
            <a:pPr lvl="1" fontAlgn="auto">
              <a:spcAft>
                <a:spcPts val="0"/>
              </a:spcAft>
            </a:pPr>
            <a:r>
              <a:rPr lang="zh-CN" altLang="en-US" sz="2400">
                <a:latin typeface="华文新魏" panose="02010800040101010101" pitchFamily="2" charset="-122"/>
              </a:rPr>
              <a:t>部件要使用总线进行通信时</a:t>
            </a:r>
            <a:r>
              <a:rPr lang="en-US" altLang="zh-CN" sz="2400">
                <a:latin typeface="华文新魏" panose="02010800040101010101" pitchFamily="2" charset="-122"/>
              </a:rPr>
              <a:t>,</a:t>
            </a:r>
            <a:r>
              <a:rPr lang="zh-CN" altLang="en-US" sz="2400">
                <a:latin typeface="华文新魏" panose="02010800040101010101" pitchFamily="2" charset="-122"/>
              </a:rPr>
              <a:t>要向控制部件发请求信号</a:t>
            </a:r>
            <a:endParaRPr lang="en-US" altLang="zh-CN" sz="2400">
              <a:latin typeface="华文新魏" panose="02010800040101010101" pitchFamily="2" charset="-122"/>
            </a:endParaRPr>
          </a:p>
          <a:p>
            <a:pPr lvl="1" fontAlgn="auto">
              <a:spcAft>
                <a:spcPts val="0"/>
              </a:spcAft>
            </a:pPr>
            <a:r>
              <a:rPr lang="zh-CN" altLang="en-US" sz="2400">
                <a:latin typeface="华文新魏" panose="02010800040101010101" pitchFamily="2" charset="-122"/>
              </a:rPr>
              <a:t>控制部件按各部件的优先级来决定谁使用总线</a:t>
            </a:r>
            <a:endParaRPr lang="en-US" altLang="zh-CN" sz="2400">
              <a:latin typeface="华文新魏" panose="02010800040101010101" pitchFamily="2" charset="-122"/>
            </a:endParaRPr>
          </a:p>
          <a:p>
            <a:pPr fontAlgn="auto">
              <a:spcAft>
                <a:spcPts val="0"/>
              </a:spcAft>
            </a:pPr>
            <a:r>
              <a:rPr lang="zh-CN" altLang="en-US">
                <a:latin typeface="华文新魏" panose="02010800040101010101" pitchFamily="2" charset="-122"/>
              </a:rPr>
              <a:t>根据总线控制部件的位置</a:t>
            </a:r>
            <a:r>
              <a:rPr lang="en-US" altLang="zh-CN">
                <a:latin typeface="华文新魏" panose="02010800040101010101" pitchFamily="2" charset="-122"/>
              </a:rPr>
              <a:t>,</a:t>
            </a:r>
            <a:r>
              <a:rPr lang="zh-CN" altLang="en-US">
                <a:latin typeface="华文新魏" panose="02010800040101010101" pitchFamily="2" charset="-122"/>
              </a:rPr>
              <a:t>仲裁方式分两类</a:t>
            </a:r>
            <a:endParaRPr lang="en-US" altLang="zh-CN">
              <a:latin typeface="华文新魏" panose="02010800040101010101" pitchFamily="2" charset="-122"/>
            </a:endParaRPr>
          </a:p>
          <a:p>
            <a:pPr lvl="1" fontAlgn="auto">
              <a:spcAft>
                <a:spcPts val="0"/>
              </a:spcAft>
            </a:pPr>
            <a:r>
              <a:rPr lang="zh-CN" altLang="en-US" sz="2400">
                <a:solidFill>
                  <a:srgbClr val="0000FF"/>
                </a:solidFill>
                <a:latin typeface="华文新魏" panose="02010800040101010101" pitchFamily="2" charset="-122"/>
              </a:rPr>
              <a:t>集中式总线仲裁</a:t>
            </a:r>
          </a:p>
          <a:p>
            <a:pPr lvl="1" fontAlgn="auto">
              <a:spcAft>
                <a:spcPts val="0"/>
              </a:spcAft>
            </a:pPr>
            <a:r>
              <a:rPr lang="zh-CN" altLang="en-US" sz="2400">
                <a:solidFill>
                  <a:srgbClr val="0000FF"/>
                </a:solidFill>
                <a:latin typeface="华文新魏" panose="02010800040101010101" pitchFamily="2" charset="-122"/>
              </a:rPr>
              <a:t>分布式总线仲裁</a:t>
            </a:r>
            <a:endParaRPr lang="zh-CN" altLang="en-US" sz="2400">
              <a:latin typeface="华文新魏" panose="02010800040101010101" pitchFamily="2" charset="-122"/>
            </a:endParaRPr>
          </a:p>
          <a:p>
            <a:pPr fontAlgn="auto">
              <a:spcAft>
                <a:spcPts val="0"/>
              </a:spcAft>
            </a:pPr>
            <a:endParaRPr lang="en-US" altLang="zh-CN" dirty="0">
              <a:latin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7683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0090" y="207595"/>
            <a:ext cx="7886700" cy="617641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1.</a:t>
            </a:r>
            <a:r>
              <a:rPr lang="zh-CN" altLang="en-US" sz="3200" dirty="0"/>
              <a:t>链式查询方式</a:t>
            </a:r>
          </a:p>
        </p:txBody>
      </p:sp>
      <p:sp>
        <p:nvSpPr>
          <p:cNvPr id="43" name="内容占位符 2">
            <a:extLst>
              <a:ext uri="{FF2B5EF4-FFF2-40B4-BE49-F238E27FC236}">
                <a16:creationId xmlns:a16="http://schemas.microsoft.com/office/drawing/2014/main" id="{EEFA7D2B-73EE-4C02-A8B6-9AB864D28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976" y="4584383"/>
            <a:ext cx="8218488" cy="2003038"/>
          </a:xfrm>
        </p:spPr>
        <p:txBody>
          <a:bodyPr>
            <a:normAutofit/>
          </a:bodyPr>
          <a:lstStyle/>
          <a:p>
            <a:r>
              <a:rPr lang="zh-CN" altLang="en-US" dirty="0"/>
              <a:t>控制线</a:t>
            </a:r>
            <a:r>
              <a:rPr lang="en-US" altLang="zh-CN" dirty="0"/>
              <a:t>3</a:t>
            </a:r>
            <a:r>
              <a:rPr lang="zh-CN" altLang="en-US" dirty="0"/>
              <a:t>根： 总线状态</a:t>
            </a:r>
            <a:r>
              <a:rPr lang="en-US" altLang="zh-CN" dirty="0"/>
              <a:t>BS</a:t>
            </a:r>
            <a:r>
              <a:rPr lang="zh-CN" altLang="en-US" dirty="0"/>
              <a:t>，总线请求</a:t>
            </a:r>
            <a:r>
              <a:rPr lang="en-US" altLang="zh-CN" dirty="0"/>
              <a:t>BR</a:t>
            </a:r>
            <a:r>
              <a:rPr lang="zh-CN" altLang="en-US" dirty="0"/>
              <a:t>，总线授权</a:t>
            </a:r>
            <a:r>
              <a:rPr lang="en-US" altLang="zh-CN" dirty="0"/>
              <a:t>BG</a:t>
            </a:r>
            <a:endParaRPr lang="zh-CN" altLang="zh-CN" dirty="0"/>
          </a:p>
          <a:p>
            <a:r>
              <a:rPr lang="zh-CN" altLang="en-US" dirty="0"/>
              <a:t>仲裁过程：</a:t>
            </a:r>
            <a:r>
              <a:rPr lang="zh-CN" altLang="en-US" sz="1800" dirty="0"/>
              <a:t>监控总线状态，发总线请求，等待总线授权，置总线状态</a:t>
            </a:r>
            <a:endParaRPr lang="en-US" altLang="zh-CN" sz="1800" dirty="0"/>
          </a:p>
          <a:p>
            <a:r>
              <a:rPr lang="zh-CN" altLang="en-US" dirty="0"/>
              <a:t>响应慢，优先级固定，饥饿现象，单点故障敏感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4" name="矩形 3">
            <a:extLst>
              <a:ext uri="{FF2B5EF4-FFF2-40B4-BE49-F238E27FC236}">
                <a16:creationId xmlns:a16="http://schemas.microsoft.com/office/drawing/2014/main" id="{88CE9DC4-7811-4FD3-A19B-3B126F0C5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640" y="1453436"/>
            <a:ext cx="990600" cy="2736850"/>
          </a:xfrm>
          <a:prstGeom prst="rect">
            <a:avLst/>
          </a:prstGeom>
          <a:solidFill>
            <a:srgbClr val="FF9900"/>
          </a:solidFill>
          <a:ln w="9525">
            <a:solidFill>
              <a:srgbClr val="FF33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</a:pPr>
            <a:r>
              <a:rPr kumimoji="1" lang="zh-CN" altLang="en-US" sz="2400">
                <a:latin typeface="+mn-ea"/>
              </a:rPr>
              <a:t>中</a:t>
            </a: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</a:pPr>
            <a:r>
              <a:rPr kumimoji="1" lang="zh-CN" altLang="en-US" sz="2400">
                <a:latin typeface="+mn-ea"/>
              </a:rPr>
              <a:t>央</a:t>
            </a: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</a:pPr>
            <a:r>
              <a:rPr kumimoji="1" lang="zh-CN" altLang="en-US" sz="2400">
                <a:latin typeface="+mn-ea"/>
              </a:rPr>
              <a:t>仲</a:t>
            </a: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</a:pPr>
            <a:r>
              <a:rPr kumimoji="1" lang="zh-CN" altLang="en-US" sz="2400">
                <a:latin typeface="+mn-ea"/>
              </a:rPr>
              <a:t>裁</a:t>
            </a: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</a:pPr>
            <a:r>
              <a:rPr kumimoji="1" lang="zh-CN" altLang="en-US" sz="2400">
                <a:latin typeface="+mn-ea"/>
              </a:rPr>
              <a:t>器</a:t>
            </a:r>
          </a:p>
        </p:txBody>
      </p:sp>
      <p:sp>
        <p:nvSpPr>
          <p:cNvPr id="45" name="直线 4">
            <a:extLst>
              <a:ext uri="{FF2B5EF4-FFF2-40B4-BE49-F238E27FC236}">
                <a16:creationId xmlns:a16="http://schemas.microsoft.com/office/drawing/2014/main" id="{1419BFE6-41C8-4590-95FF-80AAFC6DF12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2240" y="1669336"/>
            <a:ext cx="5562600" cy="0"/>
          </a:xfrm>
          <a:prstGeom prst="line">
            <a:avLst/>
          </a:prstGeom>
          <a:noFill/>
          <a:ln w="114300">
            <a:solidFill>
              <a:srgbClr val="FF9966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6" name="直线 5">
            <a:extLst>
              <a:ext uri="{FF2B5EF4-FFF2-40B4-BE49-F238E27FC236}">
                <a16:creationId xmlns:a16="http://schemas.microsoft.com/office/drawing/2014/main" id="{3545F595-3BD7-4F7A-8F08-349D499D2AE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2240" y="2101136"/>
            <a:ext cx="5562600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7" name="直线 6">
            <a:extLst>
              <a:ext uri="{FF2B5EF4-FFF2-40B4-BE49-F238E27FC236}">
                <a16:creationId xmlns:a16="http://schemas.microsoft.com/office/drawing/2014/main" id="{D0861F4D-6F28-4381-9C81-D43B120A14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2240" y="2513886"/>
            <a:ext cx="5562600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8" name="矩形 7">
            <a:extLst>
              <a:ext uri="{FF2B5EF4-FFF2-40B4-BE49-F238E27FC236}">
                <a16:creationId xmlns:a16="http://schemas.microsoft.com/office/drawing/2014/main" id="{38D4F441-214D-4003-9AED-95D4A902C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9440" y="3047286"/>
            <a:ext cx="990600" cy="6858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  <a:extLst/>
        </p:spPr>
        <p:txBody>
          <a:bodyPr wrap="none" anchor="ctr"/>
          <a:lstStyle/>
          <a:p>
            <a:pPr algn="ctr"/>
            <a:r>
              <a:rPr kumimoji="1" lang="zh-CN" altLang="en-US" sz="2000" dirty="0">
                <a:solidFill>
                  <a:schemeClr val="bg1"/>
                </a:solidFill>
                <a:latin typeface="+mn-ea"/>
              </a:rPr>
              <a:t>接口</a:t>
            </a:r>
            <a:r>
              <a:rPr kumimoji="1" lang="en-US" altLang="zh-CN" sz="2000" dirty="0">
                <a:solidFill>
                  <a:schemeClr val="bg1"/>
                </a:solidFill>
                <a:latin typeface="+mn-ea"/>
              </a:rPr>
              <a:t>1</a:t>
            </a:r>
          </a:p>
        </p:txBody>
      </p:sp>
      <p:sp>
        <p:nvSpPr>
          <p:cNvPr id="49" name="矩形 8">
            <a:extLst>
              <a:ext uri="{FF2B5EF4-FFF2-40B4-BE49-F238E27FC236}">
                <a16:creationId xmlns:a16="http://schemas.microsoft.com/office/drawing/2014/main" id="{D35FA126-411D-43D7-9D16-C838FA982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4840" y="3047286"/>
            <a:ext cx="990600" cy="6858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  <a:extLst/>
        </p:spPr>
        <p:txBody>
          <a:bodyPr wrap="none" anchor="ctr"/>
          <a:lstStyle/>
          <a:p>
            <a:pPr algn="ctr"/>
            <a:endParaRPr kumimoji="1" lang="en-US" altLang="zh-CN" sz="20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kumimoji="1" lang="zh-CN" altLang="en-US" sz="2000" dirty="0">
                <a:solidFill>
                  <a:schemeClr val="bg1"/>
                </a:solidFill>
                <a:latin typeface="+mn-ea"/>
              </a:rPr>
              <a:t>接口</a:t>
            </a:r>
            <a:r>
              <a:rPr kumimoji="1" lang="en-US" altLang="zh-CN" sz="2000" dirty="0">
                <a:solidFill>
                  <a:schemeClr val="bg1"/>
                </a:solidFill>
                <a:latin typeface="+mn-ea"/>
              </a:rPr>
              <a:t>2</a:t>
            </a:r>
          </a:p>
          <a:p>
            <a:pPr algn="ctr"/>
            <a:endParaRPr kumimoji="1" lang="en-US" altLang="zh-CN" sz="2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0" name="矩形 9">
            <a:extLst>
              <a:ext uri="{FF2B5EF4-FFF2-40B4-BE49-F238E27FC236}">
                <a16:creationId xmlns:a16="http://schemas.microsoft.com/office/drawing/2014/main" id="{A7F56743-39AE-4B2A-88B1-D4598F925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5640" y="3047286"/>
            <a:ext cx="990600" cy="6858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  <a:extLst/>
        </p:spPr>
        <p:txBody>
          <a:bodyPr wrap="none" anchor="ctr"/>
          <a:lstStyle/>
          <a:p>
            <a:pPr algn="ctr"/>
            <a:r>
              <a:rPr kumimoji="1" lang="zh-CN" altLang="en-US" sz="2000" dirty="0">
                <a:solidFill>
                  <a:schemeClr val="bg1"/>
                </a:solidFill>
                <a:latin typeface="+mn-ea"/>
              </a:rPr>
              <a:t>接口</a:t>
            </a:r>
            <a:r>
              <a:rPr kumimoji="1" lang="en-US" altLang="zh-CN" sz="2000" dirty="0">
                <a:solidFill>
                  <a:schemeClr val="bg1"/>
                </a:solidFill>
                <a:latin typeface="+mn-ea"/>
              </a:rPr>
              <a:t>n</a:t>
            </a:r>
          </a:p>
        </p:txBody>
      </p:sp>
      <p:sp>
        <p:nvSpPr>
          <p:cNvPr id="51" name="任意多边形 10">
            <a:extLst>
              <a:ext uri="{FF2B5EF4-FFF2-40B4-BE49-F238E27FC236}">
                <a16:creationId xmlns:a16="http://schemas.microsoft.com/office/drawing/2014/main" id="{5F6C9C3A-EDB3-4970-AF30-0484C0DEB676}"/>
              </a:ext>
            </a:extLst>
          </p:cNvPr>
          <p:cNvSpPr/>
          <p:nvPr/>
        </p:nvSpPr>
        <p:spPr bwMode="auto">
          <a:xfrm>
            <a:off x="3084240" y="3580686"/>
            <a:ext cx="304800" cy="152400"/>
          </a:xfrm>
          <a:custGeom>
            <a:avLst/>
            <a:gdLst>
              <a:gd name="T0" fmla="*/ 0 w 192"/>
              <a:gd name="T1" fmla="*/ 241935000 h 96"/>
              <a:gd name="T2" fmla="*/ 241935000 w 192"/>
              <a:gd name="T3" fmla="*/ 0 h 96"/>
              <a:gd name="T4" fmla="*/ 483870000 w 192"/>
              <a:gd name="T5" fmla="*/ 24193500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2" h="96">
                <a:moveTo>
                  <a:pt x="0" y="96"/>
                </a:moveTo>
                <a:cubicBezTo>
                  <a:pt x="32" y="48"/>
                  <a:pt x="64" y="0"/>
                  <a:pt x="96" y="0"/>
                </a:cubicBezTo>
                <a:cubicBezTo>
                  <a:pt x="128" y="0"/>
                  <a:pt x="176" y="80"/>
                  <a:pt x="192" y="96"/>
                </a:cubicBezTo>
              </a:path>
            </a:pathLst>
          </a:custGeom>
          <a:noFill/>
          <a:ln w="19050" cmpd="sng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2" name="直线 11">
            <a:extLst>
              <a:ext uri="{FF2B5EF4-FFF2-40B4-BE49-F238E27FC236}">
                <a16:creationId xmlns:a16="http://schemas.microsoft.com/office/drawing/2014/main" id="{A14890E4-DB20-454A-81E9-39837BFA4D3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4240" y="3733086"/>
            <a:ext cx="0" cy="2286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3" name="直线 12">
            <a:extLst>
              <a:ext uri="{FF2B5EF4-FFF2-40B4-BE49-F238E27FC236}">
                <a16:creationId xmlns:a16="http://schemas.microsoft.com/office/drawing/2014/main" id="{69CE3122-DFB6-4967-8E69-16F4BFE74B34}"/>
              </a:ext>
            </a:extLst>
          </p:cNvPr>
          <p:cNvSpPr>
            <a:spLocks noChangeShapeType="1"/>
          </p:cNvSpPr>
          <p:nvPr/>
        </p:nvSpPr>
        <p:spPr bwMode="auto">
          <a:xfrm>
            <a:off x="3389040" y="3733086"/>
            <a:ext cx="0" cy="2286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4" name="直线 13">
            <a:extLst>
              <a:ext uri="{FF2B5EF4-FFF2-40B4-BE49-F238E27FC236}">
                <a16:creationId xmlns:a16="http://schemas.microsoft.com/office/drawing/2014/main" id="{41774C02-031E-4BD2-B0B9-96F2389084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84440" y="3961686"/>
            <a:ext cx="762000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5" name="直线 14">
            <a:extLst>
              <a:ext uri="{FF2B5EF4-FFF2-40B4-BE49-F238E27FC236}">
                <a16:creationId xmlns:a16="http://schemas.microsoft.com/office/drawing/2014/main" id="{9B40872B-52AA-4EDA-8467-89A99540F3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97328" y="3952062"/>
            <a:ext cx="849312" cy="11113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6" name="直线 15">
            <a:extLst>
              <a:ext uri="{FF2B5EF4-FFF2-40B4-BE49-F238E27FC236}">
                <a16:creationId xmlns:a16="http://schemas.microsoft.com/office/drawing/2014/main" id="{5F9C1767-2C7F-4427-8882-8B7497F63CC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6440" y="3961686"/>
            <a:ext cx="762000" cy="0"/>
          </a:xfrm>
          <a:prstGeom prst="line">
            <a:avLst/>
          </a:prstGeom>
          <a:noFill/>
          <a:ln w="19050">
            <a:solidFill>
              <a:srgbClr val="FF3300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7" name="自选图形 16">
            <a:extLst>
              <a:ext uri="{FF2B5EF4-FFF2-40B4-BE49-F238E27FC236}">
                <a16:creationId xmlns:a16="http://schemas.microsoft.com/office/drawing/2014/main" id="{4D3BE477-964F-485C-849B-73CAA4326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5240" y="1740774"/>
            <a:ext cx="139700" cy="1306512"/>
          </a:xfrm>
          <a:prstGeom prst="upDownArrow">
            <a:avLst>
              <a:gd name="adj1" fmla="val 50000"/>
              <a:gd name="adj2" fmla="val 187045"/>
            </a:avLst>
          </a:prstGeom>
          <a:solidFill>
            <a:srgbClr val="66FF33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8" name="自选图形 17">
            <a:extLst>
              <a:ext uri="{FF2B5EF4-FFF2-40B4-BE49-F238E27FC236}">
                <a16:creationId xmlns:a16="http://schemas.microsoft.com/office/drawing/2014/main" id="{BDC637CE-0009-480E-B04E-243FF08E8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0640" y="1740774"/>
            <a:ext cx="139700" cy="1306512"/>
          </a:xfrm>
          <a:prstGeom prst="upDownArrow">
            <a:avLst>
              <a:gd name="adj1" fmla="val 50000"/>
              <a:gd name="adj2" fmla="val 187045"/>
            </a:avLst>
          </a:prstGeom>
          <a:solidFill>
            <a:srgbClr val="66FF33"/>
          </a:solidFill>
          <a:ln w="9525">
            <a:solidFill>
              <a:srgbClr val="006699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9" name="自选图形 18">
            <a:extLst>
              <a:ext uri="{FF2B5EF4-FFF2-40B4-BE49-F238E27FC236}">
                <a16:creationId xmlns:a16="http://schemas.microsoft.com/office/drawing/2014/main" id="{996BC7EF-B053-44C3-B3DD-7B16522D7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5240" y="1740774"/>
            <a:ext cx="139700" cy="1306512"/>
          </a:xfrm>
          <a:prstGeom prst="upDownArrow">
            <a:avLst>
              <a:gd name="adj1" fmla="val 50000"/>
              <a:gd name="adj2" fmla="val 187045"/>
            </a:avLst>
          </a:prstGeom>
          <a:solidFill>
            <a:srgbClr val="66FF33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zh-CN" altLang="en-US">
              <a:latin typeface="+mn-ea"/>
            </a:endParaRPr>
          </a:p>
        </p:txBody>
      </p:sp>
      <p:grpSp>
        <p:nvGrpSpPr>
          <p:cNvPr id="60" name="组合 19">
            <a:extLst>
              <a:ext uri="{FF2B5EF4-FFF2-40B4-BE49-F238E27FC236}">
                <a16:creationId xmlns:a16="http://schemas.microsoft.com/office/drawing/2014/main" id="{CA138960-1824-462C-95AC-CD82D6141F5A}"/>
              </a:ext>
            </a:extLst>
          </p:cNvPr>
          <p:cNvGrpSpPr/>
          <p:nvPr/>
        </p:nvGrpSpPr>
        <p:grpSpPr bwMode="auto">
          <a:xfrm>
            <a:off x="2931840" y="2513886"/>
            <a:ext cx="3886200" cy="533400"/>
            <a:chOff x="1776" y="2012"/>
            <a:chExt cx="2448" cy="336"/>
          </a:xfrm>
        </p:grpSpPr>
        <p:sp>
          <p:nvSpPr>
            <p:cNvPr id="61" name="直线 20">
              <a:extLst>
                <a:ext uri="{FF2B5EF4-FFF2-40B4-BE49-F238E27FC236}">
                  <a16:creationId xmlns:a16="http://schemas.microsoft.com/office/drawing/2014/main" id="{0E0B0627-9B8A-493B-B47A-1008D251B6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012"/>
              <a:ext cx="0" cy="33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62" name="直线 21">
              <a:extLst>
                <a:ext uri="{FF2B5EF4-FFF2-40B4-BE49-F238E27FC236}">
                  <a16:creationId xmlns:a16="http://schemas.microsoft.com/office/drawing/2014/main" id="{715621B6-0EB7-47D0-8A70-C322887A24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012"/>
              <a:ext cx="0" cy="33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63" name="直线 22">
              <a:extLst>
                <a:ext uri="{FF2B5EF4-FFF2-40B4-BE49-F238E27FC236}">
                  <a16:creationId xmlns:a16="http://schemas.microsoft.com/office/drawing/2014/main" id="{1D5C3C11-8C43-40B7-B5F8-17B3C03802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012"/>
              <a:ext cx="0" cy="33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>
                <a:latin typeface="+mn-ea"/>
              </a:endParaRPr>
            </a:p>
          </p:txBody>
        </p:sp>
      </p:grpSp>
      <p:sp>
        <p:nvSpPr>
          <p:cNvPr id="64" name="直线 23">
            <a:extLst>
              <a:ext uri="{FF2B5EF4-FFF2-40B4-BE49-F238E27FC236}">
                <a16:creationId xmlns:a16="http://schemas.microsoft.com/office/drawing/2014/main" id="{6F79F2C6-4EE7-4A24-8265-3B07FF0FF2F3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2240" y="3961686"/>
            <a:ext cx="762000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65" name="直线 24">
            <a:extLst>
              <a:ext uri="{FF2B5EF4-FFF2-40B4-BE49-F238E27FC236}">
                <a16:creationId xmlns:a16="http://schemas.microsoft.com/office/drawing/2014/main" id="{0982FB1D-59C3-4F97-A9BB-8185F83E29D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89040" y="3961686"/>
            <a:ext cx="990600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66" name="直线 25">
            <a:extLst>
              <a:ext uri="{FF2B5EF4-FFF2-40B4-BE49-F238E27FC236}">
                <a16:creationId xmlns:a16="http://schemas.microsoft.com/office/drawing/2014/main" id="{15779F7A-9406-4B99-A8FD-94451EEDD71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51440" y="3961686"/>
            <a:ext cx="685800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67" name="矩形 26">
            <a:extLst>
              <a:ext uri="{FF2B5EF4-FFF2-40B4-BE49-F238E27FC236}">
                <a16:creationId xmlns:a16="http://schemas.microsoft.com/office/drawing/2014/main" id="{F581B418-4D4C-47AA-A2A4-8312AB6F8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1526" y="1716961"/>
            <a:ext cx="570669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66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</a:pPr>
            <a:r>
              <a:rPr lang="en-US" altLang="zh-CN" sz="2000" b="1" dirty="0">
                <a:solidFill>
                  <a:srgbClr val="66FFFF"/>
                </a:solidFill>
                <a:latin typeface="+mn-ea"/>
              </a:rPr>
              <a:t> </a:t>
            </a:r>
            <a:r>
              <a:rPr lang="en-US" altLang="zh-CN" sz="2000" dirty="0">
                <a:latin typeface="+mn-ea"/>
              </a:rPr>
              <a:t>BS</a:t>
            </a:r>
          </a:p>
        </p:txBody>
      </p:sp>
      <p:grpSp>
        <p:nvGrpSpPr>
          <p:cNvPr id="68" name="组合 27">
            <a:extLst>
              <a:ext uri="{FF2B5EF4-FFF2-40B4-BE49-F238E27FC236}">
                <a16:creationId xmlns:a16="http://schemas.microsoft.com/office/drawing/2014/main" id="{EE75B07A-476C-4C50-82CB-302342B692E2}"/>
              </a:ext>
            </a:extLst>
          </p:cNvPr>
          <p:cNvGrpSpPr/>
          <p:nvPr/>
        </p:nvGrpSpPr>
        <p:grpSpPr bwMode="auto">
          <a:xfrm>
            <a:off x="3171554" y="2091612"/>
            <a:ext cx="3889375" cy="955675"/>
            <a:chOff x="1927" y="1746"/>
            <a:chExt cx="2450" cy="602"/>
          </a:xfrm>
        </p:grpSpPr>
        <p:sp>
          <p:nvSpPr>
            <p:cNvPr id="69" name="直线 28">
              <a:extLst>
                <a:ext uri="{FF2B5EF4-FFF2-40B4-BE49-F238E27FC236}">
                  <a16:creationId xmlns:a16="http://schemas.microsoft.com/office/drawing/2014/main" id="{5A976A8E-A860-479A-8650-AECFAE2023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84" y="1752"/>
              <a:ext cx="5" cy="59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70" name="直线 29">
              <a:extLst>
                <a:ext uri="{FF2B5EF4-FFF2-40B4-BE49-F238E27FC236}">
                  <a16:creationId xmlns:a16="http://schemas.microsoft.com/office/drawing/2014/main" id="{EDAF356E-0C4F-477B-96F0-8D553BA67B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72" y="1746"/>
              <a:ext cx="5" cy="59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71" name="直线 30">
              <a:extLst>
                <a:ext uri="{FF2B5EF4-FFF2-40B4-BE49-F238E27FC236}">
                  <a16:creationId xmlns:a16="http://schemas.microsoft.com/office/drawing/2014/main" id="{97C62A28-E762-448A-98A5-63A7C9E17D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7" y="1752"/>
              <a:ext cx="5" cy="59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>
                <a:latin typeface="+mn-ea"/>
              </a:endParaRPr>
            </a:p>
          </p:txBody>
        </p:sp>
      </p:grpSp>
      <p:sp>
        <p:nvSpPr>
          <p:cNvPr id="72" name="矩形 31">
            <a:extLst>
              <a:ext uri="{FF2B5EF4-FFF2-40B4-BE49-F238E27FC236}">
                <a16:creationId xmlns:a16="http://schemas.microsoft.com/office/drawing/2014/main" id="{FC28A79A-ADC1-4ADF-9FB2-782F9E51C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1908" y="2148761"/>
            <a:ext cx="589905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66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</a:pPr>
            <a:r>
              <a:rPr lang="en-US" altLang="zh-CN" sz="2000" b="1" dirty="0">
                <a:solidFill>
                  <a:srgbClr val="66FFFF"/>
                </a:solidFill>
                <a:latin typeface="+mn-ea"/>
              </a:rPr>
              <a:t> </a:t>
            </a:r>
            <a:r>
              <a:rPr lang="en-US" altLang="zh-CN" sz="2000" dirty="0">
                <a:latin typeface="+mn-ea"/>
              </a:rPr>
              <a:t>BR</a:t>
            </a:r>
          </a:p>
        </p:txBody>
      </p:sp>
      <p:sp>
        <p:nvSpPr>
          <p:cNvPr id="73" name="矩形 32">
            <a:extLst>
              <a:ext uri="{FF2B5EF4-FFF2-40B4-BE49-F238E27FC236}">
                <a16:creationId xmlns:a16="http://schemas.microsoft.com/office/drawing/2014/main" id="{806B529F-ECA1-4A73-B7BD-A69B9C251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9885" y="3540999"/>
            <a:ext cx="613950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</a:pPr>
            <a:r>
              <a:rPr lang="en-US" altLang="zh-CN" sz="2000" b="1" dirty="0">
                <a:solidFill>
                  <a:srgbClr val="66FFFF"/>
                </a:solidFill>
                <a:latin typeface="+mn-ea"/>
              </a:rPr>
              <a:t> </a:t>
            </a:r>
            <a:r>
              <a:rPr lang="en-US" altLang="zh-CN" sz="2000" dirty="0">
                <a:latin typeface="+mn-ea"/>
              </a:rPr>
              <a:t>BG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79538F97-A9A9-4EDE-94F9-F605134C3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1190" y="1128000"/>
            <a:ext cx="27638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2000">
                <a:solidFill>
                  <a:schemeClr val="tx1"/>
                </a:solidFill>
                <a:latin typeface="+mn-ea"/>
                <a:ea typeface="+mn-ea"/>
              </a:rPr>
              <a:t>数据总线，地址总线</a:t>
            </a:r>
          </a:p>
        </p:txBody>
      </p:sp>
      <p:sp>
        <p:nvSpPr>
          <p:cNvPr id="75" name="任意多边形 35">
            <a:extLst>
              <a:ext uri="{FF2B5EF4-FFF2-40B4-BE49-F238E27FC236}">
                <a16:creationId xmlns:a16="http://schemas.microsoft.com/office/drawing/2014/main" id="{64E44424-692E-4F51-B84D-67CDD3D5840E}"/>
              </a:ext>
            </a:extLst>
          </p:cNvPr>
          <p:cNvSpPr/>
          <p:nvPr/>
        </p:nvSpPr>
        <p:spPr bwMode="auto">
          <a:xfrm>
            <a:off x="4379640" y="3591799"/>
            <a:ext cx="304800" cy="152400"/>
          </a:xfrm>
          <a:custGeom>
            <a:avLst/>
            <a:gdLst>
              <a:gd name="T0" fmla="*/ 0 w 192"/>
              <a:gd name="T1" fmla="*/ 241935000 h 96"/>
              <a:gd name="T2" fmla="*/ 241935000 w 192"/>
              <a:gd name="T3" fmla="*/ 0 h 96"/>
              <a:gd name="T4" fmla="*/ 483870000 w 192"/>
              <a:gd name="T5" fmla="*/ 24193500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2" h="96">
                <a:moveTo>
                  <a:pt x="0" y="96"/>
                </a:moveTo>
                <a:cubicBezTo>
                  <a:pt x="32" y="48"/>
                  <a:pt x="64" y="0"/>
                  <a:pt x="96" y="0"/>
                </a:cubicBezTo>
                <a:cubicBezTo>
                  <a:pt x="128" y="0"/>
                  <a:pt x="176" y="80"/>
                  <a:pt x="192" y="96"/>
                </a:cubicBezTo>
              </a:path>
            </a:pathLst>
          </a:custGeom>
          <a:noFill/>
          <a:ln w="19050" cmpd="sng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76" name="直线 36">
            <a:extLst>
              <a:ext uri="{FF2B5EF4-FFF2-40B4-BE49-F238E27FC236}">
                <a16:creationId xmlns:a16="http://schemas.microsoft.com/office/drawing/2014/main" id="{49B4B4B1-0C91-4E59-8E8C-4C6AF6335D4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9640" y="3744199"/>
            <a:ext cx="0" cy="2286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77" name="直线 37">
            <a:extLst>
              <a:ext uri="{FF2B5EF4-FFF2-40B4-BE49-F238E27FC236}">
                <a16:creationId xmlns:a16="http://schemas.microsoft.com/office/drawing/2014/main" id="{26B84A46-CC21-4D5B-BDA5-4265FF97B7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4440" y="3744199"/>
            <a:ext cx="0" cy="2286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78" name="任意多边形 38">
            <a:extLst>
              <a:ext uri="{FF2B5EF4-FFF2-40B4-BE49-F238E27FC236}">
                <a16:creationId xmlns:a16="http://schemas.microsoft.com/office/drawing/2014/main" id="{06A5FC34-6A57-4782-80A2-64AE51721F0F}"/>
              </a:ext>
            </a:extLst>
          </p:cNvPr>
          <p:cNvSpPr/>
          <p:nvPr/>
        </p:nvSpPr>
        <p:spPr bwMode="auto">
          <a:xfrm>
            <a:off x="7043465" y="3591799"/>
            <a:ext cx="304800" cy="152400"/>
          </a:xfrm>
          <a:custGeom>
            <a:avLst/>
            <a:gdLst>
              <a:gd name="T0" fmla="*/ 0 w 192"/>
              <a:gd name="T1" fmla="*/ 241935000 h 96"/>
              <a:gd name="T2" fmla="*/ 241935000 w 192"/>
              <a:gd name="T3" fmla="*/ 0 h 96"/>
              <a:gd name="T4" fmla="*/ 483870000 w 192"/>
              <a:gd name="T5" fmla="*/ 24193500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2" h="96">
                <a:moveTo>
                  <a:pt x="0" y="96"/>
                </a:moveTo>
                <a:cubicBezTo>
                  <a:pt x="32" y="48"/>
                  <a:pt x="64" y="0"/>
                  <a:pt x="96" y="0"/>
                </a:cubicBezTo>
                <a:cubicBezTo>
                  <a:pt x="128" y="0"/>
                  <a:pt x="176" y="80"/>
                  <a:pt x="192" y="96"/>
                </a:cubicBezTo>
              </a:path>
            </a:pathLst>
          </a:custGeom>
          <a:noFill/>
          <a:ln w="19050" cmpd="sng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79" name="直线 39">
            <a:extLst>
              <a:ext uri="{FF2B5EF4-FFF2-40B4-BE49-F238E27FC236}">
                <a16:creationId xmlns:a16="http://schemas.microsoft.com/office/drawing/2014/main" id="{7E3CC3D5-9F64-4BF7-8732-AD1FA0069A59}"/>
              </a:ext>
            </a:extLst>
          </p:cNvPr>
          <p:cNvSpPr>
            <a:spLocks noChangeShapeType="1"/>
          </p:cNvSpPr>
          <p:nvPr/>
        </p:nvSpPr>
        <p:spPr bwMode="auto">
          <a:xfrm>
            <a:off x="7043465" y="3744199"/>
            <a:ext cx="0" cy="2286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80" name="直线 40">
            <a:extLst>
              <a:ext uri="{FF2B5EF4-FFF2-40B4-BE49-F238E27FC236}">
                <a16:creationId xmlns:a16="http://schemas.microsoft.com/office/drawing/2014/main" id="{9CF6A40F-F88C-4342-BF70-BE18FF570C1C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8265" y="3744199"/>
            <a:ext cx="0" cy="2286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66760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1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7" presetClass="entr" presetSubtype="1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7" presetClass="entr" presetSubtype="1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7" presetClass="entr" presetSubtype="8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7" presetClass="entr" presetSubtype="4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7" presetClass="entr" presetSubtype="1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7" presetClass="entr" presetSubtype="8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7" presetClass="entr" presetSubtype="4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7" presetClass="entr" presetSubtype="1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7" presetClass="entr" presetSubtype="8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7" presetClass="entr" presetSubtype="8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7" presetClass="entr" presetSubtype="8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7" presetClass="entr" presetSubtype="4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7" presetClass="entr" presetSubtype="1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7" presetClass="entr" presetSubtype="8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9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35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uiExpand="1" build="p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0" grpId="1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6" grpId="1" animBg="1"/>
      <p:bldP spid="57" grpId="0" animBg="1"/>
      <p:bldP spid="58" grpId="0" animBg="1"/>
      <p:bldP spid="59" grpId="0" animBg="1"/>
      <p:bldP spid="64" grpId="0" animBg="1"/>
      <p:bldP spid="65" grpId="0" animBg="1"/>
      <p:bldP spid="66" grpId="0" animBg="1"/>
      <p:bldP spid="67" grpId="0"/>
      <p:bldP spid="72" grpId="0"/>
      <p:bldP spid="73" grpId="0"/>
      <p:bldP spid="74" grpId="0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>
            <a:extLst>
              <a:ext uri="{FF2B5EF4-FFF2-40B4-BE49-F238E27FC236}">
                <a16:creationId xmlns:a16="http://schemas.microsoft.com/office/drawing/2014/main" id="{9DA793CA-5363-4D3B-B891-903A7E1D6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60" y="177983"/>
            <a:ext cx="8892480" cy="617641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2.</a:t>
            </a:r>
            <a:r>
              <a:rPr lang="zh-CN" altLang="en-US" sz="3200" dirty="0"/>
              <a:t>计数器定时查询方式</a:t>
            </a:r>
          </a:p>
        </p:txBody>
      </p: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212AE835-2A62-40D0-A066-B66112900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494" y="4356107"/>
            <a:ext cx="8218488" cy="2152030"/>
          </a:xfrm>
        </p:spPr>
        <p:txBody>
          <a:bodyPr>
            <a:normAutofit/>
          </a:bodyPr>
          <a:lstStyle/>
          <a:p>
            <a:r>
              <a:rPr lang="zh-CN" altLang="en-US" dirty="0"/>
              <a:t>控制线</a:t>
            </a:r>
            <a:r>
              <a:rPr lang="en-US" altLang="zh-CN" dirty="0"/>
              <a:t>=2+ log</a:t>
            </a:r>
            <a:r>
              <a:rPr lang="en-US" altLang="zh-CN" sz="2000" baseline="-25000" dirty="0"/>
              <a:t>2</a:t>
            </a:r>
            <a:r>
              <a:rPr lang="en-US" altLang="zh-CN" dirty="0"/>
              <a:t>n </a:t>
            </a:r>
            <a:r>
              <a:rPr lang="zh-CN" altLang="en-US" dirty="0"/>
              <a:t>根</a:t>
            </a:r>
            <a:endParaRPr lang="en-US" altLang="zh-CN" dirty="0"/>
          </a:p>
          <a:p>
            <a:pPr lvl="1"/>
            <a:r>
              <a:rPr lang="zh-CN" altLang="en-US" dirty="0"/>
              <a:t>总线状态</a:t>
            </a:r>
            <a:r>
              <a:rPr lang="en-US" altLang="zh-CN" dirty="0"/>
              <a:t>BS</a:t>
            </a:r>
            <a:r>
              <a:rPr lang="zh-CN" altLang="en-US" dirty="0"/>
              <a:t>、总线请求</a:t>
            </a:r>
            <a:r>
              <a:rPr lang="en-US" altLang="zh-CN" dirty="0"/>
              <a:t>BR</a:t>
            </a:r>
            <a:r>
              <a:rPr lang="zh-CN" altLang="en-US" dirty="0"/>
              <a:t>、地址计数线</a:t>
            </a:r>
            <a:endParaRPr lang="zh-CN" altLang="zh-CN" dirty="0"/>
          </a:p>
          <a:p>
            <a:r>
              <a:rPr lang="zh-CN" altLang="en-US" dirty="0"/>
              <a:t>仲裁过程：总线授权通过设备地址计数来判别</a:t>
            </a:r>
            <a:endParaRPr lang="en-US" altLang="zh-CN" dirty="0"/>
          </a:p>
          <a:p>
            <a:r>
              <a:rPr lang="zh-CN" altLang="en-US" dirty="0"/>
              <a:t>响应慢；优先级可变化</a:t>
            </a:r>
            <a:r>
              <a:rPr lang="en-US" altLang="zh-CN" dirty="0"/>
              <a:t>; </a:t>
            </a:r>
            <a:r>
              <a:rPr lang="zh-CN" altLang="en-US" dirty="0"/>
              <a:t>故障不敏感</a:t>
            </a:r>
            <a:r>
              <a:rPr lang="zh-CN" altLang="zh-CN" dirty="0"/>
              <a:t>；</a:t>
            </a:r>
            <a:r>
              <a:rPr lang="zh-CN" altLang="en-US" dirty="0"/>
              <a:t>扩展困难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5" name="直线 3">
            <a:extLst>
              <a:ext uri="{FF2B5EF4-FFF2-40B4-BE49-F238E27FC236}">
                <a16:creationId xmlns:a16="http://schemas.microsoft.com/office/drawing/2014/main" id="{50F59D6A-E1B1-41ED-8A1E-E522B9895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712" y="1428931"/>
            <a:ext cx="6096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6" name="直线 4">
            <a:extLst>
              <a:ext uri="{FF2B5EF4-FFF2-40B4-BE49-F238E27FC236}">
                <a16:creationId xmlns:a16="http://schemas.microsoft.com/office/drawing/2014/main" id="{CC981988-1184-4569-93C7-26D02A910C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00350" y="2405244"/>
            <a:ext cx="6096000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7" name="直线 5">
            <a:extLst>
              <a:ext uri="{FF2B5EF4-FFF2-40B4-BE49-F238E27FC236}">
                <a16:creationId xmlns:a16="http://schemas.microsoft.com/office/drawing/2014/main" id="{56374EC1-E302-4863-A5F0-9CE762E834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00350" y="2710044"/>
            <a:ext cx="6096000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8" name="文本框 6">
            <a:extLst>
              <a:ext uri="{FF2B5EF4-FFF2-40B4-BE49-F238E27FC236}">
                <a16:creationId xmlns:a16="http://schemas.microsoft.com/office/drawing/2014/main" id="{CFAAC6EA-C45D-4E7C-A619-35BEFC2170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3532" y="983763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2000">
                <a:solidFill>
                  <a:schemeClr val="tx1"/>
                </a:solidFill>
                <a:latin typeface="+mn-ea"/>
                <a:ea typeface="+mn-ea"/>
              </a:rPr>
              <a:t>总线</a:t>
            </a:r>
          </a:p>
        </p:txBody>
      </p:sp>
      <p:sp>
        <p:nvSpPr>
          <p:cNvPr id="39" name="文本框 7">
            <a:extLst>
              <a:ext uri="{FF2B5EF4-FFF2-40B4-BE49-F238E27FC236}">
                <a16:creationId xmlns:a16="http://schemas.microsoft.com/office/drawing/2014/main" id="{F68D8113-1433-4342-83E2-4AF76EA07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4550" y="1547995"/>
            <a:ext cx="1752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2000">
                <a:solidFill>
                  <a:schemeClr val="tx1"/>
                </a:solidFill>
                <a:latin typeface="+mn-ea"/>
                <a:ea typeface="+mn-ea"/>
              </a:rPr>
              <a:t>设备地址计数</a:t>
            </a:r>
          </a:p>
        </p:txBody>
      </p:sp>
      <p:sp>
        <p:nvSpPr>
          <p:cNvPr id="40" name="直线 8">
            <a:extLst>
              <a:ext uri="{FF2B5EF4-FFF2-40B4-BE49-F238E27FC236}">
                <a16:creationId xmlns:a16="http://schemas.microsoft.com/office/drawing/2014/main" id="{3EB71B38-EF79-4888-B8A5-C4B9B1F70C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8550" y="2710044"/>
            <a:ext cx="0" cy="4572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1" name="直线 9">
            <a:extLst>
              <a:ext uri="{FF2B5EF4-FFF2-40B4-BE49-F238E27FC236}">
                <a16:creationId xmlns:a16="http://schemas.microsoft.com/office/drawing/2014/main" id="{81026A61-3670-465C-9A1F-653C21B77D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0950" y="2405244"/>
            <a:ext cx="0" cy="7620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2" name="直线 10">
            <a:extLst>
              <a:ext uri="{FF2B5EF4-FFF2-40B4-BE49-F238E27FC236}">
                <a16:creationId xmlns:a16="http://schemas.microsoft.com/office/drawing/2014/main" id="{ED9C15E1-7BBF-452C-97AC-00D70209CE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57750" y="2710044"/>
            <a:ext cx="0" cy="4572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3" name="直线 11">
            <a:extLst>
              <a:ext uri="{FF2B5EF4-FFF2-40B4-BE49-F238E27FC236}">
                <a16:creationId xmlns:a16="http://schemas.microsoft.com/office/drawing/2014/main" id="{E9E116ED-7A11-47AE-BC3C-84B5A845CC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10150" y="2405244"/>
            <a:ext cx="0" cy="7620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4" name="直线 12">
            <a:extLst>
              <a:ext uri="{FF2B5EF4-FFF2-40B4-BE49-F238E27FC236}">
                <a16:creationId xmlns:a16="http://schemas.microsoft.com/office/drawing/2014/main" id="{4BD131DF-94DB-4E3A-82EF-7619EFF346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48550" y="2710044"/>
            <a:ext cx="0" cy="4572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5" name="直线 13">
            <a:extLst>
              <a:ext uri="{FF2B5EF4-FFF2-40B4-BE49-F238E27FC236}">
                <a16:creationId xmlns:a16="http://schemas.microsoft.com/office/drawing/2014/main" id="{883EE88D-9387-4A93-843F-41799E49EB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04125" y="2370319"/>
            <a:ext cx="0" cy="7620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6" name="直线 14">
            <a:extLst>
              <a:ext uri="{FF2B5EF4-FFF2-40B4-BE49-F238E27FC236}">
                <a16:creationId xmlns:a16="http://schemas.microsoft.com/office/drawing/2014/main" id="{F01B572E-73CE-4241-8975-949781BDCA4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8950" y="1476557"/>
            <a:ext cx="0" cy="1655763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7" name="文本框 15">
            <a:extLst>
              <a:ext uri="{FF2B5EF4-FFF2-40B4-BE49-F238E27FC236}">
                <a16:creationId xmlns:a16="http://schemas.microsoft.com/office/drawing/2014/main" id="{A61B8A85-EC92-4E81-BB15-3AC30974B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2275" y="205282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2000">
                <a:solidFill>
                  <a:schemeClr val="tx1"/>
                </a:solidFill>
                <a:latin typeface="+mn-ea"/>
                <a:ea typeface="+mn-ea"/>
              </a:rPr>
              <a:t>BR</a:t>
            </a:r>
          </a:p>
        </p:txBody>
      </p:sp>
      <p:sp>
        <p:nvSpPr>
          <p:cNvPr id="48" name="文本框 16">
            <a:extLst>
              <a:ext uri="{FF2B5EF4-FFF2-40B4-BE49-F238E27FC236}">
                <a16:creationId xmlns:a16="http://schemas.microsoft.com/office/drawing/2014/main" id="{D72F0381-D656-4564-9DB0-BC1C734B7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2750" y="2405245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2000">
                <a:solidFill>
                  <a:schemeClr val="tx1"/>
                </a:solidFill>
                <a:latin typeface="+mn-ea"/>
                <a:ea typeface="+mn-ea"/>
              </a:rPr>
              <a:t>BS</a:t>
            </a:r>
          </a:p>
        </p:txBody>
      </p:sp>
      <p:sp>
        <p:nvSpPr>
          <p:cNvPr id="49" name="直线 17">
            <a:extLst>
              <a:ext uri="{FF2B5EF4-FFF2-40B4-BE49-F238E27FC236}">
                <a16:creationId xmlns:a16="http://schemas.microsoft.com/office/drawing/2014/main" id="{672F383C-A2F8-4A5A-AA06-7B46B4925BE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713" y="1979794"/>
            <a:ext cx="6048375" cy="0"/>
          </a:xfrm>
          <a:prstGeom prst="line">
            <a:avLst/>
          </a:prstGeom>
          <a:noFill/>
          <a:ln w="76200">
            <a:solidFill>
              <a:srgbClr val="66FF33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0" name="矩形 18">
            <a:extLst>
              <a:ext uri="{FF2B5EF4-FFF2-40B4-BE49-F238E27FC236}">
                <a16:creationId xmlns:a16="http://schemas.microsoft.com/office/drawing/2014/main" id="{90A92DA2-6961-468C-9BA1-C79D2B758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112" y="1044756"/>
            <a:ext cx="990600" cy="2736850"/>
          </a:xfrm>
          <a:prstGeom prst="rect">
            <a:avLst/>
          </a:prstGeom>
          <a:solidFill>
            <a:srgbClr val="FF9900"/>
          </a:solidFill>
          <a:ln w="9525">
            <a:solidFill>
              <a:srgbClr val="FF33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400">
                <a:latin typeface="+mn-ea"/>
              </a:rPr>
              <a:t>中</a:t>
            </a:r>
          </a:p>
          <a:p>
            <a:pPr algn="ctr"/>
            <a:r>
              <a:rPr kumimoji="1" lang="zh-CN" altLang="en-US" sz="2400">
                <a:latin typeface="+mn-ea"/>
              </a:rPr>
              <a:t>央</a:t>
            </a:r>
          </a:p>
          <a:p>
            <a:pPr algn="ctr"/>
            <a:r>
              <a:rPr kumimoji="1" lang="zh-CN" altLang="en-US" sz="2400">
                <a:latin typeface="+mn-ea"/>
              </a:rPr>
              <a:t>仲</a:t>
            </a:r>
          </a:p>
          <a:p>
            <a:pPr algn="ctr"/>
            <a:r>
              <a:rPr kumimoji="1" lang="zh-CN" altLang="en-US" sz="2400">
                <a:latin typeface="+mn-ea"/>
              </a:rPr>
              <a:t>裁</a:t>
            </a:r>
          </a:p>
          <a:p>
            <a:pPr algn="ctr"/>
            <a:r>
              <a:rPr kumimoji="1" lang="zh-CN" altLang="en-US" sz="2400">
                <a:latin typeface="+mn-ea"/>
              </a:rPr>
              <a:t>器</a:t>
            </a:r>
          </a:p>
        </p:txBody>
      </p:sp>
      <p:sp>
        <p:nvSpPr>
          <p:cNvPr id="51" name="直线 19">
            <a:extLst>
              <a:ext uri="{FF2B5EF4-FFF2-40B4-BE49-F238E27FC236}">
                <a16:creationId xmlns:a16="http://schemas.microsoft.com/office/drawing/2014/main" id="{A051EC04-9733-4139-AACC-CFCA4189C0B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6562" y="1476557"/>
            <a:ext cx="0" cy="1655763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2" name="直线 20">
            <a:extLst>
              <a:ext uri="{FF2B5EF4-FFF2-40B4-BE49-F238E27FC236}">
                <a16:creationId xmlns:a16="http://schemas.microsoft.com/office/drawing/2014/main" id="{A5101F9F-5314-465C-8885-E263C7061F0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2600" y="1476557"/>
            <a:ext cx="0" cy="1655763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endParaRPr lang="zh-CN" altLang="en-US">
              <a:latin typeface="+mn-ea"/>
            </a:endParaRPr>
          </a:p>
        </p:txBody>
      </p:sp>
      <p:grpSp>
        <p:nvGrpSpPr>
          <p:cNvPr id="53" name="组合 21">
            <a:extLst>
              <a:ext uri="{FF2B5EF4-FFF2-40B4-BE49-F238E27FC236}">
                <a16:creationId xmlns:a16="http://schemas.microsoft.com/office/drawing/2014/main" id="{4F12FDF4-198C-4063-99D1-8768B28193BD}"/>
              </a:ext>
            </a:extLst>
          </p:cNvPr>
          <p:cNvGrpSpPr/>
          <p:nvPr/>
        </p:nvGrpSpPr>
        <p:grpSpPr bwMode="auto">
          <a:xfrm>
            <a:off x="3203676" y="1979794"/>
            <a:ext cx="3832225" cy="1187450"/>
            <a:chOff x="1927" y="1773"/>
            <a:chExt cx="2414" cy="748"/>
          </a:xfrm>
        </p:grpSpPr>
        <p:sp>
          <p:nvSpPr>
            <p:cNvPr id="54" name="直线 22">
              <a:extLst>
                <a:ext uri="{FF2B5EF4-FFF2-40B4-BE49-F238E27FC236}">
                  <a16:creationId xmlns:a16="http://schemas.microsoft.com/office/drawing/2014/main" id="{60828490-BA55-4636-A003-E490CBFEE3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7" y="1773"/>
              <a:ext cx="10" cy="748"/>
            </a:xfrm>
            <a:prstGeom prst="line">
              <a:avLst/>
            </a:prstGeom>
            <a:noFill/>
            <a:ln w="57150">
              <a:solidFill>
                <a:srgbClr val="66FF33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55" name="直线 23">
              <a:extLst>
                <a:ext uri="{FF2B5EF4-FFF2-40B4-BE49-F238E27FC236}">
                  <a16:creationId xmlns:a16="http://schemas.microsoft.com/office/drawing/2014/main" id="{86A16D7B-9A89-445C-A2BE-1875FF3550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1773"/>
              <a:ext cx="10" cy="748"/>
            </a:xfrm>
            <a:prstGeom prst="line">
              <a:avLst/>
            </a:prstGeom>
            <a:noFill/>
            <a:ln w="57150">
              <a:solidFill>
                <a:srgbClr val="66FF33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56" name="直线 24">
              <a:extLst>
                <a:ext uri="{FF2B5EF4-FFF2-40B4-BE49-F238E27FC236}">
                  <a16:creationId xmlns:a16="http://schemas.microsoft.com/office/drawing/2014/main" id="{39D92D0E-FC0D-42A8-9883-F473E2DDEB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1" y="1773"/>
              <a:ext cx="10" cy="748"/>
            </a:xfrm>
            <a:prstGeom prst="line">
              <a:avLst/>
            </a:prstGeom>
            <a:noFill/>
            <a:ln w="57150">
              <a:solidFill>
                <a:srgbClr val="66FF33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/>
              <a:endParaRPr lang="zh-CN" altLang="en-US">
                <a:latin typeface="+mn-ea"/>
              </a:endParaRPr>
            </a:p>
          </p:txBody>
        </p:sp>
      </p:grpSp>
      <p:sp>
        <p:nvSpPr>
          <p:cNvPr id="57" name="矩形 25">
            <a:extLst>
              <a:ext uri="{FF2B5EF4-FFF2-40B4-BE49-F238E27FC236}">
                <a16:creationId xmlns:a16="http://schemas.microsoft.com/office/drawing/2014/main" id="{0E60B1BD-708F-4BD5-9602-C4EAA3710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9000" y="3132319"/>
            <a:ext cx="990600" cy="685800"/>
          </a:xfrm>
          <a:prstGeom prst="rect">
            <a:avLst/>
          </a:prstGeom>
          <a:solidFill>
            <a:schemeClr val="hlink"/>
          </a:solidFill>
          <a:ln w="9525">
            <a:solidFill>
              <a:srgbClr val="FFCC66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000" dirty="0">
                <a:solidFill>
                  <a:schemeClr val="bg1"/>
                </a:solidFill>
                <a:latin typeface="+mn-ea"/>
              </a:rPr>
              <a:t>接口</a:t>
            </a:r>
            <a:r>
              <a:rPr kumimoji="1" lang="en-US" altLang="zh-CN" sz="2000" dirty="0">
                <a:solidFill>
                  <a:schemeClr val="bg1"/>
                </a:solidFill>
                <a:latin typeface="+mn-ea"/>
              </a:rPr>
              <a:t>1</a:t>
            </a:r>
          </a:p>
        </p:txBody>
      </p:sp>
      <p:sp>
        <p:nvSpPr>
          <p:cNvPr id="58" name="矩形 26">
            <a:extLst>
              <a:ext uri="{FF2B5EF4-FFF2-40B4-BE49-F238E27FC236}">
                <a16:creationId xmlns:a16="http://schemas.microsoft.com/office/drawing/2014/main" id="{7F5DC483-8EE1-48C9-A609-40934B850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400" y="3132319"/>
            <a:ext cx="990600" cy="685800"/>
          </a:xfrm>
          <a:prstGeom prst="rect">
            <a:avLst/>
          </a:prstGeom>
          <a:solidFill>
            <a:schemeClr val="hlink"/>
          </a:solidFill>
          <a:ln w="9525">
            <a:solidFill>
              <a:srgbClr val="FFCC66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zh-CN" sz="20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kumimoji="1" lang="zh-CN" altLang="en-US" sz="2000" dirty="0">
                <a:solidFill>
                  <a:schemeClr val="bg1"/>
                </a:solidFill>
                <a:latin typeface="+mn-ea"/>
              </a:rPr>
              <a:t>接口</a:t>
            </a:r>
            <a:r>
              <a:rPr kumimoji="1" lang="en-US" altLang="zh-CN" sz="2000" dirty="0">
                <a:solidFill>
                  <a:schemeClr val="bg1"/>
                </a:solidFill>
                <a:latin typeface="+mn-ea"/>
              </a:rPr>
              <a:t>2</a:t>
            </a:r>
          </a:p>
          <a:p>
            <a:pPr algn="ctr"/>
            <a:endParaRPr kumimoji="1" lang="en-US" altLang="zh-CN" sz="2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9" name="矩形 27">
            <a:extLst>
              <a:ext uri="{FF2B5EF4-FFF2-40B4-BE49-F238E27FC236}">
                <a16:creationId xmlns:a16="http://schemas.microsoft.com/office/drawing/2014/main" id="{8A74CC0B-37B2-4D20-8549-442ECFCE5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5200" y="3132319"/>
            <a:ext cx="990600" cy="685800"/>
          </a:xfrm>
          <a:prstGeom prst="rect">
            <a:avLst/>
          </a:prstGeom>
          <a:solidFill>
            <a:schemeClr val="hlink"/>
          </a:solidFill>
          <a:ln w="9525">
            <a:solidFill>
              <a:srgbClr val="FFCC66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000" dirty="0">
                <a:solidFill>
                  <a:schemeClr val="bg1"/>
                </a:solidFill>
                <a:latin typeface="+mn-ea"/>
              </a:rPr>
              <a:t>接口</a:t>
            </a:r>
            <a:r>
              <a:rPr kumimoji="1" lang="en-US" altLang="zh-CN" sz="2000" dirty="0">
                <a:solidFill>
                  <a:schemeClr val="bg1"/>
                </a:solidFill>
                <a:latin typeface="+mn-ea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470535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repeatCount="4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" repeatCount="4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3.</a:t>
            </a:r>
            <a:r>
              <a:rPr lang="zh-CN" altLang="en-US" sz="3200" dirty="0"/>
              <a:t>独立请求方式</a:t>
            </a:r>
          </a:p>
        </p:txBody>
      </p:sp>
      <p:sp>
        <p:nvSpPr>
          <p:cNvPr id="38" name="内容占位符 2">
            <a:extLst>
              <a:ext uri="{FF2B5EF4-FFF2-40B4-BE49-F238E27FC236}">
                <a16:creationId xmlns:a16="http://schemas.microsoft.com/office/drawing/2014/main" id="{FDA22128-4C94-44FB-9590-B7C63BB4E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867" y="4447570"/>
            <a:ext cx="8597607" cy="2583889"/>
          </a:xfrm>
        </p:spPr>
        <p:txBody>
          <a:bodyPr>
            <a:normAutofit/>
          </a:bodyPr>
          <a:lstStyle/>
          <a:p>
            <a:r>
              <a:rPr lang="zh-CN" altLang="en-US" dirty="0"/>
              <a:t>控制线</a:t>
            </a:r>
            <a:r>
              <a:rPr lang="en-US" altLang="zh-CN" dirty="0"/>
              <a:t>2n</a:t>
            </a:r>
            <a:r>
              <a:rPr lang="zh-CN" altLang="en-US" dirty="0"/>
              <a:t>根：</a:t>
            </a:r>
            <a:endParaRPr lang="en-US" altLang="zh-CN" dirty="0"/>
          </a:p>
          <a:p>
            <a:pPr lvl="1"/>
            <a:r>
              <a:rPr lang="zh-CN" altLang="en-US" dirty="0"/>
              <a:t>总线请求</a:t>
            </a:r>
            <a:r>
              <a:rPr lang="en-US" altLang="zh-CN" dirty="0"/>
              <a:t>BR</a:t>
            </a:r>
            <a:r>
              <a:rPr lang="zh-CN" altLang="en-US" dirty="0"/>
              <a:t>、总线授权</a:t>
            </a:r>
            <a:r>
              <a:rPr lang="en-US" altLang="zh-CN" dirty="0"/>
              <a:t>BG</a:t>
            </a:r>
            <a:r>
              <a:rPr lang="zh-CN" altLang="en-US" dirty="0"/>
              <a:t>，无总线状态信号</a:t>
            </a:r>
            <a:endParaRPr lang="zh-CN" altLang="zh-CN" dirty="0"/>
          </a:p>
          <a:p>
            <a:r>
              <a:rPr lang="zh-CN" altLang="en-US" dirty="0"/>
              <a:t>仲裁过程：总线请求，等待总线授权</a:t>
            </a:r>
            <a:endParaRPr lang="en-US" altLang="zh-CN" dirty="0"/>
          </a:p>
          <a:p>
            <a:r>
              <a:rPr lang="zh-CN" altLang="en-US" dirty="0"/>
              <a:t>响应快；优先级可灵活变化</a:t>
            </a:r>
            <a:r>
              <a:rPr lang="en-US" altLang="zh-CN" dirty="0"/>
              <a:t>; </a:t>
            </a:r>
            <a:r>
              <a:rPr lang="zh-CN" altLang="en-US" dirty="0"/>
              <a:t>故障不敏感</a:t>
            </a:r>
            <a:r>
              <a:rPr lang="zh-CN" altLang="zh-CN" dirty="0"/>
              <a:t>；</a:t>
            </a:r>
            <a:r>
              <a:rPr lang="zh-CN" altLang="en-US" dirty="0"/>
              <a:t>扩展容易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9" name="直线 5">
            <a:extLst>
              <a:ext uri="{FF2B5EF4-FFF2-40B4-BE49-F238E27FC236}">
                <a16:creationId xmlns:a16="http://schemas.microsoft.com/office/drawing/2014/main" id="{825CF44B-A03D-4A59-80FF-01F8029DAE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4988" y="1208179"/>
            <a:ext cx="4932497" cy="22118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0" name="直线 6">
            <a:extLst>
              <a:ext uri="{FF2B5EF4-FFF2-40B4-BE49-F238E27FC236}">
                <a16:creationId xmlns:a16="http://schemas.microsoft.com/office/drawing/2014/main" id="{2DD3C486-922B-4C3B-BA7E-A129A25283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05051" y="1351946"/>
            <a:ext cx="0" cy="23622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1" name="直线 7">
            <a:extLst>
              <a:ext uri="{FF2B5EF4-FFF2-40B4-BE49-F238E27FC236}">
                <a16:creationId xmlns:a16="http://schemas.microsoft.com/office/drawing/2014/main" id="{7A59D3C3-9D23-47ED-BD01-BF10DCD60E4E}"/>
              </a:ext>
            </a:extLst>
          </p:cNvPr>
          <p:cNvSpPr>
            <a:spLocks noChangeShapeType="1"/>
          </p:cNvSpPr>
          <p:nvPr/>
        </p:nvSpPr>
        <p:spPr bwMode="auto">
          <a:xfrm>
            <a:off x="5606788" y="1351946"/>
            <a:ext cx="0" cy="23622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2" name="直线 8">
            <a:extLst>
              <a:ext uri="{FF2B5EF4-FFF2-40B4-BE49-F238E27FC236}">
                <a16:creationId xmlns:a16="http://schemas.microsoft.com/office/drawing/2014/main" id="{B0EBAB56-8729-45B9-B8EC-0C634342B7BD}"/>
              </a:ext>
            </a:extLst>
          </p:cNvPr>
          <p:cNvSpPr>
            <a:spLocks noChangeShapeType="1"/>
          </p:cNvSpPr>
          <p:nvPr/>
        </p:nvSpPr>
        <p:spPr bwMode="auto">
          <a:xfrm>
            <a:off x="7130788" y="1351946"/>
            <a:ext cx="0" cy="23622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3" name="直线 9">
            <a:extLst>
              <a:ext uri="{FF2B5EF4-FFF2-40B4-BE49-F238E27FC236}">
                <a16:creationId xmlns:a16="http://schemas.microsoft.com/office/drawing/2014/main" id="{F1BE0D43-4567-4670-8CCC-A274713154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57496" y="3531583"/>
            <a:ext cx="968092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4" name="直线 10">
            <a:extLst>
              <a:ext uri="{FF2B5EF4-FFF2-40B4-BE49-F238E27FC236}">
                <a16:creationId xmlns:a16="http://schemas.microsoft.com/office/drawing/2014/main" id="{5F770AE3-449C-4153-B8C9-7D9C5744C3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57872" y="2998183"/>
            <a:ext cx="2326806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5" name="直线 11">
            <a:extLst>
              <a:ext uri="{FF2B5EF4-FFF2-40B4-BE49-F238E27FC236}">
                <a16:creationId xmlns:a16="http://schemas.microsoft.com/office/drawing/2014/main" id="{FF942BBE-CFF7-4378-8F47-132892FC0F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57496" y="2124377"/>
            <a:ext cx="3711292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6" name="直线 12">
            <a:extLst>
              <a:ext uri="{FF2B5EF4-FFF2-40B4-BE49-F238E27FC236}">
                <a16:creationId xmlns:a16="http://schemas.microsoft.com/office/drawing/2014/main" id="{6D3BBCCE-290B-465D-840C-4BB9CE1467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4988" y="3302983"/>
            <a:ext cx="1269051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7" name="直线 13">
            <a:extLst>
              <a:ext uri="{FF2B5EF4-FFF2-40B4-BE49-F238E27FC236}">
                <a16:creationId xmlns:a16="http://schemas.microsoft.com/office/drawing/2014/main" id="{289BCAD7-64E4-4A1A-BA25-B9689660F00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4988" y="2769583"/>
            <a:ext cx="2554406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8" name="直线 14">
            <a:extLst>
              <a:ext uri="{FF2B5EF4-FFF2-40B4-BE49-F238E27FC236}">
                <a16:creationId xmlns:a16="http://schemas.microsoft.com/office/drawing/2014/main" id="{CCC5EA79-27CB-4316-B160-E42FC42E80D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4988" y="1895777"/>
            <a:ext cx="4005618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9" name="直线 15">
            <a:extLst>
              <a:ext uri="{FF2B5EF4-FFF2-40B4-BE49-F238E27FC236}">
                <a16:creationId xmlns:a16="http://schemas.microsoft.com/office/drawing/2014/main" id="{C98E6937-9FC4-4B0B-9BD0-80902BD9140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4039" y="3302983"/>
            <a:ext cx="0" cy="3810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0" name="直线 16">
            <a:extLst>
              <a:ext uri="{FF2B5EF4-FFF2-40B4-BE49-F238E27FC236}">
                <a16:creationId xmlns:a16="http://schemas.microsoft.com/office/drawing/2014/main" id="{8639CB84-75D5-421B-ABF9-EC1AFFF2A91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25588" y="3531583"/>
            <a:ext cx="0" cy="1524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1" name="直线 17">
            <a:extLst>
              <a:ext uri="{FF2B5EF4-FFF2-40B4-BE49-F238E27FC236}">
                <a16:creationId xmlns:a16="http://schemas.microsoft.com/office/drawing/2014/main" id="{3AB42124-EE7A-4A8A-9857-9DCC1B5D3E6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4678" y="2998183"/>
            <a:ext cx="0" cy="685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2" name="直线 18">
            <a:extLst>
              <a:ext uri="{FF2B5EF4-FFF2-40B4-BE49-F238E27FC236}">
                <a16:creationId xmlns:a16="http://schemas.microsoft.com/office/drawing/2014/main" id="{9D6165D5-6F04-4E3A-B147-0FF40D294FA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8788" y="2124377"/>
            <a:ext cx="0" cy="1559606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3" name="直线 19">
            <a:extLst>
              <a:ext uri="{FF2B5EF4-FFF2-40B4-BE49-F238E27FC236}">
                <a16:creationId xmlns:a16="http://schemas.microsoft.com/office/drawing/2014/main" id="{6EAAFE4D-6410-4F7E-B6CB-F108B1A1FF9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9394" y="2769583"/>
            <a:ext cx="0" cy="9144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4" name="直线 20">
            <a:extLst>
              <a:ext uri="{FF2B5EF4-FFF2-40B4-BE49-F238E27FC236}">
                <a16:creationId xmlns:a16="http://schemas.microsoft.com/office/drawing/2014/main" id="{7C167E8E-60E3-4A5B-9940-0CC92ADA31D0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0606" y="1895777"/>
            <a:ext cx="0" cy="1788206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5" name="文本框 21">
            <a:extLst>
              <a:ext uri="{FF2B5EF4-FFF2-40B4-BE49-F238E27FC236}">
                <a16:creationId xmlns:a16="http://schemas.microsoft.com/office/drawing/2014/main" id="{7C6570AA-D8A6-49DD-A1B6-22E357BF5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872" y="877562"/>
            <a:ext cx="3048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总线（地址线、数据线）</a:t>
            </a:r>
          </a:p>
        </p:txBody>
      </p:sp>
      <p:sp>
        <p:nvSpPr>
          <p:cNvPr id="56" name="文本框 22">
            <a:extLst>
              <a:ext uri="{FF2B5EF4-FFF2-40B4-BE49-F238E27FC236}">
                <a16:creationId xmlns:a16="http://schemas.microsoft.com/office/drawing/2014/main" id="{3BB4FFA8-547A-4FAF-B552-559235513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1188" y="3302983"/>
            <a:ext cx="838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1400">
                <a:solidFill>
                  <a:schemeClr val="tx1"/>
                </a:solidFill>
                <a:latin typeface="+mn-ea"/>
                <a:ea typeface="+mn-ea"/>
              </a:rPr>
              <a:t>BR1</a:t>
            </a:r>
          </a:p>
        </p:txBody>
      </p:sp>
      <p:sp>
        <p:nvSpPr>
          <p:cNvPr id="57" name="文本框 23">
            <a:extLst>
              <a:ext uri="{FF2B5EF4-FFF2-40B4-BE49-F238E27FC236}">
                <a16:creationId xmlns:a16="http://schemas.microsoft.com/office/drawing/2014/main" id="{F2D1E213-00EB-4120-BCEB-4D8EFB4CEB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1188" y="2769583"/>
            <a:ext cx="838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1400">
                <a:solidFill>
                  <a:schemeClr val="tx1"/>
                </a:solidFill>
                <a:latin typeface="+mn-ea"/>
                <a:ea typeface="+mn-ea"/>
              </a:rPr>
              <a:t>BR2</a:t>
            </a:r>
          </a:p>
        </p:txBody>
      </p:sp>
      <p:sp>
        <p:nvSpPr>
          <p:cNvPr id="58" name="文本框 24">
            <a:extLst>
              <a:ext uri="{FF2B5EF4-FFF2-40B4-BE49-F238E27FC236}">
                <a16:creationId xmlns:a16="http://schemas.microsoft.com/office/drawing/2014/main" id="{4CD2222B-92A7-414F-838F-4B0D34F22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1188" y="1895777"/>
            <a:ext cx="838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1400">
                <a:solidFill>
                  <a:schemeClr val="tx1"/>
                </a:solidFill>
                <a:latin typeface="+mn-ea"/>
                <a:ea typeface="+mn-ea"/>
              </a:rPr>
              <a:t>BRn</a:t>
            </a:r>
          </a:p>
        </p:txBody>
      </p:sp>
      <p:sp>
        <p:nvSpPr>
          <p:cNvPr id="59" name="文本框 25">
            <a:extLst>
              <a:ext uri="{FF2B5EF4-FFF2-40B4-BE49-F238E27FC236}">
                <a16:creationId xmlns:a16="http://schemas.microsoft.com/office/drawing/2014/main" id="{9F0A1990-F5A3-4867-B5C1-5094C4FCF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1188" y="2998183"/>
            <a:ext cx="838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1400">
                <a:solidFill>
                  <a:schemeClr val="tx1"/>
                </a:solidFill>
                <a:latin typeface="+mn-ea"/>
                <a:ea typeface="+mn-ea"/>
              </a:rPr>
              <a:t>BG1</a:t>
            </a:r>
          </a:p>
        </p:txBody>
      </p:sp>
      <p:sp>
        <p:nvSpPr>
          <p:cNvPr id="60" name="文本框 26">
            <a:extLst>
              <a:ext uri="{FF2B5EF4-FFF2-40B4-BE49-F238E27FC236}">
                <a16:creationId xmlns:a16="http://schemas.microsoft.com/office/drawing/2014/main" id="{BD7DBCDF-63C9-4ECD-A5A0-BEDFF2FE4C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1188" y="2464783"/>
            <a:ext cx="838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1400">
                <a:solidFill>
                  <a:schemeClr val="tx1"/>
                </a:solidFill>
                <a:latin typeface="+mn-ea"/>
                <a:ea typeface="+mn-ea"/>
              </a:rPr>
              <a:t>BG2</a:t>
            </a:r>
          </a:p>
        </p:txBody>
      </p:sp>
      <p:sp>
        <p:nvSpPr>
          <p:cNvPr id="61" name="文本框 27">
            <a:extLst>
              <a:ext uri="{FF2B5EF4-FFF2-40B4-BE49-F238E27FC236}">
                <a16:creationId xmlns:a16="http://schemas.microsoft.com/office/drawing/2014/main" id="{D1FBD35C-3BF9-4D03-9E3D-2BAC5C54D4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1188" y="1667177"/>
            <a:ext cx="838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1400">
                <a:solidFill>
                  <a:schemeClr val="tx1"/>
                </a:solidFill>
                <a:latin typeface="+mn-ea"/>
                <a:ea typeface="+mn-ea"/>
              </a:rPr>
              <a:t>BGn</a:t>
            </a:r>
          </a:p>
        </p:txBody>
      </p:sp>
      <p:sp>
        <p:nvSpPr>
          <p:cNvPr id="62" name="矩形 28">
            <a:extLst>
              <a:ext uri="{FF2B5EF4-FFF2-40B4-BE49-F238E27FC236}">
                <a16:creationId xmlns:a16="http://schemas.microsoft.com/office/drawing/2014/main" id="{B375A4EC-4D43-46DF-97FC-1B41294F1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8201" y="1050321"/>
            <a:ext cx="990600" cy="3168650"/>
          </a:xfrm>
          <a:prstGeom prst="rect">
            <a:avLst/>
          </a:prstGeom>
          <a:solidFill>
            <a:srgbClr val="FF9900"/>
          </a:solidFill>
          <a:ln w="9525">
            <a:solidFill>
              <a:srgbClr val="FF33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</a:pPr>
            <a:r>
              <a:rPr kumimoji="1" lang="zh-CN" altLang="en-US" sz="2400" dirty="0">
                <a:latin typeface="+mn-ea"/>
              </a:rPr>
              <a:t>中</a:t>
            </a:r>
          </a:p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</a:pPr>
            <a:r>
              <a:rPr kumimoji="1" lang="zh-CN" altLang="en-US" sz="2400" dirty="0">
                <a:latin typeface="+mn-ea"/>
              </a:rPr>
              <a:t>央</a:t>
            </a:r>
          </a:p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</a:pPr>
            <a:r>
              <a:rPr kumimoji="1" lang="zh-CN" altLang="en-US" sz="2400" dirty="0">
                <a:latin typeface="+mn-ea"/>
              </a:rPr>
              <a:t>仲</a:t>
            </a:r>
          </a:p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</a:pPr>
            <a:r>
              <a:rPr kumimoji="1" lang="zh-CN" altLang="en-US" sz="2400" dirty="0">
                <a:latin typeface="+mn-ea"/>
              </a:rPr>
              <a:t>裁</a:t>
            </a:r>
          </a:p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</a:pPr>
            <a:r>
              <a:rPr kumimoji="1" lang="zh-CN" altLang="en-US" sz="2400" dirty="0">
                <a:latin typeface="+mn-ea"/>
              </a:rPr>
              <a:t>器</a:t>
            </a:r>
            <a:endParaRPr kumimoji="1" lang="zh-CN" altLang="en-US" sz="2000" dirty="0">
              <a:latin typeface="+mn-ea"/>
            </a:endParaRPr>
          </a:p>
        </p:txBody>
      </p:sp>
      <p:sp>
        <p:nvSpPr>
          <p:cNvPr id="63" name="矩形 29">
            <a:extLst>
              <a:ext uri="{FF2B5EF4-FFF2-40B4-BE49-F238E27FC236}">
                <a16:creationId xmlns:a16="http://schemas.microsoft.com/office/drawing/2014/main" id="{DF5D6366-8C24-4068-9BF8-F22A68B73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1" y="3714147"/>
            <a:ext cx="990600" cy="504825"/>
          </a:xfrm>
          <a:prstGeom prst="rect">
            <a:avLst/>
          </a:prstGeom>
          <a:solidFill>
            <a:schemeClr val="hlink"/>
          </a:solidFill>
          <a:ln w="9525">
            <a:solidFill>
              <a:srgbClr val="FFCC66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000">
                <a:solidFill>
                  <a:schemeClr val="bg1"/>
                </a:solidFill>
                <a:latin typeface="+mn-ea"/>
              </a:rPr>
              <a:t>接口</a:t>
            </a:r>
            <a:r>
              <a:rPr kumimoji="1" lang="en-US" altLang="zh-CN" sz="2000">
                <a:solidFill>
                  <a:schemeClr val="bg1"/>
                </a:solidFill>
                <a:latin typeface="+mn-ea"/>
              </a:rPr>
              <a:t>1</a:t>
            </a:r>
          </a:p>
        </p:txBody>
      </p:sp>
      <p:sp>
        <p:nvSpPr>
          <p:cNvPr id="64" name="矩形 30">
            <a:extLst>
              <a:ext uri="{FF2B5EF4-FFF2-40B4-BE49-F238E27FC236}">
                <a16:creationId xmlns:a16="http://schemas.microsoft.com/office/drawing/2014/main" id="{31ED5A98-520E-4CC2-9E5D-5AAB4AD07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5901" y="3714147"/>
            <a:ext cx="990600" cy="504825"/>
          </a:xfrm>
          <a:prstGeom prst="rect">
            <a:avLst/>
          </a:prstGeom>
          <a:solidFill>
            <a:schemeClr val="hlink"/>
          </a:solidFill>
          <a:ln w="9525">
            <a:solidFill>
              <a:srgbClr val="FFCC66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zh-CN" sz="2000">
              <a:solidFill>
                <a:schemeClr val="bg1"/>
              </a:solidFill>
              <a:latin typeface="+mn-ea"/>
            </a:endParaRPr>
          </a:p>
          <a:p>
            <a:pPr algn="ctr"/>
            <a:r>
              <a:rPr kumimoji="1" lang="zh-CN" altLang="en-US" sz="2000">
                <a:solidFill>
                  <a:schemeClr val="bg1"/>
                </a:solidFill>
                <a:latin typeface="+mn-ea"/>
              </a:rPr>
              <a:t>接口</a:t>
            </a:r>
            <a:r>
              <a:rPr kumimoji="1" lang="en-US" altLang="zh-CN" sz="2000">
                <a:solidFill>
                  <a:schemeClr val="bg1"/>
                </a:solidFill>
                <a:latin typeface="+mn-ea"/>
              </a:rPr>
              <a:t>2</a:t>
            </a:r>
          </a:p>
          <a:p>
            <a:pPr algn="ctr"/>
            <a:endParaRPr kumimoji="1" lang="en-US" altLang="zh-CN" sz="240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5" name="矩形 31">
            <a:extLst>
              <a:ext uri="{FF2B5EF4-FFF2-40B4-BE49-F238E27FC236}">
                <a16:creationId xmlns:a16="http://schemas.microsoft.com/office/drawing/2014/main" id="{FA0BA25C-4FF8-49E9-B554-D66D6A566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251" y="3714147"/>
            <a:ext cx="990600" cy="504825"/>
          </a:xfrm>
          <a:prstGeom prst="rect">
            <a:avLst/>
          </a:prstGeom>
          <a:solidFill>
            <a:schemeClr val="hlink"/>
          </a:solidFill>
          <a:ln w="9525">
            <a:solidFill>
              <a:srgbClr val="FFCC66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000">
                <a:solidFill>
                  <a:schemeClr val="bg1"/>
                </a:solidFill>
                <a:latin typeface="+mn-ea"/>
              </a:rPr>
              <a:t>接口</a:t>
            </a:r>
            <a:r>
              <a:rPr kumimoji="1" lang="en-US" altLang="zh-CN" sz="2000">
                <a:solidFill>
                  <a:schemeClr val="bg1"/>
                </a:solidFill>
                <a:latin typeface="+mn-ea"/>
              </a:rPr>
              <a:t>n</a:t>
            </a:r>
          </a:p>
        </p:txBody>
      </p:sp>
      <p:sp>
        <p:nvSpPr>
          <p:cNvPr id="66" name="直线 5">
            <a:extLst>
              <a:ext uri="{FF2B5EF4-FFF2-40B4-BE49-F238E27FC236}">
                <a16:creationId xmlns:a16="http://schemas.microsoft.com/office/drawing/2014/main" id="{90DF6749-0C39-4A31-A7EB-3A24D2D60D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57495" y="1614772"/>
            <a:ext cx="4744871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67" name="文本框 16">
            <a:extLst>
              <a:ext uri="{FF2B5EF4-FFF2-40B4-BE49-F238E27FC236}">
                <a16:creationId xmlns:a16="http://schemas.microsoft.com/office/drawing/2014/main" id="{4150FDD9-5293-43A7-8A95-CF65C710E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0272" y="1309973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2000">
                <a:solidFill>
                  <a:schemeClr val="tx1"/>
                </a:solidFill>
                <a:latin typeface="+mn-ea"/>
                <a:ea typeface="+mn-ea"/>
              </a:rPr>
              <a:t>BS</a:t>
            </a:r>
          </a:p>
        </p:txBody>
      </p:sp>
      <p:sp>
        <p:nvSpPr>
          <p:cNvPr id="68" name="直线 9">
            <a:extLst>
              <a:ext uri="{FF2B5EF4-FFF2-40B4-BE49-F238E27FC236}">
                <a16:creationId xmlns:a16="http://schemas.microsoft.com/office/drawing/2014/main" id="{959D0604-22CC-41D7-9038-6CCD11E1DF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52042" y="1616572"/>
            <a:ext cx="0" cy="2069211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 type="triangle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69" name="直线 9">
            <a:extLst>
              <a:ext uri="{FF2B5EF4-FFF2-40B4-BE49-F238E27FC236}">
                <a16:creationId xmlns:a16="http://schemas.microsoft.com/office/drawing/2014/main" id="{9F6591E4-680F-43B6-B346-1155A21D60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91714" y="1616573"/>
            <a:ext cx="0" cy="2069211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 type="triangle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70" name="直线 9">
            <a:extLst>
              <a:ext uri="{FF2B5EF4-FFF2-40B4-BE49-F238E27FC236}">
                <a16:creationId xmlns:a16="http://schemas.microsoft.com/office/drawing/2014/main" id="{8E2852E7-27FC-4499-A8A9-09B65DA0C1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2497" y="1644935"/>
            <a:ext cx="0" cy="2069211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 type="triangle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endParaRPr lang="zh-CN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210747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集中式仲裁总结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BC521C8-BD1E-4BCE-BFF5-1E32BF3928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614283"/>
              </p:ext>
            </p:extLst>
          </p:nvPr>
        </p:nvGraphicFramePr>
        <p:xfrm>
          <a:off x="287524" y="875256"/>
          <a:ext cx="8568952" cy="53210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468">
                  <a:extLst>
                    <a:ext uri="{9D8B030D-6E8A-4147-A177-3AD203B41FA5}">
                      <a16:colId xmlns:a16="http://schemas.microsoft.com/office/drawing/2014/main" val="3228895459"/>
                    </a:ext>
                  </a:extLst>
                </a:gridCol>
                <a:gridCol w="2059268">
                  <a:extLst>
                    <a:ext uri="{9D8B030D-6E8A-4147-A177-3AD203B41FA5}">
                      <a16:colId xmlns:a16="http://schemas.microsoft.com/office/drawing/2014/main" val="2165728384"/>
                    </a:ext>
                  </a:extLst>
                </a:gridCol>
                <a:gridCol w="1998702">
                  <a:extLst>
                    <a:ext uri="{9D8B030D-6E8A-4147-A177-3AD203B41FA5}">
                      <a16:colId xmlns:a16="http://schemas.microsoft.com/office/drawing/2014/main" val="2375239566"/>
                    </a:ext>
                  </a:extLst>
                </a:gridCol>
                <a:gridCol w="3178514">
                  <a:extLst>
                    <a:ext uri="{9D8B030D-6E8A-4147-A177-3AD203B41FA5}">
                      <a16:colId xmlns:a16="http://schemas.microsoft.com/office/drawing/2014/main" val="1489189934"/>
                    </a:ext>
                  </a:extLst>
                </a:gridCol>
              </a:tblGrid>
              <a:tr h="663636"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</a:pPr>
                      <a:endParaRPr lang="zh-CN" altLang="en-US" sz="2200" b="0" kern="12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5669" marR="65669" marT="32834" marB="32834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200" b="0" kern="1200" dirty="0">
                          <a:solidFill>
                            <a:srgbClr val="0000C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链式查询方式</a:t>
                      </a:r>
                    </a:p>
                  </a:txBody>
                  <a:tcPr marL="65669" marR="65669" marT="32834" marB="3283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zh-CN" altLang="en-US" sz="2200" b="0" kern="1200" dirty="0">
                          <a:solidFill>
                            <a:srgbClr val="0000C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计数器定时查询</a:t>
                      </a:r>
                    </a:p>
                  </a:txBody>
                  <a:tcPr marL="65669" marR="65669" marT="32834" marB="3283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zh-CN" altLang="en-US" sz="2200" b="0" kern="1200" dirty="0">
                          <a:solidFill>
                            <a:srgbClr val="0000C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独立请求方式</a:t>
                      </a:r>
                    </a:p>
                  </a:txBody>
                  <a:tcPr marL="65669" marR="65669" marT="32834" marB="32834" anchor="ctr"/>
                </a:tc>
                <a:extLst>
                  <a:ext uri="{0D108BD9-81ED-4DB2-BD59-A6C34878D82A}">
                    <a16:rowId xmlns:a16="http://schemas.microsoft.com/office/drawing/2014/main" val="1159144546"/>
                  </a:ext>
                </a:extLst>
              </a:tr>
              <a:tr h="1306981"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zh-CN" altLang="en-US" sz="2200" b="0" kern="1200" dirty="0">
                          <a:solidFill>
                            <a:srgbClr val="0000C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控制线</a:t>
                      </a:r>
                    </a:p>
                  </a:txBody>
                  <a:tcPr marL="65669" marR="65669" marT="32834" marB="3283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BS</a:t>
                      </a:r>
                      <a:r>
                        <a:rPr lang="zh-CN" altLang="en-US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</a:t>
                      </a:r>
                      <a:r>
                        <a:rPr lang="zh-CN" altLang="en-US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BG</a:t>
                      </a:r>
                    </a:p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zh-CN" altLang="en-US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共</a:t>
                      </a:r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r>
                        <a:rPr lang="zh-CN" altLang="en-US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根</a:t>
                      </a:r>
                    </a:p>
                  </a:txBody>
                  <a:tcPr marL="65669" marR="65669" marT="32834" marB="32834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BS</a:t>
                      </a:r>
                      <a:r>
                        <a:rPr lang="zh-CN" altLang="en-US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</a:t>
                      </a:r>
                      <a:r>
                        <a:rPr lang="zh-CN" altLang="en-US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log</a:t>
                      </a:r>
                      <a:r>
                        <a:rPr lang="en-US" altLang="zh-CN" sz="2200" b="0" kern="1200" baseline="-25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</a:t>
                      </a:r>
                    </a:p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zh-CN" altLang="en-US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共 </a:t>
                      </a:r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2+log</a:t>
                      </a:r>
                      <a:r>
                        <a:rPr lang="en-US" altLang="zh-CN" sz="2200" b="0" kern="1200" baseline="-25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</a:t>
                      </a:r>
                      <a:endParaRPr lang="zh-CN" altLang="en-US" sz="22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5669" marR="65669" marT="32834" marB="3283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</a:t>
                      </a:r>
                      <a:r>
                        <a:rPr lang="zh-CN" altLang="en-US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组（</a:t>
                      </a:r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</a:t>
                      </a:r>
                      <a:r>
                        <a:rPr lang="zh-CN" altLang="en-US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BG</a:t>
                      </a:r>
                      <a:r>
                        <a:rPr lang="zh-CN" altLang="en-US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en-US" altLang="zh-CN" sz="22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zh-CN" altLang="en-US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共</a:t>
                      </a:r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2n</a:t>
                      </a:r>
                      <a:r>
                        <a:rPr lang="zh-CN" altLang="en-US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根</a:t>
                      </a:r>
                    </a:p>
                  </a:txBody>
                  <a:tcPr marL="65669" marR="65669" marT="32834" marB="32834" anchor="ctr"/>
                </a:tc>
                <a:extLst>
                  <a:ext uri="{0D108BD9-81ED-4DB2-BD59-A6C34878D82A}">
                    <a16:rowId xmlns:a16="http://schemas.microsoft.com/office/drawing/2014/main" val="728152249"/>
                  </a:ext>
                </a:extLst>
              </a:tr>
              <a:tr h="663636"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zh-CN" altLang="en-US" sz="2200" b="0" kern="1200" dirty="0">
                          <a:solidFill>
                            <a:srgbClr val="0000C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响应速度</a:t>
                      </a:r>
                    </a:p>
                  </a:txBody>
                  <a:tcPr marL="65669" marR="65669" marT="32834" marB="3283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zh-CN" altLang="en-US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慢</a:t>
                      </a:r>
                    </a:p>
                  </a:txBody>
                  <a:tcPr marL="65669" marR="65669" marT="32834" marB="3283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zh-CN" altLang="en-US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慢</a:t>
                      </a:r>
                    </a:p>
                  </a:txBody>
                  <a:tcPr marL="65669" marR="65669" marT="32834" marB="3283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zh-CN" altLang="en-US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快</a:t>
                      </a:r>
                    </a:p>
                  </a:txBody>
                  <a:tcPr marL="65669" marR="65669" marT="32834" marB="32834" anchor="ctr"/>
                </a:tc>
                <a:extLst>
                  <a:ext uri="{0D108BD9-81ED-4DB2-BD59-A6C34878D82A}">
                    <a16:rowId xmlns:a16="http://schemas.microsoft.com/office/drawing/2014/main" val="1106876813"/>
                  </a:ext>
                </a:extLst>
              </a:tr>
              <a:tr h="663636"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zh-CN" altLang="en-US" sz="2200" b="0" kern="1200" dirty="0">
                          <a:solidFill>
                            <a:srgbClr val="0000C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优先级</a:t>
                      </a:r>
                    </a:p>
                  </a:txBody>
                  <a:tcPr marL="65669" marR="65669" marT="32834" marB="3283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zh-CN" altLang="en-US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优先级固定</a:t>
                      </a:r>
                    </a:p>
                  </a:txBody>
                  <a:tcPr marL="65669" marR="65669" marT="32834" marB="3283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zh-CN" altLang="en-US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可作适当变化</a:t>
                      </a:r>
                    </a:p>
                  </a:txBody>
                  <a:tcPr marL="65669" marR="65669" marT="32834" marB="3283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zh-CN" altLang="en-US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可作灵活的变化</a:t>
                      </a:r>
                    </a:p>
                  </a:txBody>
                  <a:tcPr marL="65669" marR="65669" marT="32834" marB="32834" anchor="ctr"/>
                </a:tc>
                <a:extLst>
                  <a:ext uri="{0D108BD9-81ED-4DB2-BD59-A6C34878D82A}">
                    <a16:rowId xmlns:a16="http://schemas.microsoft.com/office/drawing/2014/main" val="3299867666"/>
                  </a:ext>
                </a:extLst>
              </a:tr>
              <a:tr h="663636"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zh-CN" altLang="en-US" sz="2200" b="0" kern="1200" dirty="0">
                          <a:solidFill>
                            <a:srgbClr val="0000C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故障敏感度</a:t>
                      </a:r>
                    </a:p>
                  </a:txBody>
                  <a:tcPr marL="65669" marR="65669" marT="32834" marB="3283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zh-CN" altLang="en-US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非常敏感</a:t>
                      </a:r>
                    </a:p>
                  </a:txBody>
                  <a:tcPr marL="65669" marR="65669" marT="32834" marB="3283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zh-CN" altLang="en-US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不敏感</a:t>
                      </a:r>
                    </a:p>
                  </a:txBody>
                  <a:tcPr marL="65669" marR="65669" marT="32834" marB="3283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zh-CN" altLang="en-US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不敏感</a:t>
                      </a:r>
                    </a:p>
                  </a:txBody>
                  <a:tcPr marL="65669" marR="65669" marT="32834" marB="32834" anchor="ctr"/>
                </a:tc>
                <a:extLst>
                  <a:ext uri="{0D108BD9-81ED-4DB2-BD59-A6C34878D82A}">
                    <a16:rowId xmlns:a16="http://schemas.microsoft.com/office/drawing/2014/main" val="4093702942"/>
                  </a:ext>
                </a:extLst>
              </a:tr>
              <a:tr h="663636"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zh-CN" altLang="en-US" sz="2200" b="0" kern="1200" dirty="0">
                          <a:solidFill>
                            <a:srgbClr val="0000C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扩展方式</a:t>
                      </a:r>
                    </a:p>
                  </a:txBody>
                  <a:tcPr marL="65669" marR="65669" marT="32834" marB="3283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zh-CN" altLang="en-US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容易</a:t>
                      </a:r>
                    </a:p>
                  </a:txBody>
                  <a:tcPr marL="65669" marR="65669" marT="32834" marB="3283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zh-CN" altLang="en-US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难</a:t>
                      </a:r>
                    </a:p>
                  </a:txBody>
                  <a:tcPr marL="65669" marR="65669" marT="32834" marB="3283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zh-CN" altLang="en-US" sz="2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容易</a:t>
                      </a:r>
                    </a:p>
                  </a:txBody>
                  <a:tcPr marL="65669" marR="65669" marT="32834" marB="32834" anchor="ctr"/>
                </a:tc>
                <a:extLst>
                  <a:ext uri="{0D108BD9-81ED-4DB2-BD59-A6C34878D82A}">
                    <a16:rowId xmlns:a16="http://schemas.microsoft.com/office/drawing/2014/main" val="4078687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59507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49B2ACD-BCC3-42F3-8A46-1FF68D1E3F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第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zh-CN" altLang="en-US" b="1" dirty="0">
                <a:solidFill>
                  <a:srgbClr val="FF0000"/>
                </a:solidFill>
              </a:rPr>
              <a:t>章  总线技术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C153F71-F0B3-4B12-888B-BBC670D2D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4135" y="1548745"/>
            <a:ext cx="5544616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4. 1  </a:t>
            </a:r>
            <a:r>
              <a:rPr lang="zh-CN" altLang="en-US" dirty="0"/>
              <a:t>总 线 概 述</a:t>
            </a:r>
          </a:p>
          <a:p>
            <a:pPr marL="0" indent="0">
              <a:buNone/>
            </a:pPr>
            <a:r>
              <a:rPr lang="en-US" altLang="zh-CN" dirty="0"/>
              <a:t>4. 2  </a:t>
            </a:r>
            <a:r>
              <a:rPr lang="zh-CN" altLang="en-US" dirty="0"/>
              <a:t>系统总线结构</a:t>
            </a:r>
          </a:p>
          <a:p>
            <a:pPr marL="0" indent="0">
              <a:buNone/>
            </a:pPr>
            <a:r>
              <a:rPr lang="en-US" altLang="zh-CN" dirty="0"/>
              <a:t>4. 3  </a:t>
            </a:r>
            <a:r>
              <a:rPr lang="zh-CN" altLang="en-US" dirty="0"/>
              <a:t>总 线 仲 裁</a:t>
            </a:r>
          </a:p>
          <a:p>
            <a:pPr marL="0" indent="0">
              <a:buNone/>
            </a:pPr>
            <a:r>
              <a:rPr lang="en-US" altLang="zh-CN" dirty="0"/>
              <a:t>4. 4  </a:t>
            </a:r>
            <a:r>
              <a:rPr lang="zh-CN" altLang="en-US" dirty="0"/>
              <a:t>总线的通信方式</a:t>
            </a:r>
          </a:p>
          <a:p>
            <a:pPr marL="0" indent="0">
              <a:buNone/>
            </a:pPr>
            <a:r>
              <a:rPr lang="en-US" altLang="zh-CN" dirty="0"/>
              <a:t>4. 5  </a:t>
            </a:r>
            <a:r>
              <a:rPr lang="zh-CN" altLang="en-US" dirty="0"/>
              <a:t>总线的信息传送</a:t>
            </a:r>
          </a:p>
          <a:p>
            <a:pPr marL="0" indent="0">
              <a:buNone/>
            </a:pPr>
            <a:r>
              <a:rPr lang="en-US" altLang="zh-CN" dirty="0"/>
              <a:t>4. 6  </a:t>
            </a:r>
            <a:r>
              <a:rPr lang="zh-CN" altLang="en-US" dirty="0"/>
              <a:t>总线标准简介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D67CA4-03D2-4867-8379-5DE67C6D1C43}"/>
              </a:ext>
            </a:extLst>
          </p:cNvPr>
          <p:cNvSpPr/>
          <p:nvPr/>
        </p:nvSpPr>
        <p:spPr>
          <a:xfrm>
            <a:off x="1324135" y="3284984"/>
            <a:ext cx="3967753" cy="5847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lvl="0" eaLnBrk="0" hangingPunct="0">
              <a:spcBef>
                <a:spcPct val="20000"/>
              </a:spcBef>
            </a:pPr>
            <a:r>
              <a:rPr lang="en-US" altLang="zh-CN" sz="3200" kern="0" dirty="0">
                <a:solidFill>
                  <a:srgbClr val="000000"/>
                </a:solidFill>
              </a:rPr>
              <a:t>4. 4  </a:t>
            </a:r>
            <a:r>
              <a:rPr lang="zh-CN" altLang="en-US" sz="3200" kern="0" dirty="0">
                <a:solidFill>
                  <a:srgbClr val="000000"/>
                </a:solidFill>
              </a:rPr>
              <a:t>总线的通信方式</a:t>
            </a:r>
          </a:p>
        </p:txBody>
      </p:sp>
    </p:spTree>
    <p:extLst>
      <p:ext uri="{BB962C8B-B14F-4D97-AF65-F5344CB8AC3E}">
        <p14:creationId xmlns:p14="http://schemas.microsoft.com/office/powerpoint/2010/main" val="2881377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27ABD4D-D329-4DCB-9302-C13338701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0"/>
            <a:ext cx="8229600" cy="850106"/>
          </a:xfrm>
        </p:spPr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总线周期的四个阶段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9FE2A59-D184-49A1-A8A4-C5300BE1A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850106"/>
            <a:ext cx="8856984" cy="5747246"/>
          </a:xfrm>
        </p:spPr>
        <p:txBody>
          <a:bodyPr/>
          <a:lstStyle/>
          <a:p>
            <a:r>
              <a:rPr lang="zh-CN" altLang="en-US" dirty="0"/>
              <a:t>总线申请</a:t>
            </a:r>
            <a:r>
              <a:rPr lang="en-US" altLang="zh-CN" dirty="0"/>
              <a:t>: </a:t>
            </a:r>
            <a:r>
              <a:rPr lang="zh-CN" altLang="en-US" dirty="0"/>
              <a:t>（总线仲裁）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需要使用总线的主部件提出请求，总线控制器确定将下一个总线使用权分配给谁</a:t>
            </a:r>
          </a:p>
          <a:p>
            <a:r>
              <a:rPr lang="zh-CN" altLang="en-US" dirty="0"/>
              <a:t>寻址阶段</a:t>
            </a:r>
            <a:r>
              <a:rPr lang="en-US" altLang="zh-CN" dirty="0"/>
              <a:t>: </a:t>
            </a:r>
            <a:r>
              <a:rPr lang="zh-CN" altLang="en-US" dirty="0"/>
              <a:t>（总线寻址）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主设备通过总线发出从部件的存储器地址或</a:t>
            </a:r>
            <a:r>
              <a:rPr lang="en-US" altLang="zh-CN" dirty="0">
                <a:solidFill>
                  <a:srgbClr val="FF0000"/>
                </a:solidFill>
              </a:rPr>
              <a:t>I/O</a:t>
            </a:r>
            <a:r>
              <a:rPr lang="zh-CN" altLang="en-US" dirty="0">
                <a:solidFill>
                  <a:srgbClr val="FF0000"/>
                </a:solidFill>
              </a:rPr>
              <a:t>端口地址及相关命令，启动从设备</a:t>
            </a:r>
          </a:p>
          <a:p>
            <a:r>
              <a:rPr lang="zh-CN" altLang="en-US" dirty="0"/>
              <a:t>传输数据阶段</a:t>
            </a:r>
            <a:r>
              <a:rPr lang="en-US" altLang="zh-CN" dirty="0"/>
              <a:t>:  (</a:t>
            </a:r>
            <a:r>
              <a:rPr lang="zh-CN" altLang="en-US" dirty="0"/>
              <a:t>数据传输）</a:t>
            </a:r>
          </a:p>
          <a:p>
            <a:r>
              <a:rPr lang="zh-CN" altLang="en-US" dirty="0"/>
              <a:t>结束阶段</a:t>
            </a:r>
            <a:r>
              <a:rPr lang="en-US" altLang="zh-CN" dirty="0"/>
              <a:t>: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主部件撤消总线请求等有关信息，让出总线，以便总线控制器重新分配总线使用权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15074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72C39D-172E-4A6E-B6EB-C8C33FAA9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281" y="92658"/>
            <a:ext cx="8229600" cy="850106"/>
          </a:xfrm>
        </p:spPr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总线事务（</a:t>
            </a:r>
            <a:r>
              <a:rPr lang="en-US" altLang="zh-CN" dirty="0"/>
              <a:t>Bus Transaction</a:t>
            </a:r>
            <a:r>
              <a:rPr lang="zh-CN" altLang="en-US" dirty="0"/>
              <a:t>）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C9E84C0-4B0A-4DE6-A427-3D3B2E7BE815}"/>
              </a:ext>
            </a:extLst>
          </p:cNvPr>
          <p:cNvSpPr txBox="1">
            <a:spLocks/>
          </p:cNvSpPr>
          <p:nvPr/>
        </p:nvSpPr>
        <p:spPr>
          <a:xfrm>
            <a:off x="487823" y="942764"/>
            <a:ext cx="8476666" cy="5637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FF0000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812800" indent="-355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sz="20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5"/>
              </a:buClr>
              <a:buFont typeface="Wingdings" panose="05000000000000000000" pitchFamily="2" charset="2"/>
              <a:buChar char="u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总线事务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：总线上主从设备之间的一次信息交换过程</a:t>
            </a:r>
          </a:p>
          <a:p>
            <a:pPr marL="812800" marR="0" lvl="1" indent="-3556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ysClr val="windowText" lastClr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一个总线周期中发生的一系列活动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请求阶段、寻址阶段、传输阶段、结束阶段</a:t>
            </a:r>
          </a:p>
          <a:p>
            <a:pPr marL="812800" marR="0" lvl="1" indent="-3556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ysClr val="windowText" lastClr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典型事务：存储器读，存储器写，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I/O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读，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I/O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写，中断响应，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DMA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响应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突发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猝发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传送事务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Burst Mode 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成组传送）</a:t>
            </a:r>
          </a:p>
          <a:p>
            <a:pPr marL="812800" marR="0" lvl="1" indent="-3556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ysClr val="windowText" lastClr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多个数据阶段，传输过程不释放总线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08733FB-8920-42D5-BD13-7FF4D2C58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81" y="4131340"/>
            <a:ext cx="8823126" cy="243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183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623BBA-F199-4EED-B303-7FB425804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315" y="28830"/>
            <a:ext cx="8229600" cy="850106"/>
          </a:xfrm>
        </p:spPr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总线的通信方式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3ED3CB9-C5AE-443A-B1EA-243A820A8320}"/>
              </a:ext>
            </a:extLst>
          </p:cNvPr>
          <p:cNvSpPr txBox="1">
            <a:spLocks/>
          </p:cNvSpPr>
          <p:nvPr/>
        </p:nvSpPr>
        <p:spPr>
          <a:xfrm>
            <a:off x="487822" y="942764"/>
            <a:ext cx="7756586" cy="563702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FF0000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812800" indent="-355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sz="20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5"/>
              </a:buClr>
              <a:buFont typeface="Wingdings" panose="05000000000000000000" pitchFamily="2" charset="2"/>
              <a:buChar char="u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387B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总线定时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1387B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通信双方如何获知传输开始和传输结束，通信双方如何配合？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同步方式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：用公共时钟对传输过程进行控制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ysClr val="windowText" lastClr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适合快速设备、传输距离短、取决于最慢设备性能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异步方式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：用应答信号对传输过程进行控制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ysClr val="windowText" lastClr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非互锁、半互锁和全互锁，适合慢速设备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半同步方式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：结合同步方式和异步方式的特点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ysClr val="windowText" lastClr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在同步时钟的控制下进行采样和应答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分离事务通信方式</a:t>
            </a:r>
          </a:p>
        </p:txBody>
      </p:sp>
    </p:spTree>
    <p:extLst>
      <p:ext uri="{BB962C8B-B14F-4D97-AF65-F5344CB8AC3E}">
        <p14:creationId xmlns:p14="http://schemas.microsoft.com/office/powerpoint/2010/main" val="6313947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Group 2">
            <a:extLst>
              <a:ext uri="{FF2B5EF4-FFF2-40B4-BE49-F238E27FC236}">
                <a16:creationId xmlns:a16="http://schemas.microsoft.com/office/drawing/2014/main" id="{21C261AB-B093-4362-A933-B6E8F360BB56}"/>
              </a:ext>
            </a:extLst>
          </p:cNvPr>
          <p:cNvGrpSpPr>
            <a:grpSpLocks/>
          </p:cNvGrpSpPr>
          <p:nvPr/>
        </p:nvGrpSpPr>
        <p:grpSpPr bwMode="auto">
          <a:xfrm>
            <a:off x="101600" y="3319219"/>
            <a:ext cx="8847138" cy="1143000"/>
            <a:chOff x="96" y="2592"/>
            <a:chExt cx="5573" cy="720"/>
          </a:xfrm>
        </p:grpSpPr>
        <p:grpSp>
          <p:nvGrpSpPr>
            <p:cNvPr id="33795" name="Group 3">
              <a:extLst>
                <a:ext uri="{FF2B5EF4-FFF2-40B4-BE49-F238E27FC236}">
                  <a16:creationId xmlns:a16="http://schemas.microsoft.com/office/drawing/2014/main" id="{705CFAE9-F91E-4A86-A7A5-465B34620E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8" y="2745"/>
              <a:ext cx="5201" cy="567"/>
              <a:chOff x="468" y="2745"/>
              <a:chExt cx="5201" cy="567"/>
            </a:xfrm>
          </p:grpSpPr>
          <p:sp>
            <p:nvSpPr>
              <p:cNvPr id="33796" name="Freeform 4">
                <a:extLst>
                  <a:ext uri="{FF2B5EF4-FFF2-40B4-BE49-F238E27FC236}">
                    <a16:creationId xmlns:a16="http://schemas.microsoft.com/office/drawing/2014/main" id="{7B6809DC-C1A6-466B-97BC-8157097D82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" y="2831"/>
                <a:ext cx="1115" cy="1"/>
              </a:xfrm>
              <a:custGeom>
                <a:avLst/>
                <a:gdLst>
                  <a:gd name="T0" fmla="*/ 0 w 1174"/>
                  <a:gd name="T1" fmla="*/ 1 h 1"/>
                  <a:gd name="T2" fmla="*/ 1174 w 1174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74" h="1">
                    <a:moveTo>
                      <a:pt x="0" y="1"/>
                    </a:moveTo>
                    <a:lnTo>
                      <a:pt x="1174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797" name="Line 5">
                <a:extLst>
                  <a:ext uri="{FF2B5EF4-FFF2-40B4-BE49-F238E27FC236}">
                    <a16:creationId xmlns:a16="http://schemas.microsoft.com/office/drawing/2014/main" id="{B1E8271A-7B7D-4462-B8E9-DFE131F38C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8100000">
                <a:off x="1776" y="2745"/>
                <a:ext cx="0" cy="56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798" name="Line 6">
                <a:extLst>
                  <a:ext uri="{FF2B5EF4-FFF2-40B4-BE49-F238E27FC236}">
                    <a16:creationId xmlns:a16="http://schemas.microsoft.com/office/drawing/2014/main" id="{CB0B180E-0EA4-4F31-985F-0509138E0F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3647" y="2740"/>
                <a:ext cx="0" cy="55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799" name="Line 7">
                <a:extLst>
                  <a:ext uri="{FF2B5EF4-FFF2-40B4-BE49-F238E27FC236}">
                    <a16:creationId xmlns:a16="http://schemas.microsoft.com/office/drawing/2014/main" id="{25E09A4B-A086-4E60-B407-BB1C030D91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3216"/>
                <a:ext cx="14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800" name="Line 8">
                <a:extLst>
                  <a:ext uri="{FF2B5EF4-FFF2-40B4-BE49-F238E27FC236}">
                    <a16:creationId xmlns:a16="http://schemas.microsoft.com/office/drawing/2014/main" id="{5D18A133-BBB4-4D0F-B83E-EC667AA776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832"/>
                <a:ext cx="182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3801" name="Text Box 9">
              <a:extLst>
                <a:ext uri="{FF2B5EF4-FFF2-40B4-BE49-F238E27FC236}">
                  <a16:creationId xmlns:a16="http://schemas.microsoft.com/office/drawing/2014/main" id="{0818898D-6697-4D8D-A993-E0FFDDCC30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2592"/>
              <a:ext cx="576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读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命令</a:t>
              </a:r>
            </a:p>
          </p:txBody>
        </p:sp>
      </p:grpSp>
      <p:sp>
        <p:nvSpPr>
          <p:cNvPr id="33802" name="Text Box 10">
            <a:extLst>
              <a:ext uri="{FF2B5EF4-FFF2-40B4-BE49-F238E27FC236}">
                <a16:creationId xmlns:a16="http://schemas.microsoft.com/office/drawing/2014/main" id="{854BAACC-E90B-4AC0-9184-AA26589B23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" y="78580"/>
            <a:ext cx="47244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(1) 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同步通信</a:t>
            </a:r>
            <a:r>
              <a:rPr kumimoji="1"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-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数据输入</a:t>
            </a:r>
          </a:p>
        </p:txBody>
      </p:sp>
      <p:grpSp>
        <p:nvGrpSpPr>
          <p:cNvPr id="33803" name="Group 11">
            <a:extLst>
              <a:ext uri="{FF2B5EF4-FFF2-40B4-BE49-F238E27FC236}">
                <a16:creationId xmlns:a16="http://schemas.microsoft.com/office/drawing/2014/main" id="{207CB316-308F-4DAD-8C1E-D1B694BFD258}"/>
              </a:ext>
            </a:extLst>
          </p:cNvPr>
          <p:cNvGrpSpPr>
            <a:grpSpLocks/>
          </p:cNvGrpSpPr>
          <p:nvPr/>
        </p:nvGrpSpPr>
        <p:grpSpPr bwMode="auto">
          <a:xfrm>
            <a:off x="0" y="714132"/>
            <a:ext cx="8915400" cy="1633537"/>
            <a:chOff x="48" y="941"/>
            <a:chExt cx="5616" cy="1029"/>
          </a:xfrm>
        </p:grpSpPr>
        <p:grpSp>
          <p:nvGrpSpPr>
            <p:cNvPr id="33804" name="Group 12">
              <a:extLst>
                <a:ext uri="{FF2B5EF4-FFF2-40B4-BE49-F238E27FC236}">
                  <a16:creationId xmlns:a16="http://schemas.microsoft.com/office/drawing/2014/main" id="{126BAF3A-B424-4348-9BD5-BD0574E663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941"/>
              <a:ext cx="5184" cy="1029"/>
              <a:chOff x="480" y="941"/>
              <a:chExt cx="5184" cy="1029"/>
            </a:xfrm>
          </p:grpSpPr>
          <p:sp>
            <p:nvSpPr>
              <p:cNvPr id="33805" name="Rectangle 13">
                <a:extLst>
                  <a:ext uri="{FF2B5EF4-FFF2-40B4-BE49-F238E27FC236}">
                    <a16:creationId xmlns:a16="http://schemas.microsoft.com/office/drawing/2014/main" id="{4E9798EA-31D1-467A-827F-9D99580AA4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5" y="1768"/>
                <a:ext cx="159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100" b="1" i="1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T</a:t>
                </a:r>
                <a:r>
                  <a:rPr kumimoji="1" lang="en-US" altLang="zh-CN" sz="21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33806" name="Line 14">
                <a:extLst>
                  <a:ext uri="{FF2B5EF4-FFF2-40B4-BE49-F238E27FC236}">
                    <a16:creationId xmlns:a16="http://schemas.microsoft.com/office/drawing/2014/main" id="{4A036BB8-9880-49C0-B0E1-2302CA3B19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8" y="1779"/>
                <a:ext cx="1" cy="187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807" name="Line 15">
                <a:extLst>
                  <a:ext uri="{FF2B5EF4-FFF2-40B4-BE49-F238E27FC236}">
                    <a16:creationId xmlns:a16="http://schemas.microsoft.com/office/drawing/2014/main" id="{8854AF49-64D9-474E-97AD-0676932938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50" y="1779"/>
                <a:ext cx="2" cy="187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808" name="Line 16">
                <a:extLst>
                  <a:ext uri="{FF2B5EF4-FFF2-40B4-BE49-F238E27FC236}">
                    <a16:creationId xmlns:a16="http://schemas.microsoft.com/office/drawing/2014/main" id="{84547C9D-3AD5-4AF2-8C67-7569F0E97A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1" y="1779"/>
                <a:ext cx="1" cy="187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809" name="Rectangle 17">
                <a:extLst>
                  <a:ext uri="{FF2B5EF4-FFF2-40B4-BE49-F238E27FC236}">
                    <a16:creationId xmlns:a16="http://schemas.microsoft.com/office/drawing/2014/main" id="{CEDF8769-B0A4-4CA7-B784-7FE324FE9A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8" y="1008"/>
                <a:ext cx="1365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810" name="Line 18">
                <a:extLst>
                  <a:ext uri="{FF2B5EF4-FFF2-40B4-BE49-F238E27FC236}">
                    <a16:creationId xmlns:a16="http://schemas.microsoft.com/office/drawing/2014/main" id="{7C3DE6B1-5B69-4EF1-BB2F-ACF09ECB0F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49" y="1008"/>
                <a:ext cx="1" cy="186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811" name="Rectangle 19">
                <a:extLst>
                  <a:ext uri="{FF2B5EF4-FFF2-40B4-BE49-F238E27FC236}">
                    <a16:creationId xmlns:a16="http://schemas.microsoft.com/office/drawing/2014/main" id="{CC04F74F-E419-4828-ADB8-B083D59C7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0" y="941"/>
                <a:ext cx="1542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总线传输周期</a:t>
                </a:r>
                <a:endPara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812" name="Line 20">
                <a:extLst>
                  <a:ext uri="{FF2B5EF4-FFF2-40B4-BE49-F238E27FC236}">
                    <a16:creationId xmlns:a16="http://schemas.microsoft.com/office/drawing/2014/main" id="{1523D6BE-F39B-41F4-9BCD-28BA4520EF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4" y="1776"/>
                <a:ext cx="2" cy="186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813" name="Freeform 21">
                <a:extLst>
                  <a:ext uri="{FF2B5EF4-FFF2-40B4-BE49-F238E27FC236}">
                    <a16:creationId xmlns:a16="http://schemas.microsoft.com/office/drawing/2014/main" id="{BD9D932F-72D6-4A79-BE73-388A8E3FFC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4" y="1344"/>
                <a:ext cx="912" cy="384"/>
              </a:xfrm>
              <a:custGeom>
                <a:avLst/>
                <a:gdLst>
                  <a:gd name="T0" fmla="*/ 0 w 912"/>
                  <a:gd name="T1" fmla="*/ 384 h 384"/>
                  <a:gd name="T2" fmla="*/ 0 w 912"/>
                  <a:gd name="T3" fmla="*/ 0 h 384"/>
                  <a:gd name="T4" fmla="*/ 432 w 912"/>
                  <a:gd name="T5" fmla="*/ 0 h 384"/>
                  <a:gd name="T6" fmla="*/ 432 w 912"/>
                  <a:gd name="T7" fmla="*/ 384 h 384"/>
                  <a:gd name="T8" fmla="*/ 912 w 912"/>
                  <a:gd name="T9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2" h="384">
                    <a:moveTo>
                      <a:pt x="0" y="384"/>
                    </a:moveTo>
                    <a:lnTo>
                      <a:pt x="0" y="0"/>
                    </a:lnTo>
                    <a:lnTo>
                      <a:pt x="432" y="0"/>
                    </a:lnTo>
                    <a:lnTo>
                      <a:pt x="432" y="384"/>
                    </a:lnTo>
                    <a:lnTo>
                      <a:pt x="912" y="384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814" name="Freeform 22">
                <a:extLst>
                  <a:ext uri="{FF2B5EF4-FFF2-40B4-BE49-F238E27FC236}">
                    <a16:creationId xmlns:a16="http://schemas.microsoft.com/office/drawing/2014/main" id="{B7A641C7-F8A9-47BD-B1CD-A68CE4A11F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8" y="1344"/>
                <a:ext cx="912" cy="384"/>
              </a:xfrm>
              <a:custGeom>
                <a:avLst/>
                <a:gdLst>
                  <a:gd name="T0" fmla="*/ 0 w 912"/>
                  <a:gd name="T1" fmla="*/ 384 h 384"/>
                  <a:gd name="T2" fmla="*/ 0 w 912"/>
                  <a:gd name="T3" fmla="*/ 0 h 384"/>
                  <a:gd name="T4" fmla="*/ 432 w 912"/>
                  <a:gd name="T5" fmla="*/ 0 h 384"/>
                  <a:gd name="T6" fmla="*/ 432 w 912"/>
                  <a:gd name="T7" fmla="*/ 384 h 384"/>
                  <a:gd name="T8" fmla="*/ 912 w 912"/>
                  <a:gd name="T9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2" h="384">
                    <a:moveTo>
                      <a:pt x="0" y="384"/>
                    </a:moveTo>
                    <a:lnTo>
                      <a:pt x="0" y="0"/>
                    </a:lnTo>
                    <a:lnTo>
                      <a:pt x="432" y="0"/>
                    </a:lnTo>
                    <a:lnTo>
                      <a:pt x="432" y="384"/>
                    </a:lnTo>
                    <a:lnTo>
                      <a:pt x="912" y="384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815" name="Freeform 23">
                <a:extLst>
                  <a:ext uri="{FF2B5EF4-FFF2-40B4-BE49-F238E27FC236}">
                    <a16:creationId xmlns:a16="http://schemas.microsoft.com/office/drawing/2014/main" id="{B2559373-74AE-4EB3-A6E5-F9BF0E2164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0" y="1344"/>
                <a:ext cx="912" cy="384"/>
              </a:xfrm>
              <a:custGeom>
                <a:avLst/>
                <a:gdLst>
                  <a:gd name="T0" fmla="*/ 0 w 912"/>
                  <a:gd name="T1" fmla="*/ 384 h 384"/>
                  <a:gd name="T2" fmla="*/ 0 w 912"/>
                  <a:gd name="T3" fmla="*/ 0 h 384"/>
                  <a:gd name="T4" fmla="*/ 432 w 912"/>
                  <a:gd name="T5" fmla="*/ 0 h 384"/>
                  <a:gd name="T6" fmla="*/ 432 w 912"/>
                  <a:gd name="T7" fmla="*/ 384 h 384"/>
                  <a:gd name="T8" fmla="*/ 912 w 912"/>
                  <a:gd name="T9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2" h="384">
                    <a:moveTo>
                      <a:pt x="0" y="384"/>
                    </a:moveTo>
                    <a:lnTo>
                      <a:pt x="0" y="0"/>
                    </a:lnTo>
                    <a:lnTo>
                      <a:pt x="432" y="0"/>
                    </a:lnTo>
                    <a:lnTo>
                      <a:pt x="432" y="384"/>
                    </a:lnTo>
                    <a:lnTo>
                      <a:pt x="912" y="384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cxnSp>
            <p:nvCxnSpPr>
              <p:cNvPr id="33816" name="AutoShape 24">
                <a:extLst>
                  <a:ext uri="{FF2B5EF4-FFF2-40B4-BE49-F238E27FC236}">
                    <a16:creationId xmlns:a16="http://schemas.microsoft.com/office/drawing/2014/main" id="{7FE21DF3-A41B-41C8-A566-F1AA0685C11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480" y="1728"/>
                <a:ext cx="624" cy="0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3817" name="Freeform 25">
                <a:extLst>
                  <a:ext uri="{FF2B5EF4-FFF2-40B4-BE49-F238E27FC236}">
                    <a16:creationId xmlns:a16="http://schemas.microsoft.com/office/drawing/2014/main" id="{626A6EFB-BF21-4149-AB07-54FA8E64E5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2" y="1344"/>
                <a:ext cx="912" cy="384"/>
              </a:xfrm>
              <a:custGeom>
                <a:avLst/>
                <a:gdLst>
                  <a:gd name="T0" fmla="*/ 0 w 912"/>
                  <a:gd name="T1" fmla="*/ 384 h 384"/>
                  <a:gd name="T2" fmla="*/ 0 w 912"/>
                  <a:gd name="T3" fmla="*/ 0 h 384"/>
                  <a:gd name="T4" fmla="*/ 432 w 912"/>
                  <a:gd name="T5" fmla="*/ 0 h 384"/>
                  <a:gd name="T6" fmla="*/ 432 w 912"/>
                  <a:gd name="T7" fmla="*/ 384 h 384"/>
                  <a:gd name="T8" fmla="*/ 912 w 912"/>
                  <a:gd name="T9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2" h="384">
                    <a:moveTo>
                      <a:pt x="0" y="384"/>
                    </a:moveTo>
                    <a:lnTo>
                      <a:pt x="0" y="0"/>
                    </a:lnTo>
                    <a:lnTo>
                      <a:pt x="432" y="0"/>
                    </a:lnTo>
                    <a:lnTo>
                      <a:pt x="432" y="384"/>
                    </a:lnTo>
                    <a:lnTo>
                      <a:pt x="912" y="384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818" name="Freeform 26">
                <a:extLst>
                  <a:ext uri="{FF2B5EF4-FFF2-40B4-BE49-F238E27FC236}">
                    <a16:creationId xmlns:a16="http://schemas.microsoft.com/office/drawing/2014/main" id="{18759DA9-E9C6-456D-B8D6-C6E89FCE4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6" y="1344"/>
                <a:ext cx="912" cy="384"/>
              </a:xfrm>
              <a:custGeom>
                <a:avLst/>
                <a:gdLst>
                  <a:gd name="T0" fmla="*/ 0 w 912"/>
                  <a:gd name="T1" fmla="*/ 384 h 384"/>
                  <a:gd name="T2" fmla="*/ 0 w 912"/>
                  <a:gd name="T3" fmla="*/ 0 h 384"/>
                  <a:gd name="T4" fmla="*/ 432 w 912"/>
                  <a:gd name="T5" fmla="*/ 0 h 384"/>
                  <a:gd name="T6" fmla="*/ 432 w 912"/>
                  <a:gd name="T7" fmla="*/ 384 h 384"/>
                  <a:gd name="T8" fmla="*/ 912 w 912"/>
                  <a:gd name="T9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2" h="384">
                    <a:moveTo>
                      <a:pt x="0" y="384"/>
                    </a:moveTo>
                    <a:lnTo>
                      <a:pt x="0" y="0"/>
                    </a:lnTo>
                    <a:lnTo>
                      <a:pt x="432" y="0"/>
                    </a:lnTo>
                    <a:lnTo>
                      <a:pt x="432" y="384"/>
                    </a:lnTo>
                    <a:lnTo>
                      <a:pt x="912" y="384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819" name="Rectangle 27">
                <a:extLst>
                  <a:ext uri="{FF2B5EF4-FFF2-40B4-BE49-F238E27FC236}">
                    <a16:creationId xmlns:a16="http://schemas.microsoft.com/office/drawing/2014/main" id="{9F4C64BC-5FEC-4718-A72B-382765A214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5" y="1768"/>
                <a:ext cx="159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100" b="1" i="1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T</a:t>
                </a:r>
                <a:r>
                  <a:rPr kumimoji="1" lang="en-US" altLang="zh-CN" sz="21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33820" name="Rectangle 28">
                <a:extLst>
                  <a:ext uri="{FF2B5EF4-FFF2-40B4-BE49-F238E27FC236}">
                    <a16:creationId xmlns:a16="http://schemas.microsoft.com/office/drawing/2014/main" id="{493BFDAB-A1A1-41DE-8012-7DCE3C6DB2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5" y="1768"/>
                <a:ext cx="159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100" b="1" i="1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T</a:t>
                </a:r>
                <a:r>
                  <a:rPr kumimoji="1" lang="en-US" altLang="zh-CN" sz="21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3</a:t>
                </a:r>
              </a:p>
            </p:txBody>
          </p:sp>
          <p:sp>
            <p:nvSpPr>
              <p:cNvPr id="33821" name="Rectangle 29">
                <a:extLst>
                  <a:ext uri="{FF2B5EF4-FFF2-40B4-BE49-F238E27FC236}">
                    <a16:creationId xmlns:a16="http://schemas.microsoft.com/office/drawing/2014/main" id="{E6F2F86B-026D-422C-ACD0-BE9D07F4B6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768"/>
                <a:ext cx="159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100" b="1" i="1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T</a:t>
                </a:r>
                <a:r>
                  <a:rPr kumimoji="1" lang="en-US" altLang="zh-CN" sz="21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4</a:t>
                </a:r>
              </a:p>
            </p:txBody>
          </p:sp>
          <p:sp>
            <p:nvSpPr>
              <p:cNvPr id="33822" name="Line 30">
                <a:extLst>
                  <a:ext uri="{FF2B5EF4-FFF2-40B4-BE49-F238E27FC236}">
                    <a16:creationId xmlns:a16="http://schemas.microsoft.com/office/drawing/2014/main" id="{819A54A4-ABBF-42FF-B3BC-BA2ECDDDF8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1104"/>
                <a:ext cx="115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stealth" w="lg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823" name="Line 31">
                <a:extLst>
                  <a:ext uri="{FF2B5EF4-FFF2-40B4-BE49-F238E27FC236}">
                    <a16:creationId xmlns:a16="http://schemas.microsoft.com/office/drawing/2014/main" id="{FAFC281E-15EF-445E-924A-875BEE613C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3" y="1008"/>
                <a:ext cx="1" cy="186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824" name="Line 32">
                <a:extLst>
                  <a:ext uri="{FF2B5EF4-FFF2-40B4-BE49-F238E27FC236}">
                    <a16:creationId xmlns:a16="http://schemas.microsoft.com/office/drawing/2014/main" id="{02657B95-6939-4CB1-BCB5-B6F4E735A9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1104"/>
                <a:ext cx="9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lg" len="lg"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825" name="Line 33">
                <a:extLst>
                  <a:ext uri="{FF2B5EF4-FFF2-40B4-BE49-F238E27FC236}">
                    <a16:creationId xmlns:a16="http://schemas.microsoft.com/office/drawing/2014/main" id="{498A5EC7-2283-4C23-9402-5478FB69FE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872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826" name="Line 34">
                <a:extLst>
                  <a:ext uri="{FF2B5EF4-FFF2-40B4-BE49-F238E27FC236}">
                    <a16:creationId xmlns:a16="http://schemas.microsoft.com/office/drawing/2014/main" id="{1DCFDB73-B101-499E-9773-DC3133E783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1781"/>
                <a:ext cx="1" cy="187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827" name="Line 35">
                <a:extLst>
                  <a:ext uri="{FF2B5EF4-FFF2-40B4-BE49-F238E27FC236}">
                    <a16:creationId xmlns:a16="http://schemas.microsoft.com/office/drawing/2014/main" id="{1EAB2651-8AA9-4A73-846D-8697DC77E3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1872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828" name="Line 36">
                <a:extLst>
                  <a:ext uri="{FF2B5EF4-FFF2-40B4-BE49-F238E27FC236}">
                    <a16:creationId xmlns:a16="http://schemas.microsoft.com/office/drawing/2014/main" id="{C0CBA62B-2C43-4950-AC33-BF736DBD55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1872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829" name="Line 37">
                <a:extLst>
                  <a:ext uri="{FF2B5EF4-FFF2-40B4-BE49-F238E27FC236}">
                    <a16:creationId xmlns:a16="http://schemas.microsoft.com/office/drawing/2014/main" id="{143B02AF-71D1-40C3-B43B-63FB09119D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1872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830" name="Line 38">
                <a:extLst>
                  <a:ext uri="{FF2B5EF4-FFF2-40B4-BE49-F238E27FC236}">
                    <a16:creationId xmlns:a16="http://schemas.microsoft.com/office/drawing/2014/main" id="{DF7645ED-032B-4CA2-99C6-EF4E07786E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1872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stealth" w="lg" len="lg"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831" name="Line 39">
                <a:extLst>
                  <a:ext uri="{FF2B5EF4-FFF2-40B4-BE49-F238E27FC236}">
                    <a16:creationId xmlns:a16="http://schemas.microsoft.com/office/drawing/2014/main" id="{C15CF46A-BD35-42ED-AA37-3B25D20C0D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1872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stealth" w="lg" len="lg"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832" name="Line 40">
                <a:extLst>
                  <a:ext uri="{FF2B5EF4-FFF2-40B4-BE49-F238E27FC236}">
                    <a16:creationId xmlns:a16="http://schemas.microsoft.com/office/drawing/2014/main" id="{6B3AB733-84BE-460C-BC53-48ABD6E091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1872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stealth" w="lg" len="lg"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833" name="Line 41">
                <a:extLst>
                  <a:ext uri="{FF2B5EF4-FFF2-40B4-BE49-F238E27FC236}">
                    <a16:creationId xmlns:a16="http://schemas.microsoft.com/office/drawing/2014/main" id="{A6B32A1E-7CBC-4C0E-8D40-1FBCACB6DA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1872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stealth" w="lg" len="lg"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3834" name="Text Box 42">
              <a:extLst>
                <a:ext uri="{FF2B5EF4-FFF2-40B4-BE49-F238E27FC236}">
                  <a16:creationId xmlns:a16="http://schemas.microsoft.com/office/drawing/2014/main" id="{BA443A14-13EB-46C3-8D93-C78F03EE92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" y="1440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时钟</a:t>
              </a:r>
            </a:p>
          </p:txBody>
        </p:sp>
      </p:grpSp>
      <p:grpSp>
        <p:nvGrpSpPr>
          <p:cNvPr id="33835" name="Group 43">
            <a:extLst>
              <a:ext uri="{FF2B5EF4-FFF2-40B4-BE49-F238E27FC236}">
                <a16:creationId xmlns:a16="http://schemas.microsoft.com/office/drawing/2014/main" id="{C5412ECF-391A-4F6F-A625-BE9E9168BB04}"/>
              </a:ext>
            </a:extLst>
          </p:cNvPr>
          <p:cNvGrpSpPr>
            <a:grpSpLocks/>
          </p:cNvGrpSpPr>
          <p:nvPr/>
        </p:nvGrpSpPr>
        <p:grpSpPr bwMode="auto">
          <a:xfrm>
            <a:off x="0" y="2496894"/>
            <a:ext cx="8921750" cy="773113"/>
            <a:chOff x="48" y="2064"/>
            <a:chExt cx="5620" cy="487"/>
          </a:xfrm>
        </p:grpSpPr>
        <p:sp>
          <p:nvSpPr>
            <p:cNvPr id="33836" name="Freeform 44">
              <a:extLst>
                <a:ext uri="{FF2B5EF4-FFF2-40B4-BE49-F238E27FC236}">
                  <a16:creationId xmlns:a16="http://schemas.microsoft.com/office/drawing/2014/main" id="{FD63AF23-6D07-4E35-8578-54F1A5D50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" y="2208"/>
              <a:ext cx="3857" cy="343"/>
            </a:xfrm>
            <a:custGeom>
              <a:avLst/>
              <a:gdLst>
                <a:gd name="T0" fmla="*/ 170 w 3857"/>
                <a:gd name="T1" fmla="*/ 0 h 343"/>
                <a:gd name="T2" fmla="*/ 0 w 3857"/>
                <a:gd name="T3" fmla="*/ 170 h 343"/>
                <a:gd name="T4" fmla="*/ 173 w 3857"/>
                <a:gd name="T5" fmla="*/ 342 h 343"/>
                <a:gd name="T6" fmla="*/ 1343 w 3857"/>
                <a:gd name="T7" fmla="*/ 343 h 343"/>
                <a:gd name="T8" fmla="*/ 3686 w 3857"/>
                <a:gd name="T9" fmla="*/ 342 h 343"/>
                <a:gd name="T10" fmla="*/ 3857 w 3857"/>
                <a:gd name="T11" fmla="*/ 171 h 343"/>
                <a:gd name="T12" fmla="*/ 3686 w 3857"/>
                <a:gd name="T13" fmla="*/ 0 h 343"/>
                <a:gd name="T14" fmla="*/ 170 w 3857"/>
                <a:gd name="T15" fmla="*/ 0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57" h="343">
                  <a:moveTo>
                    <a:pt x="170" y="0"/>
                  </a:moveTo>
                  <a:lnTo>
                    <a:pt x="0" y="170"/>
                  </a:lnTo>
                  <a:lnTo>
                    <a:pt x="173" y="342"/>
                  </a:lnTo>
                  <a:lnTo>
                    <a:pt x="1343" y="343"/>
                  </a:lnTo>
                  <a:lnTo>
                    <a:pt x="3686" y="342"/>
                  </a:lnTo>
                  <a:lnTo>
                    <a:pt x="3857" y="171"/>
                  </a:lnTo>
                  <a:lnTo>
                    <a:pt x="3686" y="0"/>
                  </a:lnTo>
                  <a:lnTo>
                    <a:pt x="170" y="0"/>
                  </a:lnTo>
                  <a:close/>
                </a:path>
              </a:pathLst>
            </a:custGeom>
            <a:noFill/>
            <a:ln w="3175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37" name="Line 45">
              <a:extLst>
                <a:ext uri="{FF2B5EF4-FFF2-40B4-BE49-F238E27FC236}">
                  <a16:creationId xmlns:a16="http://schemas.microsoft.com/office/drawing/2014/main" id="{1FE23CA5-714A-4F19-A1CD-CBF58827A0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2" y="2378"/>
              <a:ext cx="47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38" name="Line 46">
              <a:extLst>
                <a:ext uri="{FF2B5EF4-FFF2-40B4-BE49-F238E27FC236}">
                  <a16:creationId xmlns:a16="http://schemas.microsoft.com/office/drawing/2014/main" id="{529522D2-0C7D-4AA4-A5C9-A328223072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2378"/>
              <a:ext cx="8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39" name="Text Box 47">
              <a:extLst>
                <a:ext uri="{FF2B5EF4-FFF2-40B4-BE49-F238E27FC236}">
                  <a16:creationId xmlns:a16="http://schemas.microsoft.com/office/drawing/2014/main" id="{84C6AD5C-6F70-464A-A670-19B5D3A83C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" y="2064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地址</a:t>
              </a:r>
            </a:p>
          </p:txBody>
        </p:sp>
      </p:grpSp>
      <p:grpSp>
        <p:nvGrpSpPr>
          <p:cNvPr id="33840" name="Group 48">
            <a:extLst>
              <a:ext uri="{FF2B5EF4-FFF2-40B4-BE49-F238E27FC236}">
                <a16:creationId xmlns:a16="http://schemas.microsoft.com/office/drawing/2014/main" id="{735B3F75-59D8-46AB-8051-53C63D5E18BD}"/>
              </a:ext>
            </a:extLst>
          </p:cNvPr>
          <p:cNvGrpSpPr>
            <a:grpSpLocks/>
          </p:cNvGrpSpPr>
          <p:nvPr/>
        </p:nvGrpSpPr>
        <p:grpSpPr bwMode="auto">
          <a:xfrm>
            <a:off x="0" y="4554294"/>
            <a:ext cx="8991600" cy="833438"/>
            <a:chOff x="48" y="3360"/>
            <a:chExt cx="5664" cy="525"/>
          </a:xfrm>
        </p:grpSpPr>
        <p:sp>
          <p:nvSpPr>
            <p:cNvPr id="33841" name="Line 49">
              <a:extLst>
                <a:ext uri="{FF2B5EF4-FFF2-40B4-BE49-F238E27FC236}">
                  <a16:creationId xmlns:a16="http://schemas.microsoft.com/office/drawing/2014/main" id="{C0CE8A7C-F8AA-4E76-B7BF-53F12CA772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96"/>
              <a:ext cx="228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42" name="Line 50">
              <a:extLst>
                <a:ext uri="{FF2B5EF4-FFF2-40B4-BE49-F238E27FC236}">
                  <a16:creationId xmlns:a16="http://schemas.microsoft.com/office/drawing/2014/main" id="{FE1BE698-0FF6-4495-BAB4-A6EF13F698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9" y="3695"/>
              <a:ext cx="190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43" name="Freeform 51">
              <a:extLst>
                <a:ext uri="{FF2B5EF4-FFF2-40B4-BE49-F238E27FC236}">
                  <a16:creationId xmlns:a16="http://schemas.microsoft.com/office/drawing/2014/main" id="{26DE8DD5-21A3-404E-9A4A-DACF4DCF65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" y="3552"/>
              <a:ext cx="1046" cy="333"/>
            </a:xfrm>
            <a:custGeom>
              <a:avLst/>
              <a:gdLst>
                <a:gd name="T0" fmla="*/ 0 w 1056"/>
                <a:gd name="T1" fmla="*/ 144 h 333"/>
                <a:gd name="T2" fmla="*/ 144 w 1056"/>
                <a:gd name="T3" fmla="*/ 0 h 333"/>
                <a:gd name="T4" fmla="*/ 912 w 1056"/>
                <a:gd name="T5" fmla="*/ 0 h 333"/>
                <a:gd name="T6" fmla="*/ 1056 w 1056"/>
                <a:gd name="T7" fmla="*/ 144 h 333"/>
                <a:gd name="T8" fmla="*/ 880 w 1056"/>
                <a:gd name="T9" fmla="*/ 333 h 333"/>
                <a:gd name="T10" fmla="*/ 170 w 1056"/>
                <a:gd name="T11" fmla="*/ 333 h 333"/>
                <a:gd name="T12" fmla="*/ 0 w 1056"/>
                <a:gd name="T13" fmla="*/ 144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6" h="333">
                  <a:moveTo>
                    <a:pt x="0" y="144"/>
                  </a:moveTo>
                  <a:lnTo>
                    <a:pt x="144" y="0"/>
                  </a:lnTo>
                  <a:lnTo>
                    <a:pt x="912" y="0"/>
                  </a:lnTo>
                  <a:lnTo>
                    <a:pt x="1056" y="144"/>
                  </a:lnTo>
                  <a:lnTo>
                    <a:pt x="880" y="333"/>
                  </a:lnTo>
                  <a:lnTo>
                    <a:pt x="170" y="333"/>
                  </a:lnTo>
                  <a:lnTo>
                    <a:pt x="0" y="144"/>
                  </a:lnTo>
                  <a:close/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44" name="Text Box 52">
              <a:extLst>
                <a:ext uri="{FF2B5EF4-FFF2-40B4-BE49-F238E27FC236}">
                  <a16:creationId xmlns:a16="http://schemas.microsoft.com/office/drawing/2014/main" id="{2A788135-D647-4E03-B9B4-60AB99012C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" y="3360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数据</a:t>
              </a:r>
            </a:p>
          </p:txBody>
        </p:sp>
      </p:grpSp>
      <p:grpSp>
        <p:nvGrpSpPr>
          <p:cNvPr id="33845" name="Group 53">
            <a:extLst>
              <a:ext uri="{FF2B5EF4-FFF2-40B4-BE49-F238E27FC236}">
                <a16:creationId xmlns:a16="http://schemas.microsoft.com/office/drawing/2014/main" id="{A084F562-891C-4A42-8F26-BF0DBBE85FDB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2725494"/>
            <a:ext cx="1030288" cy="2663825"/>
            <a:chOff x="480" y="2208"/>
            <a:chExt cx="649" cy="1678"/>
          </a:xfrm>
        </p:grpSpPr>
        <p:sp>
          <p:nvSpPr>
            <p:cNvPr id="33846" name="Rectangle 54">
              <a:extLst>
                <a:ext uri="{FF2B5EF4-FFF2-40B4-BE49-F238E27FC236}">
                  <a16:creationId xmlns:a16="http://schemas.microsoft.com/office/drawing/2014/main" id="{BECCBA03-99AF-4CBD-98BE-CAFC870BE4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832"/>
              <a:ext cx="624" cy="408"/>
            </a:xfrm>
            <a:prstGeom prst="rect">
              <a:avLst/>
            </a:prstGeom>
            <a:solidFill>
              <a:schemeClr val="folHlink">
                <a:alpha val="50000"/>
              </a:schemeClr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47" name="Rectangle 55">
              <a:extLst>
                <a:ext uri="{FF2B5EF4-FFF2-40B4-BE49-F238E27FC236}">
                  <a16:creationId xmlns:a16="http://schemas.microsoft.com/office/drawing/2014/main" id="{7F75C334-4E37-4C4B-A172-02FDD14203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3528"/>
              <a:ext cx="624" cy="358"/>
            </a:xfrm>
            <a:prstGeom prst="rect">
              <a:avLst/>
            </a:prstGeom>
            <a:solidFill>
              <a:schemeClr val="folHlink">
                <a:alpha val="50000"/>
              </a:schemeClr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48" name="Line 56">
              <a:extLst>
                <a:ext uri="{FF2B5EF4-FFF2-40B4-BE49-F238E27FC236}">
                  <a16:creationId xmlns:a16="http://schemas.microsoft.com/office/drawing/2014/main" id="{21121ED1-E20F-4985-B6BE-FA1B6F4738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832"/>
              <a:ext cx="624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49" name="Line 57">
              <a:extLst>
                <a:ext uri="{FF2B5EF4-FFF2-40B4-BE49-F238E27FC236}">
                  <a16:creationId xmlns:a16="http://schemas.microsoft.com/office/drawing/2014/main" id="{7DEA4EDD-F15E-468E-9923-C121CBC5D8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96"/>
              <a:ext cx="624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33850" name="Group 58">
              <a:extLst>
                <a:ext uri="{FF2B5EF4-FFF2-40B4-BE49-F238E27FC236}">
                  <a16:creationId xmlns:a16="http://schemas.microsoft.com/office/drawing/2014/main" id="{F050EFA1-776E-4661-B73B-A9BD89E7BD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2208"/>
              <a:ext cx="649" cy="386"/>
              <a:chOff x="478" y="2206"/>
              <a:chExt cx="649" cy="386"/>
            </a:xfrm>
          </p:grpSpPr>
          <p:sp>
            <p:nvSpPr>
              <p:cNvPr id="33851" name="Freeform 59">
                <a:extLst>
                  <a:ext uri="{FF2B5EF4-FFF2-40B4-BE49-F238E27FC236}">
                    <a16:creationId xmlns:a16="http://schemas.microsoft.com/office/drawing/2014/main" id="{DB742238-F117-4FDA-A16F-6B977A0A8B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" y="2206"/>
                <a:ext cx="613" cy="355"/>
              </a:xfrm>
              <a:custGeom>
                <a:avLst/>
                <a:gdLst>
                  <a:gd name="T0" fmla="*/ 453 w 613"/>
                  <a:gd name="T1" fmla="*/ 196 h 355"/>
                  <a:gd name="T2" fmla="*/ 581 w 613"/>
                  <a:gd name="T3" fmla="*/ 2 h 355"/>
                  <a:gd name="T4" fmla="*/ 0 w 613"/>
                  <a:gd name="T5" fmla="*/ 0 h 355"/>
                  <a:gd name="T6" fmla="*/ 0 w 613"/>
                  <a:gd name="T7" fmla="*/ 355 h 355"/>
                  <a:gd name="T8" fmla="*/ 613 w 613"/>
                  <a:gd name="T9" fmla="*/ 355 h 3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13" h="355">
                    <a:moveTo>
                      <a:pt x="453" y="196"/>
                    </a:moveTo>
                    <a:lnTo>
                      <a:pt x="581" y="2"/>
                    </a:lnTo>
                    <a:lnTo>
                      <a:pt x="0" y="0"/>
                    </a:lnTo>
                    <a:lnTo>
                      <a:pt x="0" y="355"/>
                    </a:lnTo>
                    <a:lnTo>
                      <a:pt x="613" y="355"/>
                    </a:lnTo>
                  </a:path>
                </a:pathLst>
              </a:custGeom>
              <a:solidFill>
                <a:schemeClr val="folHlink">
                  <a:alpha val="50000"/>
                </a:schemeClr>
              </a:solidFill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852" name="Line 60">
                <a:extLst>
                  <a:ext uri="{FF2B5EF4-FFF2-40B4-BE49-F238E27FC236}">
                    <a16:creationId xmlns:a16="http://schemas.microsoft.com/office/drawing/2014/main" id="{4333BB3B-9F65-4140-8D30-F777B1584C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208"/>
                <a:ext cx="624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853" name="Line 61">
                <a:extLst>
                  <a:ext uri="{FF2B5EF4-FFF2-40B4-BE49-F238E27FC236}">
                    <a16:creationId xmlns:a16="http://schemas.microsoft.com/office/drawing/2014/main" id="{7932C8FB-5DB2-4C78-A3D4-B7F80ECCB6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544"/>
                <a:ext cx="624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854" name="Line 62">
                <a:extLst>
                  <a:ext uri="{FF2B5EF4-FFF2-40B4-BE49-F238E27FC236}">
                    <a16:creationId xmlns:a16="http://schemas.microsoft.com/office/drawing/2014/main" id="{864BFBD6-CAFD-48C2-8497-4ACA2507B1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8100000">
                <a:off x="1008" y="2329"/>
                <a:ext cx="0" cy="263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855" name="Line 63">
                <a:extLst>
                  <a:ext uri="{FF2B5EF4-FFF2-40B4-BE49-F238E27FC236}">
                    <a16:creationId xmlns:a16="http://schemas.microsoft.com/office/drawing/2014/main" id="{6D94EE57-4225-4CD7-A21D-EBB162282E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996" y="2172"/>
                <a:ext cx="0" cy="263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33856" name="Line 64">
            <a:extLst>
              <a:ext uri="{FF2B5EF4-FFF2-40B4-BE49-F238E27FC236}">
                <a16:creationId xmlns:a16="http://schemas.microsoft.com/office/drawing/2014/main" id="{2E8FD943-460A-4F2C-B132-C0BE65E4A88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268294"/>
            <a:ext cx="0" cy="3703638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857" name="Group 65">
            <a:extLst>
              <a:ext uri="{FF2B5EF4-FFF2-40B4-BE49-F238E27FC236}">
                <a16:creationId xmlns:a16="http://schemas.microsoft.com/office/drawing/2014/main" id="{8DC0BB25-06E0-49E2-BA60-EFA4C474F88B}"/>
              </a:ext>
            </a:extLst>
          </p:cNvPr>
          <p:cNvGrpSpPr>
            <a:grpSpLocks/>
          </p:cNvGrpSpPr>
          <p:nvPr/>
        </p:nvGrpSpPr>
        <p:grpSpPr bwMode="auto">
          <a:xfrm>
            <a:off x="1655763" y="2725494"/>
            <a:ext cx="1481137" cy="2667000"/>
            <a:chOff x="1091" y="2208"/>
            <a:chExt cx="933" cy="1680"/>
          </a:xfrm>
        </p:grpSpPr>
        <p:sp>
          <p:nvSpPr>
            <p:cNvPr id="33858" name="Freeform 66">
              <a:extLst>
                <a:ext uri="{FF2B5EF4-FFF2-40B4-BE49-F238E27FC236}">
                  <a16:creationId xmlns:a16="http://schemas.microsoft.com/office/drawing/2014/main" id="{335BF9F9-0F2A-45E6-9DA7-E367151F4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" y="2835"/>
              <a:ext cx="893" cy="406"/>
            </a:xfrm>
            <a:custGeom>
              <a:avLst/>
              <a:gdLst>
                <a:gd name="T0" fmla="*/ 0 w 894"/>
                <a:gd name="T1" fmla="*/ 429 h 429"/>
                <a:gd name="T2" fmla="*/ 894 w 894"/>
                <a:gd name="T3" fmla="*/ 429 h 429"/>
                <a:gd name="T4" fmla="*/ 502 w 894"/>
                <a:gd name="T5" fmla="*/ 0 h 429"/>
                <a:gd name="T6" fmla="*/ 23 w 894"/>
                <a:gd name="T7" fmla="*/ 13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94" h="429">
                  <a:moveTo>
                    <a:pt x="0" y="429"/>
                  </a:moveTo>
                  <a:lnTo>
                    <a:pt x="894" y="429"/>
                  </a:lnTo>
                  <a:lnTo>
                    <a:pt x="502" y="0"/>
                  </a:lnTo>
                  <a:lnTo>
                    <a:pt x="23" y="13"/>
                  </a:lnTo>
                </a:path>
              </a:pathLst>
            </a:custGeom>
            <a:solidFill>
              <a:schemeClr val="folHlink">
                <a:alpha val="50000"/>
              </a:schemeClr>
            </a:solidFill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59" name="Line 67">
              <a:extLst>
                <a:ext uri="{FF2B5EF4-FFF2-40B4-BE49-F238E27FC236}">
                  <a16:creationId xmlns:a16="http://schemas.microsoft.com/office/drawing/2014/main" id="{242A4AC6-66B8-4824-8DFC-5838FD580B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2219"/>
              <a:ext cx="920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60" name="Rectangle 68">
              <a:extLst>
                <a:ext uri="{FF2B5EF4-FFF2-40B4-BE49-F238E27FC236}">
                  <a16:creationId xmlns:a16="http://schemas.microsoft.com/office/drawing/2014/main" id="{ACDBCC29-7F1D-4D7B-89FB-933A04B89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3530"/>
              <a:ext cx="912" cy="358"/>
            </a:xfrm>
            <a:prstGeom prst="rect">
              <a:avLst/>
            </a:prstGeom>
            <a:solidFill>
              <a:schemeClr val="folHlink">
                <a:alpha val="50000"/>
              </a:schemeClr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61" name="Line 69">
              <a:extLst>
                <a:ext uri="{FF2B5EF4-FFF2-40B4-BE49-F238E27FC236}">
                  <a16:creationId xmlns:a16="http://schemas.microsoft.com/office/drawing/2014/main" id="{2AF955AA-16F3-4C9B-903E-C82B5E09E3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2566"/>
              <a:ext cx="920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62" name="Line 70">
              <a:extLst>
                <a:ext uri="{FF2B5EF4-FFF2-40B4-BE49-F238E27FC236}">
                  <a16:creationId xmlns:a16="http://schemas.microsoft.com/office/drawing/2014/main" id="{AED451D7-D2A7-4E0F-B80E-E0507AB42D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2832"/>
              <a:ext cx="48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63" name="Line 71">
              <a:extLst>
                <a:ext uri="{FF2B5EF4-FFF2-40B4-BE49-F238E27FC236}">
                  <a16:creationId xmlns:a16="http://schemas.microsoft.com/office/drawing/2014/main" id="{52B7F456-C47E-4CD2-8B2C-6EDEED91C8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2208"/>
              <a:ext cx="91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64" name="Line 72">
              <a:extLst>
                <a:ext uri="{FF2B5EF4-FFF2-40B4-BE49-F238E27FC236}">
                  <a16:creationId xmlns:a16="http://schemas.microsoft.com/office/drawing/2014/main" id="{B34E6E33-159D-4310-A3BC-6420EAB375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2544"/>
              <a:ext cx="91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65" name="Line 73">
              <a:extLst>
                <a:ext uri="{FF2B5EF4-FFF2-40B4-BE49-F238E27FC236}">
                  <a16:creationId xmlns:a16="http://schemas.microsoft.com/office/drawing/2014/main" id="{BBBA845A-4B2A-4E31-B68D-047FB5E6F7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3696"/>
              <a:ext cx="91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866" name="Line 74">
            <a:extLst>
              <a:ext uri="{FF2B5EF4-FFF2-40B4-BE49-F238E27FC236}">
                <a16:creationId xmlns:a16="http://schemas.microsoft.com/office/drawing/2014/main" id="{C05EF7E7-C1C3-4109-BAA1-C8654DA508A8}"/>
              </a:ext>
            </a:extLst>
          </p:cNvPr>
          <p:cNvSpPr>
            <a:spLocks noChangeShapeType="1"/>
          </p:cNvSpPr>
          <p:nvPr/>
        </p:nvSpPr>
        <p:spPr bwMode="auto">
          <a:xfrm rot="8100000">
            <a:off x="2743200" y="3563694"/>
            <a:ext cx="0" cy="900113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867" name="Line 75">
            <a:extLst>
              <a:ext uri="{FF2B5EF4-FFF2-40B4-BE49-F238E27FC236}">
                <a16:creationId xmlns:a16="http://schemas.microsoft.com/office/drawing/2014/main" id="{A22DD20A-32FE-4FDF-8311-BAD5B9FAFE4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2268294"/>
            <a:ext cx="0" cy="37338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868" name="Group 76">
            <a:extLst>
              <a:ext uri="{FF2B5EF4-FFF2-40B4-BE49-F238E27FC236}">
                <a16:creationId xmlns:a16="http://schemas.microsoft.com/office/drawing/2014/main" id="{1B1D74C1-937D-4BA6-95BA-906A2FB54C40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2725494"/>
            <a:ext cx="1600200" cy="2667000"/>
            <a:chOff x="1968" y="2208"/>
            <a:chExt cx="1008" cy="1680"/>
          </a:xfrm>
        </p:grpSpPr>
        <p:grpSp>
          <p:nvGrpSpPr>
            <p:cNvPr id="33869" name="Group 77">
              <a:extLst>
                <a:ext uri="{FF2B5EF4-FFF2-40B4-BE49-F238E27FC236}">
                  <a16:creationId xmlns:a16="http://schemas.microsoft.com/office/drawing/2014/main" id="{2E5E7232-130B-4771-9DEB-15794B1477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08" y="2219"/>
              <a:ext cx="920" cy="347"/>
              <a:chOff x="2008" y="2219"/>
              <a:chExt cx="920" cy="347"/>
            </a:xfrm>
          </p:grpSpPr>
          <p:sp>
            <p:nvSpPr>
              <p:cNvPr id="33870" name="Line 78">
                <a:extLst>
                  <a:ext uri="{FF2B5EF4-FFF2-40B4-BE49-F238E27FC236}">
                    <a16:creationId xmlns:a16="http://schemas.microsoft.com/office/drawing/2014/main" id="{44145833-8185-48DB-A2F2-CA545BF463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8" y="2219"/>
                <a:ext cx="920" cy="0"/>
              </a:xfrm>
              <a:prstGeom prst="line">
                <a:avLst/>
              </a:prstGeom>
              <a:noFill/>
              <a:ln w="381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871" name="Line 79">
                <a:extLst>
                  <a:ext uri="{FF2B5EF4-FFF2-40B4-BE49-F238E27FC236}">
                    <a16:creationId xmlns:a16="http://schemas.microsoft.com/office/drawing/2014/main" id="{0FCB812A-077B-40B2-8245-D8E4AC7965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8" y="2566"/>
                <a:ext cx="920" cy="0"/>
              </a:xfrm>
              <a:prstGeom prst="line">
                <a:avLst/>
              </a:prstGeom>
              <a:noFill/>
              <a:ln w="381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3872" name="Line 80">
              <a:extLst>
                <a:ext uri="{FF2B5EF4-FFF2-40B4-BE49-F238E27FC236}">
                  <a16:creationId xmlns:a16="http://schemas.microsoft.com/office/drawing/2014/main" id="{536C4F16-A79E-4541-BE3D-77F5DF596B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3696"/>
              <a:ext cx="816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73" name="Line 81">
              <a:extLst>
                <a:ext uri="{FF2B5EF4-FFF2-40B4-BE49-F238E27FC236}">
                  <a16:creationId xmlns:a16="http://schemas.microsoft.com/office/drawing/2014/main" id="{F248108F-7BA1-4830-8501-29DE7B7042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208"/>
              <a:ext cx="91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74" name="Line 82">
              <a:extLst>
                <a:ext uri="{FF2B5EF4-FFF2-40B4-BE49-F238E27FC236}">
                  <a16:creationId xmlns:a16="http://schemas.microsoft.com/office/drawing/2014/main" id="{B31FE22C-7025-465C-8A87-ADBDA2192E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544"/>
              <a:ext cx="91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75" name="Line 83">
              <a:extLst>
                <a:ext uri="{FF2B5EF4-FFF2-40B4-BE49-F238E27FC236}">
                  <a16:creationId xmlns:a16="http://schemas.microsoft.com/office/drawing/2014/main" id="{75AFAB41-B5F5-4C77-9497-A7F205EC36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3216"/>
              <a:ext cx="986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76" name="Freeform 84">
              <a:extLst>
                <a:ext uri="{FF2B5EF4-FFF2-40B4-BE49-F238E27FC236}">
                  <a16:creationId xmlns:a16="http://schemas.microsoft.com/office/drawing/2014/main" id="{AB2A80E6-74DF-4BC4-B9C2-487D1FE91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0" y="3530"/>
              <a:ext cx="931" cy="358"/>
            </a:xfrm>
            <a:custGeom>
              <a:avLst/>
              <a:gdLst>
                <a:gd name="T0" fmla="*/ 0 w 931"/>
                <a:gd name="T1" fmla="*/ 0 h 358"/>
                <a:gd name="T2" fmla="*/ 931 w 931"/>
                <a:gd name="T3" fmla="*/ 0 h 358"/>
                <a:gd name="T4" fmla="*/ 774 w 931"/>
                <a:gd name="T5" fmla="*/ 166 h 358"/>
                <a:gd name="T6" fmla="*/ 931 w 931"/>
                <a:gd name="T7" fmla="*/ 355 h 358"/>
                <a:gd name="T8" fmla="*/ 6 w 931"/>
                <a:gd name="T9" fmla="*/ 358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1" h="358">
                  <a:moveTo>
                    <a:pt x="0" y="0"/>
                  </a:moveTo>
                  <a:lnTo>
                    <a:pt x="931" y="0"/>
                  </a:lnTo>
                  <a:lnTo>
                    <a:pt x="774" y="166"/>
                  </a:lnTo>
                  <a:lnTo>
                    <a:pt x="931" y="355"/>
                  </a:lnTo>
                  <a:lnTo>
                    <a:pt x="6" y="358"/>
                  </a:lnTo>
                </a:path>
              </a:pathLst>
            </a:custGeom>
            <a:solidFill>
              <a:schemeClr val="folHlink">
                <a:alpha val="50000"/>
              </a:schemeClr>
            </a:solidFill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77" name="Line 85">
              <a:extLst>
                <a:ext uri="{FF2B5EF4-FFF2-40B4-BE49-F238E27FC236}">
                  <a16:creationId xmlns:a16="http://schemas.microsoft.com/office/drawing/2014/main" id="{C7B72C3E-1E21-4636-AE94-9EC31D9E9B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4" y="3552"/>
              <a:ext cx="144" cy="144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78" name="Line 86">
              <a:extLst>
                <a:ext uri="{FF2B5EF4-FFF2-40B4-BE49-F238E27FC236}">
                  <a16:creationId xmlns:a16="http://schemas.microsoft.com/office/drawing/2014/main" id="{415A1D47-3BF2-4601-9F14-19117511E0C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2784" y="3696"/>
              <a:ext cx="192" cy="192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879" name="Line 87">
            <a:extLst>
              <a:ext uri="{FF2B5EF4-FFF2-40B4-BE49-F238E27FC236}">
                <a16:creationId xmlns:a16="http://schemas.microsoft.com/office/drawing/2014/main" id="{3C50E36A-8A28-47AB-B7E6-DFE4818448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268294"/>
            <a:ext cx="0" cy="37338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880" name="Group 88">
            <a:extLst>
              <a:ext uri="{FF2B5EF4-FFF2-40B4-BE49-F238E27FC236}">
                <a16:creationId xmlns:a16="http://schemas.microsoft.com/office/drawing/2014/main" id="{CF8F1CCD-63BA-4D31-982C-9FDE6FF83752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2725494"/>
            <a:ext cx="838200" cy="2667000"/>
            <a:chOff x="2928" y="2208"/>
            <a:chExt cx="528" cy="1680"/>
          </a:xfrm>
        </p:grpSpPr>
        <p:sp>
          <p:nvSpPr>
            <p:cNvPr id="33881" name="Line 89">
              <a:extLst>
                <a:ext uri="{FF2B5EF4-FFF2-40B4-BE49-F238E27FC236}">
                  <a16:creationId xmlns:a16="http://schemas.microsoft.com/office/drawing/2014/main" id="{5499F3D4-481B-4676-95AF-2F724FA636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3216"/>
              <a:ext cx="528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82" name="Line 90">
              <a:extLst>
                <a:ext uri="{FF2B5EF4-FFF2-40B4-BE49-F238E27FC236}">
                  <a16:creationId xmlns:a16="http://schemas.microsoft.com/office/drawing/2014/main" id="{68DF336E-600E-465E-8ED2-4892937FA3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3552"/>
              <a:ext cx="528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83" name="Line 91">
              <a:extLst>
                <a:ext uri="{FF2B5EF4-FFF2-40B4-BE49-F238E27FC236}">
                  <a16:creationId xmlns:a16="http://schemas.microsoft.com/office/drawing/2014/main" id="{599FE15C-4A42-4C0E-A2D2-9D04D739A7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208"/>
              <a:ext cx="528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84" name="Line 92">
              <a:extLst>
                <a:ext uri="{FF2B5EF4-FFF2-40B4-BE49-F238E27FC236}">
                  <a16:creationId xmlns:a16="http://schemas.microsoft.com/office/drawing/2014/main" id="{39B89791-ED3A-41FC-A3E0-A2B5C52713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544"/>
              <a:ext cx="528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85" name="Line 93">
              <a:extLst>
                <a:ext uri="{FF2B5EF4-FFF2-40B4-BE49-F238E27FC236}">
                  <a16:creationId xmlns:a16="http://schemas.microsoft.com/office/drawing/2014/main" id="{75AD8A0F-EEBA-455F-8E59-FCA6BEAFEB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3888"/>
              <a:ext cx="528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886" name="Line 94">
            <a:extLst>
              <a:ext uri="{FF2B5EF4-FFF2-40B4-BE49-F238E27FC236}">
                <a16:creationId xmlns:a16="http://schemas.microsoft.com/office/drawing/2014/main" id="{B2B83D5E-D9C2-4A11-AF23-1698A6346D2D}"/>
              </a:ext>
            </a:extLst>
          </p:cNvPr>
          <p:cNvSpPr>
            <a:spLocks noChangeShapeType="1"/>
          </p:cNvSpPr>
          <p:nvPr/>
        </p:nvSpPr>
        <p:spPr bwMode="auto">
          <a:xfrm rot="2700000">
            <a:off x="5722144" y="3570838"/>
            <a:ext cx="0" cy="900112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887" name="Group 95">
            <a:extLst>
              <a:ext uri="{FF2B5EF4-FFF2-40B4-BE49-F238E27FC236}">
                <a16:creationId xmlns:a16="http://schemas.microsoft.com/office/drawing/2014/main" id="{5E0AE1C2-245C-4053-8DC2-F7DB9BDAC86A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2725494"/>
            <a:ext cx="698500" cy="2700338"/>
            <a:chOff x="3408" y="2208"/>
            <a:chExt cx="440" cy="1701"/>
          </a:xfrm>
        </p:grpSpPr>
        <p:sp>
          <p:nvSpPr>
            <p:cNvPr id="33888" name="Line 96">
              <a:extLst>
                <a:ext uri="{FF2B5EF4-FFF2-40B4-BE49-F238E27FC236}">
                  <a16:creationId xmlns:a16="http://schemas.microsoft.com/office/drawing/2014/main" id="{1F46AE6B-3DE3-4EF5-AF06-896EBE143A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208"/>
              <a:ext cx="384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89" name="Line 97">
              <a:extLst>
                <a:ext uri="{FF2B5EF4-FFF2-40B4-BE49-F238E27FC236}">
                  <a16:creationId xmlns:a16="http://schemas.microsoft.com/office/drawing/2014/main" id="{C6BF913B-6DF7-4258-922C-F5AB1D1E9D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8" y="3696"/>
              <a:ext cx="192" cy="192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90" name="Line 98">
              <a:extLst>
                <a:ext uri="{FF2B5EF4-FFF2-40B4-BE49-F238E27FC236}">
                  <a16:creationId xmlns:a16="http://schemas.microsoft.com/office/drawing/2014/main" id="{AF0FACBE-332E-4840-93C1-897B2F23D0C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696" y="3552"/>
              <a:ext cx="144" cy="144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91" name="Freeform 99">
              <a:extLst>
                <a:ext uri="{FF2B5EF4-FFF2-40B4-BE49-F238E27FC236}">
                  <a16:creationId xmlns:a16="http://schemas.microsoft.com/office/drawing/2014/main" id="{DFB7924D-591F-4C18-9B66-9619DA5671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3" y="2806"/>
              <a:ext cx="417" cy="431"/>
            </a:xfrm>
            <a:custGeom>
              <a:avLst/>
              <a:gdLst>
                <a:gd name="T0" fmla="*/ 0 w 417"/>
                <a:gd name="T1" fmla="*/ 442 h 442"/>
                <a:gd name="T2" fmla="*/ 417 w 417"/>
                <a:gd name="T3" fmla="*/ 442 h 442"/>
                <a:gd name="T4" fmla="*/ 417 w 417"/>
                <a:gd name="T5" fmla="*/ 0 h 442"/>
                <a:gd name="T6" fmla="*/ 0 w 417"/>
                <a:gd name="T7" fmla="*/ 442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7" h="442">
                  <a:moveTo>
                    <a:pt x="0" y="442"/>
                  </a:moveTo>
                  <a:lnTo>
                    <a:pt x="417" y="442"/>
                  </a:lnTo>
                  <a:lnTo>
                    <a:pt x="417" y="0"/>
                  </a:lnTo>
                  <a:lnTo>
                    <a:pt x="0" y="442"/>
                  </a:lnTo>
                  <a:close/>
                </a:path>
              </a:pathLst>
            </a:custGeom>
            <a:solidFill>
              <a:schemeClr val="folHlink">
                <a:alpha val="50000"/>
              </a:schemeClr>
            </a:solidFill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92" name="Line 100">
              <a:extLst>
                <a:ext uri="{FF2B5EF4-FFF2-40B4-BE49-F238E27FC236}">
                  <a16:creationId xmlns:a16="http://schemas.microsoft.com/office/drawing/2014/main" id="{16B928BC-07C0-4290-A233-172EB5677D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544"/>
              <a:ext cx="384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93" name="Line 101">
              <a:extLst>
                <a:ext uri="{FF2B5EF4-FFF2-40B4-BE49-F238E27FC236}">
                  <a16:creationId xmlns:a16="http://schemas.microsoft.com/office/drawing/2014/main" id="{0D58B00C-0734-4793-8D78-897215B261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3552"/>
              <a:ext cx="24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94" name="Line 102">
              <a:extLst>
                <a:ext uri="{FF2B5EF4-FFF2-40B4-BE49-F238E27FC236}">
                  <a16:creationId xmlns:a16="http://schemas.microsoft.com/office/drawing/2014/main" id="{BFD140A5-B974-47A7-A9BA-99A012C3BC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3888"/>
              <a:ext cx="24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95" name="Freeform 103">
              <a:extLst>
                <a:ext uri="{FF2B5EF4-FFF2-40B4-BE49-F238E27FC236}">
                  <a16:creationId xmlns:a16="http://schemas.microsoft.com/office/drawing/2014/main" id="{F33685B1-5FBA-49BF-9FE3-C35AA44CB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1" y="3530"/>
              <a:ext cx="257" cy="379"/>
            </a:xfrm>
            <a:custGeom>
              <a:avLst/>
              <a:gdLst>
                <a:gd name="T0" fmla="*/ 249 w 257"/>
                <a:gd name="T1" fmla="*/ 166 h 379"/>
                <a:gd name="T2" fmla="*/ 0 w 257"/>
                <a:gd name="T3" fmla="*/ 0 h 379"/>
                <a:gd name="T4" fmla="*/ 245 w 257"/>
                <a:gd name="T5" fmla="*/ 0 h 379"/>
                <a:gd name="T6" fmla="*/ 257 w 257"/>
                <a:gd name="T7" fmla="*/ 379 h 379"/>
                <a:gd name="T8" fmla="*/ 61 w 257"/>
                <a:gd name="T9" fmla="*/ 379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379">
                  <a:moveTo>
                    <a:pt x="249" y="166"/>
                  </a:moveTo>
                  <a:lnTo>
                    <a:pt x="0" y="0"/>
                  </a:lnTo>
                  <a:lnTo>
                    <a:pt x="245" y="0"/>
                  </a:lnTo>
                  <a:lnTo>
                    <a:pt x="257" y="379"/>
                  </a:lnTo>
                  <a:lnTo>
                    <a:pt x="61" y="379"/>
                  </a:lnTo>
                </a:path>
              </a:pathLst>
            </a:custGeom>
            <a:solidFill>
              <a:schemeClr val="folHlink">
                <a:alpha val="50000"/>
              </a:schemeClr>
            </a:solidFill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896" name="Line 104">
            <a:extLst>
              <a:ext uri="{FF2B5EF4-FFF2-40B4-BE49-F238E27FC236}">
                <a16:creationId xmlns:a16="http://schemas.microsoft.com/office/drawing/2014/main" id="{7189922F-AD0A-456D-94BC-635D3DB5C4A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2268294"/>
            <a:ext cx="0" cy="37338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897" name="Group 105">
            <a:extLst>
              <a:ext uri="{FF2B5EF4-FFF2-40B4-BE49-F238E27FC236}">
                <a16:creationId xmlns:a16="http://schemas.microsoft.com/office/drawing/2014/main" id="{2BE36E8F-2312-438D-B41B-343D25D040FE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2708032"/>
            <a:ext cx="1600200" cy="2724150"/>
            <a:chOff x="3840" y="2197"/>
            <a:chExt cx="1008" cy="1716"/>
          </a:xfrm>
        </p:grpSpPr>
        <p:grpSp>
          <p:nvGrpSpPr>
            <p:cNvPr id="33898" name="Group 106">
              <a:extLst>
                <a:ext uri="{FF2B5EF4-FFF2-40B4-BE49-F238E27FC236}">
                  <a16:creationId xmlns:a16="http://schemas.microsoft.com/office/drawing/2014/main" id="{E8556E73-80B1-42EE-A1E2-69326C8991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2208"/>
              <a:ext cx="912" cy="1488"/>
              <a:chOff x="3840" y="2208"/>
              <a:chExt cx="912" cy="1488"/>
            </a:xfrm>
          </p:grpSpPr>
          <p:sp>
            <p:nvSpPr>
              <p:cNvPr id="33899" name="Line 107">
                <a:extLst>
                  <a:ext uri="{FF2B5EF4-FFF2-40B4-BE49-F238E27FC236}">
                    <a16:creationId xmlns:a16="http://schemas.microsoft.com/office/drawing/2014/main" id="{AA134AFB-0EE1-40E2-937E-20FC0071D5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832"/>
                <a:ext cx="912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900" name="Line 108">
                <a:extLst>
                  <a:ext uri="{FF2B5EF4-FFF2-40B4-BE49-F238E27FC236}">
                    <a16:creationId xmlns:a16="http://schemas.microsoft.com/office/drawing/2014/main" id="{60DC2D6B-9FE5-499D-AF80-D033156F48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696"/>
                <a:ext cx="912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901" name="Line 109">
                <a:extLst>
                  <a:ext uri="{FF2B5EF4-FFF2-40B4-BE49-F238E27FC236}">
                    <a16:creationId xmlns:a16="http://schemas.microsoft.com/office/drawing/2014/main" id="{F6B0527C-1099-4C75-88F1-BD667D0DFC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208"/>
                <a:ext cx="912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902" name="Line 110">
                <a:extLst>
                  <a:ext uri="{FF2B5EF4-FFF2-40B4-BE49-F238E27FC236}">
                    <a16:creationId xmlns:a16="http://schemas.microsoft.com/office/drawing/2014/main" id="{E1A18D1A-EC63-4FAB-8920-DB6BB42D27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544"/>
                <a:ext cx="912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3903" name="Line 111">
              <a:extLst>
                <a:ext uri="{FF2B5EF4-FFF2-40B4-BE49-F238E27FC236}">
                  <a16:creationId xmlns:a16="http://schemas.microsoft.com/office/drawing/2014/main" id="{89579A52-F2C0-42B1-A9E6-6A6000D09BE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4717" y="2316"/>
              <a:ext cx="0" cy="263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904" name="Line 112">
              <a:extLst>
                <a:ext uri="{FF2B5EF4-FFF2-40B4-BE49-F238E27FC236}">
                  <a16:creationId xmlns:a16="http://schemas.microsoft.com/office/drawing/2014/main" id="{FD94258F-A8DA-4696-A3F7-F6EFE1B8FA0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8100000">
              <a:off x="4728" y="2197"/>
              <a:ext cx="0" cy="192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905" name="Rectangle 113">
              <a:extLst>
                <a:ext uri="{FF2B5EF4-FFF2-40B4-BE49-F238E27FC236}">
                  <a16:creationId xmlns:a16="http://schemas.microsoft.com/office/drawing/2014/main" id="{A59FB3DB-0C1C-4B28-B841-29501719F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832"/>
              <a:ext cx="912" cy="406"/>
            </a:xfrm>
            <a:prstGeom prst="rect">
              <a:avLst/>
            </a:prstGeom>
            <a:solidFill>
              <a:schemeClr val="folHlink">
                <a:alpha val="50000"/>
              </a:schemeClr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906" name="Rectangle 114">
              <a:extLst>
                <a:ext uri="{FF2B5EF4-FFF2-40B4-BE49-F238E27FC236}">
                  <a16:creationId xmlns:a16="http://schemas.microsoft.com/office/drawing/2014/main" id="{0F217846-B2B3-4E2B-9BCF-B61EE348F8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3530"/>
              <a:ext cx="912" cy="383"/>
            </a:xfrm>
            <a:prstGeom prst="rect">
              <a:avLst/>
            </a:prstGeom>
            <a:solidFill>
              <a:schemeClr val="folHlink">
                <a:alpha val="50000"/>
              </a:schemeClr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907" name="Group 115">
            <a:extLst>
              <a:ext uri="{FF2B5EF4-FFF2-40B4-BE49-F238E27FC236}">
                <a16:creationId xmlns:a16="http://schemas.microsoft.com/office/drawing/2014/main" id="{79B57057-E95C-4EA4-9522-F9BBBD14CFF7}"/>
              </a:ext>
            </a:extLst>
          </p:cNvPr>
          <p:cNvGrpSpPr>
            <a:grpSpLocks/>
          </p:cNvGrpSpPr>
          <p:nvPr/>
        </p:nvGrpSpPr>
        <p:grpSpPr bwMode="auto">
          <a:xfrm>
            <a:off x="7162800" y="2725494"/>
            <a:ext cx="1816100" cy="2706688"/>
            <a:chOff x="4571" y="2208"/>
            <a:chExt cx="1144" cy="1705"/>
          </a:xfrm>
        </p:grpSpPr>
        <p:grpSp>
          <p:nvGrpSpPr>
            <p:cNvPr id="33908" name="Group 116">
              <a:extLst>
                <a:ext uri="{FF2B5EF4-FFF2-40B4-BE49-F238E27FC236}">
                  <a16:creationId xmlns:a16="http://schemas.microsoft.com/office/drawing/2014/main" id="{0B8BE599-3FDA-4C1A-8AC3-80FB9F4EA1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2" y="2208"/>
              <a:ext cx="957" cy="1488"/>
              <a:chOff x="4752" y="2208"/>
              <a:chExt cx="912" cy="1488"/>
            </a:xfrm>
          </p:grpSpPr>
          <p:sp>
            <p:nvSpPr>
              <p:cNvPr id="33909" name="Line 117">
                <a:extLst>
                  <a:ext uri="{FF2B5EF4-FFF2-40B4-BE49-F238E27FC236}">
                    <a16:creationId xmlns:a16="http://schemas.microsoft.com/office/drawing/2014/main" id="{F937DD81-970C-4B76-B4F6-BABE603BE2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3696"/>
                <a:ext cx="912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910" name="Line 118">
                <a:extLst>
                  <a:ext uri="{FF2B5EF4-FFF2-40B4-BE49-F238E27FC236}">
                    <a16:creationId xmlns:a16="http://schemas.microsoft.com/office/drawing/2014/main" id="{8A6A5645-35BB-4952-9E7C-38E365CEA6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2832"/>
                <a:ext cx="912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911" name="Line 119">
                <a:extLst>
                  <a:ext uri="{FF2B5EF4-FFF2-40B4-BE49-F238E27FC236}">
                    <a16:creationId xmlns:a16="http://schemas.microsoft.com/office/drawing/2014/main" id="{3DB990A8-8B64-4A38-8DF2-18B2E847DF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2208"/>
                <a:ext cx="912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912" name="Line 120">
                <a:extLst>
                  <a:ext uri="{FF2B5EF4-FFF2-40B4-BE49-F238E27FC236}">
                    <a16:creationId xmlns:a16="http://schemas.microsoft.com/office/drawing/2014/main" id="{957BAEDD-E74A-4EB2-B30D-4D917E0F48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2544"/>
                <a:ext cx="912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3913" name="Freeform 121">
              <a:extLst>
                <a:ext uri="{FF2B5EF4-FFF2-40B4-BE49-F238E27FC236}">
                  <a16:creationId xmlns:a16="http://schemas.microsoft.com/office/drawing/2014/main" id="{2F3426BC-1E5B-4FCB-AD1E-350E622E8D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1" y="2208"/>
              <a:ext cx="1140" cy="353"/>
            </a:xfrm>
            <a:custGeom>
              <a:avLst/>
              <a:gdLst>
                <a:gd name="T0" fmla="*/ 85 w 1140"/>
                <a:gd name="T1" fmla="*/ 0 h 353"/>
                <a:gd name="T2" fmla="*/ 1140 w 1140"/>
                <a:gd name="T3" fmla="*/ 10 h 353"/>
                <a:gd name="T4" fmla="*/ 1140 w 1140"/>
                <a:gd name="T5" fmla="*/ 353 h 353"/>
                <a:gd name="T6" fmla="*/ 0 w 1140"/>
                <a:gd name="T7" fmla="*/ 353 h 353"/>
                <a:gd name="T8" fmla="*/ 229 w 1140"/>
                <a:gd name="T9" fmla="*/ 144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0" h="353">
                  <a:moveTo>
                    <a:pt x="85" y="0"/>
                  </a:moveTo>
                  <a:lnTo>
                    <a:pt x="1140" y="10"/>
                  </a:lnTo>
                  <a:lnTo>
                    <a:pt x="1140" y="353"/>
                  </a:lnTo>
                  <a:lnTo>
                    <a:pt x="0" y="353"/>
                  </a:lnTo>
                  <a:lnTo>
                    <a:pt x="229" y="144"/>
                  </a:lnTo>
                </a:path>
              </a:pathLst>
            </a:custGeom>
            <a:solidFill>
              <a:schemeClr val="folHlink">
                <a:alpha val="50000"/>
              </a:schemeClr>
            </a:solidFill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914" name="Rectangle 122">
              <a:extLst>
                <a:ext uri="{FF2B5EF4-FFF2-40B4-BE49-F238E27FC236}">
                  <a16:creationId xmlns:a16="http://schemas.microsoft.com/office/drawing/2014/main" id="{4DB6993A-99CE-41A2-9554-75127EE0E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2829"/>
              <a:ext cx="963" cy="410"/>
            </a:xfrm>
            <a:prstGeom prst="rect">
              <a:avLst/>
            </a:prstGeom>
            <a:solidFill>
              <a:schemeClr val="folHlink">
                <a:alpha val="50000"/>
              </a:schemeClr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915" name="Rectangle 123">
              <a:extLst>
                <a:ext uri="{FF2B5EF4-FFF2-40B4-BE49-F238E27FC236}">
                  <a16:creationId xmlns:a16="http://schemas.microsoft.com/office/drawing/2014/main" id="{F1C4243C-C9BB-4FA9-8B35-2DC8DCDAB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3529"/>
              <a:ext cx="963" cy="384"/>
            </a:xfrm>
            <a:prstGeom prst="rect">
              <a:avLst/>
            </a:prstGeom>
            <a:solidFill>
              <a:schemeClr val="folHlink">
                <a:alpha val="50000"/>
              </a:schemeClr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26" name="矩形 125">
            <a:extLst>
              <a:ext uri="{FF2B5EF4-FFF2-40B4-BE49-F238E27FC236}">
                <a16:creationId xmlns:a16="http://schemas.microsoft.com/office/drawing/2014/main" id="{839939E4-6E3F-4167-81FB-DB4CD74BA2D2}"/>
              </a:ext>
            </a:extLst>
          </p:cNvPr>
          <p:cNvSpPr/>
          <p:nvPr/>
        </p:nvSpPr>
        <p:spPr>
          <a:xfrm>
            <a:off x="914400" y="5774153"/>
            <a:ext cx="8435280" cy="1163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fontAlgn="auto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6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同步方式</a:t>
            </a:r>
            <a:r>
              <a:rPr lang="zh-CN" altLang="en-US" sz="2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：用公共时钟对传输过程进行控制</a:t>
            </a:r>
            <a:endParaRPr lang="en-US" altLang="zh-CN" sz="2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12800" lvl="1" indent="-355600" algn="just" fontAlgn="auto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ysClr val="windowText" lastClr="0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适合快速设备、传输距离短、取决于最慢设备性能</a:t>
            </a:r>
          </a:p>
        </p:txBody>
      </p:sp>
    </p:spTree>
    <p:extLst>
      <p:ext uri="{BB962C8B-B14F-4D97-AF65-F5344CB8AC3E}">
        <p14:creationId xmlns:p14="http://schemas.microsoft.com/office/powerpoint/2010/main" val="1531307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3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33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3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33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33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33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500"/>
                                        <p:tgtEl>
                                          <p:spTgt spid="33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1" dur="500"/>
                                        <p:tgtEl>
                                          <p:spTgt spid="33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6" dur="500"/>
                                        <p:tgtEl>
                                          <p:spTgt spid="33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1" dur="500"/>
                                        <p:tgtEl>
                                          <p:spTgt spid="33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6" dur="500"/>
                                        <p:tgtEl>
                                          <p:spTgt spid="33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0" dur="500"/>
                                        <p:tgtEl>
                                          <p:spTgt spid="33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5" dur="500"/>
                                        <p:tgtEl>
                                          <p:spTgt spid="33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0" dur="500"/>
                                        <p:tgtEl>
                                          <p:spTgt spid="33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5" dur="500"/>
                                        <p:tgtEl>
                                          <p:spTgt spid="3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Group 2">
            <a:extLst>
              <a:ext uri="{FF2B5EF4-FFF2-40B4-BE49-F238E27FC236}">
                <a16:creationId xmlns:a16="http://schemas.microsoft.com/office/drawing/2014/main" id="{F75B91B5-0264-4030-B9AE-DACA2EAE079B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4419600"/>
            <a:ext cx="8458200" cy="835025"/>
            <a:chOff x="144" y="2784"/>
            <a:chExt cx="5328" cy="526"/>
          </a:xfrm>
        </p:grpSpPr>
        <p:grpSp>
          <p:nvGrpSpPr>
            <p:cNvPr id="34819" name="Group 3">
              <a:extLst>
                <a:ext uri="{FF2B5EF4-FFF2-40B4-BE49-F238E27FC236}">
                  <a16:creationId xmlns:a16="http://schemas.microsoft.com/office/drawing/2014/main" id="{2CAD3730-0C4C-4378-8961-2F5A4AFCDE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0" y="2832"/>
              <a:ext cx="2658" cy="478"/>
              <a:chOff x="1230" y="2832"/>
              <a:chExt cx="2658" cy="478"/>
            </a:xfrm>
          </p:grpSpPr>
          <p:sp>
            <p:nvSpPr>
              <p:cNvPr id="34820" name="Line 4">
                <a:extLst>
                  <a:ext uri="{FF2B5EF4-FFF2-40B4-BE49-F238E27FC236}">
                    <a16:creationId xmlns:a16="http://schemas.microsoft.com/office/drawing/2014/main" id="{8D4D0481-FF5D-4E4C-A731-86892BFBB7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9" y="3264"/>
                <a:ext cx="219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821" name="Line 5">
                <a:extLst>
                  <a:ext uri="{FF2B5EF4-FFF2-40B4-BE49-F238E27FC236}">
                    <a16:creationId xmlns:a16="http://schemas.microsoft.com/office/drawing/2014/main" id="{1F2558B0-3567-46FD-A8A9-00324FBE97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9" y="2880"/>
                <a:ext cx="219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822" name="Line 6">
                <a:extLst>
                  <a:ext uri="{FF2B5EF4-FFF2-40B4-BE49-F238E27FC236}">
                    <a16:creationId xmlns:a16="http://schemas.microsoft.com/office/drawing/2014/main" id="{D293348E-FE0B-48EA-B147-E791BA84F8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1366" y="2835"/>
                <a:ext cx="0" cy="2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823" name="Line 7">
                <a:extLst>
                  <a:ext uri="{FF2B5EF4-FFF2-40B4-BE49-F238E27FC236}">
                    <a16:creationId xmlns:a16="http://schemas.microsoft.com/office/drawing/2014/main" id="{A99F8F63-9E74-4DD6-B6F1-023BDBA06C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8100000">
                <a:off x="1365" y="3015"/>
                <a:ext cx="0" cy="29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824" name="Line 8">
                <a:extLst>
                  <a:ext uri="{FF2B5EF4-FFF2-40B4-BE49-F238E27FC236}">
                    <a16:creationId xmlns:a16="http://schemas.microsoft.com/office/drawing/2014/main" id="{A4332215-5AAB-49F9-BBFD-F37014E95D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8100000">
                <a:off x="3739" y="2832"/>
                <a:ext cx="0" cy="29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825" name="Line 9">
                <a:extLst>
                  <a:ext uri="{FF2B5EF4-FFF2-40B4-BE49-F238E27FC236}">
                    <a16:creationId xmlns:a16="http://schemas.microsoft.com/office/drawing/2014/main" id="{C03944BC-EC04-4B02-BC04-021F4FDA5D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3740" y="3019"/>
                <a:ext cx="0" cy="29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4826" name="Rectangle 10">
              <a:extLst>
                <a:ext uri="{FF2B5EF4-FFF2-40B4-BE49-F238E27FC236}">
                  <a16:creationId xmlns:a16="http://schemas.microsoft.com/office/drawing/2014/main" id="{6B608C2E-50C7-4D2D-8821-F2AE8717A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2" y="2878"/>
              <a:ext cx="4740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2"/>
                    <a:srcRect/>
                    <a:tile tx="0" ty="0" sx="100000" sy="100000" flip="none" algn="tl"/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27" name="Line 11">
              <a:extLst>
                <a:ext uri="{FF2B5EF4-FFF2-40B4-BE49-F238E27FC236}">
                  <a16:creationId xmlns:a16="http://schemas.microsoft.com/office/drawing/2014/main" id="{6DCA5390-CB72-48CA-B15A-EF415E6D9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3060"/>
              <a:ext cx="646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28" name="Line 12">
              <a:extLst>
                <a:ext uri="{FF2B5EF4-FFF2-40B4-BE49-F238E27FC236}">
                  <a16:creationId xmlns:a16="http://schemas.microsoft.com/office/drawing/2014/main" id="{8B1AD921-453F-4022-86C4-57F8433E97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4" y="3071"/>
              <a:ext cx="1642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29" name="Text Box 13">
              <a:extLst>
                <a:ext uri="{FF2B5EF4-FFF2-40B4-BE49-F238E27FC236}">
                  <a16:creationId xmlns:a16="http://schemas.microsoft.com/office/drawing/2014/main" id="{D6A3F27E-67D1-419E-B7C6-32CE288E08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784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数据</a:t>
              </a:r>
            </a:p>
          </p:txBody>
        </p:sp>
      </p:grpSp>
      <p:sp>
        <p:nvSpPr>
          <p:cNvPr id="34830" name="Text Box 14">
            <a:extLst>
              <a:ext uri="{FF2B5EF4-FFF2-40B4-BE49-F238E27FC236}">
                <a16:creationId xmlns:a16="http://schemas.microsoft.com/office/drawing/2014/main" id="{CB06D8BB-29AA-4B2E-B63E-0380D23F82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25450"/>
            <a:ext cx="469872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(2) 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同步通信</a:t>
            </a:r>
            <a:r>
              <a:rPr kumimoji="1"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-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数据输出</a:t>
            </a:r>
          </a:p>
        </p:txBody>
      </p:sp>
      <p:grpSp>
        <p:nvGrpSpPr>
          <p:cNvPr id="34831" name="Group 15">
            <a:extLst>
              <a:ext uri="{FF2B5EF4-FFF2-40B4-BE49-F238E27FC236}">
                <a16:creationId xmlns:a16="http://schemas.microsoft.com/office/drawing/2014/main" id="{F48F4451-661E-4981-834D-CD0E7832B2F7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1493838"/>
            <a:ext cx="8763000" cy="1633537"/>
            <a:chOff x="144" y="941"/>
            <a:chExt cx="5520" cy="1029"/>
          </a:xfrm>
        </p:grpSpPr>
        <p:sp>
          <p:nvSpPr>
            <p:cNvPr id="34832" name="Rectangle 16">
              <a:extLst>
                <a:ext uri="{FF2B5EF4-FFF2-40B4-BE49-F238E27FC236}">
                  <a16:creationId xmlns:a16="http://schemas.microsoft.com/office/drawing/2014/main" id="{A59E333A-4790-4D2B-9771-31CA2B29C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5" y="1768"/>
              <a:ext cx="159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100" b="1" i="1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1" lang="en-US" altLang="zh-CN" sz="2100" b="1" i="0" u="none" strike="noStrike" kern="1200" cap="none" spc="0" normalizeH="0" baseline="-25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34833" name="Line 17">
              <a:extLst>
                <a:ext uri="{FF2B5EF4-FFF2-40B4-BE49-F238E27FC236}">
                  <a16:creationId xmlns:a16="http://schemas.microsoft.com/office/drawing/2014/main" id="{1831D8E5-BE1C-4BAE-AEA6-E61A9B6E4F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8" y="1779"/>
              <a:ext cx="1" cy="18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34" name="Line 18">
              <a:extLst>
                <a:ext uri="{FF2B5EF4-FFF2-40B4-BE49-F238E27FC236}">
                  <a16:creationId xmlns:a16="http://schemas.microsoft.com/office/drawing/2014/main" id="{52B6B29A-B04B-44EE-828A-A314232584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0" y="1779"/>
              <a:ext cx="2" cy="18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35" name="Line 19">
              <a:extLst>
                <a:ext uri="{FF2B5EF4-FFF2-40B4-BE49-F238E27FC236}">
                  <a16:creationId xmlns:a16="http://schemas.microsoft.com/office/drawing/2014/main" id="{11C0B5DC-7DCF-4C57-9EB0-0162AAAE61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1" y="1779"/>
              <a:ext cx="1" cy="18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36" name="Rectangle 20">
              <a:extLst>
                <a:ext uri="{FF2B5EF4-FFF2-40B4-BE49-F238E27FC236}">
                  <a16:creationId xmlns:a16="http://schemas.microsoft.com/office/drawing/2014/main" id="{B317F001-4883-458D-A4C2-DD3E64F508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8" y="1008"/>
              <a:ext cx="1365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37" name="Line 21">
              <a:extLst>
                <a:ext uri="{FF2B5EF4-FFF2-40B4-BE49-F238E27FC236}">
                  <a16:creationId xmlns:a16="http://schemas.microsoft.com/office/drawing/2014/main" id="{35D078AF-3903-47C0-B849-28C7D656E9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9" y="1008"/>
              <a:ext cx="1" cy="18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38" name="Rectangle 22">
              <a:extLst>
                <a:ext uri="{FF2B5EF4-FFF2-40B4-BE49-F238E27FC236}">
                  <a16:creationId xmlns:a16="http://schemas.microsoft.com/office/drawing/2014/main" id="{7FA7D6BE-1655-4FFC-B8CB-7515DEB71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0" y="941"/>
              <a:ext cx="1542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总线传输周期</a:t>
              </a:r>
              <a:endPara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39" name="Line 23">
              <a:extLst>
                <a:ext uri="{FF2B5EF4-FFF2-40B4-BE49-F238E27FC236}">
                  <a16:creationId xmlns:a16="http://schemas.microsoft.com/office/drawing/2014/main" id="{93278706-4345-4862-BF65-EFA0982AB7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4" y="1776"/>
              <a:ext cx="2" cy="18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40" name="Freeform 24">
              <a:extLst>
                <a:ext uri="{FF2B5EF4-FFF2-40B4-BE49-F238E27FC236}">
                  <a16:creationId xmlns:a16="http://schemas.microsoft.com/office/drawing/2014/main" id="{190D8901-A4BE-4D8B-B695-1AAC4389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" y="1344"/>
              <a:ext cx="912" cy="384"/>
            </a:xfrm>
            <a:custGeom>
              <a:avLst/>
              <a:gdLst>
                <a:gd name="T0" fmla="*/ 0 w 912"/>
                <a:gd name="T1" fmla="*/ 384 h 384"/>
                <a:gd name="T2" fmla="*/ 0 w 912"/>
                <a:gd name="T3" fmla="*/ 0 h 384"/>
                <a:gd name="T4" fmla="*/ 432 w 912"/>
                <a:gd name="T5" fmla="*/ 0 h 384"/>
                <a:gd name="T6" fmla="*/ 432 w 912"/>
                <a:gd name="T7" fmla="*/ 384 h 384"/>
                <a:gd name="T8" fmla="*/ 912 w 912"/>
                <a:gd name="T9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2" h="384">
                  <a:moveTo>
                    <a:pt x="0" y="384"/>
                  </a:moveTo>
                  <a:lnTo>
                    <a:pt x="0" y="0"/>
                  </a:lnTo>
                  <a:lnTo>
                    <a:pt x="432" y="0"/>
                  </a:lnTo>
                  <a:lnTo>
                    <a:pt x="432" y="384"/>
                  </a:lnTo>
                  <a:lnTo>
                    <a:pt x="912" y="38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41" name="Freeform 25">
              <a:extLst>
                <a:ext uri="{FF2B5EF4-FFF2-40B4-BE49-F238E27FC236}">
                  <a16:creationId xmlns:a16="http://schemas.microsoft.com/office/drawing/2014/main" id="{92F95A96-0237-45BF-9185-D7E024A2DB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1344"/>
              <a:ext cx="912" cy="384"/>
            </a:xfrm>
            <a:custGeom>
              <a:avLst/>
              <a:gdLst>
                <a:gd name="T0" fmla="*/ 0 w 912"/>
                <a:gd name="T1" fmla="*/ 384 h 384"/>
                <a:gd name="T2" fmla="*/ 0 w 912"/>
                <a:gd name="T3" fmla="*/ 0 h 384"/>
                <a:gd name="T4" fmla="*/ 432 w 912"/>
                <a:gd name="T5" fmla="*/ 0 h 384"/>
                <a:gd name="T6" fmla="*/ 432 w 912"/>
                <a:gd name="T7" fmla="*/ 384 h 384"/>
                <a:gd name="T8" fmla="*/ 912 w 912"/>
                <a:gd name="T9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2" h="384">
                  <a:moveTo>
                    <a:pt x="0" y="384"/>
                  </a:moveTo>
                  <a:lnTo>
                    <a:pt x="0" y="0"/>
                  </a:lnTo>
                  <a:lnTo>
                    <a:pt x="432" y="0"/>
                  </a:lnTo>
                  <a:lnTo>
                    <a:pt x="432" y="384"/>
                  </a:lnTo>
                  <a:lnTo>
                    <a:pt x="912" y="38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42" name="Freeform 26">
              <a:extLst>
                <a:ext uri="{FF2B5EF4-FFF2-40B4-BE49-F238E27FC236}">
                  <a16:creationId xmlns:a16="http://schemas.microsoft.com/office/drawing/2014/main" id="{E505CECE-1015-4328-9262-C7D6A2029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0" y="1344"/>
              <a:ext cx="912" cy="384"/>
            </a:xfrm>
            <a:custGeom>
              <a:avLst/>
              <a:gdLst>
                <a:gd name="T0" fmla="*/ 0 w 912"/>
                <a:gd name="T1" fmla="*/ 384 h 384"/>
                <a:gd name="T2" fmla="*/ 0 w 912"/>
                <a:gd name="T3" fmla="*/ 0 h 384"/>
                <a:gd name="T4" fmla="*/ 432 w 912"/>
                <a:gd name="T5" fmla="*/ 0 h 384"/>
                <a:gd name="T6" fmla="*/ 432 w 912"/>
                <a:gd name="T7" fmla="*/ 384 h 384"/>
                <a:gd name="T8" fmla="*/ 912 w 912"/>
                <a:gd name="T9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2" h="384">
                  <a:moveTo>
                    <a:pt x="0" y="384"/>
                  </a:moveTo>
                  <a:lnTo>
                    <a:pt x="0" y="0"/>
                  </a:lnTo>
                  <a:lnTo>
                    <a:pt x="432" y="0"/>
                  </a:lnTo>
                  <a:lnTo>
                    <a:pt x="432" y="384"/>
                  </a:lnTo>
                  <a:lnTo>
                    <a:pt x="912" y="38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34843" name="AutoShape 27">
              <a:extLst>
                <a:ext uri="{FF2B5EF4-FFF2-40B4-BE49-F238E27FC236}">
                  <a16:creationId xmlns:a16="http://schemas.microsoft.com/office/drawing/2014/main" id="{AEABCAAB-1620-4337-AC52-4A33273DB65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24" y="1728"/>
              <a:ext cx="48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44" name="Freeform 28">
              <a:extLst>
                <a:ext uri="{FF2B5EF4-FFF2-40B4-BE49-F238E27FC236}">
                  <a16:creationId xmlns:a16="http://schemas.microsoft.com/office/drawing/2014/main" id="{25BF4BF0-36CE-4400-A9CB-75391426A5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2" y="1344"/>
              <a:ext cx="912" cy="384"/>
            </a:xfrm>
            <a:custGeom>
              <a:avLst/>
              <a:gdLst>
                <a:gd name="T0" fmla="*/ 0 w 912"/>
                <a:gd name="T1" fmla="*/ 384 h 384"/>
                <a:gd name="T2" fmla="*/ 0 w 912"/>
                <a:gd name="T3" fmla="*/ 0 h 384"/>
                <a:gd name="T4" fmla="*/ 432 w 912"/>
                <a:gd name="T5" fmla="*/ 0 h 384"/>
                <a:gd name="T6" fmla="*/ 432 w 912"/>
                <a:gd name="T7" fmla="*/ 384 h 384"/>
                <a:gd name="T8" fmla="*/ 912 w 912"/>
                <a:gd name="T9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2" h="384">
                  <a:moveTo>
                    <a:pt x="0" y="384"/>
                  </a:moveTo>
                  <a:lnTo>
                    <a:pt x="0" y="0"/>
                  </a:lnTo>
                  <a:lnTo>
                    <a:pt x="432" y="0"/>
                  </a:lnTo>
                  <a:lnTo>
                    <a:pt x="432" y="384"/>
                  </a:lnTo>
                  <a:lnTo>
                    <a:pt x="912" y="38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45" name="Freeform 29">
              <a:extLst>
                <a:ext uri="{FF2B5EF4-FFF2-40B4-BE49-F238E27FC236}">
                  <a16:creationId xmlns:a16="http://schemas.microsoft.com/office/drawing/2014/main" id="{1E3634C4-DFC0-47F9-BE82-2FCB6FE722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6" y="1344"/>
              <a:ext cx="912" cy="384"/>
            </a:xfrm>
            <a:custGeom>
              <a:avLst/>
              <a:gdLst>
                <a:gd name="T0" fmla="*/ 0 w 912"/>
                <a:gd name="T1" fmla="*/ 384 h 384"/>
                <a:gd name="T2" fmla="*/ 0 w 912"/>
                <a:gd name="T3" fmla="*/ 0 h 384"/>
                <a:gd name="T4" fmla="*/ 432 w 912"/>
                <a:gd name="T5" fmla="*/ 0 h 384"/>
                <a:gd name="T6" fmla="*/ 432 w 912"/>
                <a:gd name="T7" fmla="*/ 384 h 384"/>
                <a:gd name="T8" fmla="*/ 912 w 912"/>
                <a:gd name="T9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2" h="384">
                  <a:moveTo>
                    <a:pt x="0" y="384"/>
                  </a:moveTo>
                  <a:lnTo>
                    <a:pt x="0" y="0"/>
                  </a:lnTo>
                  <a:lnTo>
                    <a:pt x="432" y="0"/>
                  </a:lnTo>
                  <a:lnTo>
                    <a:pt x="432" y="384"/>
                  </a:lnTo>
                  <a:lnTo>
                    <a:pt x="912" y="38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46" name="Rectangle 30">
              <a:extLst>
                <a:ext uri="{FF2B5EF4-FFF2-40B4-BE49-F238E27FC236}">
                  <a16:creationId xmlns:a16="http://schemas.microsoft.com/office/drawing/2014/main" id="{73D39172-F35D-40ED-9F5B-C0F064559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5" y="1768"/>
              <a:ext cx="159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100" b="1" i="1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1" lang="en-US" altLang="zh-CN" sz="2100" b="1" i="0" u="none" strike="noStrike" kern="1200" cap="none" spc="0" normalizeH="0" baseline="-25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34847" name="Rectangle 31">
              <a:extLst>
                <a:ext uri="{FF2B5EF4-FFF2-40B4-BE49-F238E27FC236}">
                  <a16:creationId xmlns:a16="http://schemas.microsoft.com/office/drawing/2014/main" id="{C403901C-35CF-48CE-96F6-3402AB660E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5" y="1768"/>
              <a:ext cx="159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100" b="1" i="1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1" lang="en-US" altLang="zh-CN" sz="2100" b="1" i="0" u="none" strike="noStrike" kern="1200" cap="none" spc="0" normalizeH="0" baseline="-25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  <p:sp>
          <p:nvSpPr>
            <p:cNvPr id="34848" name="Rectangle 32">
              <a:extLst>
                <a:ext uri="{FF2B5EF4-FFF2-40B4-BE49-F238E27FC236}">
                  <a16:creationId xmlns:a16="http://schemas.microsoft.com/office/drawing/2014/main" id="{176829D9-1272-4EB1-96B0-318CD272A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768"/>
              <a:ext cx="159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100" b="1" i="1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1" lang="en-US" altLang="zh-CN" sz="2100" b="1" i="0" u="none" strike="noStrike" kern="1200" cap="none" spc="0" normalizeH="0" baseline="-25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</a:p>
          </p:txBody>
        </p:sp>
        <p:sp>
          <p:nvSpPr>
            <p:cNvPr id="34849" name="Line 33">
              <a:extLst>
                <a:ext uri="{FF2B5EF4-FFF2-40B4-BE49-F238E27FC236}">
                  <a16:creationId xmlns:a16="http://schemas.microsoft.com/office/drawing/2014/main" id="{4247E4E3-AF8E-475E-8B48-DE5F999051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1104"/>
              <a:ext cx="11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50" name="Line 34">
              <a:extLst>
                <a:ext uri="{FF2B5EF4-FFF2-40B4-BE49-F238E27FC236}">
                  <a16:creationId xmlns:a16="http://schemas.microsoft.com/office/drawing/2014/main" id="{4F55EE55-46C6-4D57-8C51-058638DB4F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3" y="1008"/>
              <a:ext cx="1" cy="18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51" name="Line 35">
              <a:extLst>
                <a:ext uri="{FF2B5EF4-FFF2-40B4-BE49-F238E27FC236}">
                  <a16:creationId xmlns:a16="http://schemas.microsoft.com/office/drawing/2014/main" id="{8E3D74CD-38B1-4863-B540-68D0A30F51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104"/>
              <a:ext cx="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lg" len="lg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52" name="Line 36">
              <a:extLst>
                <a:ext uri="{FF2B5EF4-FFF2-40B4-BE49-F238E27FC236}">
                  <a16:creationId xmlns:a16="http://schemas.microsoft.com/office/drawing/2014/main" id="{34812E05-06EF-4150-B010-44FCA9FD0C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87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53" name="Line 37">
              <a:extLst>
                <a:ext uri="{FF2B5EF4-FFF2-40B4-BE49-F238E27FC236}">
                  <a16:creationId xmlns:a16="http://schemas.microsoft.com/office/drawing/2014/main" id="{8D3E8012-F163-4D66-A871-623882B0C3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781"/>
              <a:ext cx="1" cy="18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54" name="Line 38">
              <a:extLst>
                <a:ext uri="{FF2B5EF4-FFF2-40B4-BE49-F238E27FC236}">
                  <a16:creationId xmlns:a16="http://schemas.microsoft.com/office/drawing/2014/main" id="{7FE997CD-80D3-480B-811D-57EF722EF9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187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55" name="Line 39">
              <a:extLst>
                <a:ext uri="{FF2B5EF4-FFF2-40B4-BE49-F238E27FC236}">
                  <a16:creationId xmlns:a16="http://schemas.microsoft.com/office/drawing/2014/main" id="{9F13E06F-0810-4EC8-B49B-B341192176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187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56" name="Line 40">
              <a:extLst>
                <a:ext uri="{FF2B5EF4-FFF2-40B4-BE49-F238E27FC236}">
                  <a16:creationId xmlns:a16="http://schemas.microsoft.com/office/drawing/2014/main" id="{3B5A6D2A-181B-485E-945A-7B14B74745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87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57" name="Line 41">
              <a:extLst>
                <a:ext uri="{FF2B5EF4-FFF2-40B4-BE49-F238E27FC236}">
                  <a16:creationId xmlns:a16="http://schemas.microsoft.com/office/drawing/2014/main" id="{D2ABB772-E3E7-4F9D-8A82-8F2F816BBD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187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58" name="Line 42">
              <a:extLst>
                <a:ext uri="{FF2B5EF4-FFF2-40B4-BE49-F238E27FC236}">
                  <a16:creationId xmlns:a16="http://schemas.microsoft.com/office/drawing/2014/main" id="{A3BE4FBF-CEE9-4BC5-975E-4BFA7C15D3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87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59" name="Line 43">
              <a:extLst>
                <a:ext uri="{FF2B5EF4-FFF2-40B4-BE49-F238E27FC236}">
                  <a16:creationId xmlns:a16="http://schemas.microsoft.com/office/drawing/2014/main" id="{CA0C3E01-AE58-4D20-B084-9746C5EB03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87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60" name="Line 44">
              <a:extLst>
                <a:ext uri="{FF2B5EF4-FFF2-40B4-BE49-F238E27FC236}">
                  <a16:creationId xmlns:a16="http://schemas.microsoft.com/office/drawing/2014/main" id="{4D2218F0-AA4F-4218-8ED8-6BD3BEF2BF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87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61" name="Text Box 45">
              <a:extLst>
                <a:ext uri="{FF2B5EF4-FFF2-40B4-BE49-F238E27FC236}">
                  <a16:creationId xmlns:a16="http://schemas.microsoft.com/office/drawing/2014/main" id="{15048190-7FA4-4046-9E3E-98FE500334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488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时钟</a:t>
              </a:r>
            </a:p>
          </p:txBody>
        </p:sp>
      </p:grpSp>
      <p:grpSp>
        <p:nvGrpSpPr>
          <p:cNvPr id="34862" name="Group 46">
            <a:extLst>
              <a:ext uri="{FF2B5EF4-FFF2-40B4-BE49-F238E27FC236}">
                <a16:creationId xmlns:a16="http://schemas.microsoft.com/office/drawing/2014/main" id="{9633FAA8-F534-49E4-A153-B8B4E22A750C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3352800"/>
            <a:ext cx="8534400" cy="685800"/>
            <a:chOff x="144" y="2112"/>
            <a:chExt cx="5376" cy="432"/>
          </a:xfrm>
        </p:grpSpPr>
        <p:grpSp>
          <p:nvGrpSpPr>
            <p:cNvPr id="34863" name="Group 47">
              <a:extLst>
                <a:ext uri="{FF2B5EF4-FFF2-40B4-BE49-F238E27FC236}">
                  <a16:creationId xmlns:a16="http://schemas.microsoft.com/office/drawing/2014/main" id="{EB9E3331-8DD1-47B9-81DE-2B673B4128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2208"/>
              <a:ext cx="4896" cy="336"/>
              <a:chOff x="672" y="2208"/>
              <a:chExt cx="4725" cy="336"/>
            </a:xfrm>
          </p:grpSpPr>
          <p:sp>
            <p:nvSpPr>
              <p:cNvPr id="34864" name="Line 48">
                <a:extLst>
                  <a:ext uri="{FF2B5EF4-FFF2-40B4-BE49-F238E27FC236}">
                    <a16:creationId xmlns:a16="http://schemas.microsoft.com/office/drawing/2014/main" id="{EB74CC7E-39B3-40F9-A103-76241EF9A0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2375"/>
                <a:ext cx="741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865" name="Line 49">
                <a:extLst>
                  <a:ext uri="{FF2B5EF4-FFF2-40B4-BE49-F238E27FC236}">
                    <a16:creationId xmlns:a16="http://schemas.microsoft.com/office/drawing/2014/main" id="{DA2F4534-FC8F-44FB-A58E-B7BBAFF2F9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373"/>
                <a:ext cx="239" cy="2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866" name="Freeform 50">
                <a:extLst>
                  <a:ext uri="{FF2B5EF4-FFF2-40B4-BE49-F238E27FC236}">
                    <a16:creationId xmlns:a16="http://schemas.microsoft.com/office/drawing/2014/main" id="{BE505B50-FE49-4A2A-87F4-8410DDFC03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" y="2208"/>
                <a:ext cx="3744" cy="336"/>
              </a:xfrm>
              <a:custGeom>
                <a:avLst/>
                <a:gdLst>
                  <a:gd name="T0" fmla="*/ 206 w 5328"/>
                  <a:gd name="T1" fmla="*/ 0 h 977"/>
                  <a:gd name="T2" fmla="*/ 0 w 5328"/>
                  <a:gd name="T3" fmla="*/ 486 h 977"/>
                  <a:gd name="T4" fmla="*/ 196 w 5328"/>
                  <a:gd name="T5" fmla="*/ 964 h 977"/>
                  <a:gd name="T6" fmla="*/ 5132 w 5328"/>
                  <a:gd name="T7" fmla="*/ 977 h 977"/>
                  <a:gd name="T8" fmla="*/ 5328 w 5328"/>
                  <a:gd name="T9" fmla="*/ 486 h 977"/>
                  <a:gd name="T10" fmla="*/ 5126 w 5328"/>
                  <a:gd name="T11" fmla="*/ 0 h 977"/>
                  <a:gd name="T12" fmla="*/ 206 w 5328"/>
                  <a:gd name="T13" fmla="*/ 0 h 9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28" h="977">
                    <a:moveTo>
                      <a:pt x="206" y="0"/>
                    </a:moveTo>
                    <a:lnTo>
                      <a:pt x="0" y="486"/>
                    </a:lnTo>
                    <a:lnTo>
                      <a:pt x="196" y="964"/>
                    </a:lnTo>
                    <a:lnTo>
                      <a:pt x="5132" y="977"/>
                    </a:lnTo>
                    <a:lnTo>
                      <a:pt x="5328" y="486"/>
                    </a:lnTo>
                    <a:lnTo>
                      <a:pt x="5126" y="0"/>
                    </a:lnTo>
                    <a:lnTo>
                      <a:pt x="206" y="0"/>
                    </a:lnTo>
                    <a:close/>
                  </a:path>
                </a:pathLst>
              </a:custGeom>
              <a:noFill/>
              <a:ln w="3175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4867" name="Text Box 51">
              <a:extLst>
                <a:ext uri="{FF2B5EF4-FFF2-40B4-BE49-F238E27FC236}">
                  <a16:creationId xmlns:a16="http://schemas.microsoft.com/office/drawing/2014/main" id="{E0BBC622-E12E-47BA-A05F-C19B1DFE62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112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地址</a:t>
              </a:r>
            </a:p>
          </p:txBody>
        </p:sp>
      </p:grpSp>
      <p:grpSp>
        <p:nvGrpSpPr>
          <p:cNvPr id="34868" name="Group 52">
            <a:extLst>
              <a:ext uri="{FF2B5EF4-FFF2-40B4-BE49-F238E27FC236}">
                <a16:creationId xmlns:a16="http://schemas.microsoft.com/office/drawing/2014/main" id="{5C70474C-86A7-4C8B-92FD-D2EE1DDD92D4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5257800"/>
            <a:ext cx="8382000" cy="838200"/>
            <a:chOff x="192" y="3312"/>
            <a:chExt cx="5280" cy="528"/>
          </a:xfrm>
        </p:grpSpPr>
        <p:sp>
          <p:nvSpPr>
            <p:cNvPr id="34869" name="Freeform 53">
              <a:extLst>
                <a:ext uri="{FF2B5EF4-FFF2-40B4-BE49-F238E27FC236}">
                  <a16:creationId xmlns:a16="http://schemas.microsoft.com/office/drawing/2014/main" id="{4AACF199-8A42-490E-85FC-88B6BAABF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" y="3600"/>
              <a:ext cx="4848" cy="240"/>
            </a:xfrm>
            <a:custGeom>
              <a:avLst/>
              <a:gdLst>
                <a:gd name="T0" fmla="*/ 0 w 4848"/>
                <a:gd name="T1" fmla="*/ 0 h 240"/>
                <a:gd name="T2" fmla="*/ 1152 w 4848"/>
                <a:gd name="T3" fmla="*/ 0 h 240"/>
                <a:gd name="T4" fmla="*/ 1392 w 4848"/>
                <a:gd name="T5" fmla="*/ 240 h 240"/>
                <a:gd name="T6" fmla="*/ 2976 w 4848"/>
                <a:gd name="T7" fmla="*/ 240 h 240"/>
                <a:gd name="T8" fmla="*/ 3216 w 4848"/>
                <a:gd name="T9" fmla="*/ 0 h 240"/>
                <a:gd name="T10" fmla="*/ 4848 w 4848"/>
                <a:gd name="T11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48" h="240">
                  <a:moveTo>
                    <a:pt x="0" y="0"/>
                  </a:moveTo>
                  <a:lnTo>
                    <a:pt x="1152" y="0"/>
                  </a:lnTo>
                  <a:lnTo>
                    <a:pt x="1392" y="240"/>
                  </a:lnTo>
                  <a:lnTo>
                    <a:pt x="2976" y="240"/>
                  </a:lnTo>
                  <a:lnTo>
                    <a:pt x="3216" y="0"/>
                  </a:lnTo>
                  <a:lnTo>
                    <a:pt x="484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70" name="Text Box 54">
              <a:extLst>
                <a:ext uri="{FF2B5EF4-FFF2-40B4-BE49-F238E27FC236}">
                  <a16:creationId xmlns:a16="http://schemas.microsoft.com/office/drawing/2014/main" id="{D67A1C79-F6D6-436F-BB9D-8EB6F7A7D3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3312"/>
              <a:ext cx="576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</a:t>
              </a: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写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命令</a:t>
              </a:r>
            </a:p>
          </p:txBody>
        </p:sp>
      </p:grpSp>
      <p:grpSp>
        <p:nvGrpSpPr>
          <p:cNvPr id="34871" name="Group 55">
            <a:extLst>
              <a:ext uri="{FF2B5EF4-FFF2-40B4-BE49-F238E27FC236}">
                <a16:creationId xmlns:a16="http://schemas.microsoft.com/office/drawing/2014/main" id="{25423B6E-650A-456F-8C96-A0B05EDAE6B5}"/>
              </a:ext>
            </a:extLst>
          </p:cNvPr>
          <p:cNvGrpSpPr>
            <a:grpSpLocks/>
          </p:cNvGrpSpPr>
          <p:nvPr/>
        </p:nvGrpSpPr>
        <p:grpSpPr bwMode="auto">
          <a:xfrm>
            <a:off x="976313" y="3505200"/>
            <a:ext cx="806450" cy="2590800"/>
            <a:chOff x="615" y="2208"/>
            <a:chExt cx="508" cy="1632"/>
          </a:xfrm>
        </p:grpSpPr>
        <p:grpSp>
          <p:nvGrpSpPr>
            <p:cNvPr id="34872" name="Group 56">
              <a:extLst>
                <a:ext uri="{FF2B5EF4-FFF2-40B4-BE49-F238E27FC236}">
                  <a16:creationId xmlns:a16="http://schemas.microsoft.com/office/drawing/2014/main" id="{A779B507-10F5-41AD-9F3C-7B90B1AB4B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5" y="2208"/>
              <a:ext cx="489" cy="384"/>
              <a:chOff x="615" y="2208"/>
              <a:chExt cx="489" cy="384"/>
            </a:xfrm>
          </p:grpSpPr>
          <p:sp>
            <p:nvSpPr>
              <p:cNvPr id="34873" name="Freeform 57">
                <a:extLst>
                  <a:ext uri="{FF2B5EF4-FFF2-40B4-BE49-F238E27FC236}">
                    <a16:creationId xmlns:a16="http://schemas.microsoft.com/office/drawing/2014/main" id="{6229CEA5-3851-409D-ABD1-15D5B57B6B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" y="2208"/>
                <a:ext cx="437" cy="358"/>
              </a:xfrm>
              <a:custGeom>
                <a:avLst/>
                <a:gdLst>
                  <a:gd name="T0" fmla="*/ 245 w 437"/>
                  <a:gd name="T1" fmla="*/ 167 h 358"/>
                  <a:gd name="T2" fmla="*/ 435 w 437"/>
                  <a:gd name="T3" fmla="*/ 0 h 358"/>
                  <a:gd name="T4" fmla="*/ 0 w 437"/>
                  <a:gd name="T5" fmla="*/ 1 h 358"/>
                  <a:gd name="T6" fmla="*/ 0 w 437"/>
                  <a:gd name="T7" fmla="*/ 358 h 358"/>
                  <a:gd name="T8" fmla="*/ 437 w 437"/>
                  <a:gd name="T9" fmla="*/ 358 h 3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7" h="358">
                    <a:moveTo>
                      <a:pt x="245" y="167"/>
                    </a:moveTo>
                    <a:lnTo>
                      <a:pt x="435" y="0"/>
                    </a:lnTo>
                    <a:lnTo>
                      <a:pt x="0" y="1"/>
                    </a:lnTo>
                    <a:lnTo>
                      <a:pt x="0" y="358"/>
                    </a:lnTo>
                    <a:lnTo>
                      <a:pt x="437" y="358"/>
                    </a:lnTo>
                  </a:path>
                </a:pathLst>
              </a:custGeom>
              <a:solidFill>
                <a:schemeClr val="folHlink">
                  <a:alpha val="50000"/>
                </a:schemeClr>
              </a:solidFill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874" name="Line 58">
                <a:extLst>
                  <a:ext uri="{FF2B5EF4-FFF2-40B4-BE49-F238E27FC236}">
                    <a16:creationId xmlns:a16="http://schemas.microsoft.com/office/drawing/2014/main" id="{00C75415-B3A6-425B-B4B2-3E9C376123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946" y="2177"/>
                <a:ext cx="0" cy="24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875" name="Line 59">
                <a:extLst>
                  <a:ext uri="{FF2B5EF4-FFF2-40B4-BE49-F238E27FC236}">
                    <a16:creationId xmlns:a16="http://schemas.microsoft.com/office/drawing/2014/main" id="{362BF2D2-94EC-45A3-B4B5-191365881E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8100000">
                <a:off x="944" y="2329"/>
                <a:ext cx="0" cy="263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876" name="Line 60">
                <a:extLst>
                  <a:ext uri="{FF2B5EF4-FFF2-40B4-BE49-F238E27FC236}">
                    <a16:creationId xmlns:a16="http://schemas.microsoft.com/office/drawing/2014/main" id="{3DC59AA3-5D14-4FF6-B287-959FFEC4DC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5" y="2208"/>
                <a:ext cx="489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877" name="Line 61">
                <a:extLst>
                  <a:ext uri="{FF2B5EF4-FFF2-40B4-BE49-F238E27FC236}">
                    <a16:creationId xmlns:a16="http://schemas.microsoft.com/office/drawing/2014/main" id="{F1BE70CF-2505-4745-941E-794463CD1E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5" y="2544"/>
                <a:ext cx="489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4878" name="Rectangle 62">
              <a:extLst>
                <a:ext uri="{FF2B5EF4-FFF2-40B4-BE49-F238E27FC236}">
                  <a16:creationId xmlns:a16="http://schemas.microsoft.com/office/drawing/2014/main" id="{71FF42DE-7145-43FB-B2B2-A1D0D238A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863"/>
              <a:ext cx="480" cy="422"/>
            </a:xfrm>
            <a:prstGeom prst="rect">
              <a:avLst/>
            </a:prstGeom>
            <a:solidFill>
              <a:schemeClr val="folHlink">
                <a:alpha val="50000"/>
              </a:schemeClr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79" name="Line 63">
              <a:extLst>
                <a:ext uri="{FF2B5EF4-FFF2-40B4-BE49-F238E27FC236}">
                  <a16:creationId xmlns:a16="http://schemas.microsoft.com/office/drawing/2014/main" id="{EEBE8F77-D1EC-4DE3-AC5C-84769F2FAC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3072"/>
              <a:ext cx="499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34880" name="Group 64">
              <a:extLst>
                <a:ext uri="{FF2B5EF4-FFF2-40B4-BE49-F238E27FC236}">
                  <a16:creationId xmlns:a16="http://schemas.microsoft.com/office/drawing/2014/main" id="{A7147E29-3589-422B-86BB-45B8033C1B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3600"/>
              <a:ext cx="499" cy="240"/>
              <a:chOff x="624" y="3600"/>
              <a:chExt cx="499" cy="384"/>
            </a:xfrm>
          </p:grpSpPr>
          <p:sp>
            <p:nvSpPr>
              <p:cNvPr id="34881" name="Rectangle 65">
                <a:extLst>
                  <a:ext uri="{FF2B5EF4-FFF2-40B4-BE49-F238E27FC236}">
                    <a16:creationId xmlns:a16="http://schemas.microsoft.com/office/drawing/2014/main" id="{3A68EC8B-2C1B-4B41-9467-3FF507954E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3600"/>
                <a:ext cx="480" cy="384"/>
              </a:xfrm>
              <a:prstGeom prst="rect">
                <a:avLst/>
              </a:prstGeom>
              <a:solidFill>
                <a:schemeClr val="folHlink">
                  <a:alpha val="50000"/>
                </a:schemeClr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882" name="Line 66">
                <a:extLst>
                  <a:ext uri="{FF2B5EF4-FFF2-40B4-BE49-F238E27FC236}">
                    <a16:creationId xmlns:a16="http://schemas.microsoft.com/office/drawing/2014/main" id="{F3BD36BA-5524-4E7A-A7A2-C89FF28E4E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3600"/>
                <a:ext cx="499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34883" name="Group 67">
            <a:extLst>
              <a:ext uri="{FF2B5EF4-FFF2-40B4-BE49-F238E27FC236}">
                <a16:creationId xmlns:a16="http://schemas.microsoft.com/office/drawing/2014/main" id="{9656D9EC-A464-46B6-94C2-A252055C0BFE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3505200"/>
            <a:ext cx="723900" cy="2590800"/>
            <a:chOff x="1104" y="2208"/>
            <a:chExt cx="456" cy="1632"/>
          </a:xfrm>
        </p:grpSpPr>
        <p:grpSp>
          <p:nvGrpSpPr>
            <p:cNvPr id="34884" name="Group 68">
              <a:extLst>
                <a:ext uri="{FF2B5EF4-FFF2-40B4-BE49-F238E27FC236}">
                  <a16:creationId xmlns:a16="http://schemas.microsoft.com/office/drawing/2014/main" id="{D03D161A-7C44-4123-8C34-0778ECC187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3600"/>
              <a:ext cx="456" cy="240"/>
              <a:chOff x="624" y="3600"/>
              <a:chExt cx="499" cy="384"/>
            </a:xfrm>
          </p:grpSpPr>
          <p:sp>
            <p:nvSpPr>
              <p:cNvPr id="34885" name="Rectangle 69">
                <a:extLst>
                  <a:ext uri="{FF2B5EF4-FFF2-40B4-BE49-F238E27FC236}">
                    <a16:creationId xmlns:a16="http://schemas.microsoft.com/office/drawing/2014/main" id="{5CEF802C-2859-4FDA-9615-0ABF014D1B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3600"/>
                <a:ext cx="480" cy="384"/>
              </a:xfrm>
              <a:prstGeom prst="rect">
                <a:avLst/>
              </a:prstGeom>
              <a:solidFill>
                <a:schemeClr val="folHlink">
                  <a:alpha val="50000"/>
                </a:schemeClr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886" name="Line 70">
                <a:extLst>
                  <a:ext uri="{FF2B5EF4-FFF2-40B4-BE49-F238E27FC236}">
                    <a16:creationId xmlns:a16="http://schemas.microsoft.com/office/drawing/2014/main" id="{6D37CC5D-FE24-427A-B8F0-2FBC796D56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3600"/>
                <a:ext cx="499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4887" name="Line 71">
              <a:extLst>
                <a:ext uri="{FF2B5EF4-FFF2-40B4-BE49-F238E27FC236}">
                  <a16:creationId xmlns:a16="http://schemas.microsoft.com/office/drawing/2014/main" id="{85B359F9-8F62-4EA1-9522-D56E1B018E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2208"/>
              <a:ext cx="4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88" name="Line 72">
              <a:extLst>
                <a:ext uri="{FF2B5EF4-FFF2-40B4-BE49-F238E27FC236}">
                  <a16:creationId xmlns:a16="http://schemas.microsoft.com/office/drawing/2014/main" id="{95167C05-FADE-4438-9B86-18AFF598A7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2544"/>
              <a:ext cx="4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89" name="Freeform 73">
              <a:extLst>
                <a:ext uri="{FF2B5EF4-FFF2-40B4-BE49-F238E27FC236}">
                  <a16:creationId xmlns:a16="http://schemas.microsoft.com/office/drawing/2014/main" id="{4A5297A2-7C48-4D9B-9426-2A1848390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" y="2863"/>
              <a:ext cx="367" cy="422"/>
            </a:xfrm>
            <a:custGeom>
              <a:avLst/>
              <a:gdLst>
                <a:gd name="T0" fmla="*/ 367 w 367"/>
                <a:gd name="T1" fmla="*/ 0 h 384"/>
                <a:gd name="T2" fmla="*/ 0 w 367"/>
                <a:gd name="T3" fmla="*/ 0 h 384"/>
                <a:gd name="T4" fmla="*/ 0 w 367"/>
                <a:gd name="T5" fmla="*/ 384 h 384"/>
                <a:gd name="T6" fmla="*/ 336 w 367"/>
                <a:gd name="T7" fmla="*/ 384 h 384"/>
                <a:gd name="T8" fmla="*/ 134 w 367"/>
                <a:gd name="T9" fmla="*/ 1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7" h="384">
                  <a:moveTo>
                    <a:pt x="367" y="0"/>
                  </a:moveTo>
                  <a:lnTo>
                    <a:pt x="0" y="0"/>
                  </a:lnTo>
                  <a:lnTo>
                    <a:pt x="0" y="384"/>
                  </a:lnTo>
                  <a:lnTo>
                    <a:pt x="336" y="384"/>
                  </a:lnTo>
                  <a:lnTo>
                    <a:pt x="134" y="184"/>
                  </a:lnTo>
                </a:path>
              </a:pathLst>
            </a:custGeom>
            <a:solidFill>
              <a:schemeClr val="folHlink">
                <a:alpha val="5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90" name="Line 74">
              <a:extLst>
                <a:ext uri="{FF2B5EF4-FFF2-40B4-BE49-F238E27FC236}">
                  <a16:creationId xmlns:a16="http://schemas.microsoft.com/office/drawing/2014/main" id="{552615E0-A78D-4456-8B1E-30BD92BD15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3072"/>
              <a:ext cx="144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91" name="Line 75">
              <a:extLst>
                <a:ext uri="{FF2B5EF4-FFF2-40B4-BE49-F238E27FC236}">
                  <a16:creationId xmlns:a16="http://schemas.microsoft.com/office/drawing/2014/main" id="{E4F70B89-A4B7-41A8-8AB0-BB4CD825FF5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1345" y="2833"/>
              <a:ext cx="0" cy="286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92" name="Line 76">
              <a:extLst>
                <a:ext uri="{FF2B5EF4-FFF2-40B4-BE49-F238E27FC236}">
                  <a16:creationId xmlns:a16="http://schemas.microsoft.com/office/drawing/2014/main" id="{E9C1F569-4A26-4CAB-AC19-5017DB9ED5D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8100000">
              <a:off x="1344" y="3017"/>
              <a:ext cx="0" cy="295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93" name="Line 77">
              <a:extLst>
                <a:ext uri="{FF2B5EF4-FFF2-40B4-BE49-F238E27FC236}">
                  <a16:creationId xmlns:a16="http://schemas.microsoft.com/office/drawing/2014/main" id="{E4F5B5C4-9597-4A84-90A3-69868C49C0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4" y="3264"/>
              <a:ext cx="12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94" name="Line 78">
              <a:extLst>
                <a:ext uri="{FF2B5EF4-FFF2-40B4-BE49-F238E27FC236}">
                  <a16:creationId xmlns:a16="http://schemas.microsoft.com/office/drawing/2014/main" id="{2D6AE81A-7420-45CA-A1C2-69B1ACE8D1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4" y="2880"/>
              <a:ext cx="12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4895" name="Line 79">
            <a:extLst>
              <a:ext uri="{FF2B5EF4-FFF2-40B4-BE49-F238E27FC236}">
                <a16:creationId xmlns:a16="http://schemas.microsoft.com/office/drawing/2014/main" id="{B91FCE17-8881-45E8-9A1B-712EEC5DDE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2819400"/>
            <a:ext cx="0" cy="3959225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896" name="Group 80">
            <a:extLst>
              <a:ext uri="{FF2B5EF4-FFF2-40B4-BE49-F238E27FC236}">
                <a16:creationId xmlns:a16="http://schemas.microsoft.com/office/drawing/2014/main" id="{A03E7E16-A373-438B-A3A2-AE4874F20198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3505200"/>
            <a:ext cx="762000" cy="2590800"/>
            <a:chOff x="1536" y="2208"/>
            <a:chExt cx="480" cy="1632"/>
          </a:xfrm>
        </p:grpSpPr>
        <p:sp>
          <p:nvSpPr>
            <p:cNvPr id="34897" name="Line 81">
              <a:extLst>
                <a:ext uri="{FF2B5EF4-FFF2-40B4-BE49-F238E27FC236}">
                  <a16:creationId xmlns:a16="http://schemas.microsoft.com/office/drawing/2014/main" id="{BA4929E5-3878-4308-B01F-8BBF7C62A3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208"/>
              <a:ext cx="48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98" name="Line 82">
              <a:extLst>
                <a:ext uri="{FF2B5EF4-FFF2-40B4-BE49-F238E27FC236}">
                  <a16:creationId xmlns:a16="http://schemas.microsoft.com/office/drawing/2014/main" id="{8F05EB59-CA51-4178-B010-1456D74231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544"/>
              <a:ext cx="48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99" name="Line 83">
              <a:extLst>
                <a:ext uri="{FF2B5EF4-FFF2-40B4-BE49-F238E27FC236}">
                  <a16:creationId xmlns:a16="http://schemas.microsoft.com/office/drawing/2014/main" id="{7C0316B0-16AC-4E0A-A71F-ED8AD964D2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880"/>
              <a:ext cx="48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00" name="Line 84">
              <a:extLst>
                <a:ext uri="{FF2B5EF4-FFF2-40B4-BE49-F238E27FC236}">
                  <a16:creationId xmlns:a16="http://schemas.microsoft.com/office/drawing/2014/main" id="{BF124028-C278-4FDA-BCFE-1401112A16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264"/>
              <a:ext cx="48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01" name="Freeform 85">
              <a:extLst>
                <a:ext uri="{FF2B5EF4-FFF2-40B4-BE49-F238E27FC236}">
                  <a16:creationId xmlns:a16="http://schemas.microsoft.com/office/drawing/2014/main" id="{461A4AC5-8CF7-476C-8F57-A27F0697B6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3600"/>
              <a:ext cx="480" cy="240"/>
            </a:xfrm>
            <a:custGeom>
              <a:avLst/>
              <a:gdLst>
                <a:gd name="T0" fmla="*/ 0 w 480"/>
                <a:gd name="T1" fmla="*/ 0 h 384"/>
                <a:gd name="T2" fmla="*/ 240 w 480"/>
                <a:gd name="T3" fmla="*/ 0 h 384"/>
                <a:gd name="T4" fmla="*/ 480 w 480"/>
                <a:gd name="T5" fmla="*/ 384 h 384"/>
                <a:gd name="T6" fmla="*/ 0 w 480"/>
                <a:gd name="T7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0" h="384">
                  <a:moveTo>
                    <a:pt x="0" y="0"/>
                  </a:moveTo>
                  <a:lnTo>
                    <a:pt x="240" y="0"/>
                  </a:lnTo>
                  <a:lnTo>
                    <a:pt x="480" y="384"/>
                  </a:lnTo>
                  <a:lnTo>
                    <a:pt x="0" y="384"/>
                  </a:lnTo>
                </a:path>
              </a:pathLst>
            </a:custGeom>
            <a:solidFill>
              <a:schemeClr val="folHlink">
                <a:alpha val="50000"/>
              </a:schemeClr>
            </a:solidFill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02" name="Line 86">
              <a:extLst>
                <a:ext uri="{FF2B5EF4-FFF2-40B4-BE49-F238E27FC236}">
                  <a16:creationId xmlns:a16="http://schemas.microsoft.com/office/drawing/2014/main" id="{1E82E251-D246-4BED-90BF-2076DFC846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600"/>
              <a:ext cx="263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4903" name="Line 87">
            <a:extLst>
              <a:ext uri="{FF2B5EF4-FFF2-40B4-BE49-F238E27FC236}">
                <a16:creationId xmlns:a16="http://schemas.microsoft.com/office/drawing/2014/main" id="{79161B37-3FC6-4EDA-8E16-C7459F1F599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715000"/>
            <a:ext cx="381000" cy="38100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904" name="Line 88">
            <a:extLst>
              <a:ext uri="{FF2B5EF4-FFF2-40B4-BE49-F238E27FC236}">
                <a16:creationId xmlns:a16="http://schemas.microsoft.com/office/drawing/2014/main" id="{93219CF7-3524-4462-9B81-B31B1B5CBFA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2819400"/>
            <a:ext cx="0" cy="3959225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05" name="Group 89">
            <a:extLst>
              <a:ext uri="{FF2B5EF4-FFF2-40B4-BE49-F238E27FC236}">
                <a16:creationId xmlns:a16="http://schemas.microsoft.com/office/drawing/2014/main" id="{C2ABC9A9-9C13-48C7-871E-C5186128E738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3505200"/>
            <a:ext cx="1447800" cy="2590800"/>
            <a:chOff x="2016" y="2208"/>
            <a:chExt cx="912" cy="1632"/>
          </a:xfrm>
        </p:grpSpPr>
        <p:sp>
          <p:nvSpPr>
            <p:cNvPr id="34906" name="Line 90">
              <a:extLst>
                <a:ext uri="{FF2B5EF4-FFF2-40B4-BE49-F238E27FC236}">
                  <a16:creationId xmlns:a16="http://schemas.microsoft.com/office/drawing/2014/main" id="{9357E338-CF26-4EC9-9CB3-8613F1010A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208"/>
              <a:ext cx="91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07" name="Line 91">
              <a:extLst>
                <a:ext uri="{FF2B5EF4-FFF2-40B4-BE49-F238E27FC236}">
                  <a16:creationId xmlns:a16="http://schemas.microsoft.com/office/drawing/2014/main" id="{B3ECB2F2-68B4-48F0-9DF3-0F975F65C3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544"/>
              <a:ext cx="91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08" name="Line 92">
              <a:extLst>
                <a:ext uri="{FF2B5EF4-FFF2-40B4-BE49-F238E27FC236}">
                  <a16:creationId xmlns:a16="http://schemas.microsoft.com/office/drawing/2014/main" id="{858B2DD6-A3EA-4654-9D43-B094BBCD8F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880"/>
              <a:ext cx="91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09" name="Line 93">
              <a:extLst>
                <a:ext uri="{FF2B5EF4-FFF2-40B4-BE49-F238E27FC236}">
                  <a16:creationId xmlns:a16="http://schemas.microsoft.com/office/drawing/2014/main" id="{991D7033-DE3C-4861-99A0-B10802608D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3264"/>
              <a:ext cx="91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10" name="Line 94">
              <a:extLst>
                <a:ext uri="{FF2B5EF4-FFF2-40B4-BE49-F238E27FC236}">
                  <a16:creationId xmlns:a16="http://schemas.microsoft.com/office/drawing/2014/main" id="{77F87FC6-5692-499F-BF06-1144FD1518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3840"/>
              <a:ext cx="91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911" name="Group 95">
            <a:extLst>
              <a:ext uri="{FF2B5EF4-FFF2-40B4-BE49-F238E27FC236}">
                <a16:creationId xmlns:a16="http://schemas.microsoft.com/office/drawing/2014/main" id="{03E2FAD3-2F7D-450D-8C72-38BED2B40145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3505200"/>
            <a:ext cx="1143000" cy="2590800"/>
            <a:chOff x="2928" y="2208"/>
            <a:chExt cx="720" cy="1632"/>
          </a:xfrm>
        </p:grpSpPr>
        <p:sp>
          <p:nvSpPr>
            <p:cNvPr id="34912" name="Line 96">
              <a:extLst>
                <a:ext uri="{FF2B5EF4-FFF2-40B4-BE49-F238E27FC236}">
                  <a16:creationId xmlns:a16="http://schemas.microsoft.com/office/drawing/2014/main" id="{1943368F-C6B4-4787-91CA-4482A70E71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880"/>
              <a:ext cx="72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13" name="Line 97">
              <a:extLst>
                <a:ext uri="{FF2B5EF4-FFF2-40B4-BE49-F238E27FC236}">
                  <a16:creationId xmlns:a16="http://schemas.microsoft.com/office/drawing/2014/main" id="{9269F825-FE3B-47B2-843A-9FB05B738D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3264"/>
              <a:ext cx="72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14" name="Line 98">
              <a:extLst>
                <a:ext uri="{FF2B5EF4-FFF2-40B4-BE49-F238E27FC236}">
                  <a16:creationId xmlns:a16="http://schemas.microsoft.com/office/drawing/2014/main" id="{67F7FBC1-0CA3-4DCA-B5ED-FFF3F09A32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3840"/>
              <a:ext cx="72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15" name="Line 99">
              <a:extLst>
                <a:ext uri="{FF2B5EF4-FFF2-40B4-BE49-F238E27FC236}">
                  <a16:creationId xmlns:a16="http://schemas.microsoft.com/office/drawing/2014/main" id="{35FD8D2F-C268-4606-83B6-FEC315F8D7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208"/>
              <a:ext cx="72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16" name="Line 100">
              <a:extLst>
                <a:ext uri="{FF2B5EF4-FFF2-40B4-BE49-F238E27FC236}">
                  <a16:creationId xmlns:a16="http://schemas.microsoft.com/office/drawing/2014/main" id="{B6E71818-5300-4463-85A4-DCF58DE71D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544"/>
              <a:ext cx="72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917" name="Group 101">
            <a:extLst>
              <a:ext uri="{FF2B5EF4-FFF2-40B4-BE49-F238E27FC236}">
                <a16:creationId xmlns:a16="http://schemas.microsoft.com/office/drawing/2014/main" id="{553A8D81-7204-4AF0-90AD-A9724B044F65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4532313"/>
            <a:ext cx="466725" cy="1595437"/>
            <a:chOff x="3552" y="2855"/>
            <a:chExt cx="294" cy="1005"/>
          </a:xfrm>
        </p:grpSpPr>
        <p:sp>
          <p:nvSpPr>
            <p:cNvPr id="34918" name="Freeform 102">
              <a:extLst>
                <a:ext uri="{FF2B5EF4-FFF2-40B4-BE49-F238E27FC236}">
                  <a16:creationId xmlns:a16="http://schemas.microsoft.com/office/drawing/2014/main" id="{7086E35F-3895-43DD-A196-A5D20C1CE4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2855"/>
              <a:ext cx="245" cy="429"/>
            </a:xfrm>
            <a:custGeom>
              <a:avLst/>
              <a:gdLst>
                <a:gd name="T0" fmla="*/ 0 w 245"/>
                <a:gd name="T1" fmla="*/ 0 h 429"/>
                <a:gd name="T2" fmla="*/ 245 w 245"/>
                <a:gd name="T3" fmla="*/ 0 h 429"/>
                <a:gd name="T4" fmla="*/ 233 w 245"/>
                <a:gd name="T5" fmla="*/ 429 h 429"/>
                <a:gd name="T6" fmla="*/ 25 w 245"/>
                <a:gd name="T7" fmla="*/ 429 h 429"/>
                <a:gd name="T8" fmla="*/ 237 w 245"/>
                <a:gd name="T9" fmla="*/ 202 h 429"/>
                <a:gd name="T10" fmla="*/ 0 w 245"/>
                <a:gd name="T11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5" h="429">
                  <a:moveTo>
                    <a:pt x="0" y="0"/>
                  </a:moveTo>
                  <a:lnTo>
                    <a:pt x="245" y="0"/>
                  </a:lnTo>
                  <a:lnTo>
                    <a:pt x="233" y="429"/>
                  </a:lnTo>
                  <a:lnTo>
                    <a:pt x="25" y="429"/>
                  </a:lnTo>
                  <a:lnTo>
                    <a:pt x="237" y="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>
                <a:alpha val="50000"/>
              </a:schemeClr>
            </a:solidFill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19" name="Freeform 103">
              <a:extLst>
                <a:ext uri="{FF2B5EF4-FFF2-40B4-BE49-F238E27FC236}">
                  <a16:creationId xmlns:a16="http://schemas.microsoft.com/office/drawing/2014/main" id="{6B325A17-26F6-44EF-9CEE-A6F0E3139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" y="3591"/>
              <a:ext cx="294" cy="269"/>
            </a:xfrm>
            <a:custGeom>
              <a:avLst/>
              <a:gdLst>
                <a:gd name="T0" fmla="*/ 282 w 294"/>
                <a:gd name="T1" fmla="*/ 0 h 269"/>
                <a:gd name="T2" fmla="*/ 0 w 294"/>
                <a:gd name="T3" fmla="*/ 269 h 269"/>
                <a:gd name="T4" fmla="*/ 294 w 294"/>
                <a:gd name="T5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4" h="269">
                  <a:moveTo>
                    <a:pt x="282" y="0"/>
                  </a:moveTo>
                  <a:lnTo>
                    <a:pt x="0" y="269"/>
                  </a:lnTo>
                  <a:lnTo>
                    <a:pt x="294" y="269"/>
                  </a:lnTo>
                </a:path>
              </a:pathLst>
            </a:custGeom>
            <a:solidFill>
              <a:schemeClr val="folHlink">
                <a:alpha val="50000"/>
              </a:schemeClr>
            </a:solidFill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920" name="Group 104">
            <a:extLst>
              <a:ext uri="{FF2B5EF4-FFF2-40B4-BE49-F238E27FC236}">
                <a16:creationId xmlns:a16="http://schemas.microsoft.com/office/drawing/2014/main" id="{DB052142-5BF1-4EBA-B82B-8F058B853422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3505200"/>
            <a:ext cx="454025" cy="2590800"/>
            <a:chOff x="3600" y="2208"/>
            <a:chExt cx="286" cy="1632"/>
          </a:xfrm>
        </p:grpSpPr>
        <p:sp>
          <p:nvSpPr>
            <p:cNvPr id="34921" name="Line 105">
              <a:extLst>
                <a:ext uri="{FF2B5EF4-FFF2-40B4-BE49-F238E27FC236}">
                  <a16:creationId xmlns:a16="http://schemas.microsoft.com/office/drawing/2014/main" id="{DBE373F8-0806-40F7-A4EE-5F14EA3A7B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6" y="2208"/>
              <a:ext cx="19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22" name="Line 106">
              <a:extLst>
                <a:ext uri="{FF2B5EF4-FFF2-40B4-BE49-F238E27FC236}">
                  <a16:creationId xmlns:a16="http://schemas.microsoft.com/office/drawing/2014/main" id="{05308EBD-4289-4408-9B05-86B309D811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6" y="2544"/>
              <a:ext cx="19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23" name="Line 107">
              <a:extLst>
                <a:ext uri="{FF2B5EF4-FFF2-40B4-BE49-F238E27FC236}">
                  <a16:creationId xmlns:a16="http://schemas.microsoft.com/office/drawing/2014/main" id="{FA5F212C-4661-4CB0-8578-E33AA140B5F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8100000">
              <a:off x="3742" y="2832"/>
              <a:ext cx="0" cy="295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24" name="Line 108">
              <a:extLst>
                <a:ext uri="{FF2B5EF4-FFF2-40B4-BE49-F238E27FC236}">
                  <a16:creationId xmlns:a16="http://schemas.microsoft.com/office/drawing/2014/main" id="{5D404EA1-8913-4241-BD5D-E6F7D59734D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3743" y="3025"/>
              <a:ext cx="0" cy="286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25" name="Line 109">
              <a:extLst>
                <a:ext uri="{FF2B5EF4-FFF2-40B4-BE49-F238E27FC236}">
                  <a16:creationId xmlns:a16="http://schemas.microsoft.com/office/drawing/2014/main" id="{C68322AD-5F41-4926-92AA-902427E885C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600" y="3600"/>
              <a:ext cx="240" cy="24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926" name="Group 110">
            <a:extLst>
              <a:ext uri="{FF2B5EF4-FFF2-40B4-BE49-F238E27FC236}">
                <a16:creationId xmlns:a16="http://schemas.microsoft.com/office/drawing/2014/main" id="{D7C6BC0B-AB3A-4394-A5AA-AE5C4E7EAFFC}"/>
              </a:ext>
            </a:extLst>
          </p:cNvPr>
          <p:cNvGrpSpPr>
            <a:grpSpLocks/>
          </p:cNvGrpSpPr>
          <p:nvPr/>
        </p:nvGrpSpPr>
        <p:grpSpPr bwMode="auto">
          <a:xfrm>
            <a:off x="6094413" y="3505200"/>
            <a:ext cx="1220787" cy="2630488"/>
            <a:chOff x="3840" y="2208"/>
            <a:chExt cx="769" cy="1657"/>
          </a:xfrm>
        </p:grpSpPr>
        <p:sp>
          <p:nvSpPr>
            <p:cNvPr id="34927" name="Line 111">
              <a:extLst>
                <a:ext uri="{FF2B5EF4-FFF2-40B4-BE49-F238E27FC236}">
                  <a16:creationId xmlns:a16="http://schemas.microsoft.com/office/drawing/2014/main" id="{20B87BA9-C85D-45F6-A96E-C47E9AC71C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208"/>
              <a:ext cx="769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28" name="Line 112">
              <a:extLst>
                <a:ext uri="{FF2B5EF4-FFF2-40B4-BE49-F238E27FC236}">
                  <a16:creationId xmlns:a16="http://schemas.microsoft.com/office/drawing/2014/main" id="{642E09AC-DA2F-47B3-8AF5-0C521C5157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3600"/>
              <a:ext cx="769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29" name="Rectangle 113">
              <a:extLst>
                <a:ext uri="{FF2B5EF4-FFF2-40B4-BE49-F238E27FC236}">
                  <a16:creationId xmlns:a16="http://schemas.microsoft.com/office/drawing/2014/main" id="{BA29ADE3-07E1-4401-B0DD-53B63336C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854"/>
              <a:ext cx="768" cy="428"/>
            </a:xfrm>
            <a:prstGeom prst="rect">
              <a:avLst/>
            </a:prstGeom>
            <a:solidFill>
              <a:schemeClr val="folHlink">
                <a:alpha val="50000"/>
              </a:schemeClr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30" name="Rectangle 114">
              <a:extLst>
                <a:ext uri="{FF2B5EF4-FFF2-40B4-BE49-F238E27FC236}">
                  <a16:creationId xmlns:a16="http://schemas.microsoft.com/office/drawing/2014/main" id="{D4A9900C-D80E-48B3-A695-FF109A7FC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3600"/>
              <a:ext cx="769" cy="265"/>
            </a:xfrm>
            <a:prstGeom prst="rect">
              <a:avLst/>
            </a:prstGeom>
            <a:solidFill>
              <a:schemeClr val="folHlink">
                <a:alpha val="50000"/>
              </a:schemeClr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31" name="Line 115">
              <a:extLst>
                <a:ext uri="{FF2B5EF4-FFF2-40B4-BE49-F238E27FC236}">
                  <a16:creationId xmlns:a16="http://schemas.microsoft.com/office/drawing/2014/main" id="{0F5690A4-299D-4193-B816-60A25EB69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544"/>
              <a:ext cx="769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32" name="Line 116">
              <a:extLst>
                <a:ext uri="{FF2B5EF4-FFF2-40B4-BE49-F238E27FC236}">
                  <a16:creationId xmlns:a16="http://schemas.microsoft.com/office/drawing/2014/main" id="{43991E20-8B62-4D72-9864-C72C731CB2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3072"/>
              <a:ext cx="768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933" name="Group 117">
            <a:extLst>
              <a:ext uri="{FF2B5EF4-FFF2-40B4-BE49-F238E27FC236}">
                <a16:creationId xmlns:a16="http://schemas.microsoft.com/office/drawing/2014/main" id="{1AE2A15A-86BE-4772-8E7D-FA5B5D12262C}"/>
              </a:ext>
            </a:extLst>
          </p:cNvPr>
          <p:cNvGrpSpPr>
            <a:grpSpLocks/>
          </p:cNvGrpSpPr>
          <p:nvPr/>
        </p:nvGrpSpPr>
        <p:grpSpPr bwMode="auto">
          <a:xfrm>
            <a:off x="7212013" y="3429000"/>
            <a:ext cx="407987" cy="2706688"/>
            <a:chOff x="4543" y="2160"/>
            <a:chExt cx="257" cy="1705"/>
          </a:xfrm>
        </p:grpSpPr>
        <p:sp>
          <p:nvSpPr>
            <p:cNvPr id="34934" name="Line 118">
              <a:extLst>
                <a:ext uri="{FF2B5EF4-FFF2-40B4-BE49-F238E27FC236}">
                  <a16:creationId xmlns:a16="http://schemas.microsoft.com/office/drawing/2014/main" id="{7617BC31-4F89-460A-AA13-0BD03DA526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3" y="2208"/>
              <a:ext cx="209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35" name="Freeform 119">
              <a:extLst>
                <a:ext uri="{FF2B5EF4-FFF2-40B4-BE49-F238E27FC236}">
                  <a16:creationId xmlns:a16="http://schemas.microsoft.com/office/drawing/2014/main" id="{F70997B7-4495-4D6C-A111-A0AF416EC8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9" y="2197"/>
              <a:ext cx="208" cy="347"/>
            </a:xfrm>
            <a:custGeom>
              <a:avLst/>
              <a:gdLst>
                <a:gd name="T0" fmla="*/ 37 w 208"/>
                <a:gd name="T1" fmla="*/ 0 h 393"/>
                <a:gd name="T2" fmla="*/ 196 w 208"/>
                <a:gd name="T3" fmla="*/ 0 h 393"/>
                <a:gd name="T4" fmla="*/ 196 w 208"/>
                <a:gd name="T5" fmla="*/ 393 h 393"/>
                <a:gd name="T6" fmla="*/ 0 w 208"/>
                <a:gd name="T7" fmla="*/ 393 h 393"/>
                <a:gd name="T8" fmla="*/ 208 w 208"/>
                <a:gd name="T9" fmla="*/ 209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8" h="393">
                  <a:moveTo>
                    <a:pt x="37" y="0"/>
                  </a:moveTo>
                  <a:lnTo>
                    <a:pt x="196" y="0"/>
                  </a:lnTo>
                  <a:lnTo>
                    <a:pt x="196" y="393"/>
                  </a:lnTo>
                  <a:lnTo>
                    <a:pt x="0" y="393"/>
                  </a:lnTo>
                  <a:lnTo>
                    <a:pt x="208" y="209"/>
                  </a:lnTo>
                </a:path>
              </a:pathLst>
            </a:custGeom>
            <a:solidFill>
              <a:schemeClr val="folHlink">
                <a:alpha val="50000"/>
              </a:schemeClr>
            </a:solidFill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36" name="Rectangle 120">
              <a:extLst>
                <a:ext uri="{FF2B5EF4-FFF2-40B4-BE49-F238E27FC236}">
                  <a16:creationId xmlns:a16="http://schemas.microsoft.com/office/drawing/2014/main" id="{29BC8A51-1EF5-4EA3-A35D-5B465D1E7E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854"/>
              <a:ext cx="144" cy="428"/>
            </a:xfrm>
            <a:prstGeom prst="rect">
              <a:avLst/>
            </a:prstGeom>
            <a:solidFill>
              <a:schemeClr val="folHlink">
                <a:alpha val="50000"/>
              </a:schemeClr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37" name="Line 121">
              <a:extLst>
                <a:ext uri="{FF2B5EF4-FFF2-40B4-BE49-F238E27FC236}">
                  <a16:creationId xmlns:a16="http://schemas.microsoft.com/office/drawing/2014/main" id="{EB2B882B-8922-4A13-850D-E81B777F0A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3072"/>
              <a:ext cx="144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38" name="Line 122">
              <a:extLst>
                <a:ext uri="{FF2B5EF4-FFF2-40B4-BE49-F238E27FC236}">
                  <a16:creationId xmlns:a16="http://schemas.microsoft.com/office/drawing/2014/main" id="{3A4FA9DF-DFF8-476D-97AC-4A17DB9D97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3600"/>
              <a:ext cx="144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39" name="Rectangle 123">
              <a:extLst>
                <a:ext uri="{FF2B5EF4-FFF2-40B4-BE49-F238E27FC236}">
                  <a16:creationId xmlns:a16="http://schemas.microsoft.com/office/drawing/2014/main" id="{A2510595-DFCE-433C-B885-7631738E1A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3600"/>
              <a:ext cx="144" cy="265"/>
            </a:xfrm>
            <a:prstGeom prst="rect">
              <a:avLst/>
            </a:prstGeom>
            <a:solidFill>
              <a:schemeClr val="folHlink">
                <a:alpha val="50000"/>
              </a:schemeClr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40" name="Line 124">
              <a:extLst>
                <a:ext uri="{FF2B5EF4-FFF2-40B4-BE49-F238E27FC236}">
                  <a16:creationId xmlns:a16="http://schemas.microsoft.com/office/drawing/2014/main" id="{190C552F-3FAC-4553-9FB3-7A9947C43CA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4680" y="2328"/>
              <a:ext cx="0" cy="24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41" name="Line 125">
              <a:extLst>
                <a:ext uri="{FF2B5EF4-FFF2-40B4-BE49-F238E27FC236}">
                  <a16:creationId xmlns:a16="http://schemas.microsoft.com/office/drawing/2014/main" id="{51CF390C-FD96-4A2F-A843-C8FE95B03FE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8100000">
              <a:off x="4656" y="2160"/>
              <a:ext cx="0" cy="263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42" name="Line 126">
              <a:extLst>
                <a:ext uri="{FF2B5EF4-FFF2-40B4-BE49-F238E27FC236}">
                  <a16:creationId xmlns:a16="http://schemas.microsoft.com/office/drawing/2014/main" id="{13CF8AF9-0DE6-46E8-A1DA-B59D7085D5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2544"/>
              <a:ext cx="209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943" name="Group 127">
            <a:extLst>
              <a:ext uri="{FF2B5EF4-FFF2-40B4-BE49-F238E27FC236}">
                <a16:creationId xmlns:a16="http://schemas.microsoft.com/office/drawing/2014/main" id="{C2FE3B4C-A3BA-487D-BF80-2457E4BE7DF5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3505200"/>
            <a:ext cx="1447800" cy="2625725"/>
            <a:chOff x="4752" y="2208"/>
            <a:chExt cx="912" cy="1654"/>
          </a:xfrm>
        </p:grpSpPr>
        <p:sp>
          <p:nvSpPr>
            <p:cNvPr id="34944" name="Rectangle 128">
              <a:extLst>
                <a:ext uri="{FF2B5EF4-FFF2-40B4-BE49-F238E27FC236}">
                  <a16:creationId xmlns:a16="http://schemas.microsoft.com/office/drawing/2014/main" id="{27F71950-6436-47C6-A9AD-AE836B9E7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2233"/>
              <a:ext cx="909" cy="311"/>
            </a:xfrm>
            <a:prstGeom prst="rect">
              <a:avLst/>
            </a:prstGeom>
            <a:solidFill>
              <a:schemeClr val="folHlink">
                <a:alpha val="50000"/>
              </a:schemeClr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45" name="Line 129">
              <a:extLst>
                <a:ext uri="{FF2B5EF4-FFF2-40B4-BE49-F238E27FC236}">
                  <a16:creationId xmlns:a16="http://schemas.microsoft.com/office/drawing/2014/main" id="{0DB97184-F5F1-429B-88CF-5840BC6C17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360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46" name="Line 130">
              <a:extLst>
                <a:ext uri="{FF2B5EF4-FFF2-40B4-BE49-F238E27FC236}">
                  <a16:creationId xmlns:a16="http://schemas.microsoft.com/office/drawing/2014/main" id="{F3D6EA5C-168A-4F17-8B43-6009462158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3072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47" name="Line 131">
              <a:extLst>
                <a:ext uri="{FF2B5EF4-FFF2-40B4-BE49-F238E27FC236}">
                  <a16:creationId xmlns:a16="http://schemas.microsoft.com/office/drawing/2014/main" id="{6871D736-091C-4C45-8586-2865203A83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4" y="2375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48" name="Line 132">
              <a:extLst>
                <a:ext uri="{FF2B5EF4-FFF2-40B4-BE49-F238E27FC236}">
                  <a16:creationId xmlns:a16="http://schemas.microsoft.com/office/drawing/2014/main" id="{C2597C93-86A8-4387-86E8-941C75F504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2544"/>
              <a:ext cx="909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49" name="Line 133">
              <a:extLst>
                <a:ext uri="{FF2B5EF4-FFF2-40B4-BE49-F238E27FC236}">
                  <a16:creationId xmlns:a16="http://schemas.microsoft.com/office/drawing/2014/main" id="{77C1B608-6A7C-413E-BCED-4AC5F1FD51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2208"/>
              <a:ext cx="909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50" name="Line 134">
              <a:extLst>
                <a:ext uri="{FF2B5EF4-FFF2-40B4-BE49-F238E27FC236}">
                  <a16:creationId xmlns:a16="http://schemas.microsoft.com/office/drawing/2014/main" id="{0CF8E365-8088-4CB9-81B4-0ECB64C7E5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3072"/>
              <a:ext cx="909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51" name="Line 135">
              <a:extLst>
                <a:ext uri="{FF2B5EF4-FFF2-40B4-BE49-F238E27FC236}">
                  <a16:creationId xmlns:a16="http://schemas.microsoft.com/office/drawing/2014/main" id="{1495851F-9519-4E90-8CD2-5214100718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3600"/>
              <a:ext cx="909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52" name="Rectangle 136">
              <a:extLst>
                <a:ext uri="{FF2B5EF4-FFF2-40B4-BE49-F238E27FC236}">
                  <a16:creationId xmlns:a16="http://schemas.microsoft.com/office/drawing/2014/main" id="{572B0657-B5A9-40E3-8B6C-A725452F9C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2854"/>
              <a:ext cx="909" cy="428"/>
            </a:xfrm>
            <a:prstGeom prst="rect">
              <a:avLst/>
            </a:prstGeom>
            <a:solidFill>
              <a:schemeClr val="folHlink">
                <a:alpha val="50000"/>
              </a:schemeClr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953" name="Rectangle 137">
              <a:extLst>
                <a:ext uri="{FF2B5EF4-FFF2-40B4-BE49-F238E27FC236}">
                  <a16:creationId xmlns:a16="http://schemas.microsoft.com/office/drawing/2014/main" id="{C781DB73-969F-4F6A-B7B8-64F2D0C5B6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3622"/>
              <a:ext cx="909" cy="240"/>
            </a:xfrm>
            <a:prstGeom prst="rect">
              <a:avLst/>
            </a:prstGeom>
            <a:solidFill>
              <a:schemeClr val="folHlink">
                <a:alpha val="50000"/>
              </a:schemeClr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4954" name="Line 138">
            <a:extLst>
              <a:ext uri="{FF2B5EF4-FFF2-40B4-BE49-F238E27FC236}">
                <a16:creationId xmlns:a16="http://schemas.microsoft.com/office/drawing/2014/main" id="{AA722B44-5759-4439-AA04-B32EDE6A07D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819400"/>
            <a:ext cx="0" cy="3959225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955" name="Line 139">
            <a:extLst>
              <a:ext uri="{FF2B5EF4-FFF2-40B4-BE49-F238E27FC236}">
                <a16:creationId xmlns:a16="http://schemas.microsoft.com/office/drawing/2014/main" id="{C4C2A177-3F0A-4BA2-83DF-327949213E8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2819400"/>
            <a:ext cx="0" cy="3959225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1556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4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4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34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34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34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34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34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34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1" dur="500"/>
                                        <p:tgtEl>
                                          <p:spTgt spid="34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6" dur="500"/>
                                        <p:tgtEl>
                                          <p:spTgt spid="34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1" dur="500"/>
                                        <p:tgtEl>
                                          <p:spTgt spid="34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6" dur="500"/>
                                        <p:tgtEl>
                                          <p:spTgt spid="34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1" dur="500"/>
                                        <p:tgtEl>
                                          <p:spTgt spid="34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5" dur="500"/>
                                        <p:tgtEl>
                                          <p:spTgt spid="34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0" dur="500"/>
                                        <p:tgtEl>
                                          <p:spTgt spid="34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5" dur="500"/>
                                        <p:tgtEl>
                                          <p:spTgt spid="34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0" dur="500"/>
                                        <p:tgtEl>
                                          <p:spTgt spid="34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5" dur="500"/>
                                        <p:tgtEl>
                                          <p:spTgt spid="34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466CD0-D814-4C14-B55F-EBE844471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）同步通信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FCDBAFE-09E1-4299-A125-A373B4D7F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5" y="1665073"/>
            <a:ext cx="2083111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A2DF1E8-471E-496F-AAB4-D83DC07D17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7610131"/>
              </p:ext>
            </p:extLst>
          </p:nvPr>
        </p:nvGraphicFramePr>
        <p:xfrm>
          <a:off x="457200" y="1412776"/>
          <a:ext cx="7272808" cy="362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Visio" r:id="rId3" imgW="3190701" imgH="1594768" progId="Visio.Drawing.11">
                  <p:embed/>
                </p:oleObj>
              </mc:Choice>
              <mc:Fallback>
                <p:oleObj name="Visio" r:id="rId3" imgW="3190701" imgH="1594768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412776"/>
                        <a:ext cx="7272808" cy="36273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95297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466CD0-D814-4C14-B55F-EBE844471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）异步通信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FCDBAFE-09E1-4299-A125-A373B4D7F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5" y="1665073"/>
            <a:ext cx="2083111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587026-92C5-4296-8650-7ED4A6C22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297" y="1680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A71D1F1C-37CB-4C5E-A207-BDD78AA670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6798" y="4965495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不互锁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8669C03C-437F-4F4E-A518-4C690C486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4448" y="4965495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半互锁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D12EE363-6BDE-4140-BF1D-D562ED384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5598" y="4965495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全互锁</a:t>
            </a:r>
          </a:p>
        </p:txBody>
      </p:sp>
      <p:grpSp>
        <p:nvGrpSpPr>
          <p:cNvPr id="11" name="Group 6">
            <a:extLst>
              <a:ext uri="{FF2B5EF4-FFF2-40B4-BE49-F238E27FC236}">
                <a16:creationId xmlns:a16="http://schemas.microsoft.com/office/drawing/2014/main" id="{0F6238DF-E38A-4682-A52B-37509C4B5908}"/>
              </a:ext>
            </a:extLst>
          </p:cNvPr>
          <p:cNvGrpSpPr>
            <a:grpSpLocks/>
          </p:cNvGrpSpPr>
          <p:nvPr/>
        </p:nvGrpSpPr>
        <p:grpSpPr bwMode="auto">
          <a:xfrm>
            <a:off x="3814448" y="1141207"/>
            <a:ext cx="2698750" cy="3595688"/>
            <a:chOff x="2524" y="1104"/>
            <a:chExt cx="1700" cy="2265"/>
          </a:xfrm>
        </p:grpSpPr>
        <p:sp>
          <p:nvSpPr>
            <p:cNvPr id="12" name="Text Box 7">
              <a:extLst>
                <a:ext uri="{FF2B5EF4-FFF2-40B4-BE49-F238E27FC236}">
                  <a16:creationId xmlns:a16="http://schemas.microsoft.com/office/drawing/2014/main" id="{61E0632A-20F5-4903-B08F-4C770059BF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4" y="1104"/>
              <a:ext cx="14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主设备</a:t>
              </a:r>
            </a:p>
          </p:txBody>
        </p:sp>
        <p:sp>
          <p:nvSpPr>
            <p:cNvPr id="13" name="Text Box 8">
              <a:extLst>
                <a:ext uri="{FF2B5EF4-FFF2-40B4-BE49-F238E27FC236}">
                  <a16:creationId xmlns:a16="http://schemas.microsoft.com/office/drawing/2014/main" id="{084D4D95-A95D-419B-A962-BBC16884B6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4" y="3081"/>
              <a:ext cx="17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从设备</a:t>
              </a:r>
            </a:p>
          </p:txBody>
        </p:sp>
      </p:grpSp>
      <p:grpSp>
        <p:nvGrpSpPr>
          <p:cNvPr id="14" name="Group 9">
            <a:extLst>
              <a:ext uri="{FF2B5EF4-FFF2-40B4-BE49-F238E27FC236}">
                <a16:creationId xmlns:a16="http://schemas.microsoft.com/office/drawing/2014/main" id="{097005A8-34C5-4B90-8F9E-FB48874685B7}"/>
              </a:ext>
            </a:extLst>
          </p:cNvPr>
          <p:cNvGrpSpPr>
            <a:grpSpLocks/>
          </p:cNvGrpSpPr>
          <p:nvPr/>
        </p:nvGrpSpPr>
        <p:grpSpPr bwMode="auto">
          <a:xfrm>
            <a:off x="-28889" y="2312782"/>
            <a:ext cx="498475" cy="1965325"/>
            <a:chOff x="103" y="1842"/>
            <a:chExt cx="314" cy="1238"/>
          </a:xfrm>
        </p:grpSpPr>
        <p:sp>
          <p:nvSpPr>
            <p:cNvPr id="15" name="Text Box 10">
              <a:extLst>
                <a:ext uri="{FF2B5EF4-FFF2-40B4-BE49-F238E27FC236}">
                  <a16:creationId xmlns:a16="http://schemas.microsoft.com/office/drawing/2014/main" id="{2D30B07C-8463-4B74-8260-FEF6B55A33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" y="1842"/>
              <a:ext cx="310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请</a:t>
              </a:r>
            </a:p>
            <a:p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求</a:t>
              </a:r>
            </a:p>
          </p:txBody>
        </p:sp>
        <p:sp>
          <p:nvSpPr>
            <p:cNvPr id="16" name="Text Box 11">
              <a:extLst>
                <a:ext uri="{FF2B5EF4-FFF2-40B4-BE49-F238E27FC236}">
                  <a16:creationId xmlns:a16="http://schemas.microsoft.com/office/drawing/2014/main" id="{22038AEE-2149-4F1C-B223-F96CE5E205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" y="2562"/>
              <a:ext cx="310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回</a:t>
              </a:r>
            </a:p>
            <a:p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答</a:t>
              </a:r>
            </a:p>
          </p:txBody>
        </p:sp>
      </p:grpSp>
      <p:sp>
        <p:nvSpPr>
          <p:cNvPr id="17" name="Freeform 12">
            <a:extLst>
              <a:ext uri="{FF2B5EF4-FFF2-40B4-BE49-F238E27FC236}">
                <a16:creationId xmlns:a16="http://schemas.microsoft.com/office/drawing/2014/main" id="{C7D955F2-6A3C-4E94-A3FC-2B401E305346}"/>
              </a:ext>
            </a:extLst>
          </p:cNvPr>
          <p:cNvSpPr>
            <a:spLocks/>
          </p:cNvSpPr>
          <p:nvPr/>
        </p:nvSpPr>
        <p:spPr bwMode="auto">
          <a:xfrm>
            <a:off x="1102998" y="2031795"/>
            <a:ext cx="1588" cy="904875"/>
          </a:xfrm>
          <a:custGeom>
            <a:avLst/>
            <a:gdLst>
              <a:gd name="T0" fmla="*/ 0 w 1"/>
              <a:gd name="T1" fmla="*/ 0 h 570"/>
              <a:gd name="T2" fmla="*/ 0 w 1"/>
              <a:gd name="T3" fmla="*/ 570 h 57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570">
                <a:moveTo>
                  <a:pt x="0" y="0"/>
                </a:moveTo>
                <a:lnTo>
                  <a:pt x="0" y="570"/>
                </a:lnTo>
              </a:path>
            </a:pathLst>
          </a:custGeom>
          <a:noFill/>
          <a:ln w="11430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2956EB4D-8F73-4EA2-AA49-96DAC6A4C5D3}"/>
              </a:ext>
            </a:extLst>
          </p:cNvPr>
          <p:cNvSpPr>
            <a:spLocks/>
          </p:cNvSpPr>
          <p:nvPr/>
        </p:nvSpPr>
        <p:spPr bwMode="auto">
          <a:xfrm>
            <a:off x="3984311" y="1979407"/>
            <a:ext cx="1587" cy="966788"/>
          </a:xfrm>
          <a:custGeom>
            <a:avLst/>
            <a:gdLst>
              <a:gd name="T0" fmla="*/ 0 w 1"/>
              <a:gd name="T1" fmla="*/ 0 h 609"/>
              <a:gd name="T2" fmla="*/ 1 w 1"/>
              <a:gd name="T3" fmla="*/ 609 h 60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609">
                <a:moveTo>
                  <a:pt x="0" y="0"/>
                </a:moveTo>
                <a:lnTo>
                  <a:pt x="1" y="609"/>
                </a:lnTo>
              </a:path>
            </a:pathLst>
          </a:custGeom>
          <a:noFill/>
          <a:ln w="1143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pSp>
        <p:nvGrpSpPr>
          <p:cNvPr id="19" name="Group 14">
            <a:extLst>
              <a:ext uri="{FF2B5EF4-FFF2-40B4-BE49-F238E27FC236}">
                <a16:creationId xmlns:a16="http://schemas.microsoft.com/office/drawing/2014/main" id="{E09479B0-05DE-4B26-8AB2-A649F747AD89}"/>
              </a:ext>
            </a:extLst>
          </p:cNvPr>
          <p:cNvGrpSpPr>
            <a:grpSpLocks/>
          </p:cNvGrpSpPr>
          <p:nvPr/>
        </p:nvGrpSpPr>
        <p:grpSpPr bwMode="auto">
          <a:xfrm>
            <a:off x="3930336" y="2030207"/>
            <a:ext cx="1169987" cy="1460500"/>
            <a:chOff x="2597" y="1664"/>
            <a:chExt cx="737" cy="920"/>
          </a:xfrm>
        </p:grpSpPr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F14252EB-BF96-409D-B1C2-C9AEDD3AF6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1" y="1997"/>
              <a:ext cx="300" cy="587"/>
            </a:xfrm>
            <a:custGeom>
              <a:avLst/>
              <a:gdLst>
                <a:gd name="T0" fmla="*/ 0 w 300"/>
                <a:gd name="T1" fmla="*/ 89 h 587"/>
                <a:gd name="T2" fmla="*/ 48 w 300"/>
                <a:gd name="T3" fmla="*/ 58 h 587"/>
                <a:gd name="T4" fmla="*/ 15 w 300"/>
                <a:gd name="T5" fmla="*/ 64 h 587"/>
                <a:gd name="T6" fmla="*/ 117 w 300"/>
                <a:gd name="T7" fmla="*/ 73 h 587"/>
                <a:gd name="T8" fmla="*/ 180 w 300"/>
                <a:gd name="T9" fmla="*/ 502 h 587"/>
                <a:gd name="T10" fmla="*/ 300 w 300"/>
                <a:gd name="T11" fmla="*/ 585 h 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0" h="587">
                  <a:moveTo>
                    <a:pt x="0" y="89"/>
                  </a:moveTo>
                  <a:cubicBezTo>
                    <a:pt x="8" y="84"/>
                    <a:pt x="45" y="62"/>
                    <a:pt x="48" y="58"/>
                  </a:cubicBezTo>
                  <a:cubicBezTo>
                    <a:pt x="51" y="54"/>
                    <a:pt x="4" y="62"/>
                    <a:pt x="15" y="64"/>
                  </a:cubicBezTo>
                  <a:cubicBezTo>
                    <a:pt x="26" y="66"/>
                    <a:pt x="90" y="0"/>
                    <a:pt x="117" y="73"/>
                  </a:cubicBezTo>
                  <a:cubicBezTo>
                    <a:pt x="144" y="146"/>
                    <a:pt x="149" y="417"/>
                    <a:pt x="180" y="502"/>
                  </a:cubicBezTo>
                  <a:cubicBezTo>
                    <a:pt x="211" y="587"/>
                    <a:pt x="280" y="571"/>
                    <a:pt x="300" y="585"/>
                  </a:cubicBezTo>
                </a:path>
              </a:pathLst>
            </a:custGeom>
            <a:noFill/>
            <a:ln w="57150" cmpd="sng">
              <a:solidFill>
                <a:srgbClr val="FF0000"/>
              </a:solidFill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D6115C77-797F-4EB4-AA6F-DC656A368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7" y="1664"/>
              <a:ext cx="737" cy="1"/>
            </a:xfrm>
            <a:custGeom>
              <a:avLst/>
              <a:gdLst>
                <a:gd name="T0" fmla="*/ 0 w 737"/>
                <a:gd name="T1" fmla="*/ 1 h 1"/>
                <a:gd name="T2" fmla="*/ 737 w 737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37" h="1">
                  <a:moveTo>
                    <a:pt x="0" y="1"/>
                  </a:moveTo>
                  <a:lnTo>
                    <a:pt x="737" y="0"/>
                  </a:lnTo>
                </a:path>
              </a:pathLst>
            </a:custGeom>
            <a:noFill/>
            <a:ln w="1143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2" name="Freeform 17">
            <a:extLst>
              <a:ext uri="{FF2B5EF4-FFF2-40B4-BE49-F238E27FC236}">
                <a16:creationId xmlns:a16="http://schemas.microsoft.com/office/drawing/2014/main" id="{E828E77A-5C00-4788-A6E9-11899728B22A}"/>
              </a:ext>
            </a:extLst>
          </p:cNvPr>
          <p:cNvSpPr>
            <a:spLocks/>
          </p:cNvSpPr>
          <p:nvPr/>
        </p:nvSpPr>
        <p:spPr bwMode="auto">
          <a:xfrm>
            <a:off x="5049523" y="1974645"/>
            <a:ext cx="1588" cy="950912"/>
          </a:xfrm>
          <a:custGeom>
            <a:avLst/>
            <a:gdLst>
              <a:gd name="T0" fmla="*/ 0 w 1"/>
              <a:gd name="T1" fmla="*/ 0 h 599"/>
              <a:gd name="T2" fmla="*/ 0 w 1"/>
              <a:gd name="T3" fmla="*/ 599 h 59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599">
                <a:moveTo>
                  <a:pt x="0" y="0"/>
                </a:moveTo>
                <a:lnTo>
                  <a:pt x="0" y="599"/>
                </a:lnTo>
              </a:path>
            </a:pathLst>
          </a:custGeom>
          <a:noFill/>
          <a:ln w="1143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3" name="Freeform 18">
            <a:extLst>
              <a:ext uri="{FF2B5EF4-FFF2-40B4-BE49-F238E27FC236}">
                <a16:creationId xmlns:a16="http://schemas.microsoft.com/office/drawing/2014/main" id="{624DD5CF-4543-48D8-BB87-52F4EC7ECB75}"/>
              </a:ext>
            </a:extLst>
          </p:cNvPr>
          <p:cNvSpPr>
            <a:spLocks/>
          </p:cNvSpPr>
          <p:nvPr/>
        </p:nvSpPr>
        <p:spPr bwMode="auto">
          <a:xfrm>
            <a:off x="4992373" y="2868407"/>
            <a:ext cx="785813" cy="1588"/>
          </a:xfrm>
          <a:custGeom>
            <a:avLst/>
            <a:gdLst>
              <a:gd name="T0" fmla="*/ 0 w 495"/>
              <a:gd name="T1" fmla="*/ 0 h 1"/>
              <a:gd name="T2" fmla="*/ 495 w 495"/>
              <a:gd name="T3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95" h="1">
                <a:moveTo>
                  <a:pt x="0" y="0"/>
                </a:moveTo>
                <a:lnTo>
                  <a:pt x="495" y="1"/>
                </a:lnTo>
              </a:path>
            </a:pathLst>
          </a:custGeom>
          <a:noFill/>
          <a:ln w="1143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pSp>
        <p:nvGrpSpPr>
          <p:cNvPr id="24" name="Group 19">
            <a:extLst>
              <a:ext uri="{FF2B5EF4-FFF2-40B4-BE49-F238E27FC236}">
                <a16:creationId xmlns:a16="http://schemas.microsoft.com/office/drawing/2014/main" id="{B9AF22BD-E968-4B41-992B-8CF24FE14937}"/>
              </a:ext>
            </a:extLst>
          </p:cNvPr>
          <p:cNvGrpSpPr>
            <a:grpSpLocks/>
          </p:cNvGrpSpPr>
          <p:nvPr/>
        </p:nvGrpSpPr>
        <p:grpSpPr bwMode="auto">
          <a:xfrm>
            <a:off x="1042673" y="2049257"/>
            <a:ext cx="1162050" cy="1427163"/>
            <a:chOff x="778" y="1676"/>
            <a:chExt cx="732" cy="899"/>
          </a:xfrm>
        </p:grpSpPr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B27870CE-DD6D-4656-948B-362FA7065552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" y="1995"/>
              <a:ext cx="299" cy="580"/>
            </a:xfrm>
            <a:custGeom>
              <a:avLst/>
              <a:gdLst>
                <a:gd name="T0" fmla="*/ 0 w 299"/>
                <a:gd name="T1" fmla="*/ 71 h 580"/>
                <a:gd name="T2" fmla="*/ 101 w 299"/>
                <a:gd name="T3" fmla="*/ 71 h 580"/>
                <a:gd name="T4" fmla="*/ 170 w 299"/>
                <a:gd name="T5" fmla="*/ 495 h 580"/>
                <a:gd name="T6" fmla="*/ 299 w 299"/>
                <a:gd name="T7" fmla="*/ 580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9" h="580">
                  <a:moveTo>
                    <a:pt x="0" y="71"/>
                  </a:moveTo>
                  <a:cubicBezTo>
                    <a:pt x="17" y="71"/>
                    <a:pt x="73" y="0"/>
                    <a:pt x="101" y="71"/>
                  </a:cubicBezTo>
                  <a:cubicBezTo>
                    <a:pt x="129" y="142"/>
                    <a:pt x="137" y="410"/>
                    <a:pt x="170" y="495"/>
                  </a:cubicBezTo>
                  <a:cubicBezTo>
                    <a:pt x="203" y="580"/>
                    <a:pt x="272" y="562"/>
                    <a:pt x="299" y="580"/>
                  </a:cubicBezTo>
                </a:path>
              </a:pathLst>
            </a:custGeom>
            <a:noFill/>
            <a:ln w="57150" cmpd="sng">
              <a:solidFill>
                <a:srgbClr val="FF0000"/>
              </a:solidFill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A7567190-B31D-4528-9471-89D971ADF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" y="1676"/>
              <a:ext cx="732" cy="1"/>
            </a:xfrm>
            <a:custGeom>
              <a:avLst/>
              <a:gdLst>
                <a:gd name="T0" fmla="*/ 0 w 732"/>
                <a:gd name="T1" fmla="*/ 0 h 1"/>
                <a:gd name="T2" fmla="*/ 732 w 732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32" h="1">
                  <a:moveTo>
                    <a:pt x="0" y="0"/>
                  </a:moveTo>
                  <a:lnTo>
                    <a:pt x="732" y="1"/>
                  </a:lnTo>
                </a:path>
              </a:pathLst>
            </a:custGeom>
            <a:noFill/>
            <a:ln w="1143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7" name="Freeform 22">
            <a:extLst>
              <a:ext uri="{FF2B5EF4-FFF2-40B4-BE49-F238E27FC236}">
                <a16:creationId xmlns:a16="http://schemas.microsoft.com/office/drawing/2014/main" id="{343CF462-1BCC-451F-AD60-F7F8CD8EE3B9}"/>
              </a:ext>
            </a:extLst>
          </p:cNvPr>
          <p:cNvSpPr>
            <a:spLocks/>
          </p:cNvSpPr>
          <p:nvPr/>
        </p:nvSpPr>
        <p:spPr bwMode="auto">
          <a:xfrm>
            <a:off x="2101536" y="2893807"/>
            <a:ext cx="830262" cy="1588"/>
          </a:xfrm>
          <a:custGeom>
            <a:avLst/>
            <a:gdLst>
              <a:gd name="T0" fmla="*/ 0 w 523"/>
              <a:gd name="T1" fmla="*/ 0 h 1"/>
              <a:gd name="T2" fmla="*/ 523 w 523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23" h="1">
                <a:moveTo>
                  <a:pt x="0" y="0"/>
                </a:moveTo>
                <a:lnTo>
                  <a:pt x="523" y="0"/>
                </a:lnTo>
              </a:path>
            </a:pathLst>
          </a:custGeom>
          <a:noFill/>
          <a:ln w="11430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8" name="Freeform 23">
            <a:extLst>
              <a:ext uri="{FF2B5EF4-FFF2-40B4-BE49-F238E27FC236}">
                <a16:creationId xmlns:a16="http://schemas.microsoft.com/office/drawing/2014/main" id="{2C930F21-BB4D-4EB5-BB76-C79D05A92566}"/>
              </a:ext>
            </a:extLst>
          </p:cNvPr>
          <p:cNvSpPr>
            <a:spLocks/>
          </p:cNvSpPr>
          <p:nvPr/>
        </p:nvSpPr>
        <p:spPr bwMode="auto">
          <a:xfrm>
            <a:off x="2155511" y="1996870"/>
            <a:ext cx="3175" cy="925512"/>
          </a:xfrm>
          <a:custGeom>
            <a:avLst/>
            <a:gdLst>
              <a:gd name="T0" fmla="*/ 0 w 2"/>
              <a:gd name="T1" fmla="*/ 0 h 583"/>
              <a:gd name="T2" fmla="*/ 2 w 2"/>
              <a:gd name="T3" fmla="*/ 583 h 58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" h="583">
                <a:moveTo>
                  <a:pt x="0" y="0"/>
                </a:moveTo>
                <a:lnTo>
                  <a:pt x="2" y="583"/>
                </a:lnTo>
              </a:path>
            </a:pathLst>
          </a:custGeom>
          <a:noFill/>
          <a:ln w="11430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9" name="Freeform 24">
            <a:extLst>
              <a:ext uri="{FF2B5EF4-FFF2-40B4-BE49-F238E27FC236}">
                <a16:creationId xmlns:a16="http://schemas.microsoft.com/office/drawing/2014/main" id="{5C0B2230-CD58-4AE1-86F1-D28C017AD56A}"/>
              </a:ext>
            </a:extLst>
          </p:cNvPr>
          <p:cNvSpPr>
            <a:spLocks/>
          </p:cNvSpPr>
          <p:nvPr/>
        </p:nvSpPr>
        <p:spPr bwMode="auto">
          <a:xfrm>
            <a:off x="1577661" y="3163682"/>
            <a:ext cx="1162050" cy="1588"/>
          </a:xfrm>
          <a:custGeom>
            <a:avLst/>
            <a:gdLst>
              <a:gd name="T0" fmla="*/ 0 w 732"/>
              <a:gd name="T1" fmla="*/ 0 h 1"/>
              <a:gd name="T2" fmla="*/ 732 w 732"/>
              <a:gd name="T3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2" h="1">
                <a:moveTo>
                  <a:pt x="0" y="0"/>
                </a:moveTo>
                <a:lnTo>
                  <a:pt x="732" y="1"/>
                </a:lnTo>
              </a:path>
            </a:pathLst>
          </a:custGeom>
          <a:noFill/>
          <a:ln w="114300" cmpd="sng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0" name="Freeform 25">
            <a:extLst>
              <a:ext uri="{FF2B5EF4-FFF2-40B4-BE49-F238E27FC236}">
                <a16:creationId xmlns:a16="http://schemas.microsoft.com/office/drawing/2014/main" id="{BB3038C7-7EBE-464B-8C9F-CA02F99A1516}"/>
              </a:ext>
            </a:extLst>
          </p:cNvPr>
          <p:cNvSpPr>
            <a:spLocks/>
          </p:cNvSpPr>
          <p:nvPr/>
        </p:nvSpPr>
        <p:spPr bwMode="auto">
          <a:xfrm>
            <a:off x="2682561" y="3111295"/>
            <a:ext cx="3175" cy="925512"/>
          </a:xfrm>
          <a:custGeom>
            <a:avLst/>
            <a:gdLst>
              <a:gd name="T0" fmla="*/ 0 w 2"/>
              <a:gd name="T1" fmla="*/ 0 h 583"/>
              <a:gd name="T2" fmla="*/ 2 w 2"/>
              <a:gd name="T3" fmla="*/ 583 h 58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" h="583">
                <a:moveTo>
                  <a:pt x="0" y="0"/>
                </a:moveTo>
                <a:lnTo>
                  <a:pt x="2" y="583"/>
                </a:lnTo>
              </a:path>
            </a:pathLst>
          </a:custGeom>
          <a:noFill/>
          <a:ln w="114300" cmpd="sng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1" name="Freeform 26">
            <a:extLst>
              <a:ext uri="{FF2B5EF4-FFF2-40B4-BE49-F238E27FC236}">
                <a16:creationId xmlns:a16="http://schemas.microsoft.com/office/drawing/2014/main" id="{015F725C-4E32-43A5-8C83-4BEF707EF09C}"/>
              </a:ext>
            </a:extLst>
          </p:cNvPr>
          <p:cNvSpPr>
            <a:spLocks/>
          </p:cNvSpPr>
          <p:nvPr/>
        </p:nvSpPr>
        <p:spPr bwMode="auto">
          <a:xfrm>
            <a:off x="1628461" y="3131932"/>
            <a:ext cx="1587" cy="904875"/>
          </a:xfrm>
          <a:custGeom>
            <a:avLst/>
            <a:gdLst>
              <a:gd name="T0" fmla="*/ 0 w 1"/>
              <a:gd name="T1" fmla="*/ 0 h 570"/>
              <a:gd name="T2" fmla="*/ 0 w 1"/>
              <a:gd name="T3" fmla="*/ 570 h 57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570">
                <a:moveTo>
                  <a:pt x="0" y="0"/>
                </a:moveTo>
                <a:lnTo>
                  <a:pt x="0" y="570"/>
                </a:lnTo>
              </a:path>
            </a:pathLst>
          </a:custGeom>
          <a:noFill/>
          <a:ln w="114300" cmpd="sng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pSp>
        <p:nvGrpSpPr>
          <p:cNvPr id="32" name="Group 27">
            <a:extLst>
              <a:ext uri="{FF2B5EF4-FFF2-40B4-BE49-F238E27FC236}">
                <a16:creationId xmlns:a16="http://schemas.microsoft.com/office/drawing/2014/main" id="{FA985319-CB5A-418C-A587-41CF0129063D}"/>
              </a:ext>
            </a:extLst>
          </p:cNvPr>
          <p:cNvGrpSpPr>
            <a:grpSpLocks/>
          </p:cNvGrpSpPr>
          <p:nvPr/>
        </p:nvGrpSpPr>
        <p:grpSpPr bwMode="auto">
          <a:xfrm>
            <a:off x="664848" y="2877932"/>
            <a:ext cx="990600" cy="1108075"/>
            <a:chOff x="540" y="2198"/>
            <a:chExt cx="624" cy="698"/>
          </a:xfrm>
        </p:grpSpPr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ED0B41B2-8CBE-4DA9-815B-16BF7417CA0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" y="2198"/>
              <a:ext cx="311" cy="1"/>
            </a:xfrm>
            <a:custGeom>
              <a:avLst/>
              <a:gdLst>
                <a:gd name="T0" fmla="*/ 311 w 311"/>
                <a:gd name="T1" fmla="*/ 0 h 1"/>
                <a:gd name="T2" fmla="*/ 0 w 311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11" h="1">
                  <a:moveTo>
                    <a:pt x="311" y="0"/>
                  </a:moveTo>
                  <a:lnTo>
                    <a:pt x="0" y="1"/>
                  </a:lnTo>
                </a:path>
              </a:pathLst>
            </a:custGeom>
            <a:noFill/>
            <a:ln w="1143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Line 29">
              <a:extLst>
                <a:ext uri="{FF2B5EF4-FFF2-40B4-BE49-F238E27FC236}">
                  <a16:creationId xmlns:a16="http://schemas.microsoft.com/office/drawing/2014/main" id="{33AA9361-4584-4903-BA41-F3237853DF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" y="2896"/>
              <a:ext cx="601" cy="0"/>
            </a:xfrm>
            <a:prstGeom prst="line">
              <a:avLst/>
            </a:prstGeom>
            <a:noFill/>
            <a:ln w="1143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5" name="Group 30">
            <a:extLst>
              <a:ext uri="{FF2B5EF4-FFF2-40B4-BE49-F238E27FC236}">
                <a16:creationId xmlns:a16="http://schemas.microsoft.com/office/drawing/2014/main" id="{F59DD04A-74CC-444A-BA1A-903BC578052A}"/>
              </a:ext>
            </a:extLst>
          </p:cNvPr>
          <p:cNvGrpSpPr>
            <a:grpSpLocks/>
          </p:cNvGrpSpPr>
          <p:nvPr/>
        </p:nvGrpSpPr>
        <p:grpSpPr bwMode="auto">
          <a:xfrm>
            <a:off x="3511236" y="2887457"/>
            <a:ext cx="992187" cy="1098550"/>
            <a:chOff x="2333" y="2204"/>
            <a:chExt cx="625" cy="692"/>
          </a:xfrm>
        </p:grpSpPr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47C2E98F-9CDA-41DC-9AFC-EAF3F575A0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3" y="2204"/>
              <a:ext cx="332" cy="1"/>
            </a:xfrm>
            <a:custGeom>
              <a:avLst/>
              <a:gdLst>
                <a:gd name="T0" fmla="*/ 332 w 332"/>
                <a:gd name="T1" fmla="*/ 0 h 1"/>
                <a:gd name="T2" fmla="*/ 0 w 332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32" h="1">
                  <a:moveTo>
                    <a:pt x="332" y="0"/>
                  </a:moveTo>
                  <a:lnTo>
                    <a:pt x="0" y="1"/>
                  </a:lnTo>
                </a:path>
              </a:pathLst>
            </a:custGeom>
            <a:noFill/>
            <a:ln w="1143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Line 32">
              <a:extLst>
                <a:ext uri="{FF2B5EF4-FFF2-40B4-BE49-F238E27FC236}">
                  <a16:creationId xmlns:a16="http://schemas.microsoft.com/office/drawing/2014/main" id="{811551E0-9594-49F5-8C3D-4418CD7094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2896"/>
              <a:ext cx="601" cy="0"/>
            </a:xfrm>
            <a:prstGeom prst="line">
              <a:avLst/>
            </a:prstGeom>
            <a:noFill/>
            <a:ln w="1143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8" name="Line 33">
            <a:extLst>
              <a:ext uri="{FF2B5EF4-FFF2-40B4-BE49-F238E27FC236}">
                <a16:creationId xmlns:a16="http://schemas.microsoft.com/office/drawing/2014/main" id="{E008B0CF-60AD-4AF6-B54B-E59D827F0E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1761" y="3986007"/>
            <a:ext cx="539750" cy="0"/>
          </a:xfrm>
          <a:prstGeom prst="line">
            <a:avLst/>
          </a:prstGeom>
          <a:noFill/>
          <a:ln w="1143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9" name="Freeform 34">
            <a:extLst>
              <a:ext uri="{FF2B5EF4-FFF2-40B4-BE49-F238E27FC236}">
                <a16:creationId xmlns:a16="http://schemas.microsoft.com/office/drawing/2014/main" id="{763D02DB-0585-45E2-9190-14EF1A54BE4D}"/>
              </a:ext>
            </a:extLst>
          </p:cNvPr>
          <p:cNvSpPr>
            <a:spLocks/>
          </p:cNvSpPr>
          <p:nvPr/>
        </p:nvSpPr>
        <p:spPr bwMode="auto">
          <a:xfrm>
            <a:off x="4392298" y="3163682"/>
            <a:ext cx="1162050" cy="1588"/>
          </a:xfrm>
          <a:custGeom>
            <a:avLst/>
            <a:gdLst>
              <a:gd name="T0" fmla="*/ 0 w 732"/>
              <a:gd name="T1" fmla="*/ 0 h 1"/>
              <a:gd name="T2" fmla="*/ 732 w 732"/>
              <a:gd name="T3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2" h="1">
                <a:moveTo>
                  <a:pt x="0" y="0"/>
                </a:moveTo>
                <a:lnTo>
                  <a:pt x="732" y="1"/>
                </a:lnTo>
              </a:path>
            </a:pathLst>
          </a:custGeom>
          <a:noFill/>
          <a:ln w="114300" cmpd="sng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0" name="Freeform 35">
            <a:extLst>
              <a:ext uri="{FF2B5EF4-FFF2-40B4-BE49-F238E27FC236}">
                <a16:creationId xmlns:a16="http://schemas.microsoft.com/office/drawing/2014/main" id="{91528A22-DE05-4BEF-876B-5C3137A347A0}"/>
              </a:ext>
            </a:extLst>
          </p:cNvPr>
          <p:cNvSpPr>
            <a:spLocks/>
          </p:cNvSpPr>
          <p:nvPr/>
        </p:nvSpPr>
        <p:spPr bwMode="auto">
          <a:xfrm>
            <a:off x="5501961" y="3111295"/>
            <a:ext cx="3175" cy="925512"/>
          </a:xfrm>
          <a:custGeom>
            <a:avLst/>
            <a:gdLst>
              <a:gd name="T0" fmla="*/ 0 w 2"/>
              <a:gd name="T1" fmla="*/ 0 h 583"/>
              <a:gd name="T2" fmla="*/ 2 w 2"/>
              <a:gd name="T3" fmla="*/ 583 h 58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" h="583">
                <a:moveTo>
                  <a:pt x="0" y="0"/>
                </a:moveTo>
                <a:lnTo>
                  <a:pt x="2" y="583"/>
                </a:lnTo>
              </a:path>
            </a:pathLst>
          </a:custGeom>
          <a:noFill/>
          <a:ln w="114300" cmpd="sng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1" name="Freeform 36">
            <a:extLst>
              <a:ext uri="{FF2B5EF4-FFF2-40B4-BE49-F238E27FC236}">
                <a16:creationId xmlns:a16="http://schemas.microsoft.com/office/drawing/2014/main" id="{0EFEB2DE-26F1-4947-9E85-5182E36CC201}"/>
              </a:ext>
            </a:extLst>
          </p:cNvPr>
          <p:cNvSpPr>
            <a:spLocks/>
          </p:cNvSpPr>
          <p:nvPr/>
        </p:nvSpPr>
        <p:spPr bwMode="auto">
          <a:xfrm>
            <a:off x="4447861" y="3122407"/>
            <a:ext cx="1587" cy="904875"/>
          </a:xfrm>
          <a:custGeom>
            <a:avLst/>
            <a:gdLst>
              <a:gd name="T0" fmla="*/ 0 w 1"/>
              <a:gd name="T1" fmla="*/ 0 h 570"/>
              <a:gd name="T2" fmla="*/ 0 w 1"/>
              <a:gd name="T3" fmla="*/ 570 h 57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570">
                <a:moveTo>
                  <a:pt x="0" y="0"/>
                </a:moveTo>
                <a:lnTo>
                  <a:pt x="0" y="570"/>
                </a:lnTo>
              </a:path>
            </a:pathLst>
          </a:custGeom>
          <a:noFill/>
          <a:ln w="114300" cmpd="sng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2" name="Line 37">
            <a:extLst>
              <a:ext uri="{FF2B5EF4-FFF2-40B4-BE49-F238E27FC236}">
                <a16:creationId xmlns:a16="http://schemas.microsoft.com/office/drawing/2014/main" id="{7A2E2F39-912B-45E8-81CF-AD9BA2ED710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0048" y="3986007"/>
            <a:ext cx="539750" cy="0"/>
          </a:xfrm>
          <a:prstGeom prst="line">
            <a:avLst/>
          </a:prstGeom>
          <a:noFill/>
          <a:ln w="1143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3" name="Freeform 38">
            <a:extLst>
              <a:ext uri="{FF2B5EF4-FFF2-40B4-BE49-F238E27FC236}">
                <a16:creationId xmlns:a16="http://schemas.microsoft.com/office/drawing/2014/main" id="{EDB89DF4-D879-4609-965C-22655CA29B96}"/>
              </a:ext>
            </a:extLst>
          </p:cNvPr>
          <p:cNvSpPr>
            <a:spLocks/>
          </p:cNvSpPr>
          <p:nvPr/>
        </p:nvSpPr>
        <p:spPr bwMode="auto">
          <a:xfrm>
            <a:off x="6716398" y="2031795"/>
            <a:ext cx="1588" cy="904875"/>
          </a:xfrm>
          <a:custGeom>
            <a:avLst/>
            <a:gdLst>
              <a:gd name="T0" fmla="*/ 0 w 1"/>
              <a:gd name="T1" fmla="*/ 0 h 570"/>
              <a:gd name="T2" fmla="*/ 0 w 1"/>
              <a:gd name="T3" fmla="*/ 570 h 57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570">
                <a:moveTo>
                  <a:pt x="0" y="0"/>
                </a:moveTo>
                <a:lnTo>
                  <a:pt x="0" y="570"/>
                </a:lnTo>
              </a:path>
            </a:pathLst>
          </a:custGeom>
          <a:noFill/>
          <a:ln w="11430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pSp>
        <p:nvGrpSpPr>
          <p:cNvPr id="44" name="Group 39">
            <a:extLst>
              <a:ext uri="{FF2B5EF4-FFF2-40B4-BE49-F238E27FC236}">
                <a16:creationId xmlns:a16="http://schemas.microsoft.com/office/drawing/2014/main" id="{59CBDB64-96B3-44AD-B8C0-6878FCF602CD}"/>
              </a:ext>
            </a:extLst>
          </p:cNvPr>
          <p:cNvGrpSpPr>
            <a:grpSpLocks/>
          </p:cNvGrpSpPr>
          <p:nvPr/>
        </p:nvGrpSpPr>
        <p:grpSpPr bwMode="auto">
          <a:xfrm>
            <a:off x="6656073" y="2049257"/>
            <a:ext cx="1162050" cy="1427163"/>
            <a:chOff x="4314" y="1676"/>
            <a:chExt cx="732" cy="899"/>
          </a:xfrm>
        </p:grpSpPr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033BF435-0EC9-41BC-9816-28E1F36FAF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9" y="1995"/>
              <a:ext cx="299" cy="580"/>
            </a:xfrm>
            <a:custGeom>
              <a:avLst/>
              <a:gdLst>
                <a:gd name="T0" fmla="*/ 0 w 299"/>
                <a:gd name="T1" fmla="*/ 71 h 580"/>
                <a:gd name="T2" fmla="*/ 101 w 299"/>
                <a:gd name="T3" fmla="*/ 71 h 580"/>
                <a:gd name="T4" fmla="*/ 170 w 299"/>
                <a:gd name="T5" fmla="*/ 495 h 580"/>
                <a:gd name="T6" fmla="*/ 299 w 299"/>
                <a:gd name="T7" fmla="*/ 580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9" h="580">
                  <a:moveTo>
                    <a:pt x="0" y="71"/>
                  </a:moveTo>
                  <a:cubicBezTo>
                    <a:pt x="17" y="71"/>
                    <a:pt x="73" y="0"/>
                    <a:pt x="101" y="71"/>
                  </a:cubicBezTo>
                  <a:cubicBezTo>
                    <a:pt x="129" y="142"/>
                    <a:pt x="137" y="410"/>
                    <a:pt x="170" y="495"/>
                  </a:cubicBezTo>
                  <a:cubicBezTo>
                    <a:pt x="203" y="580"/>
                    <a:pt x="272" y="562"/>
                    <a:pt x="299" y="580"/>
                  </a:cubicBezTo>
                </a:path>
              </a:pathLst>
            </a:custGeom>
            <a:noFill/>
            <a:ln w="57150" cmpd="sng">
              <a:solidFill>
                <a:srgbClr val="FF0000"/>
              </a:solidFill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B72811F4-7955-4782-8E01-B819C4B86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4" y="1676"/>
              <a:ext cx="732" cy="1"/>
            </a:xfrm>
            <a:custGeom>
              <a:avLst/>
              <a:gdLst>
                <a:gd name="T0" fmla="*/ 0 w 732"/>
                <a:gd name="T1" fmla="*/ 0 h 1"/>
                <a:gd name="T2" fmla="*/ 732 w 732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32" h="1">
                  <a:moveTo>
                    <a:pt x="0" y="0"/>
                  </a:moveTo>
                  <a:lnTo>
                    <a:pt x="732" y="1"/>
                  </a:lnTo>
                </a:path>
              </a:pathLst>
            </a:custGeom>
            <a:noFill/>
            <a:ln w="1143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7" name="Freeform 42">
            <a:extLst>
              <a:ext uri="{FF2B5EF4-FFF2-40B4-BE49-F238E27FC236}">
                <a16:creationId xmlns:a16="http://schemas.microsoft.com/office/drawing/2014/main" id="{0D6C713E-4DDD-4DD7-A5FB-CE126F62C26D}"/>
              </a:ext>
            </a:extLst>
          </p:cNvPr>
          <p:cNvSpPr>
            <a:spLocks/>
          </p:cNvSpPr>
          <p:nvPr/>
        </p:nvSpPr>
        <p:spPr bwMode="auto">
          <a:xfrm>
            <a:off x="7787961" y="1996870"/>
            <a:ext cx="3175" cy="925512"/>
          </a:xfrm>
          <a:custGeom>
            <a:avLst/>
            <a:gdLst>
              <a:gd name="T0" fmla="*/ 0 w 2"/>
              <a:gd name="T1" fmla="*/ 0 h 583"/>
              <a:gd name="T2" fmla="*/ 2 w 2"/>
              <a:gd name="T3" fmla="*/ 583 h 58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" h="583">
                <a:moveTo>
                  <a:pt x="0" y="0"/>
                </a:moveTo>
                <a:lnTo>
                  <a:pt x="2" y="583"/>
                </a:lnTo>
              </a:path>
            </a:pathLst>
          </a:custGeom>
          <a:noFill/>
          <a:ln w="11430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8" name="Freeform 43">
            <a:extLst>
              <a:ext uri="{FF2B5EF4-FFF2-40B4-BE49-F238E27FC236}">
                <a16:creationId xmlns:a16="http://schemas.microsoft.com/office/drawing/2014/main" id="{23D8B02F-2F8C-4521-ADA0-F6955C1CFDD0}"/>
              </a:ext>
            </a:extLst>
          </p:cNvPr>
          <p:cNvSpPr>
            <a:spLocks/>
          </p:cNvSpPr>
          <p:nvPr/>
        </p:nvSpPr>
        <p:spPr bwMode="auto">
          <a:xfrm>
            <a:off x="7198998" y="3163682"/>
            <a:ext cx="1162050" cy="1588"/>
          </a:xfrm>
          <a:custGeom>
            <a:avLst/>
            <a:gdLst>
              <a:gd name="T0" fmla="*/ 0 w 732"/>
              <a:gd name="T1" fmla="*/ 0 h 1"/>
              <a:gd name="T2" fmla="*/ 732 w 732"/>
              <a:gd name="T3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2" h="1">
                <a:moveTo>
                  <a:pt x="0" y="0"/>
                </a:moveTo>
                <a:lnTo>
                  <a:pt x="732" y="1"/>
                </a:lnTo>
              </a:path>
            </a:pathLst>
          </a:custGeom>
          <a:noFill/>
          <a:ln w="114300" cmpd="sng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9" name="Freeform 44">
            <a:extLst>
              <a:ext uri="{FF2B5EF4-FFF2-40B4-BE49-F238E27FC236}">
                <a16:creationId xmlns:a16="http://schemas.microsoft.com/office/drawing/2014/main" id="{616466E0-418E-474E-B821-A6831BF20796}"/>
              </a:ext>
            </a:extLst>
          </p:cNvPr>
          <p:cNvSpPr>
            <a:spLocks/>
          </p:cNvSpPr>
          <p:nvPr/>
        </p:nvSpPr>
        <p:spPr bwMode="auto">
          <a:xfrm>
            <a:off x="8321361" y="3111295"/>
            <a:ext cx="3175" cy="925512"/>
          </a:xfrm>
          <a:custGeom>
            <a:avLst/>
            <a:gdLst>
              <a:gd name="T0" fmla="*/ 0 w 2"/>
              <a:gd name="T1" fmla="*/ 0 h 583"/>
              <a:gd name="T2" fmla="*/ 2 w 2"/>
              <a:gd name="T3" fmla="*/ 583 h 58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" h="583">
                <a:moveTo>
                  <a:pt x="0" y="0"/>
                </a:moveTo>
                <a:lnTo>
                  <a:pt x="2" y="583"/>
                </a:lnTo>
              </a:path>
            </a:pathLst>
          </a:custGeom>
          <a:noFill/>
          <a:ln w="114300" cmpd="sng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0" name="Freeform 45">
            <a:extLst>
              <a:ext uri="{FF2B5EF4-FFF2-40B4-BE49-F238E27FC236}">
                <a16:creationId xmlns:a16="http://schemas.microsoft.com/office/drawing/2014/main" id="{F0BD8B5A-B19A-4BC4-8CE8-483E3B18A65D}"/>
              </a:ext>
            </a:extLst>
          </p:cNvPr>
          <p:cNvSpPr>
            <a:spLocks/>
          </p:cNvSpPr>
          <p:nvPr/>
        </p:nvSpPr>
        <p:spPr bwMode="auto">
          <a:xfrm>
            <a:off x="7249798" y="3131932"/>
            <a:ext cx="1588" cy="904875"/>
          </a:xfrm>
          <a:custGeom>
            <a:avLst/>
            <a:gdLst>
              <a:gd name="T0" fmla="*/ 0 w 1"/>
              <a:gd name="T1" fmla="*/ 0 h 570"/>
              <a:gd name="T2" fmla="*/ 0 w 1"/>
              <a:gd name="T3" fmla="*/ 570 h 57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570">
                <a:moveTo>
                  <a:pt x="0" y="0"/>
                </a:moveTo>
                <a:lnTo>
                  <a:pt x="0" y="570"/>
                </a:lnTo>
              </a:path>
            </a:pathLst>
          </a:custGeom>
          <a:noFill/>
          <a:ln w="114300" cmpd="sng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pSp>
        <p:nvGrpSpPr>
          <p:cNvPr id="51" name="Group 46">
            <a:extLst>
              <a:ext uri="{FF2B5EF4-FFF2-40B4-BE49-F238E27FC236}">
                <a16:creationId xmlns:a16="http://schemas.microsoft.com/office/drawing/2014/main" id="{405A2931-8ED6-4036-A8F9-EC4F6560C0F2}"/>
              </a:ext>
            </a:extLst>
          </p:cNvPr>
          <p:cNvGrpSpPr>
            <a:grpSpLocks/>
          </p:cNvGrpSpPr>
          <p:nvPr/>
        </p:nvGrpSpPr>
        <p:grpSpPr bwMode="auto">
          <a:xfrm>
            <a:off x="6278248" y="2877932"/>
            <a:ext cx="996950" cy="1108075"/>
            <a:chOff x="4076" y="2198"/>
            <a:chExt cx="628" cy="698"/>
          </a:xfrm>
        </p:grpSpPr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60CD8367-428B-440D-A431-9CDE1CD724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6" y="2198"/>
              <a:ext cx="311" cy="1"/>
            </a:xfrm>
            <a:custGeom>
              <a:avLst/>
              <a:gdLst>
                <a:gd name="T0" fmla="*/ 311 w 311"/>
                <a:gd name="T1" fmla="*/ 0 h 1"/>
                <a:gd name="T2" fmla="*/ 0 w 311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11" h="1">
                  <a:moveTo>
                    <a:pt x="311" y="0"/>
                  </a:moveTo>
                  <a:lnTo>
                    <a:pt x="0" y="1"/>
                  </a:lnTo>
                </a:path>
              </a:pathLst>
            </a:custGeom>
            <a:noFill/>
            <a:ln w="1143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Line 48">
              <a:extLst>
                <a:ext uri="{FF2B5EF4-FFF2-40B4-BE49-F238E27FC236}">
                  <a16:creationId xmlns:a16="http://schemas.microsoft.com/office/drawing/2014/main" id="{EB8B9C6C-F481-4842-954D-1F9D1AD219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3" y="2896"/>
              <a:ext cx="601" cy="0"/>
            </a:xfrm>
            <a:prstGeom prst="line">
              <a:avLst/>
            </a:prstGeom>
            <a:noFill/>
            <a:ln w="1143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4" name="Line 49">
            <a:extLst>
              <a:ext uri="{FF2B5EF4-FFF2-40B4-BE49-F238E27FC236}">
                <a16:creationId xmlns:a16="http://schemas.microsoft.com/office/drawing/2014/main" id="{C7617397-4756-4CDC-9C3D-07A9B94F0EC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70561" y="3986007"/>
            <a:ext cx="539750" cy="0"/>
          </a:xfrm>
          <a:prstGeom prst="line">
            <a:avLst/>
          </a:prstGeom>
          <a:noFill/>
          <a:ln w="1143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5" name="Freeform 50">
            <a:extLst>
              <a:ext uri="{FF2B5EF4-FFF2-40B4-BE49-F238E27FC236}">
                <a16:creationId xmlns:a16="http://schemas.microsoft.com/office/drawing/2014/main" id="{0452FE31-B481-4347-9D83-FBF1BC0C0E05}"/>
              </a:ext>
            </a:extLst>
          </p:cNvPr>
          <p:cNvSpPr>
            <a:spLocks/>
          </p:cNvSpPr>
          <p:nvPr/>
        </p:nvSpPr>
        <p:spPr bwMode="auto">
          <a:xfrm>
            <a:off x="7300598" y="2287382"/>
            <a:ext cx="508000" cy="1365250"/>
          </a:xfrm>
          <a:custGeom>
            <a:avLst/>
            <a:gdLst>
              <a:gd name="T0" fmla="*/ 0 w 320"/>
              <a:gd name="T1" fmla="*/ 754 h 860"/>
              <a:gd name="T2" fmla="*/ 91 w 320"/>
              <a:gd name="T3" fmla="*/ 752 h 860"/>
              <a:gd name="T4" fmla="*/ 230 w 320"/>
              <a:gd name="T5" fmla="*/ 106 h 860"/>
              <a:gd name="T6" fmla="*/ 320 w 320"/>
              <a:gd name="T7" fmla="*/ 114 h 8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20" h="860">
                <a:moveTo>
                  <a:pt x="0" y="754"/>
                </a:moveTo>
                <a:cubicBezTo>
                  <a:pt x="16" y="754"/>
                  <a:pt x="53" y="860"/>
                  <a:pt x="91" y="752"/>
                </a:cubicBezTo>
                <a:cubicBezTo>
                  <a:pt x="129" y="644"/>
                  <a:pt x="192" y="212"/>
                  <a:pt x="230" y="106"/>
                </a:cubicBezTo>
                <a:cubicBezTo>
                  <a:pt x="268" y="0"/>
                  <a:pt x="301" y="112"/>
                  <a:pt x="320" y="114"/>
                </a:cubicBezTo>
              </a:path>
            </a:pathLst>
          </a:custGeom>
          <a:noFill/>
          <a:ln w="57150" cmpd="sng">
            <a:solidFill>
              <a:srgbClr val="FF0000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pSp>
        <p:nvGrpSpPr>
          <p:cNvPr id="56" name="Group 51">
            <a:extLst>
              <a:ext uri="{FF2B5EF4-FFF2-40B4-BE49-F238E27FC236}">
                <a16:creationId xmlns:a16="http://schemas.microsoft.com/office/drawing/2014/main" id="{ED7D2894-E32B-4C3C-A86C-FC530094CB1F}"/>
              </a:ext>
            </a:extLst>
          </p:cNvPr>
          <p:cNvGrpSpPr>
            <a:grpSpLocks/>
          </p:cNvGrpSpPr>
          <p:nvPr/>
        </p:nvGrpSpPr>
        <p:grpSpPr bwMode="auto">
          <a:xfrm>
            <a:off x="7819711" y="2385807"/>
            <a:ext cx="827087" cy="1193800"/>
            <a:chOff x="4960" y="1888"/>
            <a:chExt cx="521" cy="752"/>
          </a:xfrm>
        </p:grpSpPr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B945A221-0A92-4D7B-83C6-4A1090A057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2188"/>
              <a:ext cx="521" cy="2"/>
            </a:xfrm>
            <a:custGeom>
              <a:avLst/>
              <a:gdLst>
                <a:gd name="T0" fmla="*/ 0 w 521"/>
                <a:gd name="T1" fmla="*/ 2 h 2"/>
                <a:gd name="T2" fmla="*/ 521 w 521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21" h="2">
                  <a:moveTo>
                    <a:pt x="0" y="2"/>
                  </a:moveTo>
                  <a:lnTo>
                    <a:pt x="521" y="0"/>
                  </a:lnTo>
                </a:path>
              </a:pathLst>
            </a:custGeom>
            <a:noFill/>
            <a:ln w="1143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2ACEABBE-EB52-4171-A464-48AE7D1FB5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6" y="1888"/>
              <a:ext cx="313" cy="752"/>
            </a:xfrm>
            <a:custGeom>
              <a:avLst/>
              <a:gdLst>
                <a:gd name="T0" fmla="*/ 0 w 313"/>
                <a:gd name="T1" fmla="*/ 111 h 752"/>
                <a:gd name="T2" fmla="*/ 118 w 313"/>
                <a:gd name="T3" fmla="*/ 89 h 752"/>
                <a:gd name="T4" fmla="*/ 180 w 313"/>
                <a:gd name="T5" fmla="*/ 645 h 752"/>
                <a:gd name="T6" fmla="*/ 294 w 313"/>
                <a:gd name="T7" fmla="*/ 729 h 752"/>
                <a:gd name="T8" fmla="*/ 295 w 313"/>
                <a:gd name="T9" fmla="*/ 750 h 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3" h="752">
                  <a:moveTo>
                    <a:pt x="0" y="111"/>
                  </a:moveTo>
                  <a:cubicBezTo>
                    <a:pt x="19" y="107"/>
                    <a:pt x="88" y="0"/>
                    <a:pt x="118" y="89"/>
                  </a:cubicBezTo>
                  <a:cubicBezTo>
                    <a:pt x="148" y="178"/>
                    <a:pt x="151" y="538"/>
                    <a:pt x="180" y="645"/>
                  </a:cubicBezTo>
                  <a:cubicBezTo>
                    <a:pt x="209" y="752"/>
                    <a:pt x="275" y="711"/>
                    <a:pt x="294" y="729"/>
                  </a:cubicBezTo>
                  <a:cubicBezTo>
                    <a:pt x="313" y="747"/>
                    <a:pt x="295" y="746"/>
                    <a:pt x="295" y="750"/>
                  </a:cubicBezTo>
                </a:path>
              </a:pathLst>
            </a:custGeom>
            <a:noFill/>
            <a:ln w="57150" cmpd="sng">
              <a:solidFill>
                <a:srgbClr val="FF0000"/>
              </a:solidFill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9" name="Freeform 54">
            <a:extLst>
              <a:ext uri="{FF2B5EF4-FFF2-40B4-BE49-F238E27FC236}">
                <a16:creationId xmlns:a16="http://schemas.microsoft.com/office/drawing/2014/main" id="{00146506-CCD5-4037-8206-5FAD2BE32FFD}"/>
              </a:ext>
            </a:extLst>
          </p:cNvPr>
          <p:cNvSpPr>
            <a:spLocks/>
          </p:cNvSpPr>
          <p:nvPr/>
        </p:nvSpPr>
        <p:spPr bwMode="auto">
          <a:xfrm>
            <a:off x="4500248" y="2284207"/>
            <a:ext cx="550863" cy="1301750"/>
          </a:xfrm>
          <a:custGeom>
            <a:avLst/>
            <a:gdLst>
              <a:gd name="T0" fmla="*/ 0 w 347"/>
              <a:gd name="T1" fmla="*/ 740 h 820"/>
              <a:gd name="T2" fmla="*/ 91 w 347"/>
              <a:gd name="T3" fmla="*/ 714 h 820"/>
              <a:gd name="T4" fmla="*/ 219 w 347"/>
              <a:gd name="T5" fmla="*/ 102 h 820"/>
              <a:gd name="T6" fmla="*/ 347 w 347"/>
              <a:gd name="T7" fmla="*/ 102 h 8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7" h="820">
                <a:moveTo>
                  <a:pt x="0" y="740"/>
                </a:moveTo>
                <a:cubicBezTo>
                  <a:pt x="16" y="736"/>
                  <a:pt x="55" y="820"/>
                  <a:pt x="91" y="714"/>
                </a:cubicBezTo>
                <a:cubicBezTo>
                  <a:pt x="127" y="608"/>
                  <a:pt x="176" y="204"/>
                  <a:pt x="219" y="102"/>
                </a:cubicBezTo>
                <a:cubicBezTo>
                  <a:pt x="262" y="0"/>
                  <a:pt x="326" y="102"/>
                  <a:pt x="347" y="102"/>
                </a:cubicBezTo>
              </a:path>
            </a:pathLst>
          </a:custGeom>
          <a:noFill/>
          <a:ln w="57150" cmpd="sng">
            <a:solidFill>
              <a:srgbClr val="FF0000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0" name="Text Box 55">
            <a:extLst>
              <a:ext uri="{FF2B5EF4-FFF2-40B4-BE49-F238E27FC236}">
                <a16:creationId xmlns:a16="http://schemas.microsoft.com/office/drawing/2014/main" id="{3645DB37-954D-487F-9A94-9F28EE832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6798" y="5456032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单机</a:t>
            </a:r>
          </a:p>
        </p:txBody>
      </p:sp>
      <p:sp>
        <p:nvSpPr>
          <p:cNvPr id="61" name="Text Box 56">
            <a:extLst>
              <a:ext uri="{FF2B5EF4-FFF2-40B4-BE49-F238E27FC236}">
                <a16:creationId xmlns:a16="http://schemas.microsoft.com/office/drawing/2014/main" id="{0797D6DF-2B2F-4E8D-AB0F-A9018D0411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4448" y="5456032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多机</a:t>
            </a:r>
          </a:p>
        </p:txBody>
      </p:sp>
      <p:sp>
        <p:nvSpPr>
          <p:cNvPr id="62" name="Text Box 57">
            <a:extLst>
              <a:ext uri="{FF2B5EF4-FFF2-40B4-BE49-F238E27FC236}">
                <a16:creationId xmlns:a16="http://schemas.microsoft.com/office/drawing/2014/main" id="{C59F7911-0D77-4335-9EE3-270666E8E5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5598" y="5456032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网络通信</a:t>
            </a:r>
          </a:p>
        </p:txBody>
      </p:sp>
    </p:spTree>
    <p:extLst>
      <p:ext uri="{BB962C8B-B14F-4D97-AF65-F5344CB8AC3E}">
        <p14:creationId xmlns:p14="http://schemas.microsoft.com/office/powerpoint/2010/main" val="1715878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00"/>
                            </p:stCondLst>
                            <p:childTnLst>
                              <p:par>
                                <p:cTn id="9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500"/>
                            </p:stCondLst>
                            <p:childTnLst>
                              <p:par>
                                <p:cTn id="10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000"/>
                            </p:stCondLst>
                            <p:childTnLst>
                              <p:par>
                                <p:cTn id="150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9" grpId="0" autoUpdateAnimBg="0"/>
      <p:bldP spid="10" grpId="0" autoUpdateAnimBg="0"/>
      <p:bldP spid="60" grpId="0" autoUpdateAnimBg="0"/>
      <p:bldP spid="61" grpId="0" autoUpdateAnimBg="0"/>
      <p:bldP spid="62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466CD0-D814-4C14-B55F-EBE844471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）异步通信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FCDBAFE-09E1-4299-A125-A373B4D7F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5" y="1665073"/>
            <a:ext cx="2083111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587026-92C5-4296-8650-7ED4A6C22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297" y="1680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4C69915-B043-4D05-83E1-623559C04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B33FA8F-4400-40B1-B91A-141BE0B1C0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2717889"/>
              </p:ext>
            </p:extLst>
          </p:nvPr>
        </p:nvGraphicFramePr>
        <p:xfrm>
          <a:off x="566749" y="1149214"/>
          <a:ext cx="7787208" cy="43078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Visio" r:id="rId3" imgW="3208787" imgH="1774813" progId="Visio.Drawing.11">
                  <p:embed/>
                </p:oleObj>
              </mc:Choice>
              <mc:Fallback>
                <p:oleObj name="Visio" r:id="rId3" imgW="3208787" imgH="1774813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749" y="1149214"/>
                        <a:ext cx="7787208" cy="43078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7B03E693-90C9-42FE-9F76-47C6571CE793}"/>
              </a:ext>
            </a:extLst>
          </p:cNvPr>
          <p:cNvSpPr/>
          <p:nvPr/>
        </p:nvSpPr>
        <p:spPr>
          <a:xfrm>
            <a:off x="674297" y="5583943"/>
            <a:ext cx="8568952" cy="1163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 fontAlgn="auto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异步方式</a:t>
            </a:r>
            <a:r>
              <a:rPr lang="zh-CN" altLang="en-US" sz="2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：用应答信号对传输过程进行控制</a:t>
            </a:r>
            <a:endParaRPr lang="en-US" altLang="zh-CN" sz="2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12800" lvl="1" indent="-355600" algn="just" fontAlgn="auto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prstClr val="black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非互锁、半互锁和全互锁，适合慢速设备</a:t>
            </a:r>
          </a:p>
        </p:txBody>
      </p:sp>
    </p:spTree>
    <p:extLst>
      <p:ext uri="{BB962C8B-B14F-4D97-AF65-F5344CB8AC3E}">
        <p14:creationId xmlns:p14="http://schemas.microsoft.com/office/powerpoint/2010/main" val="33314666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>
            <a:extLst>
              <a:ext uri="{FF2B5EF4-FFF2-40B4-BE49-F238E27FC236}">
                <a16:creationId xmlns:a16="http://schemas.microsoft.com/office/drawing/2014/main" id="{996836CF-64B4-4862-A6FD-9273951D8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23863"/>
            <a:ext cx="7391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0"/>
            <a:r>
              <a:rPr kumimoji="1"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）半同步控制方式</a:t>
            </a:r>
            <a:endParaRPr kumimoji="1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pSp>
        <p:nvGrpSpPr>
          <p:cNvPr id="36867" name="Group 3">
            <a:extLst>
              <a:ext uri="{FF2B5EF4-FFF2-40B4-BE49-F238E27FC236}">
                <a16:creationId xmlns:a16="http://schemas.microsoft.com/office/drawing/2014/main" id="{E2006572-1084-4621-BAD0-9AA123222EB1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1676400"/>
            <a:ext cx="8229600" cy="1479550"/>
            <a:chOff x="672" y="1257"/>
            <a:chExt cx="5184" cy="932"/>
          </a:xfrm>
        </p:grpSpPr>
        <p:sp>
          <p:nvSpPr>
            <p:cNvPr id="36868" name="Text Box 4">
              <a:extLst>
                <a:ext uri="{FF2B5EF4-FFF2-40B4-BE49-F238E27FC236}">
                  <a16:creationId xmlns:a16="http://schemas.microsoft.com/office/drawing/2014/main" id="{E8B7C1DE-8E9E-4D8B-8F4C-8901782728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1257"/>
              <a:ext cx="470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同步   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发送方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用系统 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时钟前沿 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发信号</a:t>
              </a:r>
            </a:p>
          </p:txBody>
        </p:sp>
        <p:sp>
          <p:nvSpPr>
            <p:cNvPr id="36869" name="Text Box 5">
              <a:extLst>
                <a:ext uri="{FF2B5EF4-FFF2-40B4-BE49-F238E27FC236}">
                  <a16:creationId xmlns:a16="http://schemas.microsoft.com/office/drawing/2014/main" id="{B1246ABA-C9F9-4FBB-8535-121A77252C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1824"/>
              <a:ext cx="451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接收方 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用系统 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时钟后沿 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判断、识别</a:t>
              </a:r>
            </a:p>
          </p:txBody>
        </p:sp>
      </p:grpSp>
      <p:sp>
        <p:nvSpPr>
          <p:cNvPr id="36871" name="Text Box 7">
            <a:extLst>
              <a:ext uri="{FF2B5EF4-FFF2-40B4-BE49-F238E27FC236}">
                <a16:creationId xmlns:a16="http://schemas.microsoft.com/office/drawing/2014/main" id="{BB14EA1E-3089-43AA-8CFF-B9510EC34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28843"/>
            <a:ext cx="47609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同步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异步 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结合）</a:t>
            </a:r>
          </a:p>
        </p:txBody>
      </p:sp>
      <p:grpSp>
        <p:nvGrpSpPr>
          <p:cNvPr id="36872" name="Group 8">
            <a:extLst>
              <a:ext uri="{FF2B5EF4-FFF2-40B4-BE49-F238E27FC236}">
                <a16:creationId xmlns:a16="http://schemas.microsoft.com/office/drawing/2014/main" id="{B38031C7-1FEF-441B-9BAC-C7300F1AC811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3702051"/>
            <a:ext cx="8229600" cy="1493838"/>
            <a:chOff x="528" y="2391"/>
            <a:chExt cx="5184" cy="941"/>
          </a:xfrm>
        </p:grpSpPr>
        <p:sp>
          <p:nvSpPr>
            <p:cNvPr id="36873" name="Text Box 9">
              <a:extLst>
                <a:ext uri="{FF2B5EF4-FFF2-40B4-BE49-F238E27FC236}">
                  <a16:creationId xmlns:a16="http://schemas.microsoft.com/office/drawing/2014/main" id="{2FF62FCF-6109-4E44-8B93-16DD8B6A8C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391"/>
              <a:ext cx="465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异步   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允许不同速度的模块和谐工作</a:t>
              </a:r>
            </a:p>
          </p:txBody>
        </p:sp>
        <p:sp>
          <p:nvSpPr>
            <p:cNvPr id="36874" name="Text Box 10">
              <a:extLst>
                <a:ext uri="{FF2B5EF4-FFF2-40B4-BE49-F238E27FC236}">
                  <a16:creationId xmlns:a16="http://schemas.microsoft.com/office/drawing/2014/main" id="{158EC6AB-FE5F-4D81-AADF-16EF9FA1D2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2967"/>
              <a:ext cx="451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增加一条  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“等待”响应信号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        </a:t>
              </a:r>
            </a:p>
          </p:txBody>
        </p:sp>
        <p:sp>
          <p:nvSpPr>
            <p:cNvPr id="36875" name="Text Box 11">
              <a:extLst>
                <a:ext uri="{FF2B5EF4-FFF2-40B4-BE49-F238E27FC236}">
                  <a16:creationId xmlns:a16="http://schemas.microsoft.com/office/drawing/2014/main" id="{79EE4F00-018D-4F0D-B1AA-D22CB56622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2" y="2962"/>
              <a:ext cx="106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WAIT</a:t>
              </a:r>
            </a:p>
          </p:txBody>
        </p:sp>
        <p:sp>
          <p:nvSpPr>
            <p:cNvPr id="36876" name="Line 12">
              <a:extLst>
                <a:ext uri="{FF2B5EF4-FFF2-40B4-BE49-F238E27FC236}">
                  <a16:creationId xmlns:a16="http://schemas.microsoft.com/office/drawing/2014/main" id="{3C56406B-3258-49A8-9A1E-7B64C4A72D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9" y="3035"/>
              <a:ext cx="8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3997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1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466CD0-D814-4C14-B55F-EBE844471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20" y="42803"/>
            <a:ext cx="8229600" cy="850106"/>
          </a:xfrm>
        </p:spPr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zh-CN" altLang="zh-CN" dirty="0"/>
              <a:t>半同步控制方式</a:t>
            </a:r>
            <a:endParaRPr lang="zh-CN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FCDBAFE-09E1-4299-A125-A373B4D7F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5" y="1665073"/>
            <a:ext cx="2083111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587026-92C5-4296-8650-7ED4A6C22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297" y="1680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4C69915-B043-4D05-83E1-623559C04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B03E693-90C9-42FE-9F76-47C6571CE793}"/>
              </a:ext>
            </a:extLst>
          </p:cNvPr>
          <p:cNvSpPr/>
          <p:nvPr/>
        </p:nvSpPr>
        <p:spPr>
          <a:xfrm>
            <a:off x="287524" y="5202516"/>
            <a:ext cx="8568952" cy="1163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 fontAlgn="auto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半同步方式</a:t>
            </a:r>
            <a:r>
              <a:rPr lang="zh-CN" altLang="en-US" sz="2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：结合同步方式和异步方式的特点</a:t>
            </a:r>
            <a:endParaRPr lang="en-US" altLang="zh-CN" sz="2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12800" lvl="1" indent="-355600" algn="just" fontAlgn="auto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prstClr val="black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在同步时钟的控制下进行采样和应答</a:t>
            </a:r>
            <a:endParaRPr lang="en-US" altLang="zh-CN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35089E4-5EEF-4B66-911B-96D38F3DB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9F6D8D7-3064-47FC-B244-1EDFD85EEC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0285684"/>
              </p:ext>
            </p:extLst>
          </p:nvPr>
        </p:nvGraphicFramePr>
        <p:xfrm>
          <a:off x="589399" y="892909"/>
          <a:ext cx="7738568" cy="415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name="Visio" r:id="rId3" imgW="3579146" imgH="1927866" progId="Visio.Drawing.11">
                  <p:embed/>
                </p:oleObj>
              </mc:Choice>
              <mc:Fallback>
                <p:oleObj name="Visio" r:id="rId3" imgW="3579146" imgH="1927866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399" y="892909"/>
                        <a:ext cx="7738568" cy="41505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25058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49B2ACD-BCC3-42F3-8A46-1FF68D1E3F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第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zh-CN" altLang="en-US" b="1" dirty="0">
                <a:solidFill>
                  <a:srgbClr val="FF0000"/>
                </a:solidFill>
              </a:rPr>
              <a:t>章  总线技术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C153F71-F0B3-4B12-888B-BBC670D2D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4135" y="1548745"/>
            <a:ext cx="5544616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4. 1  </a:t>
            </a:r>
            <a:r>
              <a:rPr lang="zh-CN" altLang="en-US" dirty="0"/>
              <a:t>总 线 概 述</a:t>
            </a:r>
          </a:p>
          <a:p>
            <a:pPr marL="0" indent="0">
              <a:buNone/>
            </a:pPr>
            <a:r>
              <a:rPr lang="en-US" altLang="zh-CN" dirty="0"/>
              <a:t>4. 2  </a:t>
            </a:r>
            <a:r>
              <a:rPr lang="zh-CN" altLang="en-US" dirty="0"/>
              <a:t>系统总线结构</a:t>
            </a:r>
          </a:p>
          <a:p>
            <a:pPr marL="0" indent="0">
              <a:buNone/>
            </a:pPr>
            <a:r>
              <a:rPr lang="en-US" altLang="zh-CN" dirty="0"/>
              <a:t>4. 3  </a:t>
            </a:r>
            <a:r>
              <a:rPr lang="zh-CN" altLang="en-US" dirty="0"/>
              <a:t>总 线 仲 裁</a:t>
            </a:r>
          </a:p>
          <a:p>
            <a:pPr marL="0" indent="0">
              <a:buNone/>
            </a:pPr>
            <a:r>
              <a:rPr lang="en-US" altLang="zh-CN" dirty="0"/>
              <a:t>4. 4  </a:t>
            </a:r>
            <a:r>
              <a:rPr lang="zh-CN" altLang="en-US" dirty="0"/>
              <a:t>总线的通信方式</a:t>
            </a:r>
          </a:p>
          <a:p>
            <a:pPr marL="0" indent="0">
              <a:buNone/>
            </a:pPr>
            <a:r>
              <a:rPr lang="en-US" altLang="zh-CN" dirty="0"/>
              <a:t>4. 5  </a:t>
            </a:r>
            <a:r>
              <a:rPr lang="zh-CN" altLang="en-US" dirty="0"/>
              <a:t>总线的信息传送</a:t>
            </a:r>
          </a:p>
          <a:p>
            <a:pPr marL="0" indent="0">
              <a:buNone/>
            </a:pPr>
            <a:r>
              <a:rPr lang="en-US" altLang="zh-CN" dirty="0"/>
              <a:t>4. 6  </a:t>
            </a:r>
            <a:r>
              <a:rPr lang="zh-CN" altLang="en-US" dirty="0"/>
              <a:t>总线标准简介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D67CA4-03D2-4867-8379-5DE67C6D1C43}"/>
              </a:ext>
            </a:extLst>
          </p:cNvPr>
          <p:cNvSpPr/>
          <p:nvPr/>
        </p:nvSpPr>
        <p:spPr>
          <a:xfrm>
            <a:off x="1324135" y="3933056"/>
            <a:ext cx="3967753" cy="5847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lvl="0" eaLnBrk="0" hangingPunct="0">
              <a:spcBef>
                <a:spcPct val="20000"/>
              </a:spcBef>
            </a:pPr>
            <a:r>
              <a:rPr lang="en-US" altLang="zh-CN" sz="3200" kern="0" dirty="0">
                <a:solidFill>
                  <a:srgbClr val="000000"/>
                </a:solidFill>
              </a:rPr>
              <a:t>4. 5  </a:t>
            </a:r>
            <a:r>
              <a:rPr lang="zh-CN" altLang="en-US" sz="3200" kern="0" dirty="0">
                <a:solidFill>
                  <a:srgbClr val="000000"/>
                </a:solidFill>
              </a:rPr>
              <a:t>总线的信息传送</a:t>
            </a:r>
          </a:p>
        </p:txBody>
      </p:sp>
    </p:spTree>
    <p:extLst>
      <p:ext uri="{BB962C8B-B14F-4D97-AF65-F5344CB8AC3E}">
        <p14:creationId xmlns:p14="http://schemas.microsoft.com/office/powerpoint/2010/main" val="1681804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矩形 2"/>
          <p:cNvSpPr>
            <a:spLocks noGrp="1" noChangeArrowheads="1"/>
          </p:cNvSpPr>
          <p:nvPr>
            <p:ph type="title"/>
          </p:nvPr>
        </p:nvSpPr>
        <p:spPr>
          <a:xfrm>
            <a:off x="251520" y="0"/>
            <a:ext cx="7886700" cy="617641"/>
          </a:xfrm>
        </p:spPr>
        <p:txBody>
          <a:bodyPr/>
          <a:lstStyle/>
          <a:p>
            <a:r>
              <a:rPr lang="en-US" altLang="zh-CN" dirty="0"/>
              <a:t>4. 5  </a:t>
            </a:r>
            <a:r>
              <a:rPr lang="zh-CN" altLang="en-US" dirty="0"/>
              <a:t>总线的信息传送</a:t>
            </a:r>
          </a:p>
        </p:txBody>
      </p:sp>
      <p:sp>
        <p:nvSpPr>
          <p:cNvPr id="27652" name="矩形 3"/>
          <p:cNvSpPr>
            <a:spLocks noGrp="1" noChangeArrowheads="1"/>
          </p:cNvSpPr>
          <p:nvPr>
            <p:ph type="body" idx="1"/>
          </p:nvPr>
        </p:nvSpPr>
        <p:spPr>
          <a:xfrm>
            <a:off x="263708" y="602298"/>
            <a:ext cx="8676456" cy="6079610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2400" b="1" dirty="0"/>
              <a:t>并行传送</a:t>
            </a:r>
            <a:endParaRPr lang="en-US" altLang="zh-CN" sz="2400" b="1" dirty="0"/>
          </a:p>
          <a:p>
            <a:pPr lvl="1" eaLnBrk="1" hangingPunct="1"/>
            <a:r>
              <a:rPr lang="zh-CN" altLang="en-US" sz="2400" dirty="0"/>
              <a:t>传输距离短，线间串绕严重</a:t>
            </a:r>
          </a:p>
          <a:p>
            <a:r>
              <a:rPr lang="zh-CN" altLang="en-US" sz="2400" b="1" dirty="0"/>
              <a:t>串行传送</a:t>
            </a:r>
            <a:endParaRPr lang="en-US" altLang="zh-CN" sz="2400" b="1" dirty="0"/>
          </a:p>
          <a:p>
            <a:pPr lvl="1"/>
            <a:r>
              <a:rPr lang="zh-CN" altLang="en-US" sz="2400" dirty="0"/>
              <a:t>传输距离长，无串绕，频率高 </a:t>
            </a:r>
            <a:endParaRPr lang="en-US" altLang="zh-CN" sz="2400" dirty="0"/>
          </a:p>
          <a:p>
            <a:pPr lvl="1"/>
            <a:r>
              <a:rPr lang="en-US" altLang="zh-CN" sz="2400" dirty="0"/>
              <a:t>SCSI </a:t>
            </a:r>
            <a:r>
              <a:rPr lang="en-US" altLang="zh-CN" sz="2400" dirty="0">
                <a:sym typeface="Wingdings" panose="05000000000000000000" pitchFamily="2" charset="2"/>
              </a:rPr>
              <a:t> SAS   PATA  SATA    PCI  PCI-E</a:t>
            </a:r>
            <a:endParaRPr lang="zh-CN" altLang="en-US" sz="2400" dirty="0"/>
          </a:p>
          <a:p>
            <a:r>
              <a:rPr lang="zh-CN" altLang="en-US" sz="2400" b="1" dirty="0"/>
              <a:t>串并行传送</a:t>
            </a:r>
            <a:endParaRPr lang="en-US" altLang="zh-CN" sz="2400" b="1" dirty="0"/>
          </a:p>
          <a:p>
            <a:pPr lvl="1"/>
            <a:r>
              <a:rPr lang="zh-CN" altLang="en-US" sz="2400" dirty="0">
                <a:sym typeface="Wingdings" panose="05000000000000000000" pitchFamily="2" charset="2"/>
              </a:rPr>
              <a:t>高速串行总线</a:t>
            </a:r>
            <a:r>
              <a:rPr lang="en-US" altLang="zh-CN" sz="2400" dirty="0"/>
              <a:t>PCI</a:t>
            </a:r>
            <a:r>
              <a:rPr lang="zh-CN" altLang="en-US" sz="2400" dirty="0"/>
              <a:t>、</a:t>
            </a:r>
            <a:r>
              <a:rPr lang="en-US" altLang="zh-CN" sz="2400" dirty="0"/>
              <a:t>HT</a:t>
            </a:r>
            <a:r>
              <a:rPr lang="zh-CN" altLang="en-US" sz="2400" dirty="0"/>
              <a:t>、</a:t>
            </a:r>
            <a:r>
              <a:rPr lang="en-US" altLang="zh-CN" sz="2400" dirty="0"/>
              <a:t>QPI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r>
              <a:rPr lang="zh-CN" altLang="en-US" sz="2400" b="1" dirty="0">
                <a:sym typeface="Wingdings" panose="05000000000000000000" pitchFamily="2" charset="2"/>
              </a:rPr>
              <a:t>分时传送</a:t>
            </a:r>
            <a:endParaRPr lang="en-US" altLang="zh-CN" sz="2400" b="1" dirty="0">
              <a:sym typeface="Wingdings" panose="05000000000000000000" pitchFamily="2" charset="2"/>
            </a:endParaRPr>
          </a:p>
          <a:p>
            <a:pPr lvl="1"/>
            <a:r>
              <a:rPr lang="zh-CN" altLang="en-US" sz="2400" dirty="0">
                <a:sym typeface="Wingdings" panose="05000000000000000000" pitchFamily="2" charset="2"/>
              </a:rPr>
              <a:t>总线功能复用，减少线缆，降低成本，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lvl="1"/>
            <a:r>
              <a:rPr lang="zh-CN" altLang="en-US" sz="2400" dirty="0">
                <a:sym typeface="Wingdings" panose="05000000000000000000" pitchFamily="2" charset="2"/>
              </a:rPr>
              <a:t>多部件分时使用总线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lvl="1"/>
            <a:endParaRPr lang="zh-CN" altLang="en-US" sz="2400" dirty="0"/>
          </a:p>
          <a:p>
            <a:pPr eaLnBrk="1" hangingPunct="1"/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7656115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矩形 2"/>
          <p:cNvSpPr>
            <a:spLocks noGrp="1" noChangeArrowheads="1"/>
          </p:cNvSpPr>
          <p:nvPr>
            <p:ph type="title"/>
          </p:nvPr>
        </p:nvSpPr>
        <p:spPr>
          <a:xfrm>
            <a:off x="47035" y="26719"/>
            <a:ext cx="7886700" cy="617641"/>
          </a:xfrm>
        </p:spPr>
        <p:txBody>
          <a:bodyPr/>
          <a:lstStyle/>
          <a:p>
            <a:pPr eaLnBrk="1" hangingPunct="1"/>
            <a:r>
              <a:rPr lang="zh-CN" altLang="en-US"/>
              <a:t>串行传送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30237F6-D9A9-49B1-A2F3-00801ECD5D03}"/>
              </a:ext>
            </a:extLst>
          </p:cNvPr>
          <p:cNvGrpSpPr/>
          <p:nvPr/>
        </p:nvGrpSpPr>
        <p:grpSpPr>
          <a:xfrm>
            <a:off x="4098206" y="4002728"/>
            <a:ext cx="5139015" cy="1528196"/>
            <a:chOff x="2979474" y="300986"/>
            <a:chExt cx="5942013" cy="1904273"/>
          </a:xfrm>
        </p:grpSpPr>
        <p:sp>
          <p:nvSpPr>
            <p:cNvPr id="52" name="矩形 4">
              <a:extLst>
                <a:ext uri="{FF2B5EF4-FFF2-40B4-BE49-F238E27FC236}">
                  <a16:creationId xmlns:a16="http://schemas.microsoft.com/office/drawing/2014/main" id="{943472A3-CEFF-4A72-BCAF-AA1F210C9B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6349" y="836834"/>
              <a:ext cx="1223963" cy="1368425"/>
            </a:xfrm>
            <a:prstGeom prst="rect">
              <a:avLst/>
            </a:prstGeom>
            <a:solidFill>
              <a:srgbClr val="99CC00"/>
            </a:solidFill>
            <a:ln w="9525" algn="ctr">
              <a:solidFill>
                <a:srgbClr val="6633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>
                <a:lnSpc>
                  <a:spcPct val="120000"/>
                </a:lnSpc>
                <a:spcBef>
                  <a:spcPct val="20000"/>
                </a:spcBef>
                <a:buClr>
                  <a:schemeClr val="tx2"/>
                </a:buClr>
              </a:pPr>
              <a:r>
                <a:rPr lang="zh-CN" altLang="en-US" sz="1600" b="1" dirty="0">
                  <a:latin typeface="+mn-ea"/>
                </a:rPr>
                <a:t>并</a:t>
              </a:r>
              <a:r>
                <a:rPr lang="en-US" altLang="zh-CN" sz="1600" b="1" dirty="0">
                  <a:latin typeface="+mn-ea"/>
                </a:rPr>
                <a:t>-</a:t>
              </a:r>
              <a:r>
                <a:rPr lang="zh-CN" altLang="en-US" sz="1600" b="1" dirty="0">
                  <a:latin typeface="+mn-ea"/>
                </a:rPr>
                <a:t>串转换</a:t>
              </a:r>
            </a:p>
          </p:txBody>
        </p:sp>
        <p:sp>
          <p:nvSpPr>
            <p:cNvPr id="92" name="矩形 5">
              <a:extLst>
                <a:ext uri="{FF2B5EF4-FFF2-40B4-BE49-F238E27FC236}">
                  <a16:creationId xmlns:a16="http://schemas.microsoft.com/office/drawing/2014/main" id="{92E7B1CA-3844-49C3-A5E0-21C502565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0186" y="836834"/>
              <a:ext cx="1223962" cy="1368425"/>
            </a:xfrm>
            <a:prstGeom prst="rect">
              <a:avLst/>
            </a:prstGeom>
            <a:solidFill>
              <a:srgbClr val="99CC00"/>
            </a:solidFill>
            <a:ln w="9525" algn="ctr">
              <a:solidFill>
                <a:srgbClr val="6633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>
                <a:lnSpc>
                  <a:spcPct val="120000"/>
                </a:lnSpc>
                <a:spcBef>
                  <a:spcPct val="20000"/>
                </a:spcBef>
                <a:buClr>
                  <a:schemeClr val="tx2"/>
                </a:buClr>
              </a:pPr>
              <a:r>
                <a:rPr lang="zh-CN" altLang="en-US" sz="1600" b="1" dirty="0">
                  <a:latin typeface="+mn-ea"/>
                </a:rPr>
                <a:t>串</a:t>
              </a:r>
              <a:r>
                <a:rPr lang="en-US" altLang="zh-CN" sz="1600" b="1" dirty="0">
                  <a:latin typeface="+mn-ea"/>
                </a:rPr>
                <a:t>-</a:t>
              </a:r>
              <a:r>
                <a:rPr lang="zh-CN" altLang="en-US" sz="1600" b="1" dirty="0">
                  <a:latin typeface="+mn-ea"/>
                </a:rPr>
                <a:t>并转换</a:t>
              </a:r>
            </a:p>
          </p:txBody>
        </p:sp>
        <p:sp>
          <p:nvSpPr>
            <p:cNvPr id="93" name="直线 6">
              <a:extLst>
                <a:ext uri="{FF2B5EF4-FFF2-40B4-BE49-F238E27FC236}">
                  <a16:creationId xmlns:a16="http://schemas.microsoft.com/office/drawing/2014/main" id="{DBA7FCD7-B455-4998-AC89-FB092C6A00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0312" y="1484533"/>
              <a:ext cx="2808287" cy="0"/>
            </a:xfrm>
            <a:prstGeom prst="line">
              <a:avLst/>
            </a:prstGeom>
            <a:noFill/>
            <a:ln w="9525">
              <a:solidFill>
                <a:srgbClr val="66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zh-CN" altLang="en-US" sz="1600">
                <a:latin typeface="+mn-ea"/>
              </a:endParaRPr>
            </a:p>
          </p:txBody>
        </p:sp>
        <p:sp>
          <p:nvSpPr>
            <p:cNvPr id="94" name="矩形 7">
              <a:extLst>
                <a:ext uri="{FF2B5EF4-FFF2-40B4-BE49-F238E27FC236}">
                  <a16:creationId xmlns:a16="http://schemas.microsoft.com/office/drawing/2014/main" id="{86143C65-7F7E-4764-927A-A34CF66A25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9474" y="300986"/>
              <a:ext cx="1800225" cy="462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66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ct val="20000"/>
                </a:spcBef>
                <a:buClr>
                  <a:schemeClr val="tx2"/>
                </a:buClr>
              </a:pPr>
              <a:r>
                <a:rPr lang="zh-CN" altLang="en-US" sz="1600" b="1" dirty="0">
                  <a:latin typeface="+mn-ea"/>
                </a:rPr>
                <a:t>发送部件</a:t>
              </a:r>
            </a:p>
          </p:txBody>
        </p:sp>
        <p:sp>
          <p:nvSpPr>
            <p:cNvPr id="95" name="矩形 8">
              <a:extLst>
                <a:ext uri="{FF2B5EF4-FFF2-40B4-BE49-F238E27FC236}">
                  <a16:creationId xmlns:a16="http://schemas.microsoft.com/office/drawing/2014/main" id="{3C059C72-F19D-44A4-BC4F-1BBCFAD531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1262" y="333596"/>
              <a:ext cx="1800225" cy="462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66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ct val="20000"/>
                </a:spcBef>
                <a:buClr>
                  <a:schemeClr val="tx2"/>
                </a:buClr>
              </a:pPr>
              <a:r>
                <a:rPr lang="zh-CN" altLang="en-US" sz="1600" b="1">
                  <a:latin typeface="+mn-ea"/>
                </a:rPr>
                <a:t>接收部件</a:t>
              </a:r>
            </a:p>
          </p:txBody>
        </p:sp>
        <p:sp>
          <p:nvSpPr>
            <p:cNvPr id="96" name="矩形 9">
              <a:extLst>
                <a:ext uri="{FF2B5EF4-FFF2-40B4-BE49-F238E27FC236}">
                  <a16:creationId xmlns:a16="http://schemas.microsoft.com/office/drawing/2014/main" id="{39E53719-8D1C-48F9-9EDD-8EF831FE6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738" y="1067457"/>
              <a:ext cx="1800225" cy="462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66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ct val="20000"/>
                </a:spcBef>
                <a:buClr>
                  <a:schemeClr val="tx2"/>
                </a:buClr>
              </a:pPr>
              <a:r>
                <a:rPr lang="en-US" altLang="zh-CN" sz="1600" b="1">
                  <a:latin typeface="+mn-ea"/>
                </a:rPr>
                <a:t>00000101</a:t>
              </a:r>
            </a:p>
          </p:txBody>
        </p:sp>
      </p:grpSp>
      <p:sp>
        <p:nvSpPr>
          <p:cNvPr id="97" name="矩形 3">
            <a:extLst>
              <a:ext uri="{FF2B5EF4-FFF2-40B4-BE49-F238E27FC236}">
                <a16:creationId xmlns:a16="http://schemas.microsoft.com/office/drawing/2014/main" id="{15FDB38E-3593-420C-986A-30499607F5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8526" y="499734"/>
            <a:ext cx="8798358" cy="4277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C000"/>
              </a:buClr>
              <a:buFont typeface="Wingdings" panose="05000000000000000000" pitchFamily="2" charset="2"/>
              <a:buChar char="n"/>
              <a:defRPr lang="zh-CN" altLang="en-US" sz="24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812800" indent="-355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C000"/>
              </a:buClr>
              <a:buFont typeface="Wingdings" panose="05000000000000000000" pitchFamily="2" charset="2"/>
              <a:buChar char="p"/>
              <a:defRPr lang="zh-CN" altLang="en-US" sz="2000">
                <a:solidFill>
                  <a:srgbClr val="C00000"/>
                </a:solidFill>
                <a:latin typeface="+mn-ea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C000"/>
              </a:buClr>
              <a:buFont typeface="Wingdings" panose="05000000000000000000" pitchFamily="2" charset="2"/>
              <a:buChar char="u"/>
              <a:defRPr lang="zh-CN" altLang="en-US" sz="2000">
                <a:solidFill>
                  <a:schemeClr val="tx1"/>
                </a:solidFill>
                <a:latin typeface="+mn-ea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n-ea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kern="0" dirty="0"/>
              <a:t>位信息从低到高位在一条传输线上逐位以脉冲方式传送</a:t>
            </a:r>
          </a:p>
          <a:p>
            <a:pPr lvl="1">
              <a:lnSpc>
                <a:spcPct val="150000"/>
              </a:lnSpc>
            </a:pPr>
            <a:r>
              <a:rPr lang="zh-CN" altLang="en-US" sz="1600" kern="0" dirty="0"/>
              <a:t>一条传输线，每次一位，先低位，后高位；</a:t>
            </a:r>
            <a:endParaRPr lang="en-US" altLang="zh-CN" sz="1600" kern="0" dirty="0"/>
          </a:p>
          <a:p>
            <a:pPr lvl="1">
              <a:lnSpc>
                <a:spcPct val="150000"/>
              </a:lnSpc>
            </a:pPr>
            <a:r>
              <a:rPr lang="zh-CN" altLang="en-US" sz="1600" kern="0" dirty="0"/>
              <a:t>发送端往往需要进行并</a:t>
            </a:r>
            <a:r>
              <a:rPr lang="en-US" altLang="zh-CN" sz="1600" kern="0" dirty="0"/>
              <a:t>_</a:t>
            </a:r>
            <a:r>
              <a:rPr lang="zh-CN" altLang="en-US" sz="1600" kern="0" dirty="0"/>
              <a:t>串转换，在接收端进行串</a:t>
            </a:r>
            <a:r>
              <a:rPr lang="en-US" altLang="zh-CN" sz="1600" kern="0" dirty="0"/>
              <a:t>_</a:t>
            </a:r>
            <a:r>
              <a:rPr lang="zh-CN" altLang="en-US" sz="1600" kern="0" dirty="0"/>
              <a:t>并转换；</a:t>
            </a:r>
          </a:p>
          <a:p>
            <a:pPr lvl="1">
              <a:lnSpc>
                <a:spcPct val="150000"/>
              </a:lnSpc>
            </a:pPr>
            <a:r>
              <a:rPr lang="zh-CN" altLang="en-US" sz="1600" kern="0" dirty="0"/>
              <a:t>成本低，速度慢，传输距离长。</a:t>
            </a:r>
            <a:endParaRPr lang="en-US" altLang="zh-CN" sz="1600" kern="0" dirty="0"/>
          </a:p>
          <a:p>
            <a:pPr>
              <a:lnSpc>
                <a:spcPct val="150000"/>
              </a:lnSpc>
            </a:pPr>
            <a:r>
              <a:rPr lang="zh-CN" altLang="en-US" sz="2000" kern="0" dirty="0"/>
              <a:t>串行传送的数据格式编码</a:t>
            </a:r>
            <a:endParaRPr lang="en-US" altLang="zh-CN" sz="2000" kern="0" dirty="0"/>
          </a:p>
          <a:p>
            <a:pPr lvl="1">
              <a:lnSpc>
                <a:spcPct val="150000"/>
              </a:lnSpc>
            </a:pPr>
            <a:r>
              <a:rPr lang="zh-CN" altLang="en-US" sz="1800" kern="0" dirty="0"/>
              <a:t>起始位</a:t>
            </a:r>
            <a:r>
              <a:rPr lang="en-US" altLang="zh-CN" sz="1800" kern="0" dirty="0"/>
              <a:t>+</a:t>
            </a:r>
            <a:r>
              <a:rPr lang="zh-CN" altLang="en-US" sz="1800" kern="0" dirty="0"/>
              <a:t>数据位</a:t>
            </a:r>
            <a:r>
              <a:rPr lang="en-US" altLang="zh-CN" sz="1800" kern="0" dirty="0"/>
              <a:t>+</a:t>
            </a:r>
            <a:r>
              <a:rPr lang="zh-CN" altLang="en-US" sz="1800" kern="0" dirty="0"/>
              <a:t>校验位</a:t>
            </a:r>
            <a:r>
              <a:rPr lang="en-US" altLang="zh-CN" sz="1800" kern="0" dirty="0"/>
              <a:t>+</a:t>
            </a:r>
            <a:r>
              <a:rPr lang="zh-CN" altLang="en-US" sz="1800" kern="0" dirty="0"/>
              <a:t>停止位</a:t>
            </a:r>
          </a:p>
          <a:p>
            <a:pPr>
              <a:lnSpc>
                <a:spcPct val="150000"/>
              </a:lnSpc>
            </a:pPr>
            <a:r>
              <a:rPr lang="zh-CN" altLang="en-US" sz="2000" kern="0" dirty="0"/>
              <a:t>波特率</a:t>
            </a:r>
            <a:r>
              <a:rPr lang="en-US" altLang="zh-CN" sz="2000" kern="0" dirty="0"/>
              <a:t>: </a:t>
            </a:r>
            <a:r>
              <a:rPr lang="zh-CN" altLang="en-US" sz="2000" kern="0" dirty="0"/>
              <a:t>每秒钟传送的码元个数</a:t>
            </a:r>
            <a:endParaRPr lang="en-US" altLang="zh-CN" sz="2000" kern="0" dirty="0"/>
          </a:p>
          <a:p>
            <a:pPr lvl="1">
              <a:lnSpc>
                <a:spcPct val="150000"/>
              </a:lnSpc>
            </a:pPr>
            <a:r>
              <a:rPr lang="zh-CN" altLang="en-US" sz="1600" kern="0" dirty="0"/>
              <a:t>波特率</a:t>
            </a:r>
            <a:r>
              <a:rPr lang="en-US" altLang="zh-CN" sz="1600" kern="0" dirty="0"/>
              <a:t>(</a:t>
            </a:r>
            <a:r>
              <a:rPr lang="zh-CN" altLang="en-US" sz="1600" kern="0" dirty="0"/>
              <a:t>所有信息</a:t>
            </a:r>
            <a:r>
              <a:rPr lang="en-US" altLang="zh-CN" sz="1600" kern="0" dirty="0"/>
              <a:t>)&gt;</a:t>
            </a:r>
            <a:r>
              <a:rPr lang="zh-CN" altLang="en-US" sz="1600" kern="0" dirty="0"/>
              <a:t>数据传输率（有效数据）</a:t>
            </a:r>
            <a:endParaRPr lang="en-US" altLang="zh-CN" sz="1600" kern="0" dirty="0"/>
          </a:p>
        </p:txBody>
      </p: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19FC5ED4-92EE-4EA6-810A-F087432073D2}"/>
              </a:ext>
            </a:extLst>
          </p:cNvPr>
          <p:cNvGrpSpPr/>
          <p:nvPr/>
        </p:nvGrpSpPr>
        <p:grpSpPr>
          <a:xfrm>
            <a:off x="3480455" y="5867455"/>
            <a:ext cx="5631008" cy="923636"/>
            <a:chOff x="682625" y="3661246"/>
            <a:chExt cx="7345363" cy="1529690"/>
          </a:xfrm>
        </p:grpSpPr>
        <p:sp>
          <p:nvSpPr>
            <p:cNvPr id="99" name="直线 10">
              <a:extLst>
                <a:ext uri="{FF2B5EF4-FFF2-40B4-BE49-F238E27FC236}">
                  <a16:creationId xmlns:a16="http://schemas.microsoft.com/office/drawing/2014/main" id="{2FAE8C49-DF7A-4D28-8C47-9571DFFC0C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65588" y="4742334"/>
              <a:ext cx="0" cy="360362"/>
            </a:xfrm>
            <a:prstGeom prst="line">
              <a:avLst/>
            </a:prstGeom>
            <a:noFill/>
            <a:ln w="28575">
              <a:solidFill>
                <a:srgbClr val="00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1400">
                <a:latin typeface="+mn-ea"/>
              </a:endParaRPr>
            </a:p>
          </p:txBody>
        </p:sp>
        <p:sp>
          <p:nvSpPr>
            <p:cNvPr id="100" name="直线 11">
              <a:extLst>
                <a:ext uri="{FF2B5EF4-FFF2-40B4-BE49-F238E27FC236}">
                  <a16:creationId xmlns:a16="http://schemas.microsoft.com/office/drawing/2014/main" id="{7D97D1CE-D029-4576-A4BA-3DB218CD87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5588" y="4742334"/>
              <a:ext cx="650875" cy="0"/>
            </a:xfrm>
            <a:prstGeom prst="line">
              <a:avLst/>
            </a:prstGeom>
            <a:noFill/>
            <a:ln w="28575">
              <a:solidFill>
                <a:srgbClr val="00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1400">
                <a:latin typeface="+mn-ea"/>
              </a:endParaRPr>
            </a:p>
          </p:txBody>
        </p:sp>
        <p:sp>
          <p:nvSpPr>
            <p:cNvPr id="101" name="直线 12">
              <a:extLst>
                <a:ext uri="{FF2B5EF4-FFF2-40B4-BE49-F238E27FC236}">
                  <a16:creationId xmlns:a16="http://schemas.microsoft.com/office/drawing/2014/main" id="{8ABFF40D-E088-4AD2-8CCF-82361F4FAA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6463" y="4742334"/>
              <a:ext cx="0" cy="360362"/>
            </a:xfrm>
            <a:prstGeom prst="line">
              <a:avLst/>
            </a:prstGeom>
            <a:noFill/>
            <a:ln w="28575">
              <a:solidFill>
                <a:srgbClr val="00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1400">
                <a:latin typeface="+mn-ea"/>
              </a:endParaRPr>
            </a:p>
          </p:txBody>
        </p:sp>
        <p:sp>
          <p:nvSpPr>
            <p:cNvPr id="102" name="直线 13">
              <a:extLst>
                <a:ext uri="{FF2B5EF4-FFF2-40B4-BE49-F238E27FC236}">
                  <a16:creationId xmlns:a16="http://schemas.microsoft.com/office/drawing/2014/main" id="{4A641155-B5B9-4FBD-ACE6-CCA6031FFC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1700" y="5101109"/>
              <a:ext cx="3243263" cy="0"/>
            </a:xfrm>
            <a:prstGeom prst="line">
              <a:avLst/>
            </a:prstGeom>
            <a:noFill/>
            <a:ln w="28575">
              <a:solidFill>
                <a:srgbClr val="00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1400">
                <a:latin typeface="+mn-ea"/>
              </a:endParaRPr>
            </a:p>
          </p:txBody>
        </p:sp>
        <p:sp>
          <p:nvSpPr>
            <p:cNvPr id="103" name="直线 14">
              <a:extLst>
                <a:ext uri="{FF2B5EF4-FFF2-40B4-BE49-F238E27FC236}">
                  <a16:creationId xmlns:a16="http://schemas.microsoft.com/office/drawing/2014/main" id="{7E66B16F-CCC4-4F0C-AA31-2314E990FA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70188" y="4742334"/>
              <a:ext cx="0" cy="360362"/>
            </a:xfrm>
            <a:prstGeom prst="line">
              <a:avLst/>
            </a:prstGeom>
            <a:noFill/>
            <a:ln w="28575">
              <a:solidFill>
                <a:srgbClr val="00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1400">
                <a:latin typeface="+mn-ea"/>
              </a:endParaRPr>
            </a:p>
          </p:txBody>
        </p:sp>
        <p:sp>
          <p:nvSpPr>
            <p:cNvPr id="104" name="直线 15">
              <a:extLst>
                <a:ext uri="{FF2B5EF4-FFF2-40B4-BE49-F238E27FC236}">
                  <a16:creationId xmlns:a16="http://schemas.microsoft.com/office/drawing/2014/main" id="{64632F9E-4582-4E92-9EC4-2115B1D57A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0188" y="4742334"/>
              <a:ext cx="650875" cy="0"/>
            </a:xfrm>
            <a:prstGeom prst="line">
              <a:avLst/>
            </a:prstGeom>
            <a:noFill/>
            <a:ln w="28575">
              <a:solidFill>
                <a:srgbClr val="00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1400">
                <a:latin typeface="+mn-ea"/>
              </a:endParaRPr>
            </a:p>
          </p:txBody>
        </p:sp>
        <p:sp>
          <p:nvSpPr>
            <p:cNvPr id="105" name="直线 16">
              <a:extLst>
                <a:ext uri="{FF2B5EF4-FFF2-40B4-BE49-F238E27FC236}">
                  <a16:creationId xmlns:a16="http://schemas.microsoft.com/office/drawing/2014/main" id="{E2C55EE0-D99E-40B7-AAC0-A55B69DC40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1063" y="4742334"/>
              <a:ext cx="0" cy="360362"/>
            </a:xfrm>
            <a:prstGeom prst="line">
              <a:avLst/>
            </a:prstGeom>
            <a:noFill/>
            <a:ln w="28575">
              <a:solidFill>
                <a:srgbClr val="00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1400">
                <a:latin typeface="+mn-ea"/>
              </a:endParaRPr>
            </a:p>
          </p:txBody>
        </p:sp>
        <p:sp>
          <p:nvSpPr>
            <p:cNvPr id="106" name="直线 17">
              <a:extLst>
                <a:ext uri="{FF2B5EF4-FFF2-40B4-BE49-F238E27FC236}">
                  <a16:creationId xmlns:a16="http://schemas.microsoft.com/office/drawing/2014/main" id="{2B85DE64-8260-4750-B5F0-A33FB3E8CC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6300" y="5101109"/>
              <a:ext cx="649288" cy="0"/>
            </a:xfrm>
            <a:prstGeom prst="line">
              <a:avLst/>
            </a:prstGeom>
            <a:noFill/>
            <a:ln w="28575">
              <a:solidFill>
                <a:srgbClr val="00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1400">
                <a:latin typeface="+mn-ea"/>
              </a:endParaRPr>
            </a:p>
          </p:txBody>
        </p:sp>
        <p:sp>
          <p:nvSpPr>
            <p:cNvPr id="107" name="文本框 18">
              <a:extLst>
                <a:ext uri="{FF2B5EF4-FFF2-40B4-BE49-F238E27FC236}">
                  <a16:creationId xmlns:a16="http://schemas.microsoft.com/office/drawing/2014/main" id="{1778A95B-91AF-4042-8A26-746E92A51C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0189" y="3661246"/>
              <a:ext cx="576263" cy="44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  <a:latin typeface="+mn-ea"/>
                  <a:ea typeface="+mn-ea"/>
                </a:rPr>
                <a:t>T</a:t>
              </a:r>
              <a:r>
                <a:rPr lang="en-US" altLang="zh-CN" sz="1800" baseline="-25000">
                  <a:solidFill>
                    <a:schemeClr val="tx1"/>
                  </a:solidFill>
                  <a:latin typeface="+mn-ea"/>
                  <a:ea typeface="+mn-ea"/>
                </a:rPr>
                <a:t>1</a:t>
              </a:r>
              <a:endParaRPr lang="el-GR" altLang="zh-CN" sz="1800" baseline="-2500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08" name="直线 19">
              <a:extLst>
                <a:ext uri="{FF2B5EF4-FFF2-40B4-BE49-F238E27FC236}">
                  <a16:creationId xmlns:a16="http://schemas.microsoft.com/office/drawing/2014/main" id="{EA5BFA3F-F9AF-415A-8213-0A462F6535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0188" y="3950171"/>
              <a:ext cx="0" cy="1152525"/>
            </a:xfrm>
            <a:prstGeom prst="line">
              <a:avLst/>
            </a:prstGeom>
            <a:noFill/>
            <a:ln w="9525">
              <a:solidFill>
                <a:srgbClr val="6633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zh-CN" altLang="en-US" sz="1400">
                <a:latin typeface="+mn-ea"/>
              </a:endParaRPr>
            </a:p>
          </p:txBody>
        </p:sp>
        <p:sp>
          <p:nvSpPr>
            <p:cNvPr id="109" name="直线 20">
              <a:extLst>
                <a:ext uri="{FF2B5EF4-FFF2-40B4-BE49-F238E27FC236}">
                  <a16:creationId xmlns:a16="http://schemas.microsoft.com/office/drawing/2014/main" id="{9CB88266-0C58-4C4D-8AA8-018A51D055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7888" y="3950171"/>
              <a:ext cx="0" cy="1152525"/>
            </a:xfrm>
            <a:prstGeom prst="line">
              <a:avLst/>
            </a:prstGeom>
            <a:noFill/>
            <a:ln w="9525">
              <a:solidFill>
                <a:srgbClr val="6633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zh-CN" altLang="en-US" sz="1400">
                <a:latin typeface="+mn-ea"/>
              </a:endParaRPr>
            </a:p>
          </p:txBody>
        </p:sp>
        <p:sp>
          <p:nvSpPr>
            <p:cNvPr id="110" name="直线 21">
              <a:extLst>
                <a:ext uri="{FF2B5EF4-FFF2-40B4-BE49-F238E27FC236}">
                  <a16:creationId xmlns:a16="http://schemas.microsoft.com/office/drawing/2014/main" id="{C0B62960-C92C-4CFB-9CB0-C1C21736E9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7175" y="3948584"/>
              <a:ext cx="0" cy="1152525"/>
            </a:xfrm>
            <a:prstGeom prst="line">
              <a:avLst/>
            </a:prstGeom>
            <a:noFill/>
            <a:ln w="9525">
              <a:solidFill>
                <a:srgbClr val="6633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zh-CN" altLang="en-US" sz="1400">
                <a:latin typeface="+mn-ea"/>
              </a:endParaRPr>
            </a:p>
          </p:txBody>
        </p:sp>
        <p:sp>
          <p:nvSpPr>
            <p:cNvPr id="111" name="直线 22">
              <a:extLst>
                <a:ext uri="{FF2B5EF4-FFF2-40B4-BE49-F238E27FC236}">
                  <a16:creationId xmlns:a16="http://schemas.microsoft.com/office/drawing/2014/main" id="{FA126AC6-7FEA-4D87-8C4D-36FF3AA506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875" y="3948584"/>
              <a:ext cx="0" cy="1152525"/>
            </a:xfrm>
            <a:prstGeom prst="line">
              <a:avLst/>
            </a:prstGeom>
            <a:noFill/>
            <a:ln w="9525">
              <a:solidFill>
                <a:srgbClr val="6633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zh-CN" altLang="en-US" sz="1400">
                <a:latin typeface="+mn-ea"/>
              </a:endParaRPr>
            </a:p>
          </p:txBody>
        </p:sp>
        <p:sp>
          <p:nvSpPr>
            <p:cNvPr id="112" name="直线 23">
              <a:extLst>
                <a:ext uri="{FF2B5EF4-FFF2-40B4-BE49-F238E27FC236}">
                  <a16:creationId xmlns:a16="http://schemas.microsoft.com/office/drawing/2014/main" id="{87C54B4D-EFD1-4AF6-B3F2-2950CC21B5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2575" y="3948584"/>
              <a:ext cx="0" cy="1152525"/>
            </a:xfrm>
            <a:prstGeom prst="line">
              <a:avLst/>
            </a:prstGeom>
            <a:noFill/>
            <a:ln w="9525">
              <a:solidFill>
                <a:srgbClr val="6633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zh-CN" altLang="en-US" sz="1400">
                <a:latin typeface="+mn-ea"/>
              </a:endParaRPr>
            </a:p>
          </p:txBody>
        </p:sp>
        <p:sp>
          <p:nvSpPr>
            <p:cNvPr id="113" name="直线 24">
              <a:extLst>
                <a:ext uri="{FF2B5EF4-FFF2-40B4-BE49-F238E27FC236}">
                  <a16:creationId xmlns:a16="http://schemas.microsoft.com/office/drawing/2014/main" id="{622F0D61-8E27-45AD-8B72-DE50F71B33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0275" y="3948584"/>
              <a:ext cx="0" cy="1152525"/>
            </a:xfrm>
            <a:prstGeom prst="line">
              <a:avLst/>
            </a:prstGeom>
            <a:noFill/>
            <a:ln w="9525">
              <a:solidFill>
                <a:srgbClr val="6633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zh-CN" altLang="en-US" sz="1400">
                <a:latin typeface="+mn-ea"/>
              </a:endParaRPr>
            </a:p>
          </p:txBody>
        </p:sp>
        <p:sp>
          <p:nvSpPr>
            <p:cNvPr id="114" name="直线 25">
              <a:extLst>
                <a:ext uri="{FF2B5EF4-FFF2-40B4-BE49-F238E27FC236}">
                  <a16:creationId xmlns:a16="http://schemas.microsoft.com/office/drawing/2014/main" id="{F7C13694-7ABC-4755-9675-9EC975D493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9563" y="3950171"/>
              <a:ext cx="0" cy="1152525"/>
            </a:xfrm>
            <a:prstGeom prst="line">
              <a:avLst/>
            </a:prstGeom>
            <a:noFill/>
            <a:ln w="9525">
              <a:solidFill>
                <a:srgbClr val="6633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zh-CN" altLang="en-US" sz="1400">
                <a:latin typeface="+mn-ea"/>
              </a:endParaRPr>
            </a:p>
          </p:txBody>
        </p:sp>
        <p:sp>
          <p:nvSpPr>
            <p:cNvPr id="115" name="直线 26">
              <a:extLst>
                <a:ext uri="{FF2B5EF4-FFF2-40B4-BE49-F238E27FC236}">
                  <a16:creationId xmlns:a16="http://schemas.microsoft.com/office/drawing/2014/main" id="{F7A08A13-F005-4A0B-B216-68FDCA72E9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7263" y="3950171"/>
              <a:ext cx="0" cy="1152525"/>
            </a:xfrm>
            <a:prstGeom prst="line">
              <a:avLst/>
            </a:prstGeom>
            <a:noFill/>
            <a:ln w="9525">
              <a:solidFill>
                <a:srgbClr val="6633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zh-CN" altLang="en-US" sz="1400">
                <a:latin typeface="+mn-ea"/>
              </a:endParaRPr>
            </a:p>
          </p:txBody>
        </p:sp>
        <p:sp>
          <p:nvSpPr>
            <p:cNvPr id="116" name="直线 27">
              <a:extLst>
                <a:ext uri="{FF2B5EF4-FFF2-40B4-BE49-F238E27FC236}">
                  <a16:creationId xmlns:a16="http://schemas.microsoft.com/office/drawing/2014/main" id="{5947FAC5-E0CC-4DF3-955C-1F71AC76E1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54963" y="3950171"/>
              <a:ext cx="0" cy="1152525"/>
            </a:xfrm>
            <a:prstGeom prst="line">
              <a:avLst/>
            </a:prstGeom>
            <a:noFill/>
            <a:ln w="9525">
              <a:solidFill>
                <a:srgbClr val="6633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zh-CN" altLang="en-US" sz="1400">
                <a:latin typeface="+mn-ea"/>
              </a:endParaRPr>
            </a:p>
          </p:txBody>
        </p:sp>
        <p:sp>
          <p:nvSpPr>
            <p:cNvPr id="117" name="直线 28">
              <a:extLst>
                <a:ext uri="{FF2B5EF4-FFF2-40B4-BE49-F238E27FC236}">
                  <a16:creationId xmlns:a16="http://schemas.microsoft.com/office/drawing/2014/main" id="{0E178175-1ECA-430C-83E8-F8D4676B13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0188" y="4166071"/>
              <a:ext cx="5184775" cy="0"/>
            </a:xfrm>
            <a:prstGeom prst="line">
              <a:avLst/>
            </a:prstGeom>
            <a:noFill/>
            <a:ln w="9525">
              <a:solidFill>
                <a:srgbClr val="66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zh-CN" altLang="en-US" sz="1400">
                <a:latin typeface="+mn-ea"/>
              </a:endParaRPr>
            </a:p>
          </p:txBody>
        </p:sp>
        <p:sp>
          <p:nvSpPr>
            <p:cNvPr id="118" name="文本框 29">
              <a:extLst>
                <a:ext uri="{FF2B5EF4-FFF2-40B4-BE49-F238E27FC236}">
                  <a16:creationId xmlns:a16="http://schemas.microsoft.com/office/drawing/2014/main" id="{065175E0-11E1-4E62-8EDF-FDE9F3FA37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7888" y="3661246"/>
              <a:ext cx="576263" cy="44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  <a:latin typeface="+mn-ea"/>
                  <a:ea typeface="+mn-ea"/>
                </a:rPr>
                <a:t>T</a:t>
              </a:r>
              <a:r>
                <a:rPr lang="en-US" altLang="zh-CN" sz="1800" baseline="-25000">
                  <a:solidFill>
                    <a:schemeClr val="tx1"/>
                  </a:solidFill>
                  <a:latin typeface="+mn-ea"/>
                  <a:ea typeface="+mn-ea"/>
                </a:rPr>
                <a:t>2</a:t>
              </a:r>
              <a:endParaRPr lang="el-GR" altLang="zh-CN" sz="1800" baseline="-2500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19" name="文本框 30">
              <a:extLst>
                <a:ext uri="{FF2B5EF4-FFF2-40B4-BE49-F238E27FC236}">
                  <a16:creationId xmlns:a16="http://schemas.microsoft.com/office/drawing/2014/main" id="{7012A083-5458-4F44-8372-271B5623EC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7173" y="3661246"/>
              <a:ext cx="576263" cy="44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  <a:latin typeface="+mn-ea"/>
                  <a:ea typeface="+mn-ea"/>
                </a:rPr>
                <a:t>T</a:t>
              </a:r>
              <a:r>
                <a:rPr lang="en-US" altLang="zh-CN" sz="1800" baseline="-25000">
                  <a:solidFill>
                    <a:schemeClr val="tx1"/>
                  </a:solidFill>
                  <a:latin typeface="+mn-ea"/>
                  <a:ea typeface="+mn-ea"/>
                </a:rPr>
                <a:t>3</a:t>
              </a:r>
              <a:endParaRPr lang="el-GR" altLang="zh-CN" sz="1800" baseline="-2500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20" name="文本框 31">
              <a:extLst>
                <a:ext uri="{FF2B5EF4-FFF2-40B4-BE49-F238E27FC236}">
                  <a16:creationId xmlns:a16="http://schemas.microsoft.com/office/drawing/2014/main" id="{5E21863A-3BD9-48FE-98D3-D14CE03E40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874" y="3661246"/>
              <a:ext cx="576263" cy="44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  <a:latin typeface="+mn-ea"/>
                  <a:ea typeface="+mn-ea"/>
                </a:rPr>
                <a:t>T</a:t>
              </a:r>
              <a:r>
                <a:rPr lang="en-US" altLang="zh-CN" sz="1800" baseline="-25000">
                  <a:solidFill>
                    <a:schemeClr val="tx1"/>
                  </a:solidFill>
                  <a:latin typeface="+mn-ea"/>
                  <a:ea typeface="+mn-ea"/>
                </a:rPr>
                <a:t>4</a:t>
              </a:r>
              <a:endParaRPr lang="el-GR" altLang="zh-CN" sz="1800" baseline="-2500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21" name="文本框 32">
              <a:extLst>
                <a:ext uri="{FF2B5EF4-FFF2-40B4-BE49-F238E27FC236}">
                  <a16:creationId xmlns:a16="http://schemas.microsoft.com/office/drawing/2014/main" id="{F8D7385C-01F0-4113-A83D-507D39A403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2574" y="3661246"/>
              <a:ext cx="576263" cy="44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  <a:latin typeface="+mn-ea"/>
                  <a:ea typeface="+mn-ea"/>
                </a:rPr>
                <a:t>T</a:t>
              </a:r>
              <a:r>
                <a:rPr lang="en-US" altLang="zh-CN" sz="1800" baseline="-25000">
                  <a:solidFill>
                    <a:schemeClr val="tx1"/>
                  </a:solidFill>
                  <a:latin typeface="+mn-ea"/>
                  <a:ea typeface="+mn-ea"/>
                </a:rPr>
                <a:t>5</a:t>
              </a:r>
              <a:endParaRPr lang="el-GR" altLang="zh-CN" sz="1800" baseline="-2500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22" name="文本框 33">
              <a:extLst>
                <a:ext uri="{FF2B5EF4-FFF2-40B4-BE49-F238E27FC236}">
                  <a16:creationId xmlns:a16="http://schemas.microsoft.com/office/drawing/2014/main" id="{DE825946-B270-466A-B1AD-48C5D1A0BF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0275" y="3661246"/>
              <a:ext cx="576263" cy="44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</a:rPr>
                <a:t>T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+mn-ea"/>
                  <a:ea typeface="+mn-ea"/>
                </a:rPr>
                <a:t>6</a:t>
              </a:r>
              <a:endParaRPr lang="el-GR" altLang="zh-CN" sz="1800" baseline="-25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23" name="文本框 34">
              <a:extLst>
                <a:ext uri="{FF2B5EF4-FFF2-40B4-BE49-F238E27FC236}">
                  <a16:creationId xmlns:a16="http://schemas.microsoft.com/office/drawing/2014/main" id="{B2800B6B-4824-4A60-9C6E-1511F8608F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9563" y="3661246"/>
              <a:ext cx="576263" cy="44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  <a:latin typeface="+mn-ea"/>
                  <a:ea typeface="+mn-ea"/>
                </a:rPr>
                <a:t>T</a:t>
              </a:r>
              <a:r>
                <a:rPr lang="en-US" altLang="zh-CN" sz="1800" baseline="-25000">
                  <a:solidFill>
                    <a:schemeClr val="tx1"/>
                  </a:solidFill>
                  <a:latin typeface="+mn-ea"/>
                  <a:ea typeface="+mn-ea"/>
                </a:rPr>
                <a:t>7</a:t>
              </a:r>
              <a:endParaRPr lang="el-GR" altLang="zh-CN" sz="1800" baseline="-2500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24" name="文本框 35">
              <a:extLst>
                <a:ext uri="{FF2B5EF4-FFF2-40B4-BE49-F238E27FC236}">
                  <a16:creationId xmlns:a16="http://schemas.microsoft.com/office/drawing/2014/main" id="{39A05148-6869-4FE8-8B16-2A7B2A601E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7262" y="3661246"/>
              <a:ext cx="576263" cy="44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  <a:latin typeface="+mn-ea"/>
                  <a:ea typeface="+mn-ea"/>
                </a:rPr>
                <a:t>T</a:t>
              </a:r>
              <a:r>
                <a:rPr lang="en-US" altLang="zh-CN" sz="1800" baseline="-25000">
                  <a:solidFill>
                    <a:schemeClr val="tx1"/>
                  </a:solidFill>
                  <a:latin typeface="+mn-ea"/>
                  <a:ea typeface="+mn-ea"/>
                </a:rPr>
                <a:t>8</a:t>
              </a:r>
              <a:endParaRPr lang="el-GR" altLang="zh-CN" sz="1800" baseline="-2500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25" name="文本框 36">
              <a:extLst>
                <a:ext uri="{FF2B5EF4-FFF2-40B4-BE49-F238E27FC236}">
                  <a16:creationId xmlns:a16="http://schemas.microsoft.com/office/drawing/2014/main" id="{945FA6AA-7664-4197-97C8-F793361285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0189" y="4345458"/>
              <a:ext cx="720726" cy="3084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050" dirty="0">
                  <a:solidFill>
                    <a:schemeClr val="tx1"/>
                  </a:solidFill>
                  <a:latin typeface="+mn-ea"/>
                  <a:ea typeface="+mn-ea"/>
                </a:rPr>
                <a:t>低位</a:t>
              </a:r>
              <a:endParaRPr lang="zh-CN" altLang="el-GR" sz="1050" baseline="-25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26" name="文本框 37">
              <a:extLst>
                <a:ext uri="{FF2B5EF4-FFF2-40B4-BE49-F238E27FC236}">
                  <a16:creationId xmlns:a16="http://schemas.microsoft.com/office/drawing/2014/main" id="{2BE090A2-3559-4498-8C60-23C28E8E12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7262" y="4310532"/>
              <a:ext cx="720726" cy="3084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050" dirty="0">
                  <a:solidFill>
                    <a:schemeClr val="tx1"/>
                  </a:solidFill>
                  <a:latin typeface="+mn-ea"/>
                  <a:ea typeface="+mn-ea"/>
                </a:rPr>
                <a:t>高位</a:t>
              </a:r>
              <a:endParaRPr lang="zh-CN" altLang="el-GR" sz="1050" baseline="-25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27" name="直线 38">
              <a:extLst>
                <a:ext uri="{FF2B5EF4-FFF2-40B4-BE49-F238E27FC236}">
                  <a16:creationId xmlns:a16="http://schemas.microsoft.com/office/drawing/2014/main" id="{68E2C027-5FF7-42D3-9C01-493E58CB0A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2488" y="5101109"/>
              <a:ext cx="649287" cy="0"/>
            </a:xfrm>
            <a:prstGeom prst="line">
              <a:avLst/>
            </a:prstGeom>
            <a:noFill/>
            <a:ln w="28575">
              <a:solidFill>
                <a:srgbClr val="00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1400">
                <a:latin typeface="+mn-ea"/>
              </a:endParaRPr>
            </a:p>
          </p:txBody>
        </p:sp>
        <p:sp>
          <p:nvSpPr>
            <p:cNvPr id="128" name="文本框 39">
              <a:extLst>
                <a:ext uri="{FF2B5EF4-FFF2-40B4-BE49-F238E27FC236}">
                  <a16:creationId xmlns:a16="http://schemas.microsoft.com/office/drawing/2014/main" id="{3271F57F-AD86-4D1F-A668-97C98261E2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8888" y="3805709"/>
              <a:ext cx="1368425" cy="44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 b="1">
                  <a:solidFill>
                    <a:schemeClr val="tx1"/>
                  </a:solidFill>
                  <a:latin typeface="+mn-ea"/>
                  <a:ea typeface="+mn-ea"/>
                </a:rPr>
                <a:t>位时间</a:t>
              </a:r>
              <a:endParaRPr lang="zh-CN" altLang="el-GR" sz="1800" b="1" baseline="-2500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29" name="文本框 40">
              <a:extLst>
                <a:ext uri="{FF2B5EF4-FFF2-40B4-BE49-F238E27FC236}">
                  <a16:creationId xmlns:a16="http://schemas.microsoft.com/office/drawing/2014/main" id="{B277279D-E773-4D90-92F9-A61A3E15D1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2625" y="4742336"/>
              <a:ext cx="1584324" cy="44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 b="1">
                  <a:solidFill>
                    <a:schemeClr val="tx1"/>
                  </a:solidFill>
                  <a:latin typeface="+mn-ea"/>
                  <a:ea typeface="+mn-ea"/>
                </a:rPr>
                <a:t>传送脉冲</a:t>
              </a:r>
              <a:endParaRPr lang="zh-CN" altLang="el-GR" sz="1800" b="1" baseline="-2500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30" name="文本框 41">
              <a:extLst>
                <a:ext uri="{FF2B5EF4-FFF2-40B4-BE49-F238E27FC236}">
                  <a16:creationId xmlns:a16="http://schemas.microsoft.com/office/drawing/2014/main" id="{E8EA4E33-0033-430B-8203-392C9D5CC8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0189" y="4669311"/>
              <a:ext cx="576263" cy="448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  <a:latin typeface="+mn-ea"/>
                  <a:ea typeface="+mn-ea"/>
                </a:rPr>
                <a:t>1</a:t>
              </a:r>
              <a:endParaRPr lang="el-GR" altLang="zh-CN" sz="1800" baseline="-2500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31" name="文本框 42">
              <a:extLst>
                <a:ext uri="{FF2B5EF4-FFF2-40B4-BE49-F238E27FC236}">
                  <a16:creationId xmlns:a16="http://schemas.microsoft.com/office/drawing/2014/main" id="{5CDFD1A4-2923-4D4D-82E0-BBA9083922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7888" y="4669311"/>
              <a:ext cx="576263" cy="448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  <a:latin typeface="+mn-ea"/>
                  <a:ea typeface="+mn-ea"/>
                </a:rPr>
                <a:t>0</a:t>
              </a:r>
              <a:endParaRPr lang="el-GR" altLang="zh-CN" sz="1800" baseline="-2500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32" name="文本框 43">
              <a:extLst>
                <a:ext uri="{FF2B5EF4-FFF2-40B4-BE49-F238E27FC236}">
                  <a16:creationId xmlns:a16="http://schemas.microsoft.com/office/drawing/2014/main" id="{94C7FF05-5F3E-46FF-871B-9728A37EA7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7173" y="4669311"/>
              <a:ext cx="576263" cy="448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  <a:latin typeface="+mn-ea"/>
                  <a:ea typeface="+mn-ea"/>
                </a:rPr>
                <a:t>1</a:t>
              </a:r>
              <a:endParaRPr lang="el-GR" altLang="zh-CN" sz="1800" baseline="-2500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33" name="文本框 44">
              <a:extLst>
                <a:ext uri="{FF2B5EF4-FFF2-40B4-BE49-F238E27FC236}">
                  <a16:creationId xmlns:a16="http://schemas.microsoft.com/office/drawing/2014/main" id="{D20340AD-FEE6-495C-957E-438843F5BE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874" y="4669311"/>
              <a:ext cx="576263" cy="448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</a:rPr>
                <a:t>0</a:t>
              </a:r>
              <a:endParaRPr lang="el-GR" altLang="zh-CN" sz="1800" baseline="-25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34" name="文本框 45">
              <a:extLst>
                <a:ext uri="{FF2B5EF4-FFF2-40B4-BE49-F238E27FC236}">
                  <a16:creationId xmlns:a16="http://schemas.microsoft.com/office/drawing/2014/main" id="{9417FDA4-AFAF-4BA0-B76A-2ECD7AB369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2574" y="4669311"/>
              <a:ext cx="576263" cy="448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  <a:latin typeface="+mn-ea"/>
                  <a:ea typeface="+mn-ea"/>
                </a:rPr>
                <a:t>0</a:t>
              </a:r>
              <a:endParaRPr lang="el-GR" altLang="zh-CN" sz="1800" baseline="-2500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35" name="文本框 46">
              <a:extLst>
                <a:ext uri="{FF2B5EF4-FFF2-40B4-BE49-F238E27FC236}">
                  <a16:creationId xmlns:a16="http://schemas.microsoft.com/office/drawing/2014/main" id="{C85B5C8B-0C03-4800-8CDB-3259B76481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0275" y="4669311"/>
              <a:ext cx="576263" cy="448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  <a:latin typeface="+mn-ea"/>
                  <a:ea typeface="+mn-ea"/>
                </a:rPr>
                <a:t>0</a:t>
              </a:r>
              <a:endParaRPr lang="el-GR" altLang="zh-CN" sz="1800" baseline="-2500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36" name="文本框 47">
              <a:extLst>
                <a:ext uri="{FF2B5EF4-FFF2-40B4-BE49-F238E27FC236}">
                  <a16:creationId xmlns:a16="http://schemas.microsoft.com/office/drawing/2014/main" id="{36461E06-74BB-49CA-AB68-CD73AD29F3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9563" y="4669311"/>
              <a:ext cx="576263" cy="448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  <a:latin typeface="+mn-ea"/>
                  <a:ea typeface="+mn-ea"/>
                </a:rPr>
                <a:t>0</a:t>
              </a:r>
              <a:endParaRPr lang="el-GR" altLang="zh-CN" sz="1800" baseline="-2500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37" name="文本框 48">
              <a:extLst>
                <a:ext uri="{FF2B5EF4-FFF2-40B4-BE49-F238E27FC236}">
                  <a16:creationId xmlns:a16="http://schemas.microsoft.com/office/drawing/2014/main" id="{6F2B396C-3164-49F5-85A2-E6642FE717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7262" y="4669311"/>
              <a:ext cx="576263" cy="448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  <a:latin typeface="+mn-ea"/>
                  <a:ea typeface="+mn-ea"/>
                </a:rPr>
                <a:t>0</a:t>
              </a:r>
              <a:endParaRPr lang="el-GR" altLang="zh-CN" sz="1800" baseline="-2500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3362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矩形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并行传送</a:t>
            </a:r>
          </a:p>
        </p:txBody>
      </p:sp>
      <p:grpSp>
        <p:nvGrpSpPr>
          <p:cNvPr id="38" name="组合 4">
            <a:extLst>
              <a:ext uri="{FF2B5EF4-FFF2-40B4-BE49-F238E27FC236}">
                <a16:creationId xmlns:a16="http://schemas.microsoft.com/office/drawing/2014/main" id="{17FEB937-408C-4B0D-8795-288A2DA84E15}"/>
              </a:ext>
            </a:extLst>
          </p:cNvPr>
          <p:cNvGrpSpPr/>
          <p:nvPr/>
        </p:nvGrpSpPr>
        <p:grpSpPr bwMode="auto">
          <a:xfrm>
            <a:off x="5436653" y="2061740"/>
            <a:ext cx="1439863" cy="1727200"/>
            <a:chOff x="1610" y="1344"/>
            <a:chExt cx="726" cy="1088"/>
          </a:xfrm>
        </p:grpSpPr>
        <p:sp>
          <p:nvSpPr>
            <p:cNvPr id="39" name="直线 5">
              <a:extLst>
                <a:ext uri="{FF2B5EF4-FFF2-40B4-BE49-F238E27FC236}">
                  <a16:creationId xmlns:a16="http://schemas.microsoft.com/office/drawing/2014/main" id="{B6C09774-5EC6-4E93-805A-78AB0202F7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1344"/>
              <a:ext cx="726" cy="0"/>
            </a:xfrm>
            <a:prstGeom prst="line">
              <a:avLst/>
            </a:prstGeom>
            <a:noFill/>
            <a:ln w="9525">
              <a:solidFill>
                <a:srgbClr val="66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40" name="直线 6">
              <a:extLst>
                <a:ext uri="{FF2B5EF4-FFF2-40B4-BE49-F238E27FC236}">
                  <a16:creationId xmlns:a16="http://schemas.microsoft.com/office/drawing/2014/main" id="{1B28077F-445B-4B68-BAE0-1AC593E584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1480"/>
              <a:ext cx="726" cy="0"/>
            </a:xfrm>
            <a:prstGeom prst="line">
              <a:avLst/>
            </a:prstGeom>
            <a:noFill/>
            <a:ln w="9525">
              <a:solidFill>
                <a:srgbClr val="66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41" name="直线 7">
              <a:extLst>
                <a:ext uri="{FF2B5EF4-FFF2-40B4-BE49-F238E27FC236}">
                  <a16:creationId xmlns:a16="http://schemas.microsoft.com/office/drawing/2014/main" id="{BE554E00-43C9-4322-BDB4-0EDF042468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1616"/>
              <a:ext cx="726" cy="0"/>
            </a:xfrm>
            <a:prstGeom prst="line">
              <a:avLst/>
            </a:prstGeom>
            <a:noFill/>
            <a:ln w="9525">
              <a:solidFill>
                <a:srgbClr val="66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42" name="直线 8">
              <a:extLst>
                <a:ext uri="{FF2B5EF4-FFF2-40B4-BE49-F238E27FC236}">
                  <a16:creationId xmlns:a16="http://schemas.microsoft.com/office/drawing/2014/main" id="{CE190145-74DC-4829-A997-34BEF29CD1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1752"/>
              <a:ext cx="726" cy="0"/>
            </a:xfrm>
            <a:prstGeom prst="line">
              <a:avLst/>
            </a:prstGeom>
            <a:noFill/>
            <a:ln w="9525">
              <a:solidFill>
                <a:srgbClr val="66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43" name="直线 9">
              <a:extLst>
                <a:ext uri="{FF2B5EF4-FFF2-40B4-BE49-F238E27FC236}">
                  <a16:creationId xmlns:a16="http://schemas.microsoft.com/office/drawing/2014/main" id="{1989AA95-2571-4CE2-8A96-67C7E7975E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1888"/>
              <a:ext cx="726" cy="0"/>
            </a:xfrm>
            <a:prstGeom prst="line">
              <a:avLst/>
            </a:prstGeom>
            <a:noFill/>
            <a:ln w="9525">
              <a:solidFill>
                <a:srgbClr val="66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44" name="直线 10">
              <a:extLst>
                <a:ext uri="{FF2B5EF4-FFF2-40B4-BE49-F238E27FC236}">
                  <a16:creationId xmlns:a16="http://schemas.microsoft.com/office/drawing/2014/main" id="{055386DE-FCA7-47EB-8F17-135E79FA51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2024"/>
              <a:ext cx="726" cy="0"/>
            </a:xfrm>
            <a:prstGeom prst="line">
              <a:avLst/>
            </a:prstGeom>
            <a:noFill/>
            <a:ln w="9525">
              <a:solidFill>
                <a:srgbClr val="66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45" name="直线 11">
              <a:extLst>
                <a:ext uri="{FF2B5EF4-FFF2-40B4-BE49-F238E27FC236}">
                  <a16:creationId xmlns:a16="http://schemas.microsoft.com/office/drawing/2014/main" id="{61F2FE5B-351F-4FEC-B685-68490CA6FF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2160"/>
              <a:ext cx="726" cy="0"/>
            </a:xfrm>
            <a:prstGeom prst="line">
              <a:avLst/>
            </a:prstGeom>
            <a:noFill/>
            <a:ln w="9525">
              <a:solidFill>
                <a:srgbClr val="66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46" name="直线 12">
              <a:extLst>
                <a:ext uri="{FF2B5EF4-FFF2-40B4-BE49-F238E27FC236}">
                  <a16:creationId xmlns:a16="http://schemas.microsoft.com/office/drawing/2014/main" id="{3AF87122-B271-48D5-BC95-D7A2C097DA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2296"/>
              <a:ext cx="726" cy="0"/>
            </a:xfrm>
            <a:prstGeom prst="line">
              <a:avLst/>
            </a:prstGeom>
            <a:noFill/>
            <a:ln w="9525">
              <a:solidFill>
                <a:srgbClr val="66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47" name="直线 13">
              <a:extLst>
                <a:ext uri="{FF2B5EF4-FFF2-40B4-BE49-F238E27FC236}">
                  <a16:creationId xmlns:a16="http://schemas.microsoft.com/office/drawing/2014/main" id="{530007E2-BD5E-4689-AC3A-625BF32D35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2432"/>
              <a:ext cx="726" cy="0"/>
            </a:xfrm>
            <a:prstGeom prst="line">
              <a:avLst/>
            </a:prstGeom>
            <a:noFill/>
            <a:ln w="9525">
              <a:solidFill>
                <a:srgbClr val="66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</p:grpSp>
      <p:sp>
        <p:nvSpPr>
          <p:cNvPr id="48" name="矩形 14">
            <a:extLst>
              <a:ext uri="{FF2B5EF4-FFF2-40B4-BE49-F238E27FC236}">
                <a16:creationId xmlns:a16="http://schemas.microsoft.com/office/drawing/2014/main" id="{ED40FA55-2958-4DBC-BEA2-24753F95E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0303" y="1772816"/>
            <a:ext cx="1077913" cy="2327275"/>
          </a:xfrm>
          <a:prstGeom prst="rect">
            <a:avLst/>
          </a:prstGeom>
          <a:solidFill>
            <a:srgbClr val="99CC00"/>
          </a:solidFill>
          <a:ln w="9525" algn="ctr">
            <a:solidFill>
              <a:srgbClr val="6633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</a:pPr>
            <a:r>
              <a:rPr lang="zh-CN" altLang="en-US" sz="2000" b="1" dirty="0">
                <a:latin typeface="+mn-ea"/>
              </a:rPr>
              <a:t>发送</a:t>
            </a:r>
          </a:p>
          <a:p>
            <a:pPr algn="ctr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</a:pPr>
            <a:r>
              <a:rPr lang="zh-CN" altLang="en-US" sz="2000" b="1" dirty="0">
                <a:latin typeface="+mn-ea"/>
              </a:rPr>
              <a:t>部件</a:t>
            </a:r>
          </a:p>
        </p:txBody>
      </p:sp>
      <p:sp>
        <p:nvSpPr>
          <p:cNvPr id="49" name="文本框 15">
            <a:extLst>
              <a:ext uri="{FF2B5EF4-FFF2-40B4-BE49-F238E27FC236}">
                <a16:creationId xmlns:a16="http://schemas.microsoft.com/office/drawing/2014/main" id="{53AD2156-0E82-450C-9977-5FD6FA8E6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794" y="3861966"/>
            <a:ext cx="720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低位</a:t>
            </a:r>
            <a:endParaRPr lang="zh-CN" altLang="el-GR" sz="2000" baseline="-25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50" name="文本框 16">
            <a:extLst>
              <a:ext uri="{FF2B5EF4-FFF2-40B4-BE49-F238E27FC236}">
                <a16:creationId xmlns:a16="http://schemas.microsoft.com/office/drawing/2014/main" id="{B325E2DF-61A5-40EF-A0DF-F54F66D33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794" y="1412453"/>
            <a:ext cx="720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高位</a:t>
            </a:r>
            <a:endParaRPr lang="zh-CN" altLang="el-GR" sz="2000" baseline="-25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51" name="文本框 17">
            <a:extLst>
              <a:ext uri="{FF2B5EF4-FFF2-40B4-BE49-F238E27FC236}">
                <a16:creationId xmlns:a16="http://schemas.microsoft.com/office/drawing/2014/main" id="{76D3EB09-2BB7-4CD0-9EE9-A3AFB5FEA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141" y="1737891"/>
            <a:ext cx="4333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>
                <a:solidFill>
                  <a:schemeClr val="tx1"/>
                </a:solidFill>
                <a:latin typeface="+mn-ea"/>
                <a:ea typeface="+mn-ea"/>
              </a:rPr>
              <a:t>1</a:t>
            </a:r>
            <a:endParaRPr lang="el-GR" altLang="zh-CN" sz="2000" baseline="-250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52" name="自选图形 18">
            <a:extLst>
              <a:ext uri="{FF2B5EF4-FFF2-40B4-BE49-F238E27FC236}">
                <a16:creationId xmlns:a16="http://schemas.microsoft.com/office/drawing/2014/main" id="{B19C7DB6-C254-4B80-ABCC-A3A0BCADC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327" y="1628352"/>
            <a:ext cx="2159000" cy="2592388"/>
          </a:xfrm>
          <a:prstGeom prst="rightArrow">
            <a:avLst>
              <a:gd name="adj1" fmla="val 76185"/>
              <a:gd name="adj2" fmla="val 27556"/>
            </a:avLst>
          </a:prstGeom>
          <a:solidFill>
            <a:srgbClr val="99CC00"/>
          </a:solidFill>
          <a:ln w="9525" algn="ctr">
            <a:solidFill>
              <a:srgbClr val="6633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zh-CN" altLang="en-US">
              <a:latin typeface="+mn-ea"/>
            </a:endParaRPr>
          </a:p>
        </p:txBody>
      </p:sp>
      <p:grpSp>
        <p:nvGrpSpPr>
          <p:cNvPr id="53" name="组合 19">
            <a:extLst>
              <a:ext uri="{FF2B5EF4-FFF2-40B4-BE49-F238E27FC236}">
                <a16:creationId xmlns:a16="http://schemas.microsoft.com/office/drawing/2014/main" id="{300FD666-8514-4641-9FD9-9E963DED2F0A}"/>
              </a:ext>
            </a:extLst>
          </p:cNvPr>
          <p:cNvGrpSpPr/>
          <p:nvPr/>
        </p:nvGrpSpPr>
        <p:grpSpPr bwMode="auto">
          <a:xfrm>
            <a:off x="2699803" y="2061740"/>
            <a:ext cx="1152525" cy="1727200"/>
            <a:chOff x="1610" y="1344"/>
            <a:chExt cx="726" cy="1088"/>
          </a:xfrm>
        </p:grpSpPr>
        <p:sp>
          <p:nvSpPr>
            <p:cNvPr id="54" name="直线 20">
              <a:extLst>
                <a:ext uri="{FF2B5EF4-FFF2-40B4-BE49-F238E27FC236}">
                  <a16:creationId xmlns:a16="http://schemas.microsoft.com/office/drawing/2014/main" id="{947481EF-7D3D-424D-9B13-0AC9330777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1344"/>
              <a:ext cx="726" cy="0"/>
            </a:xfrm>
            <a:prstGeom prst="line">
              <a:avLst/>
            </a:prstGeom>
            <a:noFill/>
            <a:ln w="9525">
              <a:solidFill>
                <a:srgbClr val="66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55" name="直线 21">
              <a:extLst>
                <a:ext uri="{FF2B5EF4-FFF2-40B4-BE49-F238E27FC236}">
                  <a16:creationId xmlns:a16="http://schemas.microsoft.com/office/drawing/2014/main" id="{24B7B4E8-0515-4262-AADA-A5C0BBBFEA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1480"/>
              <a:ext cx="726" cy="0"/>
            </a:xfrm>
            <a:prstGeom prst="line">
              <a:avLst/>
            </a:prstGeom>
            <a:noFill/>
            <a:ln w="9525">
              <a:solidFill>
                <a:srgbClr val="66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56" name="直线 22">
              <a:extLst>
                <a:ext uri="{FF2B5EF4-FFF2-40B4-BE49-F238E27FC236}">
                  <a16:creationId xmlns:a16="http://schemas.microsoft.com/office/drawing/2014/main" id="{C0DA5B45-45B4-47F6-9CE9-626784FB3F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1616"/>
              <a:ext cx="726" cy="0"/>
            </a:xfrm>
            <a:prstGeom prst="line">
              <a:avLst/>
            </a:prstGeom>
            <a:noFill/>
            <a:ln w="9525">
              <a:solidFill>
                <a:srgbClr val="66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57" name="直线 23">
              <a:extLst>
                <a:ext uri="{FF2B5EF4-FFF2-40B4-BE49-F238E27FC236}">
                  <a16:creationId xmlns:a16="http://schemas.microsoft.com/office/drawing/2014/main" id="{789CED2C-CF8E-413C-BD59-BC8385D5E6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1752"/>
              <a:ext cx="726" cy="0"/>
            </a:xfrm>
            <a:prstGeom prst="line">
              <a:avLst/>
            </a:prstGeom>
            <a:noFill/>
            <a:ln w="9525">
              <a:solidFill>
                <a:srgbClr val="66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58" name="直线 24">
              <a:extLst>
                <a:ext uri="{FF2B5EF4-FFF2-40B4-BE49-F238E27FC236}">
                  <a16:creationId xmlns:a16="http://schemas.microsoft.com/office/drawing/2014/main" id="{45619369-AED0-4A69-A058-CC52B7839F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1888"/>
              <a:ext cx="726" cy="0"/>
            </a:xfrm>
            <a:prstGeom prst="line">
              <a:avLst/>
            </a:prstGeom>
            <a:noFill/>
            <a:ln w="9525">
              <a:solidFill>
                <a:srgbClr val="66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59" name="直线 25">
              <a:extLst>
                <a:ext uri="{FF2B5EF4-FFF2-40B4-BE49-F238E27FC236}">
                  <a16:creationId xmlns:a16="http://schemas.microsoft.com/office/drawing/2014/main" id="{E904C6FC-2959-48B3-A411-E9393DE36E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2024"/>
              <a:ext cx="726" cy="0"/>
            </a:xfrm>
            <a:prstGeom prst="line">
              <a:avLst/>
            </a:prstGeom>
            <a:noFill/>
            <a:ln w="9525">
              <a:solidFill>
                <a:srgbClr val="66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60" name="直线 26">
              <a:extLst>
                <a:ext uri="{FF2B5EF4-FFF2-40B4-BE49-F238E27FC236}">
                  <a16:creationId xmlns:a16="http://schemas.microsoft.com/office/drawing/2014/main" id="{F1ED9CDA-1E2C-445B-9776-0CFD48F986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2160"/>
              <a:ext cx="726" cy="0"/>
            </a:xfrm>
            <a:prstGeom prst="line">
              <a:avLst/>
            </a:prstGeom>
            <a:noFill/>
            <a:ln w="9525">
              <a:solidFill>
                <a:srgbClr val="66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61" name="直线 27">
              <a:extLst>
                <a:ext uri="{FF2B5EF4-FFF2-40B4-BE49-F238E27FC236}">
                  <a16:creationId xmlns:a16="http://schemas.microsoft.com/office/drawing/2014/main" id="{BEBB45E5-64B6-4F99-A0DF-E984BEB189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2296"/>
              <a:ext cx="726" cy="0"/>
            </a:xfrm>
            <a:prstGeom prst="line">
              <a:avLst/>
            </a:prstGeom>
            <a:noFill/>
            <a:ln w="9525">
              <a:solidFill>
                <a:srgbClr val="66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62" name="直线 28">
              <a:extLst>
                <a:ext uri="{FF2B5EF4-FFF2-40B4-BE49-F238E27FC236}">
                  <a16:creationId xmlns:a16="http://schemas.microsoft.com/office/drawing/2014/main" id="{49586843-0FCE-4D66-8631-DD504748E8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2432"/>
              <a:ext cx="726" cy="0"/>
            </a:xfrm>
            <a:prstGeom prst="line">
              <a:avLst/>
            </a:prstGeom>
            <a:noFill/>
            <a:ln w="9525">
              <a:solidFill>
                <a:srgbClr val="66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</p:grpSp>
      <p:sp>
        <p:nvSpPr>
          <p:cNvPr id="63" name="矩形 29">
            <a:extLst>
              <a:ext uri="{FF2B5EF4-FFF2-40B4-BE49-F238E27FC236}">
                <a16:creationId xmlns:a16="http://schemas.microsoft.com/office/drawing/2014/main" id="{F731604B-D7E3-410E-B545-FA1850F42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6515" y="1772816"/>
            <a:ext cx="1077912" cy="2327275"/>
          </a:xfrm>
          <a:prstGeom prst="rect">
            <a:avLst/>
          </a:prstGeom>
          <a:solidFill>
            <a:srgbClr val="99CC00"/>
          </a:solidFill>
          <a:ln w="9525" algn="ctr">
            <a:solidFill>
              <a:srgbClr val="6633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</a:pPr>
            <a:r>
              <a:rPr lang="zh-CN" altLang="en-US" sz="2000" b="1" dirty="0">
                <a:latin typeface="+mn-ea"/>
              </a:rPr>
              <a:t>接收</a:t>
            </a:r>
          </a:p>
          <a:p>
            <a:pPr algn="ctr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</a:pPr>
            <a:r>
              <a:rPr lang="zh-CN" altLang="en-US" sz="2000" b="1" dirty="0">
                <a:latin typeface="+mn-ea"/>
              </a:rPr>
              <a:t>部件</a:t>
            </a:r>
          </a:p>
        </p:txBody>
      </p:sp>
      <p:sp>
        <p:nvSpPr>
          <p:cNvPr id="64" name="文本框 30">
            <a:extLst>
              <a:ext uri="{FF2B5EF4-FFF2-40B4-BE49-F238E27FC236}">
                <a16:creationId xmlns:a16="http://schemas.microsoft.com/office/drawing/2014/main" id="{4C0F8089-1327-4CD6-A1CD-DFA2FBAFBD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141" y="1953791"/>
            <a:ext cx="4333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>
                <a:solidFill>
                  <a:schemeClr val="tx1"/>
                </a:solidFill>
                <a:latin typeface="+mn-ea"/>
                <a:ea typeface="+mn-ea"/>
              </a:rPr>
              <a:t>0</a:t>
            </a:r>
            <a:endParaRPr lang="el-GR" altLang="zh-CN" sz="2000" baseline="-250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65" name="文本框 31">
            <a:extLst>
              <a:ext uri="{FF2B5EF4-FFF2-40B4-BE49-F238E27FC236}">
                <a16:creationId xmlns:a16="http://schemas.microsoft.com/office/drawing/2014/main" id="{CCE6EF72-B173-4B7E-B491-41825FFD9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141" y="2169691"/>
            <a:ext cx="4333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>
                <a:solidFill>
                  <a:schemeClr val="tx1"/>
                </a:solidFill>
                <a:latin typeface="+mn-ea"/>
                <a:ea typeface="+mn-ea"/>
              </a:rPr>
              <a:t>1</a:t>
            </a:r>
            <a:endParaRPr lang="el-GR" altLang="zh-CN" sz="2000" baseline="-250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66" name="文本框 32">
            <a:extLst>
              <a:ext uri="{FF2B5EF4-FFF2-40B4-BE49-F238E27FC236}">
                <a16:creationId xmlns:a16="http://schemas.microsoft.com/office/drawing/2014/main" id="{B9607A30-ED95-4DF1-ADC0-51BAD3DAE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141" y="2385591"/>
            <a:ext cx="4333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>
                <a:solidFill>
                  <a:schemeClr val="tx1"/>
                </a:solidFill>
                <a:latin typeface="+mn-ea"/>
                <a:ea typeface="+mn-ea"/>
              </a:rPr>
              <a:t>0</a:t>
            </a:r>
            <a:endParaRPr lang="el-GR" altLang="zh-CN" sz="2000" baseline="-250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67" name="文本框 33">
            <a:extLst>
              <a:ext uri="{FF2B5EF4-FFF2-40B4-BE49-F238E27FC236}">
                <a16:creationId xmlns:a16="http://schemas.microsoft.com/office/drawing/2014/main" id="{E482506B-2B95-4964-9CB2-4FE7E00D1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141" y="2601491"/>
            <a:ext cx="4333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>
                <a:solidFill>
                  <a:schemeClr val="tx1"/>
                </a:solidFill>
                <a:latin typeface="+mn-ea"/>
                <a:ea typeface="+mn-ea"/>
              </a:rPr>
              <a:t>0</a:t>
            </a:r>
            <a:endParaRPr lang="el-GR" altLang="zh-CN" sz="2000" baseline="-250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68" name="文本框 34">
            <a:extLst>
              <a:ext uri="{FF2B5EF4-FFF2-40B4-BE49-F238E27FC236}">
                <a16:creationId xmlns:a16="http://schemas.microsoft.com/office/drawing/2014/main" id="{5B52E2DB-CFE6-4A3D-B95F-184B58D546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141" y="2817391"/>
            <a:ext cx="4333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>
                <a:solidFill>
                  <a:schemeClr val="tx1"/>
                </a:solidFill>
                <a:latin typeface="+mn-ea"/>
                <a:ea typeface="+mn-ea"/>
              </a:rPr>
              <a:t>0</a:t>
            </a:r>
            <a:endParaRPr lang="el-GR" altLang="zh-CN" sz="2000" baseline="-250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69" name="文本框 35">
            <a:extLst>
              <a:ext uri="{FF2B5EF4-FFF2-40B4-BE49-F238E27FC236}">
                <a16:creationId xmlns:a16="http://schemas.microsoft.com/office/drawing/2014/main" id="{1E1A5B86-F9CB-4533-B756-CAC49759E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141" y="3033291"/>
            <a:ext cx="4333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>
                <a:solidFill>
                  <a:schemeClr val="tx1"/>
                </a:solidFill>
                <a:latin typeface="+mn-ea"/>
                <a:ea typeface="+mn-ea"/>
              </a:rPr>
              <a:t>0</a:t>
            </a:r>
            <a:endParaRPr lang="el-GR" altLang="zh-CN" sz="2000" baseline="-250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70" name="文本框 36">
            <a:extLst>
              <a:ext uri="{FF2B5EF4-FFF2-40B4-BE49-F238E27FC236}">
                <a16:creationId xmlns:a16="http://schemas.microsoft.com/office/drawing/2014/main" id="{07A3DF04-6C27-490E-80D6-B5A958CD0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141" y="3249191"/>
            <a:ext cx="4333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>
                <a:solidFill>
                  <a:schemeClr val="tx1"/>
                </a:solidFill>
                <a:latin typeface="+mn-ea"/>
                <a:ea typeface="+mn-ea"/>
              </a:rPr>
              <a:t>0</a:t>
            </a:r>
            <a:endParaRPr lang="el-GR" altLang="zh-CN" sz="2000" baseline="-250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71" name="文本框 37">
            <a:extLst>
              <a:ext uri="{FF2B5EF4-FFF2-40B4-BE49-F238E27FC236}">
                <a16:creationId xmlns:a16="http://schemas.microsoft.com/office/drawing/2014/main" id="{2EDCB784-F8CB-46C5-A2F7-5397AA0B2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141" y="3465091"/>
            <a:ext cx="4333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>
                <a:solidFill>
                  <a:schemeClr val="tx1"/>
                </a:solidFill>
                <a:latin typeface="+mn-ea"/>
                <a:ea typeface="+mn-ea"/>
              </a:rPr>
              <a:t>0</a:t>
            </a:r>
            <a:endParaRPr lang="el-GR" altLang="zh-CN" sz="2000" baseline="-250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72" name="矩形 38">
            <a:extLst>
              <a:ext uri="{FF2B5EF4-FFF2-40B4-BE49-F238E27FC236}">
                <a16:creationId xmlns:a16="http://schemas.microsoft.com/office/drawing/2014/main" id="{7DBA762F-B8DE-4CB9-AE84-23D1DB5CF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2884" y="4851076"/>
            <a:ext cx="7869128" cy="12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66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zh-CN" altLang="en-US" sz="2400" kern="0" dirty="0">
                <a:latin typeface="+mn-ea"/>
              </a:rPr>
              <a:t>每位数据一条传输线，并行传送，采用电位传送</a:t>
            </a:r>
            <a:endParaRPr lang="en-US" altLang="zh-CN" sz="2400" kern="0" dirty="0">
              <a:latin typeface="+mn-ea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zh-CN" altLang="en-US" sz="2400" kern="0" dirty="0">
                <a:latin typeface="+mn-ea"/>
              </a:rPr>
              <a:t>传送速度快，传输距离短</a:t>
            </a:r>
            <a:endParaRPr lang="en-US" altLang="zh-CN" sz="2400" kern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51414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61A2B-56A6-4C0A-8770-AB05863AC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(3)</a:t>
            </a:r>
            <a:r>
              <a:rPr lang="zh-CN" altLang="en-US" dirty="0">
                <a:effectLst/>
              </a:rPr>
              <a:t>并串行传送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00F15B-5324-4508-8772-3B59558B2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867" y="942764"/>
            <a:ext cx="8778133" cy="5637024"/>
          </a:xfrm>
        </p:spPr>
        <p:txBody>
          <a:bodyPr/>
          <a:lstStyle/>
          <a:p>
            <a:r>
              <a:rPr lang="zh-CN" altLang="zh-CN" dirty="0"/>
              <a:t>串行传输解决了</a:t>
            </a:r>
            <a:r>
              <a:rPr lang="zh-CN" altLang="zh-CN" b="1" dirty="0"/>
              <a:t>高频传输</a:t>
            </a:r>
            <a:r>
              <a:rPr lang="zh-CN" altLang="zh-CN" dirty="0"/>
              <a:t>的问题</a:t>
            </a:r>
            <a:r>
              <a:rPr lang="zh-CN" altLang="en-US" dirty="0"/>
              <a:t>，但</a:t>
            </a:r>
            <a:r>
              <a:rPr lang="zh-CN" altLang="zh-CN" b="1" dirty="0"/>
              <a:t>带宽有限</a:t>
            </a:r>
            <a:endParaRPr lang="en-US" altLang="zh-CN" b="1" dirty="0"/>
          </a:p>
          <a:p>
            <a:r>
              <a:rPr lang="zh-CN" altLang="zh-CN" dirty="0"/>
              <a:t>高速串行总线普遍采用</a:t>
            </a:r>
            <a:r>
              <a:rPr lang="zh-CN" altLang="zh-CN" b="1" dirty="0"/>
              <a:t>多组串行通路并发</a:t>
            </a:r>
            <a:r>
              <a:rPr lang="zh-CN" altLang="zh-CN" dirty="0"/>
              <a:t>来提升总线带宽</a:t>
            </a:r>
            <a:endParaRPr lang="en-US" altLang="zh-CN" dirty="0"/>
          </a:p>
          <a:p>
            <a:pPr lvl="1"/>
            <a:r>
              <a:rPr lang="zh-CN" altLang="zh-CN" dirty="0"/>
              <a:t>如</a:t>
            </a:r>
            <a:r>
              <a:rPr lang="en-US" altLang="zh-CN" dirty="0"/>
              <a:t>PCIe x1</a:t>
            </a:r>
            <a:r>
              <a:rPr lang="zh-CN" altLang="zh-CN" dirty="0"/>
              <a:t>、</a:t>
            </a:r>
            <a:r>
              <a:rPr lang="en-US" altLang="zh-CN" dirty="0"/>
              <a:t>x4</a:t>
            </a:r>
            <a:r>
              <a:rPr lang="zh-CN" altLang="zh-CN" dirty="0"/>
              <a:t>、</a:t>
            </a:r>
            <a:r>
              <a:rPr lang="en-US" altLang="zh-CN" dirty="0"/>
              <a:t>x16</a:t>
            </a:r>
            <a:r>
              <a:rPr lang="zh-CN" altLang="zh-CN" dirty="0"/>
              <a:t>中的数字就是并发通路数</a:t>
            </a:r>
          </a:p>
          <a:p>
            <a:r>
              <a:rPr lang="zh-CN" altLang="zh-CN" b="1" dirty="0">
                <a:solidFill>
                  <a:srgbClr val="1387B7"/>
                </a:solidFill>
              </a:rPr>
              <a:t>串行总线带宽 </a:t>
            </a:r>
            <a:r>
              <a:rPr lang="en-US" altLang="zh-CN" b="1" dirty="0">
                <a:solidFill>
                  <a:srgbClr val="1387B7"/>
                </a:solidFill>
              </a:rPr>
              <a:t>= </a:t>
            </a:r>
            <a:r>
              <a:rPr lang="zh-CN" altLang="zh-CN" b="1" dirty="0">
                <a:solidFill>
                  <a:srgbClr val="1387B7"/>
                </a:solidFill>
              </a:rPr>
              <a:t>总线时钟频率</a:t>
            </a:r>
            <a:r>
              <a:rPr lang="en-US" altLang="zh-CN" b="1" dirty="0">
                <a:solidFill>
                  <a:srgbClr val="1387B7"/>
                </a:solidFill>
              </a:rPr>
              <a:t> </a:t>
            </a:r>
            <a:r>
              <a:rPr lang="zh-CN" altLang="zh-CN" b="1" dirty="0">
                <a:solidFill>
                  <a:srgbClr val="1387B7"/>
                </a:solidFill>
              </a:rPr>
              <a:t>×</a:t>
            </a:r>
            <a:r>
              <a:rPr lang="en-US" altLang="zh-CN" b="1" dirty="0">
                <a:solidFill>
                  <a:srgbClr val="1387B7"/>
                </a:solidFill>
              </a:rPr>
              <a:t> </a:t>
            </a:r>
            <a:r>
              <a:rPr lang="zh-CN" altLang="zh-CN" b="1" dirty="0">
                <a:solidFill>
                  <a:srgbClr val="1387B7"/>
                </a:solidFill>
              </a:rPr>
              <a:t>编码效率</a:t>
            </a:r>
            <a:r>
              <a:rPr lang="en-US" altLang="zh-CN" b="1" dirty="0">
                <a:solidFill>
                  <a:srgbClr val="1387B7"/>
                </a:solidFill>
              </a:rPr>
              <a:t> </a:t>
            </a:r>
            <a:r>
              <a:rPr lang="zh-CN" altLang="zh-CN" b="1" dirty="0">
                <a:solidFill>
                  <a:srgbClr val="1387B7"/>
                </a:solidFill>
              </a:rPr>
              <a:t>×</a:t>
            </a:r>
            <a:r>
              <a:rPr lang="en-US" altLang="zh-CN" b="1" dirty="0">
                <a:solidFill>
                  <a:srgbClr val="1387B7"/>
                </a:solidFill>
              </a:rPr>
              <a:t> </a:t>
            </a:r>
            <a:r>
              <a:rPr lang="zh-CN" altLang="zh-CN" b="1" dirty="0">
                <a:solidFill>
                  <a:srgbClr val="1387B7"/>
                </a:solidFill>
              </a:rPr>
              <a:t>并发通路数</a:t>
            </a:r>
            <a:endParaRPr lang="zh-CN" altLang="zh-CN" dirty="0">
              <a:solidFill>
                <a:srgbClr val="1387B7"/>
              </a:solidFill>
            </a:endParaRP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FDC4304-F705-4D46-BEFC-11AC4F617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08" y="3741420"/>
            <a:ext cx="8238584" cy="2259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489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678E15-507C-4F9F-8C09-376639219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举例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A7E33C-637C-486B-B2B2-54C48FBCC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143" y="1052736"/>
            <a:ext cx="8465714" cy="4227768"/>
          </a:xfrm>
        </p:spPr>
        <p:txBody>
          <a:bodyPr>
            <a:normAutofit/>
          </a:bodyPr>
          <a:lstStyle/>
          <a:p>
            <a:pPr marL="0" lvl="0" indent="0" defTabSz="914400">
              <a:spcBef>
                <a:spcPts val="1000"/>
              </a:spcBef>
              <a:buNone/>
            </a:pPr>
            <a:r>
              <a:rPr lang="zh-CN" altLang="zh-CN" sz="2600" b="1" dirty="0">
                <a:solidFill>
                  <a:prstClr val="black"/>
                </a:solidFill>
              </a:rPr>
              <a:t>例</a:t>
            </a:r>
            <a:r>
              <a:rPr lang="en-US" altLang="zh-CN" sz="2600" b="1" dirty="0">
                <a:solidFill>
                  <a:prstClr val="black"/>
                </a:solidFill>
              </a:rPr>
              <a:t>4.2 </a:t>
            </a:r>
            <a:r>
              <a:rPr lang="zh-CN" altLang="zh-CN" sz="2600" dirty="0">
                <a:solidFill>
                  <a:prstClr val="black"/>
                </a:solidFill>
              </a:rPr>
              <a:t>若异步串行传输的信息帧由</a:t>
            </a:r>
            <a:r>
              <a:rPr lang="en-US" altLang="zh-CN" sz="2600" dirty="0">
                <a:solidFill>
                  <a:prstClr val="black"/>
                </a:solidFill>
              </a:rPr>
              <a:t>1</a:t>
            </a:r>
            <a:r>
              <a:rPr lang="zh-CN" altLang="zh-CN" sz="2600" dirty="0">
                <a:solidFill>
                  <a:prstClr val="black"/>
                </a:solidFill>
              </a:rPr>
              <a:t>个起始位、</a:t>
            </a:r>
            <a:r>
              <a:rPr lang="en-US" altLang="zh-CN" sz="2600" dirty="0">
                <a:solidFill>
                  <a:prstClr val="black"/>
                </a:solidFill>
              </a:rPr>
              <a:t>7</a:t>
            </a:r>
            <a:r>
              <a:rPr lang="zh-CN" altLang="zh-CN" sz="2600" dirty="0">
                <a:solidFill>
                  <a:prstClr val="black"/>
                </a:solidFill>
              </a:rPr>
              <a:t>个数据位、</a:t>
            </a:r>
            <a:r>
              <a:rPr lang="en-US" altLang="zh-CN" sz="2600" dirty="0">
                <a:solidFill>
                  <a:prstClr val="black"/>
                </a:solidFill>
              </a:rPr>
              <a:t>1</a:t>
            </a:r>
            <a:r>
              <a:rPr lang="zh-CN" altLang="zh-CN" sz="2600" dirty="0">
                <a:solidFill>
                  <a:prstClr val="black"/>
                </a:solidFill>
              </a:rPr>
              <a:t>个奇偶校验位和</a:t>
            </a:r>
            <a:r>
              <a:rPr lang="en-US" altLang="zh-CN" sz="2600" dirty="0">
                <a:solidFill>
                  <a:prstClr val="black"/>
                </a:solidFill>
              </a:rPr>
              <a:t>1</a:t>
            </a:r>
            <a:r>
              <a:rPr lang="zh-CN" altLang="zh-CN" sz="2600" dirty="0">
                <a:solidFill>
                  <a:prstClr val="black"/>
                </a:solidFill>
              </a:rPr>
              <a:t>个停止位等</a:t>
            </a:r>
            <a:r>
              <a:rPr lang="en-US" altLang="zh-CN" sz="2600" dirty="0">
                <a:solidFill>
                  <a:prstClr val="black"/>
                </a:solidFill>
              </a:rPr>
              <a:t>10</a:t>
            </a:r>
            <a:r>
              <a:rPr lang="zh-CN" altLang="zh-CN" sz="2600" dirty="0">
                <a:solidFill>
                  <a:prstClr val="black"/>
                </a:solidFill>
              </a:rPr>
              <a:t>个数位构成，线路每秒钟传送</a:t>
            </a:r>
            <a:r>
              <a:rPr lang="en-US" altLang="zh-CN" sz="2600" dirty="0">
                <a:solidFill>
                  <a:prstClr val="black"/>
                </a:solidFill>
              </a:rPr>
              <a:t>120</a:t>
            </a:r>
            <a:r>
              <a:rPr lang="zh-CN" altLang="zh-CN" sz="2600" dirty="0">
                <a:solidFill>
                  <a:prstClr val="black"/>
                </a:solidFill>
              </a:rPr>
              <a:t>个字符，分别计算波特率和数传率。</a:t>
            </a:r>
          </a:p>
          <a:p>
            <a:pPr marL="0" lvl="0" indent="0" defTabSz="914400">
              <a:spcBef>
                <a:spcPts val="1000"/>
              </a:spcBef>
              <a:buNone/>
            </a:pPr>
            <a:r>
              <a:rPr lang="en-US" altLang="zh-CN" sz="2600" b="1" dirty="0">
                <a:solidFill>
                  <a:prstClr val="black"/>
                </a:solidFill>
              </a:rPr>
              <a:t>    </a:t>
            </a:r>
            <a:r>
              <a:rPr lang="zh-CN" altLang="zh-CN" sz="2600" b="1" dirty="0">
                <a:solidFill>
                  <a:srgbClr val="C00000"/>
                </a:solidFill>
              </a:rPr>
              <a:t>解：</a:t>
            </a:r>
            <a:r>
              <a:rPr lang="en-US" altLang="zh-CN" sz="2600" b="1" dirty="0">
                <a:solidFill>
                  <a:srgbClr val="C00000"/>
                </a:solidFill>
              </a:rPr>
              <a:t> </a:t>
            </a:r>
            <a:r>
              <a:rPr lang="zh-CN" altLang="zh-CN" sz="2600" dirty="0">
                <a:solidFill>
                  <a:srgbClr val="C00000"/>
                </a:solidFill>
              </a:rPr>
              <a:t>波特率</a:t>
            </a:r>
            <a:r>
              <a:rPr lang="en-US" altLang="zh-CN" sz="2600" dirty="0">
                <a:solidFill>
                  <a:srgbClr val="C00000"/>
                </a:solidFill>
              </a:rPr>
              <a:t> = 10</a:t>
            </a:r>
            <a:r>
              <a:rPr lang="zh-CN" altLang="zh-CN" sz="2600" dirty="0">
                <a:solidFill>
                  <a:srgbClr val="C00000"/>
                </a:solidFill>
              </a:rPr>
              <a:t>位／字符 </a:t>
            </a:r>
            <a:r>
              <a:rPr lang="en-US" altLang="zh-CN" sz="2600" dirty="0">
                <a:solidFill>
                  <a:srgbClr val="C00000"/>
                </a:solidFill>
              </a:rPr>
              <a:t>× 120</a:t>
            </a:r>
            <a:r>
              <a:rPr lang="zh-CN" altLang="zh-CN" sz="2600" dirty="0">
                <a:solidFill>
                  <a:srgbClr val="C00000"/>
                </a:solidFill>
              </a:rPr>
              <a:t>字符／秒 </a:t>
            </a:r>
            <a:r>
              <a:rPr lang="en-US" altLang="zh-CN" sz="2600" dirty="0">
                <a:solidFill>
                  <a:srgbClr val="C00000"/>
                </a:solidFill>
              </a:rPr>
              <a:t>= 1200 bps = 1200</a:t>
            </a:r>
            <a:r>
              <a:rPr lang="zh-CN" altLang="zh-CN" sz="2600" dirty="0">
                <a:solidFill>
                  <a:srgbClr val="C00000"/>
                </a:solidFill>
              </a:rPr>
              <a:t>波特</a:t>
            </a:r>
          </a:p>
          <a:p>
            <a:pPr marL="0" lvl="0" indent="0" defTabSz="914400">
              <a:spcBef>
                <a:spcPts val="1000"/>
              </a:spcBef>
              <a:buNone/>
            </a:pPr>
            <a:r>
              <a:rPr lang="en-US" altLang="zh-CN" sz="2600" dirty="0">
                <a:solidFill>
                  <a:srgbClr val="C00000"/>
                </a:solidFill>
              </a:rPr>
              <a:t>           </a:t>
            </a:r>
            <a:r>
              <a:rPr lang="zh-CN" altLang="zh-CN" sz="2600" dirty="0">
                <a:solidFill>
                  <a:srgbClr val="C00000"/>
                </a:solidFill>
              </a:rPr>
              <a:t>数传率</a:t>
            </a:r>
            <a:r>
              <a:rPr lang="en-US" altLang="zh-CN" sz="2600" dirty="0">
                <a:solidFill>
                  <a:srgbClr val="C00000"/>
                </a:solidFill>
              </a:rPr>
              <a:t> = 120 × 7</a:t>
            </a:r>
            <a:r>
              <a:rPr lang="zh-CN" altLang="zh-CN" sz="2600" dirty="0">
                <a:solidFill>
                  <a:srgbClr val="C00000"/>
                </a:solidFill>
              </a:rPr>
              <a:t>位</a:t>
            </a:r>
            <a:r>
              <a:rPr lang="en-US" altLang="zh-CN" sz="2600" dirty="0">
                <a:solidFill>
                  <a:srgbClr val="C00000"/>
                </a:solidFill>
              </a:rPr>
              <a:t>/</a:t>
            </a:r>
            <a:r>
              <a:rPr lang="zh-CN" altLang="zh-CN" sz="2600" dirty="0">
                <a:solidFill>
                  <a:srgbClr val="C00000"/>
                </a:solidFill>
              </a:rPr>
              <a:t>秒</a:t>
            </a:r>
            <a:r>
              <a:rPr lang="en-US" altLang="zh-CN" sz="2600" dirty="0">
                <a:solidFill>
                  <a:srgbClr val="C00000"/>
                </a:solidFill>
              </a:rPr>
              <a:t> = 840 bps</a:t>
            </a:r>
          </a:p>
        </p:txBody>
      </p:sp>
    </p:spTree>
    <p:extLst>
      <p:ext uri="{BB962C8B-B14F-4D97-AF65-F5344CB8AC3E}">
        <p14:creationId xmlns:p14="http://schemas.microsoft.com/office/powerpoint/2010/main" val="12586800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49B2ACD-BCC3-42F3-8A46-1FF68D1E3F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第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zh-CN" altLang="en-US" b="1" dirty="0">
                <a:solidFill>
                  <a:srgbClr val="FF0000"/>
                </a:solidFill>
              </a:rPr>
              <a:t>章  总线技术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C153F71-F0B3-4B12-888B-BBC670D2D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4135" y="1548745"/>
            <a:ext cx="5544616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4. 1  </a:t>
            </a:r>
            <a:r>
              <a:rPr lang="zh-CN" altLang="en-US" dirty="0"/>
              <a:t>总 线 概 述</a:t>
            </a:r>
          </a:p>
          <a:p>
            <a:pPr marL="0" indent="0">
              <a:buNone/>
            </a:pPr>
            <a:r>
              <a:rPr lang="en-US" altLang="zh-CN" dirty="0"/>
              <a:t>4. 2  </a:t>
            </a:r>
            <a:r>
              <a:rPr lang="zh-CN" altLang="en-US" dirty="0"/>
              <a:t>系统总线结构</a:t>
            </a:r>
          </a:p>
          <a:p>
            <a:pPr marL="0" indent="0">
              <a:buNone/>
            </a:pPr>
            <a:r>
              <a:rPr lang="en-US" altLang="zh-CN" dirty="0"/>
              <a:t>4. 3  </a:t>
            </a:r>
            <a:r>
              <a:rPr lang="zh-CN" altLang="en-US" dirty="0"/>
              <a:t>总 线 仲 裁</a:t>
            </a:r>
          </a:p>
          <a:p>
            <a:pPr marL="0" indent="0">
              <a:buNone/>
            </a:pPr>
            <a:r>
              <a:rPr lang="en-US" altLang="zh-CN" dirty="0"/>
              <a:t>4. 4  </a:t>
            </a:r>
            <a:r>
              <a:rPr lang="zh-CN" altLang="en-US" dirty="0"/>
              <a:t>总线的通信方式</a:t>
            </a:r>
          </a:p>
          <a:p>
            <a:pPr marL="0" indent="0">
              <a:buNone/>
            </a:pPr>
            <a:r>
              <a:rPr lang="en-US" altLang="zh-CN" dirty="0"/>
              <a:t>4. 5  </a:t>
            </a:r>
            <a:r>
              <a:rPr lang="zh-CN" altLang="en-US" dirty="0"/>
              <a:t>总线的信息传送</a:t>
            </a:r>
          </a:p>
          <a:p>
            <a:pPr marL="0" indent="0">
              <a:buNone/>
            </a:pPr>
            <a:r>
              <a:rPr lang="en-US" altLang="zh-CN" dirty="0"/>
              <a:t>4. 6  </a:t>
            </a:r>
            <a:r>
              <a:rPr lang="zh-CN" altLang="en-US" dirty="0"/>
              <a:t>总线标准简介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D67CA4-03D2-4867-8379-5DE67C6D1C43}"/>
              </a:ext>
            </a:extLst>
          </p:cNvPr>
          <p:cNvSpPr/>
          <p:nvPr/>
        </p:nvSpPr>
        <p:spPr>
          <a:xfrm>
            <a:off x="1324135" y="4437112"/>
            <a:ext cx="3557384" cy="5847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lvl="0" eaLnBrk="0" hangingPunct="0">
              <a:spcBef>
                <a:spcPct val="20000"/>
              </a:spcBef>
            </a:pPr>
            <a:r>
              <a:rPr lang="en-US" altLang="zh-CN" sz="3200" kern="0" dirty="0">
                <a:solidFill>
                  <a:srgbClr val="000000"/>
                </a:solidFill>
              </a:rPr>
              <a:t>4. 6  </a:t>
            </a:r>
            <a:r>
              <a:rPr lang="zh-CN" altLang="en-US" sz="3200" kern="0" dirty="0">
                <a:solidFill>
                  <a:srgbClr val="000000"/>
                </a:solidFill>
              </a:rPr>
              <a:t>总线标准简介</a:t>
            </a:r>
          </a:p>
        </p:txBody>
      </p:sp>
    </p:spTree>
    <p:extLst>
      <p:ext uri="{BB962C8B-B14F-4D97-AF65-F5344CB8AC3E}">
        <p14:creationId xmlns:p14="http://schemas.microsoft.com/office/powerpoint/2010/main" val="1752282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33A7A1-5724-4E50-9053-669E76E9B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总线标准化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5AF127-7F30-47D2-ACB2-9489039EA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不同厂家的相同功能部件可互换使用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       ISA</a:t>
            </a:r>
          </a:p>
          <a:p>
            <a:pPr marL="0" indent="0">
              <a:buNone/>
            </a:pPr>
            <a:r>
              <a:rPr lang="en-US" altLang="zh-CN" sz="2800" dirty="0"/>
              <a:t>       EISA</a:t>
            </a:r>
          </a:p>
          <a:p>
            <a:pPr marL="0" indent="0">
              <a:buNone/>
            </a:pPr>
            <a:r>
              <a:rPr lang="en-US" altLang="zh-CN" sz="2800" dirty="0"/>
              <a:t>       VESA</a:t>
            </a:r>
          </a:p>
          <a:p>
            <a:pPr marL="0" indent="0">
              <a:buNone/>
            </a:pPr>
            <a:r>
              <a:rPr lang="en-US" altLang="zh-CN" sz="2800" dirty="0"/>
              <a:t>       AGP</a:t>
            </a:r>
          </a:p>
          <a:p>
            <a:pPr marL="0" indent="0">
              <a:buNone/>
            </a:pPr>
            <a:r>
              <a:rPr lang="en-US" altLang="zh-CN" sz="2800" dirty="0"/>
              <a:t>       PCI</a:t>
            </a:r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7875232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77DF15-E172-4155-88DA-ED26DBCE8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4. 6  </a:t>
            </a:r>
            <a:r>
              <a:rPr lang="zh-CN" altLang="en-US" dirty="0"/>
              <a:t>总线标准简介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F21AE-8FE4-4E72-8FEB-81EE75A6E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6794"/>
            <a:ext cx="8229600" cy="4569371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altLang="zh-CN" dirty="0"/>
              <a:t>4.6.1.ISA</a:t>
            </a:r>
            <a:r>
              <a:rPr lang="zh-CN" altLang="en-US" dirty="0"/>
              <a:t>总线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altLang="zh-CN" dirty="0"/>
              <a:t>4.6.2 EISA</a:t>
            </a:r>
            <a:r>
              <a:rPr lang="zh-CN" altLang="en-US" dirty="0"/>
              <a:t>总线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altLang="zh-CN" dirty="0"/>
              <a:t>4.6.3 VESA</a:t>
            </a:r>
            <a:r>
              <a:rPr lang="zh-CN" altLang="en-US" dirty="0"/>
              <a:t>局部总线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altLang="zh-CN" dirty="0"/>
              <a:t>4.6.4 PCI</a:t>
            </a:r>
            <a:r>
              <a:rPr lang="zh-CN" altLang="en-US" dirty="0"/>
              <a:t>总线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altLang="zh-CN" dirty="0"/>
              <a:t>4.6.5 USB</a:t>
            </a:r>
            <a:r>
              <a:rPr lang="zh-CN" altLang="en-US" dirty="0"/>
              <a:t>串行总线</a:t>
            </a:r>
          </a:p>
        </p:txBody>
      </p:sp>
    </p:spTree>
    <p:extLst>
      <p:ext uri="{BB962C8B-B14F-4D97-AF65-F5344CB8AC3E}">
        <p14:creationId xmlns:p14="http://schemas.microsoft.com/office/powerpoint/2010/main" val="31367809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矩形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ISA</a:t>
            </a:r>
            <a:r>
              <a:rPr lang="zh-CN" altLang="en-US" dirty="0"/>
              <a:t>总线</a:t>
            </a:r>
            <a:endParaRPr lang="en-US" altLang="zh-CN" dirty="0"/>
          </a:p>
        </p:txBody>
      </p:sp>
      <p:sp>
        <p:nvSpPr>
          <p:cNvPr id="46084" name="矩形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ISA</a:t>
            </a:r>
            <a:r>
              <a:rPr lang="zh-CN" altLang="en-US" dirty="0"/>
              <a:t>（</a:t>
            </a:r>
            <a:r>
              <a:rPr lang="en-US" altLang="zh-CN" dirty="0"/>
              <a:t>industrial standard architecture</a:t>
            </a:r>
            <a:r>
              <a:rPr lang="zh-CN" altLang="en-US" dirty="0"/>
              <a:t>）总线标准是</a:t>
            </a:r>
            <a:r>
              <a:rPr lang="en-US" altLang="zh-CN" dirty="0"/>
              <a:t>IBM </a:t>
            </a:r>
            <a:r>
              <a:rPr lang="zh-CN" altLang="en-US" dirty="0"/>
              <a:t>公司</a:t>
            </a:r>
            <a:r>
              <a:rPr lang="en-US" altLang="zh-CN" dirty="0"/>
              <a:t>1984</a:t>
            </a:r>
            <a:r>
              <a:rPr lang="zh-CN" altLang="en-US" dirty="0"/>
              <a:t>年为推出</a:t>
            </a:r>
            <a:r>
              <a:rPr lang="en-US" altLang="zh-CN" dirty="0"/>
              <a:t>PC/AT</a:t>
            </a:r>
            <a:r>
              <a:rPr lang="zh-CN" altLang="en-US" dirty="0"/>
              <a:t>机而建立的系统总线标准，所以也叫</a:t>
            </a:r>
            <a:r>
              <a:rPr lang="en-US" altLang="zh-CN" dirty="0"/>
              <a:t>AT</a:t>
            </a:r>
            <a:r>
              <a:rPr lang="zh-CN" altLang="en-US" dirty="0"/>
              <a:t>总线。</a:t>
            </a:r>
          </a:p>
          <a:p>
            <a:r>
              <a:rPr lang="zh-CN" altLang="en-US" dirty="0"/>
              <a:t>为</a:t>
            </a:r>
            <a:r>
              <a:rPr lang="en-US" altLang="zh-CN" dirty="0"/>
              <a:t>286</a:t>
            </a:r>
            <a:r>
              <a:rPr lang="zh-CN" altLang="en-US" dirty="0"/>
              <a:t>计算机制定的工业标准总线。</a:t>
            </a:r>
            <a:endParaRPr lang="en-US" altLang="zh-CN" dirty="0"/>
          </a:p>
          <a:p>
            <a:r>
              <a:rPr lang="zh-CN" altLang="en-US" dirty="0"/>
              <a:t>总线宽度</a:t>
            </a:r>
            <a:r>
              <a:rPr lang="en-US" altLang="zh-CN" dirty="0"/>
              <a:t>16</a:t>
            </a:r>
            <a:r>
              <a:rPr lang="zh-CN" altLang="en-US" dirty="0"/>
              <a:t>位，总线频率</a:t>
            </a:r>
            <a:r>
              <a:rPr lang="en-US" altLang="zh-CN" dirty="0"/>
              <a:t>8MHz</a:t>
            </a:r>
            <a:r>
              <a:rPr lang="zh-CN" altLang="en-US" dirty="0"/>
              <a:t>。 </a:t>
            </a:r>
            <a:endParaRPr lang="en-US" altLang="zh-CN" dirty="0"/>
          </a:p>
          <a:p>
            <a:r>
              <a:rPr lang="en-US" altLang="zh-CN" dirty="0"/>
              <a:t>ISA</a:t>
            </a:r>
            <a:r>
              <a:rPr lang="zh-CN" altLang="en-US" dirty="0"/>
              <a:t>总线有</a:t>
            </a:r>
            <a:r>
              <a:rPr lang="en-US" altLang="zh-CN" dirty="0"/>
              <a:t>98</a:t>
            </a:r>
            <a:r>
              <a:rPr lang="zh-CN" altLang="en-US" dirty="0"/>
              <a:t>只引脚。 </a:t>
            </a:r>
          </a:p>
          <a:p>
            <a:r>
              <a:rPr lang="en-US" altLang="zh-CN" dirty="0"/>
              <a:t>80286</a:t>
            </a:r>
            <a:r>
              <a:rPr lang="zh-CN" altLang="en-US" dirty="0"/>
              <a:t>至</a:t>
            </a:r>
            <a:r>
              <a:rPr lang="en-US" altLang="zh-CN" dirty="0"/>
              <a:t>80486</a:t>
            </a:r>
            <a:r>
              <a:rPr lang="zh-CN" altLang="en-US" dirty="0"/>
              <a:t>时代应用非常广泛，以至于奔腾机中还保留有</a:t>
            </a:r>
            <a:r>
              <a:rPr lang="en-US" altLang="zh-CN" dirty="0"/>
              <a:t>ISA</a:t>
            </a:r>
            <a:r>
              <a:rPr lang="zh-CN" altLang="en-US" dirty="0"/>
              <a:t>总线插槽。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4" name="图片 3" descr="Isa1.jpg">
            <a:extLst>
              <a:ext uri="{FF2B5EF4-FFF2-40B4-BE49-F238E27FC236}">
                <a16:creationId xmlns:a16="http://schemas.microsoft.com/office/drawing/2014/main" id="{EA09FCF0-3D6E-4EC1-96BB-B401D178945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3888" y="4437112"/>
            <a:ext cx="5000625" cy="203835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矩形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EISA</a:t>
            </a:r>
          </a:p>
        </p:txBody>
      </p:sp>
      <p:sp>
        <p:nvSpPr>
          <p:cNvPr id="47108" name="矩形 3"/>
          <p:cNvSpPr>
            <a:spLocks noGrp="1" noChangeArrowheads="1"/>
          </p:cNvSpPr>
          <p:nvPr>
            <p:ph idx="1"/>
          </p:nvPr>
        </p:nvSpPr>
        <p:spPr>
          <a:xfrm>
            <a:off x="365867" y="942764"/>
            <a:ext cx="8622682" cy="5637024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EISA</a:t>
            </a:r>
            <a:r>
              <a:rPr lang="zh-CN" altLang="en-US" sz="2400" dirty="0"/>
              <a:t>（</a:t>
            </a:r>
            <a:r>
              <a:rPr lang="en-US" altLang="zh-CN" sz="2400" dirty="0"/>
              <a:t>Extended Industry Standard Architecture</a:t>
            </a:r>
            <a:r>
              <a:rPr lang="zh-CN" altLang="en-US" sz="2400" dirty="0"/>
              <a:t>即扩展工业标准结构总线）</a:t>
            </a:r>
            <a:endParaRPr lang="en-US" altLang="zh-CN" sz="2400" dirty="0"/>
          </a:p>
          <a:p>
            <a:r>
              <a:rPr lang="en-US" altLang="zh-CN" sz="2400" dirty="0"/>
              <a:t>32</a:t>
            </a:r>
            <a:r>
              <a:rPr lang="zh-CN" altLang="en-US" sz="2400" dirty="0"/>
              <a:t>位中央处理器（</a:t>
            </a:r>
            <a:r>
              <a:rPr lang="en-US" altLang="zh-CN" sz="2400" dirty="0"/>
              <a:t>386</a:t>
            </a:r>
            <a:r>
              <a:rPr lang="zh-CN" altLang="en-US" sz="2400" dirty="0"/>
              <a:t>、</a:t>
            </a:r>
            <a:r>
              <a:rPr lang="en-US" altLang="zh-CN" sz="2400" dirty="0"/>
              <a:t>486</a:t>
            </a:r>
            <a:r>
              <a:rPr lang="zh-CN" altLang="en-US" sz="2400" dirty="0"/>
              <a:t>、</a:t>
            </a:r>
            <a:r>
              <a:rPr lang="en-US" altLang="zh-CN" sz="2400" dirty="0"/>
              <a:t>586</a:t>
            </a:r>
            <a:r>
              <a:rPr lang="zh-CN" altLang="en-US" sz="2400" dirty="0"/>
              <a:t>等等）总线扩展工业标准</a:t>
            </a:r>
            <a:endParaRPr lang="en-US" altLang="zh-CN" sz="2400" dirty="0"/>
          </a:p>
          <a:p>
            <a:r>
              <a:rPr lang="zh-CN" altLang="en-US" sz="2400" dirty="0"/>
              <a:t>总线宽度</a:t>
            </a:r>
            <a:r>
              <a:rPr lang="en-US" altLang="zh-CN" sz="2400" dirty="0"/>
              <a:t>32</a:t>
            </a:r>
            <a:r>
              <a:rPr lang="zh-CN" altLang="en-US" sz="2400" dirty="0"/>
              <a:t>位、</a:t>
            </a:r>
            <a:r>
              <a:rPr lang="en-US" altLang="zh-CN" sz="2400" dirty="0"/>
              <a:t>16MHz</a:t>
            </a:r>
          </a:p>
        </p:txBody>
      </p:sp>
      <p:pic>
        <p:nvPicPr>
          <p:cNvPr id="5" name="图片 4" descr="EISA_Bus.jpg">
            <a:extLst>
              <a:ext uri="{FF2B5EF4-FFF2-40B4-BE49-F238E27FC236}">
                <a16:creationId xmlns:a16="http://schemas.microsoft.com/office/drawing/2014/main" id="{9AE7548F-3C38-461F-9C79-70EF2C63C53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8024" y="4294621"/>
            <a:ext cx="4200525" cy="235267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矩形 2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778134" cy="617641"/>
          </a:xfrm>
        </p:spPr>
        <p:txBody>
          <a:bodyPr>
            <a:norm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3)VESA </a:t>
            </a:r>
            <a:r>
              <a:rPr lang="en-US" altLang="zh-CN" sz="2700" dirty="0"/>
              <a:t>(video electronics standard association)</a:t>
            </a:r>
          </a:p>
        </p:txBody>
      </p:sp>
      <p:sp>
        <p:nvSpPr>
          <p:cNvPr id="49156" name="矩形 3"/>
          <p:cNvSpPr>
            <a:spLocks noGrp="1" noChangeArrowheads="1"/>
          </p:cNvSpPr>
          <p:nvPr>
            <p:ph idx="1"/>
          </p:nvPr>
        </p:nvSpPr>
        <p:spPr>
          <a:xfrm>
            <a:off x="290604" y="610488"/>
            <a:ext cx="7886699" cy="5637024"/>
          </a:xfrm>
        </p:spPr>
        <p:txBody>
          <a:bodyPr>
            <a:normAutofit/>
          </a:bodyPr>
          <a:lstStyle/>
          <a:p>
            <a:r>
              <a:rPr lang="en-US" altLang="zh-CN" dirty="0"/>
              <a:t>VESA</a:t>
            </a:r>
            <a:r>
              <a:rPr lang="zh-CN" altLang="en-US" dirty="0"/>
              <a:t>）总线是 </a:t>
            </a:r>
            <a:r>
              <a:rPr lang="en-US" altLang="zh-CN" dirty="0"/>
              <a:t>1992</a:t>
            </a:r>
            <a:r>
              <a:rPr lang="zh-CN" altLang="en-US" dirty="0"/>
              <a:t>年由</a:t>
            </a:r>
            <a:r>
              <a:rPr lang="en-US" altLang="zh-CN" dirty="0"/>
              <a:t>60</a:t>
            </a:r>
            <a:r>
              <a:rPr lang="zh-CN" altLang="en-US" dirty="0"/>
              <a:t>家附件卡制造商联合推出的一种局部总线，简称为</a:t>
            </a:r>
            <a:r>
              <a:rPr lang="en-US" altLang="zh-CN" dirty="0"/>
              <a:t>VL(VESA local bus)</a:t>
            </a:r>
            <a:r>
              <a:rPr lang="zh-CN" altLang="en-US" dirty="0"/>
              <a:t>总线 </a:t>
            </a:r>
          </a:p>
          <a:p>
            <a:r>
              <a:rPr lang="zh-CN" altLang="en-US" dirty="0"/>
              <a:t>该总线系统考虑到</a:t>
            </a:r>
            <a:r>
              <a:rPr lang="en-US" altLang="zh-CN" dirty="0"/>
              <a:t>CPU</a:t>
            </a:r>
            <a:r>
              <a:rPr lang="zh-CN" altLang="en-US" dirty="0"/>
              <a:t>与主存和</a:t>
            </a:r>
            <a:r>
              <a:rPr lang="en-US" altLang="zh-CN" dirty="0"/>
              <a:t>Cache</a:t>
            </a:r>
            <a:r>
              <a:rPr lang="zh-CN" altLang="en-US" dirty="0"/>
              <a:t>的直接相连，通常把这部分总线称为</a:t>
            </a:r>
            <a:r>
              <a:rPr lang="en-US" altLang="zh-CN" dirty="0"/>
              <a:t>CPU</a:t>
            </a:r>
            <a:r>
              <a:rPr lang="zh-CN" altLang="en-US" dirty="0"/>
              <a:t>总线或主总线，其他设备通过</a:t>
            </a:r>
            <a:r>
              <a:rPr lang="en-US" altLang="zh-CN" dirty="0"/>
              <a:t>VL</a:t>
            </a:r>
            <a:r>
              <a:rPr lang="zh-CN" altLang="en-US" dirty="0"/>
              <a:t>总线与</a:t>
            </a:r>
            <a:r>
              <a:rPr lang="en-US" altLang="zh-CN" dirty="0"/>
              <a:t>CPU</a:t>
            </a:r>
            <a:r>
              <a:rPr lang="zh-CN" altLang="en-US" dirty="0"/>
              <a:t>总线相连，所以</a:t>
            </a:r>
            <a:r>
              <a:rPr lang="en-US" altLang="zh-CN" dirty="0"/>
              <a:t>VL</a:t>
            </a:r>
            <a:r>
              <a:rPr lang="zh-CN" altLang="en-US" dirty="0"/>
              <a:t>总线被称为局部总线。</a:t>
            </a:r>
          </a:p>
          <a:p>
            <a:r>
              <a:rPr lang="zh-CN" altLang="en-US" dirty="0"/>
              <a:t>数据、地址总线宽度均为</a:t>
            </a:r>
            <a:r>
              <a:rPr lang="en-US" altLang="zh-CN" dirty="0"/>
              <a:t>32</a:t>
            </a:r>
            <a:r>
              <a:rPr lang="zh-CN" altLang="en-US" dirty="0"/>
              <a:t>位。寻址空间为</a:t>
            </a:r>
            <a:r>
              <a:rPr lang="en-US" altLang="zh-CN" dirty="0"/>
              <a:t>4GB</a:t>
            </a:r>
            <a:r>
              <a:rPr lang="zh-CN" altLang="en-US" dirty="0"/>
              <a:t>。总线最高传输率为</a:t>
            </a:r>
            <a:r>
              <a:rPr lang="en-US" altLang="zh-CN" dirty="0"/>
              <a:t>133MB/S. </a:t>
            </a:r>
          </a:p>
          <a:p>
            <a:r>
              <a:rPr lang="zh-CN" altLang="en-US" dirty="0"/>
              <a:t>是一种高速、高效的局部总线，可支持</a:t>
            </a:r>
            <a:r>
              <a:rPr lang="en-US" altLang="zh-CN" dirty="0"/>
              <a:t>386SX</a:t>
            </a:r>
            <a:r>
              <a:rPr lang="zh-CN" altLang="en-US" dirty="0"/>
              <a:t>、</a:t>
            </a:r>
            <a:r>
              <a:rPr lang="en-US" altLang="zh-CN" dirty="0"/>
              <a:t>386DX</a:t>
            </a:r>
            <a:r>
              <a:rPr lang="zh-CN" altLang="en-US" dirty="0"/>
              <a:t>、</a:t>
            </a:r>
            <a:r>
              <a:rPr lang="en-US" altLang="zh-CN" dirty="0"/>
              <a:t>486SX</a:t>
            </a:r>
            <a:r>
              <a:rPr lang="zh-CN" altLang="en-US" dirty="0"/>
              <a:t>、</a:t>
            </a:r>
            <a:r>
              <a:rPr lang="en-US" altLang="zh-CN" dirty="0"/>
              <a:t>486DX</a:t>
            </a:r>
            <a:r>
              <a:rPr lang="zh-CN" altLang="en-US" dirty="0"/>
              <a:t>及奔腾微处理器。 </a:t>
            </a:r>
          </a:p>
        </p:txBody>
      </p:sp>
      <p:pic>
        <p:nvPicPr>
          <p:cNvPr id="4" name="图片 3" descr="Vlb.jpg">
            <a:extLst>
              <a:ext uri="{FF2B5EF4-FFF2-40B4-BE49-F238E27FC236}">
                <a16:creationId xmlns:a16="http://schemas.microsoft.com/office/drawing/2014/main" id="{AA5C131D-D92D-48FD-8C71-9A87BA5CA2F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9992" y="4797153"/>
            <a:ext cx="4644008" cy="1928386"/>
          </a:xfrm>
          <a:prstGeom prst="rect">
            <a:avLst/>
          </a:prstGeom>
        </p:spPr>
      </p:pic>
      <p:sp>
        <p:nvSpPr>
          <p:cNvPr id="3" name="对话气泡: 矩形 2">
            <a:extLst>
              <a:ext uri="{FF2B5EF4-FFF2-40B4-BE49-F238E27FC236}">
                <a16:creationId xmlns:a16="http://schemas.microsoft.com/office/drawing/2014/main" id="{377164C2-461E-4057-A81E-33900BFB6301}"/>
              </a:ext>
            </a:extLst>
          </p:cNvPr>
          <p:cNvSpPr/>
          <p:nvPr/>
        </p:nvSpPr>
        <p:spPr>
          <a:xfrm>
            <a:off x="2175029" y="5231401"/>
            <a:ext cx="1440160" cy="617641"/>
          </a:xfrm>
          <a:prstGeom prst="wedgeRectCallout">
            <a:avLst>
              <a:gd name="adj1" fmla="val 144393"/>
              <a:gd name="adj2" fmla="val 456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VESI</a:t>
            </a:r>
            <a:endParaRPr lang="zh-CN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矩形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(4)PCI</a:t>
            </a:r>
          </a:p>
        </p:txBody>
      </p:sp>
      <p:sp>
        <p:nvSpPr>
          <p:cNvPr id="50180" name="矩形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PCI</a:t>
            </a:r>
            <a:r>
              <a:rPr lang="zh-CN" altLang="en-US" sz="2000" dirty="0"/>
              <a:t>（</a:t>
            </a:r>
            <a:r>
              <a:rPr lang="en-US" altLang="zh-CN" sz="2000" dirty="0"/>
              <a:t>Peripheral Component Interconnect</a:t>
            </a:r>
            <a:r>
              <a:rPr lang="zh-CN" altLang="en-US" sz="2000" dirty="0"/>
              <a:t>是美国</a:t>
            </a:r>
            <a:r>
              <a:rPr lang="en-US" altLang="zh-CN" sz="2000" dirty="0"/>
              <a:t>SIG </a:t>
            </a:r>
            <a:r>
              <a:rPr lang="zh-CN" altLang="en-US" sz="2000" dirty="0"/>
              <a:t>（即美国计算机协会专业集团）推出的新一代</a:t>
            </a:r>
            <a:r>
              <a:rPr lang="en-US" altLang="zh-CN" sz="2000" dirty="0"/>
              <a:t>64</a:t>
            </a:r>
            <a:r>
              <a:rPr lang="zh-CN" altLang="en-US" sz="2000" dirty="0"/>
              <a:t>位总线。频率为</a:t>
            </a:r>
            <a:r>
              <a:rPr lang="en-US" altLang="zh-CN" sz="2000" dirty="0"/>
              <a:t>33MHz</a:t>
            </a:r>
            <a:r>
              <a:rPr lang="zh-CN" altLang="en-US" sz="2000" dirty="0"/>
              <a:t>，峰值传输率为</a:t>
            </a:r>
            <a:r>
              <a:rPr lang="en-US" altLang="zh-CN" sz="2000" dirty="0"/>
              <a:t>132Mbyte/s</a:t>
            </a:r>
            <a:r>
              <a:rPr lang="zh-CN" altLang="en-US" sz="2000" dirty="0"/>
              <a:t>。 </a:t>
            </a:r>
          </a:p>
          <a:p>
            <a:r>
              <a:rPr lang="en-US" altLang="zh-CN" sz="2000" dirty="0"/>
              <a:t>486</a:t>
            </a:r>
            <a:r>
              <a:rPr lang="zh-CN" altLang="en-US" sz="2000" dirty="0"/>
              <a:t>系列采用</a:t>
            </a:r>
            <a:r>
              <a:rPr lang="en-US" altLang="zh-CN" sz="2000" dirty="0"/>
              <a:t>ISA</a:t>
            </a:r>
            <a:r>
              <a:rPr lang="zh-CN" altLang="en-US" sz="2000" dirty="0"/>
              <a:t>和</a:t>
            </a:r>
            <a:r>
              <a:rPr lang="en-US" altLang="zh-CN" sz="2000" dirty="0"/>
              <a:t>EISA</a:t>
            </a:r>
            <a:r>
              <a:rPr lang="zh-CN" altLang="en-US" sz="2000" dirty="0"/>
              <a:t>总线，而奔腾或</a:t>
            </a:r>
            <a:r>
              <a:rPr lang="en-US" altLang="zh-CN" sz="2000" dirty="0"/>
              <a:t>586</a:t>
            </a:r>
            <a:r>
              <a:rPr lang="zh-CN" altLang="en-US" sz="2000" dirty="0"/>
              <a:t>系列主板采用了</a:t>
            </a:r>
            <a:r>
              <a:rPr lang="en-US" altLang="zh-CN" sz="2000" dirty="0"/>
              <a:t>PCI</a:t>
            </a:r>
            <a:r>
              <a:rPr lang="zh-CN" altLang="en-US" sz="2000" dirty="0"/>
              <a:t>总线。</a:t>
            </a:r>
            <a:r>
              <a:rPr lang="en-US" altLang="zh-CN" sz="2000" dirty="0"/>
              <a:t>586</a:t>
            </a:r>
            <a:r>
              <a:rPr lang="zh-CN" altLang="en-US" sz="2000" dirty="0"/>
              <a:t>系列主板应该淘汰传统的</a:t>
            </a:r>
            <a:r>
              <a:rPr lang="en-US" altLang="zh-CN" sz="2000" dirty="0"/>
              <a:t>EISA</a:t>
            </a:r>
            <a:r>
              <a:rPr lang="zh-CN" altLang="en-US" sz="2000" dirty="0"/>
              <a:t>总线，但很多用户还在使用</a:t>
            </a:r>
            <a:r>
              <a:rPr lang="en-US" altLang="zh-CN" sz="2000" dirty="0"/>
              <a:t>ISA</a:t>
            </a:r>
            <a:r>
              <a:rPr lang="zh-CN" altLang="en-US" sz="2000" dirty="0"/>
              <a:t>总线或</a:t>
            </a:r>
            <a:r>
              <a:rPr lang="en-US" altLang="zh-CN" sz="2000" dirty="0"/>
              <a:t>EISA</a:t>
            </a:r>
            <a:r>
              <a:rPr lang="zh-CN" altLang="en-US" sz="2000" dirty="0"/>
              <a:t>总线接口卡，所以大多数</a:t>
            </a:r>
            <a:r>
              <a:rPr lang="en-US" altLang="zh-CN" sz="2000" dirty="0"/>
              <a:t>586</a:t>
            </a:r>
            <a:r>
              <a:rPr lang="zh-CN" altLang="en-US" sz="2000" dirty="0"/>
              <a:t>系列主板仍保留了</a:t>
            </a:r>
            <a:r>
              <a:rPr lang="en-US" altLang="zh-CN" sz="2000" dirty="0"/>
              <a:t>EISA</a:t>
            </a:r>
            <a:r>
              <a:rPr lang="zh-CN" altLang="en-US" sz="2000" dirty="0"/>
              <a:t>总线。 </a:t>
            </a:r>
          </a:p>
          <a:p>
            <a:endParaRPr lang="en-US" altLang="zh-CN" dirty="0"/>
          </a:p>
        </p:txBody>
      </p:sp>
      <p:pic>
        <p:nvPicPr>
          <p:cNvPr id="5" name="图片 4" descr="1024px-PCI_Slots_Digon3.jpg">
            <a:extLst>
              <a:ext uri="{FF2B5EF4-FFF2-40B4-BE49-F238E27FC236}">
                <a16:creationId xmlns:a16="http://schemas.microsoft.com/office/drawing/2014/main" id="{300978C7-761A-46AE-AF51-35500821541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07904" y="3987500"/>
            <a:ext cx="4680520" cy="259228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矩形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宋体" panose="02010600030101010101" pitchFamily="2" charset="-122"/>
              </a:rPr>
              <a:t>PCI</a:t>
            </a:r>
            <a:r>
              <a:rPr lang="zh-CN" altLang="en-US" dirty="0">
                <a:latin typeface="宋体" panose="02010600030101010101" pitchFamily="2" charset="-122"/>
              </a:rPr>
              <a:t>总线结构</a:t>
            </a:r>
          </a:p>
        </p:txBody>
      </p:sp>
      <p:sp>
        <p:nvSpPr>
          <p:cNvPr id="43" name="矩形 4">
            <a:extLst>
              <a:ext uri="{FF2B5EF4-FFF2-40B4-BE49-F238E27FC236}">
                <a16:creationId xmlns:a16="http://schemas.microsoft.com/office/drawing/2014/main" id="{F524F1A4-AC7B-4377-A101-E72448CD7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2032" y="1340768"/>
            <a:ext cx="9906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处理器</a:t>
            </a:r>
          </a:p>
        </p:txBody>
      </p:sp>
      <p:sp>
        <p:nvSpPr>
          <p:cNvPr id="44" name="矩形 5">
            <a:extLst>
              <a:ext uri="{FF2B5EF4-FFF2-40B4-BE49-F238E27FC236}">
                <a16:creationId xmlns:a16="http://schemas.microsoft.com/office/drawing/2014/main" id="{259701BC-6BB2-45E3-BF7D-BA085021C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832" y="1340768"/>
            <a:ext cx="9906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处理器</a:t>
            </a:r>
          </a:p>
        </p:txBody>
      </p:sp>
      <p:sp>
        <p:nvSpPr>
          <p:cNvPr id="45" name="矩形 6">
            <a:extLst>
              <a:ext uri="{FF2B5EF4-FFF2-40B4-BE49-F238E27FC236}">
                <a16:creationId xmlns:a16="http://schemas.microsoft.com/office/drawing/2014/main" id="{4D0D6146-C914-49C1-86D3-D7EBEA7E3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0032" y="1340768"/>
            <a:ext cx="9906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1400">
                <a:latin typeface="Times New Roman" panose="02020603050405020304" pitchFamily="18" charset="0"/>
                <a:ea typeface="宋体" panose="02010600030101010101" pitchFamily="2" charset="-122"/>
              </a:rPr>
              <a:t>主存</a:t>
            </a:r>
          </a:p>
          <a:p>
            <a:pPr algn="ctr"/>
            <a:r>
              <a:rPr kumimoji="1" lang="zh-CN" altLang="en-US" sz="1400">
                <a:latin typeface="Times New Roman" panose="02020603050405020304" pitchFamily="18" charset="0"/>
                <a:ea typeface="宋体" panose="02010600030101010101" pitchFamily="2" charset="-122"/>
              </a:rPr>
              <a:t>控制器</a:t>
            </a:r>
          </a:p>
        </p:txBody>
      </p:sp>
      <p:sp>
        <p:nvSpPr>
          <p:cNvPr id="46" name="矩形 7">
            <a:extLst>
              <a:ext uri="{FF2B5EF4-FFF2-40B4-BE49-F238E27FC236}">
                <a16:creationId xmlns:a16="http://schemas.microsoft.com/office/drawing/2014/main" id="{269FCA9D-F88C-4BA4-A4C3-67685B1C4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0232" y="1340768"/>
            <a:ext cx="9906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主存</a:t>
            </a:r>
          </a:p>
        </p:txBody>
      </p:sp>
      <p:sp>
        <p:nvSpPr>
          <p:cNvPr id="47" name="矩形 8">
            <a:extLst>
              <a:ext uri="{FF2B5EF4-FFF2-40B4-BE49-F238E27FC236}">
                <a16:creationId xmlns:a16="http://schemas.microsoft.com/office/drawing/2014/main" id="{BE17CEDA-5C24-4F83-8FF9-43DBE1377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9632" y="2559968"/>
            <a:ext cx="914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PCI</a:t>
            </a:r>
            <a:r>
              <a:rPr kumimoji="1" lang="zh-CN" altLang="en-US" sz="1600">
                <a:latin typeface="Times New Roman" panose="02020603050405020304" pitchFamily="18" charset="0"/>
                <a:ea typeface="宋体" panose="02010600030101010101" pitchFamily="2" charset="-122"/>
              </a:rPr>
              <a:t>设备</a:t>
            </a:r>
          </a:p>
        </p:txBody>
      </p:sp>
      <p:sp>
        <p:nvSpPr>
          <p:cNvPr id="48" name="矩形 9">
            <a:extLst>
              <a:ext uri="{FF2B5EF4-FFF2-40B4-BE49-F238E27FC236}">
                <a16:creationId xmlns:a16="http://schemas.microsoft.com/office/drawing/2014/main" id="{07243E16-9B3F-4E80-A949-0987CB15E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5032" y="2559968"/>
            <a:ext cx="914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zh-CN" sz="16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/>
            <a:endParaRPr kumimoji="1" lang="en-US" altLang="zh-CN" sz="16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/>
            <a:r>
              <a:rPr kumimoji="1"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PCI</a:t>
            </a:r>
            <a:r>
              <a:rPr kumimoji="1" lang="zh-CN" altLang="en-US" sz="1600">
                <a:latin typeface="Times New Roman" panose="02020603050405020304" pitchFamily="18" charset="0"/>
                <a:ea typeface="宋体" panose="02010600030101010101" pitchFamily="2" charset="-122"/>
              </a:rPr>
              <a:t>设备</a:t>
            </a:r>
          </a:p>
          <a:p>
            <a:pPr algn="ctr"/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" name="矩形 10">
            <a:extLst>
              <a:ext uri="{FF2B5EF4-FFF2-40B4-BE49-F238E27FC236}">
                <a16:creationId xmlns:a16="http://schemas.microsoft.com/office/drawing/2014/main" id="{83772FB8-08A5-43D2-BFC3-697150C07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4232" y="2636168"/>
            <a:ext cx="990600" cy="38100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HOST</a:t>
            </a:r>
            <a:r>
              <a:rPr kumimoji="1" lang="zh-CN" altLang="en-US" sz="1400">
                <a:latin typeface="Times New Roman" panose="02020603050405020304" pitchFamily="18" charset="0"/>
                <a:ea typeface="宋体" panose="02010600030101010101" pitchFamily="2" charset="-122"/>
              </a:rPr>
              <a:t>桥</a:t>
            </a:r>
          </a:p>
        </p:txBody>
      </p:sp>
      <p:sp>
        <p:nvSpPr>
          <p:cNvPr id="50" name="矩形 11">
            <a:extLst>
              <a:ext uri="{FF2B5EF4-FFF2-40B4-BE49-F238E27FC236}">
                <a16:creationId xmlns:a16="http://schemas.microsoft.com/office/drawing/2014/main" id="{61FEA004-81B4-4285-B2ED-41B5FEEED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2032" y="2559968"/>
            <a:ext cx="22860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1600">
                <a:latin typeface="Times New Roman" panose="02020603050405020304" pitchFamily="18" charset="0"/>
                <a:ea typeface="宋体" panose="02010600030101010101" pitchFamily="2" charset="-122"/>
              </a:rPr>
              <a:t>主设备    目标设备</a:t>
            </a:r>
          </a:p>
        </p:txBody>
      </p:sp>
      <p:sp>
        <p:nvSpPr>
          <p:cNvPr id="51" name="矩形 12">
            <a:extLst>
              <a:ext uri="{FF2B5EF4-FFF2-40B4-BE49-F238E27FC236}">
                <a16:creationId xmlns:a16="http://schemas.microsoft.com/office/drawing/2014/main" id="{61953F85-D65D-4721-9086-2FF056E5A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0632" y="3779168"/>
            <a:ext cx="1905000" cy="381000"/>
          </a:xfrm>
          <a:prstGeom prst="rect">
            <a:avLst/>
          </a:prstGeom>
          <a:solidFill>
            <a:srgbClr val="99CC00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PCI/LEGACY</a:t>
            </a:r>
            <a:r>
              <a:rPr kumimoji="1" lang="zh-CN" altLang="en-US" sz="1600">
                <a:latin typeface="Times New Roman" panose="02020603050405020304" pitchFamily="18" charset="0"/>
                <a:ea typeface="宋体" panose="02010600030101010101" pitchFamily="2" charset="-122"/>
              </a:rPr>
              <a:t>总线桥</a:t>
            </a:r>
          </a:p>
        </p:txBody>
      </p:sp>
      <p:sp>
        <p:nvSpPr>
          <p:cNvPr id="52" name="矩形 13">
            <a:extLst>
              <a:ext uri="{FF2B5EF4-FFF2-40B4-BE49-F238E27FC236}">
                <a16:creationId xmlns:a16="http://schemas.microsoft.com/office/drawing/2014/main" id="{31EC5D74-2052-41D3-B3B3-783A6E2EE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1032" y="3779168"/>
            <a:ext cx="1905000" cy="381000"/>
          </a:xfrm>
          <a:prstGeom prst="rect">
            <a:avLst/>
          </a:prstGeom>
          <a:solidFill>
            <a:srgbClr val="99CC00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PCI/PCI</a:t>
            </a:r>
            <a:r>
              <a:rPr kumimoji="1" lang="zh-CN" altLang="en-US" sz="1600">
                <a:latin typeface="Times New Roman" panose="02020603050405020304" pitchFamily="18" charset="0"/>
                <a:ea typeface="宋体" panose="02010600030101010101" pitchFamily="2" charset="-122"/>
              </a:rPr>
              <a:t>桥</a:t>
            </a:r>
          </a:p>
        </p:txBody>
      </p:sp>
      <p:sp>
        <p:nvSpPr>
          <p:cNvPr id="53" name="矩形 14">
            <a:extLst>
              <a:ext uri="{FF2B5EF4-FFF2-40B4-BE49-F238E27FC236}">
                <a16:creationId xmlns:a16="http://schemas.microsoft.com/office/drawing/2014/main" id="{A55B50FF-AF4F-4153-BD0F-2702FE73B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1032" y="4998368"/>
            <a:ext cx="914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LEGACY</a:t>
            </a:r>
          </a:p>
          <a:p>
            <a:pPr algn="ctr"/>
            <a:r>
              <a:rPr kumimoji="1" lang="zh-CN" altLang="en-US" sz="1600">
                <a:latin typeface="Times New Roman" panose="02020603050405020304" pitchFamily="18" charset="0"/>
                <a:ea typeface="宋体" panose="02010600030101010101" pitchFamily="2" charset="-122"/>
              </a:rPr>
              <a:t>设备</a:t>
            </a:r>
          </a:p>
        </p:txBody>
      </p:sp>
      <p:sp>
        <p:nvSpPr>
          <p:cNvPr id="54" name="矩形 15">
            <a:extLst>
              <a:ext uri="{FF2B5EF4-FFF2-40B4-BE49-F238E27FC236}">
                <a16:creationId xmlns:a16="http://schemas.microsoft.com/office/drawing/2014/main" id="{3749BC05-D1AA-4571-A672-8D0E5E570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0232" y="4998368"/>
            <a:ext cx="914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LEGACY</a:t>
            </a:r>
          </a:p>
          <a:p>
            <a:pPr algn="ctr"/>
            <a:r>
              <a:rPr kumimoji="1" lang="zh-CN" altLang="en-US" sz="1600">
                <a:latin typeface="Times New Roman" panose="02020603050405020304" pitchFamily="18" charset="0"/>
                <a:ea typeface="宋体" panose="02010600030101010101" pitchFamily="2" charset="-122"/>
              </a:rPr>
              <a:t>设备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" name="矩形 16">
            <a:extLst>
              <a:ext uri="{FF2B5EF4-FFF2-40B4-BE49-F238E27FC236}">
                <a16:creationId xmlns:a16="http://schemas.microsoft.com/office/drawing/2014/main" id="{6EC1B533-817B-498C-BB3D-D7096A757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1032" y="5074568"/>
            <a:ext cx="914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PCI</a:t>
            </a:r>
            <a:r>
              <a:rPr kumimoji="1" lang="zh-CN" altLang="en-US" sz="1600">
                <a:latin typeface="Times New Roman" panose="02020603050405020304" pitchFamily="18" charset="0"/>
                <a:ea typeface="宋体" panose="02010600030101010101" pitchFamily="2" charset="-122"/>
              </a:rPr>
              <a:t>设备</a:t>
            </a:r>
          </a:p>
        </p:txBody>
      </p:sp>
      <p:sp>
        <p:nvSpPr>
          <p:cNvPr id="56" name="矩形 17">
            <a:extLst>
              <a:ext uri="{FF2B5EF4-FFF2-40B4-BE49-F238E27FC236}">
                <a16:creationId xmlns:a16="http://schemas.microsoft.com/office/drawing/2014/main" id="{949DB01E-C099-4E6E-BF7D-3525D6B91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2632" y="5074568"/>
            <a:ext cx="914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PCI</a:t>
            </a:r>
            <a:r>
              <a:rPr kumimoji="1" lang="zh-CN" altLang="en-US" sz="1600">
                <a:latin typeface="Times New Roman" panose="02020603050405020304" pitchFamily="18" charset="0"/>
                <a:ea typeface="宋体" panose="02010600030101010101" pitchFamily="2" charset="-122"/>
              </a:rPr>
              <a:t>设备</a:t>
            </a:r>
          </a:p>
        </p:txBody>
      </p:sp>
      <p:sp>
        <p:nvSpPr>
          <p:cNvPr id="57" name="直线 22">
            <a:extLst>
              <a:ext uri="{FF2B5EF4-FFF2-40B4-BE49-F238E27FC236}">
                <a16:creationId xmlns:a16="http://schemas.microsoft.com/office/drawing/2014/main" id="{8F302A7F-5469-4A14-8CCB-589CA0CD46F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69232" y="1874168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8" name="直线 23">
            <a:extLst>
              <a:ext uri="{FF2B5EF4-FFF2-40B4-BE49-F238E27FC236}">
                <a16:creationId xmlns:a16="http://schemas.microsoft.com/office/drawing/2014/main" id="{A2C702A7-37D4-49C1-A520-A5202F42AB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7032" y="1874168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9" name="直线 24">
            <a:extLst>
              <a:ext uri="{FF2B5EF4-FFF2-40B4-BE49-F238E27FC236}">
                <a16:creationId xmlns:a16="http://schemas.microsoft.com/office/drawing/2014/main" id="{8BC6BC6A-48DD-4F70-913B-D5A586832E8C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1032" y="1874168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0" name="直线 25">
            <a:extLst>
              <a:ext uri="{FF2B5EF4-FFF2-40B4-BE49-F238E27FC236}">
                <a16:creationId xmlns:a16="http://schemas.microsoft.com/office/drawing/2014/main" id="{AF8D752C-EDB5-41BF-870E-5D8FDCF1720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6832" y="3093368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1" name="直线 26">
            <a:extLst>
              <a:ext uri="{FF2B5EF4-FFF2-40B4-BE49-F238E27FC236}">
                <a16:creationId xmlns:a16="http://schemas.microsoft.com/office/drawing/2014/main" id="{FC7EBE8C-1454-4AC4-8901-67C0AF6B169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2232" y="3093368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2" name="直线 27">
            <a:extLst>
              <a:ext uri="{FF2B5EF4-FFF2-40B4-BE49-F238E27FC236}">
                <a16:creationId xmlns:a16="http://schemas.microsoft.com/office/drawing/2014/main" id="{4CA1A92D-CF01-418D-9912-6DE943207ED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7632" y="301716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3" name="直线 28">
            <a:extLst>
              <a:ext uri="{FF2B5EF4-FFF2-40B4-BE49-F238E27FC236}">
                <a16:creationId xmlns:a16="http://schemas.microsoft.com/office/drawing/2014/main" id="{46A8E7DF-0CF2-439B-B2D7-DCEB1CD4283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1232" y="3093368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4" name="直线 29">
            <a:extLst>
              <a:ext uri="{FF2B5EF4-FFF2-40B4-BE49-F238E27FC236}">
                <a16:creationId xmlns:a16="http://schemas.microsoft.com/office/drawing/2014/main" id="{E3E82ABE-FFF5-4974-ACE9-1AEEBB427C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755032" y="339816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5" name="直线 30">
            <a:extLst>
              <a:ext uri="{FF2B5EF4-FFF2-40B4-BE49-F238E27FC236}">
                <a16:creationId xmlns:a16="http://schemas.microsoft.com/office/drawing/2014/main" id="{BFA2C7AE-841C-4A5C-8B7D-C1E9919899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55032" y="416016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6" name="直线 31">
            <a:extLst>
              <a:ext uri="{FF2B5EF4-FFF2-40B4-BE49-F238E27FC236}">
                <a16:creationId xmlns:a16="http://schemas.microsoft.com/office/drawing/2014/main" id="{35A68D06-56CE-4B36-884E-8C0F4F1C2592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5432" y="339816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7" name="直线 32">
            <a:extLst>
              <a:ext uri="{FF2B5EF4-FFF2-40B4-BE49-F238E27FC236}">
                <a16:creationId xmlns:a16="http://schemas.microsoft.com/office/drawing/2014/main" id="{3726AD04-ECB2-41C9-A548-30A6ADF0EDE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5432" y="4160168"/>
            <a:ext cx="0" cy="28706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8" name="直线 33">
            <a:extLst>
              <a:ext uri="{FF2B5EF4-FFF2-40B4-BE49-F238E27FC236}">
                <a16:creationId xmlns:a16="http://schemas.microsoft.com/office/drawing/2014/main" id="{2DEEA964-5741-4E1A-88E6-25C49082783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4432" y="4541168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9" name="直线 34">
            <a:extLst>
              <a:ext uri="{FF2B5EF4-FFF2-40B4-BE49-F238E27FC236}">
                <a16:creationId xmlns:a16="http://schemas.microsoft.com/office/drawing/2014/main" id="{DF750D28-B5E5-4C9F-A2EE-7A9408383C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6032" y="4541168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0" name="直线 35">
            <a:extLst>
              <a:ext uri="{FF2B5EF4-FFF2-40B4-BE49-F238E27FC236}">
                <a16:creationId xmlns:a16="http://schemas.microsoft.com/office/drawing/2014/main" id="{55B5C0C8-4A74-4162-A2D5-B3B1B09D36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8232" y="454116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1" name="直线 36">
            <a:extLst>
              <a:ext uri="{FF2B5EF4-FFF2-40B4-BE49-F238E27FC236}">
                <a16:creationId xmlns:a16="http://schemas.microsoft.com/office/drawing/2014/main" id="{5A68E6B6-BC79-4F1C-A77F-DF36FAA20246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6032" y="454116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2" name="直线 37">
            <a:extLst>
              <a:ext uri="{FF2B5EF4-FFF2-40B4-BE49-F238E27FC236}">
                <a16:creationId xmlns:a16="http://schemas.microsoft.com/office/drawing/2014/main" id="{5BC2FD27-468B-471E-B342-2A58366736D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7632" y="2178968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3" name="直线 38">
            <a:extLst>
              <a:ext uri="{FF2B5EF4-FFF2-40B4-BE49-F238E27FC236}">
                <a16:creationId xmlns:a16="http://schemas.microsoft.com/office/drawing/2014/main" id="{24175CB2-26A0-40FF-AA59-88B1AAA7CDBA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0632" y="156936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4" name="文本框 39">
            <a:extLst>
              <a:ext uri="{FF2B5EF4-FFF2-40B4-BE49-F238E27FC236}">
                <a16:creationId xmlns:a16="http://schemas.microsoft.com/office/drawing/2014/main" id="{AC4B7A7B-7CA4-44EB-9536-4474C3BD8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8557" y="1836069"/>
            <a:ext cx="1238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HOST</a:t>
            </a:r>
            <a:r>
              <a:rPr kumimoji="1"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总线</a:t>
            </a:r>
          </a:p>
        </p:txBody>
      </p:sp>
      <p:sp>
        <p:nvSpPr>
          <p:cNvPr id="75" name="文本框 40">
            <a:extLst>
              <a:ext uri="{FF2B5EF4-FFF2-40B4-BE49-F238E27FC236}">
                <a16:creationId xmlns:a16="http://schemas.microsoft.com/office/drawing/2014/main" id="{17A9D33B-F69C-4FAD-9FEA-5D1443E28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4320" y="3436268"/>
            <a:ext cx="101822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PCI</a:t>
            </a:r>
            <a:r>
              <a:rPr kumimoji="1"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总线</a:t>
            </a:r>
          </a:p>
        </p:txBody>
      </p:sp>
      <p:sp>
        <p:nvSpPr>
          <p:cNvPr id="76" name="文本框 41">
            <a:extLst>
              <a:ext uri="{FF2B5EF4-FFF2-40B4-BE49-F238E27FC236}">
                <a16:creationId xmlns:a16="http://schemas.microsoft.com/office/drawing/2014/main" id="{A408E9A3-2314-46BB-B814-F3C35BC6B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6520" y="4579268"/>
            <a:ext cx="101822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PCI</a:t>
            </a:r>
            <a:r>
              <a:rPr kumimoji="1"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总线</a:t>
            </a:r>
          </a:p>
        </p:txBody>
      </p:sp>
      <p:sp>
        <p:nvSpPr>
          <p:cNvPr id="77" name="文本框 42">
            <a:extLst>
              <a:ext uri="{FF2B5EF4-FFF2-40B4-BE49-F238E27FC236}">
                <a16:creationId xmlns:a16="http://schemas.microsoft.com/office/drawing/2014/main" id="{57993E49-4492-4570-AF41-7EC0E3BD8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0633" y="4541168"/>
            <a:ext cx="2244725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LEGACY</a:t>
            </a:r>
            <a:r>
              <a:rPr kumimoji="1" lang="zh-CN" altLang="en-US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总线（遗留）</a:t>
            </a:r>
          </a:p>
        </p:txBody>
      </p:sp>
      <p:sp>
        <p:nvSpPr>
          <p:cNvPr id="78" name="直线 19">
            <a:extLst>
              <a:ext uri="{FF2B5EF4-FFF2-40B4-BE49-F238E27FC236}">
                <a16:creationId xmlns:a16="http://schemas.microsoft.com/office/drawing/2014/main" id="{55D2FFDF-FE34-46D4-9789-B1453FF6B5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54832" y="3398168"/>
            <a:ext cx="6934200" cy="0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9" name="直线 18">
            <a:extLst>
              <a:ext uri="{FF2B5EF4-FFF2-40B4-BE49-F238E27FC236}">
                <a16:creationId xmlns:a16="http://schemas.microsoft.com/office/drawing/2014/main" id="{F10BEF05-2238-4C3D-A641-AF1598A8D0AC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1032" y="2178968"/>
            <a:ext cx="6934200" cy="0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80" name="直线 20">
            <a:extLst>
              <a:ext uri="{FF2B5EF4-FFF2-40B4-BE49-F238E27FC236}">
                <a16:creationId xmlns:a16="http://schemas.microsoft.com/office/drawing/2014/main" id="{D097FDFF-D580-4069-BF57-094E0463C3A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2432" y="4541168"/>
            <a:ext cx="3124200" cy="0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81" name="直线 21">
            <a:extLst>
              <a:ext uri="{FF2B5EF4-FFF2-40B4-BE49-F238E27FC236}">
                <a16:creationId xmlns:a16="http://schemas.microsoft.com/office/drawing/2014/main" id="{9A4BA0BA-FB6F-44C1-B2D9-6BE6BEA231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6232" y="4541168"/>
            <a:ext cx="3124200" cy="0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矩形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PCI</a:t>
            </a:r>
            <a:r>
              <a:rPr lang="zh-CN" altLang="en-US" dirty="0"/>
              <a:t>总线特点</a:t>
            </a:r>
          </a:p>
        </p:txBody>
      </p:sp>
      <p:sp>
        <p:nvSpPr>
          <p:cNvPr id="52228" name="矩形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支持总线主控技术，允许智能设备在适当的时候取得总线控制权以加速数据传输；</a:t>
            </a:r>
          </a:p>
          <a:p>
            <a:r>
              <a:rPr lang="zh-CN" altLang="en-US" sz="2400" dirty="0"/>
              <a:t>支持猝发传输模式。</a:t>
            </a:r>
          </a:p>
          <a:p>
            <a:r>
              <a:rPr lang="zh-CN" altLang="en-US" sz="2400" dirty="0"/>
              <a:t>不受</a:t>
            </a:r>
            <a:r>
              <a:rPr lang="en-US" altLang="zh-CN" sz="2400" dirty="0"/>
              <a:t>CPU</a:t>
            </a:r>
            <a:r>
              <a:rPr lang="zh-CN" altLang="en-US" sz="2400" dirty="0"/>
              <a:t>速度和结构的限制；</a:t>
            </a:r>
          </a:p>
          <a:p>
            <a:r>
              <a:rPr lang="zh-CN" altLang="en-US" sz="2400" dirty="0"/>
              <a:t>与 </a:t>
            </a:r>
            <a:r>
              <a:rPr lang="en-US" altLang="zh-CN" sz="2400" dirty="0"/>
              <a:t>ISA</a:t>
            </a:r>
            <a:r>
              <a:rPr lang="zh-CN" altLang="en-US" sz="2400" dirty="0"/>
              <a:t>／</a:t>
            </a:r>
            <a:r>
              <a:rPr lang="en-US" altLang="zh-CN" sz="2400" dirty="0"/>
              <a:t>EISA</a:t>
            </a:r>
            <a:r>
              <a:rPr lang="zh-CN" altLang="en-US" sz="2400" dirty="0"/>
              <a:t>／</a:t>
            </a:r>
            <a:r>
              <a:rPr lang="en-US" altLang="zh-CN" sz="2400" dirty="0"/>
              <a:t>MCA</a:t>
            </a:r>
            <a:r>
              <a:rPr lang="zh-CN" altLang="en-US" sz="2400" dirty="0"/>
              <a:t>兼容；</a:t>
            </a:r>
          </a:p>
          <a:p>
            <a:r>
              <a:rPr lang="zh-CN" altLang="en-US" sz="2400" dirty="0"/>
              <a:t>预留扩展空间，支持</a:t>
            </a:r>
            <a:r>
              <a:rPr lang="en-US" altLang="zh-CN" sz="2400" dirty="0"/>
              <a:t>64b</a:t>
            </a:r>
            <a:r>
              <a:rPr lang="zh-CN" altLang="en-US" sz="2400" dirty="0"/>
              <a:t>数据和地址；</a:t>
            </a:r>
          </a:p>
          <a:p>
            <a:r>
              <a:rPr lang="zh-CN" altLang="en-US" sz="2400" dirty="0"/>
              <a:t>数据宽度</a:t>
            </a:r>
            <a:r>
              <a:rPr lang="en-US" altLang="zh-CN" sz="2400" dirty="0"/>
              <a:t>32</a:t>
            </a:r>
            <a:r>
              <a:rPr lang="zh-CN" altLang="en-US" sz="2400" dirty="0"/>
              <a:t>位，时钟频率</a:t>
            </a:r>
            <a:r>
              <a:rPr lang="en-US" altLang="zh-CN" sz="2400" dirty="0"/>
              <a:t>33MHz</a:t>
            </a:r>
            <a:r>
              <a:rPr lang="zh-CN" altLang="en-US" sz="2400" dirty="0"/>
              <a:t>，最大数据传输速率为</a:t>
            </a:r>
            <a:r>
              <a:rPr lang="en-US" altLang="zh-CN" sz="2400" dirty="0"/>
              <a:t>133MB/s</a:t>
            </a:r>
            <a:r>
              <a:rPr lang="zh-CN" altLang="en-US" sz="2400" dirty="0"/>
              <a:t>；</a:t>
            </a:r>
          </a:p>
          <a:p>
            <a:r>
              <a:rPr lang="zh-CN" altLang="en-US" sz="2400" dirty="0"/>
              <a:t>同步时序、集中式仲裁。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矩形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PCI</a:t>
            </a:r>
            <a:r>
              <a:rPr lang="zh-CN" altLang="en-US"/>
              <a:t>总线局限性</a:t>
            </a:r>
          </a:p>
        </p:txBody>
      </p:sp>
      <p:sp>
        <p:nvSpPr>
          <p:cNvPr id="53252" name="矩形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多</a:t>
            </a:r>
            <a:r>
              <a:rPr lang="en-US" altLang="zh-CN" sz="2400" dirty="0"/>
              <a:t>PCI</a:t>
            </a:r>
            <a:r>
              <a:rPr lang="zh-CN" altLang="en-US" sz="2400" dirty="0"/>
              <a:t>设备共享总线的带宽。  </a:t>
            </a:r>
          </a:p>
          <a:p>
            <a:r>
              <a:rPr lang="zh-CN" altLang="en-US" sz="2400" dirty="0"/>
              <a:t>多</a:t>
            </a:r>
            <a:r>
              <a:rPr lang="en-US" altLang="zh-CN" sz="2400" dirty="0"/>
              <a:t>PCI</a:t>
            </a:r>
            <a:r>
              <a:rPr lang="zh-CN" altLang="en-US" sz="2400" dirty="0"/>
              <a:t>设备共享一组信号线， 因此受插板插入位置的影响， 会产生微妙的信号畸变。</a:t>
            </a:r>
            <a:endParaRPr lang="en-US" altLang="zh-CN" sz="2400" dirty="0"/>
          </a:p>
          <a:p>
            <a:r>
              <a:rPr lang="zh-CN" altLang="en-US" sz="2400" dirty="0"/>
              <a:t>实际上在</a:t>
            </a:r>
            <a:r>
              <a:rPr lang="en-US" altLang="zh-CN" sz="2400" dirty="0"/>
              <a:t>33MHz</a:t>
            </a:r>
            <a:r>
              <a:rPr lang="zh-CN" altLang="en-US" sz="2400" dirty="0"/>
              <a:t>的</a:t>
            </a:r>
            <a:r>
              <a:rPr lang="en-US" altLang="zh-CN" sz="2400" dirty="0"/>
              <a:t>PCI</a:t>
            </a:r>
            <a:r>
              <a:rPr lang="zh-CN" altLang="en-US" sz="2400" dirty="0"/>
              <a:t>总线情况下，只能用到</a:t>
            </a:r>
            <a:r>
              <a:rPr lang="en-US" altLang="zh-CN" sz="2400" dirty="0"/>
              <a:t>4</a:t>
            </a:r>
            <a:r>
              <a:rPr lang="zh-CN" altLang="en-US" sz="2400" dirty="0"/>
              <a:t>个插 槽；在</a:t>
            </a:r>
            <a:r>
              <a:rPr lang="en-US" altLang="zh-CN" sz="2400" dirty="0"/>
              <a:t>66MHz </a:t>
            </a:r>
            <a:r>
              <a:rPr lang="zh-CN" altLang="en-US" sz="2400" dirty="0"/>
              <a:t>下，只能用到</a:t>
            </a:r>
            <a:r>
              <a:rPr lang="en-US" altLang="zh-CN" sz="2400" dirty="0"/>
              <a:t>2</a:t>
            </a:r>
            <a:r>
              <a:rPr lang="zh-CN" altLang="en-US" sz="2400" dirty="0"/>
              <a:t>个插 槽。 </a:t>
            </a:r>
          </a:p>
          <a:p>
            <a:r>
              <a:rPr lang="zh-CN" altLang="en-US" sz="2400" dirty="0"/>
              <a:t>在</a:t>
            </a:r>
            <a:r>
              <a:rPr lang="en-US" altLang="zh-CN" sz="2400" dirty="0"/>
              <a:t>PCI </a:t>
            </a:r>
            <a:r>
              <a:rPr lang="zh-CN" altLang="en-US" sz="2400" dirty="0"/>
              <a:t>总线中是采用内存映射</a:t>
            </a:r>
            <a:r>
              <a:rPr lang="en-US" altLang="zh-CN" sz="2400" dirty="0"/>
              <a:t>I/O</a:t>
            </a:r>
            <a:r>
              <a:rPr lang="zh-CN" altLang="en-US" sz="2400" dirty="0"/>
              <a:t>，这也影响了系统的整体性能。</a:t>
            </a:r>
            <a:r>
              <a:rPr lang="en-US" altLang="zh-CN" sz="2400" dirty="0"/>
              <a:t>CPU</a:t>
            </a:r>
            <a:r>
              <a:rPr lang="zh-CN" altLang="en-US" sz="2400" dirty="0"/>
              <a:t>读写动作频率要与</a:t>
            </a:r>
            <a:r>
              <a:rPr lang="en-US" altLang="zh-CN" sz="2400" dirty="0"/>
              <a:t>PCI</a:t>
            </a:r>
            <a:r>
              <a:rPr lang="zh-CN" altLang="en-US" sz="2400" dirty="0"/>
              <a:t>总线的动作频率同步，所以就延缓了</a:t>
            </a:r>
            <a:r>
              <a:rPr lang="en-US" altLang="zh-CN" sz="2400" dirty="0"/>
              <a:t>CPU</a:t>
            </a:r>
            <a:r>
              <a:rPr lang="zh-CN" altLang="en-US" sz="2400" dirty="0"/>
              <a:t>指令的执行速度。</a:t>
            </a:r>
          </a:p>
          <a:p>
            <a:endParaRPr lang="zh-CN" altLang="en-US" sz="2400" dirty="0"/>
          </a:p>
          <a:p>
            <a:endParaRPr lang="en-US" altLang="zh-CN" sz="2400" dirty="0"/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矩形 2"/>
          <p:cNvSpPr>
            <a:spLocks noGrp="1" noChangeArrowheads="1"/>
          </p:cNvSpPr>
          <p:nvPr>
            <p:ph type="title"/>
          </p:nvPr>
        </p:nvSpPr>
        <p:spPr>
          <a:xfrm>
            <a:off x="179512" y="57768"/>
            <a:ext cx="7886700" cy="617641"/>
          </a:xfrm>
        </p:spPr>
        <p:txBody>
          <a:bodyPr/>
          <a:lstStyle/>
          <a:p>
            <a:r>
              <a:rPr lang="en-US" altLang="zh-CN" dirty="0"/>
              <a:t>(5)USB</a:t>
            </a:r>
          </a:p>
        </p:txBody>
      </p:sp>
      <p:sp>
        <p:nvSpPr>
          <p:cNvPr id="70660" name="矩形 3"/>
          <p:cNvSpPr>
            <a:spLocks noGrp="1" noChangeArrowheads="1"/>
          </p:cNvSpPr>
          <p:nvPr>
            <p:ph idx="1"/>
          </p:nvPr>
        </p:nvSpPr>
        <p:spPr>
          <a:xfrm>
            <a:off x="365867" y="752246"/>
            <a:ext cx="8526613" cy="5798604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USB</a:t>
            </a:r>
            <a:r>
              <a:rPr lang="zh-CN" altLang="en-US" sz="2800" dirty="0"/>
              <a:t>（</a:t>
            </a:r>
            <a:r>
              <a:rPr lang="en-US" altLang="zh-CN" sz="2800" dirty="0"/>
              <a:t>Universal Serial Bus</a:t>
            </a:r>
            <a:r>
              <a:rPr lang="zh-CN" altLang="en-US" sz="2800" dirty="0"/>
              <a:t>即通用串行总线）</a:t>
            </a:r>
          </a:p>
          <a:p>
            <a:pPr lvl="1"/>
            <a:r>
              <a:rPr lang="zh-CN" altLang="en-US" sz="2000" dirty="0">
                <a:solidFill>
                  <a:srgbClr val="FF0000"/>
                </a:solidFill>
              </a:rPr>
              <a:t>由</a:t>
            </a:r>
            <a:r>
              <a:rPr lang="en-US" altLang="zh-CN" sz="2000" dirty="0">
                <a:solidFill>
                  <a:srgbClr val="FF0000"/>
                </a:solidFill>
              </a:rPr>
              <a:t>Intel</a:t>
            </a:r>
            <a:r>
              <a:rPr lang="zh-CN" altLang="en-US" sz="2000" dirty="0">
                <a:solidFill>
                  <a:srgbClr val="FF0000"/>
                </a:solidFill>
              </a:rPr>
              <a:t>公司提出，</a:t>
            </a:r>
            <a:r>
              <a:rPr lang="en-US" altLang="zh-CN" sz="2000" dirty="0">
                <a:solidFill>
                  <a:srgbClr val="FF0000"/>
                </a:solidFill>
              </a:rPr>
              <a:t>USB1.0 </a:t>
            </a:r>
            <a:r>
              <a:rPr lang="zh-CN" altLang="en-US" sz="2000" dirty="0">
                <a:solidFill>
                  <a:srgbClr val="FF0000"/>
                </a:solidFill>
              </a:rPr>
              <a:t>带宽为</a:t>
            </a:r>
            <a:r>
              <a:rPr lang="en-US" altLang="zh-CN" sz="2000" dirty="0">
                <a:solidFill>
                  <a:srgbClr val="FF0000"/>
                </a:solidFill>
              </a:rPr>
              <a:t>12Mbps</a:t>
            </a:r>
            <a:r>
              <a:rPr lang="zh-CN" altLang="en-US" sz="2000" dirty="0">
                <a:solidFill>
                  <a:srgbClr val="FF0000"/>
                </a:solidFill>
              </a:rPr>
              <a:t>；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lvl="1"/>
            <a:r>
              <a:rPr lang="zh-CN" altLang="en-US" sz="2000" dirty="0">
                <a:solidFill>
                  <a:srgbClr val="FF0000"/>
                </a:solidFill>
              </a:rPr>
              <a:t>可以热插拔，即插即用；</a:t>
            </a:r>
          </a:p>
          <a:p>
            <a:pPr lvl="1"/>
            <a:r>
              <a:rPr lang="zh-CN" altLang="en-US" sz="2000" dirty="0">
                <a:solidFill>
                  <a:srgbClr val="FF0000"/>
                </a:solidFill>
              </a:rPr>
              <a:t>可接入</a:t>
            </a:r>
            <a:r>
              <a:rPr lang="en-US" altLang="zh-CN" sz="2000" dirty="0">
                <a:solidFill>
                  <a:srgbClr val="FF0000"/>
                </a:solidFill>
              </a:rPr>
              <a:t>127</a:t>
            </a:r>
            <a:r>
              <a:rPr lang="zh-CN" altLang="en-US" sz="2000" dirty="0">
                <a:solidFill>
                  <a:srgbClr val="FF0000"/>
                </a:solidFill>
              </a:rPr>
              <a:t>个设备，计算机外设越来越多，</a:t>
            </a:r>
            <a:r>
              <a:rPr lang="en-US" altLang="zh-CN" sz="2000" dirty="0">
                <a:solidFill>
                  <a:srgbClr val="FF0000"/>
                </a:solidFill>
              </a:rPr>
              <a:t>PC</a:t>
            </a:r>
            <a:r>
              <a:rPr lang="zh-CN" altLang="en-US" sz="2000" dirty="0">
                <a:solidFill>
                  <a:srgbClr val="FF0000"/>
                </a:solidFill>
              </a:rPr>
              <a:t>机内有限的插槽和接口已经不能满足要求，</a:t>
            </a:r>
            <a:r>
              <a:rPr lang="en-US" altLang="zh-CN" sz="2000" dirty="0">
                <a:solidFill>
                  <a:srgbClr val="FF0000"/>
                </a:solidFill>
              </a:rPr>
              <a:t>USB</a:t>
            </a:r>
            <a:r>
              <a:rPr lang="zh-CN" altLang="en-US" sz="2000" dirty="0">
                <a:solidFill>
                  <a:srgbClr val="FF0000"/>
                </a:solidFill>
              </a:rPr>
              <a:t>缓解了这一矛盾。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800" dirty="0"/>
              <a:t>USB</a:t>
            </a:r>
            <a:r>
              <a:rPr lang="zh-CN" altLang="en-US" sz="2800" dirty="0"/>
              <a:t>采用四线电缆，其中两根是用来传送数据的串行通道，另两根为下游（</a:t>
            </a:r>
            <a:r>
              <a:rPr lang="en-US" altLang="zh-CN" sz="2800" dirty="0"/>
              <a:t>Downstream)</a:t>
            </a:r>
            <a:r>
              <a:rPr lang="zh-CN" altLang="en-US" sz="2800" dirty="0"/>
              <a:t>设备提供电源</a:t>
            </a:r>
          </a:p>
          <a:p>
            <a:r>
              <a:rPr lang="en-US" altLang="zh-CN" sz="2800" dirty="0"/>
              <a:t>USB</a:t>
            </a:r>
            <a:r>
              <a:rPr lang="zh-CN" altLang="en-US" sz="2800" dirty="0"/>
              <a:t>系统采用级联星型拓扑，该拓扑由三个基本部分组成：主机（</a:t>
            </a:r>
            <a:r>
              <a:rPr lang="en-US" altLang="zh-CN" sz="2800" dirty="0"/>
              <a:t>Host)</a:t>
            </a:r>
            <a:r>
              <a:rPr lang="zh-CN" altLang="en-US" sz="2800" dirty="0"/>
              <a:t>，集线器（</a:t>
            </a:r>
            <a:r>
              <a:rPr lang="en-US" altLang="zh-CN" sz="2800" dirty="0"/>
              <a:t>Hub)</a:t>
            </a:r>
            <a:r>
              <a:rPr lang="zh-CN" altLang="en-US" sz="2800" dirty="0"/>
              <a:t>和功能设备。</a:t>
            </a:r>
          </a:p>
          <a:p>
            <a:endParaRPr lang="en-US" altLang="zh-CN" sz="2800" dirty="0"/>
          </a:p>
          <a:p>
            <a:pPr lvl="1"/>
            <a:endParaRPr lang="zh-CN" altLang="en-US" sz="2800" dirty="0"/>
          </a:p>
          <a:p>
            <a:endParaRPr lang="en-US" altLang="zh-CN" sz="2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矩形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USB</a:t>
            </a:r>
            <a:r>
              <a:rPr lang="zh-CN" altLang="en-US" dirty="0"/>
              <a:t>接口类型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C15FE31-7F98-4E76-99DF-B5ACB0FB8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615" y="1916831"/>
            <a:ext cx="1514498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1648452-F5FE-41E6-9E8C-2900456C8F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9851488"/>
              </p:ext>
            </p:extLst>
          </p:nvPr>
        </p:nvGraphicFramePr>
        <p:xfrm>
          <a:off x="408397" y="1700808"/>
          <a:ext cx="7994132" cy="3456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" name="Visio" r:id="rId3" imgW="4600872" imgH="1990760" progId="Visio.Drawing.11">
                  <p:embed/>
                </p:oleObj>
              </mc:Choice>
              <mc:Fallback>
                <p:oleObj name="Visio" r:id="rId3" imgW="4600872" imgH="199076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397" y="1700808"/>
                        <a:ext cx="7994132" cy="34563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14653512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矩形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USB</a:t>
            </a:r>
            <a:r>
              <a:rPr lang="zh-CN" altLang="en-US" dirty="0"/>
              <a:t>总线结构拓扑</a:t>
            </a:r>
          </a:p>
        </p:txBody>
      </p:sp>
      <p:pic>
        <p:nvPicPr>
          <p:cNvPr id="72708" name="图片 3" descr="topolog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155885"/>
            <a:ext cx="5816081" cy="5263999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默认设计模板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FBDF53"/>
      </a:accent1>
      <a:accent2>
        <a:srgbClr val="FF9966"/>
      </a:accent2>
      <a:accent3>
        <a:srgbClr val="FFFFFF"/>
      </a:accent3>
      <a:accent4>
        <a:srgbClr val="000000"/>
      </a:accent4>
      <a:accent5>
        <a:srgbClr val="FDECB3"/>
      </a:accent5>
      <a:accent6>
        <a:srgbClr val="E78A5C"/>
      </a:accent6>
      <a:hlink>
        <a:srgbClr val="CC3300"/>
      </a:hlink>
      <a:folHlink>
        <a:srgbClr val="FF00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FBDF53"/>
      </a:accent1>
      <a:accent2>
        <a:srgbClr val="FF9966"/>
      </a:accent2>
      <a:accent3>
        <a:srgbClr val="FFFFFF"/>
      </a:accent3>
      <a:accent4>
        <a:srgbClr val="000000"/>
      </a:accent4>
      <a:accent5>
        <a:srgbClr val="FDECB3"/>
      </a:accent5>
      <a:accent6>
        <a:srgbClr val="E78A5C"/>
      </a:accent6>
      <a:hlink>
        <a:srgbClr val="CC3300"/>
      </a:hlink>
      <a:folHlink>
        <a:srgbClr val="9966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FF7C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14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15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16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0066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5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3544</Words>
  <Application>Microsoft Office PowerPoint</Application>
  <PresentationFormat>全屏显示(4:3)</PresentationFormat>
  <Paragraphs>658</Paragraphs>
  <Slides>58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71" baseType="lpstr">
      <vt:lpstr>等线</vt:lpstr>
      <vt:lpstr>华文新魏</vt:lpstr>
      <vt:lpstr>宋体</vt:lpstr>
      <vt:lpstr>微软雅黑</vt:lpstr>
      <vt:lpstr>Arial</vt:lpstr>
      <vt:lpstr>Consolas</vt:lpstr>
      <vt:lpstr>Segoe UI Black</vt:lpstr>
      <vt:lpstr>Times New Roman</vt:lpstr>
      <vt:lpstr>Wingdings</vt:lpstr>
      <vt:lpstr>默认设计模板</vt:lpstr>
      <vt:lpstr>1_默认设计模板</vt:lpstr>
      <vt:lpstr>Office 主题​​</vt:lpstr>
      <vt:lpstr>Visio</vt:lpstr>
      <vt:lpstr>第4章  总线技术</vt:lpstr>
      <vt:lpstr>PowerPoint 演示文稿</vt:lpstr>
      <vt:lpstr>4. 1  总 线 概 述</vt:lpstr>
      <vt:lpstr>4.1总线分类</vt:lpstr>
      <vt:lpstr>4.1总线分类</vt:lpstr>
      <vt:lpstr>4.1总线分类</vt:lpstr>
      <vt:lpstr>4.1总线分类</vt:lpstr>
      <vt:lpstr>总线与三态门</vt:lpstr>
      <vt:lpstr>4. 1  总 线 概 述</vt:lpstr>
      <vt:lpstr>4. 1. 2  总线性能指标</vt:lpstr>
      <vt:lpstr>举例：</vt:lpstr>
      <vt:lpstr>4. 1  总 线 概 述</vt:lpstr>
      <vt:lpstr>4. 1. 3  总线设计规范</vt:lpstr>
      <vt:lpstr>第4章  总线技术</vt:lpstr>
      <vt:lpstr>4. 2  系统总线结构</vt:lpstr>
      <vt:lpstr>1.单总线结构</vt:lpstr>
      <vt:lpstr>2.双总线结构--（①主存为中心)</vt:lpstr>
      <vt:lpstr>2.双总线结构--②桥接器架构</vt:lpstr>
      <vt:lpstr>3.多总线结构</vt:lpstr>
      <vt:lpstr>总线结构与系统性能关系</vt:lpstr>
      <vt:lpstr>4.高性能总线 —采用南北桥结构的奔腾机系统总线结构</vt:lpstr>
      <vt:lpstr>采用前端总线的南北桥结构 IA-64</vt:lpstr>
      <vt:lpstr>第4章  总线技术</vt:lpstr>
      <vt:lpstr>4. 3  总 线 仲 裁</vt:lpstr>
      <vt:lpstr>1.链式查询方式</vt:lpstr>
      <vt:lpstr>2.计数器定时查询方式</vt:lpstr>
      <vt:lpstr>3.独立请求方式</vt:lpstr>
      <vt:lpstr>集中式仲裁总结</vt:lpstr>
      <vt:lpstr>第4章  总线技术</vt:lpstr>
      <vt:lpstr>1.总线周期的四个阶段</vt:lpstr>
      <vt:lpstr>2.总线事务（Bus Transaction）</vt:lpstr>
      <vt:lpstr>3.总线的通信方式</vt:lpstr>
      <vt:lpstr>PowerPoint 演示文稿</vt:lpstr>
      <vt:lpstr>PowerPoint 演示文稿</vt:lpstr>
      <vt:lpstr>（1）同步通信</vt:lpstr>
      <vt:lpstr>（2）异步通信</vt:lpstr>
      <vt:lpstr>（2）异步通信</vt:lpstr>
      <vt:lpstr>PowerPoint 演示文稿</vt:lpstr>
      <vt:lpstr>（3）半同步控制方式</vt:lpstr>
      <vt:lpstr>第4章  总线技术</vt:lpstr>
      <vt:lpstr>4. 5  总线的信息传送</vt:lpstr>
      <vt:lpstr>串行传送</vt:lpstr>
      <vt:lpstr>并行传送</vt:lpstr>
      <vt:lpstr>(3)并串行传送</vt:lpstr>
      <vt:lpstr>举例</vt:lpstr>
      <vt:lpstr>第4章  总线技术</vt:lpstr>
      <vt:lpstr>总线标准化</vt:lpstr>
      <vt:lpstr>4. 6  总线标准简介</vt:lpstr>
      <vt:lpstr>（1）ISA总线</vt:lpstr>
      <vt:lpstr>（2）EISA</vt:lpstr>
      <vt:lpstr>（3)VESA (video electronics standard association)</vt:lpstr>
      <vt:lpstr>(4)PCI</vt:lpstr>
      <vt:lpstr>PCI总线结构</vt:lpstr>
      <vt:lpstr>PCI总线特点</vt:lpstr>
      <vt:lpstr>PCI总线局限性</vt:lpstr>
      <vt:lpstr>(5)USB</vt:lpstr>
      <vt:lpstr>USB接口类型</vt:lpstr>
      <vt:lpstr>USB总线结构拓扑</vt:lpstr>
    </vt:vector>
  </TitlesOfParts>
  <Company>www.xunchi.com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第３章  系统总线</dc:title>
  <dc:creator>kanglei</dc:creator>
  <cp:lastModifiedBy>kanglei</cp:lastModifiedBy>
  <cp:revision>29</cp:revision>
  <dcterms:created xsi:type="dcterms:W3CDTF">2011-08-26T08:04:21Z</dcterms:created>
  <dcterms:modified xsi:type="dcterms:W3CDTF">2021-08-30T07:49:54Z</dcterms:modified>
</cp:coreProperties>
</file>