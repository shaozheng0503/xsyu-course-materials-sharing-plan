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7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5" r:id="rId2"/>
    <p:sldMasterId id="2147483687" r:id="rId3"/>
    <p:sldMasterId id="2147483701" r:id="rId4"/>
    <p:sldMasterId id="2147483715" r:id="rId5"/>
    <p:sldMasterId id="2147483729" r:id="rId6"/>
    <p:sldMasterId id="2147483743" r:id="rId7"/>
    <p:sldMasterId id="2147483755" r:id="rId8"/>
  </p:sldMasterIdLst>
  <p:notesMasterIdLst>
    <p:notesMasterId r:id="rId120"/>
  </p:notesMasterIdLst>
  <p:sldIdLst>
    <p:sldId id="416" r:id="rId9"/>
    <p:sldId id="419" r:id="rId10"/>
    <p:sldId id="257" r:id="rId11"/>
    <p:sldId id="435" r:id="rId12"/>
    <p:sldId id="436" r:id="rId13"/>
    <p:sldId id="439" r:id="rId14"/>
    <p:sldId id="438" r:id="rId15"/>
    <p:sldId id="440" r:id="rId16"/>
    <p:sldId id="441" r:id="rId17"/>
    <p:sldId id="442" r:id="rId18"/>
    <p:sldId id="443" r:id="rId19"/>
    <p:sldId id="262" r:id="rId20"/>
    <p:sldId id="263" r:id="rId21"/>
    <p:sldId id="264" r:id="rId22"/>
    <p:sldId id="265" r:id="rId23"/>
    <p:sldId id="266" r:id="rId24"/>
    <p:sldId id="422" r:id="rId25"/>
    <p:sldId id="420" r:id="rId26"/>
    <p:sldId id="4882" r:id="rId27"/>
    <p:sldId id="4858" r:id="rId28"/>
    <p:sldId id="4887" r:id="rId29"/>
    <p:sldId id="4884" r:id="rId30"/>
    <p:sldId id="4889" r:id="rId31"/>
    <p:sldId id="421" r:id="rId32"/>
    <p:sldId id="423" r:id="rId33"/>
    <p:sldId id="276" r:id="rId34"/>
    <p:sldId id="277" r:id="rId35"/>
    <p:sldId id="350" r:id="rId36"/>
    <p:sldId id="351" r:id="rId37"/>
    <p:sldId id="426" r:id="rId38"/>
    <p:sldId id="427" r:id="rId39"/>
    <p:sldId id="279" r:id="rId40"/>
    <p:sldId id="4890" r:id="rId41"/>
    <p:sldId id="4891" r:id="rId42"/>
    <p:sldId id="4892" r:id="rId43"/>
    <p:sldId id="4893" r:id="rId44"/>
    <p:sldId id="4894" r:id="rId45"/>
    <p:sldId id="4895" r:id="rId46"/>
    <p:sldId id="4897" r:id="rId47"/>
    <p:sldId id="4906" r:id="rId48"/>
    <p:sldId id="4896" r:id="rId49"/>
    <p:sldId id="4902" r:id="rId50"/>
    <p:sldId id="4898" r:id="rId51"/>
    <p:sldId id="4903" r:id="rId52"/>
    <p:sldId id="4904" r:id="rId53"/>
    <p:sldId id="4899" r:id="rId54"/>
    <p:sldId id="4905" r:id="rId55"/>
    <p:sldId id="4802" r:id="rId56"/>
    <p:sldId id="4804" r:id="rId57"/>
    <p:sldId id="4900" r:id="rId58"/>
    <p:sldId id="4857" r:id="rId59"/>
    <p:sldId id="4901" r:id="rId60"/>
    <p:sldId id="2116" r:id="rId61"/>
    <p:sldId id="4908" r:id="rId62"/>
    <p:sldId id="4911" r:id="rId63"/>
    <p:sldId id="4912" r:id="rId64"/>
    <p:sldId id="4910" r:id="rId65"/>
    <p:sldId id="4907" r:id="rId66"/>
    <p:sldId id="4913" r:id="rId67"/>
    <p:sldId id="4919" r:id="rId68"/>
    <p:sldId id="4915" r:id="rId69"/>
    <p:sldId id="4849" r:id="rId70"/>
    <p:sldId id="4916" r:id="rId71"/>
    <p:sldId id="4920" r:id="rId72"/>
    <p:sldId id="4921" r:id="rId73"/>
    <p:sldId id="4922" r:id="rId74"/>
    <p:sldId id="4923" r:id="rId75"/>
    <p:sldId id="4917" r:id="rId76"/>
    <p:sldId id="4909" r:id="rId77"/>
    <p:sldId id="4924" r:id="rId78"/>
    <p:sldId id="4925" r:id="rId79"/>
    <p:sldId id="4926" r:id="rId80"/>
    <p:sldId id="4929" r:id="rId81"/>
    <p:sldId id="4927" r:id="rId82"/>
    <p:sldId id="4930" r:id="rId83"/>
    <p:sldId id="4928" r:id="rId84"/>
    <p:sldId id="429" r:id="rId85"/>
    <p:sldId id="430" r:id="rId86"/>
    <p:sldId id="4931" r:id="rId87"/>
    <p:sldId id="293" r:id="rId88"/>
    <p:sldId id="294" r:id="rId89"/>
    <p:sldId id="295" r:id="rId90"/>
    <p:sldId id="4932" r:id="rId91"/>
    <p:sldId id="4935" r:id="rId92"/>
    <p:sldId id="298" r:id="rId93"/>
    <p:sldId id="299" r:id="rId94"/>
    <p:sldId id="300" r:id="rId95"/>
    <p:sldId id="301" r:id="rId96"/>
    <p:sldId id="302" r:id="rId97"/>
    <p:sldId id="306" r:id="rId98"/>
    <p:sldId id="307" r:id="rId99"/>
    <p:sldId id="308" r:id="rId100"/>
    <p:sldId id="4825" r:id="rId101"/>
    <p:sldId id="432" r:id="rId102"/>
    <p:sldId id="433" r:id="rId103"/>
    <p:sldId id="434" r:id="rId104"/>
    <p:sldId id="4936" r:id="rId105"/>
    <p:sldId id="4944" r:id="rId106"/>
    <p:sldId id="4946" r:id="rId107"/>
    <p:sldId id="4945" r:id="rId108"/>
    <p:sldId id="4943" r:id="rId109"/>
    <p:sldId id="4947" r:id="rId110"/>
    <p:sldId id="4948" r:id="rId111"/>
    <p:sldId id="4949" r:id="rId112"/>
    <p:sldId id="4950" r:id="rId113"/>
    <p:sldId id="4937" r:id="rId114"/>
    <p:sldId id="4938" r:id="rId115"/>
    <p:sldId id="4939" r:id="rId116"/>
    <p:sldId id="4940" r:id="rId117"/>
    <p:sldId id="4836" r:id="rId118"/>
    <p:sldId id="4837" r:id="rId11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09" autoAdjust="0"/>
    <p:restoredTop sz="94601" autoAdjust="0"/>
  </p:normalViewPr>
  <p:slideViewPr>
    <p:cSldViewPr>
      <p:cViewPr varScale="1">
        <p:scale>
          <a:sx n="100" d="100"/>
          <a:sy n="100" d="100"/>
        </p:scale>
        <p:origin x="202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75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117" Type="http://schemas.openxmlformats.org/officeDocument/2006/relationships/slide" Target="slides/slide109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slide" Target="slides/slide81.xml"/><Relationship Id="rId112" Type="http://schemas.openxmlformats.org/officeDocument/2006/relationships/slide" Target="slides/slide104.xml"/><Relationship Id="rId16" Type="http://schemas.openxmlformats.org/officeDocument/2006/relationships/slide" Target="slides/slide8.xml"/><Relationship Id="rId107" Type="http://schemas.openxmlformats.org/officeDocument/2006/relationships/slide" Target="slides/slide99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102" Type="http://schemas.openxmlformats.org/officeDocument/2006/relationships/slide" Target="slides/slide94.xml"/><Relationship Id="rId12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2.xml"/><Relationship Id="rId95" Type="http://schemas.openxmlformats.org/officeDocument/2006/relationships/slide" Target="slides/slide87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113" Type="http://schemas.openxmlformats.org/officeDocument/2006/relationships/slide" Target="slides/slide105.xml"/><Relationship Id="rId118" Type="http://schemas.openxmlformats.org/officeDocument/2006/relationships/slide" Target="slides/slide110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59" Type="http://schemas.openxmlformats.org/officeDocument/2006/relationships/slide" Target="slides/slide51.xml"/><Relationship Id="rId103" Type="http://schemas.openxmlformats.org/officeDocument/2006/relationships/slide" Target="slides/slide95.xml"/><Relationship Id="rId108" Type="http://schemas.openxmlformats.org/officeDocument/2006/relationships/slide" Target="slides/slide100.xml"/><Relationship Id="rId124" Type="http://schemas.openxmlformats.org/officeDocument/2006/relationships/tableStyles" Target="tableStyles.xml"/><Relationship Id="rId54" Type="http://schemas.openxmlformats.org/officeDocument/2006/relationships/slide" Target="slides/slide46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91" Type="http://schemas.openxmlformats.org/officeDocument/2006/relationships/slide" Target="slides/slide83.xml"/><Relationship Id="rId96" Type="http://schemas.openxmlformats.org/officeDocument/2006/relationships/slide" Target="slides/slide8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49" Type="http://schemas.openxmlformats.org/officeDocument/2006/relationships/slide" Target="slides/slide41.xml"/><Relationship Id="rId114" Type="http://schemas.openxmlformats.org/officeDocument/2006/relationships/slide" Target="slides/slide106.xml"/><Relationship Id="rId119" Type="http://schemas.openxmlformats.org/officeDocument/2006/relationships/slide" Target="slides/slide111.xml"/><Relationship Id="rId44" Type="http://schemas.openxmlformats.org/officeDocument/2006/relationships/slide" Target="slides/slide36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109" Type="http://schemas.openxmlformats.org/officeDocument/2006/relationships/slide" Target="slides/slide10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97" Type="http://schemas.openxmlformats.org/officeDocument/2006/relationships/slide" Target="slides/slide89.xml"/><Relationship Id="rId104" Type="http://schemas.openxmlformats.org/officeDocument/2006/relationships/slide" Target="slides/slide96.xml"/><Relationship Id="rId120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3.xml"/><Relationship Id="rId92" Type="http://schemas.openxmlformats.org/officeDocument/2006/relationships/slide" Target="slides/slide84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110" Type="http://schemas.openxmlformats.org/officeDocument/2006/relationships/slide" Target="slides/slide102.xml"/><Relationship Id="rId115" Type="http://schemas.openxmlformats.org/officeDocument/2006/relationships/slide" Target="slides/slide107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Relationship Id="rId100" Type="http://schemas.openxmlformats.org/officeDocument/2006/relationships/slide" Target="slides/slide92.xml"/><Relationship Id="rId105" Type="http://schemas.openxmlformats.org/officeDocument/2006/relationships/slide" Target="slides/slide97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93" Type="http://schemas.openxmlformats.org/officeDocument/2006/relationships/slide" Target="slides/slide85.xml"/><Relationship Id="rId98" Type="http://schemas.openxmlformats.org/officeDocument/2006/relationships/slide" Target="slides/slide90.xml"/><Relationship Id="rId12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7.xml"/><Relationship Id="rId46" Type="http://schemas.openxmlformats.org/officeDocument/2006/relationships/slide" Target="slides/slide38.xml"/><Relationship Id="rId67" Type="http://schemas.openxmlformats.org/officeDocument/2006/relationships/slide" Target="slides/slide59.xml"/><Relationship Id="rId116" Type="http://schemas.openxmlformats.org/officeDocument/2006/relationships/slide" Target="slides/slide108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62" Type="http://schemas.openxmlformats.org/officeDocument/2006/relationships/slide" Target="slides/slide54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111" Type="http://schemas.openxmlformats.org/officeDocument/2006/relationships/slide" Target="slides/slide103.xml"/><Relationship Id="rId15" Type="http://schemas.openxmlformats.org/officeDocument/2006/relationships/slide" Target="slides/slide7.xml"/><Relationship Id="rId36" Type="http://schemas.openxmlformats.org/officeDocument/2006/relationships/slide" Target="slides/slide28.xml"/><Relationship Id="rId57" Type="http://schemas.openxmlformats.org/officeDocument/2006/relationships/slide" Target="slides/slide49.xml"/><Relationship Id="rId106" Type="http://schemas.openxmlformats.org/officeDocument/2006/relationships/slide" Target="slides/slide98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52" Type="http://schemas.openxmlformats.org/officeDocument/2006/relationships/slide" Target="slides/slide44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94" Type="http://schemas.openxmlformats.org/officeDocument/2006/relationships/slide" Target="slides/slide86.xml"/><Relationship Id="rId99" Type="http://schemas.openxmlformats.org/officeDocument/2006/relationships/slide" Target="slides/slide91.xml"/><Relationship Id="rId101" Type="http://schemas.openxmlformats.org/officeDocument/2006/relationships/slide" Target="slides/slide93.xml"/><Relationship Id="rId1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B9E914-7973-48B0-8D83-FDCA50D9CF6D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5A934-7F88-4FFE-9E95-29DFB8E0C3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772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矩形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00405" indent="-269240" eaLnBrk="0" hangingPunct="0"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077595" indent="-215265" eaLnBrk="0" hangingPunct="0"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508760" indent="-215265" eaLnBrk="0" hangingPunct="0"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1939925" indent="-215265" eaLnBrk="0" hangingPunct="0"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370455" indent="-215265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801620" indent="-215265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232785" indent="-215265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663950" indent="-215265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3C4E54-C4B9-427F-A354-9CC11D733C3D}" type="slidenum"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7699" name="矩形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7700" name="矩形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82060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矩形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1pPr>
            <a:lvl2pPr marL="700405" indent="-269240" eaLnBrk="0" hangingPunct="0"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2pPr>
            <a:lvl3pPr marL="1077595" indent="-215265" eaLnBrk="0" hangingPunct="0"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3pPr>
            <a:lvl4pPr marL="1508760" indent="-215265" eaLnBrk="0" hangingPunct="0"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4pPr>
            <a:lvl5pPr marL="1939925" indent="-215265" eaLnBrk="0" hangingPunct="0"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5pPr>
            <a:lvl6pPr marL="2370455" indent="-215265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6pPr>
            <a:lvl7pPr marL="2801620" indent="-215265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7pPr>
            <a:lvl8pPr marL="3232785" indent="-215265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8pPr>
            <a:lvl9pPr marL="3663950" indent="-215265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Verdana" panose="020B0604030504040204" pitchFamily="34" charset="0"/>
                <a:ea typeface="华文新魏" panose="0201080004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2137BB-7F0D-41B8-914A-5EA5E90A2F42}" type="slidenum"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9747" name="矩形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9748" name="矩形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软件查询法，一个中断号，在中断程序中再分支</a:t>
            </a:r>
          </a:p>
        </p:txBody>
      </p:sp>
    </p:spTree>
    <p:extLst>
      <p:ext uri="{BB962C8B-B14F-4D97-AF65-F5344CB8AC3E}">
        <p14:creationId xmlns:p14="http://schemas.microsoft.com/office/powerpoint/2010/main" val="2365784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CE584D-DA30-42E6-B6AB-C9D2BEA4D8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8929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4FBBD8-88B4-4363-8591-7BEBF73938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D39E7C-142E-40A6-96DB-05B5383692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EE74C6-3FF7-427A-B0E9-A7126322CA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226CFB-9519-4635-9254-0A6B247648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794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小节-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  <a:lvl4pPr marL="1600200" indent="-228600">
              <a:buFont typeface="Wingdings" panose="05000000000000000000" pitchFamily="2" charset="2"/>
              <a:buChar char="ü"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AFD3C3-5EB0-4E3F-B142-59C41ED8B8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FDFB5F-CD1F-4A99-8459-C783924656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5C425B-2DF9-4B45-9C1D-BA0BD05565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12B25641-F2A2-4B0F-B688-1B058DFB81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129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正文2-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964488" cy="731837"/>
          </a:xfrm>
        </p:spPr>
        <p:txBody>
          <a:bodyPr/>
          <a:lstStyle>
            <a:lvl1pPr algn="l">
              <a:defRPr sz="36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5184576"/>
          </a:xfrm>
        </p:spPr>
        <p:txBody>
          <a:bodyPr/>
          <a:lstStyle>
            <a:lvl1pPr marL="457200" indent="-457200">
              <a:buClr>
                <a:srgbClr val="FF0000"/>
              </a:buClr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</a:defRPr>
            </a:lvl1pPr>
            <a:lvl2pPr marL="742950" indent="-285750">
              <a:buFont typeface="Wingdings" panose="05000000000000000000" pitchFamily="2" charset="2"/>
              <a:buChar char="Ø"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B6F41B-A81B-4D1F-9A8B-6F69BC718E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B0A015-ECFE-406C-85B9-2BEB0CD8A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4684AB3-0847-4673-B075-8C7A23A8DA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580AE-9D0E-4AC4-B1B6-E2913CFC48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497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4E6AD5-FC2B-4FBE-8478-C662F7C14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AC4B18-5EDF-4829-B23A-EB24424D40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5ABEB8-0E53-47D0-8E99-43BC0BA966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DFD1D5-5D41-4139-8EB8-2D6F0670A1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471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8CC746-61C9-4E0F-B703-41A886E4F5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CDCEB1-1791-43CF-B177-F791039274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802ABD-FCB8-41C3-8290-668B3D0456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E1ABE-1361-46BB-9EF5-DA397223BB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480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EE8EA74-20D8-4251-97E9-E8115A4206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34006B4-2B5D-4B99-9CA9-A711CCE2A6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1D0CC36-28C4-4E03-8E78-CA673C5063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39F520-F4AB-47E3-BC46-CC16A8F529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203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250284E-9487-4BFE-9C13-BF26B6D8EF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EAD162C-70AC-4C8E-956E-D9C70EF134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12280AE-73F7-4F7E-A6F5-FE45145ACA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8A78A-875D-420B-A41B-AE57F17F42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4444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1F30A62-AA20-4C75-B205-02E51ACFE1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7578626-7156-4772-83C9-A771B14466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F15309-607A-4CC2-93D3-74710D4E99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08290-9AF1-45A1-AAD4-C7147C0012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685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43EB4-3679-4C51-B01C-8CC95A23CE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43DF15-D9D1-4290-90FB-D91AE17849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AF6723-B2CD-4E6A-BE7C-9D1FDFD1FB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42F19-F432-4480-9A0E-DE9CA3598B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328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BEFE73-C61D-494B-AD57-F68D1EC6C0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7FD4C5-5823-4CEB-91FE-0ECF7EFAE3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BFF0F9-D7D1-49B5-AB74-7311601F70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F5174-03A2-4AA2-8DEC-FE7B5CBE5F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7660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FC0ADC-BA1F-48B0-A6CA-F9DD2D175F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CFB771-A613-41D2-8E73-E5BD612B2F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91060D-8F88-4601-AFC8-31986C3788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EE2A3-4E75-4C9F-8B4C-D242517736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0094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A549AD-3448-476D-87DC-0608FCD28F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A79870-C127-43CB-9856-6992D6BADF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FDB8FF-CFC0-4CE7-AF19-8190421ACB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E9DCD3-FC76-4009-AA42-81BDA18646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2140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1929D4-0B01-40B6-B57E-D6FF21F0E3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834BC1-7D1D-4B5A-B339-3CFE811185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D462DC-5806-4BF6-85B8-4766DFC913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F12487-856F-4146-9DDE-B89E46C013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5896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5867" y="257615"/>
            <a:ext cx="7886700" cy="617641"/>
          </a:xfrm>
        </p:spPr>
        <p:txBody>
          <a:bodyPr>
            <a:normAutofit/>
          </a:bodyPr>
          <a:lstStyle>
            <a:lvl1pPr>
              <a:defRPr sz="2100" b="1">
                <a:solidFill>
                  <a:srgbClr val="FF0000"/>
                </a:solidFill>
                <a:effectLst/>
                <a:latin typeface="+mj-lt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灯片编号占位符 3"/>
          <p:cNvSpPr txBox="1"/>
          <p:nvPr userDrawn="1"/>
        </p:nvSpPr>
        <p:spPr>
          <a:xfrm>
            <a:off x="8451256" y="6589900"/>
            <a:ext cx="219046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183D58-648D-4475-BEF8-624F48514A30}" type="slidenum">
              <a:rPr lang="zh-CN" altLang="en-US" sz="9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‹#›</a:t>
            </a:fld>
            <a:endParaRPr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365866" y="942764"/>
            <a:ext cx="8273309" cy="5637024"/>
          </a:xfrm>
          <a:prstGeom prst="rect">
            <a:avLst/>
          </a:prstGeom>
        </p:spPr>
        <p:txBody>
          <a:bodyPr/>
          <a:lstStyle>
            <a:lvl1pPr marL="257175" indent="-257175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 sz="19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-2667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defRPr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857250" indent="-171450" algn="just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u"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3658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F41781-1DDB-44D0-93B4-5447E3DFF9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ADBC7A6-4AB2-41F5-88F4-429ACA91C2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6B675F-692A-4ABE-851E-23A2D121E6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ABBB79-FC88-4CB2-8115-C974C20DBDB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3135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B9021A-FBC3-49C8-AC92-7BF7FF1E77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BD85FA-5626-4B7E-8FE2-9A08AF0BD8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E8786F-0E78-41D8-881A-9B47BF0E5D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6F2627-277E-439F-AAEE-33BC61FDBAC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5044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410706-9388-4C44-A1ED-87BCE58A6F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4E4E75-F6B5-46DD-807D-11F99E5E3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26B8A6-5511-4EEE-AF59-07AC9E8436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DE2BC0-ACE6-4D8B-91F0-D367B063637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3190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34FF94-BF39-48C6-95CB-7830671706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97DBC-6061-44A2-B5DF-F86AB36AF8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95F0FA-5D97-4682-8065-96D005C699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0D809C-7CF3-448B-AF9B-B56317BF40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65138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D8A743C-1F79-4E6E-AF82-1C176F16C7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82F5823-68DB-4D76-88F7-D75E3C638F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C1E3224-8ABE-4EC4-8B2A-C3C9FEB8B1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F253AD-E987-45EB-ACE8-F4BA18310DE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0537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0C12B2-9545-4C41-B046-1E408068E3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4A771D8-4A9C-4163-A150-69FAC778F8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3AB8843-1D23-44BE-AF42-A453CF578C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4D749C-0D2C-4AD9-90E3-99423C30D2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37770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A04A840-7A14-4DD0-AA01-E07DE431C1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DFF7ABE-FCAF-43D4-8C42-24EC1968A8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E35BCAE-392D-41BB-A337-47573FC8A4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FBF7E-1DC4-4EA3-B858-C996A06CC5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59422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F3CA67-5EF8-4AF3-9514-182AD53874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C18F36-A610-49C8-8E05-735E850C8A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3B09A3-9E4F-42DE-8219-3DCFDEE587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4DD26E-2098-4455-B75B-7F8C1E199C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484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ED01D3-46B3-40B6-8A98-0433580928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9C13A3-3C03-4DAC-B29E-EEA7B61177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D6F002-B955-4A4C-9A2A-178AEFD4F0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2258BF-F785-4D5D-BBC1-0E87289ECDD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52667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6DFDEF-9AB9-4D29-95C1-9D041F43CD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5BF3E8-12BF-4781-B0FB-C58AE5DFE8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D67B67-9459-4191-A8B9-EA8C90D6C3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058940-5689-4772-AECA-26B21CBD48B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22530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93DD31-59E6-41CA-BED2-159520D022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9F94D0-45AE-4838-8CF2-BA876282D7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81FAE5-22A6-4A7C-91A9-63F3371412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722BAB-8632-4AF5-B480-03FEDF626C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051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8728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5867" y="257615"/>
            <a:ext cx="7886700" cy="617641"/>
          </a:xfrm>
        </p:spPr>
        <p:txBody>
          <a:bodyPr>
            <a:normAutofit/>
          </a:bodyPr>
          <a:lstStyle>
            <a:lvl1pPr>
              <a:defRPr sz="2100" b="1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灯片编号占位符 3"/>
          <p:cNvSpPr txBox="1"/>
          <p:nvPr userDrawn="1"/>
        </p:nvSpPr>
        <p:spPr>
          <a:xfrm>
            <a:off x="8451256" y="6589900"/>
            <a:ext cx="219046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183D58-648D-4475-BEF8-624F48514A30}" type="slidenum">
              <a:rPr lang="zh-CN" altLang="en-US" sz="9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‹#›</a:t>
            </a:fld>
            <a:endParaRPr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365866" y="942764"/>
            <a:ext cx="8273309" cy="5637024"/>
          </a:xfrm>
          <a:prstGeom prst="rect">
            <a:avLst/>
          </a:prstGeom>
        </p:spPr>
        <p:txBody>
          <a:bodyPr/>
          <a:lstStyle>
            <a:lvl1pPr marL="257175" indent="-257175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19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-26670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857250" indent="-17145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0328884-03C5-40AC-A582-AFAD2F3816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463083" y="6665667"/>
            <a:ext cx="1035206" cy="25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6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6593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1683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7160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3989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8565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4837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4601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8774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7658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DA9CF-03F6-42E8-909A-D8D840B3AC4D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504D-74F3-442C-BEA0-A4B04CBF96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5009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812360" y="6337126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05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050" smtClean="0">
                <a:solidFill>
                  <a:srgbClr val="0D7157"/>
                </a:solidFill>
              </a:rPr>
              <a:t>‹#›</a:t>
            </a:fld>
            <a:r>
              <a:rPr lang="en-US" altLang="zh-CN" sz="1050">
                <a:solidFill>
                  <a:srgbClr val="0D7157"/>
                </a:solidFill>
              </a:rPr>
              <a:t>- </a:t>
            </a:r>
            <a:endParaRPr lang="en-US" altLang="zh-CN" sz="1050" dirty="0">
              <a:solidFill>
                <a:srgbClr val="0D71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4471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1058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5867" y="257615"/>
            <a:ext cx="7886700" cy="617641"/>
          </a:xfrm>
        </p:spPr>
        <p:txBody>
          <a:bodyPr>
            <a:normAutofit/>
          </a:bodyPr>
          <a:lstStyle>
            <a:lvl1pPr>
              <a:defRPr sz="2100" b="1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灯片编号占位符 3"/>
          <p:cNvSpPr txBox="1"/>
          <p:nvPr userDrawn="1"/>
        </p:nvSpPr>
        <p:spPr>
          <a:xfrm>
            <a:off x="8451256" y="6589900"/>
            <a:ext cx="219046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183D58-648D-4475-BEF8-624F48514A30}" type="slidenum">
              <a:rPr lang="zh-CN" altLang="en-US" sz="9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‹#›</a:t>
            </a:fld>
            <a:endParaRPr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365866" y="942764"/>
            <a:ext cx="8273309" cy="5637024"/>
          </a:xfrm>
          <a:prstGeom prst="rect">
            <a:avLst/>
          </a:prstGeom>
        </p:spPr>
        <p:txBody>
          <a:bodyPr/>
          <a:lstStyle>
            <a:lvl1pPr marL="257175" indent="-257175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19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-2667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defRPr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857250" indent="-171450" algn="just">
              <a:lnSpc>
                <a:spcPct val="15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0328884-03C5-40AC-A582-AFAD2F3816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463083" y="6665667"/>
            <a:ext cx="1035206" cy="25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32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438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2501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3899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2287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7914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2087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4449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7521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654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DA9CF-03F6-42E8-909A-D8D840B3AC4D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504D-74F3-442C-BEA0-A4B04CBF96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3757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812360" y="6337126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05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050" smtClean="0">
                <a:solidFill>
                  <a:srgbClr val="0D7157"/>
                </a:solidFill>
              </a:rPr>
              <a:t>‹#›</a:t>
            </a:fld>
            <a:r>
              <a:rPr lang="en-US" altLang="zh-CN" sz="1050">
                <a:solidFill>
                  <a:srgbClr val="0D7157"/>
                </a:solidFill>
              </a:rPr>
              <a:t>- </a:t>
            </a:r>
            <a:endParaRPr lang="en-US" altLang="zh-CN" sz="1050" dirty="0">
              <a:solidFill>
                <a:srgbClr val="0D71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345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05555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5867" y="257615"/>
            <a:ext cx="7886700" cy="617641"/>
          </a:xfrm>
        </p:spPr>
        <p:txBody>
          <a:bodyPr>
            <a:normAutofit/>
          </a:bodyPr>
          <a:lstStyle>
            <a:lvl1pPr>
              <a:defRPr sz="2100" b="1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灯片编号占位符 3"/>
          <p:cNvSpPr txBox="1"/>
          <p:nvPr userDrawn="1"/>
        </p:nvSpPr>
        <p:spPr>
          <a:xfrm>
            <a:off x="8451256" y="6589900"/>
            <a:ext cx="219046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183D58-648D-4475-BEF8-624F48514A30}" type="slidenum">
              <a:rPr lang="zh-CN" altLang="en-US" sz="9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‹#›</a:t>
            </a:fld>
            <a:endParaRPr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365866" y="942764"/>
            <a:ext cx="8273309" cy="5637024"/>
          </a:xfrm>
          <a:prstGeom prst="rect">
            <a:avLst/>
          </a:prstGeom>
        </p:spPr>
        <p:txBody>
          <a:bodyPr/>
          <a:lstStyle>
            <a:lvl1pPr marL="257175" indent="-257175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 sz="19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-2667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defRPr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857250" indent="-171450" algn="just">
              <a:lnSpc>
                <a:spcPct val="15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0328884-03C5-40AC-A582-AFAD2F3816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463083" y="6665667"/>
            <a:ext cx="1035206" cy="25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23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1937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6412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07441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4398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011362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96041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825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37376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85998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DA9CF-03F6-42E8-909A-D8D840B3AC4D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504D-74F3-442C-BEA0-A4B04CBF96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2039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812360" y="6337126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05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050" smtClean="0">
                <a:solidFill>
                  <a:srgbClr val="0D7157"/>
                </a:solidFill>
              </a:rPr>
              <a:t>‹#›</a:t>
            </a:fld>
            <a:r>
              <a:rPr lang="en-US" altLang="zh-CN" sz="1050">
                <a:solidFill>
                  <a:srgbClr val="0D7157"/>
                </a:solidFill>
              </a:rPr>
              <a:t>- </a:t>
            </a:r>
            <a:endParaRPr lang="en-US" altLang="zh-CN" sz="1050" dirty="0">
              <a:solidFill>
                <a:srgbClr val="0D71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92692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43687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5867" y="257615"/>
            <a:ext cx="7886700" cy="617641"/>
          </a:xfrm>
        </p:spPr>
        <p:txBody>
          <a:bodyPr>
            <a:normAutofit/>
          </a:bodyPr>
          <a:lstStyle>
            <a:lvl1pPr>
              <a:defRPr sz="2100" b="1">
                <a:solidFill>
                  <a:srgbClr val="FF0000"/>
                </a:solidFill>
                <a:effectLst/>
                <a:latin typeface="+mj-lt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灯片编号占位符 3"/>
          <p:cNvSpPr txBox="1"/>
          <p:nvPr userDrawn="1"/>
        </p:nvSpPr>
        <p:spPr>
          <a:xfrm>
            <a:off x="8451256" y="6589900"/>
            <a:ext cx="219046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183D58-648D-4475-BEF8-624F48514A30}" type="slidenum">
              <a:rPr lang="zh-CN" altLang="en-US" sz="9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‹#›</a:t>
            </a:fld>
            <a:endParaRPr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365866" y="942764"/>
            <a:ext cx="8273309" cy="5637024"/>
          </a:xfrm>
          <a:prstGeom prst="rect">
            <a:avLst/>
          </a:prstGeom>
        </p:spPr>
        <p:txBody>
          <a:bodyPr/>
          <a:lstStyle>
            <a:lvl1pPr marL="257175" indent="-257175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 sz="19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-2667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defRPr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857250" indent="-171450" algn="just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u"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4501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17077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82814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4013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1032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37975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2057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92374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09574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76172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DA9CF-03F6-42E8-909A-D8D840B3AC4D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504D-74F3-442C-BEA0-A4B04CBF96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30845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812360" y="6337126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05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050" smtClean="0">
                <a:solidFill>
                  <a:srgbClr val="0D7157"/>
                </a:solidFill>
              </a:rPr>
              <a:t>‹#›</a:t>
            </a:fld>
            <a:r>
              <a:rPr lang="en-US" altLang="zh-CN" sz="1050">
                <a:solidFill>
                  <a:srgbClr val="0D7157"/>
                </a:solidFill>
              </a:rPr>
              <a:t>- </a:t>
            </a:r>
            <a:endParaRPr lang="en-US" altLang="zh-CN" sz="1050" dirty="0">
              <a:solidFill>
                <a:srgbClr val="0D71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73161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2D251B4-2E3E-4B20-9A02-95CDF567C9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23E4B7-580F-4BC6-8B6F-9C63B4CD4A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18F7DE-98C8-484B-BE5D-19E649F7A9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B1CB8C-BEC7-4AC2-93F6-C3E5F23C85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088146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296319-72C6-4118-A38F-7DE79205A0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82A286-C2A7-4E58-8328-FFE8364A01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96A87C-F1F9-4192-9134-BF350D6754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166DDB-C845-47FE-BE88-960BCBFC88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0873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0BA16C-0FE3-469E-A9D6-F47DE75F12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866007-1915-4C2F-90A6-C4DADAFEF8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492492-BA7D-41CC-86C8-91CBAE77DC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D3B962-C039-445A-8033-F9CE9CD00D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643860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182A18-141A-4E5C-AF2E-6483140DDD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C5C545-B80F-4A1B-8E3B-CAEA96639A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0921ED-3C6A-49BF-855F-2CC5BC69A4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E0DB04-2853-49C2-B5E7-2544B3AC7A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501499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DD85D1A-8AAA-4790-98DF-E6B5681FCA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33F70E0-5212-466E-875D-31527DA8A1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1D18CF7-7CCF-41BF-988D-59E09C2E53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F65FCD-2B0B-4871-B5E5-9501BC23859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451896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77C789C-B72A-4F69-88F9-A38154193F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A51D55C-E676-486C-A51D-C589DA247C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9B58A15-EADC-4EDF-A2E7-A1938FAA52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A8CE07-D891-496E-8D16-5A7CA01558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271838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8ED086D-B5B1-490D-A359-43FE0B732B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3285072-9B29-4F53-8592-3E2C650EB7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A6ECBB-B6D7-423D-9D42-DCA82FC5A4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5F2E0B-C6E8-4C96-9B6A-11882D2890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807091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0C458D-7291-46E2-8953-1317B11949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4A55C-BE23-4E3D-B37D-14C6A6B184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E7AB0-3349-4827-A2C9-A387CC21FA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E460B4-435E-46B1-B1F4-33F6ECC8DC0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521890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EE5C8E-09FE-49E3-9BD5-32B5A8FC0A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863211-0756-46AA-947E-53884BF60D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0F2000-A1DB-414A-AD94-3A828B1DA1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8FD0E0-6697-4C39-890D-0BF1A87C397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116425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59E0F5-CF2B-4A37-A656-BD549D598F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A426FD-C429-44A1-8049-4FC65A643F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87A752-DE29-4F35-9622-D1DF45358F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6E98C2-57C7-428B-BE73-C47B53B55AA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398662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E3274C-ECB5-4F3C-B781-43609DF3EF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3B2A88-7269-4081-B651-697888B28F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B1A411-F92B-41AA-9937-EBE593F044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82CF47-725D-449C-B4D9-2E5F19A02E0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966316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F98444-32D1-4E10-B78B-3BDB19B4B9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02A791-97A5-4FE4-893E-BC3034DB43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81B474-AE7E-4180-BAAF-17BCE354E1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A2D548-B7D2-4329-AA15-1399DFAA9A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791401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C4D652-EE38-415F-9A36-D639920BD7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2FEE4C-C33B-4E59-BDB4-760C66E029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DB6E6B-8CCD-43D7-A299-80044CF520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A8B3C1-3B2C-4636-95BF-82E9E81D95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735814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E184CF-4275-4A36-B4DA-ED913C7876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217D5C-4700-414E-8BCA-622DA7AC32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309BEF-8EC4-460B-8C29-68BE81E5B4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4CEB5D-AF2D-4DFC-9163-B62F187DA5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635133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822613-F93C-4D11-A6DD-6B177D0AC3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87692B-8ED9-4C7A-9C50-51405C55FF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541D4B-2D2D-4BF8-B83D-42CEA67DFB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F5EDFF-8410-4611-869C-359A52DCCB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319772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F80D221-943F-439C-A79E-B5794589F6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14AD52D-C255-411D-8942-799312CAE5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25E1007-D5DF-4D38-9EAD-1AF4AAF21A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68B935-6B35-4AB1-982C-28B8CAC1AA3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642238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8BA82D0-8576-4FFD-B5C7-4A939804F3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56AA7C2-A22C-4872-B1B3-9D25FE50C9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8EFF646-9A42-4AEA-83B1-5A60EA3973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378767-C3AA-4FC0-B44C-DA0F4043B7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146630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E5B4277-E506-4942-8AE4-2D22A0C307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FAA7D3A-4FE8-46BB-B5D1-DEA64183D2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F0465E9-6562-458C-89AC-7D94DCE6B6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263F8B-426A-427C-A3EC-BAB16EFC18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39653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D49E43-0AD6-4779-B30C-1041A03E6A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9A3908-C828-47BA-8541-5EB0ED1407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24D720-00AA-4A19-B2D6-26141B6D4A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BADFE0-4DDB-4B36-87F3-7ECF4239F3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474445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5CB11B-95E8-4E63-931F-C8CE70BAFE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8B44E2-5EB3-4500-B453-DDCA71BF48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05D2CB-C51D-4806-ABD6-8D6E87F938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1AFCA3-5AAE-4D5B-AEE2-71DFBDB1A6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734973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F98EE3-3C99-409C-A7FD-A1773DE673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7629BE-7E4A-4B4B-8B57-430BACFFB8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FC0E2A0-284E-4960-A5ED-386E8995E3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8BF71B-CFCE-4447-B3C1-D1B9ACA5C4A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947035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3530DB-D8C6-454C-96BF-D5E010C875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795E69-D789-4B30-BD29-A27162B0C9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8A5E18-78CC-4A73-893C-D814F9924C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B629F1-C1A7-4E9E-9B4C-CC9F122F3B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1179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410199D-127C-46D8-A825-EAB3107506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B8E03C3-08F8-4264-885B-13989D0A78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A5DDBC9-CDC5-473C-B0D7-D7A228EFD24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1B4BE29-6975-4861-BB88-7501EF57B91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40A5E26-58E4-46C5-A2CA-EED4963C649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6D95C57-D4F8-4D92-BF1C-CECC37103D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25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767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7C08EA3-D4CB-4072-95CE-77BCF1F12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1CE2B8E-ABFD-429A-9B21-B3510D1BF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E6A86A-762B-4043-A914-22DA7E2FEE3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6B32BC1-A782-46F9-A199-2CF6BD8D390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4F27BA6-D083-4E96-A951-7EC70B238AD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B072050-8EB5-4C60-BB28-627CDB679D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301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327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171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582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B2F23B-AF66-41A9-897D-44609AD9DFB7}" type="datetimeFigureOut">
              <a:rPr lang="zh-CN" altLang="en-US" smtClean="0"/>
              <a:t>2021/9/22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60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FF22179-46D0-4498-A488-ECD46AF060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65809F9-2D12-42A1-A429-45A405B99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000EC58-8DE7-4B63-9D9F-3653F9E047F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2A1EB09-D79C-4A31-88D4-EA0587C4AA6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F946213-391C-445D-B03C-DCD6426752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A62853F-AB25-4C61-8BC5-C1EA5069A4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836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82BEB9C-AE0C-46FC-BADE-316434EFCF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76457F-5FA0-45CA-AD37-0B2D618328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15EB57-9579-49D0-8C7A-C0B5F467E0D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94DB6EC-2616-4C5F-9DCC-984C8D4309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5703B51-56D1-4E30-8272-514F0E7FE6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5CB0A0B-2283-4C79-BAC1-EA57A51A8AD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4843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3.xml"/><Relationship Id="rId6" Type="http://schemas.openxmlformats.org/officeDocument/2006/relationships/slide" Target="slide95.xml"/><Relationship Id="rId5" Type="http://schemas.openxmlformats.org/officeDocument/2006/relationships/slide" Target="slide78.xml"/><Relationship Id="rId4" Type="http://schemas.openxmlformats.org/officeDocument/2006/relationships/slide" Target="slide3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e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7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8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7.xml"/><Relationship Id="rId1" Type="http://schemas.openxmlformats.org/officeDocument/2006/relationships/tags" Target="../tags/tag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4.e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8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5.w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6.e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7.emf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8.emf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9.emf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0.emf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1.wmf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2.wmf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D4FBB3E-ED7A-45CF-9EDF-D6F6BC61E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/>
            <a:r>
              <a:rPr lang="zh-CN" altLang="en-US" b="1" dirty="0"/>
              <a:t>第 </a:t>
            </a:r>
            <a:r>
              <a:rPr lang="en-US" altLang="zh-CN" b="1" dirty="0"/>
              <a:t>7 </a:t>
            </a:r>
            <a:r>
              <a:rPr lang="zh-CN" altLang="en-US" b="1" dirty="0"/>
              <a:t>章 输入</a:t>
            </a:r>
            <a:r>
              <a:rPr lang="en-US" altLang="zh-CN" b="1" dirty="0"/>
              <a:t>/</a:t>
            </a:r>
            <a:r>
              <a:rPr lang="zh-CN" altLang="en-US" b="1" dirty="0"/>
              <a:t>输出系统</a:t>
            </a:r>
          </a:p>
        </p:txBody>
      </p:sp>
      <p:sp>
        <p:nvSpPr>
          <p:cNvPr id="4099" name="内容占位符 1">
            <a:extLst>
              <a:ext uri="{FF2B5EF4-FFF2-40B4-BE49-F238E27FC236}">
                <a16:creationId xmlns:a16="http://schemas.microsoft.com/office/drawing/2014/main" id="{4C1ACEFE-A55B-48FB-91A9-3906A3E66A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600" y="1268760"/>
            <a:ext cx="7450138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7. 1  </a:t>
            </a:r>
            <a:r>
              <a:rPr lang="zh-CN" altLang="en-US" dirty="0"/>
              <a:t>概 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>
                <a:hlinkClick r:id="rId2" action="ppaction://hlinksldjump"/>
              </a:rPr>
              <a:t>7. 2 I / O  </a:t>
            </a:r>
            <a:r>
              <a:rPr lang="zh-CN" altLang="en-US" dirty="0">
                <a:hlinkClick r:id="rId2" action="ppaction://hlinksldjump"/>
              </a:rPr>
              <a:t>接 口</a:t>
            </a:r>
            <a:endParaRPr lang="zh-CN" alt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>
                <a:hlinkClick r:id="rId3" action="ppaction://hlinksldjump"/>
              </a:rPr>
              <a:t>7. 3  </a:t>
            </a:r>
            <a:r>
              <a:rPr lang="zh-CN" altLang="en-US" dirty="0">
                <a:hlinkClick r:id="rId3" action="ppaction://hlinksldjump"/>
              </a:rPr>
              <a:t>直接程序控制</a:t>
            </a:r>
            <a:endParaRPr lang="zh-CN" alt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>
                <a:hlinkClick r:id="rId4" action="ppaction://hlinksldjump"/>
              </a:rPr>
              <a:t>7. 4  </a:t>
            </a:r>
            <a:r>
              <a:rPr lang="zh-CN" altLang="en-US" dirty="0">
                <a:hlinkClick r:id="rId4" action="ppaction://hlinksldjump"/>
              </a:rPr>
              <a:t>程序中断控制</a:t>
            </a:r>
            <a:endParaRPr lang="zh-CN" alt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>
                <a:hlinkClick r:id="rId5" action="ppaction://hlinksldjump"/>
              </a:rPr>
              <a:t>7. 5 DMA</a:t>
            </a:r>
            <a:r>
              <a:rPr lang="zh-CN" altLang="en-US" dirty="0">
                <a:hlinkClick r:id="rId5" action="ppaction://hlinksldjump"/>
              </a:rPr>
              <a:t>技术</a:t>
            </a:r>
            <a:endParaRPr lang="zh-CN" alt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>
                <a:hlinkClick r:id="rId6" action="ppaction://hlinksldjump"/>
              </a:rPr>
              <a:t>7. 6  </a:t>
            </a:r>
            <a:r>
              <a:rPr lang="zh-CN" altLang="en-US" dirty="0">
                <a:hlinkClick r:id="rId6" action="ppaction://hlinksldjump"/>
              </a:rPr>
              <a:t>通 道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547664" y="1196752"/>
            <a:ext cx="1915909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eaLnBrk="0" hangingPunct="0"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rgbClr val="000000"/>
                </a:solidFill>
              </a:rPr>
              <a:t>7. 1  </a:t>
            </a:r>
            <a:r>
              <a:rPr lang="zh-CN" altLang="en-US" sz="3200" kern="0" dirty="0">
                <a:solidFill>
                  <a:srgbClr val="000000"/>
                </a:solidFill>
              </a:rPr>
              <a:t>概述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CC52647-1384-4B78-9360-C4997BD2E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7. 1  </a:t>
            </a:r>
            <a:r>
              <a:rPr lang="zh-CN" altLang="en-US" dirty="0"/>
              <a:t>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28800"/>
            <a:ext cx="8388424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7. 1. 1  </a:t>
            </a:r>
            <a:r>
              <a:rPr lang="zh-CN" altLang="en-US" sz="2800" dirty="0"/>
              <a:t>输入</a:t>
            </a:r>
            <a:r>
              <a:rPr lang="en-US" altLang="zh-CN" sz="2800" dirty="0"/>
              <a:t>/</a:t>
            </a:r>
            <a:r>
              <a:rPr lang="zh-CN" altLang="en-US" sz="2800" dirty="0"/>
              <a:t>输出系统的功能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7. 1. 2  </a:t>
            </a:r>
            <a:r>
              <a:rPr lang="zh-CN" altLang="en-US" sz="2800" dirty="0"/>
              <a:t>输入</a:t>
            </a:r>
            <a:r>
              <a:rPr lang="en-US" altLang="zh-CN" sz="2800" dirty="0"/>
              <a:t>/</a:t>
            </a:r>
            <a:r>
              <a:rPr lang="zh-CN" altLang="en-US" sz="2800" dirty="0"/>
              <a:t>输出系统的组成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7. 1. 3  </a:t>
            </a:r>
            <a:r>
              <a:rPr lang="zh-CN" altLang="en-US" sz="2800" dirty="0"/>
              <a:t>外围设备与主机的连接方式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7. 1. 4  </a:t>
            </a:r>
            <a:r>
              <a:rPr lang="zh-CN" altLang="en-US" sz="2800" dirty="0"/>
              <a:t>主机与 </a:t>
            </a:r>
            <a:r>
              <a:rPr lang="en-US" altLang="zh-CN" sz="2800" dirty="0"/>
              <a:t>I / O </a:t>
            </a:r>
            <a:r>
              <a:rPr lang="zh-CN" altLang="en-US" sz="2800" dirty="0"/>
              <a:t>设备间信息传送的控制方式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4009A7-808A-444D-8F86-716C47410EE7}"/>
              </a:ext>
            </a:extLst>
          </p:cNvPr>
          <p:cNvSpPr/>
          <p:nvPr/>
        </p:nvSpPr>
        <p:spPr>
          <a:xfrm>
            <a:off x="395536" y="1700808"/>
            <a:ext cx="5616624" cy="6549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lvl="0" indent="-342900" eaLnBrk="0" hangingPunct="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800" kern="0" dirty="0">
                <a:solidFill>
                  <a:srgbClr val="000000"/>
                </a:solidFill>
              </a:rPr>
              <a:t>7. 1. 1  </a:t>
            </a:r>
            <a:r>
              <a:rPr lang="zh-CN" altLang="en-US" sz="2800" kern="0" dirty="0">
                <a:solidFill>
                  <a:srgbClr val="000000"/>
                </a:solidFill>
              </a:rPr>
              <a:t>输入</a:t>
            </a:r>
            <a:r>
              <a:rPr lang="en-US" altLang="zh-CN" sz="2800" kern="0" dirty="0">
                <a:solidFill>
                  <a:srgbClr val="000000"/>
                </a:solidFill>
              </a:rPr>
              <a:t>/</a:t>
            </a:r>
            <a:r>
              <a:rPr lang="zh-CN" altLang="en-US" sz="2800" kern="0" dirty="0">
                <a:solidFill>
                  <a:srgbClr val="000000"/>
                </a:solidFill>
              </a:rPr>
              <a:t>输出系统的功能</a:t>
            </a:r>
            <a:endParaRPr lang="en-US" altLang="zh-CN" sz="2800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60" y="19666"/>
            <a:ext cx="7812360" cy="731837"/>
          </a:xfrm>
        </p:spPr>
        <p:txBody>
          <a:bodyPr/>
          <a:lstStyle/>
          <a:p>
            <a:r>
              <a:rPr lang="en-US" altLang="zh-CN" dirty="0"/>
              <a:t>7. 1. 1  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输出系统的功能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2DF7B442-CAFF-4B73-B012-DC30111A7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20" y="692696"/>
            <a:ext cx="9037004" cy="5832648"/>
          </a:xfrm>
        </p:spPr>
        <p:txBody>
          <a:bodyPr/>
          <a:lstStyle/>
          <a:p>
            <a:r>
              <a:rPr lang="zh-CN" altLang="zh-CN" sz="2800" b="1" dirty="0"/>
              <a:t>输入输出设备</a:t>
            </a:r>
            <a:r>
              <a:rPr lang="zh-CN" altLang="zh-CN" sz="2800" dirty="0"/>
              <a:t>是计算机与人或者机器系统进行数据交互的装置，用于实现计算机内部二进制信息与外部不同形式信息的转换，简称</a:t>
            </a:r>
            <a:r>
              <a:rPr lang="zh-CN" altLang="zh-CN" sz="2800" b="1" dirty="0"/>
              <a:t>外部设备</a:t>
            </a:r>
            <a:r>
              <a:rPr lang="zh-CN" altLang="zh-CN" sz="2800" dirty="0"/>
              <a:t>或</a:t>
            </a:r>
            <a:r>
              <a:rPr lang="zh-CN" altLang="zh-CN" sz="2800" b="1" dirty="0"/>
              <a:t>外设</a:t>
            </a:r>
            <a:endParaRPr lang="en-US" altLang="zh-CN" sz="2800" b="1" dirty="0"/>
          </a:p>
          <a:p>
            <a:pPr lvl="1"/>
            <a:r>
              <a:rPr lang="zh-CN" altLang="zh-CN" b="1" dirty="0"/>
              <a:t>输入设备</a:t>
            </a:r>
            <a:r>
              <a:rPr lang="zh-CN" altLang="en-US" b="1" dirty="0"/>
              <a:t>：</a:t>
            </a:r>
            <a:r>
              <a:rPr lang="zh-CN" altLang="zh-CN" dirty="0"/>
              <a:t>负责将数据、文字、图像、声音、电信号等转换成计算机可以识别的二进制信息，如键盘、鼠标、扫描仪、摄像头等</a:t>
            </a:r>
            <a:endParaRPr lang="en-US" altLang="zh-CN" dirty="0"/>
          </a:p>
          <a:p>
            <a:pPr lvl="1"/>
            <a:r>
              <a:rPr lang="zh-CN" altLang="zh-CN" b="1" dirty="0"/>
              <a:t>输出设备</a:t>
            </a:r>
            <a:r>
              <a:rPr lang="zh-CN" altLang="en-US" b="1" dirty="0"/>
              <a:t>：</a:t>
            </a:r>
            <a:r>
              <a:rPr lang="zh-CN" altLang="zh-CN" dirty="0"/>
              <a:t>负责将计算机处理结果转换成数字、文字、图形、图像、声音或电信号，如显示器、打印机等；</a:t>
            </a:r>
            <a:endParaRPr lang="en-US" altLang="zh-CN" dirty="0"/>
          </a:p>
          <a:p>
            <a:pPr lvl="1"/>
            <a:r>
              <a:rPr lang="zh-CN" altLang="en-US" b="1" dirty="0"/>
              <a:t>输入输出设备</a:t>
            </a:r>
            <a:r>
              <a:rPr lang="zh-CN" altLang="en-US" dirty="0"/>
              <a:t>：</a:t>
            </a:r>
            <a:r>
              <a:rPr lang="zh-CN" altLang="zh-CN" dirty="0"/>
              <a:t>既能输入也能输出，如磁盘、网卡等。</a:t>
            </a:r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1436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60" y="19666"/>
            <a:ext cx="7812360" cy="731837"/>
          </a:xfrm>
        </p:spPr>
        <p:txBody>
          <a:bodyPr/>
          <a:lstStyle/>
          <a:p>
            <a:r>
              <a:rPr lang="en-US" altLang="zh-CN" dirty="0"/>
              <a:t>7. 1. 1  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输出系统的功能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2DF7B442-CAFF-4B73-B012-DC30111A7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124744"/>
            <a:ext cx="8892480" cy="2448272"/>
          </a:xfrm>
        </p:spPr>
        <p:txBody>
          <a:bodyPr/>
          <a:lstStyle/>
          <a:p>
            <a:r>
              <a:rPr lang="zh-CN" altLang="en-US" b="1" dirty="0"/>
              <a:t>输入输出系统的基本功能是：</a:t>
            </a:r>
          </a:p>
          <a:p>
            <a:pPr lvl="1"/>
            <a:r>
              <a:rPr lang="zh-CN" altLang="en-US" b="1" dirty="0"/>
              <a:t>确定一次数据传输过程中的源端设备和目的端设备 </a:t>
            </a:r>
          </a:p>
          <a:p>
            <a:pPr lvl="1"/>
            <a:r>
              <a:rPr lang="zh-CN" altLang="en-US" b="1" dirty="0"/>
              <a:t>确保</a:t>
            </a:r>
            <a:r>
              <a:rPr lang="en-US" altLang="zh-CN" b="1" dirty="0"/>
              <a:t>I/O</a:t>
            </a:r>
            <a:r>
              <a:rPr lang="zh-CN" altLang="en-US" b="1" dirty="0"/>
              <a:t>设备和主机之间能够顺利的进行信息交换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5ABE13A9-EC06-46CD-A19E-911B6AA8823E}"/>
              </a:ext>
            </a:extLst>
          </p:cNvPr>
          <p:cNvSpPr txBox="1">
            <a:spLocks/>
          </p:cNvSpPr>
          <p:nvPr/>
        </p:nvSpPr>
        <p:spPr>
          <a:xfrm>
            <a:off x="323528" y="1240004"/>
            <a:ext cx="10515599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30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CC52647-1384-4B78-9360-C4997BD2E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7. 1  </a:t>
            </a:r>
            <a:r>
              <a:rPr lang="zh-CN" altLang="en-US" dirty="0"/>
              <a:t>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28800"/>
            <a:ext cx="8388424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7. 1. 1  </a:t>
            </a:r>
            <a:r>
              <a:rPr lang="zh-CN" altLang="en-US" sz="2800" dirty="0"/>
              <a:t>输入</a:t>
            </a:r>
            <a:r>
              <a:rPr lang="en-US" altLang="zh-CN" sz="2800" dirty="0"/>
              <a:t>/</a:t>
            </a:r>
            <a:r>
              <a:rPr lang="zh-CN" altLang="en-US" sz="2800" dirty="0"/>
              <a:t>输出系统的功能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7. 1. 2  </a:t>
            </a:r>
            <a:r>
              <a:rPr lang="zh-CN" altLang="en-US" sz="2800" dirty="0"/>
              <a:t>输入</a:t>
            </a:r>
            <a:r>
              <a:rPr lang="en-US" altLang="zh-CN" sz="2800" dirty="0"/>
              <a:t>/</a:t>
            </a:r>
            <a:r>
              <a:rPr lang="zh-CN" altLang="en-US" sz="2800" dirty="0"/>
              <a:t>输出系统的组成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7. 1. 3  </a:t>
            </a:r>
            <a:r>
              <a:rPr lang="zh-CN" altLang="en-US" sz="2800" dirty="0"/>
              <a:t>外围设备与主机的连接方式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7. 1. 4  </a:t>
            </a:r>
            <a:r>
              <a:rPr lang="zh-CN" altLang="en-US" sz="2800" dirty="0"/>
              <a:t>主机与 </a:t>
            </a:r>
            <a:r>
              <a:rPr lang="en-US" altLang="zh-CN" sz="2800" dirty="0"/>
              <a:t>I / O </a:t>
            </a:r>
            <a:r>
              <a:rPr lang="zh-CN" altLang="en-US" sz="2800" dirty="0"/>
              <a:t>设备间信息传送的控制方式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4009A7-808A-444D-8F86-716C47410EE7}"/>
              </a:ext>
            </a:extLst>
          </p:cNvPr>
          <p:cNvSpPr/>
          <p:nvPr/>
        </p:nvSpPr>
        <p:spPr>
          <a:xfrm>
            <a:off x="323528" y="2420888"/>
            <a:ext cx="5616624" cy="6549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lvl="0" indent="-342900" eaLnBrk="0" hangingPunct="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800" kern="0" dirty="0">
                <a:solidFill>
                  <a:srgbClr val="000000"/>
                </a:solidFill>
              </a:rPr>
              <a:t>7. 1. 2  </a:t>
            </a:r>
            <a:r>
              <a:rPr lang="zh-CN" altLang="en-US" sz="2800" kern="0" dirty="0">
                <a:solidFill>
                  <a:srgbClr val="000000"/>
                </a:solidFill>
              </a:rPr>
              <a:t>输入</a:t>
            </a:r>
            <a:r>
              <a:rPr lang="en-US" altLang="zh-CN" sz="2800" kern="0" dirty="0">
                <a:solidFill>
                  <a:srgbClr val="000000"/>
                </a:solidFill>
              </a:rPr>
              <a:t>/</a:t>
            </a:r>
            <a:r>
              <a:rPr lang="zh-CN" altLang="en-US" sz="2800" kern="0" dirty="0">
                <a:solidFill>
                  <a:srgbClr val="000000"/>
                </a:solidFill>
              </a:rPr>
              <a:t>输出系统的组成</a:t>
            </a:r>
          </a:p>
        </p:txBody>
      </p:sp>
    </p:spTree>
    <p:extLst>
      <p:ext uri="{BB962C8B-B14F-4D97-AF65-F5344CB8AC3E}">
        <p14:creationId xmlns:p14="http://schemas.microsoft.com/office/powerpoint/2010/main" val="336841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60" y="19666"/>
            <a:ext cx="7812360" cy="731837"/>
          </a:xfrm>
        </p:spPr>
        <p:txBody>
          <a:bodyPr/>
          <a:lstStyle/>
          <a:p>
            <a:r>
              <a:rPr lang="en-US" altLang="zh-CN" dirty="0"/>
              <a:t>7. 1. 2  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输出系统的组成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3AF7A5B-AE4E-4368-AE43-ADF518FFC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5567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219F50A-DD8D-43A8-8D9F-649D1F5F40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313538"/>
              </p:ext>
            </p:extLst>
          </p:nvPr>
        </p:nvGraphicFramePr>
        <p:xfrm>
          <a:off x="395536" y="2132856"/>
          <a:ext cx="7879032" cy="2520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Visio" r:id="rId3" imgW="4948556" imgH="1576682" progId="Visio.Drawing.11">
                  <p:embed/>
                </p:oleObj>
              </mc:Choice>
              <mc:Fallback>
                <p:oleObj name="Visio" r:id="rId3" imgW="4948556" imgH="157668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132856"/>
                        <a:ext cx="7879032" cy="25202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A28224A-85B3-4DDF-9D35-2148D5705712}"/>
              </a:ext>
            </a:extLst>
          </p:cNvPr>
          <p:cNvSpPr/>
          <p:nvPr/>
        </p:nvSpPr>
        <p:spPr>
          <a:xfrm>
            <a:off x="179512" y="836712"/>
            <a:ext cx="46987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输入输出系统的基本结构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5295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60" y="19666"/>
            <a:ext cx="7812360" cy="731837"/>
          </a:xfrm>
        </p:spPr>
        <p:txBody>
          <a:bodyPr/>
          <a:lstStyle/>
          <a:p>
            <a:r>
              <a:rPr lang="en-US" altLang="zh-CN" dirty="0"/>
              <a:t>7. 1. 2  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输出系统的组成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2DF7B442-CAFF-4B73-B012-DC30111A7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20" y="692696"/>
            <a:ext cx="9121180" cy="54726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外部设备、接口部件、总线以及相应的管理软件统称为计算机的输入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输出系统，简称</a:t>
            </a:r>
            <a:r>
              <a:rPr lang="en-US" altLang="zh-CN" sz="2800" b="1" dirty="0"/>
              <a:t>I/O</a:t>
            </a:r>
            <a:r>
              <a:rPr lang="zh-CN" altLang="en-US" sz="2800" b="1" dirty="0"/>
              <a:t>系统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完成计算机内部二进制信息与外部多种信息形式间的交流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保证</a:t>
            </a:r>
            <a:r>
              <a:rPr lang="en-US" altLang="zh-CN" sz="2400" b="1" dirty="0">
                <a:solidFill>
                  <a:srgbClr val="FF0000"/>
                </a:solidFill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</a:rPr>
              <a:t>能够正确选择</a:t>
            </a:r>
            <a:r>
              <a:rPr lang="en-US" altLang="zh-CN" sz="2400" b="1" dirty="0">
                <a:solidFill>
                  <a:srgbClr val="FF0000"/>
                </a:solidFill>
              </a:rPr>
              <a:t>I/O</a:t>
            </a:r>
            <a:r>
              <a:rPr lang="zh-CN" altLang="en-US" sz="2400" b="1" dirty="0">
                <a:solidFill>
                  <a:srgbClr val="FF0000"/>
                </a:solidFill>
              </a:rPr>
              <a:t>设备并实现对其控制，与数据传输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利用数据缓冲、合适的数据传送方式，实现主机外设间速度匹配</a:t>
            </a:r>
          </a:p>
          <a:p>
            <a:pPr lvl="1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I/O</a:t>
            </a:r>
            <a:r>
              <a:rPr lang="zh-CN" altLang="en-US" sz="2400" b="1" dirty="0">
                <a:solidFill>
                  <a:srgbClr val="FF0000"/>
                </a:solidFill>
              </a:rPr>
              <a:t>硬件</a:t>
            </a:r>
          </a:p>
          <a:p>
            <a:pPr lvl="2">
              <a:lnSpc>
                <a:spcPct val="150000"/>
              </a:lnSpc>
            </a:pPr>
            <a:r>
              <a:rPr lang="zh-CN" altLang="en-US" sz="2000" b="1" dirty="0"/>
              <a:t>外设、控制器、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接口、总线</a:t>
            </a:r>
          </a:p>
          <a:p>
            <a:pPr lvl="1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I/O</a:t>
            </a:r>
            <a:r>
              <a:rPr lang="zh-CN" altLang="en-US" sz="2400" b="1" dirty="0">
                <a:solidFill>
                  <a:srgbClr val="FF0000"/>
                </a:solidFill>
              </a:rPr>
              <a:t>软件</a:t>
            </a:r>
          </a:p>
          <a:p>
            <a:pPr lvl="2">
              <a:lnSpc>
                <a:spcPct val="150000"/>
              </a:lnSpc>
            </a:pPr>
            <a:r>
              <a:rPr lang="en-US" altLang="zh-CN" sz="2000" b="1" dirty="0"/>
              <a:t>OS</a:t>
            </a:r>
            <a:r>
              <a:rPr lang="zh-CN" altLang="en-US" sz="2000" b="1" dirty="0"/>
              <a:t>无关库，设备无关库，驱动，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指令，通道指令</a:t>
            </a:r>
          </a:p>
          <a:p>
            <a:pPr>
              <a:lnSpc>
                <a:spcPct val="150000"/>
              </a:lnSpc>
            </a:pPr>
            <a:endParaRPr lang="zh-CN" altLang="zh-CN" dirty="0"/>
          </a:p>
          <a:p>
            <a:pPr marL="0" indent="0">
              <a:buNone/>
            </a:pPr>
            <a:endParaRPr lang="zh-CN" altLang="en-US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3FA27C-A133-4CA2-BEAE-000B0FC97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4149080"/>
            <a:ext cx="3877357" cy="175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6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CC52647-1384-4B78-9360-C4997BD2E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7. 1  </a:t>
            </a:r>
            <a:r>
              <a:rPr lang="zh-CN" altLang="en-US" dirty="0"/>
              <a:t>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28800"/>
            <a:ext cx="8388424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7. 1. 1  </a:t>
            </a:r>
            <a:r>
              <a:rPr lang="zh-CN" altLang="en-US" sz="2800" dirty="0"/>
              <a:t>输入</a:t>
            </a:r>
            <a:r>
              <a:rPr lang="en-US" altLang="zh-CN" sz="2800" dirty="0"/>
              <a:t>/</a:t>
            </a:r>
            <a:r>
              <a:rPr lang="zh-CN" altLang="en-US" sz="2800" dirty="0"/>
              <a:t>输出系统的功能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7. 1. 2  </a:t>
            </a:r>
            <a:r>
              <a:rPr lang="zh-CN" altLang="en-US" sz="2800" dirty="0"/>
              <a:t>输入</a:t>
            </a:r>
            <a:r>
              <a:rPr lang="en-US" altLang="zh-CN" sz="2800" dirty="0"/>
              <a:t>/</a:t>
            </a:r>
            <a:r>
              <a:rPr lang="zh-CN" altLang="en-US" sz="2800" dirty="0"/>
              <a:t>输出系统的组成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7. 1. 3  </a:t>
            </a:r>
            <a:r>
              <a:rPr lang="zh-CN" altLang="en-US" sz="2800" dirty="0"/>
              <a:t>外围设备与主机的连接方式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7. 1. 4  </a:t>
            </a:r>
            <a:r>
              <a:rPr lang="zh-CN" altLang="en-US" sz="2800" dirty="0"/>
              <a:t>主机与 </a:t>
            </a:r>
            <a:r>
              <a:rPr lang="en-US" altLang="zh-CN" sz="2800" dirty="0"/>
              <a:t>I / O </a:t>
            </a:r>
            <a:r>
              <a:rPr lang="zh-CN" altLang="en-US" sz="2800" dirty="0"/>
              <a:t>设备间信息传送的控制方式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4009A7-808A-444D-8F86-716C47410EE7}"/>
              </a:ext>
            </a:extLst>
          </p:cNvPr>
          <p:cNvSpPr/>
          <p:nvPr/>
        </p:nvSpPr>
        <p:spPr>
          <a:xfrm>
            <a:off x="323528" y="3284984"/>
            <a:ext cx="6336704" cy="6549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lvl="0" indent="-342900" eaLnBrk="0" hangingPunct="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800" kern="0" dirty="0">
                <a:solidFill>
                  <a:srgbClr val="000000"/>
                </a:solidFill>
              </a:rPr>
              <a:t>7. 1. 3  </a:t>
            </a:r>
            <a:r>
              <a:rPr lang="zh-CN" altLang="en-US" sz="2800" kern="0" dirty="0">
                <a:solidFill>
                  <a:srgbClr val="000000"/>
                </a:solidFill>
              </a:rPr>
              <a:t>外围设备与主机的连接方式</a:t>
            </a:r>
          </a:p>
        </p:txBody>
      </p:sp>
    </p:spTree>
    <p:extLst>
      <p:ext uri="{BB962C8B-B14F-4D97-AF65-F5344CB8AC3E}">
        <p14:creationId xmlns:p14="http://schemas.microsoft.com/office/powerpoint/2010/main" val="221445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7C2E6AA-8D53-4EF0-99D2-25C2F56A9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7. 1. 3  </a:t>
            </a:r>
            <a:r>
              <a:rPr lang="zh-CN" altLang="en-US" dirty="0"/>
              <a:t>外围设备与主机的连接方式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A8CEF20-BDF7-4D08-95F7-70D70B520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总线型连接方式</a:t>
            </a:r>
            <a:endParaRPr lang="en-US" altLang="zh-CN" dirty="0"/>
          </a:p>
          <a:p>
            <a:r>
              <a:rPr lang="zh-CN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通道方式</a:t>
            </a:r>
            <a:endParaRPr lang="en-US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处理机方式</a:t>
            </a:r>
            <a:endParaRPr lang="zh-CN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42E7AB3-0D9D-4087-AE3C-3A28FB567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292494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75863EC-C373-4D72-9A78-4FFB45F44E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280357"/>
              </p:ext>
            </p:extLst>
          </p:nvPr>
        </p:nvGraphicFramePr>
        <p:xfrm>
          <a:off x="395536" y="2780928"/>
          <a:ext cx="7853216" cy="3312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" name="Visio" r:id="rId3" imgW="4674836" imgH="1972945" progId="Visio.Drawing.11">
                  <p:embed/>
                </p:oleObj>
              </mc:Choice>
              <mc:Fallback>
                <p:oleObj name="Visio" r:id="rId3" imgW="4674836" imgH="197294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780928"/>
                        <a:ext cx="7853216" cy="33123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244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CC52647-1384-4B78-9360-C4997BD2E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7. 1  </a:t>
            </a:r>
            <a:r>
              <a:rPr lang="zh-CN" altLang="en-US" dirty="0"/>
              <a:t>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28800"/>
            <a:ext cx="8388424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7. 1. 1  </a:t>
            </a:r>
            <a:r>
              <a:rPr lang="zh-CN" altLang="en-US" sz="2800" dirty="0"/>
              <a:t>输入</a:t>
            </a:r>
            <a:r>
              <a:rPr lang="en-US" altLang="zh-CN" sz="2800" dirty="0"/>
              <a:t>/</a:t>
            </a:r>
            <a:r>
              <a:rPr lang="zh-CN" altLang="en-US" sz="2800" dirty="0"/>
              <a:t>输出系统的功能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7. 1. 2  </a:t>
            </a:r>
            <a:r>
              <a:rPr lang="zh-CN" altLang="en-US" sz="2800" dirty="0"/>
              <a:t>输入</a:t>
            </a:r>
            <a:r>
              <a:rPr lang="en-US" altLang="zh-CN" sz="2800" dirty="0"/>
              <a:t>/</a:t>
            </a:r>
            <a:r>
              <a:rPr lang="zh-CN" altLang="en-US" sz="2800" dirty="0"/>
              <a:t>输出系统的组成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7. 1. 3  </a:t>
            </a:r>
            <a:r>
              <a:rPr lang="zh-CN" altLang="en-US" sz="2800" dirty="0"/>
              <a:t>外围设备与主机的连接方式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7. 1. 4  </a:t>
            </a:r>
            <a:r>
              <a:rPr lang="zh-CN" altLang="en-US" sz="2800" dirty="0"/>
              <a:t>主机与 </a:t>
            </a:r>
            <a:r>
              <a:rPr lang="en-US" altLang="zh-CN" sz="2800" dirty="0"/>
              <a:t>I / O </a:t>
            </a:r>
            <a:r>
              <a:rPr lang="zh-CN" altLang="en-US" sz="2800" dirty="0"/>
              <a:t>设备间信息传送的控制方式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4009A7-808A-444D-8F86-716C47410EE7}"/>
              </a:ext>
            </a:extLst>
          </p:cNvPr>
          <p:cNvSpPr/>
          <p:nvPr/>
        </p:nvSpPr>
        <p:spPr>
          <a:xfrm>
            <a:off x="323528" y="4077072"/>
            <a:ext cx="8208912" cy="6549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lvl="0" indent="-342900" eaLnBrk="0" hangingPunct="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800" kern="0" dirty="0">
                <a:solidFill>
                  <a:srgbClr val="000000"/>
                </a:solidFill>
              </a:rPr>
              <a:t>7. 1. 4  </a:t>
            </a:r>
            <a:r>
              <a:rPr lang="zh-CN" altLang="en-US" sz="2800" kern="0" dirty="0">
                <a:solidFill>
                  <a:srgbClr val="000000"/>
                </a:solidFill>
              </a:rPr>
              <a:t>主机与 </a:t>
            </a:r>
            <a:r>
              <a:rPr lang="en-US" altLang="zh-CN" sz="2800" kern="0" dirty="0">
                <a:solidFill>
                  <a:srgbClr val="000000"/>
                </a:solidFill>
              </a:rPr>
              <a:t>I / O </a:t>
            </a:r>
            <a:r>
              <a:rPr lang="zh-CN" altLang="en-US" sz="2800" kern="0" dirty="0">
                <a:solidFill>
                  <a:srgbClr val="000000"/>
                </a:solidFill>
              </a:rPr>
              <a:t>设备间信息传送的控制方式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06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7C2E6AA-8D53-4EF0-99D2-25C2F56A9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964488" cy="731837"/>
          </a:xfrm>
        </p:spPr>
        <p:txBody>
          <a:bodyPr/>
          <a:lstStyle/>
          <a:p>
            <a:r>
              <a:rPr lang="en-US" altLang="zh-CN" sz="3200" dirty="0"/>
              <a:t>7. 1. 4  </a:t>
            </a:r>
            <a:r>
              <a:rPr lang="zh-CN" altLang="en-US" sz="3200" dirty="0"/>
              <a:t>主机与 </a:t>
            </a:r>
            <a:r>
              <a:rPr lang="en-US" altLang="zh-CN" sz="3200" dirty="0"/>
              <a:t>I / O </a:t>
            </a:r>
            <a:r>
              <a:rPr lang="zh-CN" altLang="en-US" sz="3200" dirty="0"/>
              <a:t>设备间信息传送的控制方式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A8CEF20-BDF7-4D08-95F7-70D70B520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80728"/>
            <a:ext cx="8712968" cy="5184576"/>
          </a:xfrm>
        </p:spPr>
        <p:txBody>
          <a:bodyPr/>
          <a:lstStyle/>
          <a:p>
            <a:r>
              <a:rPr lang="zh-CN" altLang="en-US" dirty="0"/>
              <a:t>程序控制（程序查询）方式</a:t>
            </a:r>
          </a:p>
          <a:p>
            <a:r>
              <a:rPr lang="zh-CN" altLang="en-US" dirty="0"/>
              <a:t>程序中断方式</a:t>
            </a:r>
          </a:p>
          <a:p>
            <a:r>
              <a:rPr lang="zh-CN" altLang="en-US" dirty="0"/>
              <a:t>直接存储器存取方式</a:t>
            </a:r>
          </a:p>
          <a:p>
            <a:r>
              <a:rPr lang="zh-CN" altLang="en-US" dirty="0"/>
              <a:t>通道方式</a:t>
            </a:r>
          </a:p>
          <a:p>
            <a:r>
              <a:rPr lang="zh-CN" altLang="en-US" dirty="0"/>
              <a:t>外围处理机方式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42E7AB3-0D9D-4087-AE3C-3A28FB567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292494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49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3">
            <a:extLst>
              <a:ext uri="{FF2B5EF4-FFF2-40B4-BE49-F238E27FC236}">
                <a16:creationId xmlns:a16="http://schemas.microsoft.com/office/drawing/2014/main" id="{B9126014-FDE6-4F01-858A-13FC9F3F3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908720"/>
            <a:ext cx="33686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程序查询方式</a:t>
            </a: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CC7D358D-7DC9-4C8D-B9FF-4F58999A1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133600"/>
            <a:ext cx="464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串行工作</a:t>
            </a:r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2DB106EE-02D1-43BB-949C-26C7B3D35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819400"/>
            <a:ext cx="2667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踏步等待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3D2A3CC2-219E-4831-B862-29BBF470C758}"/>
              </a:ext>
            </a:extLst>
          </p:cNvPr>
          <p:cNvGrpSpPr>
            <a:grpSpLocks/>
          </p:cNvGrpSpPr>
          <p:nvPr/>
        </p:nvGrpSpPr>
        <p:grpSpPr bwMode="auto">
          <a:xfrm>
            <a:off x="366713" y="3581400"/>
            <a:ext cx="3559175" cy="2286000"/>
            <a:chOff x="231" y="1344"/>
            <a:chExt cx="2242" cy="1440"/>
          </a:xfrm>
        </p:grpSpPr>
        <p:grpSp>
          <p:nvGrpSpPr>
            <p:cNvPr id="8231" name="Group 7">
              <a:extLst>
                <a:ext uri="{FF2B5EF4-FFF2-40B4-BE49-F238E27FC236}">
                  <a16:creationId xmlns:a16="http://schemas.microsoft.com/office/drawing/2014/main" id="{209E5581-CD18-49A4-86A8-88390AA06B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" y="1344"/>
              <a:ext cx="2242" cy="1272"/>
              <a:chOff x="231" y="1608"/>
              <a:chExt cx="2242" cy="1272"/>
            </a:xfrm>
          </p:grpSpPr>
          <p:sp>
            <p:nvSpPr>
              <p:cNvPr id="8233" name="Text Box 8">
                <a:extLst>
                  <a:ext uri="{FF2B5EF4-FFF2-40B4-BE49-F238E27FC236}">
                    <a16:creationId xmlns:a16="http://schemas.microsoft.com/office/drawing/2014/main" id="{C412755A-8210-4435-8256-3ABB5D5A7D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0" y="1862"/>
                <a:ext cx="115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CPU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读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I/O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状态</a:t>
                </a:r>
              </a:p>
            </p:txBody>
          </p:sp>
          <p:sp>
            <p:nvSpPr>
              <p:cNvPr id="8234" name="Text Box 9">
                <a:extLst>
                  <a:ext uri="{FF2B5EF4-FFF2-40B4-BE49-F238E27FC236}">
                    <a16:creationId xmlns:a16="http://schemas.microsoft.com/office/drawing/2014/main" id="{5E95572D-36D8-4B71-A65A-AFA870DA69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2" y="2486"/>
                <a:ext cx="75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检查状态</a:t>
                </a:r>
              </a:p>
            </p:txBody>
          </p:sp>
          <p:sp>
            <p:nvSpPr>
              <p:cNvPr id="8235" name="Line 10">
                <a:extLst>
                  <a:ext uri="{FF2B5EF4-FFF2-40B4-BE49-F238E27FC236}">
                    <a16:creationId xmlns:a16="http://schemas.microsoft.com/office/drawing/2014/main" id="{CF3FAA8F-F85D-4979-83F5-9BE3A6AA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1608"/>
                <a:ext cx="0" cy="216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36" name="Rectangle 11">
                <a:extLst>
                  <a:ext uri="{FF2B5EF4-FFF2-40B4-BE49-F238E27FC236}">
                    <a16:creationId xmlns:a16="http://schemas.microsoft.com/office/drawing/2014/main" id="{4A77918A-211A-4DBC-95C0-B90D77317A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0" y="1824"/>
                <a:ext cx="1159" cy="322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37" name="AutoShape 12">
                <a:extLst>
                  <a:ext uri="{FF2B5EF4-FFF2-40B4-BE49-F238E27FC236}">
                    <a16:creationId xmlns:a16="http://schemas.microsoft.com/office/drawing/2014/main" id="{6E2A8419-8AB5-4F84-B494-32C623F54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5" y="2341"/>
                <a:ext cx="1066" cy="539"/>
              </a:xfrm>
              <a:prstGeom prst="diamond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38" name="Line 13">
                <a:extLst>
                  <a:ext uri="{FF2B5EF4-FFF2-40B4-BE49-F238E27FC236}">
                    <a16:creationId xmlns:a16="http://schemas.microsoft.com/office/drawing/2014/main" id="{33BB4731-9F9C-4281-93A7-432546C408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146"/>
                <a:ext cx="0" cy="215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39" name="Freeform 14">
                <a:extLst>
                  <a:ext uri="{FF2B5EF4-FFF2-40B4-BE49-F238E27FC236}">
                    <a16:creationId xmlns:a16="http://schemas.microsoft.com/office/drawing/2014/main" id="{17C3F83E-05C0-4B78-B560-181BED5FB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01"/>
                <a:ext cx="1194" cy="913"/>
              </a:xfrm>
              <a:custGeom>
                <a:avLst/>
                <a:gdLst>
                  <a:gd name="T0" fmla="*/ 690 w 1194"/>
                  <a:gd name="T1" fmla="*/ 912 h 913"/>
                  <a:gd name="T2" fmla="*/ 2 w 1194"/>
                  <a:gd name="T3" fmla="*/ 913 h 913"/>
                  <a:gd name="T4" fmla="*/ 0 w 1194"/>
                  <a:gd name="T5" fmla="*/ 1 h 913"/>
                  <a:gd name="T6" fmla="*/ 1194 w 1194"/>
                  <a:gd name="T7" fmla="*/ 0 h 9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94"/>
                  <a:gd name="T13" fmla="*/ 0 h 913"/>
                  <a:gd name="T14" fmla="*/ 1194 w 1194"/>
                  <a:gd name="T15" fmla="*/ 913 h 9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94" h="913">
                    <a:moveTo>
                      <a:pt x="690" y="912"/>
                    </a:moveTo>
                    <a:lnTo>
                      <a:pt x="2" y="913"/>
                    </a:lnTo>
                    <a:lnTo>
                      <a:pt x="0" y="1"/>
                    </a:lnTo>
                    <a:lnTo>
                      <a:pt x="1194" y="0"/>
                    </a:lnTo>
                  </a:path>
                </a:pathLst>
              </a:custGeom>
              <a:noFill/>
              <a:ln w="38100">
                <a:solidFill>
                  <a:schemeClr val="folHlink"/>
                </a:solidFill>
                <a:round/>
                <a:headEnd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40" name="Text Box 15">
                <a:extLst>
                  <a:ext uri="{FF2B5EF4-FFF2-40B4-BE49-F238E27FC236}">
                    <a16:creationId xmlns:a16="http://schemas.microsoft.com/office/drawing/2014/main" id="{A2DF06F4-9E81-4488-A7FC-DAB5F0B7C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" y="2630"/>
                <a:ext cx="9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未准备就绪</a:t>
                </a:r>
              </a:p>
            </p:txBody>
          </p:sp>
          <p:sp>
            <p:nvSpPr>
              <p:cNvPr id="8241" name="Freeform 16">
                <a:extLst>
                  <a:ext uri="{FF2B5EF4-FFF2-40B4-BE49-F238E27FC236}">
                    <a16:creationId xmlns:a16="http://schemas.microsoft.com/office/drawing/2014/main" id="{BC263591-B74E-421D-A8F8-8E0C5AFD1C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2611"/>
                <a:ext cx="392" cy="1"/>
              </a:xfrm>
              <a:custGeom>
                <a:avLst/>
                <a:gdLst>
                  <a:gd name="T0" fmla="*/ 0 w 642"/>
                  <a:gd name="T1" fmla="*/ 0 h 1"/>
                  <a:gd name="T2" fmla="*/ 392 w 642"/>
                  <a:gd name="T3" fmla="*/ 0 h 1"/>
                  <a:gd name="T4" fmla="*/ 0 60000 65536"/>
                  <a:gd name="T5" fmla="*/ 0 60000 65536"/>
                  <a:gd name="T6" fmla="*/ 0 w 642"/>
                  <a:gd name="T7" fmla="*/ 0 h 1"/>
                  <a:gd name="T8" fmla="*/ 642 w 64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42" h="1">
                    <a:moveTo>
                      <a:pt x="0" y="0"/>
                    </a:moveTo>
                    <a:lnTo>
                      <a:pt x="642" y="0"/>
                    </a:lnTo>
                  </a:path>
                </a:pathLst>
              </a:custGeom>
              <a:noFill/>
              <a:ln w="38100">
                <a:solidFill>
                  <a:schemeClr val="folHlink"/>
                </a:solidFill>
                <a:round/>
                <a:headEnd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42" name="Text Box 17">
                <a:extLst>
                  <a:ext uri="{FF2B5EF4-FFF2-40B4-BE49-F238E27FC236}">
                    <a16:creationId xmlns:a16="http://schemas.microsoft.com/office/drawing/2014/main" id="{3C163C60-2FFD-4748-B2C6-C9C44D7747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2630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出错</a:t>
                </a:r>
              </a:p>
            </p:txBody>
          </p:sp>
        </p:grpSp>
        <p:sp>
          <p:nvSpPr>
            <p:cNvPr id="8232" name="Freeform 18">
              <a:extLst>
                <a:ext uri="{FF2B5EF4-FFF2-40B4-BE49-F238E27FC236}">
                  <a16:creationId xmlns:a16="http://schemas.microsoft.com/office/drawing/2014/main" id="{FBE34574-8569-4C9D-8F4F-C410CE827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2610"/>
              <a:ext cx="1" cy="174"/>
            </a:xfrm>
            <a:custGeom>
              <a:avLst/>
              <a:gdLst>
                <a:gd name="T0" fmla="*/ 0 w 1"/>
                <a:gd name="T1" fmla="*/ 0 h 201"/>
                <a:gd name="T2" fmla="*/ 0 w 1"/>
                <a:gd name="T3" fmla="*/ 174 h 201"/>
                <a:gd name="T4" fmla="*/ 0 60000 65536"/>
                <a:gd name="T5" fmla="*/ 0 60000 65536"/>
                <a:gd name="T6" fmla="*/ 0 w 1"/>
                <a:gd name="T7" fmla="*/ 0 h 201"/>
                <a:gd name="T8" fmla="*/ 1 w 1"/>
                <a:gd name="T9" fmla="*/ 201 h 2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01">
                  <a:moveTo>
                    <a:pt x="0" y="0"/>
                  </a:moveTo>
                  <a:lnTo>
                    <a:pt x="0" y="201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Group 19">
            <a:extLst>
              <a:ext uri="{FF2B5EF4-FFF2-40B4-BE49-F238E27FC236}">
                <a16:creationId xmlns:a16="http://schemas.microsoft.com/office/drawing/2014/main" id="{48A6CF4C-10D2-46FC-9690-D7D15348D1BA}"/>
              </a:ext>
            </a:extLst>
          </p:cNvPr>
          <p:cNvGrpSpPr>
            <a:grpSpLocks/>
          </p:cNvGrpSpPr>
          <p:nvPr/>
        </p:nvGrpSpPr>
        <p:grpSpPr bwMode="auto">
          <a:xfrm>
            <a:off x="4329113" y="1143000"/>
            <a:ext cx="4572000" cy="5762625"/>
            <a:chOff x="2727" y="720"/>
            <a:chExt cx="2880" cy="3630"/>
          </a:xfrm>
        </p:grpSpPr>
        <p:grpSp>
          <p:nvGrpSpPr>
            <p:cNvPr id="8202" name="Group 20">
              <a:extLst>
                <a:ext uri="{FF2B5EF4-FFF2-40B4-BE49-F238E27FC236}">
                  <a16:creationId xmlns:a16="http://schemas.microsoft.com/office/drawing/2014/main" id="{D8255DC2-753D-4370-8FDE-4071D85B61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7" y="720"/>
              <a:ext cx="2880" cy="3630"/>
              <a:chOff x="2727" y="720"/>
              <a:chExt cx="2880" cy="3630"/>
            </a:xfrm>
          </p:grpSpPr>
          <p:sp>
            <p:nvSpPr>
              <p:cNvPr id="8204" name="Text Box 21">
                <a:extLst>
                  <a:ext uri="{FF2B5EF4-FFF2-40B4-BE49-F238E27FC236}">
                    <a16:creationId xmlns:a16="http://schemas.microsoft.com/office/drawing/2014/main" id="{7C65C61B-E52D-4261-88AA-7679BE8978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3" y="2544"/>
                <a:ext cx="1122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400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从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I/O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接口中读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一个字到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CPU</a:t>
                </a:r>
              </a:p>
            </p:txBody>
          </p:sp>
          <p:sp>
            <p:nvSpPr>
              <p:cNvPr id="8205" name="Rectangle 22">
                <a:extLst>
                  <a:ext uri="{FF2B5EF4-FFF2-40B4-BE49-F238E27FC236}">
                    <a16:creationId xmlns:a16="http://schemas.microsoft.com/office/drawing/2014/main" id="{A583726E-0A4D-4C90-8B5A-55F43720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6" y="2558"/>
                <a:ext cx="1159" cy="41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06" name="Text Box 23">
                <a:extLst>
                  <a:ext uri="{FF2B5EF4-FFF2-40B4-BE49-F238E27FC236}">
                    <a16:creationId xmlns:a16="http://schemas.microsoft.com/office/drawing/2014/main" id="{62A510E6-D025-432F-A2D9-FBD204E999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3" y="3158"/>
                <a:ext cx="108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从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CPU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向主存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写入一个字</a:t>
                </a:r>
              </a:p>
            </p:txBody>
          </p:sp>
          <p:sp>
            <p:nvSpPr>
              <p:cNvPr id="8207" name="Rectangle 24">
                <a:extLst>
                  <a:ext uri="{FF2B5EF4-FFF2-40B4-BE49-F238E27FC236}">
                    <a16:creationId xmlns:a16="http://schemas.microsoft.com/office/drawing/2014/main" id="{6C5A9C3D-4217-4FBC-B93C-98A9063FB6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6" y="3144"/>
                <a:ext cx="1159" cy="41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08" name="Text Box 25">
                <a:extLst>
                  <a:ext uri="{FF2B5EF4-FFF2-40B4-BE49-F238E27FC236}">
                    <a16:creationId xmlns:a16="http://schemas.microsoft.com/office/drawing/2014/main" id="{97E6E4CB-C857-4CB4-8AF4-D100726461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6" y="960"/>
                <a:ext cx="99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CPU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向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I/O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发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   读指令</a:t>
                </a:r>
              </a:p>
            </p:txBody>
          </p:sp>
          <p:sp>
            <p:nvSpPr>
              <p:cNvPr id="8209" name="Rectangle 26">
                <a:extLst>
                  <a:ext uri="{FF2B5EF4-FFF2-40B4-BE49-F238E27FC236}">
                    <a16:creationId xmlns:a16="http://schemas.microsoft.com/office/drawing/2014/main" id="{4A083D72-3204-4ECC-93CE-94452A8F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6" y="979"/>
                <a:ext cx="1159" cy="41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10" name="Text Box 27">
                <a:extLst>
                  <a:ext uri="{FF2B5EF4-FFF2-40B4-BE49-F238E27FC236}">
                    <a16:creationId xmlns:a16="http://schemas.microsoft.com/office/drawing/2014/main" id="{B91856E3-810E-44AC-B631-D569842B27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6" y="1574"/>
                <a:ext cx="115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CPU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读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I/O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状态</a:t>
                </a:r>
              </a:p>
            </p:txBody>
          </p:sp>
          <p:sp>
            <p:nvSpPr>
              <p:cNvPr id="8211" name="Rectangle 28">
                <a:extLst>
                  <a:ext uri="{FF2B5EF4-FFF2-40B4-BE49-F238E27FC236}">
                    <a16:creationId xmlns:a16="http://schemas.microsoft.com/office/drawing/2014/main" id="{8ECBA028-E44D-432E-A2C0-F9A2D4D75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6" y="1562"/>
                <a:ext cx="1159" cy="24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12" name="Text Box 29">
                <a:extLst>
                  <a:ext uri="{FF2B5EF4-FFF2-40B4-BE49-F238E27FC236}">
                    <a16:creationId xmlns:a16="http://schemas.microsoft.com/office/drawing/2014/main" id="{57636435-D118-43D3-8753-67B87440C0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8" y="2045"/>
                <a:ext cx="75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检查状态</a:t>
                </a:r>
              </a:p>
            </p:txBody>
          </p:sp>
          <p:sp>
            <p:nvSpPr>
              <p:cNvPr id="8213" name="AutoShape 30">
                <a:extLst>
                  <a:ext uri="{FF2B5EF4-FFF2-40B4-BE49-F238E27FC236}">
                    <a16:creationId xmlns:a16="http://schemas.microsoft.com/office/drawing/2014/main" id="{CDE2B4A0-23A0-4688-AA2C-388CCEFBD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1" y="1962"/>
                <a:ext cx="1066" cy="417"/>
              </a:xfrm>
              <a:prstGeom prst="diamond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14" name="Text Box 31">
                <a:extLst>
                  <a:ext uri="{FF2B5EF4-FFF2-40B4-BE49-F238E27FC236}">
                    <a16:creationId xmlns:a16="http://schemas.microsoft.com/office/drawing/2014/main" id="{06CF0F07-05DF-499D-8C5A-DD0795CF4C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8" y="3818"/>
                <a:ext cx="6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完成否</a:t>
                </a:r>
              </a:p>
            </p:txBody>
          </p:sp>
          <p:sp>
            <p:nvSpPr>
              <p:cNvPr id="8215" name="AutoShape 32">
                <a:extLst>
                  <a:ext uri="{FF2B5EF4-FFF2-40B4-BE49-F238E27FC236}">
                    <a16:creationId xmlns:a16="http://schemas.microsoft.com/office/drawing/2014/main" id="{616A0881-1D54-40C8-BC0A-96EF8984F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1" y="3727"/>
                <a:ext cx="1066" cy="417"/>
              </a:xfrm>
              <a:prstGeom prst="diamond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16" name="Line 33">
                <a:extLst>
                  <a:ext uri="{FF2B5EF4-FFF2-40B4-BE49-F238E27FC236}">
                    <a16:creationId xmlns:a16="http://schemas.microsoft.com/office/drawing/2014/main" id="{7CA59BFD-A1C7-4527-96DF-E6F658C80B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2" y="1395"/>
                <a:ext cx="0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17" name="Line 34">
                <a:extLst>
                  <a:ext uri="{FF2B5EF4-FFF2-40B4-BE49-F238E27FC236}">
                    <a16:creationId xmlns:a16="http://schemas.microsoft.com/office/drawing/2014/main" id="{50B5EA61-A02F-4AD3-A825-095720AF1C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2" y="1811"/>
                <a:ext cx="0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18" name="Freeform 35">
                <a:extLst>
                  <a:ext uri="{FF2B5EF4-FFF2-40B4-BE49-F238E27FC236}">
                    <a16:creationId xmlns:a16="http://schemas.microsoft.com/office/drawing/2014/main" id="{9BC57F8F-3FA9-42E1-9917-77273E51FD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" y="2379"/>
                <a:ext cx="1" cy="174"/>
              </a:xfrm>
              <a:custGeom>
                <a:avLst/>
                <a:gdLst>
                  <a:gd name="T0" fmla="*/ 0 w 1"/>
                  <a:gd name="T1" fmla="*/ 0 h 201"/>
                  <a:gd name="T2" fmla="*/ 0 w 1"/>
                  <a:gd name="T3" fmla="*/ 174 h 201"/>
                  <a:gd name="T4" fmla="*/ 0 60000 65536"/>
                  <a:gd name="T5" fmla="*/ 0 60000 65536"/>
                  <a:gd name="T6" fmla="*/ 0 w 1"/>
                  <a:gd name="T7" fmla="*/ 0 h 201"/>
                  <a:gd name="T8" fmla="*/ 1 w 1"/>
                  <a:gd name="T9" fmla="*/ 201 h 20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01">
                    <a:moveTo>
                      <a:pt x="0" y="0"/>
                    </a:moveTo>
                    <a:lnTo>
                      <a:pt x="0" y="201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19" name="Line 36">
                <a:extLst>
                  <a:ext uri="{FF2B5EF4-FFF2-40B4-BE49-F238E27FC236}">
                    <a16:creationId xmlns:a16="http://schemas.microsoft.com/office/drawing/2014/main" id="{1464EEE8-DB12-45EA-A6C9-D9D86851D3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2" y="2977"/>
                <a:ext cx="0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20" name="Line 37">
                <a:extLst>
                  <a:ext uri="{FF2B5EF4-FFF2-40B4-BE49-F238E27FC236}">
                    <a16:creationId xmlns:a16="http://schemas.microsoft.com/office/drawing/2014/main" id="{AF35A137-9267-467D-9A3A-46AFC139B6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2" y="3560"/>
                <a:ext cx="0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21" name="Line 38">
                <a:extLst>
                  <a:ext uri="{FF2B5EF4-FFF2-40B4-BE49-F238E27FC236}">
                    <a16:creationId xmlns:a16="http://schemas.microsoft.com/office/drawing/2014/main" id="{64168206-19CF-4E9D-A263-A4AF578E4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2" y="812"/>
                <a:ext cx="0" cy="1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22" name="Freeform 39">
                <a:extLst>
                  <a:ext uri="{FF2B5EF4-FFF2-40B4-BE49-F238E27FC236}">
                    <a16:creationId xmlns:a16="http://schemas.microsoft.com/office/drawing/2014/main" id="{BBA1BE43-F149-489B-A60C-E65BFB92C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" y="4146"/>
                <a:ext cx="1" cy="164"/>
              </a:xfrm>
              <a:custGeom>
                <a:avLst/>
                <a:gdLst>
                  <a:gd name="T0" fmla="*/ 0 w 1"/>
                  <a:gd name="T1" fmla="*/ 0 h 189"/>
                  <a:gd name="T2" fmla="*/ 0 w 1"/>
                  <a:gd name="T3" fmla="*/ 164 h 189"/>
                  <a:gd name="T4" fmla="*/ 0 60000 65536"/>
                  <a:gd name="T5" fmla="*/ 0 60000 65536"/>
                  <a:gd name="T6" fmla="*/ 0 w 1"/>
                  <a:gd name="T7" fmla="*/ 0 h 189"/>
                  <a:gd name="T8" fmla="*/ 1 w 1"/>
                  <a:gd name="T9" fmla="*/ 189 h 1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89">
                    <a:moveTo>
                      <a:pt x="0" y="0"/>
                    </a:moveTo>
                    <a:lnTo>
                      <a:pt x="0" y="189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23" name="Freeform 40">
                <a:extLst>
                  <a:ext uri="{FF2B5EF4-FFF2-40B4-BE49-F238E27FC236}">
                    <a16:creationId xmlns:a16="http://schemas.microsoft.com/office/drawing/2014/main" id="{024A3233-26CE-4D30-A34B-26D23E0138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2" y="1468"/>
                <a:ext cx="1440" cy="705"/>
              </a:xfrm>
              <a:custGeom>
                <a:avLst/>
                <a:gdLst>
                  <a:gd name="T0" fmla="*/ 927 w 1491"/>
                  <a:gd name="T1" fmla="*/ 705 h 813"/>
                  <a:gd name="T2" fmla="*/ 3 w 1491"/>
                  <a:gd name="T3" fmla="*/ 705 h 813"/>
                  <a:gd name="T4" fmla="*/ 0 w 1491"/>
                  <a:gd name="T5" fmla="*/ 0 h 813"/>
                  <a:gd name="T6" fmla="*/ 1440 w 1491"/>
                  <a:gd name="T7" fmla="*/ 3 h 8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91"/>
                  <a:gd name="T13" fmla="*/ 0 h 813"/>
                  <a:gd name="T14" fmla="*/ 1491 w 1491"/>
                  <a:gd name="T15" fmla="*/ 813 h 8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91" h="813">
                    <a:moveTo>
                      <a:pt x="960" y="813"/>
                    </a:moveTo>
                    <a:lnTo>
                      <a:pt x="3" y="813"/>
                    </a:lnTo>
                    <a:lnTo>
                      <a:pt x="0" y="0"/>
                    </a:lnTo>
                    <a:lnTo>
                      <a:pt x="1491" y="3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24" name="Freeform 41">
                <a:extLst>
                  <a:ext uri="{FF2B5EF4-FFF2-40B4-BE49-F238E27FC236}">
                    <a16:creationId xmlns:a16="http://schemas.microsoft.com/office/drawing/2014/main" id="{333141D5-EF44-4489-A4A5-EF9D3381D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7" y="854"/>
                <a:ext cx="1715" cy="3081"/>
              </a:xfrm>
              <a:custGeom>
                <a:avLst/>
                <a:gdLst>
                  <a:gd name="T0" fmla="*/ 1205 w 1776"/>
                  <a:gd name="T1" fmla="*/ 3081 h 3552"/>
                  <a:gd name="T2" fmla="*/ 0 w 1776"/>
                  <a:gd name="T3" fmla="*/ 3081 h 3552"/>
                  <a:gd name="T4" fmla="*/ 0 w 1776"/>
                  <a:gd name="T5" fmla="*/ 0 h 3552"/>
                  <a:gd name="T6" fmla="*/ 1715 w 1776"/>
                  <a:gd name="T7" fmla="*/ 0 h 35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76"/>
                  <a:gd name="T13" fmla="*/ 0 h 3552"/>
                  <a:gd name="T14" fmla="*/ 1776 w 1776"/>
                  <a:gd name="T15" fmla="*/ 3552 h 35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76" h="3552">
                    <a:moveTo>
                      <a:pt x="1248" y="3552"/>
                    </a:moveTo>
                    <a:lnTo>
                      <a:pt x="0" y="3552"/>
                    </a:lnTo>
                    <a:lnTo>
                      <a:pt x="0" y="0"/>
                    </a:lnTo>
                    <a:lnTo>
                      <a:pt x="1776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25" name="Text Box 42">
                <a:extLst>
                  <a:ext uri="{FF2B5EF4-FFF2-40B4-BE49-F238E27FC236}">
                    <a16:creationId xmlns:a16="http://schemas.microsoft.com/office/drawing/2014/main" id="{3CDA1EDB-26AC-401B-8A30-C03BEFBFCE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52" y="1920"/>
                <a:ext cx="9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未准备就绪</a:t>
                </a:r>
              </a:p>
            </p:txBody>
          </p:sp>
          <p:sp>
            <p:nvSpPr>
              <p:cNvPr id="8226" name="Text Box 43">
                <a:extLst>
                  <a:ext uri="{FF2B5EF4-FFF2-40B4-BE49-F238E27FC236}">
                    <a16:creationId xmlns:a16="http://schemas.microsoft.com/office/drawing/2014/main" id="{ECD8078F-17A7-4D79-A673-307AA8A9B2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0" y="720"/>
                <a:ext cx="75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现行程序</a:t>
                </a:r>
              </a:p>
            </p:txBody>
          </p:sp>
          <p:sp>
            <p:nvSpPr>
              <p:cNvPr id="8227" name="Text Box 44">
                <a:extLst>
                  <a:ext uri="{FF2B5EF4-FFF2-40B4-BE49-F238E27FC236}">
                    <a16:creationId xmlns:a16="http://schemas.microsoft.com/office/drawing/2014/main" id="{875529F1-D80C-4630-8E0D-FA1F134E65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5" y="4100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是</a:t>
                </a:r>
              </a:p>
            </p:txBody>
          </p:sp>
          <p:sp>
            <p:nvSpPr>
              <p:cNvPr id="8228" name="Freeform 45">
                <a:extLst>
                  <a:ext uri="{FF2B5EF4-FFF2-40B4-BE49-F238E27FC236}">
                    <a16:creationId xmlns:a16="http://schemas.microsoft.com/office/drawing/2014/main" id="{D3F14882-D031-46DC-B587-12D20DC9D2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7" y="2171"/>
                <a:ext cx="620" cy="0"/>
              </a:xfrm>
              <a:custGeom>
                <a:avLst/>
                <a:gdLst>
                  <a:gd name="T0" fmla="*/ 0 w 642"/>
                  <a:gd name="T1" fmla="*/ 0 h 1"/>
                  <a:gd name="T2" fmla="*/ 620 w 642"/>
                  <a:gd name="T3" fmla="*/ 0 h 1"/>
                  <a:gd name="T4" fmla="*/ 0 60000 65536"/>
                  <a:gd name="T5" fmla="*/ 0 60000 65536"/>
                  <a:gd name="T6" fmla="*/ 0 w 642"/>
                  <a:gd name="T7" fmla="*/ 0 h 1"/>
                  <a:gd name="T8" fmla="*/ 642 w 642"/>
                  <a:gd name="T9" fmla="*/ 0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42" h="1">
                    <a:moveTo>
                      <a:pt x="0" y="0"/>
                    </a:moveTo>
                    <a:lnTo>
                      <a:pt x="642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29" name="Text Box 46">
                <a:extLst>
                  <a:ext uri="{FF2B5EF4-FFF2-40B4-BE49-F238E27FC236}">
                    <a16:creationId xmlns:a16="http://schemas.microsoft.com/office/drawing/2014/main" id="{6A3F6D7C-B16F-4C68-B625-75707254FA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0" y="1872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出错</a:t>
                </a:r>
              </a:p>
            </p:txBody>
          </p:sp>
          <p:sp>
            <p:nvSpPr>
              <p:cNvPr id="8230" name="Text Box 47">
                <a:extLst>
                  <a:ext uri="{FF2B5EF4-FFF2-40B4-BE49-F238E27FC236}">
                    <a16:creationId xmlns:a16="http://schemas.microsoft.com/office/drawing/2014/main" id="{CBEC2774-E67D-4E0F-923D-F3EFF3B3C1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8" y="2309"/>
                <a:ext cx="9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已准备就绪</a:t>
                </a:r>
              </a:p>
            </p:txBody>
          </p:sp>
        </p:grpSp>
        <p:sp>
          <p:nvSpPr>
            <p:cNvPr id="8203" name="Text Box 48">
              <a:extLst>
                <a:ext uri="{FF2B5EF4-FFF2-40B4-BE49-F238E27FC236}">
                  <a16:creationId xmlns:a16="http://schemas.microsoft.com/office/drawing/2014/main" id="{C61A8E40-C43B-41AF-884E-C7826EC92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686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否</a:t>
              </a:r>
            </a:p>
          </p:txBody>
        </p:sp>
      </p:grpSp>
      <p:sp>
        <p:nvSpPr>
          <p:cNvPr id="8201" name="AutoShape 5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EB865A5-C170-4EC5-9835-C558F56D2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标题 3">
            <a:extLst>
              <a:ext uri="{FF2B5EF4-FFF2-40B4-BE49-F238E27FC236}">
                <a16:creationId xmlns:a16="http://schemas.microsoft.com/office/drawing/2014/main" id="{DC9AD642-FA7C-4806-8DEF-D9BF9BFCD7AD}"/>
              </a:ext>
            </a:extLst>
          </p:cNvPr>
          <p:cNvSpPr txBox="1">
            <a:spLocks/>
          </p:cNvSpPr>
          <p:nvPr/>
        </p:nvSpPr>
        <p:spPr bwMode="auto">
          <a:xfrm>
            <a:off x="0" y="-8059"/>
            <a:ext cx="8964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7. 1. 4 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主机与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I / O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设备间信息传送的控制方式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utoUpdateAnimBg="0"/>
      <p:bldP spid="9220" grpId="0" autoUpdateAnimBg="0"/>
      <p:bldP spid="922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5AACF314-3548-42E6-8068-24F616894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5450"/>
            <a:ext cx="3394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程序中断方式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D9DF1F2B-1433-4A45-88B7-F613A50CA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684338"/>
            <a:ext cx="2057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工作</a:t>
            </a: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AC7CA52B-02AD-4E6E-AFE7-4576E6448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393825"/>
            <a:ext cx="2682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不查询</a:t>
            </a: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B85A2A41-51A1-482B-9F58-9BDB035E6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079625"/>
            <a:ext cx="3825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暂停现行程序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4F6A66EF-1FCF-49D7-BE69-F2EB31BDA3D7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1371600"/>
            <a:ext cx="3292475" cy="1227138"/>
            <a:chOff x="1872" y="864"/>
            <a:chExt cx="2074" cy="773"/>
          </a:xfrm>
        </p:grpSpPr>
        <p:sp>
          <p:nvSpPr>
            <p:cNvPr id="9255" name="Text Box 7">
              <a:extLst>
                <a:ext uri="{FF2B5EF4-FFF2-40B4-BE49-F238E27FC236}">
                  <a16:creationId xmlns:a16="http://schemas.microsoft.com/office/drawing/2014/main" id="{20C817A3-7D21-474B-A596-A74AF4600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864"/>
              <a:ext cx="12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自身准备</a:t>
              </a:r>
            </a:p>
          </p:txBody>
        </p:sp>
        <p:sp>
          <p:nvSpPr>
            <p:cNvPr id="9256" name="Text Box 8">
              <a:extLst>
                <a:ext uri="{FF2B5EF4-FFF2-40B4-BE49-F238E27FC236}">
                  <a16:creationId xmlns:a16="http://schemas.microsoft.com/office/drawing/2014/main" id="{F9811E09-C58B-4F6F-BB78-0E3742818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310"/>
              <a:ext cx="20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与主机交换信息</a:t>
              </a:r>
            </a:p>
          </p:txBody>
        </p:sp>
      </p:grpSp>
      <p:sp>
        <p:nvSpPr>
          <p:cNvPr id="10249" name="AutoShape 9">
            <a:extLst>
              <a:ext uri="{FF2B5EF4-FFF2-40B4-BE49-F238E27FC236}">
                <a16:creationId xmlns:a16="http://schemas.microsoft.com/office/drawing/2014/main" id="{1FAB7AFC-D3AF-489B-83D4-EB0D6B19D0AB}"/>
              </a:ext>
            </a:extLst>
          </p:cNvPr>
          <p:cNvSpPr>
            <a:spLocks/>
          </p:cNvSpPr>
          <p:nvPr/>
        </p:nvSpPr>
        <p:spPr bwMode="auto">
          <a:xfrm>
            <a:off x="2819400" y="1600200"/>
            <a:ext cx="152400" cy="838200"/>
          </a:xfrm>
          <a:prstGeom prst="leftBrace">
            <a:avLst>
              <a:gd name="adj1" fmla="val 45833"/>
              <a:gd name="adj2" fmla="val 4791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50" name="Text Box 10">
            <a:extLst>
              <a:ext uri="{FF2B5EF4-FFF2-40B4-BE49-F238E27FC236}">
                <a16:creationId xmlns:a16="http://schemas.microsoft.com/office/drawing/2014/main" id="{3AB85790-841D-4997-AE49-52D170839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925" y="2693988"/>
            <a:ext cx="39512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并行工作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03603CDE-E13A-4D3E-97F8-9AF020D7D562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276600"/>
            <a:ext cx="4038600" cy="3048000"/>
            <a:chOff x="576" y="2064"/>
            <a:chExt cx="2544" cy="1920"/>
          </a:xfrm>
        </p:grpSpPr>
        <p:sp>
          <p:nvSpPr>
            <p:cNvPr id="9231" name="Rectangle 12">
              <a:extLst>
                <a:ext uri="{FF2B5EF4-FFF2-40B4-BE49-F238E27FC236}">
                  <a16:creationId xmlns:a16="http://schemas.microsoft.com/office/drawing/2014/main" id="{F4012BF6-B335-450A-9D68-46ED1504A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462"/>
              <a:ext cx="912" cy="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   </a:t>
              </a:r>
            </a:p>
          </p:txBody>
        </p:sp>
        <p:sp>
          <p:nvSpPr>
            <p:cNvPr id="9232" name="Rectangle 13">
              <a:extLst>
                <a:ext uri="{FF2B5EF4-FFF2-40B4-BE49-F238E27FC236}">
                  <a16:creationId xmlns:a16="http://schemas.microsoft.com/office/drawing/2014/main" id="{B97A7E79-B222-4F20-A276-96B33EFF4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231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33" name="Rectangle 14">
              <a:extLst>
                <a:ext uri="{FF2B5EF4-FFF2-40B4-BE49-F238E27FC236}">
                  <a16:creationId xmlns:a16="http://schemas.microsoft.com/office/drawing/2014/main" id="{3F325F52-9ED4-44D2-A149-715D292EB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999"/>
              <a:ext cx="912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34" name="Rectangle 15">
              <a:extLst>
                <a:ext uri="{FF2B5EF4-FFF2-40B4-BE49-F238E27FC236}">
                  <a16:creationId xmlns:a16="http://schemas.microsoft.com/office/drawing/2014/main" id="{82450224-1C10-4AEA-BAE5-9B3B4B803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767"/>
              <a:ext cx="912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35" name="Rectangle 16">
              <a:extLst>
                <a:ext uri="{FF2B5EF4-FFF2-40B4-BE49-F238E27FC236}">
                  <a16:creationId xmlns:a16="http://schemas.microsoft.com/office/drawing/2014/main" id="{9FB82B0A-1690-415A-A4C3-52342A696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" y="2529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b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启动 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I/O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设备</a:t>
              </a:r>
            </a:p>
          </p:txBody>
        </p:sp>
        <p:sp>
          <p:nvSpPr>
            <p:cNvPr id="9236" name="Rectangle 17">
              <a:extLst>
                <a:ext uri="{FF2B5EF4-FFF2-40B4-BE49-F238E27FC236}">
                  <a16:creationId xmlns:a16="http://schemas.microsoft.com/office/drawing/2014/main" id="{2F0506AB-9ED9-4A15-8A0A-CEB6D792B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216"/>
              <a:ext cx="912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现行程序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    </a:t>
              </a:r>
            </a:p>
          </p:txBody>
        </p:sp>
        <p:sp>
          <p:nvSpPr>
            <p:cNvPr id="9237" name="Line 18">
              <a:extLst>
                <a:ext uri="{FF2B5EF4-FFF2-40B4-BE49-F238E27FC236}">
                  <a16:creationId xmlns:a16="http://schemas.microsoft.com/office/drawing/2014/main" id="{719D3311-4BDD-40B2-852F-4FAD30FAE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064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 anchorCtr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38" name="Line 19">
              <a:extLst>
                <a:ext uri="{FF2B5EF4-FFF2-40B4-BE49-F238E27FC236}">
                  <a16:creationId xmlns:a16="http://schemas.microsoft.com/office/drawing/2014/main" id="{7E78BCCF-D094-439C-9906-1F0C1BEBD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536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 anchorCtr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39" name="Line 20">
              <a:extLst>
                <a:ext uri="{FF2B5EF4-FFF2-40B4-BE49-F238E27FC236}">
                  <a16:creationId xmlns:a16="http://schemas.microsoft.com/office/drawing/2014/main" id="{CB2D875C-22C7-4473-AC00-32E60B33E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767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 anchorCtr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40" name="Line 21">
              <a:extLst>
                <a:ext uri="{FF2B5EF4-FFF2-40B4-BE49-F238E27FC236}">
                  <a16:creationId xmlns:a16="http://schemas.microsoft.com/office/drawing/2014/main" id="{0F78EF71-EC80-40DA-BD94-892A83691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999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 anchorCtr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41" name="Line 22">
              <a:extLst>
                <a:ext uri="{FF2B5EF4-FFF2-40B4-BE49-F238E27FC236}">
                  <a16:creationId xmlns:a16="http://schemas.microsoft.com/office/drawing/2014/main" id="{AB1418AB-124D-45F3-8F29-4FD1BFD8C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31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 anchorCtr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42" name="Line 23">
              <a:extLst>
                <a:ext uri="{FF2B5EF4-FFF2-40B4-BE49-F238E27FC236}">
                  <a16:creationId xmlns:a16="http://schemas.microsoft.com/office/drawing/2014/main" id="{E3A633C1-6DD4-498C-B4F8-AE981864D7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462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 anchorCtr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43" name="Line 24">
              <a:extLst>
                <a:ext uri="{FF2B5EF4-FFF2-40B4-BE49-F238E27FC236}">
                  <a16:creationId xmlns:a16="http://schemas.microsoft.com/office/drawing/2014/main" id="{0287AAE1-A6C6-43AD-8FAB-2A1662089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972"/>
              <a:ext cx="91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 anchorCtr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44" name="Freeform 25">
              <a:extLst>
                <a:ext uri="{FF2B5EF4-FFF2-40B4-BE49-F238E27FC236}">
                  <a16:creationId xmlns:a16="http://schemas.microsoft.com/office/drawing/2014/main" id="{204C478B-C7FE-4794-94F3-66ED2BA5F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2067"/>
              <a:ext cx="1" cy="1905"/>
            </a:xfrm>
            <a:custGeom>
              <a:avLst/>
              <a:gdLst>
                <a:gd name="T0" fmla="*/ 0 w 1"/>
                <a:gd name="T1" fmla="*/ 0 h 1905"/>
                <a:gd name="T2" fmla="*/ 1 w 1"/>
                <a:gd name="T3" fmla="*/ 1905 h 1905"/>
                <a:gd name="T4" fmla="*/ 0 60000 65536"/>
                <a:gd name="T5" fmla="*/ 0 60000 65536"/>
                <a:gd name="T6" fmla="*/ 0 w 1"/>
                <a:gd name="T7" fmla="*/ 0 h 1905"/>
                <a:gd name="T8" fmla="*/ 1 w 1"/>
                <a:gd name="T9" fmla="*/ 1905 h 190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05">
                  <a:moveTo>
                    <a:pt x="0" y="0"/>
                  </a:moveTo>
                  <a:lnTo>
                    <a:pt x="1" y="1905"/>
                  </a:lnTo>
                </a:path>
              </a:pathLst>
            </a:cu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0" b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45" name="Freeform 26">
              <a:extLst>
                <a:ext uri="{FF2B5EF4-FFF2-40B4-BE49-F238E27FC236}">
                  <a16:creationId xmlns:a16="http://schemas.microsoft.com/office/drawing/2014/main" id="{954A1807-82C2-4648-B81F-4A71E8BA1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5" y="2067"/>
              <a:ext cx="4" cy="1905"/>
            </a:xfrm>
            <a:custGeom>
              <a:avLst/>
              <a:gdLst>
                <a:gd name="T0" fmla="*/ 0 w 4"/>
                <a:gd name="T1" fmla="*/ 0 h 1905"/>
                <a:gd name="T2" fmla="*/ 4 w 4"/>
                <a:gd name="T3" fmla="*/ 1905 h 1905"/>
                <a:gd name="T4" fmla="*/ 0 60000 65536"/>
                <a:gd name="T5" fmla="*/ 0 60000 65536"/>
                <a:gd name="T6" fmla="*/ 0 w 4"/>
                <a:gd name="T7" fmla="*/ 0 h 1905"/>
                <a:gd name="T8" fmla="*/ 4 w 4"/>
                <a:gd name="T9" fmla="*/ 1905 h 190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" h="1905">
                  <a:moveTo>
                    <a:pt x="0" y="0"/>
                  </a:moveTo>
                  <a:lnTo>
                    <a:pt x="4" y="1905"/>
                  </a:lnTo>
                </a:path>
              </a:pathLst>
            </a:cu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0" b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46" name="Text Box 27">
              <a:extLst>
                <a:ext uri="{FF2B5EF4-FFF2-40B4-BE49-F238E27FC236}">
                  <a16:creationId xmlns:a16="http://schemas.microsoft.com/office/drawing/2014/main" id="{CDABE291-6D5F-4C65-BB76-FBE06D19EF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9" y="2768"/>
              <a:ext cx="3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9247" name="Text Box 28">
              <a:extLst>
                <a:ext uri="{FF2B5EF4-FFF2-40B4-BE49-F238E27FC236}">
                  <a16:creationId xmlns:a16="http://schemas.microsoft.com/office/drawing/2014/main" id="{76D13FDD-4410-43B5-8865-14899A9A9C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9" y="3602"/>
              <a:ext cx="3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9248" name="Text Box 29">
              <a:extLst>
                <a:ext uri="{FF2B5EF4-FFF2-40B4-BE49-F238E27FC236}">
                  <a16:creationId xmlns:a16="http://schemas.microsoft.com/office/drawing/2014/main" id="{7CE078CC-80BF-438E-89DF-2BB45E95E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3" y="2624"/>
              <a:ext cx="308" cy="1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中断服务程序</a:t>
              </a:r>
            </a:p>
          </p:txBody>
        </p:sp>
        <p:sp>
          <p:nvSpPr>
            <p:cNvPr id="9249" name="Rectangle 30">
              <a:extLst>
                <a:ext uri="{FF2B5EF4-FFF2-40B4-BE49-F238E27FC236}">
                  <a16:creationId xmlns:a16="http://schemas.microsoft.com/office/drawing/2014/main" id="{B98D4BE3-8F1F-424A-80E2-3B6BF1709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304"/>
              <a:ext cx="720" cy="16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50" name="Text Box 31">
              <a:extLst>
                <a:ext uri="{FF2B5EF4-FFF2-40B4-BE49-F238E27FC236}">
                  <a16:creationId xmlns:a16="http://schemas.microsoft.com/office/drawing/2014/main" id="{4A0011BB-E3B1-4A9E-84A6-AF370D2D9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" y="2976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</a:p>
          </p:txBody>
        </p:sp>
        <p:sp>
          <p:nvSpPr>
            <p:cNvPr id="9251" name="Text Box 32">
              <a:extLst>
                <a:ext uri="{FF2B5EF4-FFF2-40B4-BE49-F238E27FC236}">
                  <a16:creationId xmlns:a16="http://schemas.microsoft.com/office/drawing/2014/main" id="{A76307FD-3F90-4F53-8E40-735E9F2C5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216"/>
              <a:ext cx="3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+1</a:t>
              </a:r>
            </a:p>
          </p:txBody>
        </p:sp>
        <p:sp>
          <p:nvSpPr>
            <p:cNvPr id="9252" name="Line 33">
              <a:extLst>
                <a:ext uri="{FF2B5EF4-FFF2-40B4-BE49-F238E27FC236}">
                  <a16:creationId xmlns:a16="http://schemas.microsoft.com/office/drawing/2014/main" id="{A2DAB499-287D-43B3-B2B8-10E14B0638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304"/>
              <a:ext cx="432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53" name="Line 34">
              <a:extLst>
                <a:ext uri="{FF2B5EF4-FFF2-40B4-BE49-F238E27FC236}">
                  <a16:creationId xmlns:a16="http://schemas.microsoft.com/office/drawing/2014/main" id="{42EB2AB8-DD60-43F4-B345-AF7D06FED0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68" y="3360"/>
              <a:ext cx="432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54" name="Text Box 35">
              <a:extLst>
                <a:ext uri="{FF2B5EF4-FFF2-40B4-BE49-F238E27FC236}">
                  <a16:creationId xmlns:a16="http://schemas.microsoft.com/office/drawing/2014/main" id="{6D4BF3DC-57D0-42EF-AF19-2D38187B1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9" y="2278"/>
              <a:ext cx="3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</p:grpSp>
      <p:grpSp>
        <p:nvGrpSpPr>
          <p:cNvPr id="4" name="Group 36">
            <a:extLst>
              <a:ext uri="{FF2B5EF4-FFF2-40B4-BE49-F238E27FC236}">
                <a16:creationId xmlns:a16="http://schemas.microsoft.com/office/drawing/2014/main" id="{558299B6-BA65-4BCB-A363-65A44570C04A}"/>
              </a:ext>
            </a:extLst>
          </p:cNvPr>
          <p:cNvGrpSpPr>
            <a:grpSpLocks/>
          </p:cNvGrpSpPr>
          <p:nvPr/>
        </p:nvGrpSpPr>
        <p:grpSpPr bwMode="auto">
          <a:xfrm>
            <a:off x="5470525" y="4311650"/>
            <a:ext cx="3041650" cy="1236663"/>
            <a:chOff x="3638" y="2716"/>
            <a:chExt cx="1916" cy="779"/>
          </a:xfrm>
        </p:grpSpPr>
        <p:sp>
          <p:nvSpPr>
            <p:cNvPr id="9229" name="Text Box 37">
              <a:extLst>
                <a:ext uri="{FF2B5EF4-FFF2-40B4-BE49-F238E27FC236}">
                  <a16:creationId xmlns:a16="http://schemas.microsoft.com/office/drawing/2014/main" id="{067C0E9B-A8DB-4210-8761-40BEFD0AF4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2716"/>
              <a:ext cx="19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没有踏步等待现象</a:t>
              </a:r>
            </a:p>
          </p:txBody>
        </p:sp>
        <p:sp>
          <p:nvSpPr>
            <p:cNvPr id="9230" name="Text Box 38">
              <a:extLst>
                <a:ext uri="{FF2B5EF4-FFF2-40B4-BE49-F238E27FC236}">
                  <a16:creationId xmlns:a16="http://schemas.microsoft.com/office/drawing/2014/main" id="{7B966CD8-1810-4481-9097-E52F30750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3168"/>
              <a:ext cx="1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中断现行程序</a:t>
              </a: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228" name="AutoShape 4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E48F715-AF7A-40B8-832F-37AC3B8E1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utoUpdateAnimBg="0"/>
      <p:bldP spid="10244" grpId="0" autoUpdateAnimBg="0"/>
      <p:bldP spid="10245" grpId="0" autoUpdateAnimBg="0"/>
      <p:bldP spid="10249" grpId="0" animBg="1"/>
      <p:bldP spid="1025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FBCB8B21-CE36-4473-BB3B-45A8782BB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44475"/>
            <a:ext cx="3854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程序中断方式流程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4F63EF4-2B0F-4712-AF9F-AFC46779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0" y="1371600"/>
            <a:ext cx="2759075" cy="4254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向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发读指令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47A8217B-9713-40E0-9706-C5E5C7CC1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2854325"/>
            <a:ext cx="2058987" cy="4254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读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状态</a:t>
            </a:r>
          </a:p>
        </p:txBody>
      </p:sp>
      <p:sp>
        <p:nvSpPr>
          <p:cNvPr id="11269" name="AutoShape 5">
            <a:extLst>
              <a:ext uri="{FF2B5EF4-FFF2-40B4-BE49-F238E27FC236}">
                <a16:creationId xmlns:a16="http://schemas.microsoft.com/office/drawing/2014/main" id="{90CADF0E-A0BB-4193-ACB3-77E213953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3522663"/>
            <a:ext cx="2257425" cy="730250"/>
          </a:xfrm>
          <a:prstGeom prst="diamond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检查状态</a:t>
            </a:r>
          </a:p>
        </p:txBody>
      </p:sp>
      <p:sp>
        <p:nvSpPr>
          <p:cNvPr id="11270" name="AutoShape 6">
            <a:extLst>
              <a:ext uri="{FF2B5EF4-FFF2-40B4-BE49-F238E27FC236}">
                <a16:creationId xmlns:a16="http://schemas.microsoft.com/office/drawing/2014/main" id="{A23873ED-FE84-4C47-8B08-9657178CF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363" y="5846763"/>
            <a:ext cx="2257425" cy="730250"/>
          </a:xfrm>
          <a:prstGeom prst="diamond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完成否？</a:t>
            </a:r>
          </a:p>
        </p:txBody>
      </p:sp>
      <p:sp>
        <p:nvSpPr>
          <p:cNvPr id="11271" name="Freeform 7">
            <a:extLst>
              <a:ext uri="{FF2B5EF4-FFF2-40B4-BE49-F238E27FC236}">
                <a16:creationId xmlns:a16="http://schemas.microsoft.com/office/drawing/2014/main" id="{7B860EB0-D527-4E1A-BA4C-F8FDD15614F5}"/>
              </a:ext>
            </a:extLst>
          </p:cNvPr>
          <p:cNvSpPr>
            <a:spLocks/>
          </p:cNvSpPr>
          <p:nvPr/>
        </p:nvSpPr>
        <p:spPr bwMode="auto">
          <a:xfrm>
            <a:off x="2855913" y="3281363"/>
            <a:ext cx="1587" cy="255587"/>
          </a:xfrm>
          <a:custGeom>
            <a:avLst/>
            <a:gdLst>
              <a:gd name="T0" fmla="*/ 1587 w 1"/>
              <a:gd name="T1" fmla="*/ 0 h 161"/>
              <a:gd name="T2" fmla="*/ 0 w 1"/>
              <a:gd name="T3" fmla="*/ 255587 h 161"/>
              <a:gd name="T4" fmla="*/ 0 60000 65536"/>
              <a:gd name="T5" fmla="*/ 0 60000 65536"/>
              <a:gd name="T6" fmla="*/ 0 w 1"/>
              <a:gd name="T7" fmla="*/ 0 h 161"/>
              <a:gd name="T8" fmla="*/ 1 w 1"/>
              <a:gd name="T9" fmla="*/ 161 h 16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61">
                <a:moveTo>
                  <a:pt x="1" y="0"/>
                </a:moveTo>
                <a:lnTo>
                  <a:pt x="0" y="161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72" name="Freeform 8">
            <a:extLst>
              <a:ext uri="{FF2B5EF4-FFF2-40B4-BE49-F238E27FC236}">
                <a16:creationId xmlns:a16="http://schemas.microsoft.com/office/drawing/2014/main" id="{2E9C2472-287B-408B-BB97-5B216086DC81}"/>
              </a:ext>
            </a:extLst>
          </p:cNvPr>
          <p:cNvSpPr>
            <a:spLocks/>
          </p:cNvSpPr>
          <p:nvPr/>
        </p:nvSpPr>
        <p:spPr bwMode="auto">
          <a:xfrm>
            <a:off x="2879725" y="4924425"/>
            <a:ext cx="1588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257175 h 162"/>
              <a:gd name="T4" fmla="*/ 0 60000 65536"/>
              <a:gd name="T5" fmla="*/ 0 60000 65536"/>
              <a:gd name="T6" fmla="*/ 0 w 1"/>
              <a:gd name="T7" fmla="*/ 0 h 162"/>
              <a:gd name="T8" fmla="*/ 1 w 1"/>
              <a:gd name="T9" fmla="*/ 162 h 16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62">
                <a:moveTo>
                  <a:pt x="0" y="0"/>
                </a:moveTo>
                <a:lnTo>
                  <a:pt x="0" y="16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73" name="Freeform 9">
            <a:extLst>
              <a:ext uri="{FF2B5EF4-FFF2-40B4-BE49-F238E27FC236}">
                <a16:creationId xmlns:a16="http://schemas.microsoft.com/office/drawing/2014/main" id="{EE943692-3036-412F-8BDC-368D32905EBB}"/>
              </a:ext>
            </a:extLst>
          </p:cNvPr>
          <p:cNvSpPr>
            <a:spLocks/>
          </p:cNvSpPr>
          <p:nvPr/>
        </p:nvSpPr>
        <p:spPr bwMode="auto">
          <a:xfrm>
            <a:off x="2879725" y="5589588"/>
            <a:ext cx="4763" cy="271462"/>
          </a:xfrm>
          <a:custGeom>
            <a:avLst/>
            <a:gdLst>
              <a:gd name="T0" fmla="*/ 4763 w 3"/>
              <a:gd name="T1" fmla="*/ 0 h 171"/>
              <a:gd name="T2" fmla="*/ 0 w 3"/>
              <a:gd name="T3" fmla="*/ 271462 h 171"/>
              <a:gd name="T4" fmla="*/ 0 60000 65536"/>
              <a:gd name="T5" fmla="*/ 0 60000 65536"/>
              <a:gd name="T6" fmla="*/ 0 w 3"/>
              <a:gd name="T7" fmla="*/ 0 h 171"/>
              <a:gd name="T8" fmla="*/ 3 w 3"/>
              <a:gd name="T9" fmla="*/ 171 h 17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171">
                <a:moveTo>
                  <a:pt x="3" y="0"/>
                </a:moveTo>
                <a:lnTo>
                  <a:pt x="0" y="171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74" name="Freeform 10">
            <a:extLst>
              <a:ext uri="{FF2B5EF4-FFF2-40B4-BE49-F238E27FC236}">
                <a16:creationId xmlns:a16="http://schemas.microsoft.com/office/drawing/2014/main" id="{6D0C9760-483B-4E6E-B438-96EAA5D549B1}"/>
              </a:ext>
            </a:extLst>
          </p:cNvPr>
          <p:cNvSpPr>
            <a:spLocks/>
          </p:cNvSpPr>
          <p:nvPr/>
        </p:nvSpPr>
        <p:spPr bwMode="auto">
          <a:xfrm>
            <a:off x="2832100" y="990600"/>
            <a:ext cx="76200" cy="381000"/>
          </a:xfrm>
          <a:custGeom>
            <a:avLst/>
            <a:gdLst>
              <a:gd name="T0" fmla="*/ 0 w 1"/>
              <a:gd name="T1" fmla="*/ 0 h 177"/>
              <a:gd name="T2" fmla="*/ 0 w 1"/>
              <a:gd name="T3" fmla="*/ 381000 h 177"/>
              <a:gd name="T4" fmla="*/ 0 60000 65536"/>
              <a:gd name="T5" fmla="*/ 0 60000 65536"/>
              <a:gd name="T6" fmla="*/ 0 w 1"/>
              <a:gd name="T7" fmla="*/ 0 h 177"/>
              <a:gd name="T8" fmla="*/ 1 w 1"/>
              <a:gd name="T9" fmla="*/ 177 h 17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77">
                <a:moveTo>
                  <a:pt x="0" y="0"/>
                </a:moveTo>
                <a:lnTo>
                  <a:pt x="0" y="177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CBC28283-271B-42C1-A0BF-01621ED18A80}"/>
              </a:ext>
            </a:extLst>
          </p:cNvPr>
          <p:cNvGrpSpPr>
            <a:grpSpLocks/>
          </p:cNvGrpSpPr>
          <p:nvPr/>
        </p:nvGrpSpPr>
        <p:grpSpPr bwMode="auto">
          <a:xfrm>
            <a:off x="1762125" y="1828800"/>
            <a:ext cx="6543675" cy="641350"/>
            <a:chOff x="1110" y="1152"/>
            <a:chExt cx="4122" cy="404"/>
          </a:xfrm>
        </p:grpSpPr>
        <p:sp>
          <p:nvSpPr>
            <p:cNvPr id="10289" name="Rectangle 12">
              <a:extLst>
                <a:ext uri="{FF2B5EF4-FFF2-40B4-BE49-F238E27FC236}">
                  <a16:creationId xmlns:a16="http://schemas.microsoft.com/office/drawing/2014/main" id="{7083B51C-5ADF-4E60-ADE3-F9F97F2C8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" y="1288"/>
              <a:ext cx="1304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CPU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做其他事情</a:t>
              </a:r>
            </a:p>
          </p:txBody>
        </p:sp>
        <p:sp>
          <p:nvSpPr>
            <p:cNvPr id="10290" name="Rectangle 13">
              <a:extLst>
                <a:ext uri="{FF2B5EF4-FFF2-40B4-BE49-F238E27FC236}">
                  <a16:creationId xmlns:a16="http://schemas.microsoft.com/office/drawing/2014/main" id="{EFAED0C9-D3BC-4630-885D-0793CBC86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1152"/>
              <a:ext cx="1048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设备工作</a:t>
              </a:r>
            </a:p>
          </p:txBody>
        </p:sp>
      </p:grpSp>
      <p:sp>
        <p:nvSpPr>
          <p:cNvPr id="11278" name="Rectangle 14">
            <a:extLst>
              <a:ext uri="{FF2B5EF4-FFF2-40B4-BE49-F238E27FC236}">
                <a16:creationId xmlns:a16="http://schemas.microsoft.com/office/drawing/2014/main" id="{5D76C41E-9A42-460B-BB05-112FE7D20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925" y="2409825"/>
            <a:ext cx="1235075" cy="4254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准备就绪</a:t>
            </a:r>
          </a:p>
        </p:txBody>
      </p:sp>
      <p:sp>
        <p:nvSpPr>
          <p:cNvPr id="11279" name="Line 15">
            <a:extLst>
              <a:ext uri="{FF2B5EF4-FFF2-40B4-BE49-F238E27FC236}">
                <a16:creationId xmlns:a16="http://schemas.microsoft.com/office/drawing/2014/main" id="{282A3C3A-6974-4413-95B6-499F32E814A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2200" y="2235200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DC44A7D1-3763-4479-B7EB-6C39BC1175FD}"/>
              </a:ext>
            </a:extLst>
          </p:cNvPr>
          <p:cNvGrpSpPr>
            <a:grpSpLocks/>
          </p:cNvGrpSpPr>
          <p:nvPr/>
        </p:nvGrpSpPr>
        <p:grpSpPr bwMode="auto">
          <a:xfrm>
            <a:off x="2828925" y="1431925"/>
            <a:ext cx="4041775" cy="625475"/>
            <a:chOff x="1782" y="902"/>
            <a:chExt cx="2546" cy="394"/>
          </a:xfrm>
        </p:grpSpPr>
        <p:sp>
          <p:nvSpPr>
            <p:cNvPr id="10285" name="Freeform 17">
              <a:extLst>
                <a:ext uri="{FF2B5EF4-FFF2-40B4-BE49-F238E27FC236}">
                  <a16:creationId xmlns:a16="http://schemas.microsoft.com/office/drawing/2014/main" id="{23E2B9EE-7526-4C4C-9E4D-3617C2C5D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" y="1128"/>
              <a:ext cx="1" cy="168"/>
            </a:xfrm>
            <a:custGeom>
              <a:avLst/>
              <a:gdLst>
                <a:gd name="T0" fmla="*/ 0 w 1"/>
                <a:gd name="T1" fmla="*/ 0 h 168"/>
                <a:gd name="T2" fmla="*/ 0 w 1"/>
                <a:gd name="T3" fmla="*/ 168 h 168"/>
                <a:gd name="T4" fmla="*/ 0 60000 65536"/>
                <a:gd name="T5" fmla="*/ 0 60000 65536"/>
                <a:gd name="T6" fmla="*/ 0 w 1"/>
                <a:gd name="T7" fmla="*/ 0 h 168"/>
                <a:gd name="T8" fmla="*/ 1 w 1"/>
                <a:gd name="T9" fmla="*/ 168 h 1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68">
                  <a:moveTo>
                    <a:pt x="0" y="0"/>
                  </a:moveTo>
                  <a:lnTo>
                    <a:pt x="0" y="16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86" name="Line 18">
              <a:extLst>
                <a:ext uri="{FF2B5EF4-FFF2-40B4-BE49-F238E27FC236}">
                  <a16:creationId xmlns:a16="http://schemas.microsoft.com/office/drawing/2014/main" id="{9A0BB962-AD23-482F-8F53-A85BA05315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1008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87" name="Text Box 19">
              <a:extLst>
                <a:ext uri="{FF2B5EF4-FFF2-40B4-BE49-F238E27FC236}">
                  <a16:creationId xmlns:a16="http://schemas.microsoft.com/office/drawing/2014/main" id="{82EAFD7A-9684-4171-A543-9493B05871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6" y="902"/>
              <a:ext cx="11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CPU       I/O</a:t>
              </a:r>
            </a:p>
          </p:txBody>
        </p:sp>
        <p:sp>
          <p:nvSpPr>
            <p:cNvPr id="10288" name="Line 20">
              <a:extLst>
                <a:ext uri="{FF2B5EF4-FFF2-40B4-BE49-F238E27FC236}">
                  <a16:creationId xmlns:a16="http://schemas.microsoft.com/office/drawing/2014/main" id="{55218561-BD51-49E6-AB57-2D53666BE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0" y="100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Group 21">
            <a:extLst>
              <a:ext uri="{FF2B5EF4-FFF2-40B4-BE49-F238E27FC236}">
                <a16:creationId xmlns:a16="http://schemas.microsoft.com/office/drawing/2014/main" id="{B90F9AAC-696A-45EC-978A-4857CD730A9D}"/>
              </a:ext>
            </a:extLst>
          </p:cNvPr>
          <p:cNvGrpSpPr>
            <a:grpSpLocks/>
          </p:cNvGrpSpPr>
          <p:nvPr/>
        </p:nvGrpSpPr>
        <p:grpSpPr bwMode="auto">
          <a:xfrm>
            <a:off x="1377950" y="5165725"/>
            <a:ext cx="5873750" cy="438150"/>
            <a:chOff x="868" y="3254"/>
            <a:chExt cx="3700" cy="276"/>
          </a:xfrm>
        </p:grpSpPr>
        <p:sp>
          <p:nvSpPr>
            <p:cNvPr id="10281" name="Rectangle 22">
              <a:extLst>
                <a:ext uri="{FF2B5EF4-FFF2-40B4-BE49-F238E27FC236}">
                  <a16:creationId xmlns:a16="http://schemas.microsoft.com/office/drawing/2014/main" id="{CCAE3B3D-B672-480A-9924-835C6F204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" y="3262"/>
              <a:ext cx="1993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从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CPU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向主存写入一个字</a:t>
              </a:r>
            </a:p>
          </p:txBody>
        </p:sp>
        <p:grpSp>
          <p:nvGrpSpPr>
            <p:cNvPr id="10282" name="Group 23">
              <a:extLst>
                <a:ext uri="{FF2B5EF4-FFF2-40B4-BE49-F238E27FC236}">
                  <a16:creationId xmlns:a16="http://schemas.microsoft.com/office/drawing/2014/main" id="{C79D8955-E0C2-4833-AFE9-F02666904B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6" y="3254"/>
              <a:ext cx="1342" cy="250"/>
              <a:chOff x="3226" y="3254"/>
              <a:chExt cx="1342" cy="250"/>
            </a:xfrm>
          </p:grpSpPr>
          <p:sp>
            <p:nvSpPr>
              <p:cNvPr id="10283" name="Text Box 24">
                <a:extLst>
                  <a:ext uri="{FF2B5EF4-FFF2-40B4-BE49-F238E27FC236}">
                    <a16:creationId xmlns:a16="http://schemas.microsoft.com/office/drawing/2014/main" id="{4BF5F9DD-6E99-44E5-B068-B50C6247B7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6" y="3254"/>
                <a:ext cx="134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CPU       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主存</a:t>
                </a:r>
              </a:p>
            </p:txBody>
          </p:sp>
          <p:sp>
            <p:nvSpPr>
              <p:cNvPr id="10284" name="Line 25">
                <a:extLst>
                  <a:ext uri="{FF2B5EF4-FFF2-40B4-BE49-F238E27FC236}">
                    <a16:creationId xmlns:a16="http://schemas.microsoft.com/office/drawing/2014/main" id="{8ED99BD0-CAF5-4609-A32E-7AC34BC768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6" y="336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6" name="Group 26">
            <a:extLst>
              <a:ext uri="{FF2B5EF4-FFF2-40B4-BE49-F238E27FC236}">
                <a16:creationId xmlns:a16="http://schemas.microsoft.com/office/drawing/2014/main" id="{F49188AC-0C55-4FD7-BC0C-6A65F4EAC872}"/>
              </a:ext>
            </a:extLst>
          </p:cNvPr>
          <p:cNvGrpSpPr>
            <a:grpSpLocks/>
          </p:cNvGrpSpPr>
          <p:nvPr/>
        </p:nvGrpSpPr>
        <p:grpSpPr bwMode="auto">
          <a:xfrm>
            <a:off x="1155700" y="4495800"/>
            <a:ext cx="5483225" cy="434975"/>
            <a:chOff x="728" y="2832"/>
            <a:chExt cx="3454" cy="274"/>
          </a:xfrm>
        </p:grpSpPr>
        <p:sp>
          <p:nvSpPr>
            <p:cNvPr id="10278" name="Rectangle 27">
              <a:extLst>
                <a:ext uri="{FF2B5EF4-FFF2-40B4-BE49-F238E27FC236}">
                  <a16:creationId xmlns:a16="http://schemas.microsoft.com/office/drawing/2014/main" id="{7CA33BAA-4E55-4BA4-B973-74493622D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" y="2838"/>
              <a:ext cx="2223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从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接口中读一个字到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CPU</a:t>
              </a:r>
            </a:p>
          </p:txBody>
        </p:sp>
        <p:sp>
          <p:nvSpPr>
            <p:cNvPr id="10279" name="Text Box 28">
              <a:extLst>
                <a:ext uri="{FF2B5EF4-FFF2-40B4-BE49-F238E27FC236}">
                  <a16:creationId xmlns:a16="http://schemas.microsoft.com/office/drawing/2014/main" id="{9A1B2564-39CB-4D5D-B750-1CDB90288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6" y="2832"/>
              <a:ext cx="9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       CPU</a:t>
              </a:r>
            </a:p>
          </p:txBody>
        </p:sp>
        <p:sp>
          <p:nvSpPr>
            <p:cNvPr id="10280" name="Line 29">
              <a:extLst>
                <a:ext uri="{FF2B5EF4-FFF2-40B4-BE49-F238E27FC236}">
                  <a16:creationId xmlns:a16="http://schemas.microsoft.com/office/drawing/2014/main" id="{86D801E2-BAE0-4594-B57C-4B631E61C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2965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Group 30">
            <a:extLst>
              <a:ext uri="{FF2B5EF4-FFF2-40B4-BE49-F238E27FC236}">
                <a16:creationId xmlns:a16="http://schemas.microsoft.com/office/drawing/2014/main" id="{59C42693-7876-4DB6-9310-83E521796261}"/>
              </a:ext>
            </a:extLst>
          </p:cNvPr>
          <p:cNvGrpSpPr>
            <a:grpSpLocks/>
          </p:cNvGrpSpPr>
          <p:nvPr/>
        </p:nvGrpSpPr>
        <p:grpSpPr bwMode="auto">
          <a:xfrm>
            <a:off x="3822700" y="2651125"/>
            <a:ext cx="3659188" cy="777875"/>
            <a:chOff x="2408" y="1670"/>
            <a:chExt cx="2305" cy="490"/>
          </a:xfrm>
        </p:grpSpPr>
        <p:sp>
          <p:nvSpPr>
            <p:cNvPr id="10272" name="Freeform 31">
              <a:extLst>
                <a:ext uri="{FF2B5EF4-FFF2-40B4-BE49-F238E27FC236}">
                  <a16:creationId xmlns:a16="http://schemas.microsoft.com/office/drawing/2014/main" id="{E5916A2C-1729-48F0-A816-13D16A887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" y="1788"/>
              <a:ext cx="337" cy="132"/>
            </a:xfrm>
            <a:custGeom>
              <a:avLst/>
              <a:gdLst>
                <a:gd name="T0" fmla="*/ 337 w 337"/>
                <a:gd name="T1" fmla="*/ 0 h 132"/>
                <a:gd name="T2" fmla="*/ 336 w 337"/>
                <a:gd name="T3" fmla="*/ 132 h 132"/>
                <a:gd name="T4" fmla="*/ 0 w 337"/>
                <a:gd name="T5" fmla="*/ 132 h 132"/>
                <a:gd name="T6" fmla="*/ 0 60000 65536"/>
                <a:gd name="T7" fmla="*/ 0 60000 65536"/>
                <a:gd name="T8" fmla="*/ 0 60000 65536"/>
                <a:gd name="T9" fmla="*/ 0 w 337"/>
                <a:gd name="T10" fmla="*/ 0 h 132"/>
                <a:gd name="T11" fmla="*/ 337 w 337"/>
                <a:gd name="T12" fmla="*/ 132 h 1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7" h="132">
                  <a:moveTo>
                    <a:pt x="337" y="0"/>
                  </a:moveTo>
                  <a:lnTo>
                    <a:pt x="336" y="132"/>
                  </a:lnTo>
                  <a:lnTo>
                    <a:pt x="0" y="13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273" name="Group 32">
              <a:extLst>
                <a:ext uri="{FF2B5EF4-FFF2-40B4-BE49-F238E27FC236}">
                  <a16:creationId xmlns:a16="http://schemas.microsoft.com/office/drawing/2014/main" id="{0F133CC6-9A68-4CD8-83D1-390C33391F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8" y="1670"/>
              <a:ext cx="2016" cy="490"/>
              <a:chOff x="2408" y="1622"/>
              <a:chExt cx="2016" cy="490"/>
            </a:xfrm>
          </p:grpSpPr>
          <p:sp>
            <p:nvSpPr>
              <p:cNvPr id="10274" name="Text Box 33">
                <a:extLst>
                  <a:ext uri="{FF2B5EF4-FFF2-40B4-BE49-F238E27FC236}">
                    <a16:creationId xmlns:a16="http://schemas.microsoft.com/office/drawing/2014/main" id="{43152986-0EFB-455A-BE85-8FE693D4CF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4" y="1622"/>
                <a:ext cx="7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中断请求</a:t>
                </a:r>
              </a:p>
            </p:txBody>
          </p:sp>
          <p:sp>
            <p:nvSpPr>
              <p:cNvPr id="10275" name="Line 34">
                <a:extLst>
                  <a:ext uri="{FF2B5EF4-FFF2-40B4-BE49-F238E27FC236}">
                    <a16:creationId xmlns:a16="http://schemas.microsoft.com/office/drawing/2014/main" id="{68CA766E-BD91-4DA7-A677-F2E94170BD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08" y="1872"/>
                <a:ext cx="20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276" name="Text Box 35">
                <a:extLst>
                  <a:ext uri="{FF2B5EF4-FFF2-40B4-BE49-F238E27FC236}">
                    <a16:creationId xmlns:a16="http://schemas.microsoft.com/office/drawing/2014/main" id="{1C6D7A55-1596-42D3-B4B8-6B0ADB26F8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6" y="1862"/>
                <a:ext cx="110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I/O       CPU</a:t>
                </a:r>
              </a:p>
            </p:txBody>
          </p:sp>
          <p:sp>
            <p:nvSpPr>
              <p:cNvPr id="10277" name="Line 36">
                <a:extLst>
                  <a:ext uri="{FF2B5EF4-FFF2-40B4-BE49-F238E27FC236}">
                    <a16:creationId xmlns:a16="http://schemas.microsoft.com/office/drawing/2014/main" id="{1752A485-2117-4380-BF0E-87F5C1AE9B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5" y="197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9" name="Group 37">
            <a:extLst>
              <a:ext uri="{FF2B5EF4-FFF2-40B4-BE49-F238E27FC236}">
                <a16:creationId xmlns:a16="http://schemas.microsoft.com/office/drawing/2014/main" id="{DC78738C-E494-405F-9DD8-A013428851B6}"/>
              </a:ext>
            </a:extLst>
          </p:cNvPr>
          <p:cNvGrpSpPr>
            <a:grpSpLocks/>
          </p:cNvGrpSpPr>
          <p:nvPr/>
        </p:nvGrpSpPr>
        <p:grpSpPr bwMode="auto">
          <a:xfrm>
            <a:off x="3898900" y="3413125"/>
            <a:ext cx="749300" cy="473075"/>
            <a:chOff x="2456" y="2150"/>
            <a:chExt cx="472" cy="298"/>
          </a:xfrm>
        </p:grpSpPr>
        <p:sp>
          <p:nvSpPr>
            <p:cNvPr id="10270" name="Line 38">
              <a:extLst>
                <a:ext uri="{FF2B5EF4-FFF2-40B4-BE49-F238E27FC236}">
                  <a16:creationId xmlns:a16="http://schemas.microsoft.com/office/drawing/2014/main" id="{4B2D80E3-6C82-4C28-8EB3-B324B96876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448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71" name="Text Box 39">
              <a:extLst>
                <a:ext uri="{FF2B5EF4-FFF2-40B4-BE49-F238E27FC236}">
                  <a16:creationId xmlns:a16="http://schemas.microsoft.com/office/drawing/2014/main" id="{F86FE37C-F0AB-468B-81C6-4E929526F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6" y="2150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出错</a:t>
              </a:r>
            </a:p>
          </p:txBody>
        </p:sp>
      </p:grpSp>
      <p:grpSp>
        <p:nvGrpSpPr>
          <p:cNvPr id="10" name="Group 40">
            <a:extLst>
              <a:ext uri="{FF2B5EF4-FFF2-40B4-BE49-F238E27FC236}">
                <a16:creationId xmlns:a16="http://schemas.microsoft.com/office/drawing/2014/main" id="{899C6F3B-9989-4543-A38F-35223A25D634}"/>
              </a:ext>
            </a:extLst>
          </p:cNvPr>
          <p:cNvGrpSpPr>
            <a:grpSpLocks/>
          </p:cNvGrpSpPr>
          <p:nvPr/>
        </p:nvGrpSpPr>
        <p:grpSpPr bwMode="auto">
          <a:xfrm>
            <a:off x="2884488" y="6477000"/>
            <a:ext cx="461962" cy="396875"/>
            <a:chOff x="1817" y="4080"/>
            <a:chExt cx="291" cy="250"/>
          </a:xfrm>
        </p:grpSpPr>
        <p:sp>
          <p:nvSpPr>
            <p:cNvPr id="10268" name="Freeform 41">
              <a:extLst>
                <a:ext uri="{FF2B5EF4-FFF2-40B4-BE49-F238E27FC236}">
                  <a16:creationId xmlns:a16="http://schemas.microsoft.com/office/drawing/2014/main" id="{7AA4D067-4C6A-405B-842E-4A59A763A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" y="4137"/>
              <a:ext cx="1" cy="183"/>
            </a:xfrm>
            <a:custGeom>
              <a:avLst/>
              <a:gdLst>
                <a:gd name="T0" fmla="*/ 0 w 1"/>
                <a:gd name="T1" fmla="*/ 0 h 183"/>
                <a:gd name="T2" fmla="*/ 0 w 1"/>
                <a:gd name="T3" fmla="*/ 183 h 183"/>
                <a:gd name="T4" fmla="*/ 0 60000 65536"/>
                <a:gd name="T5" fmla="*/ 0 60000 65536"/>
                <a:gd name="T6" fmla="*/ 0 w 1"/>
                <a:gd name="T7" fmla="*/ 0 h 183"/>
                <a:gd name="T8" fmla="*/ 1 w 1"/>
                <a:gd name="T9" fmla="*/ 183 h 18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3">
                  <a:moveTo>
                    <a:pt x="0" y="0"/>
                  </a:moveTo>
                  <a:lnTo>
                    <a:pt x="0" y="183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69" name="Text Box 42">
              <a:extLst>
                <a:ext uri="{FF2B5EF4-FFF2-40B4-BE49-F238E27FC236}">
                  <a16:creationId xmlns:a16="http://schemas.microsoft.com/office/drawing/2014/main" id="{71798C15-19E2-4EC7-B79F-2C3473EF68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2" y="4080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是</a:t>
              </a:r>
            </a:p>
          </p:txBody>
        </p:sp>
      </p:grpSp>
      <p:grpSp>
        <p:nvGrpSpPr>
          <p:cNvPr id="11" name="Group 43">
            <a:extLst>
              <a:ext uri="{FF2B5EF4-FFF2-40B4-BE49-F238E27FC236}">
                <a16:creationId xmlns:a16="http://schemas.microsoft.com/office/drawing/2014/main" id="{7E255C31-C19E-4D0E-B54A-5664471AC73F}"/>
              </a:ext>
            </a:extLst>
          </p:cNvPr>
          <p:cNvGrpSpPr>
            <a:grpSpLocks/>
          </p:cNvGrpSpPr>
          <p:nvPr/>
        </p:nvGrpSpPr>
        <p:grpSpPr bwMode="auto">
          <a:xfrm>
            <a:off x="850900" y="1143000"/>
            <a:ext cx="1981200" cy="5102225"/>
            <a:chOff x="536" y="720"/>
            <a:chExt cx="1248" cy="3214"/>
          </a:xfrm>
        </p:grpSpPr>
        <p:sp>
          <p:nvSpPr>
            <p:cNvPr id="10266" name="Freeform 44">
              <a:extLst>
                <a:ext uri="{FF2B5EF4-FFF2-40B4-BE49-F238E27FC236}">
                  <a16:creationId xmlns:a16="http://schemas.microsoft.com/office/drawing/2014/main" id="{4DC634F3-48D2-46CE-92F7-F3DEA24AA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" y="720"/>
              <a:ext cx="1248" cy="3206"/>
            </a:xfrm>
            <a:custGeom>
              <a:avLst/>
              <a:gdLst>
                <a:gd name="T0" fmla="*/ 576 w 1248"/>
                <a:gd name="T1" fmla="*/ 3206 h 3120"/>
                <a:gd name="T2" fmla="*/ 0 w 1248"/>
                <a:gd name="T3" fmla="*/ 3206 h 3120"/>
                <a:gd name="T4" fmla="*/ 0 w 1248"/>
                <a:gd name="T5" fmla="*/ 0 h 3120"/>
                <a:gd name="T6" fmla="*/ 1248 w 1248"/>
                <a:gd name="T7" fmla="*/ 0 h 31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8"/>
                <a:gd name="T13" fmla="*/ 0 h 3120"/>
                <a:gd name="T14" fmla="*/ 1248 w 1248"/>
                <a:gd name="T15" fmla="*/ 3120 h 31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8" h="3120">
                  <a:moveTo>
                    <a:pt x="576" y="3120"/>
                  </a:moveTo>
                  <a:lnTo>
                    <a:pt x="0" y="3120"/>
                  </a:lnTo>
                  <a:lnTo>
                    <a:pt x="0" y="0"/>
                  </a:lnTo>
                  <a:lnTo>
                    <a:pt x="1248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67" name="Text Box 45">
              <a:extLst>
                <a:ext uri="{FF2B5EF4-FFF2-40B4-BE49-F238E27FC236}">
                  <a16:creationId xmlns:a16="http://schemas.microsoft.com/office/drawing/2014/main" id="{F105FEF0-5FB0-4E87-AFFB-837EF2160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" y="3684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否</a:t>
              </a:r>
            </a:p>
          </p:txBody>
        </p:sp>
      </p:grpSp>
      <p:grpSp>
        <p:nvGrpSpPr>
          <p:cNvPr id="12" name="Group 46">
            <a:extLst>
              <a:ext uri="{FF2B5EF4-FFF2-40B4-BE49-F238E27FC236}">
                <a16:creationId xmlns:a16="http://schemas.microsoft.com/office/drawing/2014/main" id="{F5F97AF5-B9B9-41FC-97F8-4B8F15C31A5A}"/>
              </a:ext>
            </a:extLst>
          </p:cNvPr>
          <p:cNvGrpSpPr>
            <a:grpSpLocks/>
          </p:cNvGrpSpPr>
          <p:nvPr/>
        </p:nvGrpSpPr>
        <p:grpSpPr bwMode="auto">
          <a:xfrm>
            <a:off x="2865438" y="4114800"/>
            <a:ext cx="1262062" cy="396875"/>
            <a:chOff x="1805" y="2592"/>
            <a:chExt cx="795" cy="250"/>
          </a:xfrm>
        </p:grpSpPr>
        <p:sp>
          <p:nvSpPr>
            <p:cNvPr id="10264" name="Freeform 47">
              <a:extLst>
                <a:ext uri="{FF2B5EF4-FFF2-40B4-BE49-F238E27FC236}">
                  <a16:creationId xmlns:a16="http://schemas.microsoft.com/office/drawing/2014/main" id="{D2773C25-5C8B-4B7B-9CC4-1C9D0BC49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2672"/>
              <a:ext cx="3" cy="162"/>
            </a:xfrm>
            <a:custGeom>
              <a:avLst/>
              <a:gdLst>
                <a:gd name="T0" fmla="*/ 0 w 3"/>
                <a:gd name="T1" fmla="*/ 0 h 162"/>
                <a:gd name="T2" fmla="*/ 3 w 3"/>
                <a:gd name="T3" fmla="*/ 162 h 162"/>
                <a:gd name="T4" fmla="*/ 0 60000 65536"/>
                <a:gd name="T5" fmla="*/ 0 60000 65536"/>
                <a:gd name="T6" fmla="*/ 0 w 3"/>
                <a:gd name="T7" fmla="*/ 0 h 162"/>
                <a:gd name="T8" fmla="*/ 3 w 3"/>
                <a:gd name="T9" fmla="*/ 162 h 16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162">
                  <a:moveTo>
                    <a:pt x="0" y="0"/>
                  </a:moveTo>
                  <a:lnTo>
                    <a:pt x="3" y="16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65" name="Text Box 48">
              <a:extLst>
                <a:ext uri="{FF2B5EF4-FFF2-40B4-BE49-F238E27FC236}">
                  <a16:creationId xmlns:a16="http://schemas.microsoft.com/office/drawing/2014/main" id="{18E1AE34-A538-4141-B97B-5F674B5C4D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0" y="2592"/>
              <a:ext cx="7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未错</a:t>
              </a:r>
            </a:p>
          </p:txBody>
        </p:sp>
      </p:grpSp>
      <p:sp>
        <p:nvSpPr>
          <p:cNvPr id="10263" name="AutoShape 5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E6BAEA6-C848-497A-B6C7-12D4E5970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0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nimBg="1" autoUpdateAnimBg="0"/>
      <p:bldP spid="11268" grpId="0" animBg="1" autoUpdateAnimBg="0"/>
      <p:bldP spid="11269" grpId="0" animBg="1" autoUpdateAnimBg="0"/>
      <p:bldP spid="11270" grpId="0" animBg="1" autoUpdateAnimBg="0"/>
      <p:bldP spid="11271" grpId="0" animBg="1"/>
      <p:bldP spid="11272" grpId="0" animBg="1"/>
      <p:bldP spid="11273" grpId="0" animBg="1"/>
      <p:bldP spid="11274" grpId="0" animBg="1"/>
      <p:bldP spid="11278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E9E685A9-9576-4187-AD0A-9286B47E3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349250"/>
            <a:ext cx="27654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 DMA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方式</a:t>
            </a: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76878C03-2FB4-48B8-B54B-2B24B20D9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1209675"/>
            <a:ext cx="5875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主存和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之间有一条直接数据通道</a:t>
            </a:r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5AAAAA8E-BAFF-405C-AA56-3FE284D73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1893888"/>
            <a:ext cx="2684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不中断现行程序</a:t>
            </a:r>
          </a:p>
        </p:txBody>
      </p:sp>
      <p:sp>
        <p:nvSpPr>
          <p:cNvPr id="12293" name="Text Box 5">
            <a:extLst>
              <a:ext uri="{FF2B5EF4-FFF2-40B4-BE49-F238E27FC236}">
                <a16:creationId xmlns:a16="http://schemas.microsoft.com/office/drawing/2014/main" id="{768B439F-FBF2-4232-830A-0CD2FCFF9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2573338"/>
            <a:ext cx="3756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周期挪用（周期窃取）</a:t>
            </a:r>
          </a:p>
        </p:txBody>
      </p:sp>
      <p:sp>
        <p:nvSpPr>
          <p:cNvPr id="12294" name="Text Box 6">
            <a:extLst>
              <a:ext uri="{FF2B5EF4-FFF2-40B4-BE49-F238E27FC236}">
                <a16:creationId xmlns:a16="http://schemas.microsoft.com/office/drawing/2014/main" id="{469C83C3-DBBE-4D4B-B1FB-E8BF9D8A2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3200400"/>
            <a:ext cx="3951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并行工作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5A9FDB8B-A737-4DCA-9C96-237B9DE0CB9E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886200"/>
            <a:ext cx="7467600" cy="2819400"/>
            <a:chOff x="528" y="2448"/>
            <a:chExt cx="4704" cy="1776"/>
          </a:xfrm>
        </p:grpSpPr>
        <p:sp>
          <p:nvSpPr>
            <p:cNvPr id="11274" name="Line 8">
              <a:extLst>
                <a:ext uri="{FF2B5EF4-FFF2-40B4-BE49-F238E27FC236}">
                  <a16:creationId xmlns:a16="http://schemas.microsoft.com/office/drawing/2014/main" id="{E10FDC27-EE4C-481B-A8E8-BE310F13C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3362"/>
              <a:ext cx="2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75" name="Line 9">
              <a:extLst>
                <a:ext uri="{FF2B5EF4-FFF2-40B4-BE49-F238E27FC236}">
                  <a16:creationId xmlns:a16="http://schemas.microsoft.com/office/drawing/2014/main" id="{FD94EC3C-95B6-4460-9D0C-1DA04FEB4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1" y="3362"/>
              <a:ext cx="2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76" name="Line 10">
              <a:extLst>
                <a:ext uri="{FF2B5EF4-FFF2-40B4-BE49-F238E27FC236}">
                  <a16:creationId xmlns:a16="http://schemas.microsoft.com/office/drawing/2014/main" id="{BE380C54-9E0B-40A7-853E-B8DA3E880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834"/>
              <a:ext cx="0" cy="5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77" name="Line 11">
              <a:extLst>
                <a:ext uri="{FF2B5EF4-FFF2-40B4-BE49-F238E27FC236}">
                  <a16:creationId xmlns:a16="http://schemas.microsoft.com/office/drawing/2014/main" id="{BE77E2DD-63DF-4CD9-BC18-FED7F2018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834"/>
              <a:ext cx="0" cy="5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78" name="Line 12">
              <a:extLst>
                <a:ext uri="{FF2B5EF4-FFF2-40B4-BE49-F238E27FC236}">
                  <a16:creationId xmlns:a16="http://schemas.microsoft.com/office/drawing/2014/main" id="{2C7C32C6-DE00-45A1-A3F6-D85681012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362"/>
              <a:ext cx="0" cy="4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79" name="Line 13">
              <a:extLst>
                <a:ext uri="{FF2B5EF4-FFF2-40B4-BE49-F238E27FC236}">
                  <a16:creationId xmlns:a16="http://schemas.microsoft.com/office/drawing/2014/main" id="{E59D5C62-2394-4051-A73D-081FB614C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458"/>
              <a:ext cx="0" cy="3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80" name="Line 14">
              <a:extLst>
                <a:ext uri="{FF2B5EF4-FFF2-40B4-BE49-F238E27FC236}">
                  <a16:creationId xmlns:a16="http://schemas.microsoft.com/office/drawing/2014/main" id="{22421124-0900-4131-A4DE-004B42D653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2827"/>
              <a:ext cx="0" cy="5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81" name="Text Box 15">
              <a:extLst>
                <a:ext uri="{FF2B5EF4-FFF2-40B4-BE49-F238E27FC236}">
                  <a16:creationId xmlns:a16="http://schemas.microsoft.com/office/drawing/2014/main" id="{B27632FD-34CC-41F1-88D7-4E1FEB3D2C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8" y="3072"/>
              <a:ext cx="10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存取周期结束</a:t>
              </a:r>
            </a:p>
          </p:txBody>
        </p:sp>
        <p:sp>
          <p:nvSpPr>
            <p:cNvPr id="11282" name="Line 16">
              <a:extLst>
                <a:ext uri="{FF2B5EF4-FFF2-40B4-BE49-F238E27FC236}">
                  <a16:creationId xmlns:a16="http://schemas.microsoft.com/office/drawing/2014/main" id="{31B95F90-B3C8-4A21-AE7A-2DEB3C57A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9" y="3218"/>
              <a:ext cx="19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83" name="Text Box 17">
              <a:extLst>
                <a:ext uri="{FF2B5EF4-FFF2-40B4-BE49-F238E27FC236}">
                  <a16:creationId xmlns:a16="http://schemas.microsoft.com/office/drawing/2014/main" id="{26367840-F908-4160-B95D-0F18B3664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834"/>
              <a:ext cx="14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CPU 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执行现行程序</a:t>
              </a:r>
            </a:p>
          </p:txBody>
        </p:sp>
        <p:sp>
          <p:nvSpPr>
            <p:cNvPr id="11284" name="Line 18">
              <a:extLst>
                <a:ext uri="{FF2B5EF4-FFF2-40B4-BE49-F238E27FC236}">
                  <a16:creationId xmlns:a16="http://schemas.microsoft.com/office/drawing/2014/main" id="{41E350FA-0CF8-4E3A-BECA-629FCCB3FCC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528" y="2930"/>
              <a:ext cx="19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85" name="Line 19">
              <a:extLst>
                <a:ext uri="{FF2B5EF4-FFF2-40B4-BE49-F238E27FC236}">
                  <a16:creationId xmlns:a16="http://schemas.microsoft.com/office/drawing/2014/main" id="{7F711289-7E42-4E42-BD62-4172EFD90C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9" y="2930"/>
              <a:ext cx="19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86" name="Line 20">
              <a:extLst>
                <a:ext uri="{FF2B5EF4-FFF2-40B4-BE49-F238E27FC236}">
                  <a16:creationId xmlns:a16="http://schemas.microsoft.com/office/drawing/2014/main" id="{531BA59A-48B7-4AA7-98B5-A27E9D3C47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976" y="2930"/>
              <a:ext cx="19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87" name="Text Box 21">
              <a:extLst>
                <a:ext uri="{FF2B5EF4-FFF2-40B4-BE49-F238E27FC236}">
                  <a16:creationId xmlns:a16="http://schemas.microsoft.com/office/drawing/2014/main" id="{489398FC-31D6-4D34-AF32-634EEB5A9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4" y="2834"/>
              <a:ext cx="14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CPU 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执行现行程序</a:t>
              </a:r>
            </a:p>
          </p:txBody>
        </p:sp>
        <p:sp>
          <p:nvSpPr>
            <p:cNvPr id="11288" name="Text Box 22">
              <a:extLst>
                <a:ext uri="{FF2B5EF4-FFF2-40B4-BE49-F238E27FC236}">
                  <a16:creationId xmlns:a16="http://schemas.microsoft.com/office/drawing/2014/main" id="{56391B15-54DB-42B7-9277-8D7A75CC3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362"/>
              <a:ext cx="8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DMA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请求</a:t>
              </a:r>
            </a:p>
          </p:txBody>
        </p:sp>
        <p:sp>
          <p:nvSpPr>
            <p:cNvPr id="11289" name="Line 23">
              <a:extLst>
                <a:ext uri="{FF2B5EF4-FFF2-40B4-BE49-F238E27FC236}">
                  <a16:creationId xmlns:a16="http://schemas.microsoft.com/office/drawing/2014/main" id="{5DFE5504-A4F3-43E9-9BF2-30365304B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352"/>
              <a:ext cx="0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90" name="Text Box 24">
              <a:extLst>
                <a:ext uri="{FF2B5EF4-FFF2-40B4-BE49-F238E27FC236}">
                  <a16:creationId xmlns:a16="http://schemas.microsoft.com/office/drawing/2014/main" id="{2FF786A5-9A7A-4DED-B4D4-AA5FEF428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" y="3352"/>
              <a:ext cx="6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启动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</a:t>
              </a:r>
            </a:p>
          </p:txBody>
        </p:sp>
        <p:sp>
          <p:nvSpPr>
            <p:cNvPr id="11291" name="Line 25">
              <a:extLst>
                <a:ext uri="{FF2B5EF4-FFF2-40B4-BE49-F238E27FC236}">
                  <a16:creationId xmlns:a16="http://schemas.microsoft.com/office/drawing/2014/main" id="{F4DA27E9-B370-4B03-B7B1-92855C1B2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615"/>
              <a:ext cx="0" cy="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92" name="Line 26">
              <a:extLst>
                <a:ext uri="{FF2B5EF4-FFF2-40B4-BE49-F238E27FC236}">
                  <a16:creationId xmlns:a16="http://schemas.microsoft.com/office/drawing/2014/main" id="{001F103A-9A7B-43E2-A6F7-5FB82BB013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369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93" name="Text Box 27">
              <a:extLst>
                <a:ext uri="{FF2B5EF4-FFF2-40B4-BE49-F238E27FC236}">
                  <a16:creationId xmlns:a16="http://schemas.microsoft.com/office/drawing/2014/main" id="{5CA76A1D-EC06-46AB-98C1-15C34A7CD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0" y="3592"/>
              <a:ext cx="6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准备</a:t>
              </a:r>
            </a:p>
          </p:txBody>
        </p:sp>
        <p:sp>
          <p:nvSpPr>
            <p:cNvPr id="11294" name="Line 28">
              <a:extLst>
                <a:ext uri="{FF2B5EF4-FFF2-40B4-BE49-F238E27FC236}">
                  <a16:creationId xmlns:a16="http://schemas.microsoft.com/office/drawing/2014/main" id="{3A9B730E-26C4-4F88-9218-8BA71DBB2B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592" y="369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95" name="Line 29">
              <a:extLst>
                <a:ext uri="{FF2B5EF4-FFF2-40B4-BE49-F238E27FC236}">
                  <a16:creationId xmlns:a16="http://schemas.microsoft.com/office/drawing/2014/main" id="{DEE07D09-2B6A-482E-B45F-D2EBCF62FF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0" y="369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96" name="Text Box 30">
              <a:extLst>
                <a:ext uri="{FF2B5EF4-FFF2-40B4-BE49-F238E27FC236}">
                  <a16:creationId xmlns:a16="http://schemas.microsoft.com/office/drawing/2014/main" id="{4595AC0F-5A94-472B-ADC9-BEAC0978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" y="3592"/>
              <a:ext cx="6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准备</a:t>
              </a:r>
            </a:p>
          </p:txBody>
        </p:sp>
        <p:sp>
          <p:nvSpPr>
            <p:cNvPr id="11297" name="Text Box 31">
              <a:extLst>
                <a:ext uri="{FF2B5EF4-FFF2-40B4-BE49-F238E27FC236}">
                  <a16:creationId xmlns:a16="http://schemas.microsoft.com/office/drawing/2014/main" id="{2F0F03C4-9C79-4D94-91F4-5C26AF1C3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6" y="2448"/>
              <a:ext cx="10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一个存取周期</a:t>
              </a:r>
            </a:p>
          </p:txBody>
        </p:sp>
        <p:sp>
          <p:nvSpPr>
            <p:cNvPr id="11298" name="Text Box 32">
              <a:extLst>
                <a:ext uri="{FF2B5EF4-FFF2-40B4-BE49-F238E27FC236}">
                  <a16:creationId xmlns:a16="http://schemas.microsoft.com/office/drawing/2014/main" id="{45F9F01B-61F1-4105-84B4-0FCC2BF86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974"/>
              <a:ext cx="20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实现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与主存之间的传送</a:t>
              </a:r>
            </a:p>
          </p:txBody>
        </p:sp>
        <p:sp>
          <p:nvSpPr>
            <p:cNvPr id="11299" name="Line 33">
              <a:extLst>
                <a:ext uri="{FF2B5EF4-FFF2-40B4-BE49-F238E27FC236}">
                  <a16:creationId xmlns:a16="http://schemas.microsoft.com/office/drawing/2014/main" id="{6E917EDC-4252-47E7-811F-687C2F22B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68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00" name="Line 34">
              <a:extLst>
                <a:ext uri="{FF2B5EF4-FFF2-40B4-BE49-F238E27FC236}">
                  <a16:creationId xmlns:a16="http://schemas.microsoft.com/office/drawing/2014/main" id="{DFB9ECA7-1F46-4940-82F9-E693B0B0AE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3648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273" name="AutoShape 3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2DA470D-2A98-4043-93CE-73A427CEF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utoUpdateAnimBg="0"/>
      <p:bldP spid="12292" grpId="0" autoUpdateAnimBg="0"/>
      <p:bldP spid="12293" grpId="0" autoUpdateAnimBg="0"/>
      <p:bldP spid="1229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D7D8F388-4F6D-4F14-AB38-6BC88137E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171450"/>
            <a:ext cx="57102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三种方式的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工作效率比较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41915C18-43E5-482D-BF60-611399477586}"/>
              </a:ext>
            </a:extLst>
          </p:cNvPr>
          <p:cNvGrpSpPr>
            <a:grpSpLocks/>
          </p:cNvGrpSpPr>
          <p:nvPr/>
        </p:nvGrpSpPr>
        <p:grpSpPr bwMode="auto">
          <a:xfrm>
            <a:off x="300038" y="4629150"/>
            <a:ext cx="8158162" cy="2228850"/>
            <a:chOff x="189" y="2916"/>
            <a:chExt cx="5139" cy="1404"/>
          </a:xfrm>
        </p:grpSpPr>
        <p:sp>
          <p:nvSpPr>
            <p:cNvPr id="12424" name="Line 4">
              <a:extLst>
                <a:ext uri="{FF2B5EF4-FFF2-40B4-BE49-F238E27FC236}">
                  <a16:creationId xmlns:a16="http://schemas.microsoft.com/office/drawing/2014/main" id="{0A06A7DB-B126-4A75-B612-7515B6193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" y="3782"/>
              <a:ext cx="2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25" name="Line 5">
              <a:extLst>
                <a:ext uri="{FF2B5EF4-FFF2-40B4-BE49-F238E27FC236}">
                  <a16:creationId xmlns:a16="http://schemas.microsoft.com/office/drawing/2014/main" id="{5B9EC9F8-F683-452C-BCE2-056E57140C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7" y="3782"/>
              <a:ext cx="225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26" name="Line 6">
              <a:extLst>
                <a:ext uri="{FF2B5EF4-FFF2-40B4-BE49-F238E27FC236}">
                  <a16:creationId xmlns:a16="http://schemas.microsoft.com/office/drawing/2014/main" id="{DE3DE334-877F-4556-9A2F-373B2177D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3" y="3254"/>
              <a:ext cx="0" cy="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27" name="Line 7">
              <a:extLst>
                <a:ext uri="{FF2B5EF4-FFF2-40B4-BE49-F238E27FC236}">
                  <a16:creationId xmlns:a16="http://schemas.microsoft.com/office/drawing/2014/main" id="{7BC1499C-9670-4379-A016-1F6EB6D807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254"/>
              <a:ext cx="0" cy="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28" name="Line 8">
              <a:extLst>
                <a:ext uri="{FF2B5EF4-FFF2-40B4-BE49-F238E27FC236}">
                  <a16:creationId xmlns:a16="http://schemas.microsoft.com/office/drawing/2014/main" id="{785FC0D2-BDAD-456D-90D5-34ADB9BDB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3" y="3782"/>
              <a:ext cx="0" cy="2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29" name="Line 9">
              <a:extLst>
                <a:ext uri="{FF2B5EF4-FFF2-40B4-BE49-F238E27FC236}">
                  <a16:creationId xmlns:a16="http://schemas.microsoft.com/office/drawing/2014/main" id="{C96B13DA-AB4D-4461-99D3-250AC3429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878"/>
              <a:ext cx="0" cy="3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30" name="Line 10">
              <a:extLst>
                <a:ext uri="{FF2B5EF4-FFF2-40B4-BE49-F238E27FC236}">
                  <a16:creationId xmlns:a16="http://schemas.microsoft.com/office/drawing/2014/main" id="{B064E637-6222-411A-9E47-8E897ADF1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" y="3247"/>
              <a:ext cx="0" cy="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31" name="Text Box 11">
              <a:extLst>
                <a:ext uri="{FF2B5EF4-FFF2-40B4-BE49-F238E27FC236}">
                  <a16:creationId xmlns:a16="http://schemas.microsoft.com/office/drawing/2014/main" id="{705B7A7B-6B73-4FA0-ABF9-D41DD704C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7" y="3492"/>
              <a:ext cx="10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存取周期结束</a:t>
              </a:r>
            </a:p>
          </p:txBody>
        </p:sp>
        <p:sp>
          <p:nvSpPr>
            <p:cNvPr id="12432" name="Line 12">
              <a:extLst>
                <a:ext uri="{FF2B5EF4-FFF2-40B4-BE49-F238E27FC236}">
                  <a16:creationId xmlns:a16="http://schemas.microsoft.com/office/drawing/2014/main" id="{09D94609-2A2E-45D9-9E54-786AE224CC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8" y="3638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33" name="Text Box 13">
              <a:extLst>
                <a:ext uri="{FF2B5EF4-FFF2-40B4-BE49-F238E27FC236}">
                  <a16:creationId xmlns:a16="http://schemas.microsoft.com/office/drawing/2014/main" id="{FD8E0F1B-D9C4-40BD-89CE-EF48A82174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1" y="3254"/>
              <a:ext cx="14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CPU 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执行现行程序</a:t>
              </a:r>
            </a:p>
          </p:txBody>
        </p:sp>
        <p:sp>
          <p:nvSpPr>
            <p:cNvPr id="12434" name="Line 14">
              <a:extLst>
                <a:ext uri="{FF2B5EF4-FFF2-40B4-BE49-F238E27FC236}">
                  <a16:creationId xmlns:a16="http://schemas.microsoft.com/office/drawing/2014/main" id="{A87707CB-1139-4C7E-BFC4-4785EA7121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17" y="3350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35" name="Line 15">
              <a:extLst>
                <a:ext uri="{FF2B5EF4-FFF2-40B4-BE49-F238E27FC236}">
                  <a16:creationId xmlns:a16="http://schemas.microsoft.com/office/drawing/2014/main" id="{5D235AAC-2C2B-48FD-B2AD-FF122F2226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8" y="3350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36" name="Line 16">
              <a:extLst>
                <a:ext uri="{FF2B5EF4-FFF2-40B4-BE49-F238E27FC236}">
                  <a16:creationId xmlns:a16="http://schemas.microsoft.com/office/drawing/2014/main" id="{635811D0-3C89-49AF-A740-A1411ACC9D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072" y="3350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37" name="Text Box 17">
              <a:extLst>
                <a:ext uri="{FF2B5EF4-FFF2-40B4-BE49-F238E27FC236}">
                  <a16:creationId xmlns:a16="http://schemas.microsoft.com/office/drawing/2014/main" id="{6044BD92-64D1-40F2-8936-9A16079D3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0" y="3254"/>
              <a:ext cx="14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CPU 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执行现行程序</a:t>
              </a:r>
            </a:p>
          </p:txBody>
        </p:sp>
        <p:sp>
          <p:nvSpPr>
            <p:cNvPr id="12438" name="Text Box 18">
              <a:extLst>
                <a:ext uri="{FF2B5EF4-FFF2-40B4-BE49-F238E27FC236}">
                  <a16:creationId xmlns:a16="http://schemas.microsoft.com/office/drawing/2014/main" id="{A1220C49-D3F5-41A9-8192-9F262B2C5C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7" y="3782"/>
              <a:ext cx="8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DMA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请求</a:t>
              </a:r>
            </a:p>
          </p:txBody>
        </p:sp>
        <p:sp>
          <p:nvSpPr>
            <p:cNvPr id="12439" name="Line 19">
              <a:extLst>
                <a:ext uri="{FF2B5EF4-FFF2-40B4-BE49-F238E27FC236}">
                  <a16:creationId xmlns:a16="http://schemas.microsoft.com/office/drawing/2014/main" id="{A30E360A-4127-46A9-9365-9BA5179B9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7" y="3772"/>
              <a:ext cx="0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40" name="Text Box 20">
              <a:extLst>
                <a:ext uri="{FF2B5EF4-FFF2-40B4-BE49-F238E27FC236}">
                  <a16:creationId xmlns:a16="http://schemas.microsoft.com/office/drawing/2014/main" id="{8475247C-3E9F-45CC-9CA0-F96BC22A1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" y="3772"/>
              <a:ext cx="6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启动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</a:t>
              </a:r>
            </a:p>
          </p:txBody>
        </p:sp>
        <p:sp>
          <p:nvSpPr>
            <p:cNvPr id="12441" name="Line 21">
              <a:extLst>
                <a:ext uri="{FF2B5EF4-FFF2-40B4-BE49-F238E27FC236}">
                  <a16:creationId xmlns:a16="http://schemas.microsoft.com/office/drawing/2014/main" id="{47467974-B285-4C7C-AC4E-780609A98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7" y="4035"/>
              <a:ext cx="0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42" name="Line 22">
              <a:extLst>
                <a:ext uri="{FF2B5EF4-FFF2-40B4-BE49-F238E27FC236}">
                  <a16:creationId xmlns:a16="http://schemas.microsoft.com/office/drawing/2014/main" id="{2B04138B-504F-435B-8D57-3E33207D7C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77" y="411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43" name="Text Box 23">
              <a:extLst>
                <a:ext uri="{FF2B5EF4-FFF2-40B4-BE49-F238E27FC236}">
                  <a16:creationId xmlns:a16="http://schemas.microsoft.com/office/drawing/2014/main" id="{9BC69F7B-B8E4-4F1C-8ADE-BD980D7878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9" y="4012"/>
              <a:ext cx="6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准备</a:t>
              </a:r>
            </a:p>
          </p:txBody>
        </p:sp>
        <p:sp>
          <p:nvSpPr>
            <p:cNvPr id="12444" name="Line 24">
              <a:extLst>
                <a:ext uri="{FF2B5EF4-FFF2-40B4-BE49-F238E27FC236}">
                  <a16:creationId xmlns:a16="http://schemas.microsoft.com/office/drawing/2014/main" id="{D79F7538-0430-4F3A-A278-26700F3D2B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781" y="411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45" name="Line 25">
              <a:extLst>
                <a:ext uri="{FF2B5EF4-FFF2-40B4-BE49-F238E27FC236}">
                  <a16:creationId xmlns:a16="http://schemas.microsoft.com/office/drawing/2014/main" id="{3F6F09DA-418B-4981-B147-766DF2DAB6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6" y="411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46" name="Text Box 26">
              <a:extLst>
                <a:ext uri="{FF2B5EF4-FFF2-40B4-BE49-F238E27FC236}">
                  <a16:creationId xmlns:a16="http://schemas.microsoft.com/office/drawing/2014/main" id="{DED8FEA6-566D-4D9D-8705-E896CC75D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0" y="4012"/>
              <a:ext cx="6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准备</a:t>
              </a:r>
            </a:p>
          </p:txBody>
        </p:sp>
        <p:sp>
          <p:nvSpPr>
            <p:cNvPr id="12447" name="Freeform 27">
              <a:extLst>
                <a:ext uri="{FF2B5EF4-FFF2-40B4-BE49-F238E27FC236}">
                  <a16:creationId xmlns:a16="http://schemas.microsoft.com/office/drawing/2014/main" id="{B7DD985B-A720-44B4-B51A-0B1A2897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3062"/>
              <a:ext cx="483" cy="202"/>
            </a:xfrm>
            <a:custGeom>
              <a:avLst/>
              <a:gdLst>
                <a:gd name="T0" fmla="*/ 483 w 528"/>
                <a:gd name="T1" fmla="*/ 202 h 240"/>
                <a:gd name="T2" fmla="*/ 439 w 528"/>
                <a:gd name="T3" fmla="*/ 121 h 240"/>
                <a:gd name="T4" fmla="*/ 307 w 528"/>
                <a:gd name="T5" fmla="*/ 40 h 240"/>
                <a:gd name="T6" fmla="*/ 176 w 528"/>
                <a:gd name="T7" fmla="*/ 0 h 240"/>
                <a:gd name="T8" fmla="*/ 0 w 528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240"/>
                <a:gd name="T17" fmla="*/ 528 w 528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240">
                  <a:moveTo>
                    <a:pt x="528" y="240"/>
                  </a:moveTo>
                  <a:lnTo>
                    <a:pt x="480" y="144"/>
                  </a:lnTo>
                  <a:lnTo>
                    <a:pt x="336" y="48"/>
                  </a:lnTo>
                  <a:lnTo>
                    <a:pt x="192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48" name="Text Box 28">
              <a:extLst>
                <a:ext uri="{FF2B5EF4-FFF2-40B4-BE49-F238E27FC236}">
                  <a16:creationId xmlns:a16="http://schemas.microsoft.com/office/drawing/2014/main" id="{7D7F039D-537E-49BE-966F-451D24C0C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5" y="2916"/>
              <a:ext cx="10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一个存取周期</a:t>
              </a:r>
            </a:p>
          </p:txBody>
        </p:sp>
        <p:sp>
          <p:nvSpPr>
            <p:cNvPr id="12449" name="Freeform 29">
              <a:extLst>
                <a:ext uri="{FF2B5EF4-FFF2-40B4-BE49-F238E27FC236}">
                  <a16:creationId xmlns:a16="http://schemas.microsoft.com/office/drawing/2014/main" id="{93E2089E-9436-408E-94BE-3CA2977B0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4080"/>
              <a:ext cx="960" cy="192"/>
            </a:xfrm>
            <a:custGeom>
              <a:avLst/>
              <a:gdLst>
                <a:gd name="T0" fmla="*/ 0 w 1056"/>
                <a:gd name="T1" fmla="*/ 0 h 192"/>
                <a:gd name="T2" fmla="*/ 0 w 1056"/>
                <a:gd name="T3" fmla="*/ 96 h 192"/>
                <a:gd name="T4" fmla="*/ 44 w 1056"/>
                <a:gd name="T5" fmla="*/ 192 h 192"/>
                <a:gd name="T6" fmla="*/ 785 w 1056"/>
                <a:gd name="T7" fmla="*/ 192 h 192"/>
                <a:gd name="T8" fmla="*/ 960 w 1056"/>
                <a:gd name="T9" fmla="*/ 48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56"/>
                <a:gd name="T16" fmla="*/ 0 h 192"/>
                <a:gd name="T17" fmla="*/ 1056 w 1056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56" h="192">
                  <a:moveTo>
                    <a:pt x="0" y="0"/>
                  </a:moveTo>
                  <a:lnTo>
                    <a:pt x="0" y="96"/>
                  </a:lnTo>
                  <a:lnTo>
                    <a:pt x="48" y="192"/>
                  </a:lnTo>
                  <a:lnTo>
                    <a:pt x="864" y="192"/>
                  </a:lnTo>
                  <a:lnTo>
                    <a:pt x="1056" y="4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50" name="Text Box 30">
              <a:extLst>
                <a:ext uri="{FF2B5EF4-FFF2-40B4-BE49-F238E27FC236}">
                  <a16:creationId xmlns:a16="http://schemas.microsoft.com/office/drawing/2014/main" id="{06B32ACB-696F-4280-BF9E-002FDE6CF0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3878"/>
              <a:ext cx="115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实现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与主存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之间的传送</a:t>
              </a:r>
            </a:p>
          </p:txBody>
        </p:sp>
        <p:sp>
          <p:nvSpPr>
            <p:cNvPr id="12451" name="Text Box 31">
              <a:extLst>
                <a:ext uri="{FF2B5EF4-FFF2-40B4-BE49-F238E27FC236}">
                  <a16:creationId xmlns:a16="http://schemas.microsoft.com/office/drawing/2014/main" id="{49AF839A-2429-496B-A935-C200A4BD9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" y="3541"/>
              <a:ext cx="1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52" name="Line 32">
              <a:extLst>
                <a:ext uri="{FF2B5EF4-FFF2-40B4-BE49-F238E27FC236}">
                  <a16:creationId xmlns:a16="http://schemas.microsoft.com/office/drawing/2014/main" id="{99737089-DEEF-435D-A02F-6A4545D8D7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3" y="4032"/>
              <a:ext cx="0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33">
            <a:extLst>
              <a:ext uri="{FF2B5EF4-FFF2-40B4-BE49-F238E27FC236}">
                <a16:creationId xmlns:a16="http://schemas.microsoft.com/office/drawing/2014/main" id="{F6D930B2-0F16-4745-A8F2-9A25557FEA31}"/>
              </a:ext>
            </a:extLst>
          </p:cNvPr>
          <p:cNvGrpSpPr>
            <a:grpSpLocks/>
          </p:cNvGrpSpPr>
          <p:nvPr/>
        </p:nvGrpSpPr>
        <p:grpSpPr bwMode="auto">
          <a:xfrm>
            <a:off x="300038" y="760413"/>
            <a:ext cx="8318500" cy="1433512"/>
            <a:chOff x="189" y="479"/>
            <a:chExt cx="5240" cy="903"/>
          </a:xfrm>
        </p:grpSpPr>
        <p:grpSp>
          <p:nvGrpSpPr>
            <p:cNvPr id="12400" name="Group 34">
              <a:extLst>
                <a:ext uri="{FF2B5EF4-FFF2-40B4-BE49-F238E27FC236}">
                  <a16:creationId xmlns:a16="http://schemas.microsoft.com/office/drawing/2014/main" id="{CAD0935F-1370-4D12-AF1F-103A840F8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" y="479"/>
              <a:ext cx="5240" cy="903"/>
              <a:chOff x="189" y="479"/>
              <a:chExt cx="5240" cy="903"/>
            </a:xfrm>
          </p:grpSpPr>
          <p:sp>
            <p:nvSpPr>
              <p:cNvPr id="12405" name="Text Box 35">
                <a:extLst>
                  <a:ext uri="{FF2B5EF4-FFF2-40B4-BE49-F238E27FC236}">
                    <a16:creationId xmlns:a16="http://schemas.microsoft.com/office/drawing/2014/main" id="{97960974-B4C9-467A-A739-D119ADE77E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" y="662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06" name="Line 36">
                <a:extLst>
                  <a:ext uri="{FF2B5EF4-FFF2-40B4-BE49-F238E27FC236}">
                    <a16:creationId xmlns:a16="http://schemas.microsoft.com/office/drawing/2014/main" id="{D58226D9-922A-431F-A466-4F730BBB74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7" y="518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07" name="Line 37">
                <a:extLst>
                  <a:ext uri="{FF2B5EF4-FFF2-40B4-BE49-F238E27FC236}">
                    <a16:creationId xmlns:a16="http://schemas.microsoft.com/office/drawing/2014/main" id="{3A0F3C5C-69D0-4F77-BF6F-899021C8E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1" y="518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08" name="Line 38">
                <a:extLst>
                  <a:ext uri="{FF2B5EF4-FFF2-40B4-BE49-F238E27FC236}">
                    <a16:creationId xmlns:a16="http://schemas.microsoft.com/office/drawing/2014/main" id="{38FBAEAC-FB1E-49B3-BE7E-1134E7C36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1" y="518"/>
                <a:ext cx="0" cy="8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09" name="Line 39">
                <a:extLst>
                  <a:ext uri="{FF2B5EF4-FFF2-40B4-BE49-F238E27FC236}">
                    <a16:creationId xmlns:a16="http://schemas.microsoft.com/office/drawing/2014/main" id="{25CCF2CD-29CE-45FC-B33C-DF0CB011D1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17" y="710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10" name="Line 40">
                <a:extLst>
                  <a:ext uri="{FF2B5EF4-FFF2-40B4-BE49-F238E27FC236}">
                    <a16:creationId xmlns:a16="http://schemas.microsoft.com/office/drawing/2014/main" id="{19BCAF10-5CEF-49B9-A1B3-124B04DE7E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1631" y="710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11" name="Text Box 41">
                <a:extLst>
                  <a:ext uri="{FF2B5EF4-FFF2-40B4-BE49-F238E27FC236}">
                    <a16:creationId xmlns:a16="http://schemas.microsoft.com/office/drawing/2014/main" id="{05C474C1-FE1F-4C4F-BE83-58C51E8250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3" y="501"/>
                <a:ext cx="78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CPU</a:t>
                </a:r>
                <a:r>
                  <a:rPr kumimoji="1" lang="en-US" altLang="zh-CN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执行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现行程序</a:t>
                </a:r>
              </a:p>
            </p:txBody>
          </p:sp>
          <p:sp>
            <p:nvSpPr>
              <p:cNvPr id="12412" name="Line 42">
                <a:extLst>
                  <a:ext uri="{FF2B5EF4-FFF2-40B4-BE49-F238E27FC236}">
                    <a16:creationId xmlns:a16="http://schemas.microsoft.com/office/drawing/2014/main" id="{1EF95F4E-AB81-49E1-AAA5-8AE54F421B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21" y="710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13" name="Line 43">
                <a:extLst>
                  <a:ext uri="{FF2B5EF4-FFF2-40B4-BE49-F238E27FC236}">
                    <a16:creationId xmlns:a16="http://schemas.microsoft.com/office/drawing/2014/main" id="{28FBAFBF-8E6A-48FD-9677-70F55D4C4B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273" y="710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14" name="Line 44">
                <a:extLst>
                  <a:ext uri="{FF2B5EF4-FFF2-40B4-BE49-F238E27FC236}">
                    <a16:creationId xmlns:a16="http://schemas.microsoft.com/office/drawing/2014/main" id="{FE50B36F-B389-4588-9262-D03AC53DCD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3" y="710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15" name="Text Box 45">
                <a:extLst>
                  <a:ext uri="{FF2B5EF4-FFF2-40B4-BE49-F238E27FC236}">
                    <a16:creationId xmlns:a16="http://schemas.microsoft.com/office/drawing/2014/main" id="{938B38F2-A724-4C48-8DA3-B930058BA3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1" y="604"/>
                <a:ext cx="212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CPU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查询等待并传输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I/O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数据</a:t>
                </a:r>
              </a:p>
            </p:txBody>
          </p:sp>
          <p:sp>
            <p:nvSpPr>
              <p:cNvPr id="12416" name="Text Box 46">
                <a:extLst>
                  <a:ext uri="{FF2B5EF4-FFF2-40B4-BE49-F238E27FC236}">
                    <a16:creationId xmlns:a16="http://schemas.microsoft.com/office/drawing/2014/main" id="{2C22232C-258B-4C1E-9164-167EFFB1F9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5" y="479"/>
                <a:ext cx="824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CPU </a:t>
                </a:r>
                <a:r>
                  <a:rPr kumimoji="1" lang="en-US" altLang="zh-CN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执行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现行程序</a:t>
                </a:r>
              </a:p>
            </p:txBody>
          </p:sp>
          <p:sp>
            <p:nvSpPr>
              <p:cNvPr id="12417" name="Line 47">
                <a:extLst>
                  <a:ext uri="{FF2B5EF4-FFF2-40B4-BE49-F238E27FC236}">
                    <a16:creationId xmlns:a16="http://schemas.microsoft.com/office/drawing/2014/main" id="{39EE381C-C7E6-406F-AFF6-4C122ACF94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1" y="950"/>
                <a:ext cx="0" cy="2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18" name="Line 48">
                <a:extLst>
                  <a:ext uri="{FF2B5EF4-FFF2-40B4-BE49-F238E27FC236}">
                    <a16:creationId xmlns:a16="http://schemas.microsoft.com/office/drawing/2014/main" id="{3AD13FCD-8065-418E-A31A-198985A38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1" y="1152"/>
                <a:ext cx="0" cy="1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19" name="Text Box 49">
                <a:extLst>
                  <a:ext uri="{FF2B5EF4-FFF2-40B4-BE49-F238E27FC236}">
                    <a16:creationId xmlns:a16="http://schemas.microsoft.com/office/drawing/2014/main" id="{E228AF50-46A1-4556-A475-B1AD7EB184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1" y="950"/>
                <a:ext cx="6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启动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I/O</a:t>
                </a:r>
              </a:p>
            </p:txBody>
          </p:sp>
          <p:grpSp>
            <p:nvGrpSpPr>
              <p:cNvPr id="12420" name="Group 50">
                <a:extLst>
                  <a:ext uri="{FF2B5EF4-FFF2-40B4-BE49-F238E27FC236}">
                    <a16:creationId xmlns:a16="http://schemas.microsoft.com/office/drawing/2014/main" id="{80C9AF36-4F82-4DD6-94A3-EC065D618F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7" y="954"/>
                <a:ext cx="4704" cy="6"/>
                <a:chOff x="336" y="954"/>
                <a:chExt cx="4704" cy="6"/>
              </a:xfrm>
            </p:grpSpPr>
            <p:sp>
              <p:nvSpPr>
                <p:cNvPr id="12421" name="Line 51">
                  <a:extLst>
                    <a:ext uri="{FF2B5EF4-FFF2-40B4-BE49-F238E27FC236}">
                      <a16:creationId xmlns:a16="http://schemas.microsoft.com/office/drawing/2014/main" id="{59B22751-450E-4471-AAAF-C2DFF9E47F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" y="954"/>
                  <a:ext cx="110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22" name="Line 52">
                  <a:extLst>
                    <a:ext uri="{FF2B5EF4-FFF2-40B4-BE49-F238E27FC236}">
                      <a16:creationId xmlns:a16="http://schemas.microsoft.com/office/drawing/2014/main" id="{0DD548D1-79F8-48C1-8662-3CB65728D5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960"/>
                  <a:ext cx="264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23" name="Line 53">
                  <a:extLst>
                    <a:ext uri="{FF2B5EF4-FFF2-40B4-BE49-F238E27FC236}">
                      <a16:creationId xmlns:a16="http://schemas.microsoft.com/office/drawing/2014/main" id="{0E884538-69C7-4CC0-9431-200FDBD2A2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0" y="960"/>
                  <a:ext cx="96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grpSp>
          <p:nvGrpSpPr>
            <p:cNvPr id="12401" name="Group 54">
              <a:extLst>
                <a:ext uri="{FF2B5EF4-FFF2-40B4-BE49-F238E27FC236}">
                  <a16:creationId xmlns:a16="http://schemas.microsoft.com/office/drawing/2014/main" id="{0373BFD4-963E-4C17-BA7B-2F684AC8B4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1" y="1094"/>
              <a:ext cx="2640" cy="250"/>
              <a:chOff x="1821" y="1094"/>
              <a:chExt cx="2640" cy="250"/>
            </a:xfrm>
          </p:grpSpPr>
          <p:sp>
            <p:nvSpPr>
              <p:cNvPr id="12402" name="Text Box 55">
                <a:extLst>
                  <a:ext uri="{FF2B5EF4-FFF2-40B4-BE49-F238E27FC236}">
                    <a16:creationId xmlns:a16="http://schemas.microsoft.com/office/drawing/2014/main" id="{3F89D03D-CA91-4748-8B38-4676B3DE11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1" y="1094"/>
                <a:ext cx="119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I/O 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准备及传送</a:t>
                </a:r>
              </a:p>
            </p:txBody>
          </p:sp>
          <p:sp>
            <p:nvSpPr>
              <p:cNvPr id="12403" name="Line 56">
                <a:extLst>
                  <a:ext uri="{FF2B5EF4-FFF2-40B4-BE49-F238E27FC236}">
                    <a16:creationId xmlns:a16="http://schemas.microsoft.com/office/drawing/2014/main" id="{4CB8B33A-58DE-4F3A-B237-CECBE9337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7" y="1200"/>
                <a:ext cx="8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04" name="Line 57">
                <a:extLst>
                  <a:ext uri="{FF2B5EF4-FFF2-40B4-BE49-F238E27FC236}">
                    <a16:creationId xmlns:a16="http://schemas.microsoft.com/office/drawing/2014/main" id="{7339CAE1-C9C5-44C4-AB48-C21ADF8467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1" y="120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7" name="Group 58">
            <a:extLst>
              <a:ext uri="{FF2B5EF4-FFF2-40B4-BE49-F238E27FC236}">
                <a16:creationId xmlns:a16="http://schemas.microsoft.com/office/drawing/2014/main" id="{DCD0A97A-E159-4501-AB9B-337EFD51AAFD}"/>
              </a:ext>
            </a:extLst>
          </p:cNvPr>
          <p:cNvGrpSpPr>
            <a:grpSpLocks/>
          </p:cNvGrpSpPr>
          <p:nvPr/>
        </p:nvGrpSpPr>
        <p:grpSpPr bwMode="auto">
          <a:xfrm>
            <a:off x="300038" y="2209800"/>
            <a:ext cx="8310562" cy="2530475"/>
            <a:chOff x="189" y="1392"/>
            <a:chExt cx="5235" cy="1594"/>
          </a:xfrm>
        </p:grpSpPr>
        <p:sp>
          <p:nvSpPr>
            <p:cNvPr id="12368" name="Line 59">
              <a:extLst>
                <a:ext uri="{FF2B5EF4-FFF2-40B4-BE49-F238E27FC236}">
                  <a16:creationId xmlns:a16="http://schemas.microsoft.com/office/drawing/2014/main" id="{D28BC039-606C-4374-96E6-0ACDB394F8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071"/>
              <a:ext cx="21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69" name="Line 60">
              <a:extLst>
                <a:ext uri="{FF2B5EF4-FFF2-40B4-BE49-F238E27FC236}">
                  <a16:creationId xmlns:a16="http://schemas.microsoft.com/office/drawing/2014/main" id="{FA5613B5-4F9F-4D96-BEDD-B767E4D008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543"/>
              <a:ext cx="0" cy="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70" name="Line 61">
              <a:extLst>
                <a:ext uri="{FF2B5EF4-FFF2-40B4-BE49-F238E27FC236}">
                  <a16:creationId xmlns:a16="http://schemas.microsoft.com/office/drawing/2014/main" id="{1A46C79C-231B-4597-847E-57BD2EF6B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536"/>
              <a:ext cx="0" cy="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71" name="Text Box 62">
              <a:extLst>
                <a:ext uri="{FF2B5EF4-FFF2-40B4-BE49-F238E27FC236}">
                  <a16:creationId xmlns:a16="http://schemas.microsoft.com/office/drawing/2014/main" id="{EC01AF90-3E04-4B0D-9913-4D7F09DA0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" y="1781"/>
              <a:ext cx="1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指令执行周期结束</a:t>
              </a:r>
            </a:p>
          </p:txBody>
        </p:sp>
        <p:sp>
          <p:nvSpPr>
            <p:cNvPr id="12372" name="Line 63">
              <a:extLst>
                <a:ext uri="{FF2B5EF4-FFF2-40B4-BE49-F238E27FC236}">
                  <a16:creationId xmlns:a16="http://schemas.microsoft.com/office/drawing/2014/main" id="{863CAC6F-3C2A-4165-81FA-607333EA8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5" y="1927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73" name="Text Box 64">
              <a:extLst>
                <a:ext uri="{FF2B5EF4-FFF2-40B4-BE49-F238E27FC236}">
                  <a16:creationId xmlns:a16="http://schemas.microsoft.com/office/drawing/2014/main" id="{64BBD79B-EA77-4376-8C87-9EB89240F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543"/>
              <a:ext cx="14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CPU 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执行现行程序</a:t>
              </a:r>
            </a:p>
          </p:txBody>
        </p:sp>
        <p:sp>
          <p:nvSpPr>
            <p:cNvPr id="12374" name="Line 65">
              <a:extLst>
                <a:ext uri="{FF2B5EF4-FFF2-40B4-BE49-F238E27FC236}">
                  <a16:creationId xmlns:a16="http://schemas.microsoft.com/office/drawing/2014/main" id="{7A4B83C4-A6A8-4CFC-8931-67B4500EC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543"/>
              <a:ext cx="0" cy="5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75" name="Line 66">
              <a:extLst>
                <a:ext uri="{FF2B5EF4-FFF2-40B4-BE49-F238E27FC236}">
                  <a16:creationId xmlns:a16="http://schemas.microsoft.com/office/drawing/2014/main" id="{D135B9CD-B91F-42A3-B2F3-F70D6143E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71"/>
              <a:ext cx="22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76" name="Text Box 67">
              <a:extLst>
                <a:ext uri="{FF2B5EF4-FFF2-40B4-BE49-F238E27FC236}">
                  <a16:creationId xmlns:a16="http://schemas.microsoft.com/office/drawing/2014/main" id="{78BC1D80-8CFA-42D1-AAC6-BB76059D6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6" y="1543"/>
              <a:ext cx="14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CPU 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执行现行程序</a:t>
              </a:r>
            </a:p>
          </p:txBody>
        </p:sp>
        <p:sp>
          <p:nvSpPr>
            <p:cNvPr id="12377" name="Line 68">
              <a:extLst>
                <a:ext uri="{FF2B5EF4-FFF2-40B4-BE49-F238E27FC236}">
                  <a16:creationId xmlns:a16="http://schemas.microsoft.com/office/drawing/2014/main" id="{1CCD8C9E-9BC8-44CE-A847-8970D92846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2071"/>
              <a:ext cx="144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78" name="Freeform 69">
              <a:extLst>
                <a:ext uri="{FF2B5EF4-FFF2-40B4-BE49-F238E27FC236}">
                  <a16:creationId xmlns:a16="http://schemas.microsoft.com/office/drawing/2014/main" id="{F034DA6B-C574-4618-8178-0C4A3AE2C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2071"/>
              <a:ext cx="864" cy="336"/>
            </a:xfrm>
            <a:custGeom>
              <a:avLst/>
              <a:gdLst>
                <a:gd name="T0" fmla="*/ 0 w 864"/>
                <a:gd name="T1" fmla="*/ 336 h 336"/>
                <a:gd name="T2" fmla="*/ 864 w 864"/>
                <a:gd name="T3" fmla="*/ 336 h 336"/>
                <a:gd name="T4" fmla="*/ 432 w 864"/>
                <a:gd name="T5" fmla="*/ 0 h 336"/>
                <a:gd name="T6" fmla="*/ 0 60000 65536"/>
                <a:gd name="T7" fmla="*/ 0 60000 65536"/>
                <a:gd name="T8" fmla="*/ 0 60000 65536"/>
                <a:gd name="T9" fmla="*/ 0 w 864"/>
                <a:gd name="T10" fmla="*/ 0 h 336"/>
                <a:gd name="T11" fmla="*/ 864 w 864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336">
                  <a:moveTo>
                    <a:pt x="0" y="336"/>
                  </a:moveTo>
                  <a:lnTo>
                    <a:pt x="864" y="336"/>
                  </a:lnTo>
                  <a:lnTo>
                    <a:pt x="432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79" name="Line 70">
              <a:extLst>
                <a:ext uri="{FF2B5EF4-FFF2-40B4-BE49-F238E27FC236}">
                  <a16:creationId xmlns:a16="http://schemas.microsoft.com/office/drawing/2014/main" id="{EB2CCF46-6124-4D22-A53C-152A6463B1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458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80" name="Line 71">
              <a:extLst>
                <a:ext uri="{FF2B5EF4-FFF2-40B4-BE49-F238E27FC236}">
                  <a16:creationId xmlns:a16="http://schemas.microsoft.com/office/drawing/2014/main" id="{FDB59DF9-7748-440E-89F3-F302813942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307"/>
              <a:ext cx="0" cy="2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81" name="Line 72">
              <a:extLst>
                <a:ext uri="{FF2B5EF4-FFF2-40B4-BE49-F238E27FC236}">
                  <a16:creationId xmlns:a16="http://schemas.microsoft.com/office/drawing/2014/main" id="{C6FA6F5A-C4B6-495C-BBA7-445FA8A0B1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2069"/>
              <a:ext cx="0" cy="29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82" name="Line 73">
              <a:extLst>
                <a:ext uri="{FF2B5EF4-FFF2-40B4-BE49-F238E27FC236}">
                  <a16:creationId xmlns:a16="http://schemas.microsoft.com/office/drawing/2014/main" id="{5BD1FD6A-2362-4191-8B02-07BCFA5AF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8" y="2071"/>
              <a:ext cx="0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83" name="Text Box 74">
              <a:extLst>
                <a:ext uri="{FF2B5EF4-FFF2-40B4-BE49-F238E27FC236}">
                  <a16:creationId xmlns:a16="http://schemas.microsoft.com/office/drawing/2014/main" id="{EBB9D70D-291B-4323-833D-510CD20F97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71"/>
              <a:ext cx="6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启动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</a:t>
              </a:r>
            </a:p>
          </p:txBody>
        </p:sp>
        <p:sp>
          <p:nvSpPr>
            <p:cNvPr id="12384" name="Text Box 75">
              <a:extLst>
                <a:ext uri="{FF2B5EF4-FFF2-40B4-BE49-F238E27FC236}">
                  <a16:creationId xmlns:a16="http://schemas.microsoft.com/office/drawing/2014/main" id="{B10E8863-DFDB-4A77-89D1-08ED910C37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6" y="2061"/>
              <a:ext cx="7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中断请求</a:t>
              </a:r>
            </a:p>
          </p:txBody>
        </p:sp>
        <p:sp>
          <p:nvSpPr>
            <p:cNvPr id="12385" name="Line 76">
              <a:extLst>
                <a:ext uri="{FF2B5EF4-FFF2-40B4-BE49-F238E27FC236}">
                  <a16:creationId xmlns:a16="http://schemas.microsoft.com/office/drawing/2014/main" id="{B37FDE56-3BD4-4A35-B15A-3D70F26774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245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86" name="Text Box 77">
              <a:extLst>
                <a:ext uri="{FF2B5EF4-FFF2-40B4-BE49-F238E27FC236}">
                  <a16:creationId xmlns:a16="http://schemas.microsoft.com/office/drawing/2014/main" id="{8D850D29-CDB6-4DA9-A01E-C60CDEF77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314"/>
              <a:ext cx="6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准备</a:t>
              </a:r>
            </a:p>
          </p:txBody>
        </p:sp>
        <p:sp>
          <p:nvSpPr>
            <p:cNvPr id="12387" name="Line 78">
              <a:extLst>
                <a:ext uri="{FF2B5EF4-FFF2-40B4-BE49-F238E27FC236}">
                  <a16:creationId xmlns:a16="http://schemas.microsoft.com/office/drawing/2014/main" id="{4DB79F5D-ED4C-4E04-8636-CA4C7B3F1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352"/>
              <a:ext cx="0" cy="2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88" name="Line 79">
              <a:extLst>
                <a:ext uri="{FF2B5EF4-FFF2-40B4-BE49-F238E27FC236}">
                  <a16:creationId xmlns:a16="http://schemas.microsoft.com/office/drawing/2014/main" id="{E608D5BE-AE20-4867-9C6A-BF879433A1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2" y="24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89" name="Text Box 80">
              <a:extLst>
                <a:ext uri="{FF2B5EF4-FFF2-40B4-BE49-F238E27FC236}">
                  <a16:creationId xmlns:a16="http://schemas.microsoft.com/office/drawing/2014/main" id="{4A3D1CB9-A01B-49A0-B37F-D99084680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" y="2362"/>
              <a:ext cx="6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准备</a:t>
              </a:r>
            </a:p>
          </p:txBody>
        </p:sp>
        <p:sp>
          <p:nvSpPr>
            <p:cNvPr id="12390" name="Line 81">
              <a:extLst>
                <a:ext uri="{FF2B5EF4-FFF2-40B4-BE49-F238E27FC236}">
                  <a16:creationId xmlns:a16="http://schemas.microsoft.com/office/drawing/2014/main" id="{AE6946AF-89DF-40EA-A80D-0B0A22A239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544" y="24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91" name="Text Box 82">
              <a:extLst>
                <a:ext uri="{FF2B5EF4-FFF2-40B4-BE49-F238E27FC236}">
                  <a16:creationId xmlns:a16="http://schemas.microsoft.com/office/drawing/2014/main" id="{5509F949-5942-4C09-9293-3CEA82B3F6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7" y="2544"/>
              <a:ext cx="202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CPU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处理中断服务程序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实现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与主机之间的传送</a:t>
              </a:r>
            </a:p>
          </p:txBody>
        </p:sp>
        <p:sp>
          <p:nvSpPr>
            <p:cNvPr id="12392" name="Text Box 83">
              <a:extLst>
                <a:ext uri="{FF2B5EF4-FFF2-40B4-BE49-F238E27FC236}">
                  <a16:creationId xmlns:a16="http://schemas.microsoft.com/office/drawing/2014/main" id="{1B5FF140-D31C-47FB-9FFB-7F358C1C2E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1" y="1392"/>
              <a:ext cx="277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间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断</a:t>
              </a:r>
            </a:p>
          </p:txBody>
        </p:sp>
        <p:sp>
          <p:nvSpPr>
            <p:cNvPr id="12393" name="Line 84">
              <a:extLst>
                <a:ext uri="{FF2B5EF4-FFF2-40B4-BE49-F238E27FC236}">
                  <a16:creationId xmlns:a16="http://schemas.microsoft.com/office/drawing/2014/main" id="{9E80B730-9FD9-4D88-99AC-B8341A041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87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94" name="Text Box 85">
              <a:extLst>
                <a:ext uri="{FF2B5EF4-FFF2-40B4-BE49-F238E27FC236}">
                  <a16:creationId xmlns:a16="http://schemas.microsoft.com/office/drawing/2014/main" id="{A9F9365B-9553-4414-B397-6F14870FCC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" y="1766"/>
              <a:ext cx="1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95" name="Line 86">
              <a:extLst>
                <a:ext uri="{FF2B5EF4-FFF2-40B4-BE49-F238E27FC236}">
                  <a16:creationId xmlns:a16="http://schemas.microsoft.com/office/drawing/2014/main" id="{672B0319-9ACA-47C3-92B8-7F5C72B2F5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362"/>
              <a:ext cx="0" cy="2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96" name="Line 87">
              <a:extLst>
                <a:ext uri="{FF2B5EF4-FFF2-40B4-BE49-F238E27FC236}">
                  <a16:creationId xmlns:a16="http://schemas.microsoft.com/office/drawing/2014/main" id="{C75658D2-E03A-4B04-92EB-8434EF6716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17" y="1639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97" name="Line 88">
              <a:extLst>
                <a:ext uri="{FF2B5EF4-FFF2-40B4-BE49-F238E27FC236}">
                  <a16:creationId xmlns:a16="http://schemas.microsoft.com/office/drawing/2014/main" id="{0B7BFB6F-32DA-4253-A35E-6951BE2AB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7" y="1639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98" name="Line 89">
              <a:extLst>
                <a:ext uri="{FF2B5EF4-FFF2-40B4-BE49-F238E27FC236}">
                  <a16:creationId xmlns:a16="http://schemas.microsoft.com/office/drawing/2014/main" id="{68B7008C-D355-4240-8DB3-34D1F770007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165" y="1639"/>
              <a:ext cx="1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99" name="Line 90">
              <a:extLst>
                <a:ext uri="{FF2B5EF4-FFF2-40B4-BE49-F238E27FC236}">
                  <a16:creationId xmlns:a16="http://schemas.microsoft.com/office/drawing/2014/main" id="{117FD403-42F7-4D65-A2BB-51ACF38B89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2471"/>
              <a:ext cx="14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Group 91">
            <a:extLst>
              <a:ext uri="{FF2B5EF4-FFF2-40B4-BE49-F238E27FC236}">
                <a16:creationId xmlns:a16="http://schemas.microsoft.com/office/drawing/2014/main" id="{1199B19D-670E-46DB-AD6B-C3DDC7E554B5}"/>
              </a:ext>
            </a:extLst>
          </p:cNvPr>
          <p:cNvGrpSpPr>
            <a:grpSpLocks/>
          </p:cNvGrpSpPr>
          <p:nvPr/>
        </p:nvGrpSpPr>
        <p:grpSpPr bwMode="auto">
          <a:xfrm>
            <a:off x="1747838" y="1508125"/>
            <a:ext cx="1143000" cy="396875"/>
            <a:chOff x="1101" y="944"/>
            <a:chExt cx="720" cy="250"/>
          </a:xfrm>
        </p:grpSpPr>
        <p:sp>
          <p:nvSpPr>
            <p:cNvPr id="12366" name="Line 92">
              <a:extLst>
                <a:ext uri="{FF2B5EF4-FFF2-40B4-BE49-F238E27FC236}">
                  <a16:creationId xmlns:a16="http://schemas.microsoft.com/office/drawing/2014/main" id="{7654419F-FD46-42F2-9533-7522559C3E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1" y="944"/>
              <a:ext cx="0" cy="23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67" name="Text Box 93">
              <a:extLst>
                <a:ext uri="{FF2B5EF4-FFF2-40B4-BE49-F238E27FC236}">
                  <a16:creationId xmlns:a16="http://schemas.microsoft.com/office/drawing/2014/main" id="{8DFFD8C7-C2BD-454F-A8EF-E7FA68AE8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1" y="944"/>
              <a:ext cx="6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启动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</a:t>
              </a:r>
            </a:p>
          </p:txBody>
        </p:sp>
      </p:grpSp>
      <p:grpSp>
        <p:nvGrpSpPr>
          <p:cNvPr id="9" name="Group 94">
            <a:extLst>
              <a:ext uri="{FF2B5EF4-FFF2-40B4-BE49-F238E27FC236}">
                <a16:creationId xmlns:a16="http://schemas.microsoft.com/office/drawing/2014/main" id="{6D582079-C3E6-4B4C-BE6D-90B4D95BF693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278188"/>
            <a:ext cx="1060450" cy="396875"/>
            <a:chOff x="960" y="2065"/>
            <a:chExt cx="668" cy="250"/>
          </a:xfrm>
        </p:grpSpPr>
        <p:sp>
          <p:nvSpPr>
            <p:cNvPr id="12364" name="Line 95">
              <a:extLst>
                <a:ext uri="{FF2B5EF4-FFF2-40B4-BE49-F238E27FC236}">
                  <a16:creationId xmlns:a16="http://schemas.microsoft.com/office/drawing/2014/main" id="{C649691C-8E39-4A0A-AA03-545AC61B1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8" y="2065"/>
              <a:ext cx="0" cy="23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65" name="Text Box 96">
              <a:extLst>
                <a:ext uri="{FF2B5EF4-FFF2-40B4-BE49-F238E27FC236}">
                  <a16:creationId xmlns:a16="http://schemas.microsoft.com/office/drawing/2014/main" id="{8B40D540-7C89-4962-930F-58142360A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65"/>
              <a:ext cx="66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启动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</a:t>
              </a:r>
            </a:p>
          </p:txBody>
        </p:sp>
      </p:grpSp>
      <p:sp>
        <p:nvSpPr>
          <p:cNvPr id="13409" name="Line 97">
            <a:extLst>
              <a:ext uri="{FF2B5EF4-FFF2-40B4-BE49-F238E27FC236}">
                <a16:creationId xmlns:a16="http://schemas.microsoft.com/office/drawing/2014/main" id="{C81FBEC3-510E-4A7A-99BD-3BBD11EF8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1514475"/>
            <a:ext cx="1752600" cy="0"/>
          </a:xfrm>
          <a:prstGeom prst="line">
            <a:avLst/>
          </a:prstGeom>
          <a:noFill/>
          <a:ln w="38100">
            <a:solidFill>
              <a:srgbClr val="C28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10" name="Line 98">
            <a:extLst>
              <a:ext uri="{FF2B5EF4-FFF2-40B4-BE49-F238E27FC236}">
                <a16:creationId xmlns:a16="http://schemas.microsoft.com/office/drawing/2014/main" id="{274F61C3-A3B0-4495-9C6F-811F4F49E5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524000"/>
            <a:ext cx="1524000" cy="0"/>
          </a:xfrm>
          <a:prstGeom prst="line">
            <a:avLst/>
          </a:prstGeom>
          <a:noFill/>
          <a:ln w="38100">
            <a:solidFill>
              <a:srgbClr val="C28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11" name="Freeform 99">
            <a:extLst>
              <a:ext uri="{FF2B5EF4-FFF2-40B4-BE49-F238E27FC236}">
                <a16:creationId xmlns:a16="http://schemas.microsoft.com/office/drawing/2014/main" id="{E8008443-499E-41AB-A290-3D4A4909551F}"/>
              </a:ext>
            </a:extLst>
          </p:cNvPr>
          <p:cNvSpPr>
            <a:spLocks/>
          </p:cNvSpPr>
          <p:nvPr/>
        </p:nvSpPr>
        <p:spPr bwMode="auto">
          <a:xfrm>
            <a:off x="1138238" y="3289300"/>
            <a:ext cx="1452562" cy="4763"/>
          </a:xfrm>
          <a:custGeom>
            <a:avLst/>
            <a:gdLst>
              <a:gd name="T0" fmla="*/ 0 w 915"/>
              <a:gd name="T1" fmla="*/ 4763 h 3"/>
              <a:gd name="T2" fmla="*/ 1452562 w 915"/>
              <a:gd name="T3" fmla="*/ 0 h 3"/>
              <a:gd name="T4" fmla="*/ 0 60000 65536"/>
              <a:gd name="T5" fmla="*/ 0 60000 65536"/>
              <a:gd name="T6" fmla="*/ 0 w 915"/>
              <a:gd name="T7" fmla="*/ 0 h 3"/>
              <a:gd name="T8" fmla="*/ 915 w 915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15" h="3">
                <a:moveTo>
                  <a:pt x="0" y="3"/>
                </a:moveTo>
                <a:lnTo>
                  <a:pt x="915" y="0"/>
                </a:lnTo>
              </a:path>
            </a:pathLst>
          </a:custGeom>
          <a:noFill/>
          <a:ln w="38100">
            <a:solidFill>
              <a:srgbClr val="C28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Group 100">
            <a:extLst>
              <a:ext uri="{FF2B5EF4-FFF2-40B4-BE49-F238E27FC236}">
                <a16:creationId xmlns:a16="http://schemas.microsoft.com/office/drawing/2014/main" id="{9959E608-1322-47E3-A8FB-1DEAD6335753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3289300"/>
            <a:ext cx="1752600" cy="865188"/>
            <a:chOff x="1632" y="2067"/>
            <a:chExt cx="1104" cy="545"/>
          </a:xfrm>
        </p:grpSpPr>
        <p:sp>
          <p:nvSpPr>
            <p:cNvPr id="12357" name="Freeform 101">
              <a:extLst>
                <a:ext uri="{FF2B5EF4-FFF2-40B4-BE49-F238E27FC236}">
                  <a16:creationId xmlns:a16="http://schemas.microsoft.com/office/drawing/2014/main" id="{4CE070F8-7188-4773-B78B-F5531876F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2067"/>
              <a:ext cx="1098" cy="3"/>
            </a:xfrm>
            <a:custGeom>
              <a:avLst/>
              <a:gdLst>
                <a:gd name="T0" fmla="*/ 0 w 1098"/>
                <a:gd name="T1" fmla="*/ 3 h 3"/>
                <a:gd name="T2" fmla="*/ 1098 w 1098"/>
                <a:gd name="T3" fmla="*/ 0 h 3"/>
                <a:gd name="T4" fmla="*/ 0 60000 65536"/>
                <a:gd name="T5" fmla="*/ 0 60000 65536"/>
                <a:gd name="T6" fmla="*/ 0 w 1098"/>
                <a:gd name="T7" fmla="*/ 0 h 3"/>
                <a:gd name="T8" fmla="*/ 1098 w 1098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98" h="3">
                  <a:moveTo>
                    <a:pt x="0" y="3"/>
                  </a:moveTo>
                  <a:lnTo>
                    <a:pt x="1098" y="0"/>
                  </a:lnTo>
                </a:path>
              </a:pathLst>
            </a:custGeom>
            <a:noFill/>
            <a:ln w="38100">
              <a:solidFill>
                <a:srgbClr val="C28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2358" name="Group 102">
              <a:extLst>
                <a:ext uri="{FF2B5EF4-FFF2-40B4-BE49-F238E27FC236}">
                  <a16:creationId xmlns:a16="http://schemas.microsoft.com/office/drawing/2014/main" id="{D8A5FE12-6D63-4A59-8C50-72A174E9B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352"/>
              <a:ext cx="1104" cy="260"/>
              <a:chOff x="1632" y="2352"/>
              <a:chExt cx="1104" cy="260"/>
            </a:xfrm>
          </p:grpSpPr>
          <p:sp>
            <p:nvSpPr>
              <p:cNvPr id="12359" name="Line 103">
                <a:extLst>
                  <a:ext uri="{FF2B5EF4-FFF2-40B4-BE49-F238E27FC236}">
                    <a16:creationId xmlns:a16="http://schemas.microsoft.com/office/drawing/2014/main" id="{8732BEF7-B627-4928-AD02-B1396FFF09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352"/>
                <a:ext cx="0" cy="247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60" name="Line 104">
                <a:extLst>
                  <a:ext uri="{FF2B5EF4-FFF2-40B4-BE49-F238E27FC236}">
                    <a16:creationId xmlns:a16="http://schemas.microsoft.com/office/drawing/2014/main" id="{07096E5E-4D7B-47A0-92DB-BF2B41A47C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2" y="2468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61" name="Text Box 105">
                <a:extLst>
                  <a:ext uri="{FF2B5EF4-FFF2-40B4-BE49-F238E27FC236}">
                    <a16:creationId xmlns:a16="http://schemas.microsoft.com/office/drawing/2014/main" id="{6BABB80F-C2FD-44E6-B9F2-0502B29137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" y="2362"/>
                <a:ext cx="6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I/O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准备</a:t>
                </a:r>
              </a:p>
            </p:txBody>
          </p:sp>
          <p:sp>
            <p:nvSpPr>
              <p:cNvPr id="12362" name="Line 106">
                <a:extLst>
                  <a:ext uri="{FF2B5EF4-FFF2-40B4-BE49-F238E27FC236}">
                    <a16:creationId xmlns:a16="http://schemas.microsoft.com/office/drawing/2014/main" id="{A38DD3A4-81A4-4F34-BA2A-D78AC878B7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544" y="2468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63" name="Line 107">
                <a:extLst>
                  <a:ext uri="{FF2B5EF4-FFF2-40B4-BE49-F238E27FC236}">
                    <a16:creationId xmlns:a16="http://schemas.microsoft.com/office/drawing/2014/main" id="{45B9C67A-034A-429D-9AE6-DF0A05630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362"/>
                <a:ext cx="0" cy="247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2" name="Group 108">
            <a:extLst>
              <a:ext uri="{FF2B5EF4-FFF2-40B4-BE49-F238E27FC236}">
                <a16:creationId xmlns:a16="http://schemas.microsoft.com/office/drawing/2014/main" id="{3562AB12-E3C6-40FA-8A09-3A2F040529D8}"/>
              </a:ext>
            </a:extLst>
          </p:cNvPr>
          <p:cNvGrpSpPr>
            <a:grpSpLocks/>
          </p:cNvGrpSpPr>
          <p:nvPr/>
        </p:nvGrpSpPr>
        <p:grpSpPr bwMode="auto">
          <a:xfrm>
            <a:off x="3136900" y="3276600"/>
            <a:ext cx="1206500" cy="477838"/>
            <a:chOff x="1976" y="2055"/>
            <a:chExt cx="760" cy="301"/>
          </a:xfrm>
        </p:grpSpPr>
        <p:sp>
          <p:nvSpPr>
            <p:cNvPr id="12355" name="Line 109">
              <a:extLst>
                <a:ext uri="{FF2B5EF4-FFF2-40B4-BE49-F238E27FC236}">
                  <a16:creationId xmlns:a16="http://schemas.microsoft.com/office/drawing/2014/main" id="{10DC23CA-D6C7-4ADF-B010-1FFE5D805C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2063"/>
              <a:ext cx="0" cy="29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56" name="Text Box 110">
              <a:extLst>
                <a:ext uri="{FF2B5EF4-FFF2-40B4-BE49-F238E27FC236}">
                  <a16:creationId xmlns:a16="http://schemas.microsoft.com/office/drawing/2014/main" id="{D09D06F5-C5CD-4D92-B004-F4DF7907C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6" y="2055"/>
              <a:ext cx="7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中断请求</a:t>
              </a:r>
            </a:p>
          </p:txBody>
        </p:sp>
      </p:grpSp>
      <p:sp>
        <p:nvSpPr>
          <p:cNvPr id="13423" name="Line 111">
            <a:extLst>
              <a:ext uri="{FF2B5EF4-FFF2-40B4-BE49-F238E27FC236}">
                <a16:creationId xmlns:a16="http://schemas.microsoft.com/office/drawing/2014/main" id="{87836F8D-66F8-473F-9D3D-F3508AEAF2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3400" y="3278188"/>
            <a:ext cx="228600" cy="533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24" name="Line 112">
            <a:extLst>
              <a:ext uri="{FF2B5EF4-FFF2-40B4-BE49-F238E27FC236}">
                <a16:creationId xmlns:a16="http://schemas.microsoft.com/office/drawing/2014/main" id="{D4E169B1-9404-457A-B1FB-5096E1D54F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29200" y="3276600"/>
            <a:ext cx="685800" cy="533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25" name="Line 113">
            <a:extLst>
              <a:ext uri="{FF2B5EF4-FFF2-40B4-BE49-F238E27FC236}">
                <a16:creationId xmlns:a16="http://schemas.microsoft.com/office/drawing/2014/main" id="{949A3A98-BFD6-4D14-BEF4-6AC992D99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6005513"/>
            <a:ext cx="1524000" cy="0"/>
          </a:xfrm>
          <a:prstGeom prst="line">
            <a:avLst/>
          </a:prstGeom>
          <a:noFill/>
          <a:ln w="38100">
            <a:solidFill>
              <a:srgbClr val="C28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" name="Group 114">
            <a:extLst>
              <a:ext uri="{FF2B5EF4-FFF2-40B4-BE49-F238E27FC236}">
                <a16:creationId xmlns:a16="http://schemas.microsoft.com/office/drawing/2014/main" id="{8A643784-EFD5-4D0C-BD4F-6F66468B7AB7}"/>
              </a:ext>
            </a:extLst>
          </p:cNvPr>
          <p:cNvGrpSpPr>
            <a:grpSpLocks/>
          </p:cNvGrpSpPr>
          <p:nvPr/>
        </p:nvGrpSpPr>
        <p:grpSpPr bwMode="auto">
          <a:xfrm>
            <a:off x="1597025" y="5984875"/>
            <a:ext cx="1069975" cy="403225"/>
            <a:chOff x="1006" y="3770"/>
            <a:chExt cx="674" cy="254"/>
          </a:xfrm>
        </p:grpSpPr>
        <p:sp>
          <p:nvSpPr>
            <p:cNvPr id="12353" name="Line 115">
              <a:extLst>
                <a:ext uri="{FF2B5EF4-FFF2-40B4-BE49-F238E27FC236}">
                  <a16:creationId xmlns:a16="http://schemas.microsoft.com/office/drawing/2014/main" id="{A4D8C3A7-8B5F-4746-80D1-CF96A2F5E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70"/>
              <a:ext cx="0" cy="23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54" name="Text Box 116">
              <a:extLst>
                <a:ext uri="{FF2B5EF4-FFF2-40B4-BE49-F238E27FC236}">
                  <a16:creationId xmlns:a16="http://schemas.microsoft.com/office/drawing/2014/main" id="{EFB10BE1-BB2F-4F82-8B33-8AB2754CC6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" y="3774"/>
              <a:ext cx="6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启动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I/O</a:t>
              </a:r>
            </a:p>
          </p:txBody>
        </p:sp>
      </p:grpSp>
      <p:grpSp>
        <p:nvGrpSpPr>
          <p:cNvPr id="14" name="Group 117">
            <a:extLst>
              <a:ext uri="{FF2B5EF4-FFF2-40B4-BE49-F238E27FC236}">
                <a16:creationId xmlns:a16="http://schemas.microsoft.com/office/drawing/2014/main" id="{714CAB32-1583-4655-A7A8-5C3A0B2CF8A4}"/>
              </a:ext>
            </a:extLst>
          </p:cNvPr>
          <p:cNvGrpSpPr>
            <a:grpSpLocks/>
          </p:cNvGrpSpPr>
          <p:nvPr/>
        </p:nvGrpSpPr>
        <p:grpSpPr bwMode="auto">
          <a:xfrm>
            <a:off x="2662238" y="6005513"/>
            <a:ext cx="2062162" cy="760412"/>
            <a:chOff x="1677" y="3783"/>
            <a:chExt cx="1299" cy="479"/>
          </a:xfrm>
        </p:grpSpPr>
        <p:sp>
          <p:nvSpPr>
            <p:cNvPr id="12346" name="Line 118">
              <a:extLst>
                <a:ext uri="{FF2B5EF4-FFF2-40B4-BE49-F238E27FC236}">
                  <a16:creationId xmlns:a16="http://schemas.microsoft.com/office/drawing/2014/main" id="{E54E0389-846F-4B22-8A67-9CBEE9A9B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83"/>
              <a:ext cx="1296" cy="0"/>
            </a:xfrm>
            <a:prstGeom prst="line">
              <a:avLst/>
            </a:prstGeom>
            <a:noFill/>
            <a:ln w="38100">
              <a:solidFill>
                <a:srgbClr val="C28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2347" name="Group 119">
              <a:extLst>
                <a:ext uri="{FF2B5EF4-FFF2-40B4-BE49-F238E27FC236}">
                  <a16:creationId xmlns:a16="http://schemas.microsoft.com/office/drawing/2014/main" id="{6A54E0C2-92C3-4343-A9DF-CCCE7E580A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7" y="4012"/>
              <a:ext cx="1296" cy="250"/>
              <a:chOff x="1677" y="4006"/>
              <a:chExt cx="1296" cy="250"/>
            </a:xfrm>
          </p:grpSpPr>
          <p:sp>
            <p:nvSpPr>
              <p:cNvPr id="12348" name="Line 120">
                <a:extLst>
                  <a:ext uri="{FF2B5EF4-FFF2-40B4-BE49-F238E27FC236}">
                    <a16:creationId xmlns:a16="http://schemas.microsoft.com/office/drawing/2014/main" id="{66693804-1726-4AB2-9471-7A7C6D699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7" y="4029"/>
                <a:ext cx="0" cy="179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49" name="Line 121">
                <a:extLst>
                  <a:ext uri="{FF2B5EF4-FFF2-40B4-BE49-F238E27FC236}">
                    <a16:creationId xmlns:a16="http://schemas.microsoft.com/office/drawing/2014/main" id="{6E4EB46C-DD68-4D95-8745-4DCF7D62F4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77" y="4112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50" name="Text Box 122">
                <a:extLst>
                  <a:ext uri="{FF2B5EF4-FFF2-40B4-BE49-F238E27FC236}">
                    <a16:creationId xmlns:a16="http://schemas.microsoft.com/office/drawing/2014/main" id="{73B54E27-A000-436E-947E-30D76893A2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9" y="4006"/>
                <a:ext cx="6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I/O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准备</a:t>
                </a:r>
              </a:p>
            </p:txBody>
          </p:sp>
          <p:sp>
            <p:nvSpPr>
              <p:cNvPr id="12351" name="Line 123">
                <a:extLst>
                  <a:ext uri="{FF2B5EF4-FFF2-40B4-BE49-F238E27FC236}">
                    <a16:creationId xmlns:a16="http://schemas.microsoft.com/office/drawing/2014/main" id="{AA2AF403-5A5B-4B45-84FE-3115256105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781" y="4112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52" name="Line 124">
                <a:extLst>
                  <a:ext uri="{FF2B5EF4-FFF2-40B4-BE49-F238E27FC236}">
                    <a16:creationId xmlns:a16="http://schemas.microsoft.com/office/drawing/2014/main" id="{6EBD8388-7BF3-4FD4-9B47-CDD116BBDB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3" y="4026"/>
                <a:ext cx="0" cy="179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6" name="Group 125">
            <a:extLst>
              <a:ext uri="{FF2B5EF4-FFF2-40B4-BE49-F238E27FC236}">
                <a16:creationId xmlns:a16="http://schemas.microsoft.com/office/drawing/2014/main" id="{1E935C4B-16BB-4145-BF54-911E9DAB31BE}"/>
              </a:ext>
            </a:extLst>
          </p:cNvPr>
          <p:cNvGrpSpPr>
            <a:grpSpLocks/>
          </p:cNvGrpSpPr>
          <p:nvPr/>
        </p:nvGrpSpPr>
        <p:grpSpPr bwMode="auto">
          <a:xfrm>
            <a:off x="2349500" y="4629150"/>
            <a:ext cx="2519363" cy="1390650"/>
            <a:chOff x="1485" y="2916"/>
            <a:chExt cx="1587" cy="876"/>
          </a:xfrm>
        </p:grpSpPr>
        <p:sp>
          <p:nvSpPr>
            <p:cNvPr id="12342" name="Rectangle 126">
              <a:extLst>
                <a:ext uri="{FF2B5EF4-FFF2-40B4-BE49-F238E27FC236}">
                  <a16:creationId xmlns:a16="http://schemas.microsoft.com/office/drawing/2014/main" id="{19E60BC4-2F30-4B82-9A8B-6A9836176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264"/>
              <a:ext cx="96" cy="52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2343" name="Group 127">
              <a:extLst>
                <a:ext uri="{FF2B5EF4-FFF2-40B4-BE49-F238E27FC236}">
                  <a16:creationId xmlns:a16="http://schemas.microsoft.com/office/drawing/2014/main" id="{B694E2B7-C844-48F6-9D06-71A901919B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5" y="2916"/>
              <a:ext cx="1539" cy="348"/>
              <a:chOff x="1485" y="2916"/>
              <a:chExt cx="1539" cy="348"/>
            </a:xfrm>
          </p:grpSpPr>
          <p:sp>
            <p:nvSpPr>
              <p:cNvPr id="12344" name="Freeform 128">
                <a:extLst>
                  <a:ext uri="{FF2B5EF4-FFF2-40B4-BE49-F238E27FC236}">
                    <a16:creationId xmlns:a16="http://schemas.microsoft.com/office/drawing/2014/main" id="{EB36E00B-C87F-47D6-AF5B-B3F871E602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1" y="3062"/>
                <a:ext cx="483" cy="202"/>
              </a:xfrm>
              <a:custGeom>
                <a:avLst/>
                <a:gdLst>
                  <a:gd name="T0" fmla="*/ 483 w 528"/>
                  <a:gd name="T1" fmla="*/ 202 h 240"/>
                  <a:gd name="T2" fmla="*/ 439 w 528"/>
                  <a:gd name="T3" fmla="*/ 121 h 240"/>
                  <a:gd name="T4" fmla="*/ 307 w 528"/>
                  <a:gd name="T5" fmla="*/ 40 h 240"/>
                  <a:gd name="T6" fmla="*/ 176 w 528"/>
                  <a:gd name="T7" fmla="*/ 0 h 240"/>
                  <a:gd name="T8" fmla="*/ 0 w 528"/>
                  <a:gd name="T9" fmla="*/ 0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28"/>
                  <a:gd name="T16" fmla="*/ 0 h 240"/>
                  <a:gd name="T17" fmla="*/ 528 w 528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28" h="240">
                    <a:moveTo>
                      <a:pt x="528" y="240"/>
                    </a:moveTo>
                    <a:lnTo>
                      <a:pt x="480" y="144"/>
                    </a:lnTo>
                    <a:lnTo>
                      <a:pt x="336" y="48"/>
                    </a:lnTo>
                    <a:lnTo>
                      <a:pt x="192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folHlink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45" name="Text Box 129">
                <a:extLst>
                  <a:ext uri="{FF2B5EF4-FFF2-40B4-BE49-F238E27FC236}">
                    <a16:creationId xmlns:a16="http://schemas.microsoft.com/office/drawing/2014/main" id="{297BD007-7396-49C7-907D-B6BF1C7501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5" y="2916"/>
                <a:ext cx="108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一个存取周期</a:t>
                </a:r>
              </a:p>
            </p:txBody>
          </p:sp>
        </p:grpSp>
      </p:grpSp>
      <p:grpSp>
        <p:nvGrpSpPr>
          <p:cNvPr id="18" name="Group 130">
            <a:extLst>
              <a:ext uri="{FF2B5EF4-FFF2-40B4-BE49-F238E27FC236}">
                <a16:creationId xmlns:a16="http://schemas.microsoft.com/office/drawing/2014/main" id="{3E0A990B-ACFF-4788-95DF-0F7DC6FEA566}"/>
              </a:ext>
            </a:extLst>
          </p:cNvPr>
          <p:cNvGrpSpPr>
            <a:grpSpLocks/>
          </p:cNvGrpSpPr>
          <p:nvPr/>
        </p:nvGrpSpPr>
        <p:grpSpPr bwMode="auto">
          <a:xfrm>
            <a:off x="3424238" y="6003925"/>
            <a:ext cx="1303337" cy="396875"/>
            <a:chOff x="2157" y="3776"/>
            <a:chExt cx="821" cy="250"/>
          </a:xfrm>
        </p:grpSpPr>
        <p:sp>
          <p:nvSpPr>
            <p:cNvPr id="12340" name="Line 131">
              <a:extLst>
                <a:ext uri="{FF2B5EF4-FFF2-40B4-BE49-F238E27FC236}">
                  <a16:creationId xmlns:a16="http://schemas.microsoft.com/office/drawing/2014/main" id="{B32F1D28-149D-40B5-B48C-A041A119DF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3" y="3776"/>
              <a:ext cx="0" cy="25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41" name="Text Box 132">
              <a:extLst>
                <a:ext uri="{FF2B5EF4-FFF2-40B4-BE49-F238E27FC236}">
                  <a16:creationId xmlns:a16="http://schemas.microsoft.com/office/drawing/2014/main" id="{E7C53998-9E71-4ABA-BC29-AED7ABB5C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7" y="3776"/>
              <a:ext cx="8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DMA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请求</a:t>
              </a:r>
            </a:p>
          </p:txBody>
        </p:sp>
      </p:grpSp>
      <p:sp>
        <p:nvSpPr>
          <p:cNvPr id="13445" name="Freeform 133">
            <a:extLst>
              <a:ext uri="{FF2B5EF4-FFF2-40B4-BE49-F238E27FC236}">
                <a16:creationId xmlns:a16="http://schemas.microsoft.com/office/drawing/2014/main" id="{F4C54A1A-653A-4AC5-B176-44796018C1DE}"/>
              </a:ext>
            </a:extLst>
          </p:cNvPr>
          <p:cNvSpPr>
            <a:spLocks/>
          </p:cNvSpPr>
          <p:nvPr/>
        </p:nvSpPr>
        <p:spPr bwMode="auto">
          <a:xfrm>
            <a:off x="4333875" y="3289300"/>
            <a:ext cx="233363" cy="1588"/>
          </a:xfrm>
          <a:custGeom>
            <a:avLst/>
            <a:gdLst>
              <a:gd name="T0" fmla="*/ 0 w 147"/>
              <a:gd name="T1" fmla="*/ 0 h 1"/>
              <a:gd name="T2" fmla="*/ 233363 w 147"/>
              <a:gd name="T3" fmla="*/ 0 h 1"/>
              <a:gd name="T4" fmla="*/ 0 60000 65536"/>
              <a:gd name="T5" fmla="*/ 0 60000 65536"/>
              <a:gd name="T6" fmla="*/ 0 w 147"/>
              <a:gd name="T7" fmla="*/ 0 h 1"/>
              <a:gd name="T8" fmla="*/ 147 w 14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7" h="1">
                <a:moveTo>
                  <a:pt x="0" y="0"/>
                </a:moveTo>
                <a:lnTo>
                  <a:pt x="147" y="0"/>
                </a:lnTo>
              </a:path>
            </a:pathLst>
          </a:custGeom>
          <a:noFill/>
          <a:ln w="38100">
            <a:solidFill>
              <a:srgbClr val="C28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46" name="Text Box 134">
            <a:extLst>
              <a:ext uri="{FF2B5EF4-FFF2-40B4-BE49-F238E27FC236}">
                <a16:creationId xmlns:a16="http://schemas.microsoft.com/office/drawing/2014/main" id="{F17F245C-B0CF-4B5B-8C3F-234E8165F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987425"/>
            <a:ext cx="6953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程序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查询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方式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47" name="Text Box 135">
            <a:extLst>
              <a:ext uri="{FF2B5EF4-FFF2-40B4-BE49-F238E27FC236}">
                <a16:creationId xmlns:a16="http://schemas.microsoft.com/office/drawing/2014/main" id="{3F504125-0282-4C84-B8B2-F2EC7731D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2803525"/>
            <a:ext cx="6953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程序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中断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方式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48" name="Text Box 136">
            <a:extLst>
              <a:ext uri="{FF2B5EF4-FFF2-40B4-BE49-F238E27FC236}">
                <a16:creationId xmlns:a16="http://schemas.microsoft.com/office/drawing/2014/main" id="{EBC55BE0-0FC6-4916-89A2-11C1391EC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5653088"/>
            <a:ext cx="8556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DMA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方式</a:t>
            </a:r>
          </a:p>
        </p:txBody>
      </p:sp>
      <p:grpSp>
        <p:nvGrpSpPr>
          <p:cNvPr id="19" name="Group 138">
            <a:extLst>
              <a:ext uri="{FF2B5EF4-FFF2-40B4-BE49-F238E27FC236}">
                <a16:creationId xmlns:a16="http://schemas.microsoft.com/office/drawing/2014/main" id="{DA0F21BD-7CFD-4BB7-8866-64A35BB867F1}"/>
              </a:ext>
            </a:extLst>
          </p:cNvPr>
          <p:cNvGrpSpPr>
            <a:grpSpLocks/>
          </p:cNvGrpSpPr>
          <p:nvPr/>
        </p:nvGrpSpPr>
        <p:grpSpPr bwMode="auto">
          <a:xfrm>
            <a:off x="2890838" y="1524000"/>
            <a:ext cx="4195762" cy="685800"/>
            <a:chOff x="1821" y="960"/>
            <a:chExt cx="2643" cy="432"/>
          </a:xfrm>
        </p:grpSpPr>
        <p:grpSp>
          <p:nvGrpSpPr>
            <p:cNvPr id="12332" name="Group 139">
              <a:extLst>
                <a:ext uri="{FF2B5EF4-FFF2-40B4-BE49-F238E27FC236}">
                  <a16:creationId xmlns:a16="http://schemas.microsoft.com/office/drawing/2014/main" id="{C03244A6-A73B-4598-A4F1-0F74F4454A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1" y="960"/>
              <a:ext cx="2643" cy="384"/>
              <a:chOff x="1821" y="960"/>
              <a:chExt cx="2643" cy="384"/>
            </a:xfrm>
          </p:grpSpPr>
          <p:sp>
            <p:nvSpPr>
              <p:cNvPr id="12335" name="Line 140">
                <a:extLst>
                  <a:ext uri="{FF2B5EF4-FFF2-40B4-BE49-F238E27FC236}">
                    <a16:creationId xmlns:a16="http://schemas.microsoft.com/office/drawing/2014/main" id="{43D01073-4D9D-4266-8D7A-13259546EB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960"/>
                <a:ext cx="2640" cy="0"/>
              </a:xfrm>
              <a:prstGeom prst="line">
                <a:avLst/>
              </a:prstGeom>
              <a:noFill/>
              <a:ln w="7620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2336" name="Group 141">
                <a:extLst>
                  <a:ext uri="{FF2B5EF4-FFF2-40B4-BE49-F238E27FC236}">
                    <a16:creationId xmlns:a16="http://schemas.microsoft.com/office/drawing/2014/main" id="{82F8FD56-BAA6-41E0-944B-BABF53759C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1" y="1094"/>
                <a:ext cx="2640" cy="250"/>
                <a:chOff x="1821" y="1094"/>
                <a:chExt cx="2640" cy="250"/>
              </a:xfrm>
            </p:grpSpPr>
            <p:sp>
              <p:nvSpPr>
                <p:cNvPr id="12337" name="Text Box 142">
                  <a:extLst>
                    <a:ext uri="{FF2B5EF4-FFF2-40B4-BE49-F238E27FC236}">
                      <a16:creationId xmlns:a16="http://schemas.microsoft.com/office/drawing/2014/main" id="{458D2DEE-9004-425D-BAB6-943927221E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31" y="1094"/>
                  <a:ext cx="1191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I/O 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准备及传送</a:t>
                  </a:r>
                </a:p>
              </p:txBody>
            </p:sp>
            <p:sp>
              <p:nvSpPr>
                <p:cNvPr id="12338" name="Line 143">
                  <a:extLst>
                    <a:ext uri="{FF2B5EF4-FFF2-40B4-BE49-F238E27FC236}">
                      <a16:creationId xmlns:a16="http://schemas.microsoft.com/office/drawing/2014/main" id="{58A4CBE9-84A5-4D58-8A6E-037772F44E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97" y="1200"/>
                  <a:ext cx="864" cy="0"/>
                </a:xfrm>
                <a:prstGeom prst="line">
                  <a:avLst/>
                </a:prstGeom>
                <a:noFill/>
                <a:ln w="19050">
                  <a:solidFill>
                    <a:schemeClr val="folHlink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39" name="Line 144">
                  <a:extLst>
                    <a:ext uri="{FF2B5EF4-FFF2-40B4-BE49-F238E27FC236}">
                      <a16:creationId xmlns:a16="http://schemas.microsoft.com/office/drawing/2014/main" id="{E1181438-26C3-4761-A230-C52ABEB69D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1" y="1200"/>
                  <a:ext cx="624" cy="0"/>
                </a:xfrm>
                <a:prstGeom prst="line">
                  <a:avLst/>
                </a:prstGeom>
                <a:noFill/>
                <a:ln w="19050">
                  <a:solidFill>
                    <a:schemeClr val="folHlink"/>
                  </a:solidFill>
                  <a:round/>
                  <a:headEnd type="stealth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12333" name="Line 145">
              <a:extLst>
                <a:ext uri="{FF2B5EF4-FFF2-40B4-BE49-F238E27FC236}">
                  <a16:creationId xmlns:a16="http://schemas.microsoft.com/office/drawing/2014/main" id="{E55B33B0-A836-4BBC-A415-BE5D15A291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960"/>
              <a:ext cx="0" cy="43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34" name="Line 146">
              <a:extLst>
                <a:ext uri="{FF2B5EF4-FFF2-40B4-BE49-F238E27FC236}">
                  <a16:creationId xmlns:a16="http://schemas.microsoft.com/office/drawing/2014/main" id="{CDF7749C-51B4-4ECB-B083-24F2B6A9F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960"/>
              <a:ext cx="0" cy="43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" name="Group 147">
            <a:extLst>
              <a:ext uri="{FF2B5EF4-FFF2-40B4-BE49-F238E27FC236}">
                <a16:creationId xmlns:a16="http://schemas.microsoft.com/office/drawing/2014/main" id="{18B1488B-AD5B-4CD2-A2EC-11F8DE5AD603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209800"/>
            <a:ext cx="1371600" cy="1704975"/>
            <a:chOff x="2736" y="1392"/>
            <a:chExt cx="864" cy="1074"/>
          </a:xfrm>
        </p:grpSpPr>
        <p:grpSp>
          <p:nvGrpSpPr>
            <p:cNvPr id="12328" name="Group 148">
              <a:extLst>
                <a:ext uri="{FF2B5EF4-FFF2-40B4-BE49-F238E27FC236}">
                  <a16:creationId xmlns:a16="http://schemas.microsoft.com/office/drawing/2014/main" id="{32CA7B54-3116-4486-A870-1277574A29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2400"/>
              <a:ext cx="864" cy="66"/>
              <a:chOff x="2736" y="2400"/>
              <a:chExt cx="864" cy="66"/>
            </a:xfrm>
          </p:grpSpPr>
          <p:sp>
            <p:nvSpPr>
              <p:cNvPr id="12330" name="Line 149">
                <a:extLst>
                  <a:ext uri="{FF2B5EF4-FFF2-40B4-BE49-F238E27FC236}">
                    <a16:creationId xmlns:a16="http://schemas.microsoft.com/office/drawing/2014/main" id="{839AC755-0301-4753-BC6E-6D5C831D4E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400"/>
                <a:ext cx="864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31" name="Line 150">
                <a:extLst>
                  <a:ext uri="{FF2B5EF4-FFF2-40B4-BE49-F238E27FC236}">
                    <a16:creationId xmlns:a16="http://schemas.microsoft.com/office/drawing/2014/main" id="{36ECB0E1-6951-40BB-8F8C-7F043A39E2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466"/>
                <a:ext cx="864" cy="0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329" name="Text Box 151">
              <a:extLst>
                <a:ext uri="{FF2B5EF4-FFF2-40B4-BE49-F238E27FC236}">
                  <a16:creationId xmlns:a16="http://schemas.microsoft.com/office/drawing/2014/main" id="{6C48791C-3C8C-4033-9D71-1397AA387B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1" y="1392"/>
              <a:ext cx="277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间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断</a:t>
              </a:r>
            </a:p>
          </p:txBody>
        </p:sp>
      </p:grpSp>
      <p:grpSp>
        <p:nvGrpSpPr>
          <p:cNvPr id="24" name="Group 152">
            <a:extLst>
              <a:ext uri="{FF2B5EF4-FFF2-40B4-BE49-F238E27FC236}">
                <a16:creationId xmlns:a16="http://schemas.microsoft.com/office/drawing/2014/main" id="{84C5CCD5-FCA6-4299-9954-B5F4E2E38AAD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292475"/>
            <a:ext cx="3581400" cy="833438"/>
            <a:chOff x="3168" y="2074"/>
            <a:chExt cx="2256" cy="525"/>
          </a:xfrm>
        </p:grpSpPr>
        <p:sp>
          <p:nvSpPr>
            <p:cNvPr id="12323" name="Line 153">
              <a:extLst>
                <a:ext uri="{FF2B5EF4-FFF2-40B4-BE49-F238E27FC236}">
                  <a16:creationId xmlns:a16="http://schemas.microsoft.com/office/drawing/2014/main" id="{A1B1F68E-E158-4B26-8067-92A11C608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74"/>
              <a:ext cx="2256" cy="0"/>
            </a:xfrm>
            <a:prstGeom prst="line">
              <a:avLst/>
            </a:prstGeom>
            <a:noFill/>
            <a:ln w="38100">
              <a:solidFill>
                <a:srgbClr val="C28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2324" name="Group 154">
              <a:extLst>
                <a:ext uri="{FF2B5EF4-FFF2-40B4-BE49-F238E27FC236}">
                  <a16:creationId xmlns:a16="http://schemas.microsoft.com/office/drawing/2014/main" id="{79FB85FB-9005-4FF3-BB0A-78F7CF21BD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2307"/>
              <a:ext cx="810" cy="292"/>
              <a:chOff x="3600" y="2307"/>
              <a:chExt cx="810" cy="292"/>
            </a:xfrm>
          </p:grpSpPr>
          <p:sp>
            <p:nvSpPr>
              <p:cNvPr id="12325" name="Line 155">
                <a:extLst>
                  <a:ext uri="{FF2B5EF4-FFF2-40B4-BE49-F238E27FC236}">
                    <a16:creationId xmlns:a16="http://schemas.microsoft.com/office/drawing/2014/main" id="{ED294206-623A-4C0C-A03A-F602F2ED1C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307"/>
                <a:ext cx="0" cy="292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26" name="Line 156">
                <a:extLst>
                  <a:ext uri="{FF2B5EF4-FFF2-40B4-BE49-F238E27FC236}">
                    <a16:creationId xmlns:a16="http://schemas.microsoft.com/office/drawing/2014/main" id="{FC01E3F8-7EBC-4467-AE44-FBDDFA6144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0" y="2458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27" name="Text Box 157">
                <a:extLst>
                  <a:ext uri="{FF2B5EF4-FFF2-40B4-BE49-F238E27FC236}">
                    <a16:creationId xmlns:a16="http://schemas.microsoft.com/office/drawing/2014/main" id="{E150F341-EF6B-4420-96E4-5B65B29CA6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2314"/>
                <a:ext cx="66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I/O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准备</a:t>
                </a:r>
              </a:p>
            </p:txBody>
          </p:sp>
        </p:grpSp>
      </p:grpSp>
      <p:grpSp>
        <p:nvGrpSpPr>
          <p:cNvPr id="26" name="Group 158">
            <a:extLst>
              <a:ext uri="{FF2B5EF4-FFF2-40B4-BE49-F238E27FC236}">
                <a16:creationId xmlns:a16="http://schemas.microsoft.com/office/drawing/2014/main" id="{ACC24742-79EB-4285-B3A9-5159C2C76884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6005513"/>
            <a:ext cx="3581400" cy="760412"/>
            <a:chOff x="3072" y="3783"/>
            <a:chExt cx="2256" cy="479"/>
          </a:xfrm>
        </p:grpSpPr>
        <p:sp>
          <p:nvSpPr>
            <p:cNvPr id="12318" name="Line 159">
              <a:extLst>
                <a:ext uri="{FF2B5EF4-FFF2-40B4-BE49-F238E27FC236}">
                  <a16:creationId xmlns:a16="http://schemas.microsoft.com/office/drawing/2014/main" id="{A34C26B6-03D4-47B2-B0A1-4FA31A57D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783"/>
              <a:ext cx="2256" cy="0"/>
            </a:xfrm>
            <a:prstGeom prst="line">
              <a:avLst/>
            </a:prstGeom>
            <a:noFill/>
            <a:ln w="38100">
              <a:solidFill>
                <a:srgbClr val="C28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2319" name="Group 160">
              <a:extLst>
                <a:ext uri="{FF2B5EF4-FFF2-40B4-BE49-F238E27FC236}">
                  <a16:creationId xmlns:a16="http://schemas.microsoft.com/office/drawing/2014/main" id="{EEE34E06-D34A-470D-9166-184A0B2E2B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3878"/>
              <a:ext cx="814" cy="384"/>
              <a:chOff x="3072" y="3878"/>
              <a:chExt cx="814" cy="384"/>
            </a:xfrm>
          </p:grpSpPr>
          <p:sp>
            <p:nvSpPr>
              <p:cNvPr id="12320" name="Line 161">
                <a:extLst>
                  <a:ext uri="{FF2B5EF4-FFF2-40B4-BE49-F238E27FC236}">
                    <a16:creationId xmlns:a16="http://schemas.microsoft.com/office/drawing/2014/main" id="{949129C9-AEC9-4C30-8FCB-AF5F7C8603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3878"/>
                <a:ext cx="0" cy="354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21" name="Line 162">
                <a:extLst>
                  <a:ext uri="{FF2B5EF4-FFF2-40B4-BE49-F238E27FC236}">
                    <a16:creationId xmlns:a16="http://schemas.microsoft.com/office/drawing/2014/main" id="{83031864-9F6B-44AD-AC2C-9E6E714B87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76" y="4118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22" name="Text Box 163">
                <a:extLst>
                  <a:ext uri="{FF2B5EF4-FFF2-40B4-BE49-F238E27FC236}">
                    <a16:creationId xmlns:a16="http://schemas.microsoft.com/office/drawing/2014/main" id="{C1255AEC-4BC2-48F7-9A85-82B82532F3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0" y="4012"/>
                <a:ext cx="66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I/O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准备</a:t>
                </a:r>
              </a:p>
            </p:txBody>
          </p:sp>
        </p:grpSp>
      </p:grpSp>
      <p:sp>
        <p:nvSpPr>
          <p:cNvPr id="12317" name="AutoShape 16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4B199FE-A7B7-4277-81AE-7B0EBEFEF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1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13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2" dur="500"/>
                                        <p:tgtEl>
                                          <p:spTgt spid="13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2" dur="500"/>
                                        <p:tgtEl>
                                          <p:spTgt spid="1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1" grpId="0" animBg="1"/>
      <p:bldP spid="13445" grpId="0" animBg="1"/>
      <p:bldP spid="13446" grpId="0" autoUpdateAnimBg="0"/>
      <p:bldP spid="13447" grpId="0" autoUpdateAnimBg="0"/>
      <p:bldP spid="1344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D4FBB3E-ED7A-45CF-9EDF-D6F6BC61E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/>
            <a:r>
              <a:rPr lang="zh-CN" altLang="en-US" b="1" dirty="0"/>
              <a:t>第 </a:t>
            </a:r>
            <a:r>
              <a:rPr lang="en-US" altLang="zh-CN" b="1" dirty="0"/>
              <a:t>7 </a:t>
            </a:r>
            <a:r>
              <a:rPr lang="zh-CN" altLang="en-US" b="1" dirty="0"/>
              <a:t>章 输入</a:t>
            </a:r>
            <a:r>
              <a:rPr lang="en-US" altLang="zh-CN" b="1" dirty="0"/>
              <a:t>/</a:t>
            </a:r>
            <a:r>
              <a:rPr lang="zh-CN" altLang="en-US" b="1" dirty="0"/>
              <a:t>输出系统</a:t>
            </a:r>
          </a:p>
        </p:txBody>
      </p:sp>
      <p:sp>
        <p:nvSpPr>
          <p:cNvPr id="4099" name="内容占位符 1">
            <a:extLst>
              <a:ext uri="{FF2B5EF4-FFF2-40B4-BE49-F238E27FC236}">
                <a16:creationId xmlns:a16="http://schemas.microsoft.com/office/drawing/2014/main" id="{4C1ACEFE-A55B-48FB-91A9-3906A3E66A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600" y="1268760"/>
            <a:ext cx="7450138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7. 1  </a:t>
            </a:r>
            <a:r>
              <a:rPr lang="zh-CN" altLang="en-US" dirty="0"/>
              <a:t>概 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2 I / O  </a:t>
            </a:r>
            <a:r>
              <a:rPr lang="zh-CN" altLang="en-US" dirty="0"/>
              <a:t>接 口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7. 3  </a:t>
            </a:r>
            <a:r>
              <a:rPr lang="zh-CN" altLang="en-US" dirty="0"/>
              <a:t>直接程序控制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7. 4  </a:t>
            </a:r>
            <a:r>
              <a:rPr lang="zh-CN" altLang="en-US" dirty="0"/>
              <a:t>程序中断控制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5 DMA</a:t>
            </a:r>
            <a:r>
              <a:rPr lang="zh-CN" altLang="en-US" dirty="0"/>
              <a:t>技术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7. 6  </a:t>
            </a:r>
            <a:r>
              <a:rPr lang="zh-CN" altLang="en-US" dirty="0"/>
              <a:t>通 道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971600" y="1916832"/>
            <a:ext cx="3243196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3200" dirty="0">
                <a:solidFill>
                  <a:schemeClr val="tx1"/>
                </a:solidFill>
              </a:rPr>
              <a:t>7. 2 I / O  </a:t>
            </a:r>
            <a:r>
              <a:rPr lang="zh-CN" altLang="en-US" sz="3200" dirty="0">
                <a:solidFill>
                  <a:schemeClr val="tx1"/>
                </a:solidFill>
              </a:rPr>
              <a:t>接 口</a:t>
            </a:r>
          </a:p>
        </p:txBody>
      </p:sp>
    </p:spTree>
    <p:extLst>
      <p:ext uri="{BB962C8B-B14F-4D97-AF65-F5344CB8AC3E}">
        <p14:creationId xmlns:p14="http://schemas.microsoft.com/office/powerpoint/2010/main" val="51988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CC52647-1384-4B78-9360-C4997BD2E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2 I / O  </a:t>
            </a:r>
            <a:r>
              <a:rPr lang="zh-CN" altLang="en-US" dirty="0"/>
              <a:t>接 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28800"/>
            <a:ext cx="8388424" cy="4568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 2. 1 I / O </a:t>
            </a:r>
            <a:r>
              <a:rPr lang="zh-CN" altLang="en-US" sz="2800" dirty="0"/>
              <a:t>接口的功能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7.2.2  I/O</a:t>
            </a:r>
            <a:r>
              <a:rPr lang="zh-CN" altLang="en-US" sz="2800" dirty="0"/>
              <a:t>接口的基本结构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7.2.3  </a:t>
            </a:r>
            <a:r>
              <a:rPr lang="zh-CN" altLang="en-US" sz="2800" dirty="0"/>
              <a:t>接口的编址方式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7.2.4  I/O</a:t>
            </a:r>
            <a:r>
              <a:rPr lang="zh-CN" altLang="en-US" sz="2800" dirty="0"/>
              <a:t>接口的分类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7.2.5 MIPS</a:t>
            </a:r>
            <a:r>
              <a:rPr lang="zh-CN" altLang="en-US" sz="2800" dirty="0"/>
              <a:t>机中</a:t>
            </a:r>
            <a:r>
              <a:rPr lang="en-US" altLang="zh-CN" sz="2800" dirty="0"/>
              <a:t>I/O</a:t>
            </a:r>
            <a:r>
              <a:rPr lang="zh-CN" altLang="en-US" sz="2800" dirty="0"/>
              <a:t>编址与访问 </a:t>
            </a:r>
            <a:br>
              <a:rPr lang="zh-CN" altLang="en-US" sz="2800" dirty="0"/>
            </a:b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5990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099B7-E084-4943-B8D3-A68A66F6A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16632"/>
            <a:ext cx="7886700" cy="617641"/>
          </a:xfrm>
        </p:spPr>
        <p:txBody>
          <a:bodyPr>
            <a:noAutofit/>
          </a:bodyPr>
          <a:lstStyle/>
          <a:p>
            <a:pPr lvl="0" defTabSz="914400" fontAlgn="base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FF0000"/>
                </a:solidFill>
                <a:effectLst/>
                <a:latin typeface="Arial"/>
                <a:ea typeface="宋体"/>
                <a:cs typeface="+mn-cs"/>
              </a:rPr>
              <a:t>7.2.1  I / O 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Arial"/>
                <a:ea typeface="宋体"/>
                <a:cs typeface="+mn-cs"/>
              </a:rPr>
              <a:t>接口的功能</a:t>
            </a:r>
            <a:endParaRPr lang="en-US" altLang="zh-CN" sz="2800" dirty="0">
              <a:solidFill>
                <a:srgbClr val="FF0000"/>
              </a:solidFill>
              <a:effectLst/>
              <a:latin typeface="Arial"/>
              <a:ea typeface="宋体"/>
              <a:cs typeface="+mn-cs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DF4E7E-0A23-4FB6-ACAB-B23BB3D46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836712"/>
            <a:ext cx="8273309" cy="5637024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+mn-lt"/>
              </a:rPr>
              <a:t>I/O</a:t>
            </a:r>
            <a:r>
              <a:rPr lang="zh-CN" altLang="zh-CN" sz="2400" b="1" dirty="0">
                <a:latin typeface="+mn-lt"/>
              </a:rPr>
              <a:t>接口</a:t>
            </a:r>
            <a:r>
              <a:rPr lang="en-US" altLang="zh-CN" sz="2400" b="1" dirty="0">
                <a:latin typeface="+mn-lt"/>
              </a:rPr>
              <a:t>: </a:t>
            </a:r>
            <a:r>
              <a:rPr lang="zh-CN" altLang="zh-CN" sz="2400" dirty="0">
                <a:latin typeface="+mn-lt"/>
              </a:rPr>
              <a:t>连接总线与</a:t>
            </a:r>
            <a:r>
              <a:rPr lang="en-US" altLang="zh-CN" sz="2400" dirty="0">
                <a:latin typeface="+mn-lt"/>
              </a:rPr>
              <a:t>I/O</a:t>
            </a:r>
            <a:r>
              <a:rPr lang="zh-CN" altLang="zh-CN" sz="2400" dirty="0">
                <a:latin typeface="+mn-lt"/>
              </a:rPr>
              <a:t>设备的物理和逻辑界面</a:t>
            </a:r>
            <a:endParaRPr lang="en-US" altLang="zh-CN" sz="2400" dirty="0">
              <a:latin typeface="+mn-lt"/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2400" dirty="0">
                <a:latin typeface="+mn-lt"/>
              </a:rPr>
              <a:t>既包括</a:t>
            </a:r>
            <a:r>
              <a:rPr lang="zh-CN" altLang="zh-CN" sz="2400" b="1" dirty="0">
                <a:latin typeface="+mn-lt"/>
              </a:rPr>
              <a:t>物理连接电路</a:t>
            </a:r>
            <a:r>
              <a:rPr lang="zh-CN" altLang="zh-CN" sz="2400" dirty="0">
                <a:latin typeface="+mn-lt"/>
              </a:rPr>
              <a:t>，也包括</a:t>
            </a:r>
            <a:r>
              <a:rPr lang="zh-CN" altLang="zh-CN" sz="2400" b="1" dirty="0">
                <a:latin typeface="+mn-lt"/>
              </a:rPr>
              <a:t>软件逻辑</a:t>
            </a:r>
            <a:r>
              <a:rPr lang="zh-CN" altLang="zh-CN" sz="2400" dirty="0">
                <a:latin typeface="+mn-lt"/>
              </a:rPr>
              <a:t>接口</a:t>
            </a:r>
            <a:endParaRPr lang="en-US" altLang="zh-CN" sz="2400" dirty="0">
              <a:latin typeface="+mn-lt"/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2400" dirty="0">
                <a:latin typeface="+mn-lt"/>
              </a:rPr>
              <a:t>所有设备均通过 </a:t>
            </a:r>
            <a:r>
              <a:rPr lang="en-US" altLang="zh-CN" sz="2400" dirty="0">
                <a:latin typeface="+mn-lt"/>
              </a:rPr>
              <a:t>I/O</a:t>
            </a:r>
            <a:r>
              <a:rPr lang="zh-CN" altLang="zh-CN" sz="2400" dirty="0">
                <a:latin typeface="+mn-lt"/>
              </a:rPr>
              <a:t>接口（总线接口）与总线相连</a:t>
            </a:r>
            <a:endParaRPr lang="en-US" altLang="zh-CN" sz="2400" dirty="0">
              <a:latin typeface="+mn-lt"/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+mn-lt"/>
              </a:rPr>
              <a:t>CPU</a:t>
            </a:r>
            <a:r>
              <a:rPr lang="zh-CN" altLang="zh-CN" sz="2400" dirty="0">
                <a:latin typeface="+mn-lt"/>
              </a:rPr>
              <a:t>使用设备地址经总线与</a:t>
            </a:r>
            <a:r>
              <a:rPr lang="en-US" altLang="zh-CN" sz="2400" dirty="0">
                <a:latin typeface="+mn-lt"/>
              </a:rPr>
              <a:t>I/O</a:t>
            </a:r>
            <a:r>
              <a:rPr lang="zh-CN" altLang="zh-CN" sz="2400" dirty="0">
                <a:latin typeface="+mn-lt"/>
              </a:rPr>
              <a:t>接口通信访问</a:t>
            </a:r>
            <a:r>
              <a:rPr lang="en-US" altLang="zh-CN" sz="2400" dirty="0">
                <a:latin typeface="+mn-lt"/>
              </a:rPr>
              <a:t>I/O</a:t>
            </a:r>
            <a:r>
              <a:rPr lang="zh-CN" altLang="zh-CN" sz="2400" dirty="0">
                <a:latin typeface="+mn-lt"/>
              </a:rPr>
              <a:t>设备</a:t>
            </a:r>
            <a:endParaRPr lang="en-US" altLang="zh-CN" sz="2400" dirty="0">
              <a:latin typeface="+mn-lt"/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2400" b="1" dirty="0">
                <a:latin typeface="+mn-lt"/>
              </a:rPr>
              <a:t>标准接口</a:t>
            </a:r>
            <a:r>
              <a:rPr lang="zh-CN" altLang="zh-CN" sz="2400" dirty="0">
                <a:latin typeface="+mn-lt"/>
              </a:rPr>
              <a:t>有利于提升</a:t>
            </a:r>
            <a:r>
              <a:rPr lang="en-US" altLang="zh-CN" sz="2400" dirty="0">
                <a:latin typeface="+mn-lt"/>
              </a:rPr>
              <a:t>I/O</a:t>
            </a:r>
            <a:r>
              <a:rPr lang="zh-CN" altLang="zh-CN" sz="2400" dirty="0">
                <a:latin typeface="+mn-lt"/>
              </a:rPr>
              <a:t>系统的独立性，降低连接复杂度</a:t>
            </a:r>
            <a:endParaRPr lang="en-US" altLang="zh-CN" sz="2400" dirty="0">
              <a:latin typeface="+mn-lt"/>
            </a:endParaRPr>
          </a:p>
          <a:p>
            <a:r>
              <a:rPr lang="en-US" altLang="zh-CN" sz="2400" b="1" dirty="0">
                <a:latin typeface="+mn-lt"/>
              </a:rPr>
              <a:t>I/O</a:t>
            </a:r>
            <a:r>
              <a:rPr lang="zh-CN" altLang="en-US" sz="2400" b="1" dirty="0">
                <a:latin typeface="+mn-lt"/>
              </a:rPr>
              <a:t>接口功能</a:t>
            </a:r>
            <a:endParaRPr lang="en-US" altLang="zh-CN" sz="2400" b="1" dirty="0">
              <a:latin typeface="+mn-lt"/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2400" b="1" dirty="0">
                <a:latin typeface="+mn-lt"/>
              </a:rPr>
              <a:t>设备寻址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zh-CN" altLang="zh-CN" sz="2400" b="1" dirty="0">
                <a:latin typeface="+mn-lt"/>
              </a:rPr>
              <a:t>数据交互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zh-CN" altLang="zh-CN" sz="2400" b="1" dirty="0">
                <a:latin typeface="+mn-lt"/>
              </a:rPr>
              <a:t>设备控制</a:t>
            </a:r>
            <a:endParaRPr lang="en-US" altLang="zh-CN" sz="2400" b="1" dirty="0">
              <a:latin typeface="+mn-lt"/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2400" b="1" dirty="0">
                <a:latin typeface="+mn-lt"/>
              </a:rPr>
              <a:t>状态检测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zh-CN" altLang="zh-CN" sz="2400" b="1" dirty="0">
                <a:latin typeface="+mn-lt"/>
              </a:rPr>
              <a:t>数据缓冲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zh-CN" altLang="zh-CN" sz="2400" b="1" dirty="0">
                <a:latin typeface="+mn-lt"/>
              </a:rPr>
              <a:t>格式转换</a:t>
            </a:r>
            <a:endParaRPr lang="zh-CN" altLang="zh-CN" sz="2400" dirty="0">
              <a:latin typeface="+mn-lt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380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7886700" cy="617641"/>
          </a:xfrm>
        </p:spPr>
        <p:txBody>
          <a:bodyPr>
            <a:no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defRPr/>
            </a:pPr>
            <a:r>
              <a:rPr lang="en-US" altLang="zh-CN" sz="2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7.2.2  I/O</a:t>
            </a:r>
            <a:r>
              <a:rPr lang="zh-CN" altLang="en-US" sz="2800" kern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接口的基本结构</a:t>
            </a:r>
            <a:endParaRPr lang="en-US" altLang="zh-CN" sz="2800" kern="0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908720"/>
            <a:ext cx="3096344" cy="3587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I/O</a:t>
            </a:r>
            <a:r>
              <a:rPr lang="zh-CN" altLang="en-US" b="1" dirty="0"/>
              <a:t>接口的功能</a:t>
            </a:r>
            <a:endParaRPr lang="en-US" altLang="zh-CN" b="1" dirty="0"/>
          </a:p>
          <a:p>
            <a:pPr marL="342900" lvl="1" indent="0">
              <a:buNone/>
            </a:pPr>
            <a:r>
              <a:rPr lang="zh-CN" altLang="en-US" dirty="0"/>
              <a:t>设备寻址</a:t>
            </a:r>
            <a:endParaRPr lang="en-US" altLang="zh-CN" dirty="0"/>
          </a:p>
          <a:p>
            <a:pPr marL="342900" lvl="1" indent="0">
              <a:buNone/>
            </a:pPr>
            <a:r>
              <a:rPr lang="zh-CN" altLang="en-US" dirty="0"/>
              <a:t>数据交互</a:t>
            </a:r>
            <a:endParaRPr lang="en-US" altLang="zh-CN" dirty="0"/>
          </a:p>
          <a:p>
            <a:pPr marL="342900" lvl="1" indent="0">
              <a:buNone/>
            </a:pPr>
            <a:r>
              <a:rPr lang="zh-CN" altLang="en-US" dirty="0"/>
              <a:t>设备控制</a:t>
            </a:r>
            <a:endParaRPr lang="en-US" altLang="zh-CN" dirty="0"/>
          </a:p>
          <a:p>
            <a:pPr marL="342900" lvl="1" indent="0">
              <a:buNone/>
            </a:pPr>
            <a:r>
              <a:rPr lang="zh-CN" altLang="en-US" dirty="0"/>
              <a:t>状态检测</a:t>
            </a:r>
            <a:endParaRPr lang="en-US" altLang="zh-CN" dirty="0"/>
          </a:p>
          <a:p>
            <a:pPr marL="342900" lvl="1" indent="0">
              <a:buNone/>
            </a:pPr>
            <a:r>
              <a:rPr lang="zh-CN" altLang="en-US" dirty="0"/>
              <a:t>数据缓冲</a:t>
            </a:r>
            <a:endParaRPr lang="en-US" altLang="zh-CN" dirty="0"/>
          </a:p>
          <a:p>
            <a:pPr marL="342900" lvl="1" indent="0">
              <a:buNone/>
            </a:pPr>
            <a:r>
              <a:rPr lang="zh-CN" altLang="en-US" dirty="0"/>
              <a:t>格式转换</a:t>
            </a: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29B62DF1-762B-4D94-B22D-DD6AC0CEE99E}"/>
              </a:ext>
            </a:extLst>
          </p:cNvPr>
          <p:cNvGrpSpPr/>
          <p:nvPr/>
        </p:nvGrpSpPr>
        <p:grpSpPr>
          <a:xfrm>
            <a:off x="1675450" y="2708920"/>
            <a:ext cx="7468550" cy="3796678"/>
            <a:chOff x="581252" y="1730819"/>
            <a:chExt cx="6494336" cy="3301431"/>
          </a:xfrm>
        </p:grpSpPr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558AF1C6-886E-42D9-9567-242A21E1CEFD}"/>
                </a:ext>
              </a:extLst>
            </p:cNvPr>
            <p:cNvCxnSpPr/>
            <p:nvPr/>
          </p:nvCxnSpPr>
          <p:spPr>
            <a:xfrm>
              <a:off x="5203821" y="4681649"/>
              <a:ext cx="87191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56D54F59-EF98-476A-9577-BF3EA45E4C0D}"/>
                </a:ext>
              </a:extLst>
            </p:cNvPr>
            <p:cNvSpPr/>
            <p:nvPr/>
          </p:nvSpPr>
          <p:spPr>
            <a:xfrm>
              <a:off x="1677604" y="2030154"/>
              <a:ext cx="3733085" cy="30020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latin typeface="+mj-ea"/>
                <a:ea typeface="+mj-ea"/>
              </a:endParaRPr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F378D90F-ACBB-4FA2-8335-2133E19AE0A4}"/>
                </a:ext>
              </a:extLst>
            </p:cNvPr>
            <p:cNvCxnSpPr/>
            <p:nvPr/>
          </p:nvCxnSpPr>
          <p:spPr>
            <a:xfrm flipV="1">
              <a:off x="1897199" y="2658087"/>
              <a:ext cx="0" cy="122022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9AD94789-1F63-4DA3-835C-7A2B00049B89}"/>
                </a:ext>
              </a:extLst>
            </p:cNvPr>
            <p:cNvGrpSpPr/>
            <p:nvPr/>
          </p:nvGrpSpPr>
          <p:grpSpPr>
            <a:xfrm>
              <a:off x="2120684" y="3041913"/>
              <a:ext cx="1342954" cy="436139"/>
              <a:chOff x="572854" y="4071207"/>
              <a:chExt cx="1167662" cy="392361"/>
            </a:xfrm>
            <a:noFill/>
            <a:effectLst/>
          </p:grpSpPr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46F6A7BA-A899-4D3A-AA17-BBCEA9518C1E}"/>
                  </a:ext>
                </a:extLst>
              </p:cNvPr>
              <p:cNvSpPr txBox="1"/>
              <p:nvPr/>
            </p:nvSpPr>
            <p:spPr>
              <a:xfrm>
                <a:off x="572855" y="4071207"/>
                <a:ext cx="1167661" cy="39236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  <a:effectLst/>
            </p:spPr>
            <p:txBody>
              <a:bodyPr wrap="square" rtlCol="0">
                <a:noAutofit/>
              </a:bodyPr>
              <a:lstStyle/>
              <a:p>
                <a:endParaRPr lang="zh-CN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4806EEEB-DD16-4B41-ACE6-2E872D95C6A9}"/>
                  </a:ext>
                </a:extLst>
              </p:cNvPr>
              <p:cNvSpPr txBox="1"/>
              <p:nvPr/>
            </p:nvSpPr>
            <p:spPr>
              <a:xfrm>
                <a:off x="572854" y="4136934"/>
                <a:ext cx="1167662" cy="24919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1400" b="1">
                    <a:latin typeface="+mj-ea"/>
                    <a:ea typeface="+mj-ea"/>
                  </a:rPr>
                  <a:t>数据缓冲寄存器</a:t>
                </a:r>
              </a:p>
            </p:txBody>
          </p:sp>
        </p:grp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5D2B72B0-63DF-4C86-8121-CB087D15A610}"/>
                </a:ext>
              </a:extLst>
            </p:cNvPr>
            <p:cNvGrpSpPr/>
            <p:nvPr/>
          </p:nvGrpSpPr>
          <p:grpSpPr>
            <a:xfrm>
              <a:off x="2129711" y="3635874"/>
              <a:ext cx="1333928" cy="436139"/>
              <a:chOff x="572854" y="4071207"/>
              <a:chExt cx="1167662" cy="392361"/>
            </a:xfrm>
            <a:noFill/>
            <a:effectLst/>
          </p:grpSpPr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7361C998-53D1-45FD-B141-6F8312149735}"/>
                  </a:ext>
                </a:extLst>
              </p:cNvPr>
              <p:cNvSpPr txBox="1"/>
              <p:nvPr/>
            </p:nvSpPr>
            <p:spPr>
              <a:xfrm>
                <a:off x="572855" y="4071207"/>
                <a:ext cx="1167661" cy="39236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  <a:effectLst/>
            </p:spPr>
            <p:txBody>
              <a:bodyPr wrap="square" rtlCol="0">
                <a:noAutofit/>
              </a:bodyPr>
              <a:lstStyle/>
              <a:p>
                <a:endParaRPr lang="zh-CN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F51D48B5-7167-4EDA-81C3-8DB96C2DB6D1}"/>
                  </a:ext>
                </a:extLst>
              </p:cNvPr>
              <p:cNvSpPr txBox="1"/>
              <p:nvPr/>
            </p:nvSpPr>
            <p:spPr>
              <a:xfrm>
                <a:off x="572854" y="4136934"/>
                <a:ext cx="1167662" cy="24919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1400" b="1">
                    <a:latin typeface="+mj-ea"/>
                    <a:ea typeface="+mj-ea"/>
                  </a:rPr>
                  <a:t>命令</a:t>
                </a:r>
                <a:r>
                  <a:rPr lang="en-US" altLang="zh-CN" sz="1400" b="1">
                    <a:latin typeface="+mj-ea"/>
                    <a:ea typeface="+mj-ea"/>
                  </a:rPr>
                  <a:t>/</a:t>
                </a:r>
                <a:r>
                  <a:rPr lang="zh-CN" altLang="en-US" sz="1400" b="1">
                    <a:latin typeface="+mj-ea"/>
                    <a:ea typeface="+mj-ea"/>
                  </a:rPr>
                  <a:t>状态寄存器</a:t>
                </a:r>
              </a:p>
            </p:txBody>
          </p:sp>
        </p:grp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C72A71C8-C949-4831-8072-4F230C66F3F9}"/>
                </a:ext>
              </a:extLst>
            </p:cNvPr>
            <p:cNvSpPr txBox="1"/>
            <p:nvPr/>
          </p:nvSpPr>
          <p:spPr>
            <a:xfrm>
              <a:off x="2129710" y="2432880"/>
              <a:ext cx="1333928" cy="42758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  <a:prstDash val="dash"/>
            </a:ln>
            <a:effectLst/>
          </p:spPr>
          <p:txBody>
            <a:bodyPr wrap="square" rtlCol="0">
              <a:noAutofit/>
            </a:bodyPr>
            <a:lstStyle/>
            <a:p>
              <a:endParaRPr lang="zh-CN" altLang="en-US" sz="2000" b="1">
                <a:latin typeface="+mj-ea"/>
                <a:ea typeface="+mj-ea"/>
              </a:endParaRPr>
            </a:p>
          </p:txBody>
        </p: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25ED0650-AFC0-4DC9-B62A-1274675F1B68}"/>
                </a:ext>
              </a:extLst>
            </p:cNvPr>
            <p:cNvGrpSpPr/>
            <p:nvPr/>
          </p:nvGrpSpPr>
          <p:grpSpPr>
            <a:xfrm>
              <a:off x="2129709" y="4339856"/>
              <a:ext cx="1797828" cy="436139"/>
              <a:chOff x="572854" y="4071207"/>
              <a:chExt cx="1167662" cy="392361"/>
            </a:xfrm>
            <a:noFill/>
          </p:grpSpPr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4379FAFE-F0D8-4D9A-BFDB-1678D83D9503}"/>
                  </a:ext>
                </a:extLst>
              </p:cNvPr>
              <p:cNvSpPr txBox="1"/>
              <p:nvPr/>
            </p:nvSpPr>
            <p:spPr>
              <a:xfrm>
                <a:off x="572855" y="4071207"/>
                <a:ext cx="1167661" cy="39236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  <a:effectLst/>
            </p:spPr>
            <p:txBody>
              <a:bodyPr wrap="square" rtlCol="0">
                <a:noAutofit/>
              </a:bodyPr>
              <a:lstStyle/>
              <a:p>
                <a:endParaRPr lang="zh-CN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9DA3DEF3-7997-4186-B7BD-DE03D90EDF2C}"/>
                  </a:ext>
                </a:extLst>
              </p:cNvPr>
              <p:cNvSpPr txBox="1"/>
              <p:nvPr/>
            </p:nvSpPr>
            <p:spPr>
              <a:xfrm>
                <a:off x="572854" y="4136934"/>
                <a:ext cx="1167662" cy="249195"/>
              </a:xfrm>
              <a:prstGeom prst="rect">
                <a:avLst/>
              </a:prstGeom>
              <a:grpFill/>
              <a:ln w="12700">
                <a:noFill/>
              </a:ln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1400" b="1">
                    <a:latin typeface="+mj-ea"/>
                    <a:ea typeface="+mj-ea"/>
                  </a:rPr>
                  <a:t>地址译码</a:t>
                </a:r>
                <a:r>
                  <a:rPr lang="en-US" altLang="zh-CN" sz="1400" b="1">
                    <a:latin typeface="+mj-ea"/>
                    <a:ea typeface="+mj-ea"/>
                  </a:rPr>
                  <a:t>/</a:t>
                </a:r>
                <a:r>
                  <a:rPr lang="zh-CN" altLang="en-US" sz="1400" b="1">
                    <a:latin typeface="+mj-ea"/>
                    <a:ea typeface="+mj-ea"/>
                  </a:rPr>
                  <a:t>控制逻辑</a:t>
                </a:r>
              </a:p>
            </p:txBody>
          </p:sp>
        </p:grp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ADD29AC-D3FA-43DC-86D8-8428B0E0102C}"/>
                </a:ext>
              </a:extLst>
            </p:cNvPr>
            <p:cNvCxnSpPr/>
            <p:nvPr/>
          </p:nvCxnSpPr>
          <p:spPr>
            <a:xfrm>
              <a:off x="1897199" y="2658085"/>
              <a:ext cx="22348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B420B61F-1BD1-4D73-AE0F-EE66609A4EB4}"/>
                </a:ext>
              </a:extLst>
            </p:cNvPr>
            <p:cNvCxnSpPr/>
            <p:nvPr/>
          </p:nvCxnSpPr>
          <p:spPr>
            <a:xfrm>
              <a:off x="860984" y="3264434"/>
              <a:ext cx="103621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3D40C67C-3A0E-426E-979C-B6A14973F911}"/>
                </a:ext>
              </a:extLst>
            </p:cNvPr>
            <p:cNvCxnSpPr/>
            <p:nvPr/>
          </p:nvCxnSpPr>
          <p:spPr>
            <a:xfrm>
              <a:off x="1897199" y="3878314"/>
              <a:ext cx="23251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57DC6FB1-5F18-4A88-9085-E83111497183}"/>
                </a:ext>
              </a:extLst>
            </p:cNvPr>
            <p:cNvCxnSpPr/>
            <p:nvPr/>
          </p:nvCxnSpPr>
          <p:spPr>
            <a:xfrm>
              <a:off x="860984" y="4463108"/>
              <a:ext cx="125969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D25A8803-4F42-4A1F-B94C-9D255B23F3CA}"/>
                </a:ext>
              </a:extLst>
            </p:cNvPr>
            <p:cNvCxnSpPr/>
            <p:nvPr/>
          </p:nvCxnSpPr>
          <p:spPr>
            <a:xfrm>
              <a:off x="860984" y="4671078"/>
              <a:ext cx="125969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20029349-99F5-4936-99C7-9E115FA362A3}"/>
                </a:ext>
              </a:extLst>
            </p:cNvPr>
            <p:cNvCxnSpPr/>
            <p:nvPr/>
          </p:nvCxnSpPr>
          <p:spPr>
            <a:xfrm>
              <a:off x="1843859" y="3263446"/>
              <a:ext cx="27682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CB6FC830-DF1F-488F-BA4D-A49708D64F6E}"/>
                </a:ext>
              </a:extLst>
            </p:cNvPr>
            <p:cNvGrpSpPr/>
            <p:nvPr/>
          </p:nvGrpSpPr>
          <p:grpSpPr>
            <a:xfrm>
              <a:off x="4427813" y="2437119"/>
              <a:ext cx="801253" cy="658588"/>
              <a:chOff x="572855" y="4071206"/>
              <a:chExt cx="1192613" cy="267138"/>
            </a:xfrm>
            <a:noFill/>
            <a:effectLst/>
          </p:grpSpPr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10C76346-8CC1-4374-A7A5-434705ACC36D}"/>
                  </a:ext>
                </a:extLst>
              </p:cNvPr>
              <p:cNvSpPr txBox="1"/>
              <p:nvPr/>
            </p:nvSpPr>
            <p:spPr>
              <a:xfrm>
                <a:off x="572855" y="4071206"/>
                <a:ext cx="1167661" cy="26713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  <a:effectLst/>
            </p:spPr>
            <p:txBody>
              <a:bodyPr wrap="square" rtlCol="0">
                <a:noAutofit/>
              </a:bodyPr>
              <a:lstStyle/>
              <a:p>
                <a:endParaRPr lang="zh-CN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20F2D553-6E84-4ABB-985D-5756C71C0323}"/>
                  </a:ext>
                </a:extLst>
              </p:cNvPr>
              <p:cNvSpPr txBox="1"/>
              <p:nvPr/>
            </p:nvSpPr>
            <p:spPr>
              <a:xfrm>
                <a:off x="597807" y="4105505"/>
                <a:ext cx="1167661" cy="225384"/>
              </a:xfrm>
              <a:prstGeom prst="rect">
                <a:avLst/>
              </a:prstGeom>
              <a:grpFill/>
              <a:ln w="12700">
                <a:noFill/>
              </a:ln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1400" b="1">
                    <a:latin typeface="+mj-ea"/>
                    <a:ea typeface="+mj-ea"/>
                  </a:rPr>
                  <a:t>设备</a:t>
                </a:r>
                <a:endParaRPr lang="en-US" altLang="zh-CN" sz="1400" b="1">
                  <a:latin typeface="+mj-ea"/>
                  <a:ea typeface="+mj-ea"/>
                </a:endParaRPr>
              </a:p>
              <a:p>
                <a:pPr algn="ctr"/>
                <a:r>
                  <a:rPr lang="zh-CN" altLang="en-US" sz="1400" b="1">
                    <a:latin typeface="+mj-ea"/>
                    <a:ea typeface="+mj-ea"/>
                  </a:rPr>
                  <a:t>接口</a:t>
                </a:r>
              </a:p>
            </p:txBody>
          </p:sp>
        </p:grp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776EC517-8EEE-4EF2-A9D8-38754EA84606}"/>
                </a:ext>
              </a:extLst>
            </p:cNvPr>
            <p:cNvCxnSpPr/>
            <p:nvPr/>
          </p:nvCxnSpPr>
          <p:spPr>
            <a:xfrm>
              <a:off x="5221187" y="2579143"/>
              <a:ext cx="8551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F6C80A47-9F31-4BC8-AB0D-40B7D59E2705}"/>
                </a:ext>
              </a:extLst>
            </p:cNvPr>
            <p:cNvCxnSpPr/>
            <p:nvPr/>
          </p:nvCxnSpPr>
          <p:spPr>
            <a:xfrm>
              <a:off x="5225939" y="2794133"/>
              <a:ext cx="87191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0F8B7B56-13EF-45E4-9EAF-829A909B00EF}"/>
                </a:ext>
              </a:extLst>
            </p:cNvPr>
            <p:cNvCxnSpPr/>
            <p:nvPr/>
          </p:nvCxnSpPr>
          <p:spPr>
            <a:xfrm>
              <a:off x="5212043" y="2998365"/>
              <a:ext cx="87191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338A6ECA-7873-4FDF-956A-ED75BA287992}"/>
                </a:ext>
              </a:extLst>
            </p:cNvPr>
            <p:cNvSpPr txBox="1"/>
            <p:nvPr/>
          </p:nvSpPr>
          <p:spPr>
            <a:xfrm>
              <a:off x="2129709" y="2085693"/>
              <a:ext cx="1333929" cy="27156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+mj-ea"/>
                  <a:ea typeface="+mj-ea"/>
                </a:rPr>
                <a:t>总线接口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08E96842-7C08-42F3-878C-A4F2FADBA737}"/>
                </a:ext>
              </a:extLst>
            </p:cNvPr>
            <p:cNvSpPr txBox="1"/>
            <p:nvPr/>
          </p:nvSpPr>
          <p:spPr>
            <a:xfrm>
              <a:off x="4076761" y="2076429"/>
              <a:ext cx="1333929" cy="27156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+mj-ea"/>
                  <a:ea typeface="+mj-ea"/>
                </a:rPr>
                <a:t>内部接口</a:t>
              </a:r>
            </a:p>
          </p:txBody>
        </p: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4EA2DD78-6AEF-4A24-BA54-D6C368A52FE5}"/>
                </a:ext>
              </a:extLst>
            </p:cNvPr>
            <p:cNvGrpSpPr/>
            <p:nvPr/>
          </p:nvGrpSpPr>
          <p:grpSpPr>
            <a:xfrm>
              <a:off x="6080375" y="2443638"/>
              <a:ext cx="771046" cy="652065"/>
              <a:chOff x="572855" y="4071207"/>
              <a:chExt cx="1167661" cy="392361"/>
            </a:xfrm>
            <a:noFill/>
          </p:grpSpPr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DA3977E9-DD1A-42A9-A561-9C357B5C84EF}"/>
                  </a:ext>
                </a:extLst>
              </p:cNvPr>
              <p:cNvSpPr txBox="1"/>
              <p:nvPr/>
            </p:nvSpPr>
            <p:spPr>
              <a:xfrm>
                <a:off x="572855" y="4071207"/>
                <a:ext cx="1167661" cy="392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/>
            </p:spPr>
            <p:txBody>
              <a:bodyPr wrap="square" rtlCol="0">
                <a:noAutofit/>
              </a:bodyPr>
              <a:lstStyle/>
              <a:p>
                <a:endParaRPr lang="zh-CN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BCE6FA08-8AC2-4037-88CB-9F9D57411C8C}"/>
                  </a:ext>
                </a:extLst>
              </p:cNvPr>
              <p:cNvSpPr txBox="1"/>
              <p:nvPr/>
            </p:nvSpPr>
            <p:spPr>
              <a:xfrm>
                <a:off x="572855" y="4172673"/>
                <a:ext cx="1167661" cy="249195"/>
              </a:xfrm>
              <a:prstGeom prst="rect">
                <a:avLst/>
              </a:prstGeom>
              <a:grpFill/>
              <a:ln w="12700">
                <a:noFill/>
              </a:ln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1400" b="1">
                    <a:latin typeface="+mj-ea"/>
                    <a:ea typeface="+mj-ea"/>
                  </a:rPr>
                  <a:t>外设</a:t>
                </a:r>
              </a:p>
            </p:txBody>
          </p:sp>
        </p:grp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E2B208A-F648-4ABF-BDD8-FB2CDBBCE0F8}"/>
                </a:ext>
              </a:extLst>
            </p:cNvPr>
            <p:cNvSpPr txBox="1"/>
            <p:nvPr/>
          </p:nvSpPr>
          <p:spPr>
            <a:xfrm>
              <a:off x="5429793" y="2300203"/>
              <a:ext cx="508924" cy="27156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+mj-ea"/>
                  <a:ea typeface="+mj-ea"/>
                </a:rPr>
                <a:t>数据</a:t>
              </a: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20E0B3CD-12E3-4277-8305-6288B0D6A600}"/>
                </a:ext>
              </a:extLst>
            </p:cNvPr>
            <p:cNvSpPr txBox="1"/>
            <p:nvPr/>
          </p:nvSpPr>
          <p:spPr>
            <a:xfrm>
              <a:off x="5429793" y="2547767"/>
              <a:ext cx="508924" cy="27156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+mj-ea"/>
                  <a:ea typeface="+mj-ea"/>
                </a:rPr>
                <a:t>状态</a:t>
              </a: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6F75C700-4A3D-43A0-851D-60DBE03A3D92}"/>
                </a:ext>
              </a:extLst>
            </p:cNvPr>
            <p:cNvSpPr txBox="1"/>
            <p:nvPr/>
          </p:nvSpPr>
          <p:spPr>
            <a:xfrm>
              <a:off x="5429793" y="2747043"/>
              <a:ext cx="508924" cy="27156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+mj-ea"/>
                  <a:ea typeface="+mj-ea"/>
                </a:rPr>
                <a:t>命令</a:t>
              </a:r>
            </a:p>
          </p:txBody>
        </p: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FC6D8FC0-4D6A-456F-84EE-1429C369499D}"/>
                </a:ext>
              </a:extLst>
            </p:cNvPr>
            <p:cNvGrpSpPr/>
            <p:nvPr/>
          </p:nvGrpSpPr>
          <p:grpSpPr>
            <a:xfrm>
              <a:off x="4427212" y="4120403"/>
              <a:ext cx="800994" cy="658588"/>
              <a:chOff x="572855" y="4071206"/>
              <a:chExt cx="1192613" cy="267138"/>
            </a:xfrm>
            <a:noFill/>
            <a:effectLst/>
          </p:grpSpPr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35C70FE8-B6A4-49FF-800E-8F5E7951AAE4}"/>
                  </a:ext>
                </a:extLst>
              </p:cNvPr>
              <p:cNvSpPr txBox="1"/>
              <p:nvPr/>
            </p:nvSpPr>
            <p:spPr>
              <a:xfrm>
                <a:off x="572855" y="4071206"/>
                <a:ext cx="1167661" cy="26713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  <a:effectLst/>
            </p:spPr>
            <p:txBody>
              <a:bodyPr wrap="square" rtlCol="0">
                <a:noAutofit/>
              </a:bodyPr>
              <a:lstStyle/>
              <a:p>
                <a:endParaRPr lang="zh-CN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65B6D558-262B-4C24-A5AC-395D03A015EE}"/>
                  </a:ext>
                </a:extLst>
              </p:cNvPr>
              <p:cNvSpPr txBox="1"/>
              <p:nvPr/>
            </p:nvSpPr>
            <p:spPr>
              <a:xfrm>
                <a:off x="597806" y="4105505"/>
                <a:ext cx="1167662" cy="225384"/>
              </a:xfrm>
              <a:prstGeom prst="rect">
                <a:avLst/>
              </a:prstGeom>
              <a:grpFill/>
              <a:ln w="12700">
                <a:noFill/>
              </a:ln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1400" b="1">
                    <a:latin typeface="+mj-ea"/>
                    <a:ea typeface="+mj-ea"/>
                  </a:rPr>
                  <a:t>设备</a:t>
                </a:r>
                <a:endParaRPr lang="en-US" altLang="zh-CN" sz="1400" b="1">
                  <a:latin typeface="+mj-ea"/>
                  <a:ea typeface="+mj-ea"/>
                </a:endParaRPr>
              </a:p>
              <a:p>
                <a:pPr algn="ctr"/>
                <a:r>
                  <a:rPr lang="zh-CN" altLang="en-US" sz="1400" b="1">
                    <a:latin typeface="+mj-ea"/>
                    <a:ea typeface="+mj-ea"/>
                  </a:rPr>
                  <a:t>接口</a:t>
                </a:r>
              </a:p>
            </p:txBody>
          </p:sp>
        </p:grp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FB250049-1BBB-4F35-86B0-023F11AC9F41}"/>
                </a:ext>
              </a:extLst>
            </p:cNvPr>
            <p:cNvCxnSpPr/>
            <p:nvPr/>
          </p:nvCxnSpPr>
          <p:spPr>
            <a:xfrm>
              <a:off x="5212965" y="4262427"/>
              <a:ext cx="85514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357FBFE4-3609-4429-948F-95CF7542EDDB}"/>
                </a:ext>
              </a:extLst>
            </p:cNvPr>
            <p:cNvCxnSpPr/>
            <p:nvPr/>
          </p:nvCxnSpPr>
          <p:spPr>
            <a:xfrm>
              <a:off x="5217717" y="4477417"/>
              <a:ext cx="87191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F645A18D-64F9-42B9-8E0E-7D73A521593E}"/>
                </a:ext>
              </a:extLst>
            </p:cNvPr>
            <p:cNvSpPr txBox="1"/>
            <p:nvPr/>
          </p:nvSpPr>
          <p:spPr>
            <a:xfrm>
              <a:off x="5429191" y="3983487"/>
              <a:ext cx="508924" cy="27156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+mj-ea"/>
                  <a:ea typeface="+mj-ea"/>
                </a:rPr>
                <a:t>数据</a:t>
              </a: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71755E08-D5C7-4D58-8E7E-4E225F2B34EB}"/>
                </a:ext>
              </a:extLst>
            </p:cNvPr>
            <p:cNvSpPr txBox="1"/>
            <p:nvPr/>
          </p:nvSpPr>
          <p:spPr>
            <a:xfrm>
              <a:off x="5429191" y="4231051"/>
              <a:ext cx="508924" cy="27156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+mj-ea"/>
                  <a:ea typeface="+mj-ea"/>
                </a:rPr>
                <a:t>状态</a:t>
              </a: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934DE0AE-5F46-403A-9582-5FD5164D05D6}"/>
                </a:ext>
              </a:extLst>
            </p:cNvPr>
            <p:cNvSpPr txBox="1"/>
            <p:nvPr/>
          </p:nvSpPr>
          <p:spPr>
            <a:xfrm>
              <a:off x="5429191" y="4430327"/>
              <a:ext cx="508924" cy="27156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+mj-ea"/>
                  <a:ea typeface="+mj-ea"/>
                </a:rPr>
                <a:t>命令</a:t>
              </a:r>
            </a:p>
          </p:txBody>
        </p: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C04CE2F7-17C3-4308-9B1D-B364FF0E1B9C}"/>
                </a:ext>
              </a:extLst>
            </p:cNvPr>
            <p:cNvCxnSpPr/>
            <p:nvPr/>
          </p:nvCxnSpPr>
          <p:spPr>
            <a:xfrm>
              <a:off x="3927537" y="4565595"/>
              <a:ext cx="49967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231118B9-6443-44A9-9DA5-F61267C4A585}"/>
                </a:ext>
              </a:extLst>
            </p:cNvPr>
            <p:cNvSpPr txBox="1"/>
            <p:nvPr/>
          </p:nvSpPr>
          <p:spPr>
            <a:xfrm>
              <a:off x="860984" y="3000842"/>
              <a:ext cx="875967" cy="31777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+mj-ea"/>
                  <a:ea typeface="+mj-ea"/>
                </a:rPr>
                <a:t>数据线</a:t>
              </a: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1D03E6-4551-46D1-9C5D-E084C90F37A5}"/>
                </a:ext>
              </a:extLst>
            </p:cNvPr>
            <p:cNvSpPr txBox="1"/>
            <p:nvPr/>
          </p:nvSpPr>
          <p:spPr>
            <a:xfrm>
              <a:off x="827794" y="4189402"/>
              <a:ext cx="936545" cy="31777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+mj-ea"/>
                  <a:ea typeface="+mj-ea"/>
                </a:rPr>
                <a:t>地址线</a:t>
              </a: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108B2362-38E4-4655-9C4E-AD4C905B9192}"/>
                </a:ext>
              </a:extLst>
            </p:cNvPr>
            <p:cNvSpPr txBox="1"/>
            <p:nvPr/>
          </p:nvSpPr>
          <p:spPr>
            <a:xfrm>
              <a:off x="813595" y="4643885"/>
              <a:ext cx="936545" cy="31777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+mj-ea"/>
                  <a:ea typeface="+mj-ea"/>
                </a:rPr>
                <a:t>控制线</a:t>
              </a:r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5A3DCA55-D0F8-4B8B-A90E-6FD4CA80B72C}"/>
                </a:ext>
              </a:extLst>
            </p:cNvPr>
            <p:cNvCxnSpPr>
              <a:stCxn id="101" idx="2"/>
            </p:cNvCxnSpPr>
            <p:nvPr/>
          </p:nvCxnSpPr>
          <p:spPr>
            <a:xfrm>
              <a:off x="827794" y="2048592"/>
              <a:ext cx="6130" cy="2983658"/>
            </a:xfrm>
            <a:prstGeom prst="line">
              <a:avLst/>
            </a:prstGeom>
            <a:noFill/>
            <a:ln w="50800" cap="sq">
              <a:solidFill>
                <a:schemeClr val="tx1"/>
              </a:solidFill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1C96CEFA-311E-4FFE-94C6-E2CFA0FFD60C}"/>
                </a:ext>
              </a:extLst>
            </p:cNvPr>
            <p:cNvSpPr txBox="1"/>
            <p:nvPr/>
          </p:nvSpPr>
          <p:spPr>
            <a:xfrm>
              <a:off x="581252" y="1730819"/>
              <a:ext cx="493083" cy="31777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+mj-ea"/>
                  <a:ea typeface="+mj-ea"/>
                </a:rPr>
                <a:t>总线</a:t>
              </a:r>
            </a:p>
          </p:txBody>
        </p:sp>
        <p:sp>
          <p:nvSpPr>
            <p:cNvPr id="102" name="文本框 4">
              <a:extLst>
                <a:ext uri="{FF2B5EF4-FFF2-40B4-BE49-F238E27FC236}">
                  <a16:creationId xmlns:a16="http://schemas.microsoft.com/office/drawing/2014/main" id="{589C1333-624F-43F1-AE6D-E225ED88DC61}"/>
                </a:ext>
              </a:extLst>
            </p:cNvPr>
            <p:cNvSpPr txBox="1"/>
            <p:nvPr/>
          </p:nvSpPr>
          <p:spPr>
            <a:xfrm rot="16200000">
              <a:off x="4507177" y="3459639"/>
              <a:ext cx="466927" cy="267630"/>
            </a:xfrm>
            <a:prstGeom prst="rect">
              <a:avLst/>
            </a:prstGeom>
            <a:noFill/>
            <a:ln w="12700">
              <a:noFill/>
            </a:ln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CN" sz="2000" b="1" kern="100">
                  <a:latin typeface="+mj-ea"/>
                  <a:ea typeface="+mj-ea"/>
                  <a:cs typeface="宋体" panose="02010600030101010101" pitchFamily="2" charset="-122"/>
                </a:rPr>
                <a:t>…</a:t>
              </a:r>
              <a:endParaRPr lang="zh-CN" sz="4400" b="1">
                <a:effectLst/>
                <a:latin typeface="+mj-ea"/>
                <a:ea typeface="+mj-ea"/>
                <a:cs typeface="宋体" panose="02010600030101010101" pitchFamily="2" charset="-122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F8999C01-CE3C-4D22-8D27-E9964E49B557}"/>
                </a:ext>
              </a:extLst>
            </p:cNvPr>
            <p:cNvSpPr txBox="1"/>
            <p:nvPr/>
          </p:nvSpPr>
          <p:spPr>
            <a:xfrm>
              <a:off x="2838439" y="1777026"/>
              <a:ext cx="1333929" cy="27156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400" b="1">
                  <a:latin typeface="+mj-ea"/>
                  <a:ea typeface="+mj-ea"/>
                </a:rPr>
                <a:t>I/O</a:t>
              </a:r>
              <a:r>
                <a:rPr lang="zh-CN" altLang="en-US" sz="1400" b="1">
                  <a:latin typeface="+mj-ea"/>
                  <a:ea typeface="+mj-ea"/>
                </a:rPr>
                <a:t>接口</a:t>
              </a:r>
            </a:p>
          </p:txBody>
        </p:sp>
        <p:cxnSp>
          <p:nvCxnSpPr>
            <p:cNvPr id="104" name="肘形连接符 54">
              <a:extLst>
                <a:ext uri="{FF2B5EF4-FFF2-40B4-BE49-F238E27FC236}">
                  <a16:creationId xmlns:a16="http://schemas.microsoft.com/office/drawing/2014/main" id="{AA8422A0-8129-426E-B40F-0598CFBE8DAE}"/>
                </a:ext>
              </a:extLst>
            </p:cNvPr>
            <p:cNvCxnSpPr>
              <a:stCxn id="72" idx="3"/>
            </p:cNvCxnSpPr>
            <p:nvPr/>
          </p:nvCxnSpPr>
          <p:spPr>
            <a:xfrm>
              <a:off x="3463638" y="2646672"/>
              <a:ext cx="388157" cy="1693184"/>
            </a:xfrm>
            <a:prstGeom prst="bentConnector2">
              <a:avLst/>
            </a:prstGeom>
            <a:noFill/>
            <a:ln w="12700" cap="sq"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5" name="肘形连接符 55">
              <a:extLst>
                <a:ext uri="{FF2B5EF4-FFF2-40B4-BE49-F238E27FC236}">
                  <a16:creationId xmlns:a16="http://schemas.microsoft.com/office/drawing/2014/main" id="{C7FA0511-05C3-4CCE-A0DE-D6E9794E0BE8}"/>
                </a:ext>
              </a:extLst>
            </p:cNvPr>
            <p:cNvCxnSpPr>
              <a:stCxn id="124" idx="3"/>
            </p:cNvCxnSpPr>
            <p:nvPr/>
          </p:nvCxnSpPr>
          <p:spPr>
            <a:xfrm>
              <a:off x="3463638" y="3253474"/>
              <a:ext cx="188877" cy="1086382"/>
            </a:xfrm>
            <a:prstGeom prst="bentConnector2">
              <a:avLst/>
            </a:prstGeom>
            <a:noFill/>
            <a:ln w="12700" cap="sq"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6" name="肘形连接符 56">
              <a:extLst>
                <a:ext uri="{FF2B5EF4-FFF2-40B4-BE49-F238E27FC236}">
                  <a16:creationId xmlns:a16="http://schemas.microsoft.com/office/drawing/2014/main" id="{09601AFF-8684-43F7-93BD-F6492D4DCF62}"/>
                </a:ext>
              </a:extLst>
            </p:cNvPr>
            <p:cNvCxnSpPr>
              <a:stCxn id="117" idx="1"/>
            </p:cNvCxnSpPr>
            <p:nvPr/>
          </p:nvCxnSpPr>
          <p:spPr>
            <a:xfrm rot="10800000" flipV="1">
              <a:off x="4238337" y="2766413"/>
              <a:ext cx="189477" cy="1799182"/>
            </a:xfrm>
            <a:prstGeom prst="bentConnector2">
              <a:avLst/>
            </a:prstGeom>
            <a:noFill/>
            <a:ln w="12700" cap="sq"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6D821E5B-DEAA-4AC1-AD22-465040D57E93}"/>
                </a:ext>
              </a:extLst>
            </p:cNvPr>
            <p:cNvCxnSpPr>
              <a:stCxn id="121" idx="2"/>
            </p:cNvCxnSpPr>
            <p:nvPr/>
          </p:nvCxnSpPr>
          <p:spPr>
            <a:xfrm>
              <a:off x="2796676" y="4072013"/>
              <a:ext cx="0" cy="276349"/>
            </a:xfrm>
            <a:prstGeom prst="straightConnector1">
              <a:avLst/>
            </a:prstGeom>
            <a:noFill/>
            <a:ln w="12700" cap="sq"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66D581C3-6478-42E6-93AB-9721A7884285}"/>
                </a:ext>
              </a:extLst>
            </p:cNvPr>
            <p:cNvGrpSpPr/>
            <p:nvPr/>
          </p:nvGrpSpPr>
          <p:grpSpPr>
            <a:xfrm>
              <a:off x="6079773" y="4126922"/>
              <a:ext cx="771046" cy="652065"/>
              <a:chOff x="572855" y="4071207"/>
              <a:chExt cx="1167661" cy="392361"/>
            </a:xfrm>
            <a:noFill/>
          </p:grpSpPr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E6236E00-818C-4C15-8EA8-309403F2BF0D}"/>
                  </a:ext>
                </a:extLst>
              </p:cNvPr>
              <p:cNvSpPr txBox="1"/>
              <p:nvPr/>
            </p:nvSpPr>
            <p:spPr>
              <a:xfrm>
                <a:off x="572855" y="4071207"/>
                <a:ext cx="1167661" cy="392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/>
            </p:spPr>
            <p:txBody>
              <a:bodyPr wrap="square" rtlCol="0">
                <a:noAutofit/>
              </a:bodyPr>
              <a:lstStyle/>
              <a:p>
                <a:endParaRPr lang="zh-CN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C2425591-6DD8-4453-A61E-ED40C564086A}"/>
                  </a:ext>
                </a:extLst>
              </p:cNvPr>
              <p:cNvSpPr txBox="1"/>
              <p:nvPr/>
            </p:nvSpPr>
            <p:spPr>
              <a:xfrm>
                <a:off x="572855" y="4187957"/>
                <a:ext cx="1167661" cy="249195"/>
              </a:xfrm>
              <a:prstGeom prst="rect">
                <a:avLst/>
              </a:prstGeom>
              <a:grpFill/>
              <a:ln w="12700">
                <a:noFill/>
              </a:ln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1400" b="1">
                    <a:latin typeface="+mj-ea"/>
                    <a:ea typeface="+mj-ea"/>
                  </a:rPr>
                  <a:t>外设</a:t>
                </a:r>
              </a:p>
            </p:txBody>
          </p:sp>
        </p:grp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046E45AE-0B0E-4950-B5EB-0FBA2CDC6AA8}"/>
                </a:ext>
              </a:extLst>
            </p:cNvPr>
            <p:cNvCxnSpPr/>
            <p:nvPr/>
          </p:nvCxnSpPr>
          <p:spPr>
            <a:xfrm>
              <a:off x="4053901" y="2030154"/>
              <a:ext cx="0" cy="3002096"/>
            </a:xfrm>
            <a:prstGeom prst="line">
              <a:avLst/>
            </a:prstGeom>
            <a:noFill/>
            <a:ln w="12700" cap="sq">
              <a:solidFill>
                <a:schemeClr val="tx1">
                  <a:lumMod val="95000"/>
                  <a:lumOff val="5000"/>
                </a:schemeClr>
              </a:solidFill>
              <a:prstDash val="sysDot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FD32C597-8EAE-4843-9DAF-1D4641825F07}"/>
                </a:ext>
              </a:extLst>
            </p:cNvPr>
            <p:cNvSpPr txBox="1"/>
            <p:nvPr/>
          </p:nvSpPr>
          <p:spPr>
            <a:xfrm>
              <a:off x="5741659" y="1777026"/>
              <a:ext cx="1333929" cy="27156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+mj-ea"/>
                  <a:ea typeface="+mj-ea"/>
                </a:rPr>
                <a:t>设备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539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65512-292C-471B-A3B2-4A8CD793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16632"/>
            <a:ext cx="7886700" cy="617641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7.2.3  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接口的编址方式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160983-7F08-41E5-A95A-A8C830070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80728"/>
            <a:ext cx="7848872" cy="5688632"/>
          </a:xfrm>
        </p:spPr>
        <p:txBody>
          <a:bodyPr>
            <a:normAutofit/>
          </a:bodyPr>
          <a:lstStyle/>
          <a:p>
            <a:r>
              <a:rPr lang="zh-CN" altLang="en-US" b="1" dirty="0"/>
              <a:t>统一编址</a:t>
            </a:r>
            <a:endParaRPr lang="en-US" altLang="zh-CN" b="1" dirty="0"/>
          </a:p>
          <a:p>
            <a:pPr lvl="1"/>
            <a:r>
              <a:rPr lang="zh-CN" altLang="en-US" sz="1900" b="1" dirty="0"/>
              <a:t>内存映射编址（</a:t>
            </a:r>
            <a:r>
              <a:rPr lang="en-US" altLang="zh-CN" sz="1900" b="1" dirty="0"/>
              <a:t>Memory-mapped</a:t>
            </a:r>
            <a:r>
              <a:rPr lang="zh-CN" altLang="en-US" sz="1900" b="1" dirty="0"/>
              <a:t>）</a:t>
            </a:r>
            <a:endParaRPr lang="en-US" altLang="zh-CN" sz="1900" b="1" dirty="0"/>
          </a:p>
          <a:p>
            <a:pPr lvl="1"/>
            <a:r>
              <a:rPr lang="zh-CN" altLang="en-US" sz="1900" b="1" dirty="0"/>
              <a:t>外设地址与内存地址统一编址，同一个地址空间</a:t>
            </a:r>
            <a:endParaRPr lang="en-US" altLang="zh-CN" sz="1900" b="1" dirty="0"/>
          </a:p>
          <a:p>
            <a:pPr lvl="1"/>
            <a:r>
              <a:rPr lang="zh-CN" altLang="en-US" sz="1900" b="1" dirty="0"/>
              <a:t>不需要设置专用的</a:t>
            </a:r>
            <a:r>
              <a:rPr lang="en-US" altLang="zh-CN" sz="1900" b="1" dirty="0"/>
              <a:t>I/O</a:t>
            </a:r>
            <a:r>
              <a:rPr lang="zh-CN" altLang="en-US" sz="1900" b="1" dirty="0"/>
              <a:t>指令</a:t>
            </a:r>
            <a:endParaRPr lang="en-US" altLang="zh-CN" sz="1900" b="1" dirty="0"/>
          </a:p>
          <a:p>
            <a:pPr lvl="1"/>
            <a:r>
              <a:rPr lang="zh-CN" altLang="en-US" sz="1900" b="1" dirty="0"/>
              <a:t>采用访存指令访问外设，具体访问什么设备取决于地址</a:t>
            </a:r>
            <a:endParaRPr lang="en-US" altLang="zh-CN" sz="1900" b="1" dirty="0"/>
          </a:p>
          <a:p>
            <a:r>
              <a:rPr lang="zh-CN" altLang="en-US" b="1" dirty="0"/>
              <a:t>独立编址</a:t>
            </a:r>
            <a:endParaRPr lang="en-US" altLang="zh-CN" b="1" dirty="0"/>
          </a:p>
          <a:p>
            <a:pPr lvl="1"/>
            <a:r>
              <a:rPr lang="zh-CN" altLang="zh-CN" sz="1900" b="1" dirty="0"/>
              <a:t>端口映射编址（</a:t>
            </a:r>
            <a:r>
              <a:rPr lang="en-US" altLang="zh-CN" sz="1900" b="1" dirty="0"/>
              <a:t>Port-mapped</a:t>
            </a:r>
            <a:r>
              <a:rPr lang="zh-CN" altLang="zh-CN" sz="1900" b="1" dirty="0"/>
              <a:t>）</a:t>
            </a:r>
            <a:endParaRPr lang="en-US" altLang="zh-CN" sz="1900" b="1" dirty="0"/>
          </a:p>
          <a:p>
            <a:pPr lvl="1"/>
            <a:r>
              <a:rPr lang="en-US" altLang="zh-CN" sz="1900" b="1" dirty="0"/>
              <a:t>I/O</a:t>
            </a:r>
            <a:r>
              <a:rPr lang="zh-CN" altLang="zh-CN" sz="1900" b="1" dirty="0"/>
              <a:t>地址空间与主存地址空间相互独立</a:t>
            </a:r>
            <a:endParaRPr lang="en-US" altLang="zh-CN" sz="1900" b="1" dirty="0"/>
          </a:p>
          <a:p>
            <a:pPr lvl="1"/>
            <a:r>
              <a:rPr lang="en-US" altLang="zh-CN" sz="1900" b="1" dirty="0"/>
              <a:t>I/O</a:t>
            </a:r>
            <a:r>
              <a:rPr lang="zh-CN" altLang="zh-CN" sz="1900" b="1" dirty="0"/>
              <a:t>地址又称为</a:t>
            </a:r>
            <a:r>
              <a:rPr lang="en-US" altLang="zh-CN" sz="1900" b="1" dirty="0"/>
              <a:t>I/O</a:t>
            </a:r>
            <a:r>
              <a:rPr lang="zh-CN" altLang="zh-CN" sz="1900" b="1" dirty="0"/>
              <a:t>端口</a:t>
            </a:r>
            <a:endParaRPr lang="en-US" altLang="zh-CN" sz="1900" b="1" dirty="0"/>
          </a:p>
          <a:p>
            <a:pPr lvl="1"/>
            <a:r>
              <a:rPr lang="zh-CN" altLang="zh-CN" sz="1900" b="1" dirty="0"/>
              <a:t>不同设备中的不同寄存器和存储器都有唯一的端口地址</a:t>
            </a:r>
            <a:endParaRPr lang="en-US" altLang="zh-CN" sz="1900" b="1" dirty="0"/>
          </a:p>
          <a:p>
            <a:pPr lvl="1"/>
            <a:r>
              <a:rPr lang="zh-CN" altLang="zh-CN" sz="1900" b="1" dirty="0"/>
              <a:t>使用</a:t>
            </a:r>
            <a:r>
              <a:rPr lang="en-US" altLang="zh-CN" sz="1900" b="1" dirty="0"/>
              <a:t>I/O</a:t>
            </a:r>
            <a:r>
              <a:rPr lang="zh-CN" altLang="zh-CN" sz="1900" b="1" dirty="0"/>
              <a:t>指令访问外设</a:t>
            </a:r>
            <a:endParaRPr lang="zh-CN" altLang="en-US" sz="19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D55A1A5-29EF-48CA-8F68-A9F77C6743A2}"/>
              </a:ext>
            </a:extLst>
          </p:cNvPr>
          <p:cNvGrpSpPr/>
          <p:nvPr/>
        </p:nvGrpSpPr>
        <p:grpSpPr>
          <a:xfrm>
            <a:off x="5364088" y="332656"/>
            <a:ext cx="3456384" cy="1674127"/>
            <a:chOff x="5734896" y="3465855"/>
            <a:chExt cx="3019377" cy="1674127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F091956-1873-47F2-BE91-48C0E72FEAAC}"/>
                </a:ext>
              </a:extLst>
            </p:cNvPr>
            <p:cNvSpPr txBox="1"/>
            <p:nvPr/>
          </p:nvSpPr>
          <p:spPr>
            <a:xfrm>
              <a:off x="6943570" y="3465855"/>
              <a:ext cx="1141439" cy="16741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/>
          </p:spPr>
          <p:txBody>
            <a:bodyPr wrap="square" rtlCol="0">
              <a:no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478EC56-13FD-44F3-AE09-9365F5E46ADB}"/>
                </a:ext>
              </a:extLst>
            </p:cNvPr>
            <p:cNvGrpSpPr/>
            <p:nvPr/>
          </p:nvGrpSpPr>
          <p:grpSpPr>
            <a:xfrm>
              <a:off x="7011463" y="3738447"/>
              <a:ext cx="1007215" cy="327104"/>
              <a:chOff x="572855" y="4071207"/>
              <a:chExt cx="1167661" cy="392361"/>
            </a:xfrm>
            <a:solidFill>
              <a:schemeClr val="accent6">
                <a:lumMod val="60000"/>
                <a:lumOff val="40000"/>
              </a:schemeClr>
            </a:solidFill>
            <a:effectLst/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DDB66B-CF3D-4C80-B2A8-095B8CB698F4}"/>
                  </a:ext>
                </a:extLst>
              </p:cNvPr>
              <p:cNvSpPr txBox="1"/>
              <p:nvPr/>
            </p:nvSpPr>
            <p:spPr>
              <a:xfrm>
                <a:off x="572855" y="4071207"/>
                <a:ext cx="1167661" cy="392361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  <a:effectLst/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>
                  <a:solidFill>
                    <a:prstClr val="black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124A563-3F01-413A-B8DD-919BC6A8C336}"/>
                  </a:ext>
                </a:extLst>
              </p:cNvPr>
              <p:cNvSpPr txBox="1"/>
              <p:nvPr/>
            </p:nvSpPr>
            <p:spPr>
              <a:xfrm>
                <a:off x="615728" y="4136934"/>
                <a:ext cx="1071663" cy="249195"/>
              </a:xfrm>
              <a:prstGeom prst="rect">
                <a:avLst/>
              </a:prstGeom>
              <a:grpFill/>
              <a:ln w="12700">
                <a:noFill/>
              </a:ln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>
                    <a:solidFill>
                      <a:prstClr val="black"/>
                    </a:solidFill>
                    <a:latin typeface="宋体" panose="02010600030101010101" pitchFamily="2" charset="-122"/>
                  </a:rPr>
                  <a:t>I/O</a:t>
                </a:r>
                <a:endParaRPr lang="zh-CN" altLang="en-US" sz="900">
                  <a:solidFill>
                    <a:prstClr val="black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7A6101B-8A53-4D01-999D-068E5E5EE97F}"/>
                </a:ext>
              </a:extLst>
            </p:cNvPr>
            <p:cNvSpPr txBox="1"/>
            <p:nvPr/>
          </p:nvSpPr>
          <p:spPr>
            <a:xfrm>
              <a:off x="7011463" y="4730359"/>
              <a:ext cx="1007215" cy="3271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txBody>
            <a:bodyPr wrap="square" rtlCol="0">
              <a:no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0BC5E1E-3C95-48B6-A8BC-362438D8DD2F}"/>
                </a:ext>
              </a:extLst>
            </p:cNvPr>
            <p:cNvGrpSpPr/>
            <p:nvPr/>
          </p:nvGrpSpPr>
          <p:grpSpPr>
            <a:xfrm>
              <a:off x="5734896" y="3994869"/>
              <a:ext cx="546555" cy="803053"/>
              <a:chOff x="572855" y="4071207"/>
              <a:chExt cx="1183127" cy="392361"/>
            </a:xfrm>
            <a:noFill/>
            <a:effectLst/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FEEDA9C-F233-4A43-905C-23950571AF3B}"/>
                  </a:ext>
                </a:extLst>
              </p:cNvPr>
              <p:cNvSpPr txBox="1"/>
              <p:nvPr/>
            </p:nvSpPr>
            <p:spPr>
              <a:xfrm>
                <a:off x="572855" y="4071207"/>
                <a:ext cx="1167661" cy="392361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  <a:effectLst/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>
                  <a:solidFill>
                    <a:prstClr val="black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78FF2E8-1896-4882-A5AC-0085EB5C2756}"/>
                  </a:ext>
                </a:extLst>
              </p:cNvPr>
              <p:cNvSpPr txBox="1"/>
              <p:nvPr/>
            </p:nvSpPr>
            <p:spPr>
              <a:xfrm>
                <a:off x="588319" y="4210474"/>
                <a:ext cx="1167663" cy="24919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endParaRPr lang="zh-CN" altLang="en-US" sz="900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4D517CC-2C47-4B4B-BCB0-4EDACAF95F53}"/>
                </a:ext>
              </a:extLst>
            </p:cNvPr>
            <p:cNvSpPr txBox="1"/>
            <p:nvPr/>
          </p:nvSpPr>
          <p:spPr>
            <a:xfrm>
              <a:off x="7092280" y="3501008"/>
              <a:ext cx="845580" cy="18237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统一地址空间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C30B3A1-10D5-41FD-88E2-D986F99532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4729" y="4181273"/>
              <a:ext cx="65393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0EE09E6E-7625-4C92-BA65-8257FA2047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4307" y="4613768"/>
              <a:ext cx="65393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0345300-55BC-45D1-966A-A7D086416D71}"/>
                </a:ext>
              </a:extLst>
            </p:cNvPr>
            <p:cNvSpPr txBox="1"/>
            <p:nvPr/>
          </p:nvSpPr>
          <p:spPr>
            <a:xfrm>
              <a:off x="6286163" y="3996316"/>
              <a:ext cx="656975" cy="238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solidFill>
                    <a:prstClr val="black"/>
                  </a:solidFill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46336F5-DC4A-4196-AD81-38FD4A21A1FA}"/>
                </a:ext>
              </a:extLst>
            </p:cNvPr>
            <p:cNvSpPr txBox="1"/>
            <p:nvPr/>
          </p:nvSpPr>
          <p:spPr>
            <a:xfrm>
              <a:off x="6284153" y="4429936"/>
              <a:ext cx="656975" cy="238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900">
                  <a:solidFill>
                    <a:prstClr val="black"/>
                  </a:solidFill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7D287A1-DB90-496A-B898-B31FDEEBDEEA}"/>
                </a:ext>
              </a:extLst>
            </p:cNvPr>
            <p:cNvSpPr txBox="1"/>
            <p:nvPr/>
          </p:nvSpPr>
          <p:spPr>
            <a:xfrm>
              <a:off x="8043168" y="4892213"/>
              <a:ext cx="711105" cy="238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>
                  <a:solidFill>
                    <a:prstClr val="black"/>
                  </a:solidFill>
                  <a:latin typeface="宋体" panose="02010600030101010101" pitchFamily="2" charset="-122"/>
                </a:rPr>
                <a:t>0x00000000</a:t>
              </a:r>
              <a:endParaRPr lang="zh-CN" altLang="en-US" sz="90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01DCD56-158F-4184-B978-9C1F5E222180}"/>
                </a:ext>
              </a:extLst>
            </p:cNvPr>
            <p:cNvSpPr txBox="1"/>
            <p:nvPr/>
          </p:nvSpPr>
          <p:spPr>
            <a:xfrm>
              <a:off x="8043168" y="3925884"/>
              <a:ext cx="711105" cy="238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>
                  <a:solidFill>
                    <a:prstClr val="black"/>
                  </a:solidFill>
                  <a:latin typeface="宋体" panose="02010600030101010101" pitchFamily="2" charset="-122"/>
                </a:rPr>
                <a:t>0xffff0000</a:t>
              </a:r>
              <a:endParaRPr lang="zh-CN" altLang="en-US" sz="90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622E80F-1532-43DA-AD12-4F3095F3BBDB}"/>
                </a:ext>
              </a:extLst>
            </p:cNvPr>
            <p:cNvSpPr txBox="1"/>
            <p:nvPr/>
          </p:nvSpPr>
          <p:spPr>
            <a:xfrm>
              <a:off x="8043168" y="3663669"/>
              <a:ext cx="711105" cy="238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>
                  <a:solidFill>
                    <a:prstClr val="black"/>
                  </a:solidFill>
                  <a:latin typeface="宋体" panose="02010600030101010101" pitchFamily="2" charset="-122"/>
                </a:rPr>
                <a:t>0xffffffff</a:t>
              </a:r>
              <a:endParaRPr lang="zh-CN" altLang="en-US" sz="90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0E3A354-B81D-4E05-A042-F66A40EBC790}"/>
                </a:ext>
              </a:extLst>
            </p:cNvPr>
            <p:cNvSpPr txBox="1"/>
            <p:nvPr/>
          </p:nvSpPr>
          <p:spPr>
            <a:xfrm>
              <a:off x="8043168" y="4629997"/>
              <a:ext cx="711105" cy="238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>
                  <a:solidFill>
                    <a:prstClr val="black"/>
                  </a:solidFill>
                  <a:latin typeface="宋体" panose="02010600030101010101" pitchFamily="2" charset="-122"/>
                </a:rPr>
                <a:t>0x0000ffff</a:t>
              </a:r>
              <a:endParaRPr lang="zh-CN" altLang="en-US" sz="90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98E15074-0D57-40F2-A490-D073D6CEB8ED}"/>
                </a:ext>
              </a:extLst>
            </p:cNvPr>
            <p:cNvGrpSpPr/>
            <p:nvPr/>
          </p:nvGrpSpPr>
          <p:grpSpPr>
            <a:xfrm>
              <a:off x="7011463" y="4062158"/>
              <a:ext cx="1007215" cy="669296"/>
              <a:chOff x="572855" y="4071207"/>
              <a:chExt cx="1167661" cy="392361"/>
            </a:xfrm>
            <a:solidFill>
              <a:schemeClr val="bg1"/>
            </a:solidFill>
            <a:effectLst/>
          </p:grpSpPr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BB99299-D370-4CB9-8538-4E6E94EB4FE0}"/>
                  </a:ext>
                </a:extLst>
              </p:cNvPr>
              <p:cNvSpPr txBox="1"/>
              <p:nvPr/>
            </p:nvSpPr>
            <p:spPr>
              <a:xfrm>
                <a:off x="572855" y="4071207"/>
                <a:ext cx="1167661" cy="392361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  <a:effectLst/>
            </p:spPr>
            <p:txBody>
              <a:bodyPr wrap="square" rtlCol="0">
                <a:no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350">
                  <a:solidFill>
                    <a:prstClr val="black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5B543AD-71F4-4D74-AF83-2F14E618FF6F}"/>
                  </a:ext>
                </a:extLst>
              </p:cNvPr>
              <p:cNvSpPr txBox="1"/>
              <p:nvPr/>
            </p:nvSpPr>
            <p:spPr>
              <a:xfrm>
                <a:off x="615728" y="4183273"/>
                <a:ext cx="1071663" cy="202856"/>
              </a:xfrm>
              <a:prstGeom prst="rect">
                <a:avLst/>
              </a:prstGeom>
              <a:grpFill/>
              <a:ln w="12700">
                <a:noFill/>
              </a:ln>
            </p:spPr>
            <p:txBody>
              <a:bodyPr wrap="square" rtlCol="0">
                <a:no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900" dirty="0">
                    <a:solidFill>
                      <a:prstClr val="black"/>
                    </a:solidFill>
                    <a:latin typeface="宋体" panose="02010600030101010101" pitchFamily="2" charset="-122"/>
                  </a:rPr>
                  <a:t>RAM</a:t>
                </a:r>
                <a:endParaRPr lang="zh-CN" altLang="en-US" sz="900" dirty="0">
                  <a:solidFill>
                    <a:prstClr val="black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9EF789C5-55AC-4732-AB70-946E3C687BD6}"/>
                </a:ext>
              </a:extLst>
            </p:cNvPr>
            <p:cNvSpPr txBox="1"/>
            <p:nvPr/>
          </p:nvSpPr>
          <p:spPr>
            <a:xfrm>
              <a:off x="7011462" y="4785155"/>
              <a:ext cx="1007216" cy="20774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>
                  <a:solidFill>
                    <a:prstClr val="black"/>
                  </a:solidFill>
                  <a:latin typeface="宋体" panose="02010600030101010101" pitchFamily="2" charset="-122"/>
                </a:rPr>
                <a:t>ROM</a:t>
              </a:r>
              <a:endParaRPr lang="zh-CN" altLang="en-US" sz="900">
                <a:solidFill>
                  <a:prstClr val="black"/>
                </a:solidFill>
                <a:latin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169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650531-C081-43DB-966C-A8C144A55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617641"/>
          </a:xfrm>
        </p:spPr>
        <p:txBody>
          <a:bodyPr/>
          <a:lstStyle/>
          <a:p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不同编址方式程序实例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FEAA881-AE25-40FE-84A1-2AADE81EA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2696"/>
            <a:ext cx="8273309" cy="390207"/>
          </a:xfrm>
        </p:spPr>
        <p:txBody>
          <a:bodyPr>
            <a:noAutofit/>
          </a:bodyPr>
          <a:lstStyle/>
          <a:p>
            <a:r>
              <a:rPr lang="zh-CN" altLang="en-US" sz="1800" b="1" dirty="0"/>
              <a:t>统一编址：访存指令访问外设，具体访问什么设备取决于内存地址</a:t>
            </a:r>
            <a:endParaRPr lang="en-US" altLang="zh-CN" sz="1800" b="1" dirty="0"/>
          </a:p>
          <a:p>
            <a:endParaRPr lang="zh-CN" altLang="en-US" sz="1800" dirty="0"/>
          </a:p>
        </p:txBody>
      </p:sp>
      <p:pic>
        <p:nvPicPr>
          <p:cNvPr id="6" name="内容占位符 3">
            <a:extLst>
              <a:ext uri="{FF2B5EF4-FFF2-40B4-BE49-F238E27FC236}">
                <a16:creationId xmlns:a16="http://schemas.microsoft.com/office/drawing/2014/main" id="{1B576A77-DA6F-4ADC-B564-E356A385E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268760"/>
            <a:ext cx="8721648" cy="2736304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F815B510-FAC4-4DD0-BE2E-6D7BBDCC3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0" y="4797152"/>
            <a:ext cx="8880779" cy="1353792"/>
          </a:xfrm>
          <a:prstGeom prst="rect">
            <a:avLst/>
          </a:prstGeom>
        </p:spPr>
      </p:pic>
      <p:sp>
        <p:nvSpPr>
          <p:cNvPr id="29" name="内容占位符 4">
            <a:extLst>
              <a:ext uri="{FF2B5EF4-FFF2-40B4-BE49-F238E27FC236}">
                <a16:creationId xmlns:a16="http://schemas.microsoft.com/office/drawing/2014/main" id="{35E2CC30-EF13-44DC-AD5A-BE46ABE6AAC4}"/>
              </a:ext>
            </a:extLst>
          </p:cNvPr>
          <p:cNvSpPr txBox="1">
            <a:spLocks/>
          </p:cNvSpPr>
          <p:nvPr/>
        </p:nvSpPr>
        <p:spPr>
          <a:xfrm>
            <a:off x="107504" y="4077072"/>
            <a:ext cx="8273309" cy="39020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C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p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 fontAlgn="auto">
              <a:spcBef>
                <a:spcPts val="75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prstClr val="black"/>
                </a:solidFill>
              </a:rPr>
              <a:t>独立编址：</a:t>
            </a:r>
            <a:r>
              <a:rPr lang="en-US" altLang="zh-CN" sz="1800" b="1" dirty="0">
                <a:solidFill>
                  <a:prstClr val="black"/>
                </a:solidFill>
              </a:rPr>
              <a:t>I/O</a:t>
            </a:r>
            <a:r>
              <a:rPr lang="zh-CN" altLang="en-US" sz="1800" b="1" dirty="0">
                <a:solidFill>
                  <a:prstClr val="black"/>
                </a:solidFill>
              </a:rPr>
              <a:t>指令访问外设，具体访问什么设备取决于端口地址</a:t>
            </a:r>
            <a:endParaRPr lang="en-US" altLang="zh-CN" sz="1800" b="1" dirty="0">
              <a:solidFill>
                <a:prstClr val="black"/>
              </a:solidFill>
            </a:endParaRPr>
          </a:p>
          <a:p>
            <a:pPr marL="257175" indent="-257175" defTabSz="685800" fontAlgn="auto">
              <a:spcBef>
                <a:spcPts val="750"/>
              </a:spcBef>
              <a:spcAft>
                <a:spcPts val="0"/>
              </a:spcAft>
            </a:pPr>
            <a:endParaRPr lang="zh-CN" altLang="en-US" sz="1800" dirty="0">
              <a:solidFill>
                <a:prstClr val="black"/>
              </a:solidFill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CADBB6A-20D8-4384-BBF9-5F3D76DEB90D}"/>
              </a:ext>
            </a:extLst>
          </p:cNvPr>
          <p:cNvSpPr/>
          <p:nvPr/>
        </p:nvSpPr>
        <p:spPr>
          <a:xfrm>
            <a:off x="5148064" y="3140968"/>
            <a:ext cx="2592288" cy="28803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zh-CN" altLang="en-US" sz="135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613528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C5095D-98FA-40B9-A1B5-F5A0379F6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836712"/>
            <a:ext cx="8784976" cy="5832648"/>
          </a:xfrm>
        </p:spPr>
        <p:txBody>
          <a:bodyPr>
            <a:noAutofit/>
          </a:bodyPr>
          <a:lstStyle/>
          <a:p>
            <a:pPr lvl="0"/>
            <a:r>
              <a:rPr lang="zh-CN" altLang="zh-CN" sz="2400" dirty="0"/>
              <a:t>按数据传送方式</a:t>
            </a:r>
            <a:endParaRPr lang="en-US" altLang="zh-CN" sz="2400" dirty="0"/>
          </a:p>
          <a:p>
            <a:pPr lvl="1"/>
            <a:r>
              <a:rPr lang="zh-CN" altLang="zh-CN" sz="2400" dirty="0"/>
              <a:t>并行</a:t>
            </a:r>
            <a:r>
              <a:rPr lang="zh-CN" altLang="en-US" sz="2400" dirty="0"/>
              <a:t>、</a:t>
            </a:r>
            <a:r>
              <a:rPr lang="zh-CN" altLang="zh-CN" sz="2400" dirty="0"/>
              <a:t>串行接口</a:t>
            </a:r>
          </a:p>
          <a:p>
            <a:pPr lvl="0"/>
            <a:r>
              <a:rPr lang="zh-CN" altLang="zh-CN" sz="2400" dirty="0"/>
              <a:t>按接口的灵活性</a:t>
            </a:r>
            <a:endParaRPr lang="en-US" altLang="zh-CN" sz="2400" dirty="0"/>
          </a:p>
          <a:p>
            <a:pPr lvl="1"/>
            <a:r>
              <a:rPr lang="zh-CN" altLang="zh-CN" sz="2400" dirty="0"/>
              <a:t>可编程接口</a:t>
            </a:r>
            <a:r>
              <a:rPr lang="zh-CN" altLang="en-US" sz="2400" dirty="0"/>
              <a:t>、</a:t>
            </a:r>
            <a:r>
              <a:rPr lang="zh-CN" altLang="zh-CN" sz="2400" dirty="0"/>
              <a:t>不可编程接口</a:t>
            </a:r>
          </a:p>
          <a:p>
            <a:r>
              <a:rPr lang="zh-CN" altLang="zh-CN" sz="2400" dirty="0"/>
              <a:t>按通用性</a:t>
            </a:r>
            <a:r>
              <a:rPr lang="zh-CN" altLang="en-US" sz="2400" dirty="0"/>
              <a:t>： </a:t>
            </a:r>
            <a:r>
              <a:rPr lang="zh-CN" altLang="zh-CN" sz="2400" dirty="0">
                <a:solidFill>
                  <a:srgbClr val="C00000"/>
                </a:solidFill>
              </a:rPr>
              <a:t>通用</a:t>
            </a:r>
            <a:r>
              <a:rPr lang="zh-CN" altLang="en-US" sz="2400" dirty="0">
                <a:solidFill>
                  <a:srgbClr val="C00000"/>
                </a:solidFill>
              </a:rPr>
              <a:t>、</a:t>
            </a:r>
            <a:r>
              <a:rPr lang="zh-CN" altLang="zh-CN" sz="2400" dirty="0">
                <a:solidFill>
                  <a:srgbClr val="C00000"/>
                </a:solidFill>
              </a:rPr>
              <a:t>专用接口</a:t>
            </a:r>
            <a:endParaRPr lang="en-US" altLang="zh-CN" sz="2400" dirty="0"/>
          </a:p>
          <a:p>
            <a:pPr lvl="0"/>
            <a:r>
              <a:rPr lang="zh-CN" altLang="zh-CN" sz="2400" dirty="0"/>
              <a:t>按总线传输的通信方式</a:t>
            </a:r>
            <a:r>
              <a:rPr lang="zh-CN" altLang="en-US" sz="2400" dirty="0"/>
              <a:t>：</a:t>
            </a:r>
            <a:r>
              <a:rPr lang="zh-CN" altLang="zh-CN" sz="2400" dirty="0">
                <a:solidFill>
                  <a:srgbClr val="C00000"/>
                </a:solidFill>
              </a:rPr>
              <a:t>同步</a:t>
            </a:r>
            <a:r>
              <a:rPr lang="zh-CN" altLang="en-US" sz="2400" dirty="0">
                <a:solidFill>
                  <a:srgbClr val="C00000"/>
                </a:solidFill>
              </a:rPr>
              <a:t>、</a:t>
            </a:r>
            <a:r>
              <a:rPr lang="zh-CN" altLang="zh-CN" sz="2400" dirty="0">
                <a:solidFill>
                  <a:srgbClr val="C00000"/>
                </a:solidFill>
              </a:rPr>
              <a:t>异步接口</a:t>
            </a:r>
          </a:p>
          <a:p>
            <a:pPr lvl="0"/>
            <a:r>
              <a:rPr lang="zh-CN" altLang="zh-CN" sz="2400" dirty="0"/>
              <a:t>按访问外设的方式</a:t>
            </a:r>
            <a:endParaRPr lang="en-US" altLang="zh-CN" sz="2400" dirty="0"/>
          </a:p>
          <a:p>
            <a:pPr lvl="1"/>
            <a:r>
              <a:rPr lang="zh-CN" altLang="zh-CN" sz="2400" dirty="0"/>
              <a:t>直接传送方式、程序控制方式、程序中断方式、</a:t>
            </a:r>
            <a:r>
              <a:rPr lang="en-US" altLang="zh-CN" sz="2400" dirty="0"/>
              <a:t>DMA</a:t>
            </a:r>
            <a:r>
              <a:rPr lang="zh-CN" altLang="zh-CN" sz="2400" dirty="0"/>
              <a:t>及通道处理机接口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EE0103C-6B9D-4D34-A3C9-0217E373A482}"/>
              </a:ext>
            </a:extLst>
          </p:cNvPr>
          <p:cNvSpPr txBox="1">
            <a:spLocks/>
          </p:cNvSpPr>
          <p:nvPr/>
        </p:nvSpPr>
        <p:spPr>
          <a:xfrm>
            <a:off x="107504" y="116632"/>
            <a:ext cx="7886700" cy="61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28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7.2.4  I/O</a:t>
            </a:r>
            <a:r>
              <a:rPr lang="zh-CN" altLang="en-US" sz="28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接口的分类</a:t>
            </a:r>
          </a:p>
        </p:txBody>
      </p:sp>
    </p:spTree>
    <p:extLst>
      <p:ext uri="{BB962C8B-B14F-4D97-AF65-F5344CB8AC3E}">
        <p14:creationId xmlns:p14="http://schemas.microsoft.com/office/powerpoint/2010/main" val="1262414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60" y="19666"/>
            <a:ext cx="7812360" cy="731837"/>
          </a:xfrm>
        </p:spPr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7.2.5 MIPS</a:t>
            </a:r>
            <a:r>
              <a:rPr lang="zh-CN" altLang="zh-CN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机中</a:t>
            </a: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I/O</a:t>
            </a:r>
            <a:r>
              <a:rPr lang="zh-CN" altLang="zh-CN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编址与访问</a:t>
            </a:r>
            <a:endParaRPr lang="zh-CN" altLang="en-US" dirty="0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2DF7B442-CAFF-4B73-B012-DC30111A7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16" y="751503"/>
            <a:ext cx="8712968" cy="5184576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采用统一编址</a:t>
            </a:r>
            <a:endParaRPr lang="en-US" altLang="zh-CN" dirty="0"/>
          </a:p>
          <a:p>
            <a:pPr lvl="1"/>
            <a:r>
              <a:rPr lang="en-US" altLang="zh-CN" dirty="0"/>
              <a:t>LW</a:t>
            </a:r>
          </a:p>
          <a:p>
            <a:pPr lvl="1"/>
            <a:r>
              <a:rPr lang="en-US" altLang="zh-CN" dirty="0"/>
              <a:t>SW</a:t>
            </a:r>
            <a:endParaRPr lang="zh-CN" alt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37BE61B-8798-4EEE-99B9-D4C10780D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988839"/>
            <a:ext cx="1643199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784E4E6-0A95-44CF-B029-A1B3CBF82B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556278"/>
              </p:ext>
            </p:extLst>
          </p:nvPr>
        </p:nvGraphicFramePr>
        <p:xfrm>
          <a:off x="3635896" y="1988840"/>
          <a:ext cx="4176464" cy="3956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6" name="Visio" r:id="rId3" imgW="2325811" imgH="2197799" progId="Visio.Drawing.11">
                  <p:embed/>
                </p:oleObj>
              </mc:Choice>
              <mc:Fallback>
                <p:oleObj name="Visio" r:id="rId3" imgW="2325811" imgH="219779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1988840"/>
                        <a:ext cx="4176464" cy="39568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306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D4FBB3E-ED7A-45CF-9EDF-D6F6BC61E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/>
            <a:r>
              <a:rPr lang="zh-CN" altLang="en-US" b="1" dirty="0"/>
              <a:t>第 </a:t>
            </a:r>
            <a:r>
              <a:rPr lang="en-US" altLang="zh-CN" b="1" dirty="0"/>
              <a:t>7 </a:t>
            </a:r>
            <a:r>
              <a:rPr lang="zh-CN" altLang="en-US" b="1" dirty="0"/>
              <a:t>章 输入</a:t>
            </a:r>
            <a:r>
              <a:rPr lang="en-US" altLang="zh-CN" b="1" dirty="0"/>
              <a:t>/</a:t>
            </a:r>
            <a:r>
              <a:rPr lang="zh-CN" altLang="en-US" b="1" dirty="0"/>
              <a:t>输出系统</a:t>
            </a:r>
          </a:p>
        </p:txBody>
      </p:sp>
      <p:sp>
        <p:nvSpPr>
          <p:cNvPr id="4099" name="内容占位符 1">
            <a:extLst>
              <a:ext uri="{FF2B5EF4-FFF2-40B4-BE49-F238E27FC236}">
                <a16:creationId xmlns:a16="http://schemas.microsoft.com/office/drawing/2014/main" id="{4C1ACEFE-A55B-48FB-91A9-3906A3E66A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600" y="1268760"/>
            <a:ext cx="7450138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7. 1  </a:t>
            </a:r>
            <a:r>
              <a:rPr lang="zh-CN" altLang="en-US" dirty="0"/>
              <a:t>概 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2 I / O  </a:t>
            </a:r>
            <a:r>
              <a:rPr lang="zh-CN" altLang="en-US" dirty="0"/>
              <a:t>接 口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7. 3  </a:t>
            </a:r>
            <a:r>
              <a:rPr lang="zh-CN" altLang="en-US" dirty="0"/>
              <a:t>直接程序控制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7. 4  </a:t>
            </a:r>
            <a:r>
              <a:rPr lang="zh-CN" altLang="en-US" dirty="0"/>
              <a:t>程序中断控制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5 DMA</a:t>
            </a:r>
            <a:r>
              <a:rPr lang="zh-CN" altLang="en-US" dirty="0"/>
              <a:t>技术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7. 6  </a:t>
            </a:r>
            <a:r>
              <a:rPr lang="zh-CN" altLang="en-US" dirty="0"/>
              <a:t>通 道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043608" y="2420888"/>
            <a:ext cx="3882794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3200" dirty="0">
                <a:solidFill>
                  <a:schemeClr val="tx1"/>
                </a:solidFill>
              </a:rPr>
              <a:t>7. 3  </a:t>
            </a:r>
            <a:r>
              <a:rPr lang="zh-CN" altLang="en-US" sz="3200" dirty="0">
                <a:solidFill>
                  <a:schemeClr val="tx1"/>
                </a:solidFill>
              </a:rPr>
              <a:t>直接程序控制</a:t>
            </a:r>
          </a:p>
        </p:txBody>
      </p:sp>
    </p:spTree>
    <p:extLst>
      <p:ext uri="{BB962C8B-B14F-4D97-AF65-F5344CB8AC3E}">
        <p14:creationId xmlns:p14="http://schemas.microsoft.com/office/powerpoint/2010/main" val="149294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8CA035F-EB6A-480E-A066-9CDCF05787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116632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7. 3  </a:t>
            </a:r>
            <a:r>
              <a:rPr lang="zh-CN" altLang="en-US" b="1" dirty="0"/>
              <a:t>直接程序控制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D0AEB5DE-659A-48C3-9E81-00A6F7ADC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980728"/>
            <a:ext cx="296427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程序查询流程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CC5029F-289C-4B1B-940D-3B893ADA4824}"/>
              </a:ext>
            </a:extLst>
          </p:cNvPr>
          <p:cNvGrpSpPr>
            <a:grpSpLocks/>
          </p:cNvGrpSpPr>
          <p:nvPr/>
        </p:nvGrpSpPr>
        <p:grpSpPr bwMode="auto">
          <a:xfrm>
            <a:off x="4033838" y="1201738"/>
            <a:ext cx="4610100" cy="5486400"/>
            <a:chOff x="2541" y="816"/>
            <a:chExt cx="2904" cy="3456"/>
          </a:xfrm>
        </p:grpSpPr>
        <p:grpSp>
          <p:nvGrpSpPr>
            <p:cNvPr id="22557" name="Group 5">
              <a:extLst>
                <a:ext uri="{FF2B5EF4-FFF2-40B4-BE49-F238E27FC236}">
                  <a16:creationId xmlns:a16="http://schemas.microsoft.com/office/drawing/2014/main" id="{751C67AE-9720-4A72-B70C-56FA7E3EC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5" y="1063"/>
              <a:ext cx="1196" cy="250"/>
              <a:chOff x="2945" y="1063"/>
              <a:chExt cx="1196" cy="250"/>
            </a:xfrm>
          </p:grpSpPr>
          <p:sp>
            <p:nvSpPr>
              <p:cNvPr id="22585" name="Text Box 6">
                <a:extLst>
                  <a:ext uri="{FF2B5EF4-FFF2-40B4-BE49-F238E27FC236}">
                    <a16:creationId xmlns:a16="http://schemas.microsoft.com/office/drawing/2014/main" id="{8FE90F36-8B2C-4FA6-8C5D-188FEE6760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5" y="1063"/>
                <a:ext cx="1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检查状态标记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 </a:t>
                </a:r>
              </a:p>
            </p:txBody>
          </p:sp>
          <p:sp>
            <p:nvSpPr>
              <p:cNvPr id="22586" name="Rectangle 7">
                <a:extLst>
                  <a:ext uri="{FF2B5EF4-FFF2-40B4-BE49-F238E27FC236}">
                    <a16:creationId xmlns:a16="http://schemas.microsoft.com/office/drawing/2014/main" id="{8E15280F-B390-4C9F-B9B8-E7EF180D4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5" y="1063"/>
                <a:ext cx="1131" cy="247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2558" name="Text Box 8">
              <a:extLst>
                <a:ext uri="{FF2B5EF4-FFF2-40B4-BE49-F238E27FC236}">
                  <a16:creationId xmlns:a16="http://schemas.microsoft.com/office/drawing/2014/main" id="{1D96E0C1-C79D-4614-AEF2-AA0718EA1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589"/>
              <a:ext cx="95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设备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准备就绪？</a:t>
              </a:r>
            </a:p>
          </p:txBody>
        </p:sp>
        <p:sp>
          <p:nvSpPr>
            <p:cNvPr id="22559" name="AutoShape 9">
              <a:extLst>
                <a:ext uri="{FF2B5EF4-FFF2-40B4-BE49-F238E27FC236}">
                  <a16:creationId xmlns:a16="http://schemas.microsoft.com/office/drawing/2014/main" id="{B42E5776-3C5F-4451-ABDB-779A725CB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0" y="1515"/>
              <a:ext cx="1176" cy="618"/>
            </a:xfrm>
            <a:prstGeom prst="diamond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60" name="Line 10">
              <a:extLst>
                <a:ext uri="{FF2B5EF4-FFF2-40B4-BE49-F238E27FC236}">
                  <a16:creationId xmlns:a16="http://schemas.microsoft.com/office/drawing/2014/main" id="{34A98F24-605D-4957-AD69-02C358FF3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816"/>
              <a:ext cx="0" cy="247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61" name="Text Box 11">
              <a:extLst>
                <a:ext uri="{FF2B5EF4-FFF2-40B4-BE49-F238E27FC236}">
                  <a16:creationId xmlns:a16="http://schemas.microsoft.com/office/drawing/2014/main" id="{71584E09-9BB4-4CD9-B11C-390D59A931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6" y="2544"/>
              <a:ext cx="1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检查状态标记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sp>
          <p:nvSpPr>
            <p:cNvPr id="22562" name="Rectangle 12">
              <a:extLst>
                <a:ext uri="{FF2B5EF4-FFF2-40B4-BE49-F238E27FC236}">
                  <a16:creationId xmlns:a16="http://schemas.microsoft.com/office/drawing/2014/main" id="{C3CAD7A6-16BA-4562-81DF-FF0A3A6A7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5" y="2544"/>
              <a:ext cx="1183" cy="247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63" name="Text Box 13">
              <a:extLst>
                <a:ext uri="{FF2B5EF4-FFF2-40B4-BE49-F238E27FC236}">
                  <a16:creationId xmlns:a16="http://schemas.microsoft.com/office/drawing/2014/main" id="{19E7DF60-53D0-4F6F-8632-9BA21907F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3" y="3069"/>
              <a:ext cx="91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设备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准备就绪？</a:t>
              </a:r>
            </a:p>
          </p:txBody>
        </p:sp>
        <p:sp>
          <p:nvSpPr>
            <p:cNvPr id="22564" name="AutoShape 14">
              <a:extLst>
                <a:ext uri="{FF2B5EF4-FFF2-40B4-BE49-F238E27FC236}">
                  <a16:creationId xmlns:a16="http://schemas.microsoft.com/office/drawing/2014/main" id="{A7B2DEFA-AF99-4A31-880A-27799E266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0" y="2997"/>
              <a:ext cx="1176" cy="617"/>
            </a:xfrm>
            <a:prstGeom prst="diamond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65" name="Line 15">
              <a:extLst>
                <a:ext uri="{FF2B5EF4-FFF2-40B4-BE49-F238E27FC236}">
                  <a16:creationId xmlns:a16="http://schemas.microsoft.com/office/drawing/2014/main" id="{C721AD0A-3FC6-4D5A-B1A4-6E78C3D3F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2133"/>
              <a:ext cx="0" cy="12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66" name="Text Box 16">
              <a:extLst>
                <a:ext uri="{FF2B5EF4-FFF2-40B4-BE49-F238E27FC236}">
                  <a16:creationId xmlns:a16="http://schemas.microsoft.com/office/drawing/2014/main" id="{B2703E9E-8466-4086-8788-AEBF716071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0" y="2234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22567" name="Line 17">
              <a:extLst>
                <a:ext uri="{FF2B5EF4-FFF2-40B4-BE49-F238E27FC236}">
                  <a16:creationId xmlns:a16="http://schemas.microsoft.com/office/drawing/2014/main" id="{2F42D073-DB31-4E8E-8FB4-D14947FB99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2421"/>
              <a:ext cx="0" cy="12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2568" name="Group 18">
              <a:extLst>
                <a:ext uri="{FF2B5EF4-FFF2-40B4-BE49-F238E27FC236}">
                  <a16:creationId xmlns:a16="http://schemas.microsoft.com/office/drawing/2014/main" id="{F0F65EF5-9F9C-4FD8-BB48-00E1B1BD07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2" y="1721"/>
              <a:ext cx="836" cy="257"/>
              <a:chOff x="4392" y="1721"/>
              <a:chExt cx="836" cy="257"/>
            </a:xfrm>
          </p:grpSpPr>
          <p:sp>
            <p:nvSpPr>
              <p:cNvPr id="22583" name="Text Box 19">
                <a:extLst>
                  <a:ext uri="{FF2B5EF4-FFF2-40B4-BE49-F238E27FC236}">
                    <a16:creationId xmlns:a16="http://schemas.microsoft.com/office/drawing/2014/main" id="{F1AF84B5-DA74-474B-9A82-DFFCD8D116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92" y="1728"/>
                <a:ext cx="8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处理设备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22584" name="Rectangle 20">
                <a:extLst>
                  <a:ext uri="{FF2B5EF4-FFF2-40B4-BE49-F238E27FC236}">
                    <a16:creationId xmlns:a16="http://schemas.microsoft.com/office/drawing/2014/main" id="{C30C3830-FD40-45F8-A57C-3F61C7C5A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2" y="1721"/>
                <a:ext cx="824" cy="247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2569" name="Freeform 21">
              <a:extLst>
                <a:ext uri="{FF2B5EF4-FFF2-40B4-BE49-F238E27FC236}">
                  <a16:creationId xmlns:a16="http://schemas.microsoft.com/office/drawing/2014/main" id="{714C9DC1-9B9B-47D4-90DB-8AE6B24F2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1829"/>
              <a:ext cx="320" cy="3"/>
            </a:xfrm>
            <a:custGeom>
              <a:avLst/>
              <a:gdLst>
                <a:gd name="T0" fmla="*/ 0 w 339"/>
                <a:gd name="T1" fmla="*/ 0 h 3"/>
                <a:gd name="T2" fmla="*/ 320 w 339"/>
                <a:gd name="T3" fmla="*/ 3 h 3"/>
                <a:gd name="T4" fmla="*/ 0 60000 65536"/>
                <a:gd name="T5" fmla="*/ 0 60000 65536"/>
                <a:gd name="T6" fmla="*/ 0 w 339"/>
                <a:gd name="T7" fmla="*/ 0 h 3"/>
                <a:gd name="T8" fmla="*/ 339 w 339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39" h="3">
                  <a:moveTo>
                    <a:pt x="0" y="0"/>
                  </a:moveTo>
                  <a:lnTo>
                    <a:pt x="339" y="3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70" name="Text Box 22">
              <a:extLst>
                <a:ext uri="{FF2B5EF4-FFF2-40B4-BE49-F238E27FC236}">
                  <a16:creationId xmlns:a16="http://schemas.microsoft.com/office/drawing/2014/main" id="{6C3D57EA-605C-4A2D-B38E-03683DEAE3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6" y="1598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是</a:t>
              </a:r>
            </a:p>
          </p:txBody>
        </p:sp>
        <p:sp>
          <p:nvSpPr>
            <p:cNvPr id="22571" name="Text Box 23">
              <a:extLst>
                <a:ext uri="{FF2B5EF4-FFF2-40B4-BE49-F238E27FC236}">
                  <a16:creationId xmlns:a16="http://schemas.microsoft.com/office/drawing/2014/main" id="{7B64AB71-0ECA-4F82-B6C2-6C2F2CF04D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2064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否</a:t>
              </a:r>
            </a:p>
          </p:txBody>
        </p:sp>
        <p:sp>
          <p:nvSpPr>
            <p:cNvPr id="22572" name="Freeform 24">
              <a:extLst>
                <a:ext uri="{FF2B5EF4-FFF2-40B4-BE49-F238E27FC236}">
                  <a16:creationId xmlns:a16="http://schemas.microsoft.com/office/drawing/2014/main" id="{B3863899-8557-418D-B5B0-EF0F30D71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898"/>
              <a:ext cx="947" cy="2411"/>
            </a:xfrm>
            <a:custGeom>
              <a:avLst/>
              <a:gdLst>
                <a:gd name="T0" fmla="*/ 387 w 947"/>
                <a:gd name="T1" fmla="*/ 2411 h 2411"/>
                <a:gd name="T2" fmla="*/ 0 w 947"/>
                <a:gd name="T3" fmla="*/ 2411 h 2411"/>
                <a:gd name="T4" fmla="*/ 3 w 947"/>
                <a:gd name="T5" fmla="*/ 0 h 2411"/>
                <a:gd name="T6" fmla="*/ 947 w 947"/>
                <a:gd name="T7" fmla="*/ 0 h 24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7"/>
                <a:gd name="T13" fmla="*/ 0 h 2411"/>
                <a:gd name="T14" fmla="*/ 947 w 947"/>
                <a:gd name="T15" fmla="*/ 2411 h 24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7" h="2411">
                  <a:moveTo>
                    <a:pt x="387" y="2411"/>
                  </a:moveTo>
                  <a:lnTo>
                    <a:pt x="0" y="2411"/>
                  </a:lnTo>
                  <a:lnTo>
                    <a:pt x="3" y="0"/>
                  </a:lnTo>
                  <a:lnTo>
                    <a:pt x="947" y="0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73" name="Text Box 25">
              <a:extLst>
                <a:ext uri="{FF2B5EF4-FFF2-40B4-BE49-F238E27FC236}">
                  <a16:creationId xmlns:a16="http://schemas.microsoft.com/office/drawing/2014/main" id="{FEA6BE2D-299A-435B-A318-7D6BDBE59B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3070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否</a:t>
              </a:r>
            </a:p>
          </p:txBody>
        </p:sp>
        <p:sp>
          <p:nvSpPr>
            <p:cNvPr id="22574" name="Text Box 26">
              <a:extLst>
                <a:ext uri="{FF2B5EF4-FFF2-40B4-BE49-F238E27FC236}">
                  <a16:creationId xmlns:a16="http://schemas.microsoft.com/office/drawing/2014/main" id="{4BE0017A-3ABB-4330-9232-F0006982CD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9" y="3819"/>
              <a:ext cx="8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处理设备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sp>
          <p:nvSpPr>
            <p:cNvPr id="22575" name="Rectangle 27">
              <a:extLst>
                <a:ext uri="{FF2B5EF4-FFF2-40B4-BE49-F238E27FC236}">
                  <a16:creationId xmlns:a16="http://schemas.microsoft.com/office/drawing/2014/main" id="{389D0885-72DC-41B1-8787-9143B5D9A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819"/>
              <a:ext cx="823" cy="247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76" name="Line 28">
              <a:extLst>
                <a:ext uri="{FF2B5EF4-FFF2-40B4-BE49-F238E27FC236}">
                  <a16:creationId xmlns:a16="http://schemas.microsoft.com/office/drawing/2014/main" id="{D479DF31-71CB-45A7-B639-7AC9D6BCA7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1310"/>
              <a:ext cx="0" cy="20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77" name="Line 29">
              <a:extLst>
                <a:ext uri="{FF2B5EF4-FFF2-40B4-BE49-F238E27FC236}">
                  <a16:creationId xmlns:a16="http://schemas.microsoft.com/office/drawing/2014/main" id="{F6EDD100-E482-4D41-99A9-5B79198AF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2791"/>
              <a:ext cx="0" cy="20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78" name="Line 30">
              <a:extLst>
                <a:ext uri="{FF2B5EF4-FFF2-40B4-BE49-F238E27FC236}">
                  <a16:creationId xmlns:a16="http://schemas.microsoft.com/office/drawing/2014/main" id="{1E759A7A-8F75-440C-AA80-02F7387C9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3614"/>
              <a:ext cx="0" cy="20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79" name="Line 31">
              <a:extLst>
                <a:ext uri="{FF2B5EF4-FFF2-40B4-BE49-F238E27FC236}">
                  <a16:creationId xmlns:a16="http://schemas.microsoft.com/office/drawing/2014/main" id="{9D763CA2-F892-42BF-8491-5E90962791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8" y="4066"/>
              <a:ext cx="0" cy="20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80" name="Text Box 32">
              <a:extLst>
                <a:ext uri="{FF2B5EF4-FFF2-40B4-BE49-F238E27FC236}">
                  <a16:creationId xmlns:a16="http://schemas.microsoft.com/office/drawing/2014/main" id="{787AA8D6-958B-4425-80EF-2DCDD05E26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542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是</a:t>
              </a:r>
            </a:p>
          </p:txBody>
        </p:sp>
        <p:sp>
          <p:nvSpPr>
            <p:cNvPr id="22581" name="Freeform 33">
              <a:extLst>
                <a:ext uri="{FF2B5EF4-FFF2-40B4-BE49-F238E27FC236}">
                  <a16:creationId xmlns:a16="http://schemas.microsoft.com/office/drawing/2014/main" id="{28DFE9D5-8ABF-44F0-8960-F99EE7DEA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6" y="1842"/>
              <a:ext cx="239" cy="3"/>
            </a:xfrm>
            <a:custGeom>
              <a:avLst/>
              <a:gdLst>
                <a:gd name="T0" fmla="*/ 0 w 239"/>
                <a:gd name="T1" fmla="*/ 3 h 3"/>
                <a:gd name="T2" fmla="*/ 239 w 239"/>
                <a:gd name="T3" fmla="*/ 0 h 3"/>
                <a:gd name="T4" fmla="*/ 0 60000 65536"/>
                <a:gd name="T5" fmla="*/ 0 60000 65536"/>
                <a:gd name="T6" fmla="*/ 0 w 239"/>
                <a:gd name="T7" fmla="*/ 0 h 3"/>
                <a:gd name="T8" fmla="*/ 239 w 239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9" h="3">
                  <a:moveTo>
                    <a:pt x="0" y="3"/>
                  </a:moveTo>
                  <a:lnTo>
                    <a:pt x="239" y="0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82" name="Freeform 34">
              <a:extLst>
                <a:ext uri="{FF2B5EF4-FFF2-40B4-BE49-F238E27FC236}">
                  <a16:creationId xmlns:a16="http://schemas.microsoft.com/office/drawing/2014/main" id="{099AF302-946D-4225-915E-57ED8B6D0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1" y="1842"/>
              <a:ext cx="1935" cy="2286"/>
            </a:xfrm>
            <a:custGeom>
              <a:avLst/>
              <a:gdLst>
                <a:gd name="T0" fmla="*/ 1935 w 1935"/>
                <a:gd name="T1" fmla="*/ 0 h 2286"/>
                <a:gd name="T2" fmla="*/ 1934 w 1935"/>
                <a:gd name="T3" fmla="*/ 2286 h 2286"/>
                <a:gd name="T4" fmla="*/ 0 w 1935"/>
                <a:gd name="T5" fmla="*/ 2286 h 2286"/>
                <a:gd name="T6" fmla="*/ 0 60000 65536"/>
                <a:gd name="T7" fmla="*/ 0 60000 65536"/>
                <a:gd name="T8" fmla="*/ 0 60000 65536"/>
                <a:gd name="T9" fmla="*/ 0 w 1935"/>
                <a:gd name="T10" fmla="*/ 0 h 2286"/>
                <a:gd name="T11" fmla="*/ 1935 w 1935"/>
                <a:gd name="T12" fmla="*/ 2286 h 22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5" h="2286">
                  <a:moveTo>
                    <a:pt x="1935" y="0"/>
                  </a:moveTo>
                  <a:lnTo>
                    <a:pt x="1934" y="2286"/>
                  </a:lnTo>
                  <a:lnTo>
                    <a:pt x="0" y="2286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3587" name="Text Box 35">
            <a:extLst>
              <a:ext uri="{FF2B5EF4-FFF2-40B4-BE49-F238E27FC236}">
                <a16:creationId xmlns:a16="http://schemas.microsoft.com/office/drawing/2014/main" id="{7A3B8A89-379D-4E0F-840F-13471C863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1982788"/>
            <a:ext cx="2216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查询流程</a:t>
            </a:r>
          </a:p>
        </p:txBody>
      </p:sp>
      <p:grpSp>
        <p:nvGrpSpPr>
          <p:cNvPr id="5" name="Group 36">
            <a:extLst>
              <a:ext uri="{FF2B5EF4-FFF2-40B4-BE49-F238E27FC236}">
                <a16:creationId xmlns:a16="http://schemas.microsoft.com/office/drawing/2014/main" id="{9448E36D-A626-49F1-8256-B4AE8DA0FDE5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3106738"/>
            <a:ext cx="2286000" cy="3352800"/>
            <a:chOff x="816" y="2016"/>
            <a:chExt cx="1440" cy="2112"/>
          </a:xfrm>
        </p:grpSpPr>
        <p:grpSp>
          <p:nvGrpSpPr>
            <p:cNvPr id="22541" name="Group 37">
              <a:extLst>
                <a:ext uri="{FF2B5EF4-FFF2-40B4-BE49-F238E27FC236}">
                  <a16:creationId xmlns:a16="http://schemas.microsoft.com/office/drawing/2014/main" id="{8F725882-51F9-4A33-AE54-8C630D4DF8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300"/>
              <a:ext cx="1152" cy="285"/>
              <a:chOff x="816" y="2300"/>
              <a:chExt cx="1152" cy="285"/>
            </a:xfrm>
          </p:grpSpPr>
          <p:sp>
            <p:nvSpPr>
              <p:cNvPr id="22555" name="Text Box 38">
                <a:extLst>
                  <a:ext uri="{FF2B5EF4-FFF2-40B4-BE49-F238E27FC236}">
                    <a16:creationId xmlns:a16="http://schemas.microsoft.com/office/drawing/2014/main" id="{F35EEE06-2FFD-4924-AB98-653870DE31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4" y="2304"/>
                <a:ext cx="10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检查状态标记</a:t>
                </a:r>
              </a:p>
            </p:txBody>
          </p:sp>
          <p:sp>
            <p:nvSpPr>
              <p:cNvPr id="22556" name="Rectangle 39">
                <a:extLst>
                  <a:ext uri="{FF2B5EF4-FFF2-40B4-BE49-F238E27FC236}">
                    <a16:creationId xmlns:a16="http://schemas.microsoft.com/office/drawing/2014/main" id="{B762B438-6ACD-44EF-B22D-386E353876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300"/>
                <a:ext cx="1152" cy="285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2542" name="Group 40">
              <a:extLst>
                <a:ext uri="{FF2B5EF4-FFF2-40B4-BE49-F238E27FC236}">
                  <a16:creationId xmlns:a16="http://schemas.microsoft.com/office/drawing/2014/main" id="{AC6CEFB9-0E20-4CAF-B055-6649709D66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3559"/>
              <a:ext cx="1296" cy="285"/>
              <a:chOff x="816" y="3559"/>
              <a:chExt cx="1296" cy="285"/>
            </a:xfrm>
          </p:grpSpPr>
          <p:sp>
            <p:nvSpPr>
              <p:cNvPr id="22553" name="Text Box 41">
                <a:extLst>
                  <a:ext uri="{FF2B5EF4-FFF2-40B4-BE49-F238E27FC236}">
                    <a16:creationId xmlns:a16="http://schemas.microsoft.com/office/drawing/2014/main" id="{E9CAD0FC-15B4-488C-9361-15D871A09F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3559"/>
                <a:ext cx="110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交换数据</a:t>
                </a:r>
              </a:p>
            </p:txBody>
          </p:sp>
          <p:sp>
            <p:nvSpPr>
              <p:cNvPr id="22554" name="Rectangle 42">
                <a:extLst>
                  <a:ext uri="{FF2B5EF4-FFF2-40B4-BE49-F238E27FC236}">
                    <a16:creationId xmlns:a16="http://schemas.microsoft.com/office/drawing/2014/main" id="{33F4510D-A148-477E-857F-A3F78B14A8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3559"/>
                <a:ext cx="1152" cy="285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2543" name="Group 43">
              <a:extLst>
                <a:ext uri="{FF2B5EF4-FFF2-40B4-BE49-F238E27FC236}">
                  <a16:creationId xmlns:a16="http://schemas.microsoft.com/office/drawing/2014/main" id="{6F93FB35-0348-48E6-8C16-7E97A56FF8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859"/>
              <a:ext cx="1152" cy="426"/>
              <a:chOff x="1968" y="2400"/>
              <a:chExt cx="1152" cy="504"/>
            </a:xfrm>
          </p:grpSpPr>
          <p:sp>
            <p:nvSpPr>
              <p:cNvPr id="22551" name="Text Box 44">
                <a:extLst>
                  <a:ext uri="{FF2B5EF4-FFF2-40B4-BE49-F238E27FC236}">
                    <a16:creationId xmlns:a16="http://schemas.microsoft.com/office/drawing/2014/main" id="{4F4DF8CD-CB59-490A-A47B-7F265A98B9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0" y="2529"/>
                <a:ext cx="836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准备就绪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?</a:t>
                </a:r>
              </a:p>
            </p:txBody>
          </p:sp>
          <p:sp>
            <p:nvSpPr>
              <p:cNvPr id="22552" name="AutoShape 45">
                <a:extLst>
                  <a:ext uri="{FF2B5EF4-FFF2-40B4-BE49-F238E27FC236}">
                    <a16:creationId xmlns:a16="http://schemas.microsoft.com/office/drawing/2014/main" id="{05E06C70-6E07-4FB0-9B03-82B7C9EC3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00"/>
                <a:ext cx="1152" cy="504"/>
              </a:xfrm>
              <a:prstGeom prst="diamond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2544" name="Line 46">
              <a:extLst>
                <a:ext uri="{FF2B5EF4-FFF2-40B4-BE49-F238E27FC236}">
                  <a16:creationId xmlns:a16="http://schemas.microsoft.com/office/drawing/2014/main" id="{2CE1C27A-6546-4DA8-BC00-04ADE195E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275"/>
              <a:ext cx="0" cy="28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45" name="Line 47">
              <a:extLst>
                <a:ext uri="{FF2B5EF4-FFF2-40B4-BE49-F238E27FC236}">
                  <a16:creationId xmlns:a16="http://schemas.microsoft.com/office/drawing/2014/main" id="{4513535C-A4CA-471E-BA82-58C635B6CF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585"/>
              <a:ext cx="0" cy="28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46" name="Line 48">
              <a:extLst>
                <a:ext uri="{FF2B5EF4-FFF2-40B4-BE49-F238E27FC236}">
                  <a16:creationId xmlns:a16="http://schemas.microsoft.com/office/drawing/2014/main" id="{F4619F32-C7DC-4D5C-BC9E-4AC736CF3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016"/>
              <a:ext cx="0" cy="28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47" name="Line 49">
              <a:extLst>
                <a:ext uri="{FF2B5EF4-FFF2-40B4-BE49-F238E27FC236}">
                  <a16:creationId xmlns:a16="http://schemas.microsoft.com/office/drawing/2014/main" id="{E6F08402-A8C7-4053-B4A4-1EA1484C3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844"/>
              <a:ext cx="0" cy="28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48" name="Freeform 50">
              <a:extLst>
                <a:ext uri="{FF2B5EF4-FFF2-40B4-BE49-F238E27FC236}">
                  <a16:creationId xmlns:a16="http://schemas.microsoft.com/office/drawing/2014/main" id="{4E1B02EE-9BC5-4387-9162-9A725B6CD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097"/>
              <a:ext cx="864" cy="978"/>
            </a:xfrm>
            <a:custGeom>
              <a:avLst/>
              <a:gdLst>
                <a:gd name="T0" fmla="*/ 552 w 864"/>
                <a:gd name="T1" fmla="*/ 978 h 978"/>
                <a:gd name="T2" fmla="*/ 861 w 864"/>
                <a:gd name="T3" fmla="*/ 978 h 978"/>
                <a:gd name="T4" fmla="*/ 864 w 864"/>
                <a:gd name="T5" fmla="*/ 0 h 978"/>
                <a:gd name="T6" fmla="*/ 0 w 864"/>
                <a:gd name="T7" fmla="*/ 0 h 97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4"/>
                <a:gd name="T13" fmla="*/ 0 h 978"/>
                <a:gd name="T14" fmla="*/ 864 w 864"/>
                <a:gd name="T15" fmla="*/ 978 h 97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4" h="978">
                  <a:moveTo>
                    <a:pt x="552" y="978"/>
                  </a:moveTo>
                  <a:lnTo>
                    <a:pt x="861" y="978"/>
                  </a:lnTo>
                  <a:lnTo>
                    <a:pt x="864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49" name="Text Box 51">
              <a:extLst>
                <a:ext uri="{FF2B5EF4-FFF2-40B4-BE49-F238E27FC236}">
                  <a16:creationId xmlns:a16="http://schemas.microsoft.com/office/drawing/2014/main" id="{92B42C51-781E-4733-88E5-7D29E34C3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216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是</a:t>
              </a:r>
            </a:p>
          </p:txBody>
        </p:sp>
        <p:sp>
          <p:nvSpPr>
            <p:cNvPr id="22550" name="Text Box 52">
              <a:extLst>
                <a:ext uri="{FF2B5EF4-FFF2-40B4-BE49-F238E27FC236}">
                  <a16:creationId xmlns:a16="http://schemas.microsoft.com/office/drawing/2014/main" id="{2984F28B-6B94-40D5-BDCE-F3C7F10672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827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否</a:t>
              </a:r>
            </a:p>
          </p:txBody>
        </p:sp>
      </p:grpSp>
      <p:sp>
        <p:nvSpPr>
          <p:cNvPr id="23605" name="Text Box 53">
            <a:extLst>
              <a:ext uri="{FF2B5EF4-FFF2-40B4-BE49-F238E27FC236}">
                <a16:creationId xmlns:a16="http://schemas.microsoft.com/office/drawing/2014/main" id="{1BD7DBA3-E897-406D-AB2F-9517D1F76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49538"/>
            <a:ext cx="1790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单个设备</a:t>
            </a:r>
          </a:p>
        </p:txBody>
      </p:sp>
      <p:sp>
        <p:nvSpPr>
          <p:cNvPr id="23606" name="Text Box 54">
            <a:extLst>
              <a:ext uri="{FF2B5EF4-FFF2-40B4-BE49-F238E27FC236}">
                <a16:creationId xmlns:a16="http://schemas.microsoft.com/office/drawing/2014/main" id="{5F19CFB4-388B-49F9-8389-7C9E9B7EA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0" y="1603375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多个设备</a:t>
            </a:r>
          </a:p>
        </p:txBody>
      </p:sp>
      <p:sp>
        <p:nvSpPr>
          <p:cNvPr id="23607" name="AutoShape 55">
            <a:extLst>
              <a:ext uri="{FF2B5EF4-FFF2-40B4-BE49-F238E27FC236}">
                <a16:creationId xmlns:a16="http://schemas.microsoft.com/office/drawing/2014/main" id="{E121165A-B2E4-463E-9620-CD3B1F30C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3543300"/>
            <a:ext cx="487362" cy="1436688"/>
          </a:xfrm>
          <a:prstGeom prst="wedgeRoundRectCallout">
            <a:avLst>
              <a:gd name="adj1" fmla="val 120551"/>
              <a:gd name="adj2" fmla="val -47792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试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令</a:t>
            </a:r>
          </a:p>
        </p:txBody>
      </p:sp>
      <p:sp>
        <p:nvSpPr>
          <p:cNvPr id="23608" name="AutoShape 56">
            <a:extLst>
              <a:ext uri="{FF2B5EF4-FFF2-40B4-BE49-F238E27FC236}">
                <a16:creationId xmlns:a16="http://schemas.microsoft.com/office/drawing/2014/main" id="{C4C13C36-C52A-417D-90F4-EB515BD0D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3" y="4259263"/>
            <a:ext cx="487362" cy="1436687"/>
          </a:xfrm>
          <a:prstGeom prst="wedgeRoundRectCallout">
            <a:avLst>
              <a:gd name="adj1" fmla="val 136407"/>
              <a:gd name="adj2" fmla="val -12472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转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移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令</a:t>
            </a:r>
          </a:p>
        </p:txBody>
      </p:sp>
      <p:sp>
        <p:nvSpPr>
          <p:cNvPr id="23609" name="AutoShape 57">
            <a:extLst>
              <a:ext uri="{FF2B5EF4-FFF2-40B4-BE49-F238E27FC236}">
                <a16:creationId xmlns:a16="http://schemas.microsoft.com/office/drawing/2014/main" id="{FA0A6F12-1DA4-487E-9963-455D4A073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3" y="4706938"/>
            <a:ext cx="487362" cy="1436687"/>
          </a:xfrm>
          <a:prstGeom prst="wedgeRoundRectCallout">
            <a:avLst>
              <a:gd name="adj1" fmla="val 124759"/>
              <a:gd name="adj2" fmla="val 7838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送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令</a:t>
            </a:r>
          </a:p>
        </p:txBody>
      </p:sp>
      <p:sp>
        <p:nvSpPr>
          <p:cNvPr id="22540" name="AutoShape 5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BC75691-1620-48EA-A487-40057CC4C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36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36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36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autoUpdateAnimBg="0"/>
      <p:bldP spid="23587" grpId="0" autoUpdateAnimBg="0"/>
      <p:bldP spid="23605" grpId="0" autoUpdateAnimBg="0"/>
      <p:bldP spid="23606" grpId="0" autoUpdateAnimBg="0"/>
      <p:bldP spid="23607" grpId="0" animBg="1" autoUpdateAnimBg="0"/>
      <p:bldP spid="23608" grpId="0" animBg="1" autoUpdateAnimBg="0"/>
      <p:bldP spid="23609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B28940E3-DF67-4C55-A243-2CB234CB3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96850"/>
            <a:ext cx="2470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程序流程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B38803D-621E-486F-9791-93D2D91FE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63" y="1260475"/>
            <a:ext cx="2438400" cy="446088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3600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设置主存缓冲区首址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26921997-CC1C-4EEA-85EE-D9F4C6CF3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63" y="609600"/>
            <a:ext cx="2438400" cy="446088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3600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设置计数值</a:t>
            </a: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B0DA0CE7-F48C-4951-AA45-0F0DE253B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63" y="1911350"/>
            <a:ext cx="2438400" cy="4445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3600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启动外设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35EA40A0-3BCB-4D6A-9852-9955578E1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63" y="3435350"/>
            <a:ext cx="2438400" cy="4445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3600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传送一个数据</a:t>
            </a:r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16596E4F-1FD3-4600-BDE8-313981F1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63" y="4084638"/>
            <a:ext cx="2438400" cy="446087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3600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修改主存地址</a:t>
            </a:r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707400D3-21D1-4C2E-BB25-DCF79D85E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63" y="4735513"/>
            <a:ext cx="2438400" cy="446087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3600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修改计数值</a:t>
            </a:r>
          </a:p>
        </p:txBody>
      </p:sp>
      <p:sp>
        <p:nvSpPr>
          <p:cNvPr id="24585" name="Rectangle 9">
            <a:extLst>
              <a:ext uri="{FF2B5EF4-FFF2-40B4-BE49-F238E27FC236}">
                <a16:creationId xmlns:a16="http://schemas.microsoft.com/office/drawing/2014/main" id="{EC79481F-7BA8-402E-B066-8C2247058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63" y="6259513"/>
            <a:ext cx="2438400" cy="446087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36000" anchor="ctr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结束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传送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43D628B0-7554-495E-BDBF-6E10E1BD74EB}"/>
              </a:ext>
            </a:extLst>
          </p:cNvPr>
          <p:cNvGrpSpPr>
            <a:grpSpLocks/>
          </p:cNvGrpSpPr>
          <p:nvPr/>
        </p:nvGrpSpPr>
        <p:grpSpPr bwMode="auto">
          <a:xfrm>
            <a:off x="4411663" y="2560638"/>
            <a:ext cx="1447800" cy="669925"/>
            <a:chOff x="2400" y="1613"/>
            <a:chExt cx="912" cy="422"/>
          </a:xfrm>
        </p:grpSpPr>
        <p:sp>
          <p:nvSpPr>
            <p:cNvPr id="23590" name="Text Box 11">
              <a:extLst>
                <a:ext uri="{FF2B5EF4-FFF2-40B4-BE49-F238E27FC236}">
                  <a16:creationId xmlns:a16="http://schemas.microsoft.com/office/drawing/2014/main" id="{F67CE898-E4FC-43A8-84D1-3074BDA9A1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4" y="1705"/>
              <a:ext cx="7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准备好？</a:t>
              </a:r>
            </a:p>
          </p:txBody>
        </p:sp>
        <p:sp>
          <p:nvSpPr>
            <p:cNvPr id="23591" name="AutoShape 12">
              <a:extLst>
                <a:ext uri="{FF2B5EF4-FFF2-40B4-BE49-F238E27FC236}">
                  <a16:creationId xmlns:a16="http://schemas.microsoft.com/office/drawing/2014/main" id="{EC8D0DBD-B080-45EF-94FF-9E30A3ADA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13"/>
              <a:ext cx="912" cy="422"/>
            </a:xfrm>
            <a:prstGeom prst="diamond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FD60C4AE-0F8B-43A5-B76A-F7DEE6B0E381}"/>
              </a:ext>
            </a:extLst>
          </p:cNvPr>
          <p:cNvGrpSpPr>
            <a:grpSpLocks/>
          </p:cNvGrpSpPr>
          <p:nvPr/>
        </p:nvGrpSpPr>
        <p:grpSpPr bwMode="auto">
          <a:xfrm>
            <a:off x="4411663" y="5386388"/>
            <a:ext cx="1447800" cy="668337"/>
            <a:chOff x="2400" y="3393"/>
            <a:chExt cx="912" cy="421"/>
          </a:xfrm>
        </p:grpSpPr>
        <p:sp>
          <p:nvSpPr>
            <p:cNvPr id="23588" name="Text Box 14">
              <a:extLst>
                <a:ext uri="{FF2B5EF4-FFF2-40B4-BE49-F238E27FC236}">
                  <a16:creationId xmlns:a16="http://schemas.microsoft.com/office/drawing/2014/main" id="{2F5742CB-4C60-44AF-BC64-74CA51BE7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4" y="3486"/>
              <a:ext cx="7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传送完？</a:t>
              </a:r>
            </a:p>
          </p:txBody>
        </p:sp>
        <p:sp>
          <p:nvSpPr>
            <p:cNvPr id="23589" name="AutoShape 15">
              <a:extLst>
                <a:ext uri="{FF2B5EF4-FFF2-40B4-BE49-F238E27FC236}">
                  <a16:creationId xmlns:a16="http://schemas.microsoft.com/office/drawing/2014/main" id="{B65CB49B-9424-4F67-83CF-993613BA9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393"/>
              <a:ext cx="912" cy="421"/>
            </a:xfrm>
            <a:prstGeom prst="diamond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4592" name="Line 16">
            <a:extLst>
              <a:ext uri="{FF2B5EF4-FFF2-40B4-BE49-F238E27FC236}">
                <a16:creationId xmlns:a16="http://schemas.microsoft.com/office/drawing/2014/main" id="{7482D62C-BEC6-4ECA-A55B-EA2826139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5563" y="5176838"/>
            <a:ext cx="0" cy="223837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93" name="Line 17">
            <a:extLst>
              <a:ext uri="{FF2B5EF4-FFF2-40B4-BE49-F238E27FC236}">
                <a16:creationId xmlns:a16="http://schemas.microsoft.com/office/drawing/2014/main" id="{63F2E86E-D001-491C-98BD-FEA97F0E0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5563" y="2357438"/>
            <a:ext cx="0" cy="188912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94" name="Line 18">
            <a:extLst>
              <a:ext uri="{FF2B5EF4-FFF2-40B4-BE49-F238E27FC236}">
                <a16:creationId xmlns:a16="http://schemas.microsoft.com/office/drawing/2014/main" id="{E7091CF4-C4AF-4DCF-BAEA-5FA03032A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5563" y="1724025"/>
            <a:ext cx="0" cy="188913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95" name="Line 19">
            <a:extLst>
              <a:ext uri="{FF2B5EF4-FFF2-40B4-BE49-F238E27FC236}">
                <a16:creationId xmlns:a16="http://schemas.microsoft.com/office/drawing/2014/main" id="{542F4F2F-3584-4D1D-AF09-7C0C68C60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5563" y="1073150"/>
            <a:ext cx="0" cy="188913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96" name="Line 20">
            <a:extLst>
              <a:ext uri="{FF2B5EF4-FFF2-40B4-BE49-F238E27FC236}">
                <a16:creationId xmlns:a16="http://schemas.microsoft.com/office/drawing/2014/main" id="{AE308E37-7443-469A-AB94-11F9B408B0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5563" y="3879850"/>
            <a:ext cx="0" cy="1905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97" name="Line 21">
            <a:extLst>
              <a:ext uri="{FF2B5EF4-FFF2-40B4-BE49-F238E27FC236}">
                <a16:creationId xmlns:a16="http://schemas.microsoft.com/office/drawing/2014/main" id="{FF504821-D903-4277-A707-A0EF1A5EC4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5563" y="4549775"/>
            <a:ext cx="0" cy="188913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Group 22">
            <a:extLst>
              <a:ext uri="{FF2B5EF4-FFF2-40B4-BE49-F238E27FC236}">
                <a16:creationId xmlns:a16="http://schemas.microsoft.com/office/drawing/2014/main" id="{88DA0F4F-0248-4323-BA90-6D6231739D97}"/>
              </a:ext>
            </a:extLst>
          </p:cNvPr>
          <p:cNvGrpSpPr>
            <a:grpSpLocks/>
          </p:cNvGrpSpPr>
          <p:nvPr/>
        </p:nvGrpSpPr>
        <p:grpSpPr bwMode="auto">
          <a:xfrm>
            <a:off x="3492500" y="1798638"/>
            <a:ext cx="1624013" cy="3930650"/>
            <a:chOff x="1821" y="1133"/>
            <a:chExt cx="1023" cy="2476"/>
          </a:xfrm>
        </p:grpSpPr>
        <p:sp>
          <p:nvSpPr>
            <p:cNvPr id="23586" name="Freeform 23">
              <a:extLst>
                <a:ext uri="{FF2B5EF4-FFF2-40B4-BE49-F238E27FC236}">
                  <a16:creationId xmlns:a16="http://schemas.microsoft.com/office/drawing/2014/main" id="{31A6E46D-FC43-4462-A24C-904F590B2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133"/>
              <a:ext cx="1023" cy="2476"/>
            </a:xfrm>
            <a:custGeom>
              <a:avLst/>
              <a:gdLst>
                <a:gd name="T0" fmla="*/ 588 w 1023"/>
                <a:gd name="T1" fmla="*/ 2473 h 2476"/>
                <a:gd name="T2" fmla="*/ 0 w 1023"/>
                <a:gd name="T3" fmla="*/ 2476 h 2476"/>
                <a:gd name="T4" fmla="*/ 3 w 1023"/>
                <a:gd name="T5" fmla="*/ 0 h 2476"/>
                <a:gd name="T6" fmla="*/ 1023 w 1023"/>
                <a:gd name="T7" fmla="*/ 0 h 24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3"/>
                <a:gd name="T13" fmla="*/ 0 h 2476"/>
                <a:gd name="T14" fmla="*/ 1023 w 1023"/>
                <a:gd name="T15" fmla="*/ 2476 h 24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3" h="2476">
                  <a:moveTo>
                    <a:pt x="588" y="2473"/>
                  </a:moveTo>
                  <a:lnTo>
                    <a:pt x="0" y="2476"/>
                  </a:lnTo>
                  <a:lnTo>
                    <a:pt x="3" y="0"/>
                  </a:lnTo>
                  <a:lnTo>
                    <a:pt x="1023" y="0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87" name="Text Box 24">
              <a:extLst>
                <a:ext uri="{FF2B5EF4-FFF2-40B4-BE49-F238E27FC236}">
                  <a16:creationId xmlns:a16="http://schemas.microsoft.com/office/drawing/2014/main" id="{078CB0F9-5AA0-4510-957F-80D73E0F5D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6" y="3332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未完</a:t>
              </a:r>
            </a:p>
          </p:txBody>
        </p:sp>
      </p:grpSp>
      <p:grpSp>
        <p:nvGrpSpPr>
          <p:cNvPr id="5" name="Group 25">
            <a:extLst>
              <a:ext uri="{FF2B5EF4-FFF2-40B4-BE49-F238E27FC236}">
                <a16:creationId xmlns:a16="http://schemas.microsoft.com/office/drawing/2014/main" id="{5380D53F-CC0F-4203-863F-DC923A739BCE}"/>
              </a:ext>
            </a:extLst>
          </p:cNvPr>
          <p:cNvGrpSpPr>
            <a:grpSpLocks/>
          </p:cNvGrpSpPr>
          <p:nvPr/>
        </p:nvGrpSpPr>
        <p:grpSpPr bwMode="auto">
          <a:xfrm>
            <a:off x="5135563" y="3059113"/>
            <a:ext cx="628650" cy="396875"/>
            <a:chOff x="2856" y="1927"/>
            <a:chExt cx="396" cy="250"/>
          </a:xfrm>
        </p:grpSpPr>
        <p:sp>
          <p:nvSpPr>
            <p:cNvPr id="23584" name="Line 26">
              <a:extLst>
                <a:ext uri="{FF2B5EF4-FFF2-40B4-BE49-F238E27FC236}">
                  <a16:creationId xmlns:a16="http://schemas.microsoft.com/office/drawing/2014/main" id="{91E4E71B-B87C-4183-99C0-804F70B471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2023"/>
              <a:ext cx="0" cy="14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85" name="Text Box 27">
              <a:extLst>
                <a:ext uri="{FF2B5EF4-FFF2-40B4-BE49-F238E27FC236}">
                  <a16:creationId xmlns:a16="http://schemas.microsoft.com/office/drawing/2014/main" id="{DCE1166D-E3F6-45AF-A598-2E6819901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927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是</a:t>
              </a:r>
            </a:p>
          </p:txBody>
        </p:sp>
      </p:grpSp>
      <p:grpSp>
        <p:nvGrpSpPr>
          <p:cNvPr id="6" name="Group 28">
            <a:extLst>
              <a:ext uri="{FF2B5EF4-FFF2-40B4-BE49-F238E27FC236}">
                <a16:creationId xmlns:a16="http://schemas.microsoft.com/office/drawing/2014/main" id="{75D64632-5FA5-4E64-9F3A-E65D6FDDFE73}"/>
              </a:ext>
            </a:extLst>
          </p:cNvPr>
          <p:cNvGrpSpPr>
            <a:grpSpLocks/>
          </p:cNvGrpSpPr>
          <p:nvPr/>
        </p:nvGrpSpPr>
        <p:grpSpPr bwMode="auto">
          <a:xfrm>
            <a:off x="5135563" y="5884863"/>
            <a:ext cx="628650" cy="396875"/>
            <a:chOff x="2856" y="3707"/>
            <a:chExt cx="396" cy="250"/>
          </a:xfrm>
        </p:grpSpPr>
        <p:sp>
          <p:nvSpPr>
            <p:cNvPr id="23582" name="Line 29">
              <a:extLst>
                <a:ext uri="{FF2B5EF4-FFF2-40B4-BE49-F238E27FC236}">
                  <a16:creationId xmlns:a16="http://schemas.microsoft.com/office/drawing/2014/main" id="{5BD67CFA-2255-401B-B558-BCBCE45533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3803"/>
              <a:ext cx="0" cy="14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83" name="Text Box 30">
              <a:extLst>
                <a:ext uri="{FF2B5EF4-FFF2-40B4-BE49-F238E27FC236}">
                  <a16:creationId xmlns:a16="http://schemas.microsoft.com/office/drawing/2014/main" id="{174C8CB7-B5B5-42D1-8A8D-AFB5BEAEBF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707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完</a:t>
              </a:r>
            </a:p>
          </p:txBody>
        </p:sp>
      </p:grpSp>
      <p:grpSp>
        <p:nvGrpSpPr>
          <p:cNvPr id="7" name="Group 31">
            <a:extLst>
              <a:ext uri="{FF2B5EF4-FFF2-40B4-BE49-F238E27FC236}">
                <a16:creationId xmlns:a16="http://schemas.microsoft.com/office/drawing/2014/main" id="{C1E05CB5-9AB4-4A16-B7E6-E1E235288822}"/>
              </a:ext>
            </a:extLst>
          </p:cNvPr>
          <p:cNvGrpSpPr>
            <a:grpSpLocks/>
          </p:cNvGrpSpPr>
          <p:nvPr/>
        </p:nvGrpSpPr>
        <p:grpSpPr bwMode="auto">
          <a:xfrm>
            <a:off x="5726113" y="2543175"/>
            <a:ext cx="1309687" cy="396875"/>
            <a:chOff x="3216" y="1602"/>
            <a:chExt cx="825" cy="250"/>
          </a:xfrm>
        </p:grpSpPr>
        <p:sp>
          <p:nvSpPr>
            <p:cNvPr id="23580" name="Text Box 32">
              <a:extLst>
                <a:ext uri="{FF2B5EF4-FFF2-40B4-BE49-F238E27FC236}">
                  <a16:creationId xmlns:a16="http://schemas.microsoft.com/office/drawing/2014/main" id="{501AFE70-F5B3-4554-A33C-65AD75BA2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02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否</a:t>
              </a:r>
            </a:p>
          </p:txBody>
        </p:sp>
        <p:sp>
          <p:nvSpPr>
            <p:cNvPr id="23581" name="Freeform 33">
              <a:extLst>
                <a:ext uri="{FF2B5EF4-FFF2-40B4-BE49-F238E27FC236}">
                  <a16:creationId xmlns:a16="http://schemas.microsoft.com/office/drawing/2014/main" id="{5A4150F3-042A-44B7-A56E-4A9871714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824"/>
              <a:ext cx="729" cy="1"/>
            </a:xfrm>
            <a:custGeom>
              <a:avLst/>
              <a:gdLst>
                <a:gd name="T0" fmla="*/ 0 w 729"/>
                <a:gd name="T1" fmla="*/ 0 h 1"/>
                <a:gd name="T2" fmla="*/ 729 w 729"/>
                <a:gd name="T3" fmla="*/ 0 h 1"/>
                <a:gd name="T4" fmla="*/ 0 60000 65536"/>
                <a:gd name="T5" fmla="*/ 0 60000 65536"/>
                <a:gd name="T6" fmla="*/ 0 w 729"/>
                <a:gd name="T7" fmla="*/ 0 h 1"/>
                <a:gd name="T8" fmla="*/ 729 w 729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29" h="1">
                  <a:moveTo>
                    <a:pt x="0" y="0"/>
                  </a:moveTo>
                  <a:lnTo>
                    <a:pt x="729" y="0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4610" name="Freeform 34">
            <a:extLst>
              <a:ext uri="{FF2B5EF4-FFF2-40B4-BE49-F238E27FC236}">
                <a16:creationId xmlns:a16="http://schemas.microsoft.com/office/drawing/2014/main" id="{01F6990E-F375-43E3-98DF-E13210E123C9}"/>
              </a:ext>
            </a:extLst>
          </p:cNvPr>
          <p:cNvSpPr>
            <a:spLocks/>
          </p:cNvSpPr>
          <p:nvPr/>
        </p:nvSpPr>
        <p:spPr bwMode="auto">
          <a:xfrm>
            <a:off x="7016750" y="2438400"/>
            <a:ext cx="4763" cy="457200"/>
          </a:xfrm>
          <a:custGeom>
            <a:avLst/>
            <a:gdLst>
              <a:gd name="T0" fmla="*/ 4763 w 3"/>
              <a:gd name="T1" fmla="*/ 457200 h 288"/>
              <a:gd name="T2" fmla="*/ 0 w 3"/>
              <a:gd name="T3" fmla="*/ 0 h 288"/>
              <a:gd name="T4" fmla="*/ 0 60000 65536"/>
              <a:gd name="T5" fmla="*/ 0 60000 65536"/>
              <a:gd name="T6" fmla="*/ 0 w 3"/>
              <a:gd name="T7" fmla="*/ 0 h 288"/>
              <a:gd name="T8" fmla="*/ 3 w 3"/>
              <a:gd name="T9" fmla="*/ 288 h 2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288">
                <a:moveTo>
                  <a:pt x="3" y="28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611" name="Freeform 35">
            <a:extLst>
              <a:ext uri="{FF2B5EF4-FFF2-40B4-BE49-F238E27FC236}">
                <a16:creationId xmlns:a16="http://schemas.microsoft.com/office/drawing/2014/main" id="{428FA6AB-4849-46AF-9692-35D07F73EFE1}"/>
              </a:ext>
            </a:extLst>
          </p:cNvPr>
          <p:cNvSpPr>
            <a:spLocks/>
          </p:cNvSpPr>
          <p:nvPr/>
        </p:nvSpPr>
        <p:spPr bwMode="auto">
          <a:xfrm>
            <a:off x="5116513" y="2433638"/>
            <a:ext cx="1924050" cy="6350"/>
          </a:xfrm>
          <a:custGeom>
            <a:avLst/>
            <a:gdLst>
              <a:gd name="T0" fmla="*/ 1924050 w 1212"/>
              <a:gd name="T1" fmla="*/ 0 h 4"/>
              <a:gd name="T2" fmla="*/ 0 w 1212"/>
              <a:gd name="T3" fmla="*/ 6350 h 4"/>
              <a:gd name="T4" fmla="*/ 0 60000 65536"/>
              <a:gd name="T5" fmla="*/ 0 60000 65536"/>
              <a:gd name="T6" fmla="*/ 0 w 1212"/>
              <a:gd name="T7" fmla="*/ 0 h 4"/>
              <a:gd name="T8" fmla="*/ 1212 w 1212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12" h="4">
                <a:moveTo>
                  <a:pt x="1212" y="0"/>
                </a:moveTo>
                <a:lnTo>
                  <a:pt x="0" y="4"/>
                </a:lnTo>
              </a:path>
            </a:pathLst>
          </a:custGeom>
          <a:noFill/>
          <a:ln w="38100">
            <a:solidFill>
              <a:schemeClr val="folHlink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613" name="Line 37">
            <a:extLst>
              <a:ext uri="{FF2B5EF4-FFF2-40B4-BE49-F238E27FC236}">
                <a16:creationId xmlns:a16="http://schemas.microsoft.com/office/drawing/2014/main" id="{33D9B697-E047-4FDA-9F0B-576A6F6F1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5563" y="392113"/>
            <a:ext cx="0" cy="188912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614" name="Text Box 38">
            <a:extLst>
              <a:ext uri="{FF2B5EF4-FFF2-40B4-BE49-F238E27FC236}">
                <a16:creationId xmlns:a16="http://schemas.microsoft.com/office/drawing/2014/main" id="{A283ACA8-C519-4168-81FE-B9EC7A063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" y="1470025"/>
            <a:ext cx="1995488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保存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寄存器内容</a:t>
            </a:r>
          </a:p>
        </p:txBody>
      </p:sp>
      <p:sp>
        <p:nvSpPr>
          <p:cNvPr id="23579" name="AutoShape 39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13B4A87-5064-48DD-BAC6-CBDA7825D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2" dur="500"/>
                                        <p:tgtEl>
                                          <p:spTgt spid="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0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9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3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8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6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 autoUpdateAnimBg="0"/>
      <p:bldP spid="24580" grpId="0" animBg="1" autoUpdateAnimBg="0"/>
      <p:bldP spid="24581" grpId="0" animBg="1" autoUpdateAnimBg="0"/>
      <p:bldP spid="24582" grpId="0" animBg="1" autoUpdateAnimBg="0"/>
      <p:bldP spid="24583" grpId="0" animBg="1" autoUpdateAnimBg="0"/>
      <p:bldP spid="24584" grpId="0" animBg="1" autoUpdateAnimBg="0"/>
      <p:bldP spid="24585" grpId="0" animBg="1" autoUpdateAnimBg="0"/>
      <p:bldP spid="24610" grpId="0" animBg="1"/>
      <p:bldP spid="24611" grpId="0" animBg="1"/>
      <p:bldP spid="246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A963532-5B85-4E5B-A0C2-00E049AF81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45" y="0"/>
            <a:ext cx="8229600" cy="1143000"/>
          </a:xfrm>
        </p:spPr>
        <p:txBody>
          <a:bodyPr/>
          <a:lstStyle/>
          <a:p>
            <a:pPr algn="l" eaLnBrk="1" hangingPunct="1"/>
            <a:r>
              <a:rPr kumimoji="1" lang="en-US" altLang="zh-CN" b="1" dirty="0">
                <a:solidFill>
                  <a:schemeClr val="tx1"/>
                </a:solidFill>
              </a:rPr>
              <a:t>3.</a:t>
            </a:r>
            <a:r>
              <a:rPr kumimoji="1" lang="zh-CN" altLang="en-US" b="1" dirty="0">
                <a:solidFill>
                  <a:schemeClr val="tx1"/>
                </a:solidFill>
              </a:rPr>
              <a:t>程序查询方式的接口电路</a:t>
            </a:r>
          </a:p>
        </p:txBody>
      </p:sp>
      <p:sp>
        <p:nvSpPr>
          <p:cNvPr id="101379" name="Text Box 3">
            <a:extLst>
              <a:ext uri="{FF2B5EF4-FFF2-40B4-BE49-F238E27FC236}">
                <a16:creationId xmlns:a16="http://schemas.microsoft.com/office/drawing/2014/main" id="{A9C45021-B780-42AD-9DDF-156761E17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62877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CPU</a:t>
            </a:r>
          </a:p>
        </p:txBody>
      </p:sp>
      <p:sp>
        <p:nvSpPr>
          <p:cNvPr id="101380" name="Text Box 4">
            <a:extLst>
              <a:ext uri="{FF2B5EF4-FFF2-40B4-BE49-F238E27FC236}">
                <a16:creationId xmlns:a16="http://schemas.microsoft.com/office/drawing/2014/main" id="{35FF6BCD-16B7-4E0E-971F-F5EC98C5C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1557338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设备</a:t>
            </a:r>
          </a:p>
        </p:txBody>
      </p:sp>
      <p:sp>
        <p:nvSpPr>
          <p:cNvPr id="101381" name="Text Box 5">
            <a:extLst>
              <a:ext uri="{FF2B5EF4-FFF2-40B4-BE49-F238E27FC236}">
                <a16:creationId xmlns:a16="http://schemas.microsoft.com/office/drawing/2014/main" id="{97BFD3EA-9934-419D-9276-5732D0D1E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2492375"/>
            <a:ext cx="576263" cy="2119313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控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制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逻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辑</a:t>
            </a:r>
          </a:p>
        </p:txBody>
      </p:sp>
      <p:sp>
        <p:nvSpPr>
          <p:cNvPr id="101382" name="Text Box 6">
            <a:extLst>
              <a:ext uri="{FF2B5EF4-FFF2-40B4-BE49-F238E27FC236}">
                <a16:creationId xmlns:a16="http://schemas.microsoft.com/office/drawing/2014/main" id="{22895B84-313D-4E2F-B8ED-7DE81ED03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724400"/>
            <a:ext cx="1223962" cy="476250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寄存器</a:t>
            </a:r>
          </a:p>
        </p:txBody>
      </p:sp>
      <p:sp>
        <p:nvSpPr>
          <p:cNvPr id="101383" name="Text Box 7">
            <a:extLst>
              <a:ext uri="{FF2B5EF4-FFF2-40B4-BE49-F238E27FC236}">
                <a16:creationId xmlns:a16="http://schemas.microsoft.com/office/drawing/2014/main" id="{4A2142F3-8DE6-4D65-B9F1-2BA55424C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1628775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接口电路</a:t>
            </a:r>
          </a:p>
        </p:txBody>
      </p:sp>
      <p:sp>
        <p:nvSpPr>
          <p:cNvPr id="101384" name="Text Box 8">
            <a:extLst>
              <a:ext uri="{FF2B5EF4-FFF2-40B4-BE49-F238E27FC236}">
                <a16:creationId xmlns:a16="http://schemas.microsoft.com/office/drawing/2014/main" id="{57159588-2440-4199-A774-904DA4B10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5538788"/>
            <a:ext cx="1512887" cy="482600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50000">
                <a:schemeClr val="bg1"/>
              </a:gs>
              <a:gs pos="100000">
                <a:srgbClr val="FFFFCC"/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设备选择</a:t>
            </a:r>
          </a:p>
        </p:txBody>
      </p:sp>
      <p:sp>
        <p:nvSpPr>
          <p:cNvPr id="101385" name="Text Box 9">
            <a:extLst>
              <a:ext uri="{FF2B5EF4-FFF2-40B4-BE49-F238E27FC236}">
                <a16:creationId xmlns:a16="http://schemas.microsoft.com/office/drawing/2014/main" id="{7D89CFB1-6946-48F3-A0D4-1CB04010A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675188"/>
            <a:ext cx="1800225" cy="482600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50000">
                <a:schemeClr val="bg1"/>
              </a:gs>
              <a:gs pos="100000">
                <a:srgbClr val="FFFFCC"/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数据缓冲器</a:t>
            </a:r>
          </a:p>
        </p:txBody>
      </p:sp>
      <p:sp>
        <p:nvSpPr>
          <p:cNvPr id="101386" name="Text Box 10">
            <a:extLst>
              <a:ext uri="{FF2B5EF4-FFF2-40B4-BE49-F238E27FC236}">
                <a16:creationId xmlns:a16="http://schemas.microsoft.com/office/drawing/2014/main" id="{BD083DFE-5D55-4617-93BD-6D1BE220F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3573463"/>
            <a:ext cx="1657350" cy="482600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50000">
                <a:schemeClr val="bg1"/>
              </a:gs>
              <a:gs pos="100000">
                <a:srgbClr val="FFFFCC"/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0 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就绪  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1 </a:t>
            </a:r>
          </a:p>
        </p:txBody>
      </p:sp>
      <p:sp>
        <p:nvSpPr>
          <p:cNvPr id="101387" name="Text Box 11">
            <a:extLst>
              <a:ext uri="{FF2B5EF4-FFF2-40B4-BE49-F238E27FC236}">
                <a16:creationId xmlns:a16="http://schemas.microsoft.com/office/drawing/2014/main" id="{AF0639BD-A8E4-4CFA-8F6E-499C0A8FF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2420938"/>
            <a:ext cx="1657350" cy="482600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50000">
                <a:schemeClr val="bg1"/>
              </a:gs>
              <a:gs pos="100000">
                <a:srgbClr val="FFFFCC"/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0 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启动  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1 </a:t>
            </a:r>
          </a:p>
        </p:txBody>
      </p:sp>
      <p:sp>
        <p:nvSpPr>
          <p:cNvPr id="101388" name="Line 12">
            <a:extLst>
              <a:ext uri="{FF2B5EF4-FFF2-40B4-BE49-F238E27FC236}">
                <a16:creationId xmlns:a16="http://schemas.microsoft.com/office/drawing/2014/main" id="{BC956481-CA38-4424-B79F-FCFBC38DAC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513" y="1773238"/>
            <a:ext cx="0" cy="41767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389" name="Line 13">
            <a:extLst>
              <a:ext uri="{FF2B5EF4-FFF2-40B4-BE49-F238E27FC236}">
                <a16:creationId xmlns:a16="http://schemas.microsoft.com/office/drawing/2014/main" id="{7A5B5BCA-56ED-48D5-8E29-0C9F92D35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4025" y="1844675"/>
            <a:ext cx="0" cy="41767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390" name="AutoShape 14">
            <a:extLst>
              <a:ext uri="{FF2B5EF4-FFF2-40B4-BE49-F238E27FC236}">
                <a16:creationId xmlns:a16="http://schemas.microsoft.com/office/drawing/2014/main" id="{D2F0DF02-A69E-4E4D-9114-BA84C407E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734050"/>
            <a:ext cx="1584325" cy="142875"/>
          </a:xfrm>
          <a:prstGeom prst="rightArrow">
            <a:avLst>
              <a:gd name="adj1" fmla="val 50000"/>
              <a:gd name="adj2" fmla="val 2772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391" name="Text Box 15">
            <a:extLst>
              <a:ext uri="{FF2B5EF4-FFF2-40B4-BE49-F238E27FC236}">
                <a16:creationId xmlns:a16="http://schemas.microsoft.com/office/drawing/2014/main" id="{A33C4F4E-2D61-48D1-8316-EFC8145F0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5805488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ABUS</a:t>
            </a:r>
          </a:p>
        </p:txBody>
      </p:sp>
      <p:sp>
        <p:nvSpPr>
          <p:cNvPr id="101392" name="AutoShape 16">
            <a:extLst>
              <a:ext uri="{FF2B5EF4-FFF2-40B4-BE49-F238E27FC236}">
                <a16:creationId xmlns:a16="http://schemas.microsoft.com/office/drawing/2014/main" id="{8A168B0D-0FCD-403D-90D9-0EC04AEF6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868863"/>
            <a:ext cx="1439862" cy="144462"/>
          </a:xfrm>
          <a:prstGeom prst="leftRightArrow">
            <a:avLst>
              <a:gd name="adj1" fmla="val 50000"/>
              <a:gd name="adj2" fmla="val 19934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393" name="AutoShape 17">
            <a:extLst>
              <a:ext uri="{FF2B5EF4-FFF2-40B4-BE49-F238E27FC236}">
                <a16:creationId xmlns:a16="http://schemas.microsoft.com/office/drawing/2014/main" id="{B7D667AE-DD58-4163-8C1D-3430A7C97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868863"/>
            <a:ext cx="1368425" cy="144462"/>
          </a:xfrm>
          <a:prstGeom prst="leftRightArrow">
            <a:avLst>
              <a:gd name="adj1" fmla="val 50000"/>
              <a:gd name="adj2" fmla="val 1894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394" name="Text Box 18">
            <a:extLst>
              <a:ext uri="{FF2B5EF4-FFF2-40B4-BE49-F238E27FC236}">
                <a16:creationId xmlns:a16="http://schemas.microsoft.com/office/drawing/2014/main" id="{B34314D0-5253-4BDE-8EBC-642327B9F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4941888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DBUS</a:t>
            </a:r>
          </a:p>
        </p:txBody>
      </p:sp>
      <p:sp>
        <p:nvSpPr>
          <p:cNvPr id="101395" name="Text Box 19">
            <a:extLst>
              <a:ext uri="{FF2B5EF4-FFF2-40B4-BE49-F238E27FC236}">
                <a16:creationId xmlns:a16="http://schemas.microsoft.com/office/drawing/2014/main" id="{04771756-B2B4-41E5-B9B6-6A331FE43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4724400"/>
            <a:ext cx="1223963" cy="482600"/>
          </a:xfrm>
          <a:prstGeom prst="rect">
            <a:avLst/>
          </a:prstGeom>
          <a:gradFill rotWithShape="1">
            <a:gsLst>
              <a:gs pos="0">
                <a:srgbClr val="CCFFCC"/>
              </a:gs>
              <a:gs pos="50000">
                <a:schemeClr val="bg1"/>
              </a:gs>
              <a:gs pos="100000">
                <a:srgbClr val="CCFFCC"/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传数据</a:t>
            </a:r>
          </a:p>
        </p:txBody>
      </p:sp>
      <p:sp>
        <p:nvSpPr>
          <p:cNvPr id="101396" name="Line 20">
            <a:extLst>
              <a:ext uri="{FF2B5EF4-FFF2-40B4-BE49-F238E27FC236}">
                <a16:creationId xmlns:a16="http://schemas.microsoft.com/office/drawing/2014/main" id="{BEAF91B6-289B-4F98-8615-94CBC07328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513" y="3251200"/>
            <a:ext cx="22320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397" name="Line 21">
            <a:extLst>
              <a:ext uri="{FF2B5EF4-FFF2-40B4-BE49-F238E27FC236}">
                <a16:creationId xmlns:a16="http://schemas.microsoft.com/office/drawing/2014/main" id="{A180F038-3BF1-43E1-B607-BBEA2B2337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7538" y="2890838"/>
            <a:ext cx="0" cy="36036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398" name="Line 22">
            <a:extLst>
              <a:ext uri="{FF2B5EF4-FFF2-40B4-BE49-F238E27FC236}">
                <a16:creationId xmlns:a16="http://schemas.microsoft.com/office/drawing/2014/main" id="{A9F776A2-36A8-41CC-90EE-E04C8BDD0E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3263900"/>
            <a:ext cx="0" cy="2889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399" name="Line 23">
            <a:extLst>
              <a:ext uri="{FF2B5EF4-FFF2-40B4-BE49-F238E27FC236}">
                <a16:creationId xmlns:a16="http://schemas.microsoft.com/office/drawing/2014/main" id="{8B2EE7D7-3690-441A-8862-7AB3F1C3ED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03800" y="2133600"/>
            <a:ext cx="0" cy="28733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400" name="Line 24">
            <a:extLst>
              <a:ext uri="{FF2B5EF4-FFF2-40B4-BE49-F238E27FC236}">
                <a16:creationId xmlns:a16="http://schemas.microsoft.com/office/drawing/2014/main" id="{ACA64B12-B3FF-4CC1-8B91-5CF41F8096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2133600"/>
            <a:ext cx="18002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401" name="Line 25">
            <a:extLst>
              <a:ext uri="{FF2B5EF4-FFF2-40B4-BE49-F238E27FC236}">
                <a16:creationId xmlns:a16="http://schemas.microsoft.com/office/drawing/2014/main" id="{4F4DB409-F913-46C9-AD92-0665D20885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7538" y="4076700"/>
            <a:ext cx="0" cy="2159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402" name="Line 26">
            <a:extLst>
              <a:ext uri="{FF2B5EF4-FFF2-40B4-BE49-F238E27FC236}">
                <a16:creationId xmlns:a16="http://schemas.microsoft.com/office/drawing/2014/main" id="{6786846E-9DD0-44E7-9EC0-AFA05F88F3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95513" y="4292600"/>
            <a:ext cx="22320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403" name="Line 27">
            <a:extLst>
              <a:ext uri="{FF2B5EF4-FFF2-40B4-BE49-F238E27FC236}">
                <a16:creationId xmlns:a16="http://schemas.microsoft.com/office/drawing/2014/main" id="{6205AD78-B23F-4A5B-936B-D78C359316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32363" y="3284538"/>
            <a:ext cx="1871662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404" name="Line 28">
            <a:extLst>
              <a:ext uri="{FF2B5EF4-FFF2-40B4-BE49-F238E27FC236}">
                <a16:creationId xmlns:a16="http://schemas.microsoft.com/office/drawing/2014/main" id="{EAB041B7-63FF-4497-AE89-3D70437FFA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3284538"/>
            <a:ext cx="0" cy="28892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405" name="Text Box 29">
            <a:extLst>
              <a:ext uri="{FF2B5EF4-FFF2-40B4-BE49-F238E27FC236}">
                <a16:creationId xmlns:a16="http://schemas.microsoft.com/office/drawing/2014/main" id="{AFA6A286-0C0D-4D11-8D72-3D89AF573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3167063"/>
            <a:ext cx="1511300" cy="482600"/>
          </a:xfrm>
          <a:prstGeom prst="rect">
            <a:avLst/>
          </a:prstGeom>
          <a:gradFill rotWithShape="1">
            <a:gsLst>
              <a:gs pos="0">
                <a:srgbClr val="CCFFCC"/>
              </a:gs>
              <a:gs pos="50000">
                <a:schemeClr val="bg1"/>
              </a:gs>
              <a:gs pos="100000">
                <a:srgbClr val="CCFFCC"/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动作结束</a:t>
            </a:r>
          </a:p>
        </p:txBody>
      </p:sp>
      <p:sp>
        <p:nvSpPr>
          <p:cNvPr id="101406" name="Text Box 30">
            <a:extLst>
              <a:ext uri="{FF2B5EF4-FFF2-40B4-BE49-F238E27FC236}">
                <a16:creationId xmlns:a16="http://schemas.microsoft.com/office/drawing/2014/main" id="{D517607C-6B19-4011-AC9B-A8A911078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1989138"/>
            <a:ext cx="1439863" cy="482600"/>
          </a:xfrm>
          <a:prstGeom prst="rect">
            <a:avLst/>
          </a:prstGeom>
          <a:gradFill rotWithShape="1">
            <a:gsLst>
              <a:gs pos="0">
                <a:srgbClr val="CCFFCC"/>
              </a:gs>
              <a:gs pos="50000">
                <a:schemeClr val="bg1"/>
              </a:gs>
              <a:gs pos="100000">
                <a:srgbClr val="CCFFCC"/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宋体" charset="-122"/>
                <a:cs typeface="+mn-cs"/>
              </a:rPr>
              <a:t>动作开始</a:t>
            </a:r>
          </a:p>
        </p:txBody>
      </p:sp>
      <p:sp>
        <p:nvSpPr>
          <p:cNvPr id="101407" name="Text Box 31">
            <a:extLst>
              <a:ext uri="{FF2B5EF4-FFF2-40B4-BE49-F238E27FC236}">
                <a16:creationId xmlns:a16="http://schemas.microsoft.com/office/drawing/2014/main" id="{4ACF5940-5C10-4CB1-893C-7D6829C97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3789363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101408" name="Text Box 32">
            <a:extLst>
              <a:ext uri="{FF2B5EF4-FFF2-40B4-BE49-F238E27FC236}">
                <a16:creationId xmlns:a16="http://schemas.microsoft.com/office/drawing/2014/main" id="{128C5873-C3D6-40E4-94D2-847B261C1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3789363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101409" name="AutoShape 33">
            <a:extLst>
              <a:ext uri="{FF2B5EF4-FFF2-40B4-BE49-F238E27FC236}">
                <a16:creationId xmlns:a16="http://schemas.microsoft.com/office/drawing/2014/main" id="{B0B4BFB1-2A55-41B5-ACBA-4EEADCFA6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734050"/>
            <a:ext cx="1584325" cy="142875"/>
          </a:xfrm>
          <a:prstGeom prst="rightArrow">
            <a:avLst>
              <a:gd name="adj1" fmla="val 50000"/>
              <a:gd name="adj2" fmla="val 277222"/>
            </a:avLst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410" name="AutoShape 34">
            <a:extLst>
              <a:ext uri="{FF2B5EF4-FFF2-40B4-BE49-F238E27FC236}">
                <a16:creationId xmlns:a16="http://schemas.microsoft.com/office/drawing/2014/main" id="{47421117-D40B-4E0F-9B6A-AEA832BB2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868863"/>
            <a:ext cx="1296988" cy="215900"/>
          </a:xfrm>
          <a:prstGeom prst="leftArrow">
            <a:avLst>
              <a:gd name="adj1" fmla="val 50000"/>
              <a:gd name="adj2" fmla="val 150184"/>
            </a:avLst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411" name="Text Box 35">
            <a:extLst>
              <a:ext uri="{FF2B5EF4-FFF2-40B4-BE49-F238E27FC236}">
                <a16:creationId xmlns:a16="http://schemas.microsoft.com/office/drawing/2014/main" id="{E92103CB-388E-4002-9459-936730634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6165850"/>
            <a:ext cx="3671888" cy="485775"/>
          </a:xfrm>
          <a:prstGeom prst="rect">
            <a:avLst/>
          </a:prstGeom>
          <a:solidFill>
            <a:srgbClr val="FF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通过接口完成一次读操作</a:t>
            </a:r>
          </a:p>
        </p:txBody>
      </p:sp>
      <p:sp>
        <p:nvSpPr>
          <p:cNvPr id="101412" name="AutoShape 36">
            <a:extLst>
              <a:ext uri="{FF2B5EF4-FFF2-40B4-BE49-F238E27FC236}">
                <a16:creationId xmlns:a16="http://schemas.microsoft.com/office/drawing/2014/main" id="{0FEF5DC2-2C5E-40E7-AA17-6B8FE2889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797425"/>
            <a:ext cx="1296987" cy="215900"/>
          </a:xfrm>
          <a:prstGeom prst="leftArrow">
            <a:avLst>
              <a:gd name="adj1" fmla="val 50000"/>
              <a:gd name="adj2" fmla="val 150184"/>
            </a:avLst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413" name="Oval 37">
            <a:extLst>
              <a:ext uri="{FF2B5EF4-FFF2-40B4-BE49-F238E27FC236}">
                <a16:creationId xmlns:a16="http://schemas.microsoft.com/office/drawing/2014/main" id="{0643D707-13A5-4780-8719-894AE3C0C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213100"/>
            <a:ext cx="1439863" cy="576263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等待</a:t>
            </a:r>
          </a:p>
        </p:txBody>
      </p:sp>
      <p:sp>
        <p:nvSpPr>
          <p:cNvPr id="101414" name="Oval 38">
            <a:extLst>
              <a:ext uri="{FF2B5EF4-FFF2-40B4-BE49-F238E27FC236}">
                <a16:creationId xmlns:a16="http://schemas.microsoft.com/office/drawing/2014/main" id="{879539E2-5A98-431E-A842-3F843CE30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213100"/>
            <a:ext cx="1439863" cy="576263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读取</a:t>
            </a:r>
          </a:p>
        </p:txBody>
      </p:sp>
      <p:sp>
        <p:nvSpPr>
          <p:cNvPr id="101415" name="Text Box 39">
            <a:extLst>
              <a:ext uri="{FF2B5EF4-FFF2-40B4-BE49-F238E27FC236}">
                <a16:creationId xmlns:a16="http://schemas.microsoft.com/office/drawing/2014/main" id="{B67F6E5F-779F-4C98-BF15-3B847DF57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476250"/>
            <a:ext cx="5113337" cy="1033463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设备选择电路、数据缓冲寄存器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状态寄存器、命令寄存器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1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1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01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01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01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01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01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01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01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1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01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01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3" dur="2000"/>
                                        <p:tgtEl>
                                          <p:spTgt spid="10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01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01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01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01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01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01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7" dur="3000"/>
                                        <p:tgtEl>
                                          <p:spTgt spid="101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0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2" dur="3000"/>
                                        <p:tgtEl>
                                          <p:spTgt spid="10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6" dur="500"/>
                                        <p:tgtEl>
                                          <p:spTgt spid="101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101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101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01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101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101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101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5" dur="500"/>
                                        <p:tgtEl>
                                          <p:spTgt spid="101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/>
                                        <p:tgtEl>
                                          <p:spTgt spid="101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101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101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/>
      <p:bldP spid="101380" grpId="0"/>
      <p:bldP spid="101381" grpId="0" animBg="1"/>
      <p:bldP spid="101382" grpId="0" animBg="1"/>
      <p:bldP spid="101383" grpId="0"/>
      <p:bldP spid="101384" grpId="0" animBg="1"/>
      <p:bldP spid="101385" grpId="0" animBg="1"/>
      <p:bldP spid="101386" grpId="0" animBg="1"/>
      <p:bldP spid="101387" grpId="0" animBg="1"/>
      <p:bldP spid="101390" grpId="0" animBg="1"/>
      <p:bldP spid="101391" grpId="0"/>
      <p:bldP spid="101392" grpId="0" animBg="1"/>
      <p:bldP spid="101393" grpId="0" animBg="1"/>
      <p:bldP spid="101394" grpId="0"/>
      <p:bldP spid="101395" grpId="0" animBg="1"/>
      <p:bldP spid="101405" grpId="0" animBg="1"/>
      <p:bldP spid="101406" grpId="0" animBg="1"/>
      <p:bldP spid="101407" grpId="0"/>
      <p:bldP spid="101407" grpId="1"/>
      <p:bldP spid="101408" grpId="0"/>
      <p:bldP spid="101409" grpId="0" animBg="1"/>
      <p:bldP spid="101410" grpId="0" animBg="1"/>
      <p:bldP spid="101411" grpId="0" animBg="1"/>
      <p:bldP spid="101411" grpId="1" animBg="1"/>
      <p:bldP spid="101412" grpId="0" animBg="1"/>
      <p:bldP spid="101413" grpId="0" animBg="1"/>
      <p:bldP spid="101413" grpId="1" animBg="1"/>
      <p:bldP spid="101414" grpId="0" animBg="1"/>
      <p:bldP spid="1014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575FA5E-D503-4B58-954E-226AB785E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116632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b="1" dirty="0"/>
              <a:t>4.</a:t>
            </a:r>
            <a:r>
              <a:rPr lang="zh-CN" altLang="en-US" b="1" dirty="0"/>
              <a:t>直接程序控制方式特点</a:t>
            </a:r>
          </a:p>
        </p:txBody>
      </p:sp>
      <p:sp>
        <p:nvSpPr>
          <p:cNvPr id="102403" name="Text Box 3">
            <a:extLst>
              <a:ext uri="{FF2B5EF4-FFF2-40B4-BE49-F238E27FC236}">
                <a16:creationId xmlns:a16="http://schemas.microsoft.com/office/drawing/2014/main" id="{79A1FF7A-5569-4E56-9BC2-CDB93CE53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133600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优缺点：</a:t>
            </a:r>
          </a:p>
        </p:txBody>
      </p:sp>
      <p:sp>
        <p:nvSpPr>
          <p:cNvPr id="102404" name="Text Box 4">
            <a:extLst>
              <a:ext uri="{FF2B5EF4-FFF2-40B4-BE49-F238E27FC236}">
                <a16:creationId xmlns:a16="http://schemas.microsoft.com/office/drawing/2014/main" id="{BA764E7D-18B1-4867-86B2-2DE5DEDD7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781300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硬件开销小；</a:t>
            </a:r>
          </a:p>
        </p:txBody>
      </p:sp>
      <p:sp>
        <p:nvSpPr>
          <p:cNvPr id="102405" name="Text Box 5">
            <a:extLst>
              <a:ext uri="{FF2B5EF4-FFF2-40B4-BE49-F238E27FC236}">
                <a16:creationId xmlns:a16="http://schemas.microsoft.com/office/drawing/2014/main" id="{565579B4-A969-40F1-9418-B432E5D1B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508500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应用场合</a:t>
            </a:r>
          </a:p>
        </p:txBody>
      </p:sp>
      <p:sp>
        <p:nvSpPr>
          <p:cNvPr id="102406" name="Text Box 6">
            <a:extLst>
              <a:ext uri="{FF2B5EF4-FFF2-40B4-BE49-F238E27FC236}">
                <a16:creationId xmlns:a16="http://schemas.microsoft.com/office/drawing/2014/main" id="{0742A74F-6006-4E0D-8E51-08AC64581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013325"/>
            <a:ext cx="640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对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CPU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效率要求不高的场合，</a:t>
            </a:r>
          </a:p>
        </p:txBody>
      </p:sp>
      <p:sp>
        <p:nvSpPr>
          <p:cNvPr id="102407" name="Text Box 7">
            <a:extLst>
              <a:ext uri="{FF2B5EF4-FFF2-40B4-BE49-F238E27FC236}">
                <a16:creationId xmlns:a16="http://schemas.microsoft.com/office/drawing/2014/main" id="{F381550A-DEF2-4223-8198-592649BA1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500438"/>
            <a:ext cx="6400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外设和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CPU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串行工作，实时处理能力差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,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并行程度低。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autoUpdateAnimBg="0"/>
      <p:bldP spid="102404" grpId="0" autoUpdateAnimBg="0"/>
      <p:bldP spid="102405" grpId="0" autoUpdateAnimBg="0"/>
      <p:bldP spid="102406" grpId="0" autoUpdateAnimBg="0"/>
      <p:bldP spid="10240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D4FBB3E-ED7A-45CF-9EDF-D6F6BC61E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/>
            <a:r>
              <a:rPr lang="zh-CN" altLang="en-US" b="1" dirty="0"/>
              <a:t>第 </a:t>
            </a:r>
            <a:r>
              <a:rPr lang="en-US" altLang="zh-CN" b="1" dirty="0"/>
              <a:t>7 </a:t>
            </a:r>
            <a:r>
              <a:rPr lang="zh-CN" altLang="en-US" b="1" dirty="0"/>
              <a:t>章 输入</a:t>
            </a:r>
            <a:r>
              <a:rPr lang="en-US" altLang="zh-CN" b="1" dirty="0"/>
              <a:t>/</a:t>
            </a:r>
            <a:r>
              <a:rPr lang="zh-CN" altLang="en-US" b="1" dirty="0"/>
              <a:t>输出系统</a:t>
            </a:r>
          </a:p>
        </p:txBody>
      </p:sp>
      <p:sp>
        <p:nvSpPr>
          <p:cNvPr id="4099" name="内容占位符 1">
            <a:extLst>
              <a:ext uri="{FF2B5EF4-FFF2-40B4-BE49-F238E27FC236}">
                <a16:creationId xmlns:a16="http://schemas.microsoft.com/office/drawing/2014/main" id="{4C1ACEFE-A55B-48FB-91A9-3906A3E66A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600" y="1268760"/>
            <a:ext cx="7450138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7. 1  </a:t>
            </a:r>
            <a:r>
              <a:rPr lang="zh-CN" altLang="en-US" dirty="0"/>
              <a:t>概 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2 I / O  </a:t>
            </a:r>
            <a:r>
              <a:rPr lang="zh-CN" altLang="en-US" dirty="0"/>
              <a:t>接 口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7. 3  </a:t>
            </a:r>
            <a:r>
              <a:rPr lang="zh-CN" altLang="en-US" dirty="0"/>
              <a:t>直接程序控制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7. 4  </a:t>
            </a:r>
            <a:r>
              <a:rPr lang="zh-CN" altLang="en-US" dirty="0"/>
              <a:t>程序中断控制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5 DMA</a:t>
            </a:r>
            <a:r>
              <a:rPr lang="zh-CN" altLang="en-US" dirty="0"/>
              <a:t>技 术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7. 6  </a:t>
            </a:r>
            <a:r>
              <a:rPr lang="zh-CN" altLang="en-US" dirty="0"/>
              <a:t>通 道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1043608" y="2996952"/>
            <a:ext cx="3882794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7. 4 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程序中断控制</a:t>
            </a:r>
          </a:p>
        </p:txBody>
      </p:sp>
    </p:spTree>
    <p:extLst>
      <p:ext uri="{BB962C8B-B14F-4D97-AF65-F5344CB8AC3E}">
        <p14:creationId xmlns:p14="http://schemas.microsoft.com/office/powerpoint/2010/main" val="322072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CC52647-1384-4B78-9360-C4997BD2E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7. 4  </a:t>
            </a:r>
            <a:r>
              <a:rPr lang="zh-CN" altLang="en-US" dirty="0"/>
              <a:t>程序中断控制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28800"/>
            <a:ext cx="8388424" cy="460851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7.4.1 </a:t>
            </a:r>
            <a:r>
              <a:rPr lang="zh-CN" altLang="en-US" sz="2800" dirty="0"/>
              <a:t>中断的基本概念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7.4.2  </a:t>
            </a:r>
            <a:r>
              <a:rPr lang="zh-CN" altLang="en-US" sz="2800" dirty="0"/>
              <a:t>中断的完整过程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7.4.3 </a:t>
            </a:r>
            <a:r>
              <a:rPr lang="zh-CN" altLang="en-US" sz="2800" dirty="0"/>
              <a:t>中断方式接口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7.4.4 </a:t>
            </a:r>
            <a:r>
              <a:rPr lang="zh-CN" altLang="en-US" sz="2800" dirty="0"/>
              <a:t>多级中断技术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7.4.5 MIPS</a:t>
            </a:r>
            <a:r>
              <a:rPr lang="zh-CN" altLang="en-US" sz="2800" dirty="0"/>
              <a:t>机中的中断机制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717BFD-39DE-4B08-9FCE-B751E79C144B}"/>
              </a:ext>
            </a:extLst>
          </p:cNvPr>
          <p:cNvSpPr/>
          <p:nvPr/>
        </p:nvSpPr>
        <p:spPr>
          <a:xfrm>
            <a:off x="683568" y="1628800"/>
            <a:ext cx="3744416" cy="6549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7.4.1 </a:t>
            </a:r>
            <a:r>
              <a:rPr lang="zh-CN" altLang="en-US" sz="2800" dirty="0">
                <a:solidFill>
                  <a:schemeClr val="tx1"/>
                </a:solidFill>
              </a:rPr>
              <a:t>中断的基本概念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42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E53E28E-36FB-4563-BD98-7D26D48AD72A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057400"/>
            <a:ext cx="2667000" cy="4419600"/>
            <a:chOff x="1152" y="1296"/>
            <a:chExt cx="1680" cy="2784"/>
          </a:xfrm>
        </p:grpSpPr>
        <p:sp>
          <p:nvSpPr>
            <p:cNvPr id="26658" name="Rectangle 3">
              <a:extLst>
                <a:ext uri="{FF2B5EF4-FFF2-40B4-BE49-F238E27FC236}">
                  <a16:creationId xmlns:a16="http://schemas.microsoft.com/office/drawing/2014/main" id="{4257FA0A-E343-49CC-B95B-AD5ADFAF1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296"/>
              <a:ext cx="1248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9" name="Rectangle 4">
              <a:extLst>
                <a:ext uri="{FF2B5EF4-FFF2-40B4-BE49-F238E27FC236}">
                  <a16:creationId xmlns:a16="http://schemas.microsoft.com/office/drawing/2014/main" id="{F1432DD4-B9AF-4B7E-81A7-FCB027629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824"/>
              <a:ext cx="124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0" name="Rectangle 5">
              <a:extLst>
                <a:ext uri="{FF2B5EF4-FFF2-40B4-BE49-F238E27FC236}">
                  <a16:creationId xmlns:a16="http://schemas.microsoft.com/office/drawing/2014/main" id="{0ACA51E8-859F-4CFA-8B5C-26083AE67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064"/>
              <a:ext cx="124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1" name="Rectangle 6">
              <a:extLst>
                <a:ext uri="{FF2B5EF4-FFF2-40B4-BE49-F238E27FC236}">
                  <a16:creationId xmlns:a16="http://schemas.microsoft.com/office/drawing/2014/main" id="{6D4C60C9-D034-4526-8054-20AE14889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304"/>
              <a:ext cx="1248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2" name="Rectangle 7">
              <a:extLst>
                <a:ext uri="{FF2B5EF4-FFF2-40B4-BE49-F238E27FC236}">
                  <a16:creationId xmlns:a16="http://schemas.microsoft.com/office/drawing/2014/main" id="{7103598E-C8FC-4711-BB97-D8B59639F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24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3" name="Rectangle 8">
              <a:extLst>
                <a:ext uri="{FF2B5EF4-FFF2-40B4-BE49-F238E27FC236}">
                  <a16:creationId xmlns:a16="http://schemas.microsoft.com/office/drawing/2014/main" id="{099D623D-4ED5-4D79-B41D-6070D6930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072"/>
              <a:ext cx="124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4" name="Rectangle 9">
              <a:extLst>
                <a:ext uri="{FF2B5EF4-FFF2-40B4-BE49-F238E27FC236}">
                  <a16:creationId xmlns:a16="http://schemas.microsoft.com/office/drawing/2014/main" id="{BF9C7F5F-88B9-4CF4-BA94-D499EEBA0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12"/>
              <a:ext cx="124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5" name="Rectangle 10">
              <a:extLst>
                <a:ext uri="{FF2B5EF4-FFF2-40B4-BE49-F238E27FC236}">
                  <a16:creationId xmlns:a16="http://schemas.microsoft.com/office/drawing/2014/main" id="{034AC065-3C30-48A0-AFB7-9EA61D03B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552"/>
              <a:ext cx="1248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6" name="Text Box 11">
              <a:extLst>
                <a:ext uri="{FF2B5EF4-FFF2-40B4-BE49-F238E27FC236}">
                  <a16:creationId xmlns:a16="http://schemas.microsoft.com/office/drawing/2014/main" id="{2980FA99-C2FE-4F70-B37C-808C8CD3A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1" y="1763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7" name="Text Box 12">
              <a:extLst>
                <a:ext uri="{FF2B5EF4-FFF2-40B4-BE49-F238E27FC236}">
                  <a16:creationId xmlns:a16="http://schemas.microsoft.com/office/drawing/2014/main" id="{4757D84B-00CB-4CD8-9CBD-347C6E24E6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003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8" name="Text Box 13">
              <a:extLst>
                <a:ext uri="{FF2B5EF4-FFF2-40B4-BE49-F238E27FC236}">
                  <a16:creationId xmlns:a16="http://schemas.microsoft.com/office/drawing/2014/main" id="{E22CCA5F-180E-41CA-8D11-2C144D89B5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1" y="2771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9" name="Text Box 14">
              <a:extLst>
                <a:ext uri="{FF2B5EF4-FFF2-40B4-BE49-F238E27FC236}">
                  <a16:creationId xmlns:a16="http://schemas.microsoft.com/office/drawing/2014/main" id="{280C1A4D-5C0C-41A4-895E-22C567AA7D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011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7.4.1  </a:t>
            </a:r>
            <a:r>
              <a:rPr lang="zh-CN" altLang="en-US" dirty="0">
                <a:solidFill>
                  <a:srgbClr val="FF0000"/>
                </a:solidFill>
              </a:rPr>
              <a:t>中断的基本概念</a:t>
            </a:r>
            <a:endParaRPr lang="zh-CN" altLang="en-US" b="1" dirty="0"/>
          </a:p>
        </p:txBody>
      </p:sp>
      <p:sp>
        <p:nvSpPr>
          <p:cNvPr id="26640" name="Text Box 16">
            <a:extLst>
              <a:ext uri="{FF2B5EF4-FFF2-40B4-BE49-F238E27FC236}">
                <a16:creationId xmlns:a16="http://schemas.microsoft.com/office/drawing/2014/main" id="{B517C996-F685-4174-8169-39212ECC0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9200"/>
            <a:ext cx="3683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中断的定义</a:t>
            </a:r>
          </a:p>
        </p:txBody>
      </p:sp>
      <p:sp>
        <p:nvSpPr>
          <p:cNvPr id="26641" name="Line 17">
            <a:extLst>
              <a:ext uri="{FF2B5EF4-FFF2-40B4-BE49-F238E27FC236}">
                <a16:creationId xmlns:a16="http://schemas.microsoft.com/office/drawing/2014/main" id="{2B3E7AE8-6298-4105-B198-9E888B58720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95800" y="3429000"/>
            <a:ext cx="12192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42" name="Freeform 18">
            <a:extLst>
              <a:ext uri="{FF2B5EF4-FFF2-40B4-BE49-F238E27FC236}">
                <a16:creationId xmlns:a16="http://schemas.microsoft.com/office/drawing/2014/main" id="{6EB06B02-67AF-483B-93D8-CC998DD8868E}"/>
              </a:ext>
            </a:extLst>
          </p:cNvPr>
          <p:cNvSpPr>
            <a:spLocks/>
          </p:cNvSpPr>
          <p:nvPr/>
        </p:nvSpPr>
        <p:spPr bwMode="auto">
          <a:xfrm>
            <a:off x="4495800" y="5029200"/>
            <a:ext cx="1223963" cy="1600200"/>
          </a:xfrm>
          <a:custGeom>
            <a:avLst/>
            <a:gdLst>
              <a:gd name="T0" fmla="*/ 1223963 w 771"/>
              <a:gd name="T1" fmla="*/ 1600200 h 1008"/>
              <a:gd name="T2" fmla="*/ 0 w 771"/>
              <a:gd name="T3" fmla="*/ 0 h 1008"/>
              <a:gd name="T4" fmla="*/ 0 60000 65536"/>
              <a:gd name="T5" fmla="*/ 0 60000 65536"/>
              <a:gd name="T6" fmla="*/ 0 w 771"/>
              <a:gd name="T7" fmla="*/ 0 h 1008"/>
              <a:gd name="T8" fmla="*/ 771 w 771"/>
              <a:gd name="T9" fmla="*/ 1008 h 10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71" h="1008">
                <a:moveTo>
                  <a:pt x="771" y="100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43" name="Text Box 19">
            <a:extLst>
              <a:ext uri="{FF2B5EF4-FFF2-40B4-BE49-F238E27FC236}">
                <a16:creationId xmlns:a16="http://schemas.microsoft.com/office/drawing/2014/main" id="{C993D5C7-3569-42EB-94E5-31ABEBF25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75" y="2239963"/>
            <a:ext cx="61118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</a:p>
        </p:txBody>
      </p:sp>
      <p:sp>
        <p:nvSpPr>
          <p:cNvPr id="26644" name="Text Box 20">
            <a:extLst>
              <a:ext uri="{FF2B5EF4-FFF2-40B4-BE49-F238E27FC236}">
                <a16:creationId xmlns:a16="http://schemas.microsoft.com/office/drawing/2014/main" id="{653AA603-1C3E-4DA2-9F20-51D425B66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8194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</a:p>
        </p:txBody>
      </p:sp>
      <p:sp>
        <p:nvSpPr>
          <p:cNvPr id="26645" name="Text Box 21">
            <a:extLst>
              <a:ext uri="{FF2B5EF4-FFF2-40B4-BE49-F238E27FC236}">
                <a16:creationId xmlns:a16="http://schemas.microsoft.com/office/drawing/2014/main" id="{81F7163A-935A-416E-B2F7-5D2F97A7B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3241675"/>
            <a:ext cx="712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+1</a:t>
            </a:r>
          </a:p>
        </p:txBody>
      </p:sp>
      <p:sp>
        <p:nvSpPr>
          <p:cNvPr id="26646" name="Text Box 22">
            <a:extLst>
              <a:ext uri="{FF2B5EF4-FFF2-40B4-BE49-F238E27FC236}">
                <a16:creationId xmlns:a16="http://schemas.microsoft.com/office/drawing/2014/main" id="{DEC105EE-2667-41A9-8517-4E6BEA355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4196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</a:p>
        </p:txBody>
      </p:sp>
      <p:sp>
        <p:nvSpPr>
          <p:cNvPr id="26647" name="Text Box 23">
            <a:extLst>
              <a:ext uri="{FF2B5EF4-FFF2-40B4-BE49-F238E27FC236}">
                <a16:creationId xmlns:a16="http://schemas.microsoft.com/office/drawing/2014/main" id="{972A7E6D-6A48-4F98-801A-D61A4A144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4876800"/>
            <a:ext cx="73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+1</a:t>
            </a:r>
          </a:p>
        </p:txBody>
      </p:sp>
      <p:sp>
        <p:nvSpPr>
          <p:cNvPr id="26648" name="Text Box 24">
            <a:extLst>
              <a:ext uri="{FF2B5EF4-FFF2-40B4-BE49-F238E27FC236}">
                <a16:creationId xmlns:a16="http://schemas.microsoft.com/office/drawing/2014/main" id="{DA74C402-423A-4A44-99DF-3956707CE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819525"/>
            <a:ext cx="61118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</a:p>
        </p:txBody>
      </p:sp>
      <p:sp>
        <p:nvSpPr>
          <p:cNvPr id="26649" name="Text Box 25">
            <a:extLst>
              <a:ext uri="{FF2B5EF4-FFF2-40B4-BE49-F238E27FC236}">
                <a16:creationId xmlns:a16="http://schemas.microsoft.com/office/drawing/2014/main" id="{71C305A7-2686-4A30-AF8D-FF41347F7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800725"/>
            <a:ext cx="61118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</a:p>
        </p:txBody>
      </p:sp>
      <p:grpSp>
        <p:nvGrpSpPr>
          <p:cNvPr id="3" name="Group 26">
            <a:extLst>
              <a:ext uri="{FF2B5EF4-FFF2-40B4-BE49-F238E27FC236}">
                <a16:creationId xmlns:a16="http://schemas.microsoft.com/office/drawing/2014/main" id="{9A225282-A25D-435D-BA22-71B17699AE8E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676400"/>
            <a:ext cx="1981200" cy="2362200"/>
            <a:chOff x="3600" y="1056"/>
            <a:chExt cx="1248" cy="1488"/>
          </a:xfrm>
        </p:grpSpPr>
        <p:sp>
          <p:nvSpPr>
            <p:cNvPr id="26653" name="Rectangle 27">
              <a:extLst>
                <a:ext uri="{FF2B5EF4-FFF2-40B4-BE49-F238E27FC236}">
                  <a16:creationId xmlns:a16="http://schemas.microsoft.com/office/drawing/2014/main" id="{0887E599-EFCD-46FA-B9DE-E69924B2F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056"/>
              <a:ext cx="1248" cy="14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6654" name="Group 28">
              <a:extLst>
                <a:ext uri="{FF2B5EF4-FFF2-40B4-BE49-F238E27FC236}">
                  <a16:creationId xmlns:a16="http://schemas.microsoft.com/office/drawing/2014/main" id="{BBE628C3-BA39-429A-ADCE-B1ACE06BF2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1056"/>
              <a:ext cx="1248" cy="1488"/>
              <a:chOff x="3600" y="1056"/>
              <a:chExt cx="1248" cy="1488"/>
            </a:xfrm>
          </p:grpSpPr>
          <p:sp>
            <p:nvSpPr>
              <p:cNvPr id="26656" name="Text Box 29">
                <a:extLst>
                  <a:ext uri="{FF2B5EF4-FFF2-40B4-BE49-F238E27FC236}">
                    <a16:creationId xmlns:a16="http://schemas.microsoft.com/office/drawing/2014/main" id="{B118F79A-F6B5-42BC-B516-8C9C382BE4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8" y="1200"/>
                <a:ext cx="346" cy="1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中断服务程序</a:t>
                </a:r>
              </a:p>
            </p:txBody>
          </p:sp>
          <p:sp>
            <p:nvSpPr>
              <p:cNvPr id="26657" name="Rectangle 30">
                <a:extLst>
                  <a:ext uri="{FF2B5EF4-FFF2-40B4-BE49-F238E27FC236}">
                    <a16:creationId xmlns:a16="http://schemas.microsoft.com/office/drawing/2014/main" id="{D2E7BA50-E7D7-42A8-9B31-C30F43AC2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056"/>
                <a:ext cx="1248" cy="1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655" name="Text Box 31">
              <a:extLst>
                <a:ext uri="{FF2B5EF4-FFF2-40B4-BE49-F238E27FC236}">
                  <a16:creationId xmlns:a16="http://schemas.microsoft.com/office/drawing/2014/main" id="{BD1E9BA4-0A5D-4E31-B818-442FBC150E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19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:a16="http://schemas.microsoft.com/office/drawing/2014/main" id="{F863774C-AB88-48F6-B124-21E1964B382A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4267200"/>
            <a:ext cx="1981200" cy="2362200"/>
            <a:chOff x="3600" y="2688"/>
            <a:chExt cx="1248" cy="1488"/>
          </a:xfrm>
        </p:grpSpPr>
        <p:sp>
          <p:nvSpPr>
            <p:cNvPr id="4" name="Rectangle 33">
              <a:extLst>
                <a:ext uri="{FF2B5EF4-FFF2-40B4-BE49-F238E27FC236}">
                  <a16:creationId xmlns:a16="http://schemas.microsoft.com/office/drawing/2014/main" id="{C3D2C47A-E974-4DEB-A7BB-DC33C7CB4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688"/>
              <a:ext cx="1248" cy="14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" name="Group 34">
              <a:extLst>
                <a:ext uri="{FF2B5EF4-FFF2-40B4-BE49-F238E27FC236}">
                  <a16:creationId xmlns:a16="http://schemas.microsoft.com/office/drawing/2014/main" id="{2BBA0DAC-00CB-46CA-94D3-FF2CA9AEDB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2688"/>
              <a:ext cx="1248" cy="1488"/>
              <a:chOff x="3600" y="2688"/>
              <a:chExt cx="1248" cy="1488"/>
            </a:xfrm>
          </p:grpSpPr>
          <p:sp>
            <p:nvSpPr>
              <p:cNvPr id="26651" name="Text Box 35">
                <a:extLst>
                  <a:ext uri="{FF2B5EF4-FFF2-40B4-BE49-F238E27FC236}">
                    <a16:creationId xmlns:a16="http://schemas.microsoft.com/office/drawing/2014/main" id="{2A732776-9DA4-4F62-8552-185EBC5F3A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8" y="2832"/>
                <a:ext cx="346" cy="1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中断服务程序</a:t>
                </a:r>
              </a:p>
            </p:txBody>
          </p:sp>
          <p:sp>
            <p:nvSpPr>
              <p:cNvPr id="26652" name="Rectangle 36">
                <a:extLst>
                  <a:ext uri="{FF2B5EF4-FFF2-40B4-BE49-F238E27FC236}">
                    <a16:creationId xmlns:a16="http://schemas.microsoft.com/office/drawing/2014/main" id="{ACC3A20E-24A7-46A1-A7DF-D5A26CD953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1248" cy="1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650" name="Text Box 37">
              <a:extLst>
                <a:ext uri="{FF2B5EF4-FFF2-40B4-BE49-F238E27FC236}">
                  <a16:creationId xmlns:a16="http://schemas.microsoft.com/office/drawing/2014/main" id="{2578C860-B363-444C-9FCA-CB9362025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81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</p:grpSp>
      <p:grpSp>
        <p:nvGrpSpPr>
          <p:cNvPr id="8" name="Group 38">
            <a:extLst>
              <a:ext uri="{FF2B5EF4-FFF2-40B4-BE49-F238E27FC236}">
                <a16:creationId xmlns:a16="http://schemas.microsoft.com/office/drawing/2014/main" id="{197B49A3-2E1F-46E0-8FBD-E4BA9D72DF88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1524000"/>
            <a:ext cx="1219200" cy="1447800"/>
            <a:chOff x="2832" y="960"/>
            <a:chExt cx="768" cy="912"/>
          </a:xfrm>
        </p:grpSpPr>
        <p:sp>
          <p:nvSpPr>
            <p:cNvPr id="7" name="Line 39">
              <a:extLst>
                <a:ext uri="{FF2B5EF4-FFF2-40B4-BE49-F238E27FC236}">
                  <a16:creationId xmlns:a16="http://schemas.microsoft.com/office/drawing/2014/main" id="{90068915-BF45-4625-9562-0740615AC5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1056"/>
              <a:ext cx="768" cy="81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Text Box 40">
              <a:extLst>
                <a:ext uri="{FF2B5EF4-FFF2-40B4-BE49-F238E27FC236}">
                  <a16:creationId xmlns:a16="http://schemas.microsoft.com/office/drawing/2014/main" id="{4DF54970-43F0-4954-9671-0DC7967E9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4" y="960"/>
              <a:ext cx="5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入口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14" name="Group 41">
            <a:extLst>
              <a:ext uri="{FF2B5EF4-FFF2-40B4-BE49-F238E27FC236}">
                <a16:creationId xmlns:a16="http://schemas.microsoft.com/office/drawing/2014/main" id="{322D22E6-211B-4CB9-AC74-B30D685C5EF9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4022725"/>
            <a:ext cx="1371600" cy="654050"/>
            <a:chOff x="2832" y="2534"/>
            <a:chExt cx="864" cy="412"/>
          </a:xfrm>
        </p:grpSpPr>
        <p:sp>
          <p:nvSpPr>
            <p:cNvPr id="10" name="Freeform 42">
              <a:extLst>
                <a:ext uri="{FF2B5EF4-FFF2-40B4-BE49-F238E27FC236}">
                  <a16:creationId xmlns:a16="http://schemas.microsoft.com/office/drawing/2014/main" id="{53148E03-FAA3-4F29-AD80-871FD46D8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2688"/>
              <a:ext cx="768" cy="258"/>
            </a:xfrm>
            <a:custGeom>
              <a:avLst/>
              <a:gdLst>
                <a:gd name="T0" fmla="*/ 0 w 768"/>
                <a:gd name="T1" fmla="*/ 258 h 258"/>
                <a:gd name="T2" fmla="*/ 768 w 768"/>
                <a:gd name="T3" fmla="*/ 0 h 258"/>
                <a:gd name="T4" fmla="*/ 0 60000 65536"/>
                <a:gd name="T5" fmla="*/ 0 60000 65536"/>
                <a:gd name="T6" fmla="*/ 0 w 768"/>
                <a:gd name="T7" fmla="*/ 0 h 258"/>
                <a:gd name="T8" fmla="*/ 768 w 768"/>
                <a:gd name="T9" fmla="*/ 258 h 25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68" h="258">
                  <a:moveTo>
                    <a:pt x="0" y="258"/>
                  </a:moveTo>
                  <a:lnTo>
                    <a:pt x="768" y="0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Text Box 43">
              <a:extLst>
                <a:ext uri="{FF2B5EF4-FFF2-40B4-BE49-F238E27FC236}">
                  <a16:creationId xmlns:a16="http://schemas.microsoft.com/office/drawing/2014/main" id="{F3513585-CA2C-4C89-97BE-39678CE905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534"/>
              <a:ext cx="6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入口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</p:grpSp>
      <p:sp>
        <p:nvSpPr>
          <p:cNvPr id="12" name="AutoShape 4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D1197EE-5AA3-4F75-8764-DE7799382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E9FD01-D1F1-435A-86E2-E7C8AA23E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2000250"/>
            <a:ext cx="7072313" cy="34163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计算机在执行程序的过程中，当出现意外情况或特殊请求时，计算机通知现行程序的运行转向对这些异常情况或特殊请求的处理，处理结束后再返回到现行程序的间断处，继续执行原程序，这就是中断。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2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5" dur="500"/>
                                        <p:tgtEl>
                                          <p:spTgt spid="2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0" grpId="0" autoUpdateAnimBg="0"/>
      <p:bldP spid="26642" grpId="0" animBg="1"/>
      <p:bldP spid="26643" grpId="0" autoUpdateAnimBg="0"/>
      <p:bldP spid="26644" grpId="0" autoUpdateAnimBg="0"/>
      <p:bldP spid="26645" grpId="0" autoUpdateAnimBg="0"/>
      <p:bldP spid="26646" grpId="0" autoUpdateAnimBg="0"/>
      <p:bldP spid="26647" grpId="0" autoUpdateAnimBg="0"/>
      <p:bldP spid="26648" grpId="0" autoUpdateAnimBg="0"/>
      <p:bldP spid="26649" grpId="0" autoUpdateAnimBg="0"/>
      <p:bldP spid="48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7.4.1  </a:t>
            </a:r>
            <a:r>
              <a:rPr lang="zh-CN" altLang="en-US" dirty="0">
                <a:solidFill>
                  <a:srgbClr val="FF0000"/>
                </a:solidFill>
              </a:rPr>
              <a:t>中断的基本概念</a:t>
            </a:r>
            <a:endParaRPr lang="zh-CN" altLang="en-US" b="1" dirty="0"/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7C1CBFA9-5A3A-4AD3-BD42-7C1171F5D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836712"/>
            <a:ext cx="8496944" cy="5688632"/>
          </a:xfrm>
        </p:spPr>
        <p:txBody>
          <a:bodyPr/>
          <a:lstStyle/>
          <a:p>
            <a:pPr marL="457200" lvl="1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几个基本概念：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中断源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引起中断产生的事件或发生中断请求的来源。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断点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现行程序中被打断执行的指令地址。关键位置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中断响应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程序由断点转移到中断服务程序的过程。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中断向量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中断服务程序在内存中存放的入口地址，即首地址。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766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bldLvl="2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7.4.1  </a:t>
            </a:r>
            <a:r>
              <a:rPr lang="zh-CN" altLang="en-US" dirty="0">
                <a:solidFill>
                  <a:srgbClr val="FF0000"/>
                </a:solidFill>
              </a:rPr>
              <a:t>中断的基本概念</a:t>
            </a:r>
            <a:endParaRPr lang="zh-CN" altLang="en-US" b="1" dirty="0"/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7C1CBFA9-5A3A-4AD3-BD42-7C1171F5D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08720"/>
            <a:ext cx="8208912" cy="3528392"/>
          </a:xfrm>
        </p:spPr>
        <p:txBody>
          <a:bodyPr/>
          <a:lstStyle/>
          <a:p>
            <a:pPr marL="457200" lvl="1" indent="0">
              <a:buNone/>
            </a:pP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单级中断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所有的中断都是相同级别的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多级中断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多级中断是指系统的中断源是有优先级别之分</a:t>
            </a:r>
          </a:p>
        </p:txBody>
      </p:sp>
    </p:spTree>
    <p:extLst>
      <p:ext uri="{BB962C8B-B14F-4D97-AF65-F5344CB8AC3E}">
        <p14:creationId xmlns:p14="http://schemas.microsoft.com/office/powerpoint/2010/main" val="209321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EF20E3F-C38C-4D62-8D36-080D2863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 引起中断的原因</a:t>
            </a: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B817605A-4A90-4AB1-8C5B-2D88C27F3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980728"/>
            <a:ext cx="8404658" cy="5637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  <a:defRPr sz="3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kern="0" dirty="0">
                <a:solidFill>
                  <a:schemeClr val="tx1"/>
                </a:solidFill>
              </a:rPr>
              <a:t>中断技术赋于计算机应变能力，将有序的运行和无序的事件统一起来，大大增强了系统的处理能力</a:t>
            </a:r>
            <a:endParaRPr lang="en-US" altLang="zh-CN" kern="0" dirty="0">
              <a:solidFill>
                <a:schemeClr val="tx1"/>
              </a:solidFill>
            </a:endParaRPr>
          </a:p>
          <a:p>
            <a:pPr lvl="1" algn="just" eaLnBrk="1" hangingPunct="1"/>
            <a:r>
              <a:rPr lang="zh-CN" altLang="en-US" kern="0" dirty="0"/>
              <a:t>主机外设并行工作</a:t>
            </a:r>
            <a:endParaRPr lang="en-US" altLang="zh-CN" kern="0" dirty="0"/>
          </a:p>
          <a:p>
            <a:pPr lvl="1" algn="just" eaLnBrk="1" hangingPunct="1"/>
            <a:r>
              <a:rPr lang="zh-CN" altLang="en-US" kern="0" dirty="0"/>
              <a:t>程序调试</a:t>
            </a:r>
            <a:endParaRPr lang="en-US" altLang="zh-CN" kern="0" dirty="0"/>
          </a:p>
          <a:p>
            <a:pPr lvl="1" algn="just" eaLnBrk="1" hangingPunct="1"/>
            <a:r>
              <a:rPr lang="zh-CN" altLang="en-US" kern="0" dirty="0"/>
              <a:t>故障处理</a:t>
            </a:r>
            <a:endParaRPr lang="en-US" altLang="zh-CN" kern="0" dirty="0"/>
          </a:p>
          <a:p>
            <a:pPr lvl="1" algn="just" eaLnBrk="1" hangingPunct="1"/>
            <a:r>
              <a:rPr lang="zh-CN" altLang="en-US" kern="0" dirty="0"/>
              <a:t>实时处理</a:t>
            </a:r>
            <a:endParaRPr lang="en-US" altLang="zh-CN" kern="0" dirty="0"/>
          </a:p>
          <a:p>
            <a:pPr lvl="1" algn="just" eaLnBrk="1" hangingPunct="1"/>
            <a:r>
              <a:rPr lang="zh-CN" altLang="en-US" kern="0" dirty="0"/>
              <a:t>人机交互</a:t>
            </a:r>
          </a:p>
        </p:txBody>
      </p:sp>
    </p:spTree>
    <p:extLst>
      <p:ext uri="{BB962C8B-B14F-4D97-AF65-F5344CB8AC3E}">
        <p14:creationId xmlns:p14="http://schemas.microsoft.com/office/powerpoint/2010/main" val="17531733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EF20E3F-C38C-4D62-8D36-080D2863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267970"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b="1" kern="1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zh-CN" b="1" kern="1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中断的分类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07007AC-6772-4822-86BD-26EEC035912E}"/>
              </a:ext>
            </a:extLst>
          </p:cNvPr>
          <p:cNvGrpSpPr/>
          <p:nvPr/>
        </p:nvGrpSpPr>
        <p:grpSpPr>
          <a:xfrm>
            <a:off x="971600" y="1700808"/>
            <a:ext cx="7582868" cy="3566672"/>
            <a:chOff x="1279025" y="2348880"/>
            <a:chExt cx="7582868" cy="3566672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4A98B44-66BC-4995-8CE3-B2518B0BB223}"/>
                </a:ext>
              </a:extLst>
            </p:cNvPr>
            <p:cNvSpPr/>
            <p:nvPr/>
          </p:nvSpPr>
          <p:spPr>
            <a:xfrm>
              <a:off x="1403648" y="2348880"/>
              <a:ext cx="7458245" cy="3566672"/>
            </a:xfrm>
            <a:prstGeom prst="roundRect">
              <a:avLst>
                <a:gd name="adj" fmla="val 3489"/>
              </a:avLst>
            </a:prstGeom>
            <a:solidFill>
              <a:srgbClr val="70AD47">
                <a:lumMod val="20000"/>
                <a:lumOff val="8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9" name="自选图形 6">
              <a:extLst>
                <a:ext uri="{FF2B5EF4-FFF2-40B4-BE49-F238E27FC236}">
                  <a16:creationId xmlns:a16="http://schemas.microsoft.com/office/drawing/2014/main" id="{BA8EC641-A5AD-43AE-8696-4A6DFF2326E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359532" y="2810163"/>
              <a:ext cx="6018212" cy="286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srgbClr val="0099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" name="矩形 8">
              <a:extLst>
                <a:ext uri="{FF2B5EF4-FFF2-40B4-BE49-F238E27FC236}">
                  <a16:creationId xmlns:a16="http://schemas.microsoft.com/office/drawing/2014/main" id="{8937FA9D-7C3C-41DB-9FC3-16F163BD1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7303" y="2872075"/>
              <a:ext cx="625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 </a:t>
              </a:r>
            </a:p>
          </p:txBody>
        </p:sp>
        <p:sp>
          <p:nvSpPr>
            <p:cNvPr id="11" name="矩形 9">
              <a:extLst>
                <a:ext uri="{FF2B5EF4-FFF2-40B4-BE49-F238E27FC236}">
                  <a16:creationId xmlns:a16="http://schemas.microsoft.com/office/drawing/2014/main" id="{073C8484-6E4B-4F6D-8340-AF49F8240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025" y="3978564"/>
              <a:ext cx="739775" cy="420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srgbClr val="0099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" name="矩形 10">
              <a:extLst>
                <a:ext uri="{FF2B5EF4-FFF2-40B4-BE49-F238E27FC236}">
                  <a16:creationId xmlns:a16="http://schemas.microsoft.com/office/drawing/2014/main" id="{803E1C14-3F59-4672-9F5D-1841D92A7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218" y="4021425"/>
              <a:ext cx="51296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中断</a:t>
              </a:r>
            </a:p>
          </p:txBody>
        </p:sp>
        <p:sp>
          <p:nvSpPr>
            <p:cNvPr id="13" name="矩形 11">
              <a:extLst>
                <a:ext uri="{FF2B5EF4-FFF2-40B4-BE49-F238E27FC236}">
                  <a16:creationId xmlns:a16="http://schemas.microsoft.com/office/drawing/2014/main" id="{E69CA634-B19A-497C-B4B0-FA473692B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5166" y="3910300"/>
              <a:ext cx="625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 </a:t>
              </a:r>
            </a:p>
          </p:txBody>
        </p:sp>
        <p:sp>
          <p:nvSpPr>
            <p:cNvPr id="14" name="任意多边形 12">
              <a:extLst>
                <a:ext uri="{FF2B5EF4-FFF2-40B4-BE49-F238E27FC236}">
                  <a16:creationId xmlns:a16="http://schemas.microsoft.com/office/drawing/2014/main" id="{2C46C564-7C84-40B6-A0D0-2800D6208B72}"/>
                </a:ext>
              </a:extLst>
            </p:cNvPr>
            <p:cNvSpPr/>
            <p:nvPr/>
          </p:nvSpPr>
          <p:spPr bwMode="auto">
            <a:xfrm>
              <a:off x="2195013" y="3405476"/>
              <a:ext cx="206375" cy="1673225"/>
            </a:xfrm>
            <a:custGeom>
              <a:avLst/>
              <a:gdLst>
                <a:gd name="T0" fmla="*/ 2147483647 w 130"/>
                <a:gd name="T1" fmla="*/ 0 h 1054"/>
                <a:gd name="T2" fmla="*/ 2147483647 w 130"/>
                <a:gd name="T3" fmla="*/ 2147483647 h 1054"/>
                <a:gd name="T4" fmla="*/ 2147483647 w 130"/>
                <a:gd name="T5" fmla="*/ 2147483647 h 1054"/>
                <a:gd name="T6" fmla="*/ 2147483647 w 130"/>
                <a:gd name="T7" fmla="*/ 2147483647 h 1054"/>
                <a:gd name="T8" fmla="*/ 2147483647 w 130"/>
                <a:gd name="T9" fmla="*/ 2147483647 h 1054"/>
                <a:gd name="T10" fmla="*/ 2147483647 w 130"/>
                <a:gd name="T11" fmla="*/ 2147483647 h 1054"/>
                <a:gd name="T12" fmla="*/ 2147483647 w 130"/>
                <a:gd name="T13" fmla="*/ 2147483647 h 1054"/>
                <a:gd name="T14" fmla="*/ 2147483647 w 130"/>
                <a:gd name="T15" fmla="*/ 2147483647 h 1054"/>
                <a:gd name="T16" fmla="*/ 2147483647 w 130"/>
                <a:gd name="T17" fmla="*/ 2147483647 h 1054"/>
                <a:gd name="T18" fmla="*/ 2147483647 w 130"/>
                <a:gd name="T19" fmla="*/ 2147483647 h 1054"/>
                <a:gd name="T20" fmla="*/ 2147483647 w 130"/>
                <a:gd name="T21" fmla="*/ 2147483647 h 1054"/>
                <a:gd name="T22" fmla="*/ 2147483647 w 130"/>
                <a:gd name="T23" fmla="*/ 2147483647 h 1054"/>
                <a:gd name="T24" fmla="*/ 2147483647 w 130"/>
                <a:gd name="T25" fmla="*/ 2147483647 h 1054"/>
                <a:gd name="T26" fmla="*/ 2147483647 w 130"/>
                <a:gd name="T27" fmla="*/ 2147483647 h 1054"/>
                <a:gd name="T28" fmla="*/ 2147483647 w 130"/>
                <a:gd name="T29" fmla="*/ 2147483647 h 1054"/>
                <a:gd name="T30" fmla="*/ 0 w 130"/>
                <a:gd name="T31" fmla="*/ 2147483647 h 1054"/>
                <a:gd name="T32" fmla="*/ 2147483647 w 130"/>
                <a:gd name="T33" fmla="*/ 2147483647 h 1054"/>
                <a:gd name="T34" fmla="*/ 2147483647 w 130"/>
                <a:gd name="T35" fmla="*/ 2147483647 h 1054"/>
                <a:gd name="T36" fmla="*/ 2147483647 w 130"/>
                <a:gd name="T37" fmla="*/ 2147483647 h 1054"/>
                <a:gd name="T38" fmla="*/ 2147483647 w 130"/>
                <a:gd name="T39" fmla="*/ 2147483647 h 1054"/>
                <a:gd name="T40" fmla="*/ 2147483647 w 130"/>
                <a:gd name="T41" fmla="*/ 2147483647 h 1054"/>
                <a:gd name="T42" fmla="*/ 2147483647 w 130"/>
                <a:gd name="T43" fmla="*/ 2147483647 h 1054"/>
                <a:gd name="T44" fmla="*/ 2147483647 w 130"/>
                <a:gd name="T45" fmla="*/ 2147483647 h 1054"/>
                <a:gd name="T46" fmla="*/ 2147483647 w 130"/>
                <a:gd name="T47" fmla="*/ 2147483647 h 1054"/>
                <a:gd name="T48" fmla="*/ 2147483647 w 130"/>
                <a:gd name="T49" fmla="*/ 2147483647 h 1054"/>
                <a:gd name="T50" fmla="*/ 2147483647 w 130"/>
                <a:gd name="T51" fmla="*/ 2147483647 h 1054"/>
                <a:gd name="T52" fmla="*/ 2147483647 w 130"/>
                <a:gd name="T53" fmla="*/ 2147483647 h 1054"/>
                <a:gd name="T54" fmla="*/ 2147483647 w 130"/>
                <a:gd name="T55" fmla="*/ 2147483647 h 1054"/>
                <a:gd name="T56" fmla="*/ 2147483647 w 130"/>
                <a:gd name="T57" fmla="*/ 2147483647 h 1054"/>
                <a:gd name="T58" fmla="*/ 2147483647 w 130"/>
                <a:gd name="T59" fmla="*/ 2147483647 h 1054"/>
                <a:gd name="T60" fmla="*/ 2147483647 w 130"/>
                <a:gd name="T61" fmla="*/ 2147483647 h 10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0" h="1054">
                  <a:moveTo>
                    <a:pt x="130" y="0"/>
                  </a:moveTo>
                  <a:lnTo>
                    <a:pt x="116" y="2"/>
                  </a:lnTo>
                  <a:lnTo>
                    <a:pt x="105" y="7"/>
                  </a:lnTo>
                  <a:lnTo>
                    <a:pt x="93" y="16"/>
                  </a:lnTo>
                  <a:lnTo>
                    <a:pt x="84" y="27"/>
                  </a:lnTo>
                  <a:lnTo>
                    <a:pt x="71" y="55"/>
                  </a:lnTo>
                  <a:lnTo>
                    <a:pt x="68" y="71"/>
                  </a:lnTo>
                  <a:lnTo>
                    <a:pt x="66" y="89"/>
                  </a:lnTo>
                  <a:lnTo>
                    <a:pt x="66" y="441"/>
                  </a:lnTo>
                  <a:lnTo>
                    <a:pt x="64" y="459"/>
                  </a:lnTo>
                  <a:lnTo>
                    <a:pt x="61" y="475"/>
                  </a:lnTo>
                  <a:lnTo>
                    <a:pt x="48" y="502"/>
                  </a:lnTo>
                  <a:lnTo>
                    <a:pt x="36" y="513"/>
                  </a:lnTo>
                  <a:lnTo>
                    <a:pt x="25" y="520"/>
                  </a:lnTo>
                  <a:lnTo>
                    <a:pt x="14" y="525"/>
                  </a:lnTo>
                  <a:lnTo>
                    <a:pt x="0" y="527"/>
                  </a:lnTo>
                  <a:lnTo>
                    <a:pt x="14" y="529"/>
                  </a:lnTo>
                  <a:lnTo>
                    <a:pt x="25" y="534"/>
                  </a:lnTo>
                  <a:lnTo>
                    <a:pt x="36" y="543"/>
                  </a:lnTo>
                  <a:lnTo>
                    <a:pt x="48" y="554"/>
                  </a:lnTo>
                  <a:lnTo>
                    <a:pt x="61" y="582"/>
                  </a:lnTo>
                  <a:lnTo>
                    <a:pt x="64" y="597"/>
                  </a:lnTo>
                  <a:lnTo>
                    <a:pt x="66" y="616"/>
                  </a:lnTo>
                  <a:lnTo>
                    <a:pt x="66" y="968"/>
                  </a:lnTo>
                  <a:lnTo>
                    <a:pt x="68" y="986"/>
                  </a:lnTo>
                  <a:lnTo>
                    <a:pt x="71" y="1002"/>
                  </a:lnTo>
                  <a:lnTo>
                    <a:pt x="84" y="1029"/>
                  </a:lnTo>
                  <a:lnTo>
                    <a:pt x="93" y="1040"/>
                  </a:lnTo>
                  <a:lnTo>
                    <a:pt x="105" y="1047"/>
                  </a:lnTo>
                  <a:lnTo>
                    <a:pt x="116" y="1052"/>
                  </a:lnTo>
                  <a:lnTo>
                    <a:pt x="130" y="10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srgbClr val="0099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5" name="矩形 13">
              <a:extLst>
                <a:ext uri="{FF2B5EF4-FFF2-40B4-BE49-F238E27FC236}">
                  <a16:creationId xmlns:a16="http://schemas.microsoft.com/office/drawing/2014/main" id="{BF066CA5-811B-4D69-A2C2-705ADBCBE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933" y="3048289"/>
              <a:ext cx="1108075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srgbClr val="0099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6" name="矩形 14">
              <a:extLst>
                <a:ext uri="{FF2B5EF4-FFF2-40B4-BE49-F238E27FC236}">
                  <a16:creationId xmlns:a16="http://schemas.microsoft.com/office/drawing/2014/main" id="{6AA4A31F-2064-4D67-A599-6952D5AF9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893" y="3092738"/>
              <a:ext cx="17953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内中断（异常）</a:t>
              </a:r>
            </a:p>
          </p:txBody>
        </p:sp>
        <p:sp>
          <p:nvSpPr>
            <p:cNvPr id="17" name="矩形 15">
              <a:extLst>
                <a:ext uri="{FF2B5EF4-FFF2-40B4-BE49-F238E27FC236}">
                  <a16:creationId xmlns:a16="http://schemas.microsoft.com/office/drawing/2014/main" id="{171A6DE1-AB35-4F41-9078-A8E63B4A7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560" y="3120125"/>
              <a:ext cx="625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dirty="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 </a:t>
              </a:r>
            </a:p>
          </p:txBody>
        </p:sp>
        <p:sp>
          <p:nvSpPr>
            <p:cNvPr id="18" name="矩形 16">
              <a:extLst>
                <a:ext uri="{FF2B5EF4-FFF2-40B4-BE49-F238E27FC236}">
                  <a16:creationId xmlns:a16="http://schemas.microsoft.com/office/drawing/2014/main" id="{330068CA-E00E-4EAA-B649-C5E451DE0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932" y="4838988"/>
              <a:ext cx="2557462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srgbClr val="0099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9" name="矩形 17">
              <a:extLst>
                <a:ext uri="{FF2B5EF4-FFF2-40B4-BE49-F238E27FC236}">
                  <a16:creationId xmlns:a16="http://schemas.microsoft.com/office/drawing/2014/main" id="{63538176-1E60-4F26-8801-9BF99F426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8498" y="5027900"/>
              <a:ext cx="76944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外中断</a:t>
              </a:r>
            </a:p>
          </p:txBody>
        </p:sp>
        <p:sp>
          <p:nvSpPr>
            <p:cNvPr id="20" name="矩形 18">
              <a:extLst>
                <a:ext uri="{FF2B5EF4-FFF2-40B4-BE49-F238E27FC236}">
                  <a16:creationId xmlns:a16="http://schemas.microsoft.com/office/drawing/2014/main" id="{2CEC2126-993E-4CDE-BCFC-6A6DD9476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1098" y="5016788"/>
              <a:ext cx="8976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(</a:t>
              </a:r>
            </a:p>
          </p:txBody>
        </p:sp>
        <p:sp>
          <p:nvSpPr>
            <p:cNvPr id="21" name="矩形 19">
              <a:extLst>
                <a:ext uri="{FF2B5EF4-FFF2-40B4-BE49-F238E27FC236}">
                  <a16:creationId xmlns:a16="http://schemas.microsoft.com/office/drawing/2014/main" id="{C334E10F-6C7F-4C38-AB77-3559AE3AD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696" y="5027900"/>
              <a:ext cx="102592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强迫中断</a:t>
              </a:r>
            </a:p>
          </p:txBody>
        </p:sp>
        <p:sp>
          <p:nvSpPr>
            <p:cNvPr id="22" name="矩形 20">
              <a:extLst>
                <a:ext uri="{FF2B5EF4-FFF2-40B4-BE49-F238E27FC236}">
                  <a16:creationId xmlns:a16="http://schemas.microsoft.com/office/drawing/2014/main" id="{FD7CADB7-6A2E-4F96-826F-E3CE50F05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5873" y="5016788"/>
              <a:ext cx="8976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)</a:t>
              </a:r>
            </a:p>
          </p:txBody>
        </p:sp>
        <p:sp>
          <p:nvSpPr>
            <p:cNvPr id="23" name="矩形 21">
              <a:extLst>
                <a:ext uri="{FF2B5EF4-FFF2-40B4-BE49-F238E27FC236}">
                  <a16:creationId xmlns:a16="http://schemas.microsoft.com/office/drawing/2014/main" id="{AB083BD7-2943-400D-9DD1-0D5BFA50C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398" y="5016788"/>
              <a:ext cx="625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 </a:t>
              </a:r>
            </a:p>
          </p:txBody>
        </p:sp>
        <p:sp>
          <p:nvSpPr>
            <p:cNvPr id="24" name="任意多边形 22">
              <a:extLst>
                <a:ext uri="{FF2B5EF4-FFF2-40B4-BE49-F238E27FC236}">
                  <a16:creationId xmlns:a16="http://schemas.microsoft.com/office/drawing/2014/main" id="{3BCB5A84-0653-47FE-A40E-02C3B059C68B}"/>
                </a:ext>
              </a:extLst>
            </p:cNvPr>
            <p:cNvSpPr/>
            <p:nvPr/>
          </p:nvSpPr>
          <p:spPr bwMode="auto">
            <a:xfrm>
              <a:off x="4784507" y="2904226"/>
              <a:ext cx="201613" cy="701675"/>
            </a:xfrm>
            <a:custGeom>
              <a:avLst/>
              <a:gdLst>
                <a:gd name="T0" fmla="*/ 2147483647 w 127"/>
                <a:gd name="T1" fmla="*/ 0 h 442"/>
                <a:gd name="T2" fmla="*/ 2147483647 w 127"/>
                <a:gd name="T3" fmla="*/ 2147483647 h 442"/>
                <a:gd name="T4" fmla="*/ 2147483647 w 127"/>
                <a:gd name="T5" fmla="*/ 2147483647 h 442"/>
                <a:gd name="T6" fmla="*/ 2147483647 w 127"/>
                <a:gd name="T7" fmla="*/ 2147483647 h 442"/>
                <a:gd name="T8" fmla="*/ 2147483647 w 127"/>
                <a:gd name="T9" fmla="*/ 2147483647 h 442"/>
                <a:gd name="T10" fmla="*/ 2147483647 w 127"/>
                <a:gd name="T11" fmla="*/ 2147483647 h 442"/>
                <a:gd name="T12" fmla="*/ 2147483647 w 127"/>
                <a:gd name="T13" fmla="*/ 2147483647 h 442"/>
                <a:gd name="T14" fmla="*/ 2147483647 w 127"/>
                <a:gd name="T15" fmla="*/ 2147483647 h 442"/>
                <a:gd name="T16" fmla="*/ 2147483647 w 127"/>
                <a:gd name="T17" fmla="*/ 2147483647 h 442"/>
                <a:gd name="T18" fmla="*/ 2147483647 w 127"/>
                <a:gd name="T19" fmla="*/ 2147483647 h 442"/>
                <a:gd name="T20" fmla="*/ 2147483647 w 127"/>
                <a:gd name="T21" fmla="*/ 2147483647 h 442"/>
                <a:gd name="T22" fmla="*/ 0 w 127"/>
                <a:gd name="T23" fmla="*/ 2147483647 h 442"/>
                <a:gd name="T24" fmla="*/ 2147483647 w 127"/>
                <a:gd name="T25" fmla="*/ 2147483647 h 442"/>
                <a:gd name="T26" fmla="*/ 2147483647 w 127"/>
                <a:gd name="T27" fmla="*/ 2147483647 h 442"/>
                <a:gd name="T28" fmla="*/ 2147483647 w 127"/>
                <a:gd name="T29" fmla="*/ 2147483647 h 442"/>
                <a:gd name="T30" fmla="*/ 2147483647 w 127"/>
                <a:gd name="T31" fmla="*/ 2147483647 h 442"/>
                <a:gd name="T32" fmla="*/ 2147483647 w 127"/>
                <a:gd name="T33" fmla="*/ 2147483647 h 442"/>
                <a:gd name="T34" fmla="*/ 2147483647 w 127"/>
                <a:gd name="T35" fmla="*/ 2147483647 h 442"/>
                <a:gd name="T36" fmla="*/ 2147483647 w 127"/>
                <a:gd name="T37" fmla="*/ 2147483647 h 442"/>
                <a:gd name="T38" fmla="*/ 2147483647 w 127"/>
                <a:gd name="T39" fmla="*/ 2147483647 h 442"/>
                <a:gd name="T40" fmla="*/ 2147483647 w 127"/>
                <a:gd name="T41" fmla="*/ 2147483647 h 442"/>
                <a:gd name="T42" fmla="*/ 2147483647 w 127"/>
                <a:gd name="T43" fmla="*/ 2147483647 h 442"/>
                <a:gd name="T44" fmla="*/ 2147483647 w 127"/>
                <a:gd name="T45" fmla="*/ 2147483647 h 44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27" h="442">
                  <a:moveTo>
                    <a:pt x="127" y="0"/>
                  </a:moveTo>
                  <a:lnTo>
                    <a:pt x="102" y="2"/>
                  </a:lnTo>
                  <a:lnTo>
                    <a:pt x="81" y="11"/>
                  </a:lnTo>
                  <a:lnTo>
                    <a:pt x="68" y="22"/>
                  </a:lnTo>
                  <a:lnTo>
                    <a:pt x="66" y="29"/>
                  </a:lnTo>
                  <a:lnTo>
                    <a:pt x="63" y="36"/>
                  </a:lnTo>
                  <a:lnTo>
                    <a:pt x="63" y="184"/>
                  </a:lnTo>
                  <a:lnTo>
                    <a:pt x="61" y="190"/>
                  </a:lnTo>
                  <a:lnTo>
                    <a:pt x="59" y="197"/>
                  </a:lnTo>
                  <a:lnTo>
                    <a:pt x="45" y="209"/>
                  </a:lnTo>
                  <a:lnTo>
                    <a:pt x="25" y="218"/>
                  </a:lnTo>
                  <a:lnTo>
                    <a:pt x="0" y="220"/>
                  </a:lnTo>
                  <a:lnTo>
                    <a:pt x="25" y="222"/>
                  </a:lnTo>
                  <a:lnTo>
                    <a:pt x="45" y="231"/>
                  </a:lnTo>
                  <a:lnTo>
                    <a:pt x="59" y="245"/>
                  </a:lnTo>
                  <a:lnTo>
                    <a:pt x="61" y="252"/>
                  </a:lnTo>
                  <a:lnTo>
                    <a:pt x="63" y="259"/>
                  </a:lnTo>
                  <a:lnTo>
                    <a:pt x="63" y="406"/>
                  </a:lnTo>
                  <a:lnTo>
                    <a:pt x="66" y="413"/>
                  </a:lnTo>
                  <a:lnTo>
                    <a:pt x="68" y="420"/>
                  </a:lnTo>
                  <a:lnTo>
                    <a:pt x="81" y="431"/>
                  </a:lnTo>
                  <a:lnTo>
                    <a:pt x="102" y="440"/>
                  </a:lnTo>
                  <a:lnTo>
                    <a:pt x="127" y="44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srgbClr val="0099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5" name="矩形 23">
              <a:extLst>
                <a:ext uri="{FF2B5EF4-FFF2-40B4-BE49-F238E27FC236}">
                  <a16:creationId xmlns:a16="http://schemas.microsoft.com/office/drawing/2014/main" id="{9821B453-A805-464E-89F8-96D366CE3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232" y="2678800"/>
              <a:ext cx="3421063" cy="55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srgbClr val="0099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6" name="矩形 24">
              <a:extLst>
                <a:ext uri="{FF2B5EF4-FFF2-40B4-BE49-F238E27FC236}">
                  <a16:creationId xmlns:a16="http://schemas.microsoft.com/office/drawing/2014/main" id="{96B8FC47-96DA-4956-8137-46F3F880E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7058" y="2632763"/>
              <a:ext cx="102592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自愿中断</a:t>
              </a:r>
            </a:p>
          </p:txBody>
        </p:sp>
        <p:sp>
          <p:nvSpPr>
            <p:cNvPr id="27" name="矩形 25">
              <a:extLst>
                <a:ext uri="{FF2B5EF4-FFF2-40B4-BE49-F238E27FC236}">
                  <a16:creationId xmlns:a16="http://schemas.microsoft.com/office/drawing/2014/main" id="{F87ECF2C-F2BC-49FB-BB9D-4B5B63A3E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6038" y="2610538"/>
              <a:ext cx="51296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rgbClr val="0099FF"/>
                  </a:solidFill>
                  <a:ea typeface="微软雅黑"/>
                </a:rPr>
                <a:t>——</a:t>
              </a:r>
              <a:endParaRPr lang="en-US" altLang="zh-CN" sz="2000">
                <a:solidFill>
                  <a:srgbClr val="0099FF"/>
                </a:solidFill>
                <a:latin typeface="华文新魏" panose="02010800040101010101" pitchFamily="2" charset="-122"/>
                <a:ea typeface="微软雅黑"/>
              </a:endParaRPr>
            </a:p>
          </p:txBody>
        </p:sp>
        <p:sp>
          <p:nvSpPr>
            <p:cNvPr id="28" name="矩形 26">
              <a:extLst>
                <a:ext uri="{FF2B5EF4-FFF2-40B4-BE49-F238E27FC236}">
                  <a16:creationId xmlns:a16="http://schemas.microsoft.com/office/drawing/2014/main" id="{803A0CFA-4768-4858-9CBA-24ECA0B2E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3808" y="2610538"/>
              <a:ext cx="102592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指令中断</a:t>
              </a:r>
            </a:p>
          </p:txBody>
        </p:sp>
        <p:sp>
          <p:nvSpPr>
            <p:cNvPr id="29" name="矩形 27">
              <a:extLst>
                <a:ext uri="{FF2B5EF4-FFF2-40B4-BE49-F238E27FC236}">
                  <a16:creationId xmlns:a16="http://schemas.microsoft.com/office/drawing/2014/main" id="{0B1A2F18-323C-4ED9-B574-FBA5258C9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0985" y="2599425"/>
              <a:ext cx="625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 </a:t>
              </a:r>
            </a:p>
          </p:txBody>
        </p:sp>
        <p:sp>
          <p:nvSpPr>
            <p:cNvPr id="30" name="矩形 28">
              <a:extLst>
                <a:ext uri="{FF2B5EF4-FFF2-40B4-BE49-F238E27FC236}">
                  <a16:creationId xmlns:a16="http://schemas.microsoft.com/office/drawing/2014/main" id="{A44EEB0E-124D-4335-8958-885D0F308C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231" y="3505889"/>
              <a:ext cx="1460500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srgbClr val="0099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1" name="矩形 29">
              <a:extLst>
                <a:ext uri="{FF2B5EF4-FFF2-40B4-BE49-F238E27FC236}">
                  <a16:creationId xmlns:a16="http://schemas.microsoft.com/office/drawing/2014/main" id="{B04C4897-3DA2-49EA-A12B-9A05AF4BB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7058" y="3548750"/>
              <a:ext cx="102592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强迫中断</a:t>
              </a:r>
            </a:p>
          </p:txBody>
        </p:sp>
        <p:sp>
          <p:nvSpPr>
            <p:cNvPr id="32" name="矩形 30">
              <a:extLst>
                <a:ext uri="{FF2B5EF4-FFF2-40B4-BE49-F238E27FC236}">
                  <a16:creationId xmlns:a16="http://schemas.microsoft.com/office/drawing/2014/main" id="{FEDAEB99-0640-4AFE-84CE-9B3B20371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5985" y="3537638"/>
              <a:ext cx="625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 </a:t>
              </a:r>
            </a:p>
          </p:txBody>
        </p:sp>
        <p:sp>
          <p:nvSpPr>
            <p:cNvPr id="33" name="任意多边形 31">
              <a:extLst>
                <a:ext uri="{FF2B5EF4-FFF2-40B4-BE49-F238E27FC236}">
                  <a16:creationId xmlns:a16="http://schemas.microsoft.com/office/drawing/2014/main" id="{961B1C5F-F88D-4AD6-A015-0B60F183E007}"/>
                </a:ext>
              </a:extLst>
            </p:cNvPr>
            <p:cNvSpPr/>
            <p:nvPr/>
          </p:nvSpPr>
          <p:spPr bwMode="auto">
            <a:xfrm>
              <a:off x="6388675" y="3356663"/>
              <a:ext cx="201612" cy="703263"/>
            </a:xfrm>
            <a:custGeom>
              <a:avLst/>
              <a:gdLst>
                <a:gd name="T0" fmla="*/ 2147483647 w 127"/>
                <a:gd name="T1" fmla="*/ 0 h 443"/>
                <a:gd name="T2" fmla="*/ 2147483647 w 127"/>
                <a:gd name="T3" fmla="*/ 2147483647 h 443"/>
                <a:gd name="T4" fmla="*/ 2147483647 w 127"/>
                <a:gd name="T5" fmla="*/ 2147483647 h 443"/>
                <a:gd name="T6" fmla="*/ 2147483647 w 127"/>
                <a:gd name="T7" fmla="*/ 2147483647 h 443"/>
                <a:gd name="T8" fmla="*/ 2147483647 w 127"/>
                <a:gd name="T9" fmla="*/ 2147483647 h 443"/>
                <a:gd name="T10" fmla="*/ 2147483647 w 127"/>
                <a:gd name="T11" fmla="*/ 2147483647 h 443"/>
                <a:gd name="T12" fmla="*/ 2147483647 w 127"/>
                <a:gd name="T13" fmla="*/ 2147483647 h 443"/>
                <a:gd name="T14" fmla="*/ 2147483647 w 127"/>
                <a:gd name="T15" fmla="*/ 2147483647 h 443"/>
                <a:gd name="T16" fmla="*/ 2147483647 w 127"/>
                <a:gd name="T17" fmla="*/ 2147483647 h 443"/>
                <a:gd name="T18" fmla="*/ 2147483647 w 127"/>
                <a:gd name="T19" fmla="*/ 2147483647 h 443"/>
                <a:gd name="T20" fmla="*/ 2147483647 w 127"/>
                <a:gd name="T21" fmla="*/ 2147483647 h 443"/>
                <a:gd name="T22" fmla="*/ 0 w 127"/>
                <a:gd name="T23" fmla="*/ 2147483647 h 443"/>
                <a:gd name="T24" fmla="*/ 2147483647 w 127"/>
                <a:gd name="T25" fmla="*/ 2147483647 h 443"/>
                <a:gd name="T26" fmla="*/ 2147483647 w 127"/>
                <a:gd name="T27" fmla="*/ 2147483647 h 443"/>
                <a:gd name="T28" fmla="*/ 2147483647 w 127"/>
                <a:gd name="T29" fmla="*/ 2147483647 h 443"/>
                <a:gd name="T30" fmla="*/ 2147483647 w 127"/>
                <a:gd name="T31" fmla="*/ 2147483647 h 443"/>
                <a:gd name="T32" fmla="*/ 2147483647 w 127"/>
                <a:gd name="T33" fmla="*/ 2147483647 h 443"/>
                <a:gd name="T34" fmla="*/ 2147483647 w 127"/>
                <a:gd name="T35" fmla="*/ 2147483647 h 443"/>
                <a:gd name="T36" fmla="*/ 2147483647 w 127"/>
                <a:gd name="T37" fmla="*/ 2147483647 h 443"/>
                <a:gd name="T38" fmla="*/ 2147483647 w 127"/>
                <a:gd name="T39" fmla="*/ 2147483647 h 443"/>
                <a:gd name="T40" fmla="*/ 2147483647 w 127"/>
                <a:gd name="T41" fmla="*/ 2147483647 h 443"/>
                <a:gd name="T42" fmla="*/ 2147483647 w 127"/>
                <a:gd name="T43" fmla="*/ 2147483647 h 443"/>
                <a:gd name="T44" fmla="*/ 2147483647 w 127"/>
                <a:gd name="T45" fmla="*/ 2147483647 h 44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27" h="443">
                  <a:moveTo>
                    <a:pt x="127" y="0"/>
                  </a:moveTo>
                  <a:lnTo>
                    <a:pt x="102" y="2"/>
                  </a:lnTo>
                  <a:lnTo>
                    <a:pt x="82" y="11"/>
                  </a:lnTo>
                  <a:lnTo>
                    <a:pt x="68" y="22"/>
                  </a:lnTo>
                  <a:lnTo>
                    <a:pt x="66" y="29"/>
                  </a:lnTo>
                  <a:lnTo>
                    <a:pt x="64" y="36"/>
                  </a:lnTo>
                  <a:lnTo>
                    <a:pt x="64" y="184"/>
                  </a:lnTo>
                  <a:lnTo>
                    <a:pt x="61" y="190"/>
                  </a:lnTo>
                  <a:lnTo>
                    <a:pt x="59" y="197"/>
                  </a:lnTo>
                  <a:lnTo>
                    <a:pt x="45" y="209"/>
                  </a:lnTo>
                  <a:lnTo>
                    <a:pt x="25" y="218"/>
                  </a:lnTo>
                  <a:lnTo>
                    <a:pt x="0" y="220"/>
                  </a:lnTo>
                  <a:lnTo>
                    <a:pt x="25" y="222"/>
                  </a:lnTo>
                  <a:lnTo>
                    <a:pt x="45" y="231"/>
                  </a:lnTo>
                  <a:lnTo>
                    <a:pt x="59" y="243"/>
                  </a:lnTo>
                  <a:lnTo>
                    <a:pt x="61" y="249"/>
                  </a:lnTo>
                  <a:lnTo>
                    <a:pt x="64" y="256"/>
                  </a:lnTo>
                  <a:lnTo>
                    <a:pt x="64" y="404"/>
                  </a:lnTo>
                  <a:lnTo>
                    <a:pt x="66" y="411"/>
                  </a:lnTo>
                  <a:lnTo>
                    <a:pt x="68" y="418"/>
                  </a:lnTo>
                  <a:lnTo>
                    <a:pt x="82" y="431"/>
                  </a:lnTo>
                  <a:lnTo>
                    <a:pt x="102" y="440"/>
                  </a:lnTo>
                  <a:lnTo>
                    <a:pt x="127" y="44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srgbClr val="0099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4" name="矩形 32">
              <a:extLst>
                <a:ext uri="{FF2B5EF4-FFF2-40B4-BE49-F238E27FC236}">
                  <a16:creationId xmlns:a16="http://schemas.microsoft.com/office/drawing/2014/main" id="{2D60FDA8-BE9F-4B8E-8BD9-14365B44F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0919" y="3205850"/>
              <a:ext cx="1439862" cy="55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srgbClr val="0099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5" name="矩形 33">
              <a:extLst>
                <a:ext uri="{FF2B5EF4-FFF2-40B4-BE49-F238E27FC236}">
                  <a16:creationId xmlns:a16="http://schemas.microsoft.com/office/drawing/2014/main" id="{9E021A2E-A043-4302-B0A3-EFEA15EED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0745" y="3250300"/>
              <a:ext cx="102592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硬件故障</a:t>
              </a:r>
            </a:p>
          </p:txBody>
        </p:sp>
        <p:sp>
          <p:nvSpPr>
            <p:cNvPr id="36" name="矩形 34">
              <a:extLst>
                <a:ext uri="{FF2B5EF4-FFF2-40B4-BE49-F238E27FC236}">
                  <a16:creationId xmlns:a16="http://schemas.microsoft.com/office/drawing/2014/main" id="{1DF68311-37CA-4ED6-80C9-E78A20A30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1260" y="3239188"/>
              <a:ext cx="625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 </a:t>
              </a:r>
            </a:p>
          </p:txBody>
        </p:sp>
        <p:sp>
          <p:nvSpPr>
            <p:cNvPr id="37" name="矩形 35">
              <a:extLst>
                <a:ext uri="{FF2B5EF4-FFF2-40B4-BE49-F238E27FC236}">
                  <a16:creationId xmlns:a16="http://schemas.microsoft.com/office/drawing/2014/main" id="{B21DB461-E420-4C86-96E1-A72B7EED1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0919" y="3891651"/>
              <a:ext cx="1389062" cy="555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srgbClr val="0099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8" name="矩形 36">
              <a:extLst>
                <a:ext uri="{FF2B5EF4-FFF2-40B4-BE49-F238E27FC236}">
                  <a16:creationId xmlns:a16="http://schemas.microsoft.com/office/drawing/2014/main" id="{B76F3897-486F-433E-81F7-741929F90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0745" y="3934513"/>
              <a:ext cx="102592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软件出错</a:t>
              </a:r>
            </a:p>
          </p:txBody>
        </p:sp>
        <p:sp>
          <p:nvSpPr>
            <p:cNvPr id="39" name="矩形 37">
              <a:extLst>
                <a:ext uri="{FF2B5EF4-FFF2-40B4-BE49-F238E27FC236}">
                  <a16:creationId xmlns:a16="http://schemas.microsoft.com/office/drawing/2014/main" id="{82A1DCC5-DF54-4D9A-86B2-AA3AD7254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1260" y="3923400"/>
              <a:ext cx="625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 </a:t>
              </a:r>
            </a:p>
          </p:txBody>
        </p:sp>
        <p:sp>
          <p:nvSpPr>
            <p:cNvPr id="40" name="任意多边形 38">
              <a:extLst>
                <a:ext uri="{FF2B5EF4-FFF2-40B4-BE49-F238E27FC236}">
                  <a16:creationId xmlns:a16="http://schemas.microsoft.com/office/drawing/2014/main" id="{B14EE69B-91BB-45D2-849C-0779B5B93438}"/>
                </a:ext>
              </a:extLst>
            </p:cNvPr>
            <p:cNvSpPr/>
            <p:nvPr/>
          </p:nvSpPr>
          <p:spPr bwMode="auto">
            <a:xfrm>
              <a:off x="4971094" y="4835813"/>
              <a:ext cx="204788" cy="703262"/>
            </a:xfrm>
            <a:custGeom>
              <a:avLst/>
              <a:gdLst>
                <a:gd name="T0" fmla="*/ 2147483647 w 129"/>
                <a:gd name="T1" fmla="*/ 0 h 443"/>
                <a:gd name="T2" fmla="*/ 2147483647 w 129"/>
                <a:gd name="T3" fmla="*/ 2147483647 h 443"/>
                <a:gd name="T4" fmla="*/ 2147483647 w 129"/>
                <a:gd name="T5" fmla="*/ 2147483647 h 443"/>
                <a:gd name="T6" fmla="*/ 2147483647 w 129"/>
                <a:gd name="T7" fmla="*/ 2147483647 h 443"/>
                <a:gd name="T8" fmla="*/ 2147483647 w 129"/>
                <a:gd name="T9" fmla="*/ 2147483647 h 443"/>
                <a:gd name="T10" fmla="*/ 2147483647 w 129"/>
                <a:gd name="T11" fmla="*/ 2147483647 h 443"/>
                <a:gd name="T12" fmla="*/ 2147483647 w 129"/>
                <a:gd name="T13" fmla="*/ 2147483647 h 443"/>
                <a:gd name="T14" fmla="*/ 2147483647 w 129"/>
                <a:gd name="T15" fmla="*/ 2147483647 h 443"/>
                <a:gd name="T16" fmla="*/ 2147483647 w 129"/>
                <a:gd name="T17" fmla="*/ 2147483647 h 443"/>
                <a:gd name="T18" fmla="*/ 2147483647 w 129"/>
                <a:gd name="T19" fmla="*/ 2147483647 h 443"/>
                <a:gd name="T20" fmla="*/ 2147483647 w 129"/>
                <a:gd name="T21" fmla="*/ 2147483647 h 443"/>
                <a:gd name="T22" fmla="*/ 0 w 129"/>
                <a:gd name="T23" fmla="*/ 2147483647 h 443"/>
                <a:gd name="T24" fmla="*/ 2147483647 w 129"/>
                <a:gd name="T25" fmla="*/ 2147483647 h 443"/>
                <a:gd name="T26" fmla="*/ 2147483647 w 129"/>
                <a:gd name="T27" fmla="*/ 2147483647 h 443"/>
                <a:gd name="T28" fmla="*/ 2147483647 w 129"/>
                <a:gd name="T29" fmla="*/ 2147483647 h 443"/>
                <a:gd name="T30" fmla="*/ 2147483647 w 129"/>
                <a:gd name="T31" fmla="*/ 2147483647 h 443"/>
                <a:gd name="T32" fmla="*/ 2147483647 w 129"/>
                <a:gd name="T33" fmla="*/ 2147483647 h 443"/>
                <a:gd name="T34" fmla="*/ 2147483647 w 129"/>
                <a:gd name="T35" fmla="*/ 2147483647 h 443"/>
                <a:gd name="T36" fmla="*/ 2147483647 w 129"/>
                <a:gd name="T37" fmla="*/ 2147483647 h 443"/>
                <a:gd name="T38" fmla="*/ 2147483647 w 129"/>
                <a:gd name="T39" fmla="*/ 2147483647 h 443"/>
                <a:gd name="T40" fmla="*/ 2147483647 w 129"/>
                <a:gd name="T41" fmla="*/ 2147483647 h 443"/>
                <a:gd name="T42" fmla="*/ 2147483647 w 129"/>
                <a:gd name="T43" fmla="*/ 2147483647 h 443"/>
                <a:gd name="T44" fmla="*/ 2147483647 w 129"/>
                <a:gd name="T45" fmla="*/ 2147483647 h 44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29" h="443">
                  <a:moveTo>
                    <a:pt x="129" y="0"/>
                  </a:moveTo>
                  <a:lnTo>
                    <a:pt x="104" y="3"/>
                  </a:lnTo>
                  <a:lnTo>
                    <a:pt x="84" y="12"/>
                  </a:lnTo>
                  <a:lnTo>
                    <a:pt x="68" y="25"/>
                  </a:lnTo>
                  <a:lnTo>
                    <a:pt x="66" y="32"/>
                  </a:lnTo>
                  <a:lnTo>
                    <a:pt x="64" y="39"/>
                  </a:lnTo>
                  <a:lnTo>
                    <a:pt x="64" y="187"/>
                  </a:lnTo>
                  <a:lnTo>
                    <a:pt x="61" y="193"/>
                  </a:lnTo>
                  <a:lnTo>
                    <a:pt x="59" y="200"/>
                  </a:lnTo>
                  <a:lnTo>
                    <a:pt x="45" y="212"/>
                  </a:lnTo>
                  <a:lnTo>
                    <a:pt x="25" y="221"/>
                  </a:lnTo>
                  <a:lnTo>
                    <a:pt x="0" y="223"/>
                  </a:lnTo>
                  <a:lnTo>
                    <a:pt x="25" y="225"/>
                  </a:lnTo>
                  <a:lnTo>
                    <a:pt x="45" y="234"/>
                  </a:lnTo>
                  <a:lnTo>
                    <a:pt x="59" y="246"/>
                  </a:lnTo>
                  <a:lnTo>
                    <a:pt x="61" y="252"/>
                  </a:lnTo>
                  <a:lnTo>
                    <a:pt x="64" y="259"/>
                  </a:lnTo>
                  <a:lnTo>
                    <a:pt x="64" y="407"/>
                  </a:lnTo>
                  <a:lnTo>
                    <a:pt x="66" y="414"/>
                  </a:lnTo>
                  <a:lnTo>
                    <a:pt x="68" y="420"/>
                  </a:lnTo>
                  <a:lnTo>
                    <a:pt x="84" y="432"/>
                  </a:lnTo>
                  <a:lnTo>
                    <a:pt x="104" y="441"/>
                  </a:lnTo>
                  <a:lnTo>
                    <a:pt x="129" y="44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srgbClr val="0099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1" name="矩形 39">
              <a:extLst>
                <a:ext uri="{FF2B5EF4-FFF2-40B4-BE49-F238E27FC236}">
                  <a16:creationId xmlns:a16="http://schemas.microsoft.com/office/drawing/2014/main" id="{F28EAAAF-966C-4CF3-A0FA-DF734BD58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4445" y="4713576"/>
              <a:ext cx="2232025" cy="561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srgbClr val="0099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2" name="矩形 40">
              <a:extLst>
                <a:ext uri="{FF2B5EF4-FFF2-40B4-BE49-F238E27FC236}">
                  <a16:creationId xmlns:a16="http://schemas.microsoft.com/office/drawing/2014/main" id="{85A5AF6A-C027-48B4-9826-178A96C44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6415" y="4689763"/>
              <a:ext cx="153888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不可屏蔽中断</a:t>
              </a:r>
            </a:p>
          </p:txBody>
        </p:sp>
        <p:sp>
          <p:nvSpPr>
            <p:cNvPr id="43" name="矩形 41">
              <a:extLst>
                <a:ext uri="{FF2B5EF4-FFF2-40B4-BE49-F238E27FC236}">
                  <a16:creationId xmlns:a16="http://schemas.microsoft.com/office/drawing/2014/main" id="{6AED4BF0-C25C-416C-AB4A-4FE858DA2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9786" y="4746913"/>
              <a:ext cx="625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 </a:t>
              </a:r>
            </a:p>
          </p:txBody>
        </p:sp>
        <p:sp>
          <p:nvSpPr>
            <p:cNvPr id="44" name="矩形 42">
              <a:extLst>
                <a:ext uri="{FF2B5EF4-FFF2-40B4-BE49-F238E27FC236}">
                  <a16:creationId xmlns:a16="http://schemas.microsoft.com/office/drawing/2014/main" id="{90CE790A-D31F-4341-885C-C1F835FE1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4920" y="5402551"/>
              <a:ext cx="1762125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2000">
                <a:solidFill>
                  <a:srgbClr val="0099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5" name="矩形 43">
              <a:extLst>
                <a:ext uri="{FF2B5EF4-FFF2-40B4-BE49-F238E27FC236}">
                  <a16:creationId xmlns:a16="http://schemas.microsoft.com/office/drawing/2014/main" id="{A219EA89-3C5D-4056-BD16-553CCDA49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256" y="5378738"/>
              <a:ext cx="12824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可屏蔽中断</a:t>
              </a:r>
            </a:p>
          </p:txBody>
        </p:sp>
        <p:sp>
          <p:nvSpPr>
            <p:cNvPr id="46" name="矩形 44">
              <a:extLst>
                <a:ext uri="{FF2B5EF4-FFF2-40B4-BE49-F238E27FC236}">
                  <a16:creationId xmlns:a16="http://schemas.microsoft.com/office/drawing/2014/main" id="{C2E83348-AF66-4CA3-93F0-AFDA86C1C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1173" y="5434300"/>
              <a:ext cx="625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rgbClr val="0099FF"/>
                  </a:solidFill>
                  <a:latin typeface="华文新魏" panose="02010800040101010101" pitchFamily="2" charset="-122"/>
                  <a:ea typeface="微软雅黑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388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EF20E3F-C38C-4D62-8D36-080D2863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中断系统需要解决的问题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516676F6-4D4E-4F4D-82E0-AA04945CF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052736"/>
            <a:ext cx="6248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(1)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各中断源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如何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向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CPU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提出请求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？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22BA705-F390-43F5-893B-CBAC3B87E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586136"/>
            <a:ext cx="5791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(2)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各中断源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同时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提出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请求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怎么办 ？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20E6D0B9-42B5-4D39-9508-5788E714C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3795936"/>
            <a:ext cx="441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(5)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如何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寻找入口地址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？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1A7E809A-9280-4EDB-A0AF-1FABCADC8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3186336"/>
            <a:ext cx="4038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(4)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如何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保护现场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？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A114AD8-3574-4B5D-ADFD-77983004F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119536"/>
            <a:ext cx="784860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(3)  CPU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什么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条件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、什么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时间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、以什么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方式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响应中断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？</a:t>
            </a: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4AB76440-E8F3-4DA9-AC20-4F8A23399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4405536"/>
            <a:ext cx="518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(6)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如何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恢复现场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，如何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返回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？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58ADB60F-6FFB-4C04-9F5D-FA9110A41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015136"/>
            <a:ext cx="7086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(7)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处理中断的过程中又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出现新的中断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怎么办 ？</a:t>
            </a:r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EC8DADDB-78AD-498D-A48B-10EB9E8AC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760" y="5624736"/>
            <a:ext cx="2590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硬件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＋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软件</a:t>
            </a:r>
          </a:p>
        </p:txBody>
      </p:sp>
    </p:spTree>
    <p:extLst>
      <p:ext uri="{BB962C8B-B14F-4D97-AF65-F5344CB8AC3E}">
        <p14:creationId xmlns:p14="http://schemas.microsoft.com/office/powerpoint/2010/main" val="129343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7.4.2 </a:t>
            </a:r>
            <a:r>
              <a:rPr lang="zh-CN" altLang="en-US" dirty="0">
                <a:solidFill>
                  <a:srgbClr val="FF0000"/>
                </a:solidFill>
              </a:rPr>
              <a:t>中断的完整过程</a:t>
            </a:r>
            <a:endParaRPr lang="zh-CN" altLang="en-US" b="1" dirty="0"/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04CCECDC-E71A-498D-A015-3F52574AE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五个阶段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）中断请求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）中断判优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）中断响应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）中断处理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）中断返回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40930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54D41-CE68-4AFB-AFB2-97387A94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中断请求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95103D-1CF2-4CDF-BAC6-97DD3DD9A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764704"/>
            <a:ext cx="601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）中断请求信号的产生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D268D-820B-49AB-AB34-EC7E17E4F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5" name="Group 4">
            <a:extLst>
              <a:ext uri="{FF2B5EF4-FFF2-40B4-BE49-F238E27FC236}">
                <a16:creationId xmlns:a16="http://schemas.microsoft.com/office/drawing/2014/main" id="{E12F8C98-1F6E-4A37-AFD3-0CFF83D9FCC4}"/>
              </a:ext>
            </a:extLst>
          </p:cNvPr>
          <p:cNvGrpSpPr>
            <a:grpSpLocks/>
          </p:cNvGrpSpPr>
          <p:nvPr/>
        </p:nvGrpSpPr>
        <p:grpSpPr bwMode="auto">
          <a:xfrm>
            <a:off x="2339752" y="5445224"/>
            <a:ext cx="1144588" cy="773113"/>
            <a:chOff x="1488" y="3628"/>
            <a:chExt cx="721" cy="487"/>
          </a:xfrm>
        </p:grpSpPr>
        <p:sp>
          <p:nvSpPr>
            <p:cNvPr id="36" name="Rectangle 5">
              <a:extLst>
                <a:ext uri="{FF2B5EF4-FFF2-40B4-BE49-F238E27FC236}">
                  <a16:creationId xmlns:a16="http://schemas.microsoft.com/office/drawing/2014/main" id="{F4D6B5F3-0594-4375-986F-108C1D36E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648"/>
              <a:ext cx="721" cy="467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Text Box 6">
              <a:extLst>
                <a:ext uri="{FF2B5EF4-FFF2-40B4-BE49-F238E27FC236}">
                  <a16:creationId xmlns:a16="http://schemas.microsoft.com/office/drawing/2014/main" id="{9D65330E-5975-489B-A402-A684B7260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8" y="3816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38" name="Text Box 7">
              <a:extLst>
                <a:ext uri="{FF2B5EF4-FFF2-40B4-BE49-F238E27FC236}">
                  <a16:creationId xmlns:a16="http://schemas.microsoft.com/office/drawing/2014/main" id="{CD0C6AEE-4272-4509-9626-E1F3E69FB9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" y="3628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</a:p>
          </p:txBody>
        </p:sp>
      </p:grpSp>
      <p:sp>
        <p:nvSpPr>
          <p:cNvPr id="39" name="Freeform 8">
            <a:extLst>
              <a:ext uri="{FF2B5EF4-FFF2-40B4-BE49-F238E27FC236}">
                <a16:creationId xmlns:a16="http://schemas.microsoft.com/office/drawing/2014/main" id="{97DE4F8B-46E6-4AD4-826B-A36A7A113EFC}"/>
              </a:ext>
            </a:extLst>
          </p:cNvPr>
          <p:cNvSpPr>
            <a:spLocks/>
          </p:cNvSpPr>
          <p:nvPr/>
        </p:nvSpPr>
        <p:spPr bwMode="auto">
          <a:xfrm>
            <a:off x="2566765" y="4767362"/>
            <a:ext cx="1587" cy="709612"/>
          </a:xfrm>
          <a:custGeom>
            <a:avLst/>
            <a:gdLst>
              <a:gd name="T0" fmla="*/ 0 w 1"/>
              <a:gd name="T1" fmla="*/ 0 h 447"/>
              <a:gd name="T2" fmla="*/ 1587 w 1"/>
              <a:gd name="T3" fmla="*/ 709612 h 447"/>
              <a:gd name="T4" fmla="*/ 0 60000 65536"/>
              <a:gd name="T5" fmla="*/ 0 60000 65536"/>
              <a:gd name="T6" fmla="*/ 0 w 1"/>
              <a:gd name="T7" fmla="*/ 0 h 447"/>
              <a:gd name="T8" fmla="*/ 1 w 1"/>
              <a:gd name="T9" fmla="*/ 447 h 44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47">
                <a:moveTo>
                  <a:pt x="0" y="0"/>
                </a:moveTo>
                <a:lnTo>
                  <a:pt x="1" y="447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0" name="Group 9">
            <a:extLst>
              <a:ext uri="{FF2B5EF4-FFF2-40B4-BE49-F238E27FC236}">
                <a16:creationId xmlns:a16="http://schemas.microsoft.com/office/drawing/2014/main" id="{9B5B5D4D-8E9D-4A48-AB79-FD8917AB5FC2}"/>
              </a:ext>
            </a:extLst>
          </p:cNvPr>
          <p:cNvGrpSpPr>
            <a:grpSpLocks/>
          </p:cNvGrpSpPr>
          <p:nvPr/>
        </p:nvGrpSpPr>
        <p:grpSpPr bwMode="auto">
          <a:xfrm>
            <a:off x="2339752" y="4262537"/>
            <a:ext cx="685800" cy="500062"/>
            <a:chOff x="1488" y="2883"/>
            <a:chExt cx="432" cy="315"/>
          </a:xfrm>
        </p:grpSpPr>
        <p:sp>
          <p:nvSpPr>
            <p:cNvPr id="41" name="Text Box 10">
              <a:extLst>
                <a:ext uri="{FF2B5EF4-FFF2-40B4-BE49-F238E27FC236}">
                  <a16:creationId xmlns:a16="http://schemas.microsoft.com/office/drawing/2014/main" id="{B77F86C3-C575-477C-BC6A-E0821030E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947"/>
              <a:ext cx="24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&amp;</a:t>
              </a:r>
            </a:p>
          </p:txBody>
        </p:sp>
        <p:sp>
          <p:nvSpPr>
            <p:cNvPr id="42" name="Rectangle 11">
              <a:extLst>
                <a:ext uri="{FF2B5EF4-FFF2-40B4-BE49-F238E27FC236}">
                  <a16:creationId xmlns:a16="http://schemas.microsoft.com/office/drawing/2014/main" id="{50A31842-B579-4A37-B8A3-2B04CA19C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942"/>
              <a:ext cx="432" cy="25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Oval 12">
              <a:extLst>
                <a:ext uri="{FF2B5EF4-FFF2-40B4-BE49-F238E27FC236}">
                  <a16:creationId xmlns:a16="http://schemas.microsoft.com/office/drawing/2014/main" id="{18794AC3-3937-477F-950D-0D69B56A5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83"/>
              <a:ext cx="48" cy="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4" name="Group 13">
            <a:extLst>
              <a:ext uri="{FF2B5EF4-FFF2-40B4-BE49-F238E27FC236}">
                <a16:creationId xmlns:a16="http://schemas.microsoft.com/office/drawing/2014/main" id="{4EC33D12-50B0-4437-A1BC-C7B559F29270}"/>
              </a:ext>
            </a:extLst>
          </p:cNvPr>
          <p:cNvGrpSpPr>
            <a:grpSpLocks/>
          </p:cNvGrpSpPr>
          <p:nvPr/>
        </p:nvGrpSpPr>
        <p:grpSpPr bwMode="auto">
          <a:xfrm>
            <a:off x="2339752" y="3514824"/>
            <a:ext cx="685800" cy="454025"/>
            <a:chOff x="1488" y="2412"/>
            <a:chExt cx="432" cy="286"/>
          </a:xfrm>
        </p:grpSpPr>
        <p:sp>
          <p:nvSpPr>
            <p:cNvPr id="45" name="Text Box 14">
              <a:extLst>
                <a:ext uri="{FF2B5EF4-FFF2-40B4-BE49-F238E27FC236}">
                  <a16:creationId xmlns:a16="http://schemas.microsoft.com/office/drawing/2014/main" id="{6BFFF382-6236-41BA-A962-547862E15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9" y="244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769AC482-E64D-4F9D-9247-CFFBEBD0D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464"/>
              <a:ext cx="432" cy="224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Oval 16">
              <a:extLst>
                <a:ext uri="{FF2B5EF4-FFF2-40B4-BE49-F238E27FC236}">
                  <a16:creationId xmlns:a16="http://schemas.microsoft.com/office/drawing/2014/main" id="{FC35D73D-706C-4C55-AA13-15568F91F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412"/>
              <a:ext cx="48" cy="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8" name="Freeform 17">
            <a:extLst>
              <a:ext uri="{FF2B5EF4-FFF2-40B4-BE49-F238E27FC236}">
                <a16:creationId xmlns:a16="http://schemas.microsoft.com/office/drawing/2014/main" id="{0E1D61CA-4B6B-46E1-9902-572D61F865BD}"/>
              </a:ext>
            </a:extLst>
          </p:cNvPr>
          <p:cNvSpPr>
            <a:spLocks/>
          </p:cNvSpPr>
          <p:nvPr/>
        </p:nvSpPr>
        <p:spPr bwMode="auto">
          <a:xfrm>
            <a:off x="2673127" y="3076674"/>
            <a:ext cx="4763" cy="452438"/>
          </a:xfrm>
          <a:custGeom>
            <a:avLst/>
            <a:gdLst>
              <a:gd name="T0" fmla="*/ 0 w 3"/>
              <a:gd name="T1" fmla="*/ 0 h 285"/>
              <a:gd name="T2" fmla="*/ 4763 w 3"/>
              <a:gd name="T3" fmla="*/ 452438 h 285"/>
              <a:gd name="T4" fmla="*/ 0 60000 65536"/>
              <a:gd name="T5" fmla="*/ 0 60000 65536"/>
              <a:gd name="T6" fmla="*/ 0 w 3"/>
              <a:gd name="T7" fmla="*/ 0 h 285"/>
              <a:gd name="T8" fmla="*/ 3 w 3"/>
              <a:gd name="T9" fmla="*/ 285 h 28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285">
                <a:moveTo>
                  <a:pt x="0" y="0"/>
                </a:moveTo>
                <a:lnTo>
                  <a:pt x="3" y="285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" name="Freeform 18">
            <a:extLst>
              <a:ext uri="{FF2B5EF4-FFF2-40B4-BE49-F238E27FC236}">
                <a16:creationId xmlns:a16="http://schemas.microsoft.com/office/drawing/2014/main" id="{6D1022A3-D13F-4237-AFC0-4287C4A9896B}"/>
              </a:ext>
            </a:extLst>
          </p:cNvPr>
          <p:cNvSpPr>
            <a:spLocks/>
          </p:cNvSpPr>
          <p:nvPr/>
        </p:nvSpPr>
        <p:spPr bwMode="auto">
          <a:xfrm>
            <a:off x="2682652" y="3952974"/>
            <a:ext cx="1588" cy="323850"/>
          </a:xfrm>
          <a:custGeom>
            <a:avLst/>
            <a:gdLst>
              <a:gd name="T0" fmla="*/ 0 w 1"/>
              <a:gd name="T1" fmla="*/ 0 h 204"/>
              <a:gd name="T2" fmla="*/ 0 w 1"/>
              <a:gd name="T3" fmla="*/ 323850 h 204"/>
              <a:gd name="T4" fmla="*/ 0 60000 65536"/>
              <a:gd name="T5" fmla="*/ 0 60000 65536"/>
              <a:gd name="T6" fmla="*/ 0 w 1"/>
              <a:gd name="T7" fmla="*/ 0 h 204"/>
              <a:gd name="T8" fmla="*/ 1 w 1"/>
              <a:gd name="T9" fmla="*/ 204 h 20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04">
                <a:moveTo>
                  <a:pt x="0" y="0"/>
                </a:moveTo>
                <a:lnTo>
                  <a:pt x="0" y="204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" name="Freeform 19">
            <a:extLst>
              <a:ext uri="{FF2B5EF4-FFF2-40B4-BE49-F238E27FC236}">
                <a16:creationId xmlns:a16="http://schemas.microsoft.com/office/drawing/2014/main" id="{D74A7464-622D-4572-919E-22249C8C758C}"/>
              </a:ext>
            </a:extLst>
          </p:cNvPr>
          <p:cNvSpPr>
            <a:spLocks/>
          </p:cNvSpPr>
          <p:nvPr/>
        </p:nvSpPr>
        <p:spPr bwMode="auto">
          <a:xfrm>
            <a:off x="1822227" y="3095724"/>
            <a:ext cx="1371600" cy="171450"/>
          </a:xfrm>
          <a:custGeom>
            <a:avLst/>
            <a:gdLst>
              <a:gd name="T0" fmla="*/ 0 w 723"/>
              <a:gd name="T1" fmla="*/ 171450 h 108"/>
              <a:gd name="T2" fmla="*/ 1365909 w 723"/>
              <a:gd name="T3" fmla="*/ 171450 h 108"/>
              <a:gd name="T4" fmla="*/ 1371600 w 723"/>
              <a:gd name="T5" fmla="*/ 0 h 108"/>
              <a:gd name="T6" fmla="*/ 0 60000 65536"/>
              <a:gd name="T7" fmla="*/ 0 60000 65536"/>
              <a:gd name="T8" fmla="*/ 0 60000 65536"/>
              <a:gd name="T9" fmla="*/ 0 w 723"/>
              <a:gd name="T10" fmla="*/ 0 h 108"/>
              <a:gd name="T11" fmla="*/ 723 w 723"/>
              <a:gd name="T12" fmla="*/ 108 h 1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3" h="108">
                <a:moveTo>
                  <a:pt x="0" y="108"/>
                </a:moveTo>
                <a:lnTo>
                  <a:pt x="720" y="108"/>
                </a:lnTo>
                <a:lnTo>
                  <a:pt x="723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" name="Freeform 20">
            <a:extLst>
              <a:ext uri="{FF2B5EF4-FFF2-40B4-BE49-F238E27FC236}">
                <a16:creationId xmlns:a16="http://schemas.microsoft.com/office/drawing/2014/main" id="{83EC897F-E442-46CD-A847-0DD8F9E98C50}"/>
              </a:ext>
            </a:extLst>
          </p:cNvPr>
          <p:cNvSpPr>
            <a:spLocks/>
          </p:cNvSpPr>
          <p:nvPr/>
        </p:nvSpPr>
        <p:spPr bwMode="auto">
          <a:xfrm>
            <a:off x="2835052" y="1981299"/>
            <a:ext cx="2224088" cy="3038475"/>
          </a:xfrm>
          <a:custGeom>
            <a:avLst/>
            <a:gdLst>
              <a:gd name="T0" fmla="*/ 0 w 1401"/>
              <a:gd name="T1" fmla="*/ 2790825 h 1914"/>
              <a:gd name="T2" fmla="*/ 0 w 1401"/>
              <a:gd name="T3" fmla="*/ 3038475 h 1914"/>
              <a:gd name="T4" fmla="*/ 952500 w 1401"/>
              <a:gd name="T5" fmla="*/ 3038475 h 1914"/>
              <a:gd name="T6" fmla="*/ 952500 w 1401"/>
              <a:gd name="T7" fmla="*/ 0 h 1914"/>
              <a:gd name="T8" fmla="*/ 2224088 w 1401"/>
              <a:gd name="T9" fmla="*/ 4763 h 1914"/>
              <a:gd name="T10" fmla="*/ 2224088 w 1401"/>
              <a:gd name="T11" fmla="*/ 304800 h 19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01"/>
              <a:gd name="T19" fmla="*/ 0 h 1914"/>
              <a:gd name="T20" fmla="*/ 1401 w 1401"/>
              <a:gd name="T21" fmla="*/ 1914 h 19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01" h="1914">
                <a:moveTo>
                  <a:pt x="0" y="1758"/>
                </a:moveTo>
                <a:lnTo>
                  <a:pt x="0" y="1914"/>
                </a:lnTo>
                <a:lnTo>
                  <a:pt x="600" y="1914"/>
                </a:lnTo>
                <a:lnTo>
                  <a:pt x="600" y="0"/>
                </a:lnTo>
                <a:lnTo>
                  <a:pt x="1401" y="3"/>
                </a:lnTo>
                <a:lnTo>
                  <a:pt x="1401" y="192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Text Box 21">
            <a:extLst>
              <a:ext uri="{FF2B5EF4-FFF2-40B4-BE49-F238E27FC236}">
                <a16:creationId xmlns:a16="http://schemas.microsoft.com/office/drawing/2014/main" id="{B5D44637-6AF1-4BFE-B786-11D238383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7640" y="1819374"/>
            <a:ext cx="26844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INTR </a:t>
            </a:r>
          </a:p>
          <a:p>
            <a:pPr eaLnBrk="1" hangingPunct="1"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中断请求触发器</a:t>
            </a:r>
          </a:p>
        </p:txBody>
      </p:sp>
      <p:sp>
        <p:nvSpPr>
          <p:cNvPr id="53" name="Text Box 23">
            <a:extLst>
              <a:ext uri="{FF2B5EF4-FFF2-40B4-BE49-F238E27FC236}">
                <a16:creationId xmlns:a16="http://schemas.microsoft.com/office/drawing/2014/main" id="{202C4A0B-2A55-4087-BB3E-5E8D2B97B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7640" y="3692624"/>
            <a:ext cx="26844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MASK  </a:t>
            </a:r>
          </a:p>
          <a:p>
            <a:pPr eaLnBrk="1" hangingPunct="1"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中断屏蔽触发器</a:t>
            </a:r>
          </a:p>
        </p:txBody>
      </p:sp>
      <p:sp>
        <p:nvSpPr>
          <p:cNvPr id="54" name="Text Box 25">
            <a:extLst>
              <a:ext uri="{FF2B5EF4-FFF2-40B4-BE49-F238E27FC236}">
                <a16:creationId xmlns:a16="http://schemas.microsoft.com/office/drawing/2014/main" id="{7E6F14DE-BC90-49A9-B104-937209FB6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352" y="3022699"/>
            <a:ext cx="1717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来自 </a:t>
            </a: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CPU 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的</a:t>
            </a:r>
          </a:p>
          <a:p>
            <a:pPr eaLnBrk="1" hangingPunct="1">
              <a:defRPr/>
            </a:pP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中断查询信号</a:t>
            </a:r>
          </a:p>
        </p:txBody>
      </p:sp>
      <p:sp>
        <p:nvSpPr>
          <p:cNvPr id="55" name="Text Box 26">
            <a:extLst>
              <a:ext uri="{FF2B5EF4-FFF2-40B4-BE49-F238E27FC236}">
                <a16:creationId xmlns:a16="http://schemas.microsoft.com/office/drawing/2014/main" id="{4F948D72-E84F-493F-9D7C-327EFDB02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690" y="5842099"/>
            <a:ext cx="1973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受设备本身控制</a:t>
            </a:r>
          </a:p>
        </p:txBody>
      </p:sp>
      <p:grpSp>
        <p:nvGrpSpPr>
          <p:cNvPr id="56" name="Group 27">
            <a:extLst>
              <a:ext uri="{FF2B5EF4-FFF2-40B4-BE49-F238E27FC236}">
                <a16:creationId xmlns:a16="http://schemas.microsoft.com/office/drawing/2014/main" id="{2DDBCEC4-DD77-4E0D-8B97-B4F71B05EAFF}"/>
              </a:ext>
            </a:extLst>
          </p:cNvPr>
          <p:cNvGrpSpPr>
            <a:grpSpLocks/>
          </p:cNvGrpSpPr>
          <p:nvPr/>
        </p:nvGrpSpPr>
        <p:grpSpPr bwMode="auto">
          <a:xfrm>
            <a:off x="2339752" y="2276574"/>
            <a:ext cx="2971800" cy="838200"/>
            <a:chOff x="1488" y="1632"/>
            <a:chExt cx="1872" cy="528"/>
          </a:xfrm>
        </p:grpSpPr>
        <p:grpSp>
          <p:nvGrpSpPr>
            <p:cNvPr id="57" name="Group 28">
              <a:extLst>
                <a:ext uri="{FF2B5EF4-FFF2-40B4-BE49-F238E27FC236}">
                  <a16:creationId xmlns:a16="http://schemas.microsoft.com/office/drawing/2014/main" id="{2B55BEE3-1798-427B-998B-71C40F2473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692"/>
              <a:ext cx="721" cy="468"/>
              <a:chOff x="1488" y="1692"/>
              <a:chExt cx="721" cy="468"/>
            </a:xfrm>
          </p:grpSpPr>
          <p:sp>
            <p:nvSpPr>
              <p:cNvPr id="67" name="Text Box 29">
                <a:extLst>
                  <a:ext uri="{FF2B5EF4-FFF2-40B4-BE49-F238E27FC236}">
                    <a16:creationId xmlns:a16="http://schemas.microsoft.com/office/drawing/2014/main" id="{8C638DDB-1211-4EFB-9F71-E146EC04AF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5" y="1718"/>
                <a:ext cx="51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INTR</a:t>
                </a:r>
              </a:p>
            </p:txBody>
          </p:sp>
          <p:sp>
            <p:nvSpPr>
              <p:cNvPr id="68" name="Rectangle 30">
                <a:extLst>
                  <a:ext uri="{FF2B5EF4-FFF2-40B4-BE49-F238E27FC236}">
                    <a16:creationId xmlns:a16="http://schemas.microsoft.com/office/drawing/2014/main" id="{F12C1304-6E89-451C-A98C-3CBDD56B82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1692"/>
                <a:ext cx="721" cy="446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Text Box 31">
                <a:extLst>
                  <a:ext uri="{FF2B5EF4-FFF2-40B4-BE49-F238E27FC236}">
                    <a16:creationId xmlns:a16="http://schemas.microsoft.com/office/drawing/2014/main" id="{79425C23-830C-468B-B6F6-AE7053B9B8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1947"/>
                <a:ext cx="27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  D</a:t>
                </a:r>
              </a:p>
            </p:txBody>
          </p:sp>
          <p:sp>
            <p:nvSpPr>
              <p:cNvPr id="70" name="AutoShape 32">
                <a:extLst>
                  <a:ext uri="{FF2B5EF4-FFF2-40B4-BE49-F238E27FC236}">
                    <a16:creationId xmlns:a16="http://schemas.microsoft.com/office/drawing/2014/main" id="{F6D1E8CC-1D65-44CC-9B8C-EEFF550408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9" y="2026"/>
                <a:ext cx="120" cy="112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8" name="Group 33">
              <a:extLst>
                <a:ext uri="{FF2B5EF4-FFF2-40B4-BE49-F238E27FC236}">
                  <a16:creationId xmlns:a16="http://schemas.microsoft.com/office/drawing/2014/main" id="{1A5161EA-6BE7-4D22-AD5C-52060C3263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1632"/>
              <a:ext cx="720" cy="528"/>
              <a:chOff x="2640" y="1632"/>
              <a:chExt cx="720" cy="528"/>
            </a:xfrm>
          </p:grpSpPr>
          <p:sp>
            <p:nvSpPr>
              <p:cNvPr id="59" name="Text Box 34">
                <a:extLst>
                  <a:ext uri="{FF2B5EF4-FFF2-40B4-BE49-F238E27FC236}">
                    <a16:creationId xmlns:a16="http://schemas.microsoft.com/office/drawing/2014/main" id="{F15A9BF8-6C9D-4B37-A09B-5DF9CFDE6D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1824"/>
                <a:ext cx="6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 MASK</a:t>
                </a:r>
              </a:p>
            </p:txBody>
          </p:sp>
          <p:sp>
            <p:nvSpPr>
              <p:cNvPr id="60" name="Rectangle 35">
                <a:extLst>
                  <a:ext uri="{FF2B5EF4-FFF2-40B4-BE49-F238E27FC236}">
                    <a16:creationId xmlns:a16="http://schemas.microsoft.com/office/drawing/2014/main" id="{0456193D-6772-4799-B293-18977284F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680"/>
                <a:ext cx="720" cy="480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Oval 36">
                <a:extLst>
                  <a:ext uri="{FF2B5EF4-FFF2-40B4-BE49-F238E27FC236}">
                    <a16:creationId xmlns:a16="http://schemas.microsoft.com/office/drawing/2014/main" id="{FB9AB00A-D4B3-42D9-BB32-5A69EEA023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632"/>
                <a:ext cx="48" cy="4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62" name="Group 37">
                <a:extLst>
                  <a:ext uri="{FF2B5EF4-FFF2-40B4-BE49-F238E27FC236}">
                    <a16:creationId xmlns:a16="http://schemas.microsoft.com/office/drawing/2014/main" id="{A4F91318-8F46-421C-9C4E-5A1FC9AAD9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6" y="1680"/>
                <a:ext cx="216" cy="212"/>
                <a:chOff x="3096" y="1660"/>
                <a:chExt cx="216" cy="212"/>
              </a:xfrm>
            </p:grpSpPr>
            <p:grpSp>
              <p:nvGrpSpPr>
                <p:cNvPr id="63" name="Group 38">
                  <a:extLst>
                    <a:ext uri="{FF2B5EF4-FFF2-40B4-BE49-F238E27FC236}">
                      <a16:creationId xmlns:a16="http://schemas.microsoft.com/office/drawing/2014/main" id="{4FB5815F-9CE8-4A7B-90CC-0EA412CC7F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6" y="1660"/>
                  <a:ext cx="216" cy="212"/>
                  <a:chOff x="3120" y="2044"/>
                  <a:chExt cx="216" cy="212"/>
                </a:xfrm>
              </p:grpSpPr>
              <p:sp>
                <p:nvSpPr>
                  <p:cNvPr id="65" name="Text Box 39">
                    <a:extLst>
                      <a:ext uri="{FF2B5EF4-FFF2-40B4-BE49-F238E27FC236}">
                        <a16:creationId xmlns:a16="http://schemas.microsoft.com/office/drawing/2014/main" id="{5947EDBB-7D0E-47FB-9CFA-5B6BA9095C4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20" y="2044"/>
                    <a:ext cx="216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Q</a:t>
                    </a:r>
                  </a:p>
                </p:txBody>
              </p:sp>
              <p:sp>
                <p:nvSpPr>
                  <p:cNvPr id="66" name="Line 40">
                    <a:extLst>
                      <a:ext uri="{FF2B5EF4-FFF2-40B4-BE49-F238E27FC236}">
                        <a16:creationId xmlns:a16="http://schemas.microsoft.com/office/drawing/2014/main" id="{1656F18D-FB87-4243-8F82-97418ECD1BC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64"/>
                    <a:ext cx="144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64" name="Line 41">
                  <a:extLst>
                    <a:ext uri="{FF2B5EF4-FFF2-40B4-BE49-F238E27FC236}">
                      <a16:creationId xmlns:a16="http://schemas.microsoft.com/office/drawing/2014/main" id="{289CCA3B-778E-4C5B-9057-6546F47146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4" y="1700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</p:grpSp>
      <p:sp>
        <p:nvSpPr>
          <p:cNvPr id="71" name="Text Box 42">
            <a:extLst>
              <a:ext uri="{FF2B5EF4-FFF2-40B4-BE49-F238E27FC236}">
                <a16:creationId xmlns:a16="http://schemas.microsoft.com/office/drawing/2014/main" id="{2CCBB7C0-0316-4EF2-927D-2CF5C72EE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7640" y="5567462"/>
            <a:ext cx="2405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D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完成触发器</a:t>
            </a:r>
          </a:p>
        </p:txBody>
      </p:sp>
      <p:grpSp>
        <p:nvGrpSpPr>
          <p:cNvPr id="72" name="Group 44">
            <a:extLst>
              <a:ext uri="{FF2B5EF4-FFF2-40B4-BE49-F238E27FC236}">
                <a16:creationId xmlns:a16="http://schemas.microsoft.com/office/drawing/2014/main" id="{9148394F-9145-4C85-A023-D5CA92A7B66A}"/>
              </a:ext>
            </a:extLst>
          </p:cNvPr>
          <p:cNvGrpSpPr>
            <a:grpSpLocks/>
          </p:cNvGrpSpPr>
          <p:nvPr/>
        </p:nvGrpSpPr>
        <p:grpSpPr bwMode="auto">
          <a:xfrm>
            <a:off x="510952" y="1447899"/>
            <a:ext cx="2133600" cy="914400"/>
            <a:chOff x="336" y="1104"/>
            <a:chExt cx="1344" cy="576"/>
          </a:xfrm>
        </p:grpSpPr>
        <p:sp>
          <p:nvSpPr>
            <p:cNvPr id="73" name="Freeform 45">
              <a:extLst>
                <a:ext uri="{FF2B5EF4-FFF2-40B4-BE49-F238E27FC236}">
                  <a16:creationId xmlns:a16="http://schemas.microsoft.com/office/drawing/2014/main" id="{CF49889B-06C3-4304-A640-3F22A5209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1440"/>
              <a:ext cx="768" cy="240"/>
            </a:xfrm>
            <a:custGeom>
              <a:avLst/>
              <a:gdLst>
                <a:gd name="T0" fmla="*/ 768 w 768"/>
                <a:gd name="T1" fmla="*/ 240 h 240"/>
                <a:gd name="T2" fmla="*/ 768 w 768"/>
                <a:gd name="T3" fmla="*/ 0 h 240"/>
                <a:gd name="T4" fmla="*/ 0 w 768"/>
                <a:gd name="T5" fmla="*/ 0 h 240"/>
                <a:gd name="T6" fmla="*/ 0 60000 65536"/>
                <a:gd name="T7" fmla="*/ 0 60000 65536"/>
                <a:gd name="T8" fmla="*/ 0 60000 65536"/>
                <a:gd name="T9" fmla="*/ 0 w 768"/>
                <a:gd name="T10" fmla="*/ 0 h 240"/>
                <a:gd name="T11" fmla="*/ 768 w 76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8" h="240">
                  <a:moveTo>
                    <a:pt x="768" y="240"/>
                  </a:moveTo>
                  <a:lnTo>
                    <a:pt x="768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" name="Text Box 46">
              <a:extLst>
                <a:ext uri="{FF2B5EF4-FFF2-40B4-BE49-F238E27FC236}">
                  <a16:creationId xmlns:a16="http://schemas.microsoft.com/office/drawing/2014/main" id="{A094B000-E4CD-4F18-BBDB-4B7F18FFE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104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中断请求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919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39" grpId="0" animBg="1"/>
      <p:bldP spid="48" grpId="0" animBg="1"/>
      <p:bldP spid="49" grpId="0" animBg="1"/>
      <p:bldP spid="50" grpId="0" animBg="1"/>
      <p:bldP spid="51" grpId="0" animBg="1"/>
      <p:bldP spid="52" grpId="0" autoUpdateAnimBg="0"/>
      <p:bldP spid="53" grpId="0" autoUpdateAnimBg="0"/>
      <p:bldP spid="54" grpId="0" autoUpdateAnimBg="0"/>
      <p:bldP spid="55" grpId="0" autoUpdateAnimBg="0"/>
      <p:bldP spid="71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CC52647-1384-4B78-9360-C4997BD2E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7. 4  </a:t>
            </a:r>
            <a:r>
              <a:rPr lang="zh-CN" altLang="en-US" dirty="0"/>
              <a:t>程序中断控制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28800"/>
            <a:ext cx="8388424" cy="460851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7.4.1 </a:t>
            </a:r>
            <a:r>
              <a:rPr lang="zh-CN" altLang="en-US" sz="2800" dirty="0"/>
              <a:t>中断的基本概念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7.4.2  </a:t>
            </a:r>
            <a:r>
              <a:rPr lang="zh-CN" altLang="en-US" sz="2800" dirty="0"/>
              <a:t>中断的完整过程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7.4.3 </a:t>
            </a:r>
            <a:r>
              <a:rPr lang="zh-CN" altLang="en-US" sz="2800" dirty="0"/>
              <a:t>中断方式接口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7.4.4 </a:t>
            </a:r>
            <a:r>
              <a:rPr lang="zh-CN" altLang="en-US" sz="2800" dirty="0"/>
              <a:t>多级中断技术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7.4.5 MIPS</a:t>
            </a:r>
            <a:r>
              <a:rPr lang="zh-CN" altLang="en-US" sz="2800" dirty="0"/>
              <a:t>机中的中断机制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717BFD-39DE-4B08-9FCE-B751E79C144B}"/>
              </a:ext>
            </a:extLst>
          </p:cNvPr>
          <p:cNvSpPr/>
          <p:nvPr/>
        </p:nvSpPr>
        <p:spPr>
          <a:xfrm>
            <a:off x="755576" y="2420888"/>
            <a:ext cx="3744416" cy="6549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7.4.2  </a:t>
            </a:r>
            <a:r>
              <a:rPr lang="zh-CN" altLang="en-US" sz="2800" dirty="0">
                <a:solidFill>
                  <a:srgbClr val="000000"/>
                </a:solidFill>
              </a:rPr>
              <a:t>中断的完整过程</a:t>
            </a:r>
          </a:p>
        </p:txBody>
      </p:sp>
    </p:spTree>
    <p:extLst>
      <p:ext uri="{BB962C8B-B14F-4D97-AF65-F5344CB8AC3E}">
        <p14:creationId xmlns:p14="http://schemas.microsoft.com/office/powerpoint/2010/main" val="233622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54D41-CE68-4AFB-AFB2-97387A94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中断请求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95103D-1CF2-4CDF-BAC6-97DD3DD9A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764704"/>
            <a:ext cx="601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）中断请求标记        </a:t>
            </a:r>
            <a:r>
              <a:rPr kumimoji="1" lang="en-US" altLang="zh-CN" sz="3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INTR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ACE152-AD8C-4170-9F88-728A80E1A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944" y="1374304"/>
            <a:ext cx="6934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一个请求源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一个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INTR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中断请求标记触发器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53E92E-2E08-4D5B-ABD5-4C1475990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944" y="1983904"/>
            <a:ext cx="701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多个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INTR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组成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中断请求标记寄存器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F5F6BF-6CBA-4F1B-AD87-9243447DD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944" y="5336704"/>
            <a:ext cx="6324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INTR 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分散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在各个中断源的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接口电路中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DA0D43-D34C-4EA4-A00A-1F745367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944" y="5870104"/>
            <a:ext cx="5029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INTR 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集中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在 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CPU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的中断系统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内</a:t>
            </a: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5D372FCA-D4A5-47E0-8061-DCB930291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1FEA8A62-3D0A-4805-93CB-B2AEAAD1A8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26126"/>
              </p:ext>
            </p:extLst>
          </p:nvPr>
        </p:nvGraphicFramePr>
        <p:xfrm>
          <a:off x="1403648" y="2492896"/>
          <a:ext cx="4680520" cy="2827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3" name="Visio" r:id="rId3" imgW="1994593" imgH="1202554" progId="Visio.Drawing.11">
                  <p:embed/>
                </p:oleObj>
              </mc:Choice>
              <mc:Fallback>
                <p:oleObj name="Visio" r:id="rId3" imgW="1994593" imgH="120255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492896"/>
                        <a:ext cx="4680520" cy="28278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240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54D41-CE68-4AFB-AFB2-97387A94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中断请求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95103D-1CF2-4CDF-BAC6-97DD3DD9A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764704"/>
            <a:ext cx="601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）中断请求信号的传输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5D372FCA-D4A5-47E0-8061-DCB930291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5CBE5F-1789-40A9-A895-0EA1D63BA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204864"/>
            <a:ext cx="8390620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2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54D41-CE68-4AFB-AFB2-97387A94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中断判优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95103D-1CF2-4CDF-BAC6-97DD3DD9A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764704"/>
            <a:ext cx="601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）硬件判别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656246-9F8B-4324-9247-6F19FD07D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148478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780A906-6C2C-4F1D-8C98-0F9124E38B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907026"/>
              </p:ext>
            </p:extLst>
          </p:nvPr>
        </p:nvGraphicFramePr>
        <p:xfrm>
          <a:off x="2627784" y="1484784"/>
          <a:ext cx="4896544" cy="5215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4" name="Visio" r:id="rId3" imgW="2572537" imgH="2745764" progId="Visio.Drawing.11">
                  <p:embed/>
                </p:oleObj>
              </mc:Choice>
              <mc:Fallback>
                <p:oleObj name="Visio" r:id="rId3" imgW="2572537" imgH="274576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1484784"/>
                        <a:ext cx="4896544" cy="52152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C8DCBA6-A8E2-4EC4-9352-43A8882869BA}"/>
              </a:ext>
            </a:extLst>
          </p:cNvPr>
          <p:cNvSpPr txBox="1"/>
          <p:nvPr/>
        </p:nvSpPr>
        <p:spPr>
          <a:xfrm>
            <a:off x="1403648" y="2636912"/>
            <a:ext cx="4320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独立请求方式</a:t>
            </a:r>
          </a:p>
        </p:txBody>
      </p:sp>
    </p:spTree>
    <p:extLst>
      <p:ext uri="{BB962C8B-B14F-4D97-AF65-F5344CB8AC3E}">
        <p14:creationId xmlns:p14="http://schemas.microsoft.com/office/powerpoint/2010/main" val="234640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54D41-CE68-4AFB-AFB2-97387A94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中断判优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95103D-1CF2-4CDF-BAC6-97DD3DD9A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764704"/>
            <a:ext cx="601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）硬件判别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656246-9F8B-4324-9247-6F19FD07D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148478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8DCBA6-A8E2-4EC4-9352-43A8882869BA}"/>
              </a:ext>
            </a:extLst>
          </p:cNvPr>
          <p:cNvSpPr txBox="1"/>
          <p:nvPr/>
        </p:nvSpPr>
        <p:spPr>
          <a:xfrm>
            <a:off x="899592" y="1628800"/>
            <a:ext cx="3271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单线请求方式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FA85D1-4118-4ED9-9041-CDEFA884E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441242A-B771-4045-AEFE-32921C5EF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296228"/>
              </p:ext>
            </p:extLst>
          </p:nvPr>
        </p:nvGraphicFramePr>
        <p:xfrm>
          <a:off x="0" y="2636912"/>
          <a:ext cx="8584547" cy="36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4" name="Visio" r:id="rId3" imgW="4101752" imgH="1726765" progId="Visio.Drawing.11">
                  <p:embed/>
                </p:oleObj>
              </mc:Choice>
              <mc:Fallback>
                <p:oleObj name="Visio" r:id="rId3" imgW="4101752" imgH="172676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636912"/>
                        <a:ext cx="8584547" cy="3600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512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54D41-CE68-4AFB-AFB2-97387A94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中断判优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656246-9F8B-4324-9247-6F19FD07D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148478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FA85D1-4118-4ED9-9041-CDEFA884E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F05EAEB-4BF5-4F3C-BB1A-D1AA3864F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764704"/>
            <a:ext cx="601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）软件判别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36F779E-8765-4738-8251-DD82F6790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484784"/>
            <a:ext cx="5257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CN" altLang="en-US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en-US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优先级按 </a:t>
            </a:r>
            <a:r>
              <a:rPr kumimoji="1" lang="zh-CN" altLang="en-US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降序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排列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FCE1CB64-16C1-4ED1-A277-FA62BC73B890}"/>
              </a:ext>
            </a:extLst>
          </p:cNvPr>
          <p:cNvGrpSpPr>
            <a:grpSpLocks/>
          </p:cNvGrpSpPr>
          <p:nvPr/>
        </p:nvGrpSpPr>
        <p:grpSpPr bwMode="auto">
          <a:xfrm>
            <a:off x="2266752" y="3389784"/>
            <a:ext cx="635000" cy="457200"/>
            <a:chOff x="1952" y="1872"/>
            <a:chExt cx="400" cy="288"/>
          </a:xfrm>
        </p:grpSpPr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302B39E2-3369-46DD-B18F-197FA8CF1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872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AB3AE694-86A5-405C-84FD-9486E93FA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187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Text Box 7">
            <a:extLst>
              <a:ext uri="{FF2B5EF4-FFF2-40B4-BE49-F238E27FC236}">
                <a16:creationId xmlns:a16="http://schemas.microsoft.com/office/drawing/2014/main" id="{1683E4AD-0CDE-457C-BC1D-C80A229B1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8002" y="6437784"/>
            <a:ext cx="48895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15" name="Line 8">
            <a:extLst>
              <a:ext uri="{FF2B5EF4-FFF2-40B4-BE49-F238E27FC236}">
                <a16:creationId xmlns:a16="http://schemas.microsoft.com/office/drawing/2014/main" id="{ED670743-E34B-4C85-B438-838BD78AB0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6752" y="2094384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74A65818-B367-40A0-9D7D-50B69BC7C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352" y="3389784"/>
            <a:ext cx="16764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17" name="Group 10">
            <a:extLst>
              <a:ext uri="{FF2B5EF4-FFF2-40B4-BE49-F238E27FC236}">
                <a16:creationId xmlns:a16="http://schemas.microsoft.com/office/drawing/2014/main" id="{5130EE6B-1F17-45D7-A628-22CB658E3C5F}"/>
              </a:ext>
            </a:extLst>
          </p:cNvPr>
          <p:cNvGrpSpPr>
            <a:grpSpLocks/>
          </p:cNvGrpSpPr>
          <p:nvPr/>
        </p:nvGrpSpPr>
        <p:grpSpPr bwMode="auto">
          <a:xfrm>
            <a:off x="1174552" y="2551584"/>
            <a:ext cx="2278063" cy="838200"/>
            <a:chOff x="1264" y="1344"/>
            <a:chExt cx="1435" cy="528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B1C30F79-FF2C-4BF6-AC8F-B77731F73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4" y="1344"/>
              <a:ext cx="1392" cy="528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Text Box 12">
              <a:extLst>
                <a:ext uri="{FF2B5EF4-FFF2-40B4-BE49-F238E27FC236}">
                  <a16:creationId xmlns:a16="http://schemas.microsoft.com/office/drawing/2014/main" id="{9E44BA11-350D-40B7-92D5-B79277112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4" y="1507"/>
              <a:ext cx="119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是否 </a:t>
              </a:r>
              <a:r>
                <a:rPr kumimoji="1" lang="en-US" altLang="zh-CN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请求？</a:t>
              </a:r>
            </a:p>
          </p:txBody>
        </p:sp>
      </p:grpSp>
      <p:grpSp>
        <p:nvGrpSpPr>
          <p:cNvPr id="20" name="Group 13">
            <a:extLst>
              <a:ext uri="{FF2B5EF4-FFF2-40B4-BE49-F238E27FC236}">
                <a16:creationId xmlns:a16="http://schemas.microsoft.com/office/drawing/2014/main" id="{58891CF6-322A-4286-B150-662EEF9888EC}"/>
              </a:ext>
            </a:extLst>
          </p:cNvPr>
          <p:cNvGrpSpPr>
            <a:grpSpLocks/>
          </p:cNvGrpSpPr>
          <p:nvPr/>
        </p:nvGrpSpPr>
        <p:grpSpPr bwMode="auto">
          <a:xfrm>
            <a:off x="1174552" y="3846984"/>
            <a:ext cx="2349500" cy="838200"/>
            <a:chOff x="1264" y="2160"/>
            <a:chExt cx="1480" cy="528"/>
          </a:xfrm>
        </p:grpSpPr>
        <p:sp>
          <p:nvSpPr>
            <p:cNvPr id="21" name="AutoShape 14">
              <a:extLst>
                <a:ext uri="{FF2B5EF4-FFF2-40B4-BE49-F238E27FC236}">
                  <a16:creationId xmlns:a16="http://schemas.microsoft.com/office/drawing/2014/main" id="{6066FA74-F3D7-460B-AA75-FCAAA7232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4" y="2160"/>
              <a:ext cx="1392" cy="528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" name="Text Box 15">
              <a:extLst>
                <a:ext uri="{FF2B5EF4-FFF2-40B4-BE49-F238E27FC236}">
                  <a16:creationId xmlns:a16="http://schemas.microsoft.com/office/drawing/2014/main" id="{AABB9F24-418D-46CF-AE0C-E25B5EF3A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4" y="2323"/>
              <a:ext cx="1240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是否 </a:t>
              </a:r>
              <a:r>
                <a:rPr kumimoji="1" lang="en-US" altLang="zh-CN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B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请求？</a:t>
              </a:r>
            </a:p>
          </p:txBody>
        </p:sp>
      </p:grpSp>
      <p:grpSp>
        <p:nvGrpSpPr>
          <p:cNvPr id="23" name="Group 16">
            <a:extLst>
              <a:ext uri="{FF2B5EF4-FFF2-40B4-BE49-F238E27FC236}">
                <a16:creationId xmlns:a16="http://schemas.microsoft.com/office/drawing/2014/main" id="{A34F6568-1113-4432-AB9B-B1885C071B0A}"/>
              </a:ext>
            </a:extLst>
          </p:cNvPr>
          <p:cNvGrpSpPr>
            <a:grpSpLocks/>
          </p:cNvGrpSpPr>
          <p:nvPr/>
        </p:nvGrpSpPr>
        <p:grpSpPr bwMode="auto">
          <a:xfrm>
            <a:off x="1174552" y="5142384"/>
            <a:ext cx="2420938" cy="838200"/>
            <a:chOff x="1264" y="2976"/>
            <a:chExt cx="1525" cy="528"/>
          </a:xfrm>
        </p:grpSpPr>
        <p:sp>
          <p:nvSpPr>
            <p:cNvPr id="24" name="AutoShape 17">
              <a:extLst>
                <a:ext uri="{FF2B5EF4-FFF2-40B4-BE49-F238E27FC236}">
                  <a16:creationId xmlns:a16="http://schemas.microsoft.com/office/drawing/2014/main" id="{5D24A0D2-85C6-43BB-9891-9CD7966B8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4" y="2976"/>
              <a:ext cx="1392" cy="528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Text Box 18">
              <a:extLst>
                <a:ext uri="{FF2B5EF4-FFF2-40B4-BE49-F238E27FC236}">
                  <a16:creationId xmlns:a16="http://schemas.microsoft.com/office/drawing/2014/main" id="{0F2344B8-4B64-407A-B013-49670722E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4" y="3139"/>
              <a:ext cx="128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是否 </a:t>
              </a:r>
              <a:r>
                <a:rPr kumimoji="1" lang="en-US" altLang="zh-CN" sz="20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000" b="1">
                  <a:latin typeface="Times New Roman" panose="02020603050405020304" pitchFamily="18" charset="0"/>
                </a:rPr>
                <a:t>请求？</a:t>
              </a:r>
            </a:p>
          </p:txBody>
        </p:sp>
      </p:grpSp>
      <p:sp>
        <p:nvSpPr>
          <p:cNvPr id="26" name="Text Box 19">
            <a:extLst>
              <a:ext uri="{FF2B5EF4-FFF2-40B4-BE49-F238E27FC236}">
                <a16:creationId xmlns:a16="http://schemas.microsoft.com/office/drawing/2014/main" id="{F0E18558-48A0-48A9-8B0E-746270FC6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552" y="2734147"/>
            <a:ext cx="35052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zh-CN" altLang="en-US" sz="2200" b="1">
                <a:latin typeface="Times New Roman" panose="02020603050405020304" pitchFamily="18" charset="0"/>
              </a:rPr>
              <a:t>转 </a:t>
            </a:r>
            <a:r>
              <a:rPr kumimoji="1" lang="en-US" altLang="zh-CN" sz="2200" b="1">
                <a:solidFill>
                  <a:schemeClr val="folHlin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200" b="1">
                <a:latin typeface="Times New Roman" panose="02020603050405020304" pitchFamily="18" charset="0"/>
              </a:rPr>
              <a:t> </a:t>
            </a:r>
            <a:r>
              <a:rPr kumimoji="1" lang="zh-CN" altLang="en-US" sz="2200" b="1">
                <a:latin typeface="Times New Roman" panose="02020603050405020304" pitchFamily="18" charset="0"/>
              </a:rPr>
              <a:t>的服务程序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zh-CN" altLang="en-US" sz="2200" b="1">
                <a:solidFill>
                  <a:schemeClr val="folHlink"/>
                </a:solidFill>
                <a:latin typeface="Times New Roman" panose="02020603050405020304" pitchFamily="18" charset="0"/>
              </a:rPr>
              <a:t>入口地址</a:t>
            </a:r>
          </a:p>
        </p:txBody>
      </p:sp>
      <p:sp>
        <p:nvSpPr>
          <p:cNvPr id="27" name="Text Box 20">
            <a:extLst>
              <a:ext uri="{FF2B5EF4-FFF2-40B4-BE49-F238E27FC236}">
                <a16:creationId xmlns:a16="http://schemas.microsoft.com/office/drawing/2014/main" id="{E2EE4D33-AF79-44DF-902F-4C750F097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552" y="4075584"/>
            <a:ext cx="35052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zh-CN" altLang="en-US" sz="2200" b="1">
                <a:latin typeface="Times New Roman" panose="02020603050405020304" pitchFamily="18" charset="0"/>
              </a:rPr>
              <a:t>转 </a:t>
            </a:r>
            <a:r>
              <a:rPr kumimoji="1" lang="en-US" altLang="zh-CN" sz="2200" b="1">
                <a:solidFill>
                  <a:schemeClr val="folHlink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200" b="1">
                <a:latin typeface="Times New Roman" panose="02020603050405020304" pitchFamily="18" charset="0"/>
              </a:rPr>
              <a:t> </a:t>
            </a:r>
            <a:r>
              <a:rPr kumimoji="1" lang="zh-CN" altLang="en-US" sz="2200" b="1">
                <a:latin typeface="Times New Roman" panose="02020603050405020304" pitchFamily="18" charset="0"/>
              </a:rPr>
              <a:t>的服务程序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zh-CN" altLang="en-US" sz="2200" b="1">
                <a:solidFill>
                  <a:schemeClr val="folHlink"/>
                </a:solidFill>
                <a:latin typeface="Times New Roman" panose="02020603050405020304" pitchFamily="18" charset="0"/>
              </a:rPr>
              <a:t>入口地址</a:t>
            </a:r>
          </a:p>
        </p:txBody>
      </p:sp>
      <p:sp>
        <p:nvSpPr>
          <p:cNvPr id="28" name="Text Box 21">
            <a:extLst>
              <a:ext uri="{FF2B5EF4-FFF2-40B4-BE49-F238E27FC236}">
                <a16:creationId xmlns:a16="http://schemas.microsoft.com/office/drawing/2014/main" id="{E5DF5716-5214-4915-BBC6-DD9C64DAA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552" y="5370984"/>
            <a:ext cx="35052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zh-CN" altLang="en-US" sz="2200" b="1">
                <a:latin typeface="Times New Roman" panose="02020603050405020304" pitchFamily="18" charset="0"/>
              </a:rPr>
              <a:t>转 </a:t>
            </a:r>
            <a:r>
              <a:rPr kumimoji="1" lang="en-US" altLang="zh-CN" sz="2200" b="1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200" b="1">
                <a:latin typeface="Times New Roman" panose="02020603050405020304" pitchFamily="18" charset="0"/>
              </a:rPr>
              <a:t> </a:t>
            </a:r>
            <a:r>
              <a:rPr kumimoji="1" lang="zh-CN" altLang="en-US" sz="2200" b="1">
                <a:latin typeface="Times New Roman" panose="02020603050405020304" pitchFamily="18" charset="0"/>
              </a:rPr>
              <a:t>的服务程序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zh-CN" altLang="en-US" sz="2200" b="1">
                <a:solidFill>
                  <a:schemeClr val="folHlink"/>
                </a:solidFill>
                <a:latin typeface="Times New Roman" panose="02020603050405020304" pitchFamily="18" charset="0"/>
              </a:rPr>
              <a:t>入口地址</a:t>
            </a:r>
          </a:p>
        </p:txBody>
      </p:sp>
      <p:grpSp>
        <p:nvGrpSpPr>
          <p:cNvPr id="29" name="Group 22">
            <a:extLst>
              <a:ext uri="{FF2B5EF4-FFF2-40B4-BE49-F238E27FC236}">
                <a16:creationId xmlns:a16="http://schemas.microsoft.com/office/drawing/2014/main" id="{0D3E364F-DDBA-4954-B9DC-739B08C3BD07}"/>
              </a:ext>
            </a:extLst>
          </p:cNvPr>
          <p:cNvGrpSpPr>
            <a:grpSpLocks/>
          </p:cNvGrpSpPr>
          <p:nvPr/>
        </p:nvGrpSpPr>
        <p:grpSpPr bwMode="auto">
          <a:xfrm>
            <a:off x="3358952" y="2562697"/>
            <a:ext cx="914400" cy="403225"/>
            <a:chOff x="2640" y="1351"/>
            <a:chExt cx="576" cy="254"/>
          </a:xfrm>
        </p:grpSpPr>
        <p:sp>
          <p:nvSpPr>
            <p:cNvPr id="30" name="Line 23">
              <a:extLst>
                <a:ext uri="{FF2B5EF4-FFF2-40B4-BE49-F238E27FC236}">
                  <a16:creationId xmlns:a16="http://schemas.microsoft.com/office/drawing/2014/main" id="{0519FEBC-059C-4C9D-BD51-B2B759CDFD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605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Box 24">
              <a:extLst>
                <a:ext uri="{FF2B5EF4-FFF2-40B4-BE49-F238E27FC236}">
                  <a16:creationId xmlns:a16="http://schemas.microsoft.com/office/drawing/2014/main" id="{A8B0C4CE-FCB5-466D-8391-8542F36CC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351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是</a:t>
              </a:r>
            </a:p>
          </p:txBody>
        </p:sp>
      </p:grpSp>
      <p:grpSp>
        <p:nvGrpSpPr>
          <p:cNvPr id="32" name="Group 25">
            <a:extLst>
              <a:ext uri="{FF2B5EF4-FFF2-40B4-BE49-F238E27FC236}">
                <a16:creationId xmlns:a16="http://schemas.microsoft.com/office/drawing/2014/main" id="{89111620-81A9-431B-B911-759FF527BB58}"/>
              </a:ext>
            </a:extLst>
          </p:cNvPr>
          <p:cNvGrpSpPr>
            <a:grpSpLocks/>
          </p:cNvGrpSpPr>
          <p:nvPr/>
        </p:nvGrpSpPr>
        <p:grpSpPr bwMode="auto">
          <a:xfrm>
            <a:off x="3358952" y="3846984"/>
            <a:ext cx="914400" cy="428625"/>
            <a:chOff x="2640" y="2160"/>
            <a:chExt cx="576" cy="270"/>
          </a:xfrm>
        </p:grpSpPr>
        <p:sp>
          <p:nvSpPr>
            <p:cNvPr id="33" name="Line 26">
              <a:extLst>
                <a:ext uri="{FF2B5EF4-FFF2-40B4-BE49-F238E27FC236}">
                  <a16:creationId xmlns:a16="http://schemas.microsoft.com/office/drawing/2014/main" id="{EBCFC407-E9BA-4439-BEF6-8B24995BCF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430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 Box 27">
              <a:extLst>
                <a:ext uri="{FF2B5EF4-FFF2-40B4-BE49-F238E27FC236}">
                  <a16:creationId xmlns:a16="http://schemas.microsoft.com/office/drawing/2014/main" id="{CC40EB55-0CFC-4BFA-99D9-DB8933BDF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是</a:t>
              </a:r>
            </a:p>
          </p:txBody>
        </p:sp>
      </p:grpSp>
      <p:grpSp>
        <p:nvGrpSpPr>
          <p:cNvPr id="35" name="Group 28">
            <a:extLst>
              <a:ext uri="{FF2B5EF4-FFF2-40B4-BE49-F238E27FC236}">
                <a16:creationId xmlns:a16="http://schemas.microsoft.com/office/drawing/2014/main" id="{BA4B3AF8-F223-4052-A87C-FF887BBA1405}"/>
              </a:ext>
            </a:extLst>
          </p:cNvPr>
          <p:cNvGrpSpPr>
            <a:grpSpLocks/>
          </p:cNvGrpSpPr>
          <p:nvPr/>
        </p:nvGrpSpPr>
        <p:grpSpPr bwMode="auto">
          <a:xfrm>
            <a:off x="3358952" y="5142384"/>
            <a:ext cx="914400" cy="420688"/>
            <a:chOff x="2640" y="2976"/>
            <a:chExt cx="576" cy="265"/>
          </a:xfrm>
        </p:grpSpPr>
        <p:sp>
          <p:nvSpPr>
            <p:cNvPr id="36" name="Line 29">
              <a:extLst>
                <a:ext uri="{FF2B5EF4-FFF2-40B4-BE49-F238E27FC236}">
                  <a16:creationId xmlns:a16="http://schemas.microsoft.com/office/drawing/2014/main" id="{897676D1-BACE-45A9-A2E0-67AA65C80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241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Box 30">
              <a:extLst>
                <a:ext uri="{FF2B5EF4-FFF2-40B4-BE49-F238E27FC236}">
                  <a16:creationId xmlns:a16="http://schemas.microsoft.com/office/drawing/2014/main" id="{35B28844-B3D2-4A1A-887A-3B24D295F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97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是</a:t>
              </a:r>
            </a:p>
          </p:txBody>
        </p:sp>
      </p:grpSp>
      <p:grpSp>
        <p:nvGrpSpPr>
          <p:cNvPr id="38" name="Group 31">
            <a:extLst>
              <a:ext uri="{FF2B5EF4-FFF2-40B4-BE49-F238E27FC236}">
                <a16:creationId xmlns:a16="http://schemas.microsoft.com/office/drawing/2014/main" id="{542DC5D1-65C5-4152-9A42-63B88C8BF9C8}"/>
              </a:ext>
            </a:extLst>
          </p:cNvPr>
          <p:cNvGrpSpPr>
            <a:grpSpLocks/>
          </p:cNvGrpSpPr>
          <p:nvPr/>
        </p:nvGrpSpPr>
        <p:grpSpPr bwMode="auto">
          <a:xfrm>
            <a:off x="2266752" y="4669309"/>
            <a:ext cx="635000" cy="473075"/>
            <a:chOff x="1952" y="2678"/>
            <a:chExt cx="400" cy="298"/>
          </a:xfrm>
        </p:grpSpPr>
        <p:sp>
          <p:nvSpPr>
            <p:cNvPr id="39" name="Line 32">
              <a:extLst>
                <a:ext uri="{FF2B5EF4-FFF2-40B4-BE49-F238E27FC236}">
                  <a16:creationId xmlns:a16="http://schemas.microsoft.com/office/drawing/2014/main" id="{4C2DF92B-AAF8-4D2B-9FCB-E436E8C78F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268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 Box 33">
              <a:extLst>
                <a:ext uri="{FF2B5EF4-FFF2-40B4-BE49-F238E27FC236}">
                  <a16:creationId xmlns:a16="http://schemas.microsoft.com/office/drawing/2014/main" id="{610F48FA-486F-4CD6-8070-E7033A646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678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否</a:t>
              </a:r>
            </a:p>
          </p:txBody>
        </p:sp>
      </p:grpSp>
      <p:grpSp>
        <p:nvGrpSpPr>
          <p:cNvPr id="41" name="Group 34">
            <a:extLst>
              <a:ext uri="{FF2B5EF4-FFF2-40B4-BE49-F238E27FC236}">
                <a16:creationId xmlns:a16="http://schemas.microsoft.com/office/drawing/2014/main" id="{BF0EAE9C-D39F-4A77-BC89-66325937790D}"/>
              </a:ext>
            </a:extLst>
          </p:cNvPr>
          <p:cNvGrpSpPr>
            <a:grpSpLocks/>
          </p:cNvGrpSpPr>
          <p:nvPr/>
        </p:nvGrpSpPr>
        <p:grpSpPr bwMode="auto">
          <a:xfrm>
            <a:off x="2266752" y="5964709"/>
            <a:ext cx="635000" cy="473075"/>
            <a:chOff x="1952" y="3494"/>
            <a:chExt cx="400" cy="298"/>
          </a:xfrm>
        </p:grpSpPr>
        <p:sp>
          <p:nvSpPr>
            <p:cNvPr id="42" name="Line 35">
              <a:extLst>
                <a:ext uri="{FF2B5EF4-FFF2-40B4-BE49-F238E27FC236}">
                  <a16:creationId xmlns:a16="http://schemas.microsoft.com/office/drawing/2014/main" id="{14041B71-DAE3-483A-8C95-49DE796720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2" y="350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Box 36">
              <a:extLst>
                <a:ext uri="{FF2B5EF4-FFF2-40B4-BE49-F238E27FC236}">
                  <a16:creationId xmlns:a16="http://schemas.microsoft.com/office/drawing/2014/main" id="{331131D5-C476-4284-9EA9-2D138A1DC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494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389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autoUpdateAnimBg="0"/>
      <p:bldP spid="14" grpId="0"/>
      <p:bldP spid="26" grpId="0" autoUpdateAnimBg="0"/>
      <p:bldP spid="27" grpId="0" autoUpdateAnimBg="0"/>
      <p:bldP spid="28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54D41-CE68-4AFB-AFB2-97387A94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中断响应</a:t>
            </a: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DCA7E191-0CD0-4934-ADBE-727129A67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836712"/>
            <a:ext cx="3886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(1). </a:t>
            </a:r>
            <a:r>
              <a:rPr kumimoji="1"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响应中断的 </a:t>
            </a:r>
            <a:r>
              <a:rPr kumimoji="1" lang="zh-CN" altLang="en-US" sz="3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条件</a:t>
            </a: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46B2F2AB-D4CF-4342-9DE7-C65899566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2" y="1420912"/>
            <a:ext cx="3886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允许中断触发器   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EINT = 1</a:t>
            </a: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id="{573CD450-EDB7-486D-B6ED-5557A5024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2005112"/>
            <a:ext cx="3886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(2). </a:t>
            </a:r>
            <a:r>
              <a:rPr kumimoji="1"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响应中断的 </a:t>
            </a:r>
            <a:r>
              <a:rPr kumimoji="1" lang="zh-CN" altLang="en-US" sz="3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时间</a:t>
            </a:r>
          </a:p>
        </p:txBody>
      </p:sp>
      <p:sp>
        <p:nvSpPr>
          <p:cNvPr id="42" name="Rectangle 6">
            <a:extLst>
              <a:ext uri="{FF2B5EF4-FFF2-40B4-BE49-F238E27FC236}">
                <a16:creationId xmlns:a16="http://schemas.microsoft.com/office/drawing/2014/main" id="{921786C7-9FFD-481D-A3E7-8C7103993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2" y="2589312"/>
            <a:ext cx="6705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指令执行周期结束时刻由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CPU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发查询信号</a:t>
            </a:r>
          </a:p>
        </p:txBody>
      </p:sp>
      <p:grpSp>
        <p:nvGrpSpPr>
          <p:cNvPr id="43" name="Group 7">
            <a:extLst>
              <a:ext uri="{FF2B5EF4-FFF2-40B4-BE49-F238E27FC236}">
                <a16:creationId xmlns:a16="http://schemas.microsoft.com/office/drawing/2014/main" id="{97A677E4-7DB9-48CB-BF4C-EC2E64ECEFA3}"/>
              </a:ext>
            </a:extLst>
          </p:cNvPr>
          <p:cNvGrpSpPr>
            <a:grpSpLocks/>
          </p:cNvGrpSpPr>
          <p:nvPr/>
        </p:nvGrpSpPr>
        <p:grpSpPr bwMode="auto">
          <a:xfrm>
            <a:off x="2215952" y="3852962"/>
            <a:ext cx="4495800" cy="457200"/>
            <a:chOff x="1536" y="2572"/>
            <a:chExt cx="2832" cy="288"/>
          </a:xfrm>
        </p:grpSpPr>
        <p:sp>
          <p:nvSpPr>
            <p:cNvPr id="44" name="Line 8">
              <a:extLst>
                <a:ext uri="{FF2B5EF4-FFF2-40B4-BE49-F238E27FC236}">
                  <a16:creationId xmlns:a16="http://schemas.microsoft.com/office/drawing/2014/main" id="{39648402-AD1D-49F8-A517-FCDA454236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6" y="2572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Line 9">
              <a:extLst>
                <a:ext uri="{FF2B5EF4-FFF2-40B4-BE49-F238E27FC236}">
                  <a16:creationId xmlns:a16="http://schemas.microsoft.com/office/drawing/2014/main" id="{31E26233-58BA-4ECC-8373-670FE6E717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2572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Line 10">
              <a:extLst>
                <a:ext uri="{FF2B5EF4-FFF2-40B4-BE49-F238E27FC236}">
                  <a16:creationId xmlns:a16="http://schemas.microsoft.com/office/drawing/2014/main" id="{3F175103-D5F8-4C55-B96C-B6ACC005B3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572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7" name="Group 11">
            <a:extLst>
              <a:ext uri="{FF2B5EF4-FFF2-40B4-BE49-F238E27FC236}">
                <a16:creationId xmlns:a16="http://schemas.microsoft.com/office/drawing/2014/main" id="{8F6FCE1B-8A81-4B58-A69E-4158ABAE107C}"/>
              </a:ext>
            </a:extLst>
          </p:cNvPr>
          <p:cNvGrpSpPr>
            <a:grpSpLocks/>
          </p:cNvGrpSpPr>
          <p:nvPr/>
        </p:nvGrpSpPr>
        <p:grpSpPr bwMode="auto">
          <a:xfrm>
            <a:off x="1530152" y="5130900"/>
            <a:ext cx="5715000" cy="357187"/>
            <a:chOff x="1104" y="3377"/>
            <a:chExt cx="3600" cy="225"/>
          </a:xfrm>
        </p:grpSpPr>
        <p:sp>
          <p:nvSpPr>
            <p:cNvPr id="48" name="Freeform 12">
              <a:extLst>
                <a:ext uri="{FF2B5EF4-FFF2-40B4-BE49-F238E27FC236}">
                  <a16:creationId xmlns:a16="http://schemas.microsoft.com/office/drawing/2014/main" id="{516A5A69-0D0D-43D1-B30D-BD1046356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3380"/>
              <a:ext cx="3600" cy="222"/>
            </a:xfrm>
            <a:custGeom>
              <a:avLst/>
              <a:gdLst>
                <a:gd name="T0" fmla="*/ 0 w 3600"/>
                <a:gd name="T1" fmla="*/ 222 h 222"/>
                <a:gd name="T2" fmla="*/ 3600 w 3600"/>
                <a:gd name="T3" fmla="*/ 222 h 222"/>
                <a:gd name="T4" fmla="*/ 3600 w 3600"/>
                <a:gd name="T5" fmla="*/ 0 h 222"/>
                <a:gd name="T6" fmla="*/ 0 60000 65536"/>
                <a:gd name="T7" fmla="*/ 0 60000 65536"/>
                <a:gd name="T8" fmla="*/ 0 60000 65536"/>
                <a:gd name="T9" fmla="*/ 0 w 3600"/>
                <a:gd name="T10" fmla="*/ 0 h 222"/>
                <a:gd name="T11" fmla="*/ 3600 w 3600"/>
                <a:gd name="T12" fmla="*/ 222 h 2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00" h="222">
                  <a:moveTo>
                    <a:pt x="0" y="222"/>
                  </a:moveTo>
                  <a:lnTo>
                    <a:pt x="3600" y="222"/>
                  </a:lnTo>
                  <a:lnTo>
                    <a:pt x="360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1DC1146D-EBEB-443D-B612-19EC949D1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3383"/>
              <a:ext cx="1" cy="219"/>
            </a:xfrm>
            <a:custGeom>
              <a:avLst/>
              <a:gdLst>
                <a:gd name="T0" fmla="*/ 0 w 1"/>
                <a:gd name="T1" fmla="*/ 0 h 219"/>
                <a:gd name="T2" fmla="*/ 1 w 1"/>
                <a:gd name="T3" fmla="*/ 219 h 219"/>
                <a:gd name="T4" fmla="*/ 0 60000 65536"/>
                <a:gd name="T5" fmla="*/ 0 60000 65536"/>
                <a:gd name="T6" fmla="*/ 0 w 1"/>
                <a:gd name="T7" fmla="*/ 0 h 219"/>
                <a:gd name="T8" fmla="*/ 1 w 1"/>
                <a:gd name="T9" fmla="*/ 219 h 2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19">
                  <a:moveTo>
                    <a:pt x="0" y="0"/>
                  </a:moveTo>
                  <a:lnTo>
                    <a:pt x="1" y="219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75037627-F89B-494B-AC85-694C4E833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3377"/>
              <a:ext cx="1" cy="225"/>
            </a:xfrm>
            <a:custGeom>
              <a:avLst/>
              <a:gdLst>
                <a:gd name="T0" fmla="*/ 0 w 1"/>
                <a:gd name="T1" fmla="*/ 0 h 225"/>
                <a:gd name="T2" fmla="*/ 1 w 1"/>
                <a:gd name="T3" fmla="*/ 225 h 225"/>
                <a:gd name="T4" fmla="*/ 0 60000 65536"/>
                <a:gd name="T5" fmla="*/ 0 60000 65536"/>
                <a:gd name="T6" fmla="*/ 0 w 1"/>
                <a:gd name="T7" fmla="*/ 0 h 225"/>
                <a:gd name="T8" fmla="*/ 1 w 1"/>
                <a:gd name="T9" fmla="*/ 225 h 2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25">
                  <a:moveTo>
                    <a:pt x="0" y="0"/>
                  </a:moveTo>
                  <a:lnTo>
                    <a:pt x="1" y="2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" name="Text Box 15">
            <a:extLst>
              <a:ext uri="{FF2B5EF4-FFF2-40B4-BE49-F238E27FC236}">
                <a16:creationId xmlns:a16="http://schemas.microsoft.com/office/drawing/2014/main" id="{ECE6EED4-633F-483B-820C-75779EBC0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52" y="5197575"/>
            <a:ext cx="12017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CPU</a:t>
            </a:r>
          </a:p>
          <a:p>
            <a:pPr eaLnBrk="1" hangingPunct="1"/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中断查询</a:t>
            </a:r>
          </a:p>
        </p:txBody>
      </p:sp>
      <p:sp>
        <p:nvSpPr>
          <p:cNvPr id="52" name="AutoShape 16">
            <a:extLst>
              <a:ext uri="{FF2B5EF4-FFF2-40B4-BE49-F238E27FC236}">
                <a16:creationId xmlns:a16="http://schemas.microsoft.com/office/drawing/2014/main" id="{45815C41-5A0E-4C85-BA54-1B25C1CFF838}"/>
              </a:ext>
            </a:extLst>
          </p:cNvPr>
          <p:cNvSpPr>
            <a:spLocks/>
          </p:cNvSpPr>
          <p:nvPr/>
        </p:nvSpPr>
        <p:spPr bwMode="auto">
          <a:xfrm rot="5400000">
            <a:off x="4349552" y="1449487"/>
            <a:ext cx="228600" cy="4495800"/>
          </a:xfrm>
          <a:prstGeom prst="leftBrace">
            <a:avLst>
              <a:gd name="adj1" fmla="val 163889"/>
              <a:gd name="adj2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3" name="Group 17">
            <a:extLst>
              <a:ext uri="{FF2B5EF4-FFF2-40B4-BE49-F238E27FC236}">
                <a16:creationId xmlns:a16="http://schemas.microsoft.com/office/drawing/2014/main" id="{5289AD18-2AE8-4C8E-9128-7C3FC271D050}"/>
              </a:ext>
            </a:extLst>
          </p:cNvPr>
          <p:cNvGrpSpPr>
            <a:grpSpLocks/>
          </p:cNvGrpSpPr>
          <p:nvPr/>
        </p:nvGrpSpPr>
        <p:grpSpPr bwMode="auto">
          <a:xfrm>
            <a:off x="1742877" y="4268887"/>
            <a:ext cx="5807075" cy="2225675"/>
            <a:chOff x="1238" y="2834"/>
            <a:chExt cx="3658" cy="1402"/>
          </a:xfrm>
        </p:grpSpPr>
        <p:sp>
          <p:nvSpPr>
            <p:cNvPr id="54" name="Text Box 18">
              <a:extLst>
                <a:ext uri="{FF2B5EF4-FFF2-40B4-BE49-F238E27FC236}">
                  <a16:creationId xmlns:a16="http://schemas.microsoft.com/office/drawing/2014/main" id="{7119B824-9E3D-4D15-96DF-6DF1AC18C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8" y="2998"/>
              <a:ext cx="5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INTR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5" name="Rectangle 19">
              <a:extLst>
                <a:ext uri="{FF2B5EF4-FFF2-40B4-BE49-F238E27FC236}">
                  <a16:creationId xmlns:a16="http://schemas.microsoft.com/office/drawing/2014/main" id="{3427141C-73BB-4136-9713-0AA9F0F37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854"/>
              <a:ext cx="672" cy="52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Text Box 20">
              <a:extLst>
                <a:ext uri="{FF2B5EF4-FFF2-40B4-BE49-F238E27FC236}">
                  <a16:creationId xmlns:a16="http://schemas.microsoft.com/office/drawing/2014/main" id="{616E8CFD-25DF-4DF3-AAD4-5EE8CEF9C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4" y="3190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57" name="Text Box 21">
              <a:extLst>
                <a:ext uri="{FF2B5EF4-FFF2-40B4-BE49-F238E27FC236}">
                  <a16:creationId xmlns:a16="http://schemas.microsoft.com/office/drawing/2014/main" id="{588BD917-8101-41E1-934B-8293EF72B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834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58" name="AutoShape 22">
              <a:extLst>
                <a:ext uri="{FF2B5EF4-FFF2-40B4-BE49-F238E27FC236}">
                  <a16:creationId xmlns:a16="http://schemas.microsoft.com/office/drawing/2014/main" id="{F18DE030-0B3B-454D-9D26-220C8470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286"/>
              <a:ext cx="96" cy="9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Text Box 23">
              <a:extLst>
                <a:ext uri="{FF2B5EF4-FFF2-40B4-BE49-F238E27FC236}">
                  <a16:creationId xmlns:a16="http://schemas.microsoft.com/office/drawing/2014/main" id="{202CAC37-473B-4B45-8D34-7949A5728A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0" y="2998"/>
              <a:ext cx="5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INTR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60" name="Rectangle 24">
              <a:extLst>
                <a:ext uri="{FF2B5EF4-FFF2-40B4-BE49-F238E27FC236}">
                  <a16:creationId xmlns:a16="http://schemas.microsoft.com/office/drawing/2014/main" id="{6578C05B-D6A3-48F7-B4DB-9F8EF0B56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54"/>
              <a:ext cx="672" cy="52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Text Box 25">
              <a:extLst>
                <a:ext uri="{FF2B5EF4-FFF2-40B4-BE49-F238E27FC236}">
                  <a16:creationId xmlns:a16="http://schemas.microsoft.com/office/drawing/2014/main" id="{2B1F5A55-A247-4E93-8ACA-E51216871A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6" y="3190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62" name="Text Box 26">
              <a:extLst>
                <a:ext uri="{FF2B5EF4-FFF2-40B4-BE49-F238E27FC236}">
                  <a16:creationId xmlns:a16="http://schemas.microsoft.com/office/drawing/2014/main" id="{ED1C6EA3-85E5-4B14-8946-BA0CD8C43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834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63" name="AutoShape 27">
              <a:extLst>
                <a:ext uri="{FF2B5EF4-FFF2-40B4-BE49-F238E27FC236}">
                  <a16:creationId xmlns:a16="http://schemas.microsoft.com/office/drawing/2014/main" id="{3A5FAE94-9CEE-4569-B053-728ADB49F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286"/>
              <a:ext cx="96" cy="9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" name="Text Box 28">
              <a:extLst>
                <a:ext uri="{FF2B5EF4-FFF2-40B4-BE49-F238E27FC236}">
                  <a16:creationId xmlns:a16="http://schemas.microsoft.com/office/drawing/2014/main" id="{DE5BD072-8097-4987-9A96-A1DA5ABD1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0" y="2998"/>
              <a:ext cx="57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INTR</a:t>
              </a:r>
              <a:r>
                <a:rPr kumimoji="1" lang="en-US" altLang="zh-CN" sz="20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65" name="Rectangle 29">
              <a:extLst>
                <a:ext uri="{FF2B5EF4-FFF2-40B4-BE49-F238E27FC236}">
                  <a16:creationId xmlns:a16="http://schemas.microsoft.com/office/drawing/2014/main" id="{9A4E680A-0525-4019-9DA7-649E07A7E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854"/>
              <a:ext cx="672" cy="52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" name="Text Box 30">
              <a:extLst>
                <a:ext uri="{FF2B5EF4-FFF2-40B4-BE49-F238E27FC236}">
                  <a16:creationId xmlns:a16="http://schemas.microsoft.com/office/drawing/2014/main" id="{FC105074-3056-4D10-B8F1-EF2AFB84C2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6" y="3190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67" name="Text Box 31">
              <a:extLst>
                <a:ext uri="{FF2B5EF4-FFF2-40B4-BE49-F238E27FC236}">
                  <a16:creationId xmlns:a16="http://schemas.microsoft.com/office/drawing/2014/main" id="{81F8FDC0-763E-4A52-90AE-AE862AF3C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834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68" name="AutoShape 32">
              <a:extLst>
                <a:ext uri="{FF2B5EF4-FFF2-40B4-BE49-F238E27FC236}">
                  <a16:creationId xmlns:a16="http://schemas.microsoft.com/office/drawing/2014/main" id="{E22EA7A4-1529-48F7-84A8-76D024F00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286"/>
              <a:ext cx="96" cy="9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" name="Freeform 33">
              <a:extLst>
                <a:ext uri="{FF2B5EF4-FFF2-40B4-BE49-F238E27FC236}">
                  <a16:creationId xmlns:a16="http://schemas.microsoft.com/office/drawing/2014/main" id="{DA80706C-2E7E-4B86-97FA-49F9A0677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" y="3386"/>
              <a:ext cx="1" cy="602"/>
            </a:xfrm>
            <a:custGeom>
              <a:avLst/>
              <a:gdLst>
                <a:gd name="T0" fmla="*/ 1 w 1"/>
                <a:gd name="T1" fmla="*/ 0 h 602"/>
                <a:gd name="T2" fmla="*/ 0 w 1"/>
                <a:gd name="T3" fmla="*/ 602 h 602"/>
                <a:gd name="T4" fmla="*/ 0 60000 65536"/>
                <a:gd name="T5" fmla="*/ 0 60000 65536"/>
                <a:gd name="T6" fmla="*/ 0 w 1"/>
                <a:gd name="T7" fmla="*/ 0 h 602"/>
                <a:gd name="T8" fmla="*/ 1 w 1"/>
                <a:gd name="T9" fmla="*/ 602 h 60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02">
                  <a:moveTo>
                    <a:pt x="1" y="0"/>
                  </a:moveTo>
                  <a:lnTo>
                    <a:pt x="0" y="602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" name="Freeform 34">
              <a:extLst>
                <a:ext uri="{FF2B5EF4-FFF2-40B4-BE49-F238E27FC236}">
                  <a16:creationId xmlns:a16="http://schemas.microsoft.com/office/drawing/2014/main" id="{F5EFADC3-C81A-4403-BD59-3BC1F1E84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4" y="3383"/>
              <a:ext cx="1" cy="601"/>
            </a:xfrm>
            <a:custGeom>
              <a:avLst/>
              <a:gdLst>
                <a:gd name="T0" fmla="*/ 1 w 1"/>
                <a:gd name="T1" fmla="*/ 0 h 601"/>
                <a:gd name="T2" fmla="*/ 0 w 1"/>
                <a:gd name="T3" fmla="*/ 601 h 601"/>
                <a:gd name="T4" fmla="*/ 0 60000 65536"/>
                <a:gd name="T5" fmla="*/ 0 60000 65536"/>
                <a:gd name="T6" fmla="*/ 0 w 1"/>
                <a:gd name="T7" fmla="*/ 0 h 601"/>
                <a:gd name="T8" fmla="*/ 1 w 1"/>
                <a:gd name="T9" fmla="*/ 601 h 6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01">
                  <a:moveTo>
                    <a:pt x="1" y="0"/>
                  </a:moveTo>
                  <a:lnTo>
                    <a:pt x="0" y="601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" name="Freeform 35">
              <a:extLst>
                <a:ext uri="{FF2B5EF4-FFF2-40B4-BE49-F238E27FC236}">
                  <a16:creationId xmlns:a16="http://schemas.microsoft.com/office/drawing/2014/main" id="{3E9FCA73-C266-431C-B8CB-5407FC7D8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4" y="3383"/>
              <a:ext cx="1" cy="601"/>
            </a:xfrm>
            <a:custGeom>
              <a:avLst/>
              <a:gdLst>
                <a:gd name="T0" fmla="*/ 1 w 1"/>
                <a:gd name="T1" fmla="*/ 0 h 601"/>
                <a:gd name="T2" fmla="*/ 0 w 1"/>
                <a:gd name="T3" fmla="*/ 601 h 601"/>
                <a:gd name="T4" fmla="*/ 0 60000 65536"/>
                <a:gd name="T5" fmla="*/ 0 60000 65536"/>
                <a:gd name="T6" fmla="*/ 0 w 1"/>
                <a:gd name="T7" fmla="*/ 0 h 601"/>
                <a:gd name="T8" fmla="*/ 1 w 1"/>
                <a:gd name="T9" fmla="*/ 601 h 6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01">
                  <a:moveTo>
                    <a:pt x="1" y="0"/>
                  </a:moveTo>
                  <a:lnTo>
                    <a:pt x="0" y="601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" name="Text Box 36">
              <a:extLst>
                <a:ext uri="{FF2B5EF4-FFF2-40B4-BE49-F238E27FC236}">
                  <a16:creationId xmlns:a16="http://schemas.microsoft.com/office/drawing/2014/main" id="{C8CCDACB-BEE3-4ADA-AEE4-4C5099DCB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8" y="3976"/>
              <a:ext cx="7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中断源 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3" name="Text Box 37">
              <a:extLst>
                <a:ext uri="{FF2B5EF4-FFF2-40B4-BE49-F238E27FC236}">
                  <a16:creationId xmlns:a16="http://schemas.microsoft.com/office/drawing/2014/main" id="{42184D06-52D8-4EE7-B91C-0086298F4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1" y="3986"/>
              <a:ext cx="7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中断源 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4" name="Text Box 38">
              <a:extLst>
                <a:ext uri="{FF2B5EF4-FFF2-40B4-BE49-F238E27FC236}">
                  <a16:creationId xmlns:a16="http://schemas.microsoft.com/office/drawing/2014/main" id="{F8DC51E7-3B35-4D94-A35A-29EB2FBB1F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5" y="3986"/>
              <a:ext cx="7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中断源 </a:t>
              </a: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75" name="Text Box 39">
              <a:extLst>
                <a:ext uri="{FF2B5EF4-FFF2-40B4-BE49-F238E27FC236}">
                  <a16:creationId xmlns:a16="http://schemas.microsoft.com/office/drawing/2014/main" id="{8DCD0006-F712-4EE6-A159-754406861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4" y="2987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</a:p>
          </p:txBody>
        </p:sp>
      </p:grpSp>
      <p:sp>
        <p:nvSpPr>
          <p:cNvPr id="76" name="Text Box 40">
            <a:extLst>
              <a:ext uri="{FF2B5EF4-FFF2-40B4-BE49-F238E27FC236}">
                <a16:creationId xmlns:a16="http://schemas.microsoft.com/office/drawing/2014/main" id="{8F817FFA-7DE5-42DE-B39A-CC1E033FB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052" y="3122712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至排队器</a:t>
            </a:r>
          </a:p>
        </p:txBody>
      </p:sp>
    </p:spTree>
    <p:extLst>
      <p:ext uri="{BB962C8B-B14F-4D97-AF65-F5344CB8AC3E}">
        <p14:creationId xmlns:p14="http://schemas.microsoft.com/office/powerpoint/2010/main" val="190931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utoUpdateAnimBg="0"/>
      <p:bldP spid="40" grpId="0" autoUpdateAnimBg="0"/>
      <p:bldP spid="41" grpId="0" autoUpdateAnimBg="0"/>
      <p:bldP spid="42" grpId="0" autoUpdateAnimBg="0"/>
      <p:bldP spid="51" grpId="0" autoUpdateAnimBg="0"/>
      <p:bldP spid="52" grpId="0" animBg="1"/>
      <p:bldP spid="76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4521252-5EDF-4CB0-9005-6277732AE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2400"/>
            <a:ext cx="3886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中断隐指令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EC0B5732-11ED-4034-A6B0-D506362D6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85800"/>
            <a:ext cx="601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①保护程序断点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BA7C6796-BB82-4294-80B7-9BAC38AFC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905000"/>
            <a:ext cx="601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②寻找服务程序入口地址</a:t>
            </a: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D098343C-4441-4CAC-B12E-89808ACE1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581400"/>
            <a:ext cx="2667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③硬件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关中断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0AF9CC94-D410-4CA8-8C90-A212B2BE1B1C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419600"/>
            <a:ext cx="1295400" cy="762000"/>
            <a:chOff x="2304" y="2784"/>
            <a:chExt cx="816" cy="480"/>
          </a:xfrm>
        </p:grpSpPr>
        <p:sp>
          <p:nvSpPr>
            <p:cNvPr id="40006" name="Text Box 7">
              <a:extLst>
                <a:ext uri="{FF2B5EF4-FFF2-40B4-BE49-F238E27FC236}">
                  <a16:creationId xmlns:a16="http://schemas.microsoft.com/office/drawing/2014/main" id="{1CCFAF0F-976E-4AD9-B1DD-A9720EB51C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4" y="2812"/>
              <a:ext cx="6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向量地址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形成部件</a:t>
              </a:r>
            </a:p>
          </p:txBody>
        </p:sp>
        <p:sp>
          <p:nvSpPr>
            <p:cNvPr id="40007" name="Rectangle 8">
              <a:extLst>
                <a:ext uri="{FF2B5EF4-FFF2-40B4-BE49-F238E27FC236}">
                  <a16:creationId xmlns:a16="http://schemas.microsoft.com/office/drawing/2014/main" id="{88A8E480-57EA-41A8-A864-2E9C181DD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784"/>
              <a:ext cx="816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97F0EA0A-1C0A-434C-8BAC-316280E5737E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3733800"/>
            <a:ext cx="1066800" cy="908050"/>
            <a:chOff x="3840" y="2352"/>
            <a:chExt cx="672" cy="572"/>
          </a:xfrm>
        </p:grpSpPr>
        <p:sp>
          <p:nvSpPr>
            <p:cNvPr id="40001" name="Text Box 10">
              <a:extLst>
                <a:ext uri="{FF2B5EF4-FFF2-40B4-BE49-F238E27FC236}">
                  <a16:creationId xmlns:a16="http://schemas.microsoft.com/office/drawing/2014/main" id="{FFC75B48-0A40-4FC1-B8CA-83C000CCB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5" y="2516"/>
              <a:ext cx="40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INT</a:t>
              </a:r>
              <a:endParaRPr kumimoji="1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002" name="Rectangle 11">
              <a:extLst>
                <a:ext uri="{FF2B5EF4-FFF2-40B4-BE49-F238E27FC236}">
                  <a16:creationId xmlns:a16="http://schemas.microsoft.com/office/drawing/2014/main" id="{39BA3975-2DC2-4427-BDF4-C9BD8A9FE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372"/>
              <a:ext cx="672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003" name="Text Box 12">
              <a:extLst>
                <a:ext uri="{FF2B5EF4-FFF2-40B4-BE49-F238E27FC236}">
                  <a16:creationId xmlns:a16="http://schemas.microsoft.com/office/drawing/2014/main" id="{3D193DD6-3A7C-4BD6-92D5-476CE369C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69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40004" name="Text Box 13">
              <a:extLst>
                <a:ext uri="{FF2B5EF4-FFF2-40B4-BE49-F238E27FC236}">
                  <a16:creationId xmlns:a16="http://schemas.microsoft.com/office/drawing/2014/main" id="{D260443C-83E7-4319-A1B9-44DCEACE3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352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40005" name="Text Box 14">
              <a:extLst>
                <a:ext uri="{FF2B5EF4-FFF2-40B4-BE49-F238E27FC236}">
                  <a16:creationId xmlns:a16="http://schemas.microsoft.com/office/drawing/2014/main" id="{C1B445A2-37D6-4DD8-B5B5-243A04383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693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792CA2E4-FEBF-437A-BA4C-C8763AAD64FF}"/>
              </a:ext>
            </a:extLst>
          </p:cNvPr>
          <p:cNvGrpSpPr>
            <a:grpSpLocks/>
          </p:cNvGrpSpPr>
          <p:nvPr/>
        </p:nvGrpSpPr>
        <p:grpSpPr bwMode="auto">
          <a:xfrm>
            <a:off x="7815263" y="3733800"/>
            <a:ext cx="1066800" cy="920750"/>
            <a:chOff x="4923" y="2352"/>
            <a:chExt cx="672" cy="580"/>
          </a:xfrm>
        </p:grpSpPr>
        <p:sp>
          <p:nvSpPr>
            <p:cNvPr id="39996" name="Text Box 16">
              <a:extLst>
                <a:ext uri="{FF2B5EF4-FFF2-40B4-BE49-F238E27FC236}">
                  <a16:creationId xmlns:a16="http://schemas.microsoft.com/office/drawing/2014/main" id="{48FFF03C-2007-4B61-BC94-2AA412D26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2" y="2516"/>
              <a:ext cx="5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EINT</a:t>
              </a:r>
              <a:endParaRPr kumimoji="1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97" name="Rectangle 17">
              <a:extLst>
                <a:ext uri="{FF2B5EF4-FFF2-40B4-BE49-F238E27FC236}">
                  <a16:creationId xmlns:a16="http://schemas.microsoft.com/office/drawing/2014/main" id="{ED9C27CC-F855-42BC-A448-4517852FB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3" y="2372"/>
              <a:ext cx="672" cy="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98" name="Text Box 18">
              <a:extLst>
                <a:ext uri="{FF2B5EF4-FFF2-40B4-BE49-F238E27FC236}">
                  <a16:creationId xmlns:a16="http://schemas.microsoft.com/office/drawing/2014/main" id="{846929C5-C880-4B6C-AD24-704EF7EC55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1" y="269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39999" name="Text Box 19">
              <a:extLst>
                <a:ext uri="{FF2B5EF4-FFF2-40B4-BE49-F238E27FC236}">
                  <a16:creationId xmlns:a16="http://schemas.microsoft.com/office/drawing/2014/main" id="{F403CAEA-4B6C-4157-8F61-AC8E851CE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1" y="2352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40000" name="Text Box 20">
              <a:extLst>
                <a:ext uri="{FF2B5EF4-FFF2-40B4-BE49-F238E27FC236}">
                  <a16:creationId xmlns:a16="http://schemas.microsoft.com/office/drawing/2014/main" id="{4330A4FE-BB43-4F2A-84B6-5F3F33CC9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2701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</a:p>
          </p:txBody>
        </p:sp>
      </p:grpSp>
      <p:sp>
        <p:nvSpPr>
          <p:cNvPr id="45077" name="Rectangle 21">
            <a:extLst>
              <a:ext uri="{FF2B5EF4-FFF2-40B4-BE49-F238E27FC236}">
                <a16:creationId xmlns:a16="http://schemas.microsoft.com/office/drawing/2014/main" id="{CF073ACC-9150-4E53-8EC4-BC14E105D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810000"/>
            <a:ext cx="1295400" cy="304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PC</a:t>
            </a:r>
          </a:p>
        </p:txBody>
      </p:sp>
      <p:grpSp>
        <p:nvGrpSpPr>
          <p:cNvPr id="5" name="Group 22">
            <a:extLst>
              <a:ext uri="{FF2B5EF4-FFF2-40B4-BE49-F238E27FC236}">
                <a16:creationId xmlns:a16="http://schemas.microsoft.com/office/drawing/2014/main" id="{C20D8545-E82C-46A5-B89A-7DD9C618BC39}"/>
              </a:ext>
            </a:extLst>
          </p:cNvPr>
          <p:cNvGrpSpPr>
            <a:grpSpLocks/>
          </p:cNvGrpSpPr>
          <p:nvPr/>
        </p:nvGrpSpPr>
        <p:grpSpPr bwMode="auto">
          <a:xfrm>
            <a:off x="8305800" y="4868863"/>
            <a:ext cx="609600" cy="377825"/>
            <a:chOff x="5232" y="3067"/>
            <a:chExt cx="384" cy="238"/>
          </a:xfrm>
        </p:grpSpPr>
        <p:sp>
          <p:nvSpPr>
            <p:cNvPr id="39993" name="Oval 23">
              <a:extLst>
                <a:ext uri="{FF2B5EF4-FFF2-40B4-BE49-F238E27FC236}">
                  <a16:creationId xmlns:a16="http://schemas.microsoft.com/office/drawing/2014/main" id="{AFCF9A81-FC3F-4F65-873B-E6E5A6842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4" y="3067"/>
              <a:ext cx="48" cy="35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94" name="Rectangle 24">
              <a:extLst>
                <a:ext uri="{FF2B5EF4-FFF2-40B4-BE49-F238E27FC236}">
                  <a16:creationId xmlns:a16="http://schemas.microsoft.com/office/drawing/2014/main" id="{931E07B7-4CFE-4E26-B43B-2B3CA01B5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3105"/>
              <a:ext cx="384" cy="177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95" name="Text Box 25">
              <a:extLst>
                <a:ext uri="{FF2B5EF4-FFF2-40B4-BE49-F238E27FC236}">
                  <a16:creationId xmlns:a16="http://schemas.microsoft.com/office/drawing/2014/main" id="{FBBED199-2A11-4161-A271-CC35F948E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4" y="3074"/>
              <a:ext cx="2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45082" name="Freeform 26">
            <a:extLst>
              <a:ext uri="{FF2B5EF4-FFF2-40B4-BE49-F238E27FC236}">
                <a16:creationId xmlns:a16="http://schemas.microsoft.com/office/drawing/2014/main" id="{7D038268-2891-441C-A517-E67642819BB8}"/>
              </a:ext>
            </a:extLst>
          </p:cNvPr>
          <p:cNvSpPr>
            <a:spLocks/>
          </p:cNvSpPr>
          <p:nvPr/>
        </p:nvSpPr>
        <p:spPr bwMode="auto">
          <a:xfrm>
            <a:off x="8601075" y="4610100"/>
            <a:ext cx="1588" cy="280988"/>
          </a:xfrm>
          <a:custGeom>
            <a:avLst/>
            <a:gdLst>
              <a:gd name="T0" fmla="*/ 0 w 1"/>
              <a:gd name="T1" fmla="*/ 0 h 177"/>
              <a:gd name="T2" fmla="*/ 0 w 1"/>
              <a:gd name="T3" fmla="*/ 446069288 h 177"/>
              <a:gd name="T4" fmla="*/ 0 60000 65536"/>
              <a:gd name="T5" fmla="*/ 0 60000 65536"/>
              <a:gd name="T6" fmla="*/ 0 w 1"/>
              <a:gd name="T7" fmla="*/ 0 h 177"/>
              <a:gd name="T8" fmla="*/ 1 w 1"/>
              <a:gd name="T9" fmla="*/ 177 h 17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77">
                <a:moveTo>
                  <a:pt x="0" y="0"/>
                </a:moveTo>
                <a:lnTo>
                  <a:pt x="0" y="177"/>
                </a:lnTo>
              </a:path>
            </a:pathLst>
          </a:custGeom>
          <a:noFill/>
          <a:ln w="2857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27">
            <a:extLst>
              <a:ext uri="{FF2B5EF4-FFF2-40B4-BE49-F238E27FC236}">
                <a16:creationId xmlns:a16="http://schemas.microsoft.com/office/drawing/2014/main" id="{EBF9B929-F799-4130-A933-DC0C85CB0F2B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4868863"/>
            <a:ext cx="609600" cy="373062"/>
            <a:chOff x="3840" y="3067"/>
            <a:chExt cx="384" cy="235"/>
          </a:xfrm>
        </p:grpSpPr>
        <p:sp>
          <p:nvSpPr>
            <p:cNvPr id="39990" name="Oval 28">
              <a:extLst>
                <a:ext uri="{FF2B5EF4-FFF2-40B4-BE49-F238E27FC236}">
                  <a16:creationId xmlns:a16="http://schemas.microsoft.com/office/drawing/2014/main" id="{1DDBD8FD-2E4D-4BF1-9269-6E950FBA8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7" y="3067"/>
              <a:ext cx="48" cy="3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91" name="Rectangle 29">
              <a:extLst>
                <a:ext uri="{FF2B5EF4-FFF2-40B4-BE49-F238E27FC236}">
                  <a16:creationId xmlns:a16="http://schemas.microsoft.com/office/drawing/2014/main" id="{E95B9EA4-5CB4-4692-8BDB-6C062E8F5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105"/>
              <a:ext cx="384" cy="17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92" name="Text Box 30">
              <a:extLst>
                <a:ext uri="{FF2B5EF4-FFF2-40B4-BE49-F238E27FC236}">
                  <a16:creationId xmlns:a16="http://schemas.microsoft.com/office/drawing/2014/main" id="{2F73F072-A4F0-4B2B-8F52-1820BB9F5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071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&amp;</a:t>
              </a:r>
            </a:p>
          </p:txBody>
        </p:sp>
      </p:grpSp>
      <p:sp>
        <p:nvSpPr>
          <p:cNvPr id="45087" name="Freeform 31">
            <a:extLst>
              <a:ext uri="{FF2B5EF4-FFF2-40B4-BE49-F238E27FC236}">
                <a16:creationId xmlns:a16="http://schemas.microsoft.com/office/drawing/2014/main" id="{20F3BC7C-E29F-424F-83E4-79D764D8320B}"/>
              </a:ext>
            </a:extLst>
          </p:cNvPr>
          <p:cNvSpPr>
            <a:spLocks/>
          </p:cNvSpPr>
          <p:nvPr/>
        </p:nvSpPr>
        <p:spPr bwMode="auto">
          <a:xfrm>
            <a:off x="6399213" y="4595813"/>
            <a:ext cx="1587" cy="290512"/>
          </a:xfrm>
          <a:custGeom>
            <a:avLst/>
            <a:gdLst>
              <a:gd name="T0" fmla="*/ 0 w 1"/>
              <a:gd name="T1" fmla="*/ 0 h 183"/>
              <a:gd name="T2" fmla="*/ 0 w 1"/>
              <a:gd name="T3" fmla="*/ 461187051 h 183"/>
              <a:gd name="T4" fmla="*/ 0 60000 65536"/>
              <a:gd name="T5" fmla="*/ 0 60000 65536"/>
              <a:gd name="T6" fmla="*/ 0 w 1"/>
              <a:gd name="T7" fmla="*/ 0 h 183"/>
              <a:gd name="T8" fmla="*/ 1 w 1"/>
              <a:gd name="T9" fmla="*/ 183 h 18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83">
                <a:moveTo>
                  <a:pt x="0" y="0"/>
                </a:moveTo>
                <a:lnTo>
                  <a:pt x="0" y="183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Group 32">
            <a:extLst>
              <a:ext uri="{FF2B5EF4-FFF2-40B4-BE49-F238E27FC236}">
                <a16:creationId xmlns:a16="http://schemas.microsoft.com/office/drawing/2014/main" id="{8F81482B-7DB8-412F-9A0B-DF15A0ABA64B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5459413"/>
            <a:ext cx="914400" cy="366712"/>
            <a:chOff x="3648" y="3439"/>
            <a:chExt cx="576" cy="231"/>
          </a:xfrm>
        </p:grpSpPr>
        <p:sp>
          <p:nvSpPr>
            <p:cNvPr id="39988" name="Text Box 33">
              <a:extLst>
                <a:ext uri="{FF2B5EF4-FFF2-40B4-BE49-F238E27FC236}">
                  <a16:creationId xmlns:a16="http://schemas.microsoft.com/office/drawing/2014/main" id="{B7FE3A25-CFA4-462D-82A0-C066B4D1CC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5" y="3439"/>
              <a:ext cx="33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≥1</a:t>
              </a:r>
            </a:p>
          </p:txBody>
        </p:sp>
        <p:sp>
          <p:nvSpPr>
            <p:cNvPr id="39989" name="Rectangle 34">
              <a:extLst>
                <a:ext uri="{FF2B5EF4-FFF2-40B4-BE49-F238E27FC236}">
                  <a16:creationId xmlns:a16="http://schemas.microsoft.com/office/drawing/2014/main" id="{C7B1E641-3238-4507-916F-A8633DC5C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456"/>
              <a:ext cx="576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Group 35">
            <a:extLst>
              <a:ext uri="{FF2B5EF4-FFF2-40B4-BE49-F238E27FC236}">
                <a16:creationId xmlns:a16="http://schemas.microsoft.com/office/drawing/2014/main" id="{906206BB-EF3C-4408-8FB9-23FFEB8D38CF}"/>
              </a:ext>
            </a:extLst>
          </p:cNvPr>
          <p:cNvGrpSpPr>
            <a:grpSpLocks/>
          </p:cNvGrpSpPr>
          <p:nvPr/>
        </p:nvGrpSpPr>
        <p:grpSpPr bwMode="auto">
          <a:xfrm>
            <a:off x="5830888" y="6384925"/>
            <a:ext cx="950912" cy="396875"/>
            <a:chOff x="3673" y="4070"/>
            <a:chExt cx="599" cy="250"/>
          </a:xfrm>
        </p:grpSpPr>
        <p:sp>
          <p:nvSpPr>
            <p:cNvPr id="39986" name="Text Box 36">
              <a:extLst>
                <a:ext uri="{FF2B5EF4-FFF2-40B4-BE49-F238E27FC236}">
                  <a16:creationId xmlns:a16="http://schemas.microsoft.com/office/drawing/2014/main" id="{1E626356-F529-4FDD-AB99-079D93213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3" y="4070"/>
              <a:ext cx="5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排队器</a:t>
              </a:r>
            </a:p>
          </p:txBody>
        </p:sp>
        <p:sp>
          <p:nvSpPr>
            <p:cNvPr id="39987" name="Rectangle 37">
              <a:extLst>
                <a:ext uri="{FF2B5EF4-FFF2-40B4-BE49-F238E27FC236}">
                  <a16:creationId xmlns:a16="http://schemas.microsoft.com/office/drawing/2014/main" id="{B4359A52-3CB0-484F-85F6-C9AEFF1B1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3" y="4070"/>
              <a:ext cx="576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5094" name="AutoShape 38">
            <a:extLst>
              <a:ext uri="{FF2B5EF4-FFF2-40B4-BE49-F238E27FC236}">
                <a16:creationId xmlns:a16="http://schemas.microsoft.com/office/drawing/2014/main" id="{6070B22A-DC46-4D3D-9939-A26F106DB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114800"/>
            <a:ext cx="152400" cy="304800"/>
          </a:xfrm>
          <a:prstGeom prst="upArrow">
            <a:avLst>
              <a:gd name="adj1" fmla="val 50000"/>
              <a:gd name="adj2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" name="Group 39">
            <a:extLst>
              <a:ext uri="{FF2B5EF4-FFF2-40B4-BE49-F238E27FC236}">
                <a16:creationId xmlns:a16="http://schemas.microsoft.com/office/drawing/2014/main" id="{B35D0C3E-E6E3-4740-9048-48F6CEEC14A4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5181600"/>
            <a:ext cx="2800350" cy="1066800"/>
            <a:chOff x="2400" y="3312"/>
            <a:chExt cx="1764" cy="672"/>
          </a:xfrm>
        </p:grpSpPr>
        <p:sp>
          <p:nvSpPr>
            <p:cNvPr id="39982" name="Freeform 40">
              <a:extLst>
                <a:ext uri="{FF2B5EF4-FFF2-40B4-BE49-F238E27FC236}">
                  <a16:creationId xmlns:a16="http://schemas.microsoft.com/office/drawing/2014/main" id="{6813F787-5779-44A7-A1E5-EC069269F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3312"/>
              <a:ext cx="1188" cy="480"/>
            </a:xfrm>
            <a:custGeom>
              <a:avLst/>
              <a:gdLst>
                <a:gd name="T0" fmla="*/ 0 w 1188"/>
                <a:gd name="T1" fmla="*/ 0 h 480"/>
                <a:gd name="T2" fmla="*/ 0 w 1188"/>
                <a:gd name="T3" fmla="*/ 480 h 480"/>
                <a:gd name="T4" fmla="*/ 1188 w 1188"/>
                <a:gd name="T5" fmla="*/ 477 h 480"/>
                <a:gd name="T6" fmla="*/ 0 60000 65536"/>
                <a:gd name="T7" fmla="*/ 0 60000 65536"/>
                <a:gd name="T8" fmla="*/ 0 60000 65536"/>
                <a:gd name="T9" fmla="*/ 0 w 1188"/>
                <a:gd name="T10" fmla="*/ 0 h 480"/>
                <a:gd name="T11" fmla="*/ 1188 w 1188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88" h="480">
                  <a:moveTo>
                    <a:pt x="0" y="0"/>
                  </a:moveTo>
                  <a:lnTo>
                    <a:pt x="0" y="480"/>
                  </a:lnTo>
                  <a:lnTo>
                    <a:pt x="1188" y="477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stealth" w="med" len="med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83" name="Freeform 41">
              <a:extLst>
                <a:ext uri="{FF2B5EF4-FFF2-40B4-BE49-F238E27FC236}">
                  <a16:creationId xmlns:a16="http://schemas.microsoft.com/office/drawing/2014/main" id="{F52B7039-C7FB-4D40-ABA5-69735AACE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312"/>
              <a:ext cx="1332" cy="576"/>
            </a:xfrm>
            <a:custGeom>
              <a:avLst/>
              <a:gdLst>
                <a:gd name="T0" fmla="*/ 0 w 1332"/>
                <a:gd name="T1" fmla="*/ 0 h 576"/>
                <a:gd name="T2" fmla="*/ 0 w 1332"/>
                <a:gd name="T3" fmla="*/ 576 h 576"/>
                <a:gd name="T4" fmla="*/ 1332 w 1332"/>
                <a:gd name="T5" fmla="*/ 576 h 576"/>
                <a:gd name="T6" fmla="*/ 0 60000 65536"/>
                <a:gd name="T7" fmla="*/ 0 60000 65536"/>
                <a:gd name="T8" fmla="*/ 0 60000 65536"/>
                <a:gd name="T9" fmla="*/ 0 w 1332"/>
                <a:gd name="T10" fmla="*/ 0 h 576"/>
                <a:gd name="T11" fmla="*/ 1332 w 1332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32" h="576">
                  <a:moveTo>
                    <a:pt x="0" y="0"/>
                  </a:moveTo>
                  <a:lnTo>
                    <a:pt x="0" y="576"/>
                  </a:lnTo>
                  <a:lnTo>
                    <a:pt x="1332" y="576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stealth" w="med" len="med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84" name="Freeform 42">
              <a:extLst>
                <a:ext uri="{FF2B5EF4-FFF2-40B4-BE49-F238E27FC236}">
                  <a16:creationId xmlns:a16="http://schemas.microsoft.com/office/drawing/2014/main" id="{9C3B4AAC-79AF-4FC9-A477-02FEAA6F0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3312"/>
              <a:ext cx="1377" cy="672"/>
            </a:xfrm>
            <a:custGeom>
              <a:avLst/>
              <a:gdLst>
                <a:gd name="T0" fmla="*/ 0 w 1377"/>
                <a:gd name="T1" fmla="*/ 0 h 672"/>
                <a:gd name="T2" fmla="*/ 0 w 1377"/>
                <a:gd name="T3" fmla="*/ 672 h 672"/>
                <a:gd name="T4" fmla="*/ 1377 w 1377"/>
                <a:gd name="T5" fmla="*/ 672 h 672"/>
                <a:gd name="T6" fmla="*/ 0 60000 65536"/>
                <a:gd name="T7" fmla="*/ 0 60000 65536"/>
                <a:gd name="T8" fmla="*/ 0 60000 65536"/>
                <a:gd name="T9" fmla="*/ 0 w 1377"/>
                <a:gd name="T10" fmla="*/ 0 h 672"/>
                <a:gd name="T11" fmla="*/ 1377 w 1377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77" h="672">
                  <a:moveTo>
                    <a:pt x="0" y="0"/>
                  </a:moveTo>
                  <a:lnTo>
                    <a:pt x="0" y="672"/>
                  </a:lnTo>
                  <a:lnTo>
                    <a:pt x="1377" y="67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stealth" w="med" len="med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85" name="Text Box 43">
              <a:extLst>
                <a:ext uri="{FF2B5EF4-FFF2-40B4-BE49-F238E27FC236}">
                  <a16:creationId xmlns:a16="http://schemas.microsoft.com/office/drawing/2014/main" id="{50139EDD-B77D-4002-8904-63DC85A3A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0" y="3465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</p:grpSp>
      <p:grpSp>
        <p:nvGrpSpPr>
          <p:cNvPr id="10" name="Group 44">
            <a:extLst>
              <a:ext uri="{FF2B5EF4-FFF2-40B4-BE49-F238E27FC236}">
                <a16:creationId xmlns:a16="http://schemas.microsoft.com/office/drawing/2014/main" id="{98F3DC2D-8831-426C-A783-5BB2F3809645}"/>
              </a:ext>
            </a:extLst>
          </p:cNvPr>
          <p:cNvGrpSpPr>
            <a:grpSpLocks/>
          </p:cNvGrpSpPr>
          <p:nvPr/>
        </p:nvGrpSpPr>
        <p:grpSpPr bwMode="auto">
          <a:xfrm>
            <a:off x="5995988" y="5786438"/>
            <a:ext cx="614362" cy="600075"/>
            <a:chOff x="3777" y="3645"/>
            <a:chExt cx="387" cy="378"/>
          </a:xfrm>
        </p:grpSpPr>
        <p:sp>
          <p:nvSpPr>
            <p:cNvPr id="39978" name="Freeform 45">
              <a:extLst>
                <a:ext uri="{FF2B5EF4-FFF2-40B4-BE49-F238E27FC236}">
                  <a16:creationId xmlns:a16="http://schemas.microsoft.com/office/drawing/2014/main" id="{625DE672-BAB0-494B-9D35-AD80EE66A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7" y="3645"/>
              <a:ext cx="2" cy="375"/>
            </a:xfrm>
            <a:custGeom>
              <a:avLst/>
              <a:gdLst>
                <a:gd name="T0" fmla="*/ 0 w 2"/>
                <a:gd name="T1" fmla="*/ 0 h 375"/>
                <a:gd name="T2" fmla="*/ 2 w 2"/>
                <a:gd name="T3" fmla="*/ 375 h 375"/>
                <a:gd name="T4" fmla="*/ 0 60000 65536"/>
                <a:gd name="T5" fmla="*/ 0 60000 65536"/>
                <a:gd name="T6" fmla="*/ 0 w 2"/>
                <a:gd name="T7" fmla="*/ 0 h 375"/>
                <a:gd name="T8" fmla="*/ 2 w 2"/>
                <a:gd name="T9" fmla="*/ 375 h 3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375">
                  <a:moveTo>
                    <a:pt x="0" y="0"/>
                  </a:moveTo>
                  <a:lnTo>
                    <a:pt x="2" y="375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79" name="Freeform 46">
              <a:extLst>
                <a:ext uri="{FF2B5EF4-FFF2-40B4-BE49-F238E27FC236}">
                  <a16:creationId xmlns:a16="http://schemas.microsoft.com/office/drawing/2014/main" id="{CCD48407-2BFA-419B-8222-6E054AF2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3648"/>
              <a:ext cx="1" cy="375"/>
            </a:xfrm>
            <a:custGeom>
              <a:avLst/>
              <a:gdLst>
                <a:gd name="T0" fmla="*/ 1 w 1"/>
                <a:gd name="T1" fmla="*/ 0 h 375"/>
                <a:gd name="T2" fmla="*/ 0 w 1"/>
                <a:gd name="T3" fmla="*/ 375 h 375"/>
                <a:gd name="T4" fmla="*/ 0 60000 65536"/>
                <a:gd name="T5" fmla="*/ 0 60000 65536"/>
                <a:gd name="T6" fmla="*/ 0 w 1"/>
                <a:gd name="T7" fmla="*/ 0 h 375"/>
                <a:gd name="T8" fmla="*/ 1 w 1"/>
                <a:gd name="T9" fmla="*/ 375 h 3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75">
                  <a:moveTo>
                    <a:pt x="1" y="0"/>
                  </a:moveTo>
                  <a:lnTo>
                    <a:pt x="0" y="375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80" name="Freeform 47">
              <a:extLst>
                <a:ext uri="{FF2B5EF4-FFF2-40B4-BE49-F238E27FC236}">
                  <a16:creationId xmlns:a16="http://schemas.microsoft.com/office/drawing/2014/main" id="{9705D0B3-9042-4C67-BDCD-A3E4193A7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" y="3651"/>
              <a:ext cx="4" cy="372"/>
            </a:xfrm>
            <a:custGeom>
              <a:avLst/>
              <a:gdLst>
                <a:gd name="T0" fmla="*/ 4 w 4"/>
                <a:gd name="T1" fmla="*/ 0 h 372"/>
                <a:gd name="T2" fmla="*/ 0 w 4"/>
                <a:gd name="T3" fmla="*/ 372 h 372"/>
                <a:gd name="T4" fmla="*/ 0 60000 65536"/>
                <a:gd name="T5" fmla="*/ 0 60000 65536"/>
                <a:gd name="T6" fmla="*/ 0 w 4"/>
                <a:gd name="T7" fmla="*/ 0 h 372"/>
                <a:gd name="T8" fmla="*/ 4 w 4"/>
                <a:gd name="T9" fmla="*/ 372 h 37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" h="372">
                  <a:moveTo>
                    <a:pt x="4" y="0"/>
                  </a:moveTo>
                  <a:lnTo>
                    <a:pt x="0" y="37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81" name="Text Box 48">
              <a:extLst>
                <a:ext uri="{FF2B5EF4-FFF2-40B4-BE49-F238E27FC236}">
                  <a16:creationId xmlns:a16="http://schemas.microsoft.com/office/drawing/2014/main" id="{058408B5-C463-4768-B076-4399F6CA9F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753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</p:grpSp>
      <p:sp>
        <p:nvSpPr>
          <p:cNvPr id="45105" name="Freeform 49">
            <a:extLst>
              <a:ext uri="{FF2B5EF4-FFF2-40B4-BE49-F238E27FC236}">
                <a16:creationId xmlns:a16="http://schemas.microsoft.com/office/drawing/2014/main" id="{B9E28BD8-E074-4F39-B916-E11267764B04}"/>
              </a:ext>
            </a:extLst>
          </p:cNvPr>
          <p:cNvSpPr>
            <a:spLocks/>
          </p:cNvSpPr>
          <p:nvPr/>
        </p:nvSpPr>
        <p:spPr bwMode="auto">
          <a:xfrm>
            <a:off x="6248400" y="5210175"/>
            <a:ext cx="1588" cy="276225"/>
          </a:xfrm>
          <a:custGeom>
            <a:avLst/>
            <a:gdLst>
              <a:gd name="T0" fmla="*/ 0 w 1"/>
              <a:gd name="T1" fmla="*/ 0 h 174"/>
              <a:gd name="T2" fmla="*/ 2521744 w 1"/>
              <a:gd name="T3" fmla="*/ 438507232 h 174"/>
              <a:gd name="T4" fmla="*/ 0 60000 65536"/>
              <a:gd name="T5" fmla="*/ 0 60000 65536"/>
              <a:gd name="T6" fmla="*/ 0 w 1"/>
              <a:gd name="T7" fmla="*/ 0 h 174"/>
              <a:gd name="T8" fmla="*/ 1 w 1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74">
                <a:moveTo>
                  <a:pt x="0" y="0"/>
                </a:moveTo>
                <a:lnTo>
                  <a:pt x="1" y="174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106" name="Freeform 50">
            <a:extLst>
              <a:ext uri="{FF2B5EF4-FFF2-40B4-BE49-F238E27FC236}">
                <a16:creationId xmlns:a16="http://schemas.microsoft.com/office/drawing/2014/main" id="{EE4C4A43-8BB7-4FCC-80A0-51FEE49D508E}"/>
              </a:ext>
            </a:extLst>
          </p:cNvPr>
          <p:cNvSpPr>
            <a:spLocks/>
          </p:cNvSpPr>
          <p:nvPr/>
        </p:nvSpPr>
        <p:spPr bwMode="auto">
          <a:xfrm>
            <a:off x="6553200" y="3509963"/>
            <a:ext cx="1528763" cy="1828800"/>
          </a:xfrm>
          <a:custGeom>
            <a:avLst/>
            <a:gdLst>
              <a:gd name="T0" fmla="*/ 0 w 963"/>
              <a:gd name="T1" fmla="*/ 2147483647 h 1152"/>
              <a:gd name="T2" fmla="*/ 0 w 963"/>
              <a:gd name="T3" fmla="*/ 2147483647 h 1152"/>
              <a:gd name="T4" fmla="*/ 1746469997 w 963"/>
              <a:gd name="T5" fmla="*/ 2147483647 h 1152"/>
              <a:gd name="T6" fmla="*/ 1746469997 w 963"/>
              <a:gd name="T7" fmla="*/ 7559675 h 1152"/>
              <a:gd name="T8" fmla="*/ 2147483647 w 963"/>
              <a:gd name="T9" fmla="*/ 0 h 1152"/>
              <a:gd name="T10" fmla="*/ 2147483647 w 963"/>
              <a:gd name="T11" fmla="*/ 393144308 h 11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63"/>
              <a:gd name="T19" fmla="*/ 0 h 1152"/>
              <a:gd name="T20" fmla="*/ 963 w 963"/>
              <a:gd name="T21" fmla="*/ 1152 h 11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63" h="1152">
                <a:moveTo>
                  <a:pt x="0" y="1071"/>
                </a:moveTo>
                <a:lnTo>
                  <a:pt x="0" y="1152"/>
                </a:lnTo>
                <a:lnTo>
                  <a:pt x="693" y="1149"/>
                </a:lnTo>
                <a:lnTo>
                  <a:pt x="693" y="3"/>
                </a:lnTo>
                <a:lnTo>
                  <a:pt x="963" y="0"/>
                </a:lnTo>
                <a:lnTo>
                  <a:pt x="963" y="15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107" name="Freeform 51">
            <a:extLst>
              <a:ext uri="{FF2B5EF4-FFF2-40B4-BE49-F238E27FC236}">
                <a16:creationId xmlns:a16="http://schemas.microsoft.com/office/drawing/2014/main" id="{03232008-5C50-4B3B-A83C-DA8E0DCB6192}"/>
              </a:ext>
            </a:extLst>
          </p:cNvPr>
          <p:cNvSpPr>
            <a:spLocks/>
          </p:cNvSpPr>
          <p:nvPr/>
        </p:nvSpPr>
        <p:spPr bwMode="auto">
          <a:xfrm>
            <a:off x="6324600" y="3505200"/>
            <a:ext cx="2286000" cy="2133600"/>
          </a:xfrm>
          <a:custGeom>
            <a:avLst/>
            <a:gdLst>
              <a:gd name="T0" fmla="*/ 2147483647 w 1440"/>
              <a:gd name="T1" fmla="*/ 2147483647 h 1344"/>
              <a:gd name="T2" fmla="*/ 2147483647 w 1440"/>
              <a:gd name="T3" fmla="*/ 2147483647 h 1344"/>
              <a:gd name="T4" fmla="*/ 1693545219 w 1440"/>
              <a:gd name="T5" fmla="*/ 2147483647 h 1344"/>
              <a:gd name="T6" fmla="*/ 1693545219 w 1440"/>
              <a:gd name="T7" fmla="*/ 0 h 1344"/>
              <a:gd name="T8" fmla="*/ 0 w 1440"/>
              <a:gd name="T9" fmla="*/ 0 h 1344"/>
              <a:gd name="T10" fmla="*/ 0 w 1440"/>
              <a:gd name="T11" fmla="*/ 423386295 h 13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0"/>
              <a:gd name="T19" fmla="*/ 0 h 1344"/>
              <a:gd name="T20" fmla="*/ 1440 w 1440"/>
              <a:gd name="T21" fmla="*/ 1344 h 13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0" h="1344">
                <a:moveTo>
                  <a:pt x="1440" y="1080"/>
                </a:moveTo>
                <a:lnTo>
                  <a:pt x="1440" y="1344"/>
                </a:lnTo>
                <a:lnTo>
                  <a:pt x="672" y="1344"/>
                </a:lnTo>
                <a:lnTo>
                  <a:pt x="672" y="0"/>
                </a:lnTo>
                <a:lnTo>
                  <a:pt x="0" y="0"/>
                </a:lnTo>
                <a:lnTo>
                  <a:pt x="0" y="168"/>
                </a:lnTo>
              </a:path>
            </a:pathLst>
          </a:custGeom>
          <a:noFill/>
          <a:ln w="2857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108" name="Text Box 52">
            <a:extLst>
              <a:ext uri="{FF2B5EF4-FFF2-40B4-BE49-F238E27FC236}">
                <a16:creationId xmlns:a16="http://schemas.microsoft.com/office/drawing/2014/main" id="{4ADBF162-1A22-460D-B5A4-E32BEA23A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295400"/>
            <a:ext cx="533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断点存于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特定地址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号地址） 内</a:t>
            </a:r>
          </a:p>
        </p:txBody>
      </p:sp>
      <p:sp>
        <p:nvSpPr>
          <p:cNvPr id="45109" name="Text Box 53">
            <a:extLst>
              <a:ext uri="{FF2B5EF4-FFF2-40B4-BE49-F238E27FC236}">
                <a16:creationId xmlns:a16="http://schemas.microsoft.com/office/drawing/2014/main" id="{3FB90DA3-7D15-4E36-A566-46F129EA6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306513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断点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进栈</a:t>
            </a:r>
          </a:p>
        </p:txBody>
      </p:sp>
      <p:sp>
        <p:nvSpPr>
          <p:cNvPr id="45110" name="Text Box 54">
            <a:extLst>
              <a:ext uri="{FF2B5EF4-FFF2-40B4-BE49-F238E27FC236}">
                <a16:creationId xmlns:a16="http://schemas.microsoft.com/office/drawing/2014/main" id="{6017D0D8-DF9A-4BCA-AAEC-3F0BAE00F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738688"/>
            <a:ext cx="1722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中断标记</a:t>
            </a:r>
          </a:p>
        </p:txBody>
      </p:sp>
      <p:sp>
        <p:nvSpPr>
          <p:cNvPr id="45111" name="Text Box 55">
            <a:extLst>
              <a:ext uri="{FF2B5EF4-FFF2-40B4-BE49-F238E27FC236}">
                <a16:creationId xmlns:a16="http://schemas.microsoft.com/office/drawing/2014/main" id="{C32FE0DA-7AE7-4910-A14D-9306D57D7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310188"/>
            <a:ext cx="1892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EINT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允许中断</a:t>
            </a:r>
          </a:p>
        </p:txBody>
      </p:sp>
      <p:sp>
        <p:nvSpPr>
          <p:cNvPr id="45112" name="Text Box 56">
            <a:extLst>
              <a:ext uri="{FF2B5EF4-FFF2-40B4-BE49-F238E27FC236}">
                <a16:creationId xmlns:a16="http://schemas.microsoft.com/office/drawing/2014/main" id="{72DA63E4-6004-4B28-B8C2-ED33747B3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856288"/>
            <a:ext cx="16081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触发器</a:t>
            </a:r>
          </a:p>
        </p:txBody>
      </p:sp>
      <p:grpSp>
        <p:nvGrpSpPr>
          <p:cNvPr id="11" name="Group 58">
            <a:extLst>
              <a:ext uri="{FF2B5EF4-FFF2-40B4-BE49-F238E27FC236}">
                <a16:creationId xmlns:a16="http://schemas.microsoft.com/office/drawing/2014/main" id="{717A9616-9336-439B-9365-45FB9B3E04FF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438400"/>
            <a:ext cx="6723063" cy="533400"/>
            <a:chOff x="720" y="1536"/>
            <a:chExt cx="4235" cy="336"/>
          </a:xfrm>
        </p:grpSpPr>
        <p:grpSp>
          <p:nvGrpSpPr>
            <p:cNvPr id="39973" name="Group 59">
              <a:extLst>
                <a:ext uri="{FF2B5EF4-FFF2-40B4-BE49-F238E27FC236}">
                  <a16:creationId xmlns:a16="http://schemas.microsoft.com/office/drawing/2014/main" id="{AFD7C1C7-F83D-4970-9BAF-8007FC928F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1536"/>
              <a:ext cx="1488" cy="336"/>
              <a:chOff x="720" y="1536"/>
              <a:chExt cx="1488" cy="336"/>
            </a:xfrm>
          </p:grpSpPr>
          <p:sp>
            <p:nvSpPr>
              <p:cNvPr id="39975" name="Rectangle 60">
                <a:extLst>
                  <a:ext uri="{FF2B5EF4-FFF2-40B4-BE49-F238E27FC236}">
                    <a16:creationId xmlns:a16="http://schemas.microsoft.com/office/drawing/2014/main" id="{6BCF4E30-70C2-4EDF-8BCA-208A505C4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1536"/>
                <a:ext cx="816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向量地址</a:t>
                </a:r>
              </a:p>
            </p:txBody>
          </p:sp>
          <p:sp>
            <p:nvSpPr>
              <p:cNvPr id="39976" name="Rectangle 61">
                <a:extLst>
                  <a:ext uri="{FF2B5EF4-FFF2-40B4-BE49-F238E27FC236}">
                    <a16:creationId xmlns:a16="http://schemas.microsoft.com/office/drawing/2014/main" id="{25A3DF13-D8B8-4EB3-B7CA-A12281C298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536"/>
                <a:ext cx="288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PC</a:t>
                </a:r>
              </a:p>
            </p:txBody>
          </p:sp>
          <p:sp>
            <p:nvSpPr>
              <p:cNvPr id="39977" name="Line 62">
                <a:extLst>
                  <a:ext uri="{FF2B5EF4-FFF2-40B4-BE49-F238E27FC236}">
                    <a16:creationId xmlns:a16="http://schemas.microsoft.com/office/drawing/2014/main" id="{AD241443-B7BA-49D2-A4AC-0421874E0D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1728"/>
                <a:ext cx="295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9974" name="Text Box 63">
              <a:extLst>
                <a:ext uri="{FF2B5EF4-FFF2-40B4-BE49-F238E27FC236}">
                  <a16:creationId xmlns:a16="http://schemas.microsoft.com/office/drawing/2014/main" id="{EBC8F0AF-CFF2-40F1-96F3-7616B778B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7" y="1564"/>
              <a:ext cx="26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（硬件向量法）</a:t>
              </a:r>
            </a:p>
          </p:txBody>
        </p:sp>
      </p:grpSp>
      <p:grpSp>
        <p:nvGrpSpPr>
          <p:cNvPr id="13" name="Group 64">
            <a:extLst>
              <a:ext uri="{FF2B5EF4-FFF2-40B4-BE49-F238E27FC236}">
                <a16:creationId xmlns:a16="http://schemas.microsoft.com/office/drawing/2014/main" id="{5CE3D48B-F085-4A87-AF09-9D8976E5B9BF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933700"/>
            <a:ext cx="8991600" cy="571500"/>
            <a:chOff x="720" y="1848"/>
            <a:chExt cx="5664" cy="360"/>
          </a:xfrm>
        </p:grpSpPr>
        <p:grpSp>
          <p:nvGrpSpPr>
            <p:cNvPr id="39967" name="Group 65">
              <a:extLst>
                <a:ext uri="{FF2B5EF4-FFF2-40B4-BE49-F238E27FC236}">
                  <a16:creationId xmlns:a16="http://schemas.microsoft.com/office/drawing/2014/main" id="{D2E593C9-2142-4879-93B2-C2C9EE4210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1848"/>
              <a:ext cx="2976" cy="360"/>
              <a:chOff x="816" y="1872"/>
              <a:chExt cx="2976" cy="360"/>
            </a:xfrm>
          </p:grpSpPr>
          <p:sp>
            <p:nvSpPr>
              <p:cNvPr id="39969" name="Rectangle 66">
                <a:extLst>
                  <a:ext uri="{FF2B5EF4-FFF2-40B4-BE49-F238E27FC236}">
                    <a16:creationId xmlns:a16="http://schemas.microsoft.com/office/drawing/2014/main" id="{4BA18A58-75CB-42EB-A3D6-F0CA648D5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872"/>
                <a:ext cx="2016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中断识别程序 </a:t>
                </a: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入口地址</a:t>
                </a:r>
              </a:p>
            </p:txBody>
          </p:sp>
          <p:sp>
            <p:nvSpPr>
              <p:cNvPr id="39970" name="Rectangle 67">
                <a:extLst>
                  <a:ext uri="{FF2B5EF4-FFF2-40B4-BE49-F238E27FC236}">
                    <a16:creationId xmlns:a16="http://schemas.microsoft.com/office/drawing/2014/main" id="{3973906E-58C9-491B-9CDF-E188BB3C9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896"/>
                <a:ext cx="288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M</a:t>
                </a:r>
              </a:p>
            </p:txBody>
          </p:sp>
          <p:sp>
            <p:nvSpPr>
              <p:cNvPr id="39971" name="Rectangle 68">
                <a:extLst>
                  <a:ext uri="{FF2B5EF4-FFF2-40B4-BE49-F238E27FC236}">
                    <a16:creationId xmlns:a16="http://schemas.microsoft.com/office/drawing/2014/main" id="{714EFA35-2BDF-4EBF-85E8-16F0A3B52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1896"/>
                <a:ext cx="288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rIns="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PC</a:t>
                </a:r>
              </a:p>
            </p:txBody>
          </p:sp>
          <p:sp>
            <p:nvSpPr>
              <p:cNvPr id="39972" name="Line 69">
                <a:extLst>
                  <a:ext uri="{FF2B5EF4-FFF2-40B4-BE49-F238E27FC236}">
                    <a16:creationId xmlns:a16="http://schemas.microsoft.com/office/drawing/2014/main" id="{6BA0A50C-0B95-4279-8D2B-423A5C4A9C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064"/>
                <a:ext cx="295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9968" name="Text Box 70">
              <a:extLst>
                <a:ext uri="{FF2B5EF4-FFF2-40B4-BE49-F238E27FC236}">
                  <a16:creationId xmlns:a16="http://schemas.microsoft.com/office/drawing/2014/main" id="{E14AB0E8-C0B3-4C6E-B2E9-7393CABB5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872"/>
              <a:ext cx="26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（软件查询法）</a:t>
              </a:r>
            </a:p>
          </p:txBody>
        </p:sp>
      </p:grpSp>
      <p:sp>
        <p:nvSpPr>
          <p:cNvPr id="39966" name="AutoShape 7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FA50966-4694-407C-8717-3532FB20C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4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4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6" dur="500"/>
                                        <p:tgtEl>
                                          <p:spTgt spid="4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1" dur="500"/>
                                        <p:tgtEl>
                                          <p:spTgt spid="4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500"/>
                                        <p:tgtEl>
                                          <p:spTgt spid="4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5" dur="500"/>
                                        <p:tgtEl>
                                          <p:spTgt spid="4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9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utoUpdateAnimBg="0"/>
      <p:bldP spid="45060" grpId="0" autoUpdateAnimBg="0"/>
      <p:bldP spid="45061" grpId="0" autoUpdateAnimBg="0"/>
      <p:bldP spid="45077" grpId="0" animBg="1" autoUpdateAnimBg="0"/>
      <p:bldP spid="45082" grpId="0" animBg="1"/>
      <p:bldP spid="45087" grpId="0" animBg="1"/>
      <p:bldP spid="45094" grpId="0" animBg="1"/>
      <p:bldP spid="45105" grpId="0" animBg="1"/>
      <p:bldP spid="45106" grpId="0" animBg="1"/>
      <p:bldP spid="45107" grpId="0" animBg="1"/>
      <p:bldP spid="45108" grpId="0" autoUpdateAnimBg="0"/>
      <p:bldP spid="45109" grpId="0" autoUpdateAnimBg="0"/>
      <p:bldP spid="45110" grpId="0" autoUpdateAnimBg="0"/>
      <p:bldP spid="45111" grpId="0" autoUpdateAnimBg="0"/>
      <p:bldP spid="45112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矩形 2"/>
          <p:cNvSpPr>
            <a:spLocks noGrp="1" noChangeArrowheads="1"/>
          </p:cNvSpPr>
          <p:nvPr>
            <p:ph type="title"/>
          </p:nvPr>
        </p:nvSpPr>
        <p:spPr>
          <a:xfrm>
            <a:off x="107504" y="188640"/>
            <a:ext cx="7886700" cy="617641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）寻找中断服务程序入口地址的方法</a:t>
            </a:r>
          </a:p>
        </p:txBody>
      </p:sp>
      <p:sp>
        <p:nvSpPr>
          <p:cNvPr id="64516" name="矩形 3"/>
          <p:cNvSpPr>
            <a:spLocks noGrp="1" noChangeArrowheads="1"/>
          </p:cNvSpPr>
          <p:nvPr>
            <p:ph type="body" idx="1"/>
          </p:nvPr>
        </p:nvSpPr>
        <p:spPr>
          <a:xfrm>
            <a:off x="395536" y="908720"/>
            <a:ext cx="8273309" cy="563702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①向量中断</a:t>
            </a:r>
          </a:p>
          <a:p>
            <a:pPr lvl="1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将服务程序入口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中断向量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组织在中断向量表中；响应时由硬件直接产生相应向量地址，按地址查表，取得服务程序入口，转入相应服务程序。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硬件查询法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独立请求法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lvl="2" indent="0">
              <a:buNone/>
            </a:pPr>
            <a:endParaRPr lang="zh-CN" altLang="en-US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graphicFrame>
        <p:nvGraphicFramePr>
          <p:cNvPr id="4" name="对象 6">
            <a:extLst>
              <a:ext uri="{FF2B5EF4-FFF2-40B4-BE49-F238E27FC236}">
                <a16:creationId xmlns:a16="http://schemas.microsoft.com/office/drawing/2014/main" id="{47E92664-3A1B-4757-A2E9-FE8C202966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043796"/>
              </p:ext>
            </p:extLst>
          </p:nvPr>
        </p:nvGraphicFramePr>
        <p:xfrm>
          <a:off x="755576" y="3501008"/>
          <a:ext cx="7763662" cy="2447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5" name="图片" r:id="rId4" imgW="4264025" imgH="1342390" progId="Word.Picture.8">
                  <p:embed/>
                </p:oleObj>
              </mc:Choice>
              <mc:Fallback>
                <p:oleObj name="图片" r:id="rId4" imgW="4264025" imgH="1342390" progId="Word.Picture.8">
                  <p:embed/>
                  <p:pic>
                    <p:nvPicPr>
                      <p:cNvPr id="68615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3501008"/>
                        <a:ext cx="7763662" cy="244753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337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矩形 3"/>
          <p:cNvSpPr>
            <a:spLocks noChangeArrowheads="1"/>
          </p:cNvSpPr>
          <p:nvPr/>
        </p:nvSpPr>
        <p:spPr bwMode="auto">
          <a:xfrm>
            <a:off x="1143001" y="1985940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zh-CN" altLang="en-US" sz="135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6656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426792"/>
              </p:ext>
            </p:extLst>
          </p:nvPr>
        </p:nvGraphicFramePr>
        <p:xfrm>
          <a:off x="4139952" y="908720"/>
          <a:ext cx="4761427" cy="5688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2" name="图片" r:id="rId4" imgW="2724785" imgH="3258185" progId="Word.Picture.8">
                  <p:embed/>
                </p:oleObj>
              </mc:Choice>
              <mc:Fallback>
                <p:oleObj name="图片" r:id="rId4" imgW="2724785" imgH="3258185" progId="Word.Picture.8">
                  <p:embed/>
                  <p:pic>
                    <p:nvPicPr>
                      <p:cNvPr id="6656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908720"/>
                        <a:ext cx="4761427" cy="568863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11EEDAC8-2FC8-40FB-932D-2790AB1A2C3C}"/>
              </a:ext>
            </a:extLst>
          </p:cNvPr>
          <p:cNvSpPr/>
          <p:nvPr/>
        </p:nvSpPr>
        <p:spPr>
          <a:xfrm>
            <a:off x="10925" y="620688"/>
            <a:ext cx="3624971" cy="2663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lvl="0" indent="-257175" algn="just" defTabSz="685800" fontAlgn="auto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19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非向量中断</a:t>
            </a:r>
          </a:p>
          <a:p>
            <a:pPr marL="609600" lvl="1" indent="-266700" algn="just" defTabSz="685800" fontAlgn="auto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将服务程序入口组织在查询程序中；</a:t>
            </a:r>
          </a:p>
          <a:p>
            <a:pPr marL="609600" lvl="1" indent="-266700" algn="just" defTabSz="685800" fontAlgn="auto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响应时执行查询程序查询中断源，转入相应服务程序。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2" indent="-171450" algn="just" defTabSz="685800" fontAlgn="auto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002060"/>
              </a:buClr>
              <a:buFont typeface="Wingdings" panose="05000000000000000000" pitchFamily="2" charset="2"/>
              <a:buChar char="u"/>
            </a:pPr>
            <a:r>
              <a:rPr lang="zh-CN" altLang="en-US" sz="1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程序识别     （软件方法）</a:t>
            </a:r>
          </a:p>
        </p:txBody>
      </p:sp>
      <p:sp>
        <p:nvSpPr>
          <p:cNvPr id="8" name="矩形 2">
            <a:extLst>
              <a:ext uri="{FF2B5EF4-FFF2-40B4-BE49-F238E27FC236}">
                <a16:creationId xmlns:a16="http://schemas.microsoft.com/office/drawing/2014/main" id="{FA5F252F-37AF-4410-9EDC-D7C36C999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886700" cy="617538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3200" dirty="0">
                <a:solidFill>
                  <a:schemeClr val="tx1"/>
                </a:solidFill>
                <a:latin typeface="宋体" panose="02010600030101010101" pitchFamily="2" charset="-122"/>
              </a:rPr>
              <a:t>）寻找中断服务程序入口地址的方法</a:t>
            </a:r>
          </a:p>
        </p:txBody>
      </p:sp>
    </p:spTree>
    <p:extLst>
      <p:ext uri="{BB962C8B-B14F-4D97-AF65-F5344CB8AC3E}">
        <p14:creationId xmlns:p14="http://schemas.microsoft.com/office/powerpoint/2010/main" val="40402104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54D41-CE68-4AFB-AFB2-97387A94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中断服务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76981CB-F90C-4272-AFD4-A183744E7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80728"/>
            <a:ext cx="1752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保护现场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E517BF1-6F20-4962-8D9A-3776DB270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1844824"/>
            <a:ext cx="1828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）恢复现场</a:t>
            </a: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6F060898-E07F-4968-8F58-D7550D167B0D}"/>
              </a:ext>
            </a:extLst>
          </p:cNvPr>
          <p:cNvGrpSpPr>
            <a:grpSpLocks/>
          </p:cNvGrpSpPr>
          <p:nvPr/>
        </p:nvGrpSpPr>
        <p:grpSpPr bwMode="auto">
          <a:xfrm>
            <a:off x="2483768" y="764704"/>
            <a:ext cx="1981200" cy="1066800"/>
            <a:chOff x="1776" y="576"/>
            <a:chExt cx="1248" cy="672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A1F2310C-F361-48B9-AC23-36278CD99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912"/>
              <a:ext cx="1248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寄存器 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3A2E849A-72D0-4797-AAE4-581B55431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576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断点</a:t>
              </a:r>
              <a:endPara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AutoShape 8">
            <a:extLst>
              <a:ext uri="{FF2B5EF4-FFF2-40B4-BE49-F238E27FC236}">
                <a16:creationId xmlns:a16="http://schemas.microsoft.com/office/drawing/2014/main" id="{D3B87210-3DFF-4FB6-8D41-91D435B8B339}"/>
              </a:ext>
            </a:extLst>
          </p:cNvPr>
          <p:cNvSpPr>
            <a:spLocks/>
          </p:cNvSpPr>
          <p:nvPr/>
        </p:nvSpPr>
        <p:spPr bwMode="auto">
          <a:xfrm>
            <a:off x="2261518" y="917104"/>
            <a:ext cx="146050" cy="685800"/>
          </a:xfrm>
          <a:prstGeom prst="leftBrace">
            <a:avLst>
              <a:gd name="adj1" fmla="val 39130"/>
              <a:gd name="adj2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E6925FFA-53C5-4EA4-99F9-D0218DD38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68" y="2822104"/>
            <a:ext cx="1979613" cy="6477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保护现场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8CB16198-88BE-4C17-BCCB-495DF121A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68" y="3850804"/>
            <a:ext cx="1979613" cy="6477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其它服务程序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0B90AB2B-B6B4-47DE-967F-FFE41B867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68" y="4841404"/>
            <a:ext cx="1979613" cy="6477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恢复现场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6BFE1EB8-7E2A-4A23-BCF1-93AFE6905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368" y="5832004"/>
            <a:ext cx="1979613" cy="6477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中断返回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54EF5E63-17A2-42FE-BF72-A40B34536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8" y="2898304"/>
            <a:ext cx="1905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PUSH</a:t>
            </a: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467A77E6-A18E-4B0D-9658-8C654C727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4568" y="3888904"/>
            <a:ext cx="2590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视不同请求源而定</a:t>
            </a: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BA74E6D5-77C9-46F9-8920-D96C5140D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8" y="4879504"/>
            <a:ext cx="1905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POP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58C49397-7068-4E39-909D-06342FC16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7568" y="1928342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中断服务程序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完成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6A349E71-E4EC-4199-844B-57AF85B78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4631" y="3507904"/>
            <a:ext cx="490537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中</a:t>
            </a:r>
          </a:p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断</a:t>
            </a:r>
          </a:p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服</a:t>
            </a:r>
          </a:p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务</a:t>
            </a:r>
          </a:p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程</a:t>
            </a:r>
          </a:p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序</a:t>
            </a:r>
          </a:p>
        </p:txBody>
      </p:sp>
      <p:sp>
        <p:nvSpPr>
          <p:cNvPr id="20" name="AutoShape 18">
            <a:extLst>
              <a:ext uri="{FF2B5EF4-FFF2-40B4-BE49-F238E27FC236}">
                <a16:creationId xmlns:a16="http://schemas.microsoft.com/office/drawing/2014/main" id="{D9F7A003-29F1-49F7-B168-5E4C86C4FFEF}"/>
              </a:ext>
            </a:extLst>
          </p:cNvPr>
          <p:cNvSpPr>
            <a:spLocks/>
          </p:cNvSpPr>
          <p:nvPr/>
        </p:nvSpPr>
        <p:spPr bwMode="auto">
          <a:xfrm>
            <a:off x="2331368" y="2822104"/>
            <a:ext cx="304800" cy="3657600"/>
          </a:xfrm>
          <a:prstGeom prst="leftBrace">
            <a:avLst>
              <a:gd name="adj1" fmla="val 100000"/>
              <a:gd name="adj2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F667F10D-62CC-4F84-A2CF-29625D1BF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1168" y="764704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中断隐指令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完成</a:t>
            </a: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Rectangle 20">
            <a:extLst>
              <a:ext uri="{FF2B5EF4-FFF2-40B4-BE49-F238E27FC236}">
                <a16:creationId xmlns:a16="http://schemas.microsoft.com/office/drawing/2014/main" id="{63874317-6F9B-4E85-B582-E2A07805F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6893" y="1298104"/>
            <a:ext cx="3810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中断服务程序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完成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DCF399-030A-4F64-8F66-D1F633EAD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768" y="5870104"/>
            <a:ext cx="1905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IRET</a:t>
            </a:r>
          </a:p>
        </p:txBody>
      </p:sp>
    </p:spTree>
    <p:extLst>
      <p:ext uri="{BB962C8B-B14F-4D97-AF65-F5344CB8AC3E}">
        <p14:creationId xmlns:p14="http://schemas.microsoft.com/office/powerpoint/2010/main" val="185303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10" grpId="0" animBg="1"/>
      <p:bldP spid="11" grpId="0" animBg="1" autoUpdateAnimBg="0"/>
      <p:bldP spid="12" grpId="0" animBg="1" autoUpdateAnimBg="0"/>
      <p:bldP spid="13" grpId="0" animBg="1" autoUpdateAnimBg="0"/>
      <p:bldP spid="14" grpId="0" animBg="1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nimBg="1"/>
      <p:bldP spid="21" grpId="0" autoUpdateAnimBg="0"/>
      <p:bldP spid="22" grpId="0" autoUpdateAnimBg="0"/>
      <p:bldP spid="23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肘形连接符 102"/>
          <p:cNvCxnSpPr>
            <a:stCxn id="99" idx="3"/>
            <a:endCxn id="92" idx="3"/>
          </p:cNvCxnSpPr>
          <p:nvPr/>
        </p:nvCxnSpPr>
        <p:spPr>
          <a:xfrm flipH="1" flipV="1">
            <a:off x="6981538" y="1343151"/>
            <a:ext cx="1839" cy="4124730"/>
          </a:xfrm>
          <a:prstGeom prst="bentConnector3">
            <a:avLst>
              <a:gd name="adj1" fmla="val -9323002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肘形连接符 70"/>
          <p:cNvCxnSpPr>
            <a:cxnSpLocks/>
            <a:stCxn id="58" idx="3"/>
            <a:endCxn id="6" idx="3"/>
          </p:cNvCxnSpPr>
          <p:nvPr/>
        </p:nvCxnSpPr>
        <p:spPr>
          <a:xfrm flipV="1">
            <a:off x="3897152" y="1343152"/>
            <a:ext cx="6044" cy="4148411"/>
          </a:xfrm>
          <a:prstGeom prst="bentConnector3">
            <a:avLst>
              <a:gd name="adj1" fmla="val 2936932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6" idx="2"/>
            <a:endCxn id="50" idx="0"/>
          </p:cNvCxnSpPr>
          <p:nvPr/>
        </p:nvCxnSpPr>
        <p:spPr>
          <a:xfrm>
            <a:off x="3180250" y="1478166"/>
            <a:ext cx="0" cy="216024"/>
          </a:xfrm>
          <a:prstGeom prst="straightConnector1">
            <a:avLst/>
          </a:prstGeom>
          <a:solidFill>
            <a:srgbClr val="00B050"/>
          </a:solidFill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>
            <a:stCxn id="92" idx="2"/>
            <a:endCxn id="93" idx="0"/>
          </p:cNvCxnSpPr>
          <p:nvPr/>
        </p:nvCxnSpPr>
        <p:spPr>
          <a:xfrm>
            <a:off x="6258592" y="1478166"/>
            <a:ext cx="0" cy="216024"/>
          </a:xfrm>
          <a:prstGeom prst="straightConnector1">
            <a:avLst/>
          </a:prstGeom>
          <a:solidFill>
            <a:srgbClr val="00B050"/>
          </a:solidFill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455597" y="2774310"/>
            <a:ext cx="1445891" cy="298614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prstClr val="black"/>
                </a:solidFill>
                <a:latin typeface="微软雅黑"/>
                <a:ea typeface="微软雅黑"/>
              </a:rPr>
              <a:t>关中断</a:t>
            </a:r>
          </a:p>
        </p:txBody>
      </p:sp>
      <p:sp>
        <p:nvSpPr>
          <p:cNvPr id="66" name="矩形 65"/>
          <p:cNvSpPr/>
          <p:nvPr/>
        </p:nvSpPr>
        <p:spPr>
          <a:xfrm>
            <a:off x="2455597" y="3123766"/>
            <a:ext cx="1445891" cy="298614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>
                <a:solidFill>
                  <a:prstClr val="black"/>
                </a:solidFill>
                <a:latin typeface="微软雅黑"/>
                <a:ea typeface="微软雅黑"/>
                <a:sym typeface="Wingdings" panose="05000000000000000000" pitchFamily="2" charset="2"/>
              </a:rPr>
              <a:t>保存断点</a:t>
            </a:r>
            <a:endParaRPr lang="zh-CN" altLang="en-US" sz="105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58" name="Text Box 5"/>
          <p:cNvSpPr txBox="1">
            <a:spLocks noChangeArrowheads="1"/>
          </p:cNvSpPr>
          <p:nvPr/>
        </p:nvSpPr>
        <p:spPr bwMode="auto">
          <a:xfrm>
            <a:off x="3172823" y="2494077"/>
            <a:ext cx="5526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dirty="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Yes</a:t>
            </a:r>
            <a:endParaRPr lang="zh-CN" altLang="en-US" sz="1350" dirty="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71" name="组合 170"/>
          <p:cNvGrpSpPr/>
          <p:nvPr/>
        </p:nvGrpSpPr>
        <p:grpSpPr>
          <a:xfrm>
            <a:off x="2733846" y="1856208"/>
            <a:ext cx="895076" cy="918102"/>
            <a:chOff x="740325" y="2747927"/>
            <a:chExt cx="936104" cy="1226675"/>
          </a:xfrm>
          <a:solidFill>
            <a:srgbClr val="00B050"/>
          </a:solidFill>
        </p:grpSpPr>
        <p:cxnSp>
          <p:nvCxnSpPr>
            <p:cNvPr id="89" name="直接箭头连接符 88"/>
            <p:cNvCxnSpPr/>
            <p:nvPr/>
          </p:nvCxnSpPr>
          <p:spPr>
            <a:xfrm>
              <a:off x="1203447" y="3511195"/>
              <a:ext cx="0" cy="463407"/>
            </a:xfrm>
            <a:prstGeom prst="straightConnector1">
              <a:avLst/>
            </a:prstGeom>
            <a:grpFill/>
            <a:ln w="1905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>
              <a:off x="1208377" y="2747927"/>
              <a:ext cx="0" cy="463407"/>
            </a:xfrm>
            <a:prstGeom prst="straightConnector1">
              <a:avLst/>
            </a:prstGeom>
            <a:grpFill/>
            <a:ln w="1905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六边形 3"/>
            <p:cNvSpPr/>
            <p:nvPr/>
          </p:nvSpPr>
          <p:spPr>
            <a:xfrm>
              <a:off x="740325" y="3211334"/>
              <a:ext cx="936104" cy="412500"/>
            </a:xfrm>
            <a:prstGeom prst="hexagon">
              <a:avLst/>
            </a:prstGeom>
            <a:grp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b="1" dirty="0">
                  <a:solidFill>
                    <a:prstClr val="white"/>
                  </a:solidFill>
                  <a:latin typeface="微软雅黑"/>
                  <a:ea typeface="微软雅黑"/>
                </a:rPr>
                <a:t>中断</a:t>
              </a:r>
            </a:p>
          </p:txBody>
        </p:sp>
      </p:grpSp>
      <p:cxnSp>
        <p:nvCxnSpPr>
          <p:cNvPr id="13" name="肘形连接符 12"/>
          <p:cNvCxnSpPr/>
          <p:nvPr/>
        </p:nvCxnSpPr>
        <p:spPr>
          <a:xfrm rot="16200000" flipH="1">
            <a:off x="3071619" y="1099505"/>
            <a:ext cx="216024" cy="1236"/>
          </a:xfrm>
          <a:prstGeom prst="bent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457305" y="1208136"/>
            <a:ext cx="1445891" cy="270030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prstClr val="black"/>
                </a:solidFill>
                <a:latin typeface="微软雅黑"/>
                <a:ea typeface="微软雅黑"/>
              </a:rPr>
              <a:t>取指令</a:t>
            </a:r>
          </a:p>
        </p:txBody>
      </p:sp>
      <p:sp>
        <p:nvSpPr>
          <p:cNvPr id="50" name="矩形 49"/>
          <p:cNvSpPr/>
          <p:nvPr/>
        </p:nvSpPr>
        <p:spPr>
          <a:xfrm>
            <a:off x="2457305" y="1694190"/>
            <a:ext cx="1445891" cy="270030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prstClr val="black"/>
                </a:solidFill>
                <a:latin typeface="微软雅黑"/>
                <a:ea typeface="微软雅黑"/>
              </a:rPr>
              <a:t>执行指令</a:t>
            </a:r>
          </a:p>
        </p:txBody>
      </p:sp>
      <p:sp>
        <p:nvSpPr>
          <p:cNvPr id="53" name="矩形 52"/>
          <p:cNvSpPr/>
          <p:nvPr/>
        </p:nvSpPr>
        <p:spPr>
          <a:xfrm>
            <a:off x="2451262" y="3985770"/>
            <a:ext cx="1445891" cy="298614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prstClr val="black"/>
                </a:solidFill>
                <a:latin typeface="微软雅黑"/>
                <a:ea typeface="微软雅黑"/>
              </a:rPr>
              <a:t>保护现场</a:t>
            </a:r>
          </a:p>
        </p:txBody>
      </p:sp>
      <p:sp>
        <p:nvSpPr>
          <p:cNvPr id="54" name="矩形 53"/>
          <p:cNvSpPr/>
          <p:nvPr/>
        </p:nvSpPr>
        <p:spPr>
          <a:xfrm>
            <a:off x="2451262" y="4329020"/>
            <a:ext cx="1445891" cy="298614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>
                <a:solidFill>
                  <a:prstClr val="black"/>
                </a:solidFill>
                <a:latin typeface="微软雅黑"/>
                <a:ea typeface="微软雅黑"/>
              </a:rPr>
              <a:t>中断服务</a:t>
            </a:r>
            <a:endParaRPr lang="zh-CN" altLang="en-US" sz="105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451262" y="4672271"/>
            <a:ext cx="1445891" cy="298614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prstClr val="black"/>
                </a:solidFill>
                <a:latin typeface="微软雅黑"/>
                <a:ea typeface="微软雅黑"/>
              </a:rPr>
              <a:t>恢复现场</a:t>
            </a:r>
          </a:p>
        </p:txBody>
      </p:sp>
      <p:sp>
        <p:nvSpPr>
          <p:cNvPr id="58" name="矩形 57"/>
          <p:cNvSpPr/>
          <p:nvPr/>
        </p:nvSpPr>
        <p:spPr>
          <a:xfrm>
            <a:off x="2451262" y="5339593"/>
            <a:ext cx="1445891" cy="303938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>
                <a:solidFill>
                  <a:prstClr val="black"/>
                </a:solidFill>
                <a:latin typeface="微软雅黑"/>
                <a:ea typeface="微软雅黑"/>
              </a:rPr>
              <a:t>中断返回指令</a:t>
            </a:r>
            <a:endParaRPr lang="en-US" altLang="zh-CN" sz="105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2403986" y="1333627"/>
            <a:ext cx="433448" cy="1073964"/>
            <a:chOff x="1420927" y="813291"/>
            <a:chExt cx="577930" cy="1431953"/>
          </a:xfrm>
        </p:grpSpPr>
        <p:sp>
          <p:nvSpPr>
            <p:cNvPr id="156" name="Text Box 5"/>
            <p:cNvSpPr txBox="1">
              <a:spLocks noChangeArrowheads="1"/>
            </p:cNvSpPr>
            <p:nvPr/>
          </p:nvSpPr>
          <p:spPr bwMode="auto">
            <a:xfrm>
              <a:off x="1420927" y="1845135"/>
              <a:ext cx="577930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defRPr>
              </a:lvl9pPr>
            </a:lstStyle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350" dirty="0">
                  <a:solidFill>
                    <a:prstClr val="blac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No</a:t>
              </a:r>
              <a:endParaRPr lang="zh-CN" altLang="en-US" sz="1350" dirty="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1" name="肘形连接符 20"/>
            <p:cNvCxnSpPr>
              <a:stCxn id="4" idx="3"/>
              <a:endCxn id="6" idx="1"/>
            </p:cNvCxnSpPr>
            <p:nvPr/>
          </p:nvCxnSpPr>
          <p:spPr>
            <a:xfrm rot="10800000">
              <a:off x="1492018" y="813291"/>
              <a:ext cx="368722" cy="1352347"/>
            </a:xfrm>
            <a:prstGeom prst="bentConnector3">
              <a:avLst>
                <a:gd name="adj1" fmla="val 161998"/>
              </a:avLst>
            </a:prstGeom>
            <a:ln w="1905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矩形 79"/>
          <p:cNvSpPr/>
          <p:nvPr/>
        </p:nvSpPr>
        <p:spPr>
          <a:xfrm>
            <a:off x="5526056" y="2774310"/>
            <a:ext cx="1445891" cy="298614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prstClr val="black"/>
                </a:solidFill>
                <a:latin typeface="微软雅黑"/>
                <a:ea typeface="微软雅黑"/>
              </a:rPr>
              <a:t>关中断</a:t>
            </a:r>
          </a:p>
        </p:txBody>
      </p:sp>
      <p:sp>
        <p:nvSpPr>
          <p:cNvPr id="81" name="矩形 80"/>
          <p:cNvSpPr/>
          <p:nvPr/>
        </p:nvSpPr>
        <p:spPr>
          <a:xfrm>
            <a:off x="5526056" y="3123766"/>
            <a:ext cx="1445891" cy="298614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>
                <a:solidFill>
                  <a:prstClr val="black"/>
                </a:solidFill>
                <a:latin typeface="微软雅黑"/>
                <a:ea typeface="微软雅黑"/>
              </a:rPr>
              <a:t>保存断点</a:t>
            </a:r>
            <a:endParaRPr lang="zh-CN" altLang="en-US" sz="105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83" name="Text Box 5"/>
          <p:cNvSpPr txBox="1">
            <a:spLocks noChangeArrowheads="1"/>
          </p:cNvSpPr>
          <p:nvPr/>
        </p:nvSpPr>
        <p:spPr bwMode="auto">
          <a:xfrm>
            <a:off x="6249001" y="2508118"/>
            <a:ext cx="5526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dirty="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Yes</a:t>
            </a:r>
            <a:endParaRPr lang="zh-CN" altLang="en-US" sz="1350" dirty="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4" name="Text Box 5"/>
          <p:cNvSpPr txBox="1">
            <a:spLocks noChangeArrowheads="1"/>
          </p:cNvSpPr>
          <p:nvPr/>
        </p:nvSpPr>
        <p:spPr bwMode="auto">
          <a:xfrm>
            <a:off x="5516588" y="2109002"/>
            <a:ext cx="43344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dirty="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No</a:t>
            </a:r>
            <a:endParaRPr lang="zh-CN" altLang="en-US" sz="1350" dirty="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5812188" y="1856208"/>
            <a:ext cx="895076" cy="918102"/>
            <a:chOff x="740325" y="2747927"/>
            <a:chExt cx="936104" cy="1226675"/>
          </a:xfrm>
          <a:solidFill>
            <a:srgbClr val="00B050"/>
          </a:solidFill>
        </p:grpSpPr>
        <p:cxnSp>
          <p:nvCxnSpPr>
            <p:cNvPr id="88" name="直接箭头连接符 87"/>
            <p:cNvCxnSpPr/>
            <p:nvPr/>
          </p:nvCxnSpPr>
          <p:spPr>
            <a:xfrm>
              <a:off x="1205898" y="3511195"/>
              <a:ext cx="0" cy="463407"/>
            </a:xfrm>
            <a:prstGeom prst="straightConnector1">
              <a:avLst/>
            </a:prstGeom>
            <a:grpFill/>
            <a:ln w="1905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/>
            <p:nvPr/>
          </p:nvCxnSpPr>
          <p:spPr>
            <a:xfrm>
              <a:off x="1208377" y="2747927"/>
              <a:ext cx="0" cy="463407"/>
            </a:xfrm>
            <a:prstGeom prst="straightConnector1">
              <a:avLst/>
            </a:prstGeom>
            <a:grpFill/>
            <a:ln w="1905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六边形 86"/>
            <p:cNvSpPr/>
            <p:nvPr/>
          </p:nvSpPr>
          <p:spPr>
            <a:xfrm>
              <a:off x="740325" y="3211334"/>
              <a:ext cx="936104" cy="412500"/>
            </a:xfrm>
            <a:prstGeom prst="hexagon">
              <a:avLst/>
            </a:prstGeom>
            <a:grp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b="1" dirty="0">
                  <a:solidFill>
                    <a:prstClr val="white"/>
                  </a:solidFill>
                  <a:latin typeface="微软雅黑"/>
                  <a:ea typeface="微软雅黑"/>
                </a:rPr>
                <a:t>中断</a:t>
              </a:r>
            </a:p>
          </p:txBody>
        </p:sp>
      </p:grpSp>
      <p:cxnSp>
        <p:nvCxnSpPr>
          <p:cNvPr id="91" name="肘形连接符 90"/>
          <p:cNvCxnSpPr/>
          <p:nvPr/>
        </p:nvCxnSpPr>
        <p:spPr>
          <a:xfrm rot="16200000" flipH="1">
            <a:off x="6149961" y="1099505"/>
            <a:ext cx="216024" cy="1236"/>
          </a:xfrm>
          <a:prstGeom prst="bentConnector3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>
          <a:xfrm>
            <a:off x="5535647" y="1208136"/>
            <a:ext cx="1445891" cy="270030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prstClr val="black"/>
                </a:solidFill>
                <a:latin typeface="微软雅黑"/>
                <a:ea typeface="微软雅黑"/>
              </a:rPr>
              <a:t>取指令</a:t>
            </a:r>
          </a:p>
        </p:txBody>
      </p:sp>
      <p:sp>
        <p:nvSpPr>
          <p:cNvPr id="93" name="矩形 92"/>
          <p:cNvSpPr/>
          <p:nvPr/>
        </p:nvSpPr>
        <p:spPr>
          <a:xfrm>
            <a:off x="5535647" y="1694190"/>
            <a:ext cx="1445891" cy="270030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prstClr val="black"/>
                </a:solidFill>
                <a:latin typeface="微软雅黑"/>
                <a:ea typeface="微软雅黑"/>
              </a:rPr>
              <a:t>执行指令</a:t>
            </a:r>
          </a:p>
        </p:txBody>
      </p:sp>
      <p:sp>
        <p:nvSpPr>
          <p:cNvPr id="95" name="矩形 94"/>
          <p:cNvSpPr/>
          <p:nvPr/>
        </p:nvSpPr>
        <p:spPr>
          <a:xfrm>
            <a:off x="5537486" y="3985770"/>
            <a:ext cx="1445891" cy="298614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788">
                <a:solidFill>
                  <a:prstClr val="black"/>
                </a:solidFill>
                <a:latin typeface="微软雅黑"/>
                <a:ea typeface="微软雅黑"/>
              </a:rPr>
              <a:t>保护现场</a:t>
            </a:r>
            <a:r>
              <a:rPr lang="en-US" altLang="zh-CN" sz="788">
                <a:solidFill>
                  <a:prstClr val="black"/>
                </a:solidFill>
                <a:latin typeface="微软雅黑"/>
                <a:ea typeface="微软雅黑"/>
              </a:rPr>
              <a:t>(</a:t>
            </a:r>
            <a:r>
              <a:rPr lang="zh-CN" altLang="en-US" sz="788">
                <a:solidFill>
                  <a:prstClr val="black"/>
                </a:solidFill>
                <a:latin typeface="微软雅黑"/>
                <a:ea typeface="微软雅黑"/>
              </a:rPr>
              <a:t>含屏蔽字）</a:t>
            </a:r>
            <a:endParaRPr lang="en-US" altLang="zh-CN" sz="788">
              <a:solidFill>
                <a:prstClr val="black"/>
              </a:solidFill>
              <a:latin typeface="微软雅黑"/>
              <a:ea typeface="微软雅黑"/>
            </a:endParaRPr>
          </a:p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788">
                <a:solidFill>
                  <a:prstClr val="black"/>
                </a:solidFill>
                <a:latin typeface="微软雅黑"/>
                <a:ea typeface="微软雅黑"/>
              </a:rPr>
              <a:t>载入设备屏蔽</a:t>
            </a:r>
            <a:r>
              <a:rPr lang="zh-CN" altLang="en-US" sz="788" dirty="0">
                <a:solidFill>
                  <a:prstClr val="black"/>
                </a:solidFill>
                <a:latin typeface="微软雅黑"/>
                <a:ea typeface="微软雅黑"/>
              </a:rPr>
              <a:t>字</a:t>
            </a:r>
          </a:p>
        </p:txBody>
      </p:sp>
      <p:sp>
        <p:nvSpPr>
          <p:cNvPr id="96" name="矩形 95"/>
          <p:cNvSpPr/>
          <p:nvPr/>
        </p:nvSpPr>
        <p:spPr>
          <a:xfrm>
            <a:off x="5537486" y="4329020"/>
            <a:ext cx="1445891" cy="296748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b="1" dirty="0">
                <a:solidFill>
                  <a:srgbClr val="FF0000"/>
                </a:solidFill>
                <a:latin typeface="微软雅黑"/>
                <a:ea typeface="微软雅黑"/>
              </a:rPr>
              <a:t>开中断</a:t>
            </a:r>
          </a:p>
        </p:txBody>
      </p:sp>
      <p:sp>
        <p:nvSpPr>
          <p:cNvPr id="97" name="矩形 96"/>
          <p:cNvSpPr/>
          <p:nvPr/>
        </p:nvSpPr>
        <p:spPr>
          <a:xfrm>
            <a:off x="5537486" y="4665827"/>
            <a:ext cx="1445891" cy="298614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>
                <a:solidFill>
                  <a:prstClr val="black"/>
                </a:solidFill>
                <a:latin typeface="微软雅黑"/>
                <a:ea typeface="微软雅黑"/>
              </a:rPr>
              <a:t>中断服务</a:t>
            </a:r>
            <a:endParaRPr lang="zh-CN" altLang="en-US" sz="105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5535649" y="5000032"/>
            <a:ext cx="1445889" cy="306011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825" b="1" dirty="0">
                <a:solidFill>
                  <a:srgbClr val="FF0000"/>
                </a:solidFill>
                <a:latin typeface="微软雅黑"/>
                <a:ea typeface="微软雅黑"/>
              </a:rPr>
              <a:t>关中断</a:t>
            </a:r>
            <a:r>
              <a:rPr lang="zh-CN" altLang="en-US" sz="825" dirty="0">
                <a:solidFill>
                  <a:prstClr val="black"/>
                </a:solidFill>
                <a:latin typeface="微软雅黑"/>
                <a:ea typeface="微软雅黑"/>
              </a:rPr>
              <a:t>，</a:t>
            </a:r>
            <a:r>
              <a:rPr lang="zh-CN" altLang="en-US" sz="825">
                <a:solidFill>
                  <a:prstClr val="black"/>
                </a:solidFill>
                <a:latin typeface="微软雅黑"/>
                <a:ea typeface="微软雅黑"/>
              </a:rPr>
              <a:t>恢复现场，</a:t>
            </a:r>
            <a:r>
              <a:rPr lang="zh-CN" altLang="en-US" sz="825" b="1">
                <a:solidFill>
                  <a:srgbClr val="FF0000"/>
                </a:solidFill>
                <a:latin typeface="微软雅黑"/>
                <a:ea typeface="微软雅黑"/>
              </a:rPr>
              <a:t>开中断</a:t>
            </a:r>
            <a:endParaRPr lang="zh-CN" altLang="en-US" sz="825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5537486" y="5339593"/>
            <a:ext cx="1445891" cy="303938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>
                <a:solidFill>
                  <a:prstClr val="black"/>
                </a:solidFill>
                <a:latin typeface="微软雅黑"/>
                <a:ea typeface="微软雅黑"/>
              </a:rPr>
              <a:t>中断返回指令</a:t>
            </a:r>
            <a:endParaRPr lang="en-US" altLang="zh-CN" sz="105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cxnSp>
        <p:nvCxnSpPr>
          <p:cNvPr id="101" name="肘形连接符 100"/>
          <p:cNvCxnSpPr>
            <a:stCxn id="87" idx="3"/>
            <a:endCxn id="92" idx="1"/>
          </p:cNvCxnSpPr>
          <p:nvPr/>
        </p:nvCxnSpPr>
        <p:spPr>
          <a:xfrm rot="10800000">
            <a:off x="5535648" y="1343153"/>
            <a:ext cx="276542" cy="1014260"/>
          </a:xfrm>
          <a:prstGeom prst="bentConnector3">
            <a:avLst>
              <a:gd name="adj1" fmla="val 217107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/>
          <p:cNvGrpSpPr/>
          <p:nvPr/>
        </p:nvGrpSpPr>
        <p:grpSpPr>
          <a:xfrm>
            <a:off x="1634562" y="2804797"/>
            <a:ext cx="756465" cy="1039181"/>
            <a:chOff x="179004" y="2533546"/>
            <a:chExt cx="1008620" cy="1385574"/>
          </a:xfrm>
        </p:grpSpPr>
        <p:grpSp>
          <p:nvGrpSpPr>
            <p:cNvPr id="69" name="组合 68"/>
            <p:cNvGrpSpPr/>
            <p:nvPr/>
          </p:nvGrpSpPr>
          <p:grpSpPr>
            <a:xfrm>
              <a:off x="683568" y="2533546"/>
              <a:ext cx="504056" cy="1327502"/>
              <a:chOff x="-324544" y="2533546"/>
              <a:chExt cx="1008112" cy="1327502"/>
            </a:xfrm>
          </p:grpSpPr>
          <p:cxnSp>
            <p:nvCxnSpPr>
              <p:cNvPr id="43" name="直接连接符 42"/>
              <p:cNvCxnSpPr/>
              <p:nvPr/>
            </p:nvCxnSpPr>
            <p:spPr>
              <a:xfrm>
                <a:off x="-324544" y="2533546"/>
                <a:ext cx="100811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467544" y="2533546"/>
                <a:ext cx="0" cy="1302227"/>
              </a:xfrm>
              <a:prstGeom prst="line">
                <a:avLst/>
              </a:prstGeom>
              <a:ln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>
                <a:off x="-324544" y="3861048"/>
                <a:ext cx="100811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2" name="TextBox 121"/>
            <p:cNvSpPr txBox="1"/>
            <p:nvPr/>
          </p:nvSpPr>
          <p:spPr>
            <a:xfrm>
              <a:off x="593721" y="2671726"/>
              <a:ext cx="432048" cy="1107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中断</a:t>
              </a:r>
              <a:endPara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响应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79004" y="2564903"/>
              <a:ext cx="432048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中断隐指令</a:t>
              </a: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1945601" y="3991129"/>
            <a:ext cx="445427" cy="1656285"/>
            <a:chOff x="593721" y="2533546"/>
            <a:chExt cx="593903" cy="1311053"/>
          </a:xfrm>
        </p:grpSpPr>
        <p:grpSp>
          <p:nvGrpSpPr>
            <p:cNvPr id="130" name="组合 129"/>
            <p:cNvGrpSpPr/>
            <p:nvPr/>
          </p:nvGrpSpPr>
          <p:grpSpPr>
            <a:xfrm>
              <a:off x="683568" y="2533546"/>
              <a:ext cx="504056" cy="1311053"/>
              <a:chOff x="-324544" y="2533546"/>
              <a:chExt cx="1008112" cy="1311053"/>
            </a:xfrm>
          </p:grpSpPr>
          <p:cxnSp>
            <p:nvCxnSpPr>
              <p:cNvPr id="132" name="直接连接符 131"/>
              <p:cNvCxnSpPr/>
              <p:nvPr/>
            </p:nvCxnSpPr>
            <p:spPr>
              <a:xfrm>
                <a:off x="-324544" y="2533546"/>
                <a:ext cx="100811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/>
              <p:cNvCxnSpPr/>
              <p:nvPr/>
            </p:nvCxnSpPr>
            <p:spPr>
              <a:xfrm>
                <a:off x="467544" y="2533546"/>
                <a:ext cx="0" cy="1302226"/>
              </a:xfrm>
              <a:prstGeom prst="line">
                <a:avLst/>
              </a:prstGeom>
              <a:ln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>
              <a:xfrm>
                <a:off x="-324544" y="3844599"/>
                <a:ext cx="100811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1" name="TextBox 130"/>
            <p:cNvSpPr txBox="1"/>
            <p:nvPr/>
          </p:nvSpPr>
          <p:spPr>
            <a:xfrm>
              <a:off x="593721" y="2733201"/>
              <a:ext cx="432048" cy="950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中断</a:t>
              </a:r>
              <a:endPara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服务程序</a:t>
              </a:r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5000701" y="2804797"/>
            <a:ext cx="445427" cy="995627"/>
            <a:chOff x="593721" y="2533546"/>
            <a:chExt cx="593903" cy="1327502"/>
          </a:xfrm>
        </p:grpSpPr>
        <p:grpSp>
          <p:nvGrpSpPr>
            <p:cNvPr id="141" name="组合 140"/>
            <p:cNvGrpSpPr/>
            <p:nvPr/>
          </p:nvGrpSpPr>
          <p:grpSpPr>
            <a:xfrm>
              <a:off x="683568" y="2533546"/>
              <a:ext cx="504056" cy="1327502"/>
              <a:chOff x="-324544" y="2533546"/>
              <a:chExt cx="1008112" cy="1327502"/>
            </a:xfrm>
          </p:grpSpPr>
          <p:cxnSp>
            <p:nvCxnSpPr>
              <p:cNvPr id="143" name="直接连接符 142"/>
              <p:cNvCxnSpPr/>
              <p:nvPr/>
            </p:nvCxnSpPr>
            <p:spPr>
              <a:xfrm>
                <a:off x="-324544" y="2533546"/>
                <a:ext cx="100811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/>
              <p:cNvCxnSpPr/>
              <p:nvPr/>
            </p:nvCxnSpPr>
            <p:spPr>
              <a:xfrm>
                <a:off x="467544" y="2533546"/>
                <a:ext cx="0" cy="1302227"/>
              </a:xfrm>
              <a:prstGeom prst="line">
                <a:avLst/>
              </a:prstGeom>
              <a:ln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/>
              <p:cNvCxnSpPr/>
              <p:nvPr/>
            </p:nvCxnSpPr>
            <p:spPr>
              <a:xfrm>
                <a:off x="-324544" y="3861048"/>
                <a:ext cx="100811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2" name="TextBox 141"/>
            <p:cNvSpPr txBox="1"/>
            <p:nvPr/>
          </p:nvSpPr>
          <p:spPr>
            <a:xfrm>
              <a:off x="593721" y="2671726"/>
              <a:ext cx="432048" cy="1107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中断</a:t>
              </a:r>
              <a:endPara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响应</a:t>
              </a:r>
            </a:p>
          </p:txBody>
        </p:sp>
      </p:grpSp>
      <p:grpSp>
        <p:nvGrpSpPr>
          <p:cNvPr id="146" name="组合 145"/>
          <p:cNvGrpSpPr/>
          <p:nvPr/>
        </p:nvGrpSpPr>
        <p:grpSpPr>
          <a:xfrm>
            <a:off x="5000701" y="3991129"/>
            <a:ext cx="445427" cy="1656285"/>
            <a:chOff x="593721" y="2533546"/>
            <a:chExt cx="593903" cy="1311053"/>
          </a:xfrm>
        </p:grpSpPr>
        <p:grpSp>
          <p:nvGrpSpPr>
            <p:cNvPr id="147" name="组合 146"/>
            <p:cNvGrpSpPr/>
            <p:nvPr/>
          </p:nvGrpSpPr>
          <p:grpSpPr>
            <a:xfrm>
              <a:off x="683568" y="2533546"/>
              <a:ext cx="504056" cy="1311053"/>
              <a:chOff x="-324544" y="2533546"/>
              <a:chExt cx="1008112" cy="1311053"/>
            </a:xfrm>
          </p:grpSpPr>
          <p:cxnSp>
            <p:nvCxnSpPr>
              <p:cNvPr id="149" name="直接连接符 148"/>
              <p:cNvCxnSpPr/>
              <p:nvPr/>
            </p:nvCxnSpPr>
            <p:spPr>
              <a:xfrm>
                <a:off x="-324544" y="2533546"/>
                <a:ext cx="100811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>
                <a:off x="467544" y="2533546"/>
                <a:ext cx="0" cy="1302227"/>
              </a:xfrm>
              <a:prstGeom prst="line">
                <a:avLst/>
              </a:prstGeom>
              <a:ln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>
                <a:off x="-324544" y="3844599"/>
                <a:ext cx="100811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8" name="TextBox 147"/>
            <p:cNvSpPr txBox="1"/>
            <p:nvPr/>
          </p:nvSpPr>
          <p:spPr>
            <a:xfrm>
              <a:off x="593721" y="2733201"/>
              <a:ext cx="432048" cy="950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中断</a:t>
              </a:r>
              <a:endPara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服务程序</a:t>
              </a:r>
            </a:p>
          </p:txBody>
        </p:sp>
      </p:grpSp>
      <p:cxnSp>
        <p:nvCxnSpPr>
          <p:cNvPr id="70" name="直接箭头连接符 69"/>
          <p:cNvCxnSpPr/>
          <p:nvPr/>
        </p:nvCxnSpPr>
        <p:spPr>
          <a:xfrm flipH="1">
            <a:off x="3180250" y="3781468"/>
            <a:ext cx="1134" cy="216024"/>
          </a:xfrm>
          <a:prstGeom prst="straightConnector1">
            <a:avLst/>
          </a:prstGeom>
          <a:solidFill>
            <a:srgbClr val="00B050"/>
          </a:solidFill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 flipH="1">
            <a:off x="6258592" y="3781468"/>
            <a:ext cx="1134" cy="216024"/>
          </a:xfrm>
          <a:prstGeom prst="straightConnector1">
            <a:avLst/>
          </a:prstGeom>
          <a:solidFill>
            <a:srgbClr val="00B050"/>
          </a:solidFill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2455597" y="3476386"/>
            <a:ext cx="1445891" cy="298614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prstClr val="black"/>
                </a:solidFill>
                <a:latin typeface="微软雅黑"/>
                <a:ea typeface="微软雅黑"/>
              </a:rPr>
              <a:t>中断识别</a:t>
            </a:r>
            <a:r>
              <a:rPr lang="zh-CN" altLang="en-US" sz="1050">
                <a:solidFill>
                  <a:prstClr val="black"/>
                </a:solidFill>
                <a:latin typeface="微软雅黑"/>
                <a:ea typeface="微软雅黑"/>
              </a:rPr>
              <a:t>，地址</a:t>
            </a:r>
            <a:r>
              <a:rPr lang="en-US" altLang="zh-CN" sz="1050">
                <a:solidFill>
                  <a:prstClr val="black"/>
                </a:solidFill>
                <a:latin typeface="微软雅黑"/>
                <a:ea typeface="微软雅黑"/>
                <a:sym typeface="Wingdings" panose="05000000000000000000" pitchFamily="2" charset="2"/>
              </a:rPr>
              <a:t>→PC</a:t>
            </a:r>
            <a:endParaRPr lang="zh-CN" altLang="en-US" sz="105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5526056" y="3476386"/>
            <a:ext cx="1445891" cy="298614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prstClr val="black"/>
                </a:solidFill>
                <a:latin typeface="微软雅黑"/>
                <a:ea typeface="微软雅黑"/>
              </a:rPr>
              <a:t>中断识别</a:t>
            </a:r>
            <a:r>
              <a:rPr lang="zh-CN" altLang="en-US" sz="1050">
                <a:solidFill>
                  <a:prstClr val="black"/>
                </a:solidFill>
                <a:latin typeface="微软雅黑"/>
                <a:ea typeface="微软雅黑"/>
              </a:rPr>
              <a:t>，地址</a:t>
            </a:r>
            <a:r>
              <a:rPr lang="en-US" altLang="zh-CN" sz="1050">
                <a:solidFill>
                  <a:prstClr val="black"/>
                </a:solidFill>
                <a:latin typeface="微软雅黑"/>
                <a:ea typeface="微软雅黑"/>
                <a:sym typeface="Wingdings" panose="05000000000000000000" pitchFamily="2" charset="2"/>
              </a:rPr>
              <a:t>→PC</a:t>
            </a:r>
            <a:endParaRPr lang="zh-CN" altLang="en-US" sz="105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455087" y="5007428"/>
            <a:ext cx="1445891" cy="298614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b="1">
                <a:solidFill>
                  <a:srgbClr val="FF0000"/>
                </a:solidFill>
                <a:latin typeface="微软雅黑"/>
                <a:ea typeface="微软雅黑"/>
              </a:rPr>
              <a:t>开中断</a:t>
            </a:r>
            <a:endParaRPr lang="zh-CN" altLang="en-US" sz="105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AFC8D4-DF89-4967-883B-19366AACF036}"/>
              </a:ext>
            </a:extLst>
          </p:cNvPr>
          <p:cNvSpPr/>
          <p:nvPr/>
        </p:nvSpPr>
        <p:spPr>
          <a:xfrm>
            <a:off x="179512" y="24424"/>
            <a:ext cx="24160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4.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中断服务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F6513B4D-4183-4931-8957-7609D020B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52" y="5949280"/>
            <a:ext cx="1752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单级中断</a:t>
            </a:r>
          </a:p>
        </p:txBody>
      </p:sp>
      <p:sp>
        <p:nvSpPr>
          <p:cNvPr id="74" name="Rectangle 4">
            <a:extLst>
              <a:ext uri="{FF2B5EF4-FFF2-40B4-BE49-F238E27FC236}">
                <a16:creationId xmlns:a16="http://schemas.microsoft.com/office/drawing/2014/main" id="{902EEB27-AACF-4E82-9997-1640A65E8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120" y="5949280"/>
            <a:ext cx="1828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多级中断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0569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2924"/>
    </mc:Choice>
    <mc:Fallback xmlns="">
      <p:transition spd="slow" advTm="5129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6" grpId="0" animBg="1"/>
      <p:bldP spid="53" grpId="0" animBg="1"/>
      <p:bldP spid="54" grpId="0" animBg="1"/>
      <p:bldP spid="55" grpId="0" animBg="1"/>
      <p:bldP spid="58" grpId="0" animBg="1"/>
      <p:bldP spid="80" grpId="0" animBg="1"/>
      <p:bldP spid="81" grpId="0" animBg="1"/>
      <p:bldP spid="83" grpId="0"/>
      <p:bldP spid="84" grpId="0"/>
      <p:bldP spid="92" grpId="0" animBg="1"/>
      <p:bldP spid="93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67" grpId="0" animBg="1"/>
      <p:bldP spid="82" grpId="0" animBg="1"/>
      <p:bldP spid="75" grpId="0" animBg="1"/>
    </p:bldLst>
  </p:timing>
  <p:extLst mod="1">
    <p:ext uri="{3A86A75C-4F4B-4683-9AE1-C65F6400EC91}">
      <p14:laserTraceLst xmlns:p14="http://schemas.microsoft.com/office/powerpoint/2010/main">
        <p14:tracePtLst>
          <p14:tracePt t="24671" x="2603500" y="825500"/>
          <p14:tracePt t="24721" x="2597150" y="812800"/>
          <p14:tracePt t="24774" x="2590800" y="812800"/>
          <p14:tracePt t="24818" x="2571750" y="812800"/>
          <p14:tracePt t="24869" x="2489200" y="831850"/>
          <p14:tracePt t="24916" x="2393950" y="889000"/>
          <p14:tracePt t="24967" x="2311400" y="952500"/>
          <p14:tracePt t="25017" x="2254250" y="1028700"/>
          <p14:tracePt t="25069" x="2171700" y="1136650"/>
          <p14:tracePt t="25117" x="2146300" y="1181100"/>
          <p14:tracePt t="25169" x="2114550" y="1333500"/>
          <p14:tracePt t="25218" x="2108200" y="1409700"/>
          <p14:tracePt t="25271" x="2108200" y="1612900"/>
          <p14:tracePt t="25318" x="2101850" y="1771650"/>
          <p14:tracePt t="25371" x="2108200" y="1905000"/>
          <p14:tracePt t="25420" x="2127250" y="1949450"/>
          <p14:tracePt t="25471" x="2159000" y="1993900"/>
          <p14:tracePt t="25521" x="2228850" y="2089150"/>
          <p14:tracePt t="25572" x="2279650" y="2127250"/>
          <p14:tracePt t="25617" x="2387600" y="2108200"/>
          <p14:tracePt t="25668" x="2508250" y="2076450"/>
          <p14:tracePt t="25718" x="2546350" y="2044700"/>
          <p14:tracePt t="25775" x="2565400" y="2000250"/>
          <p14:tracePt t="25822" x="2597150" y="1917700"/>
          <p14:tracePt t="25870" x="2603500" y="1892300"/>
          <p14:tracePt t="25918" x="2603500" y="1885950"/>
          <p14:tracePt t="25967" x="2603500" y="1841500"/>
          <p14:tracePt t="26068" x="2603500" y="1847850"/>
          <p14:tracePt t="26068" x="0" y="0"/>
        </p14:tracePtLst>
        <p14:tracePtLst>
          <p14:tracePt t="28858" x="4076700" y="927100"/>
          <p14:tracePt t="29057" x="4210050" y="939800"/>
          <p14:tracePt t="29104" x="4495800" y="946150"/>
          <p14:tracePt t="29156" x="4635500" y="895350"/>
          <p14:tracePt t="29205" x="4679950" y="825500"/>
          <p14:tracePt t="29258" x="4692650" y="755650"/>
          <p14:tracePt t="29306" x="4705350" y="673100"/>
          <p14:tracePt t="29356" x="4705350" y="647700"/>
          <p14:tracePt t="29404" x="4660900" y="571500"/>
          <p14:tracePt t="29455" x="4622800" y="539750"/>
          <p14:tracePt t="29503" x="4578350" y="520700"/>
          <p14:tracePt t="29555" x="4502150" y="495300"/>
          <p14:tracePt t="29605" x="4318000" y="488950"/>
          <p14:tracePt t="29656" x="4165600" y="488950"/>
          <p14:tracePt t="29706" x="4127500" y="488950"/>
          <p14:tracePt t="29758" x="4095750" y="508000"/>
          <p14:tracePt t="29807" x="4044950" y="546100"/>
          <p14:tracePt t="29862" x="4013200" y="584200"/>
          <p14:tracePt t="29910" x="3994150" y="609600"/>
          <p14:tracePt t="29962" x="3975100" y="641350"/>
          <p14:tracePt t="30010" x="3975100" y="660400"/>
          <p14:tracePt t="30059" x="3987800" y="723900"/>
          <p14:tracePt t="30108" x="4025900" y="774700"/>
          <p14:tracePt t="30158" x="4057650" y="781050"/>
          <p14:tracePt t="30209" x="4070350" y="781050"/>
          <p14:tracePt t="30261" x="0" y="0"/>
        </p14:tracePtLst>
        <p14:tracePtLst>
          <p14:tracePt t="30603" x="4095750" y="990600"/>
          <p14:tracePt t="30653" x="4057650" y="990600"/>
          <p14:tracePt t="30704" x="3924300" y="1028700"/>
          <p14:tracePt t="30753" x="3892550" y="1047750"/>
          <p14:tracePt t="30809" x="3860800" y="1111250"/>
          <p14:tracePt t="30858" x="3822700" y="1231900"/>
          <p14:tracePt t="30914" x="3797300" y="1314450"/>
          <p14:tracePt t="30964" x="3797300" y="1384300"/>
          <p14:tracePt t="31020" x="3816350" y="1428750"/>
          <p14:tracePt t="31070" x="3841750" y="1460500"/>
          <p14:tracePt t="31119" x="3905250" y="1492250"/>
          <p14:tracePt t="31164" x="3987800" y="1504950"/>
          <p14:tracePt t="31215" x="4121150" y="1517650"/>
          <p14:tracePt t="31265" x="4267200" y="1524000"/>
          <p14:tracePt t="31317" x="4464050" y="1485900"/>
          <p14:tracePt t="31366" x="4546600" y="1447800"/>
          <p14:tracePt t="31421" x="4603750" y="1422400"/>
          <p14:tracePt t="31471" x="4622800" y="1390650"/>
          <p14:tracePt t="31520" x="4641850" y="1352550"/>
          <p14:tracePt t="31567" x="4648200" y="1295400"/>
          <p14:tracePt t="31621" x="4648200" y="1257300"/>
          <p14:tracePt t="31668" x="4635500" y="1238250"/>
          <p14:tracePt t="31669" x="4635500" y="1231900"/>
          <p14:tracePt t="31726" x="4603750" y="1206500"/>
          <p14:tracePt t="31774" x="4559300" y="1181100"/>
          <p14:tracePt t="31824" x="4508500" y="1162050"/>
          <p14:tracePt t="31872" x="4413250" y="1149350"/>
          <p14:tracePt t="31923" x="4279900" y="1149350"/>
          <p14:tracePt t="31970" x="4178300" y="1149350"/>
          <p14:tracePt t="32020" x="4070350" y="1168400"/>
          <p14:tracePt t="32022" x="4057650" y="1168400"/>
          <p14:tracePt t="32070" x="4000500" y="1174750"/>
          <p14:tracePt t="32119" x="3975100" y="1206500"/>
          <p14:tracePt t="32166" x="3917950" y="1238250"/>
          <p14:tracePt t="32221" x="3905250" y="1257300"/>
          <p14:tracePt t="32269" x="3892550" y="1295400"/>
          <p14:tracePt t="32325" x="3892550" y="1314450"/>
          <p14:tracePt t="32431" x="0" y="0"/>
        </p14:tracePtLst>
        <p14:tracePtLst>
          <p14:tracePt t="34592" x="4292600" y="1739900"/>
          <p14:tracePt t="34643" x="4267200" y="1733550"/>
          <p14:tracePt t="34694" x="4191000" y="1733550"/>
          <p14:tracePt t="34696" x="4171950" y="1733550"/>
          <p14:tracePt t="34743" x="4064000" y="1727200"/>
          <p14:tracePt t="34744" x="4044950" y="1727200"/>
          <p14:tracePt t="34796" x="3987800" y="1727200"/>
          <p14:tracePt t="34842" x="3975100" y="1727200"/>
          <p14:tracePt t="34895" x="3949700" y="1727200"/>
          <p14:tracePt t="34941" x="3917950" y="1727200"/>
          <p14:tracePt t="34992" x="3898900" y="1733550"/>
          <p14:tracePt t="35044" x="3867150" y="1746250"/>
          <p14:tracePt t="35099" x="3829050" y="1765300"/>
          <p14:tracePt t="35149" x="3803650" y="1778000"/>
          <p14:tracePt t="35202" x="3778250" y="1790700"/>
          <p14:tracePt t="35250" x="3759200" y="1809750"/>
          <p14:tracePt t="35253" x="3752850" y="1809750"/>
          <p14:tracePt t="35301" x="3727450" y="1835150"/>
          <p14:tracePt t="35351" x="3695700" y="1879600"/>
          <p14:tracePt t="35401" x="3676650" y="1943100"/>
          <p14:tracePt t="35451" x="3663950" y="2000250"/>
          <p14:tracePt t="35500" x="3657600" y="2025650"/>
          <p14:tracePt t="35502" x="3657600" y="2032000"/>
          <p14:tracePt t="35552" x="3657600" y="2057400"/>
          <p14:tracePt t="35602" x="3663950" y="2101850"/>
          <p14:tracePt t="35653" x="3670300" y="2120900"/>
          <p14:tracePt t="35700" x="3683000" y="2146300"/>
          <p14:tracePt t="35754" x="3708400" y="2184400"/>
          <p14:tracePt t="35756" x="3714750" y="2184400"/>
          <p14:tracePt t="35808" x="3778250" y="2216150"/>
          <p14:tracePt t="35858" x="3829050" y="2228850"/>
          <p14:tracePt t="35860" x="3848100" y="2235200"/>
          <p14:tracePt t="35910" x="3937000" y="2254250"/>
          <p14:tracePt t="35962" x="4051300" y="2260600"/>
          <p14:tracePt t="36012" x="4146550" y="2260600"/>
          <p14:tracePt t="36065" x="4298950" y="2273300"/>
          <p14:tracePt t="36116" x="4413250" y="2273300"/>
          <p14:tracePt t="36168" x="4521200" y="2254250"/>
          <p14:tracePt t="36220" x="4603750" y="2235200"/>
          <p14:tracePt t="36273" x="4711700" y="2209800"/>
          <p14:tracePt t="36321" x="4762500" y="2184400"/>
          <p14:tracePt t="36371" x="4781550" y="2171700"/>
          <p14:tracePt t="36418" x="4819650" y="2114550"/>
          <p14:tracePt t="36472" x="4845050" y="2070100"/>
          <p14:tracePt t="36520" x="4857750" y="2038350"/>
          <p14:tracePt t="36572" x="4864100" y="1974850"/>
          <p14:tracePt t="36622" x="4864100" y="1930400"/>
          <p14:tracePt t="36674" x="4864100" y="1892300"/>
          <p14:tracePt t="36723" x="4845050" y="1860550"/>
          <p14:tracePt t="36774" x="4813300" y="1822450"/>
          <p14:tracePt t="36822" x="4775200" y="1790700"/>
          <p14:tracePt t="36871" x="4724400" y="1752600"/>
          <p14:tracePt t="36919" x="4654550" y="1720850"/>
          <p14:tracePt t="36972" x="4540250" y="1689100"/>
          <p14:tracePt t="37020" x="4457700" y="1676400"/>
          <p14:tracePt t="37071" x="4381500" y="1663700"/>
          <p14:tracePt t="37119" x="4337050" y="1663700"/>
          <p14:tracePt t="37168" x="4241800" y="1663700"/>
          <p14:tracePt t="37218" x="4159250" y="1663700"/>
          <p14:tracePt t="37223" x="4146550" y="1663700"/>
          <p14:tracePt t="37270" x="4095750" y="1676400"/>
          <p14:tracePt t="37322" x="4013200" y="1701800"/>
          <p14:tracePt t="37369" x="3898900" y="1739900"/>
          <p14:tracePt t="37422" x="3829050" y="1765300"/>
          <p14:tracePt t="37472" x="3778250" y="1797050"/>
          <p14:tracePt t="37524" x="3740150" y="1835150"/>
          <p14:tracePt t="37573" x="3714750" y="1866900"/>
          <p14:tracePt t="37627" x="3670300" y="1943100"/>
          <p14:tracePt t="37675" x="3657600" y="1981200"/>
          <p14:tracePt t="37730" x="3651250" y="2025650"/>
          <p14:tracePt t="37779" x="3651250" y="2063750"/>
          <p14:tracePt t="37832" x="3657600" y="2089150"/>
          <p14:tracePt t="37880" x="3670300" y="2120900"/>
          <p14:tracePt t="37882" x="3676650" y="2120900"/>
          <p14:tracePt t="37933" x="3695700" y="2152650"/>
          <p14:tracePt t="37981" x="3727450" y="2184400"/>
          <p14:tracePt t="38032" x="3771900" y="2216150"/>
          <p14:tracePt t="38081" x="3860800" y="2260600"/>
          <p14:tracePt t="38132" x="3981450" y="2286000"/>
          <p14:tracePt t="38179" x="4013200" y="2298700"/>
          <p14:tracePt t="38231" x="4051300" y="2305050"/>
          <p14:tracePt t="38280" x="4127500" y="2311400"/>
          <p14:tracePt t="38333" x="4222750" y="2324100"/>
          <p14:tracePt t="38333" x="4254500" y="2330450"/>
          <p14:tracePt t="38382" x="4406900" y="2330450"/>
          <p14:tracePt t="38431" x="4495800" y="2330450"/>
          <p14:tracePt t="38480" x="4603750" y="2311400"/>
          <p14:tracePt t="38532" x="4692650" y="2286000"/>
          <p14:tracePt t="38580" x="4730750" y="2254250"/>
          <p14:tracePt t="38634" x="4749800" y="2203450"/>
          <p14:tracePt t="38682" x="4775200" y="2146300"/>
          <p14:tracePt t="38736" x="4787900" y="2076450"/>
          <p14:tracePt t="38783" x="4787900" y="2051050"/>
          <p14:tracePt t="38834" x="4781550" y="1968500"/>
          <p14:tracePt t="38883" x="4768850" y="1924050"/>
          <p14:tracePt t="38933" x="4737100" y="1898650"/>
          <p14:tracePt t="38981" x="4673600" y="1866900"/>
          <p14:tracePt t="39035" x="4565650" y="1828800"/>
          <p14:tracePt t="39086" x="4489450" y="1809750"/>
          <p14:tracePt t="39137" x="4438650" y="1797050"/>
          <p14:tracePt t="39184" x="4349750" y="1790700"/>
          <p14:tracePt t="39235" x="4248150" y="1778000"/>
          <p14:tracePt t="39236" x="4241800" y="1778000"/>
          <p14:tracePt t="39285" x="4210050" y="1778000"/>
          <p14:tracePt t="39337" x="4171950" y="1778000"/>
          <p14:tracePt t="39383" x="4089400" y="1790700"/>
          <p14:tracePt t="39433" x="4013200" y="1809750"/>
          <p14:tracePt t="39479" x="3911600" y="1854200"/>
          <p14:tracePt t="39534" x="3803650" y="1892300"/>
          <p14:tracePt t="39581" x="3784600" y="1905000"/>
          <p14:tracePt t="39635" x="3771900" y="1917700"/>
          <p14:tracePt t="39682" x="3759200" y="1943100"/>
          <p14:tracePt t="39736" x="3752850" y="1993900"/>
          <p14:tracePt t="39783" x="3746500" y="2025650"/>
          <p14:tracePt t="39834" x="3746500" y="2044700"/>
          <p14:tracePt t="39836" x="3746500" y="2051050"/>
          <p14:tracePt t="39883" x="3746500" y="2070100"/>
          <p14:tracePt t="39933" x="3746500" y="2082800"/>
          <p14:tracePt t="39934" x="3746500" y="2089150"/>
          <p14:tracePt t="39981" x="3752850" y="2108200"/>
          <p14:tracePt t="40036" x="3752850" y="2114550"/>
          <p14:tracePt t="40592" x="0" y="0"/>
        </p14:tracePtLst>
        <p14:tracePtLst>
          <p14:tracePt t="72532" x="4470400" y="3028950"/>
          <p14:tracePt t="72534" x="4464050" y="3028950"/>
          <p14:tracePt t="72580" x="4413250" y="3041650"/>
          <p14:tracePt t="72633" x="4343400" y="3105150"/>
          <p14:tracePt t="72681" x="4318000" y="3130550"/>
          <p14:tracePt t="72732" x="4286250" y="3206750"/>
          <p14:tracePt t="72779" x="4279900" y="3251200"/>
          <p14:tracePt t="72832" x="4298950" y="3302000"/>
          <p14:tracePt t="72877" x="4318000" y="3346450"/>
          <p14:tracePt t="72881" x="4324350" y="3352800"/>
          <p14:tracePt t="72932" x="4343400" y="3359150"/>
          <p14:tracePt t="72987" x="4394200" y="3390900"/>
          <p14:tracePt t="73038" x="4457700" y="3403600"/>
          <p14:tracePt t="73090" x="4540250" y="3409950"/>
          <p14:tracePt t="73139" x="4616450" y="3378200"/>
          <p14:tracePt t="73194" x="4705350" y="3295650"/>
          <p14:tracePt t="73247" x="4743450" y="3257550"/>
          <p14:tracePt t="73300" x="4743450" y="3251200"/>
          <p14:tracePt t="73350" x="4743450" y="3187700"/>
          <p14:tracePt t="73404" x="4673600" y="3067050"/>
          <p14:tracePt t="73461" x="4616450" y="3016250"/>
          <p14:tracePt t="73513" x="4603750" y="3016250"/>
          <p14:tracePt t="73560" x="4508500" y="3016250"/>
          <p14:tracePt t="73614" x="4356100" y="3035300"/>
          <p14:tracePt t="73668" x="4324350" y="3048000"/>
          <p14:tracePt t="73723" x="4318000" y="3054350"/>
          <p14:tracePt t="73773" x="4286250" y="3105150"/>
          <p14:tracePt t="73825" x="4273550" y="3130550"/>
          <p14:tracePt t="73874" x="4267200" y="3162300"/>
          <p14:tracePt t="73927" x="4267200" y="3206750"/>
          <p14:tracePt t="73930" x="4267200" y="3213100"/>
          <p14:tracePt t="73977" x="4267200" y="3232150"/>
          <p14:tracePt t="74028" x="4292600" y="3282950"/>
          <p14:tracePt t="74077" x="4324350" y="3302000"/>
          <p14:tracePt t="74128" x="4362450" y="3321050"/>
          <p14:tracePt t="74179" x="4470400" y="3352800"/>
          <p14:tracePt t="74240" x="4673600" y="3365500"/>
          <p14:tracePt t="74292" x="4756150" y="3346450"/>
          <p14:tracePt t="74353" x="4826000" y="3289300"/>
          <p14:tracePt t="74354" x="4832350" y="3276600"/>
          <p14:tracePt t="74403" x="4857750" y="3244850"/>
          <p14:tracePt t="74451" x="4870450" y="3206750"/>
          <p14:tracePt t="74499" x="4876800" y="3162300"/>
          <p14:tracePt t="74548" x="4876800" y="3155950"/>
          <p14:tracePt t="74596" x="4832350" y="3105150"/>
          <p14:tracePt t="74649" x="4743450" y="3054350"/>
          <p14:tracePt t="74696" x="4673600" y="3048000"/>
          <p14:tracePt t="74750" x="4591050" y="3054350"/>
          <p14:tracePt t="74799" x="4527550" y="3073400"/>
          <p14:tracePt t="74850" x="4413250" y="3098800"/>
          <p14:tracePt t="74898" x="4381500" y="3117850"/>
          <p14:tracePt t="75000" x="4375150" y="3136900"/>
          <p14:tracePt t="75047" x="4349750" y="3181350"/>
          <p14:tracePt t="75097" x="4337050" y="3200400"/>
          <p14:tracePt t="75145" x="4330700" y="3213100"/>
          <p14:tracePt t="75200" x="4330700" y="3276600"/>
          <p14:tracePt t="75248" x="4330700" y="3289300"/>
          <p14:tracePt t="75345" x="4330700" y="3302000"/>
          <p14:tracePt t="75448" x="4368800" y="3327400"/>
          <p14:tracePt t="75495" x="4451350" y="3365500"/>
          <p14:tracePt t="75546" x="4495800" y="3371850"/>
          <p14:tracePt t="75600" x="4552950" y="3359150"/>
          <p14:tracePt t="75657" x="4578350" y="3352800"/>
          <p14:tracePt t="75709" x="4591050" y="3352800"/>
          <p14:tracePt t="75912" x="0" y="0"/>
        </p14:tracePtLst>
        <p14:tracePtLst>
          <p14:tracePt t="96437" x="4527550" y="3530600"/>
          <p14:tracePt t="96627" x="4521200" y="3530600"/>
          <p14:tracePt t="96676" x="4476750" y="3530600"/>
          <p14:tracePt t="96677" x="4470400" y="3530600"/>
          <p14:tracePt t="96728" x="4413250" y="3517900"/>
          <p14:tracePt t="96775" x="4356100" y="3511550"/>
          <p14:tracePt t="96831" x="4248150" y="3498850"/>
          <p14:tracePt t="96879" x="4197350" y="3498850"/>
          <p14:tracePt t="96932" x="4127500" y="3498850"/>
          <p14:tracePt t="96935" x="4121150" y="3498850"/>
          <p14:tracePt t="96983" x="3975100" y="3498850"/>
          <p14:tracePt t="97037" x="3848100" y="3498850"/>
          <p14:tracePt t="97087" x="3841750" y="3498850"/>
          <p14:tracePt t="97140" x="3835400" y="3498850"/>
          <p14:tracePt t="97186" x="3829050" y="3498850"/>
          <p14:tracePt t="97240" x="3829050" y="3517900"/>
          <p14:tracePt t="97289" x="3829050" y="3549650"/>
          <p14:tracePt t="97341" x="3822700" y="3562350"/>
          <p14:tracePt t="97389" x="3822700" y="3575050"/>
          <p14:tracePt t="97441" x="3816350" y="3581400"/>
          <p14:tracePt t="97490" x="3810000" y="3594100"/>
          <p14:tracePt t="97542" x="3810000" y="3600450"/>
          <p14:tracePt t="97793" x="3810000" y="3613150"/>
          <p14:tracePt t="97845" x="3810000" y="3632200"/>
          <p14:tracePt t="97893" x="3810000" y="3644900"/>
          <p14:tracePt t="97944" x="3822700" y="3663950"/>
          <p14:tracePt t="97996" x="3835400" y="3683000"/>
          <p14:tracePt t="98054" x="3854450" y="3702050"/>
          <p14:tracePt t="98104" x="3860800" y="3702050"/>
          <p14:tracePt t="98160" x="3867150" y="3708400"/>
          <p14:tracePt t="98210" x="3873500" y="3708400"/>
          <p14:tracePt t="98270" x="3886200" y="3714750"/>
          <p14:tracePt t="98315" x="3898900" y="3721100"/>
          <p14:tracePt t="98367" x="3917950" y="3727450"/>
          <p14:tracePt t="98417" x="3943350" y="3733800"/>
          <p14:tracePt t="98468" x="3981450" y="3740150"/>
          <p14:tracePt t="98470" x="3987800" y="3746500"/>
          <p14:tracePt t="98518" x="4032250" y="3752850"/>
          <p14:tracePt t="98570" x="4108450" y="3759200"/>
          <p14:tracePt t="98618" x="4140200" y="3765550"/>
          <p14:tracePt t="98671" x="4203700" y="3778250"/>
          <p14:tracePt t="98720" x="4267200" y="3790950"/>
          <p14:tracePt t="98772" x="4298950" y="3790950"/>
          <p14:tracePt t="98823" x="4349750" y="3797300"/>
          <p14:tracePt t="98874" x="4375150" y="3803650"/>
          <p14:tracePt t="98924" x="4381500" y="3803650"/>
          <p14:tracePt t="99487" x="4394200" y="3810000"/>
          <p14:tracePt t="99536" x="4400550" y="3822700"/>
          <p14:tracePt t="99747" x="4406900" y="3822700"/>
          <p14:tracePt t="100512" x="4406900" y="3829050"/>
          <p14:tracePt t="100560" x="4413250" y="3829050"/>
          <p14:tracePt t="100615" x="4419600" y="3835400"/>
          <p14:tracePt t="101298" x="4432300" y="3835400"/>
          <p14:tracePt t="101348" x="4457700" y="3835400"/>
          <p14:tracePt t="101397" x="4521200" y="3848100"/>
          <p14:tracePt t="101449" x="4572000" y="3848100"/>
          <p14:tracePt t="101500" x="4603750" y="3848100"/>
          <p14:tracePt t="101552" x="4616450" y="3835400"/>
          <p14:tracePt t="101603" x="4654550" y="3816350"/>
          <p14:tracePt t="101654" x="4667250" y="3803650"/>
          <p14:tracePt t="101706" x="4667250" y="3771900"/>
          <p14:tracePt t="101760" x="4660900" y="3727450"/>
          <p14:tracePt t="101808" x="4641850" y="3702050"/>
          <p14:tracePt t="101810" x="4641850" y="3695700"/>
          <p14:tracePt t="101862" x="4616450" y="3676650"/>
          <p14:tracePt t="101910" x="4603750" y="3663950"/>
          <p14:tracePt t="101962" x="4584700" y="3651250"/>
          <p14:tracePt t="102009" x="4572000" y="3638550"/>
          <p14:tracePt t="102059" x="4552950" y="3632200"/>
          <p14:tracePt t="102060" x="4546600" y="3632200"/>
          <p14:tracePt t="102109" x="4514850" y="3619500"/>
          <p14:tracePt t="102162" x="4476750" y="3613150"/>
          <p14:tracePt t="102215" x="4445000" y="3613150"/>
          <p14:tracePt t="102270" x="4413250" y="3613150"/>
          <p14:tracePt t="102323" x="4387850" y="3613150"/>
          <p14:tracePt t="102376" x="4349750" y="3632200"/>
          <p14:tracePt t="102426" x="4343400" y="3638550"/>
          <p14:tracePt t="102478" x="4330700" y="3651250"/>
          <p14:tracePt t="102535" x="4311650" y="3695700"/>
          <p14:tracePt t="102596" x="4311650" y="3702050"/>
          <p14:tracePt t="102644" x="4311650" y="3727450"/>
          <p14:tracePt t="102649" x="4311650" y="3733800"/>
          <p14:tracePt t="102701" x="4311650" y="3746500"/>
          <p14:tracePt t="102753" x="4311650" y="3765550"/>
          <p14:tracePt t="102804" x="4311650" y="3778250"/>
          <p14:tracePt t="102855" x="4318000" y="3790950"/>
          <p14:tracePt t="102903" x="4337050" y="3810000"/>
          <p14:tracePt t="102952" x="4381500" y="3854450"/>
          <p14:tracePt t="103001" x="4413250" y="3867150"/>
          <p14:tracePt t="103057" x="4438650" y="3879850"/>
          <p14:tracePt t="103107" x="4508500" y="3879850"/>
          <p14:tracePt t="103160" x="4584700" y="3879850"/>
          <p14:tracePt t="103213" x="4673600" y="3867150"/>
          <p14:tracePt t="103263" x="4705350" y="3848100"/>
          <p14:tracePt t="103313" x="4724400" y="3816350"/>
          <p14:tracePt t="103367" x="4724400" y="3803650"/>
          <p14:tracePt t="103469" x="4724400" y="3771900"/>
          <p14:tracePt t="103519" x="4718050" y="3746500"/>
          <p14:tracePt t="103570" x="4705350" y="3721100"/>
          <p14:tracePt t="103619" x="4692650" y="3689350"/>
          <p14:tracePt t="103671" x="4673600" y="3670300"/>
          <p14:tracePt t="103722" x="4667250" y="3657600"/>
          <p14:tracePt t="103777" x="4648200" y="3651250"/>
          <p14:tracePt t="103824" x="4635500" y="3638550"/>
          <p14:tracePt t="103875" x="4616450" y="3632200"/>
          <p14:tracePt t="103924" x="4610100" y="3625850"/>
          <p14:tracePt t="103974" x="4584700" y="3625850"/>
          <p14:tracePt t="104024" x="4572000" y="3619500"/>
          <p14:tracePt t="104074" x="4546600" y="3613150"/>
          <p14:tracePt t="104121" x="4508500" y="3606800"/>
          <p14:tracePt t="104173" x="4483100" y="3606800"/>
          <p14:tracePt t="104227" x="4457700" y="3600450"/>
          <p14:tracePt t="104286" x="4419600" y="3600450"/>
          <p14:tracePt t="104337" x="4387850" y="3600450"/>
          <p14:tracePt t="104389" x="4368800" y="3606800"/>
          <p14:tracePt t="104390" x="4362450" y="3606800"/>
          <p14:tracePt t="104437" x="4349750" y="3619500"/>
          <p14:tracePt t="104488" x="4343400" y="3632200"/>
          <p14:tracePt t="104536" x="4337050" y="3644900"/>
          <p14:tracePt t="104587" x="4330700" y="3651250"/>
          <p14:tracePt t="104841" x="0" y="0"/>
        </p14:tracePtLst>
        <p14:tracePtLst>
          <p14:tracePt t="105608" x="4806950" y="3771900"/>
          <p14:tracePt t="105658" x="4813300" y="3771900"/>
          <p14:tracePt t="105712" x="4838700" y="3771900"/>
          <p14:tracePt t="105758" x="4883150" y="3778250"/>
          <p14:tracePt t="105810" x="4895850" y="3778250"/>
          <p14:tracePt t="105855" x="4908550" y="3778250"/>
          <p14:tracePt t="105907" x="4921250" y="3778250"/>
          <p14:tracePt t="105952" x="4933950" y="3778250"/>
          <p14:tracePt t="106006" x="4978400" y="3778250"/>
          <p14:tracePt t="106054" x="4997450" y="3778250"/>
          <p14:tracePt t="106110" x="5016500" y="3759200"/>
          <p14:tracePt t="106157" x="5035550" y="3740150"/>
          <p14:tracePt t="106211" x="5048250" y="3721100"/>
          <p14:tracePt t="106261" x="5054600" y="3689350"/>
          <p14:tracePt t="106312" x="5054600" y="3663950"/>
          <p14:tracePt t="106362" x="5054600" y="3638550"/>
          <p14:tracePt t="106412" x="5054600" y="3625850"/>
          <p14:tracePt t="106462" x="5035550" y="3606800"/>
          <p14:tracePt t="106514" x="5016500" y="3594100"/>
          <p14:tracePt t="106562" x="4991100" y="3587750"/>
          <p14:tracePt t="106613" x="4895850" y="3587750"/>
          <p14:tracePt t="106661" x="4845050" y="3587750"/>
          <p14:tracePt t="106767" x="4832350" y="3600450"/>
          <p14:tracePt t="106817" x="4832350" y="3606800"/>
          <p14:tracePt t="106867" x="0" y="0"/>
        </p14:tracePtLst>
        <p14:tracePtLst>
          <p14:tracePt t="129561" x="2527300" y="3613150"/>
          <p14:tracePt t="129612" x="2546350" y="3536950"/>
          <p14:tracePt t="129660" x="2552700" y="3448050"/>
          <p14:tracePt t="129708" x="2565400" y="3359150"/>
          <p14:tracePt t="129760" x="2590800" y="3276600"/>
          <p14:tracePt t="129807" x="2609850" y="3213100"/>
          <p14:tracePt t="129858" x="2616200" y="3187700"/>
          <p14:tracePt t="129904" x="2628900" y="3155950"/>
          <p14:tracePt t="129954" x="2635250" y="3143250"/>
          <p14:tracePt t="130003" x="2635250" y="3136900"/>
          <p14:tracePt t="130053" x="2635250" y="3130550"/>
          <p14:tracePt t="130206" x="2603500" y="3219450"/>
          <p14:tracePt t="130256" x="2584450" y="3263900"/>
          <p14:tracePt t="130311" x="2571750" y="3308350"/>
          <p14:tracePt t="130357" x="2565400" y="3340100"/>
          <p14:tracePt t="130410" x="2565400" y="3365500"/>
          <p14:tracePt t="130460" x="2565400" y="3429000"/>
          <p14:tracePt t="130512" x="2565400" y="3454400"/>
          <p14:tracePt t="130561" x="2565400" y="3511550"/>
          <p14:tracePt t="130612" x="2578100" y="3594100"/>
          <p14:tracePt t="130660" x="2584450" y="3625850"/>
          <p14:tracePt t="130715" x="2584450" y="3644900"/>
          <p14:tracePt t="130816" x="2584450" y="3663950"/>
          <p14:tracePt t="130817" x="2590800" y="3670300"/>
          <p14:tracePt t="130866" x="2590800" y="3689350"/>
          <p14:tracePt t="131074" x="0" y="0"/>
        </p14:tracePtLst>
        <p14:tracePtLst>
          <p14:tracePt t="145268" x="704850" y="3263900"/>
          <p14:tracePt t="145369" x="711200" y="3263900"/>
          <p14:tracePt t="145418" x="730250" y="3263900"/>
          <p14:tracePt t="145471" x="787400" y="3263900"/>
          <p14:tracePt t="145524" x="812800" y="3263900"/>
          <p14:tracePt t="145574" x="819150" y="3263900"/>
          <p14:tracePt t="145622" x="844550" y="3263900"/>
          <p14:tracePt t="145674" x="882650" y="3263900"/>
          <p14:tracePt t="145723" x="1060450" y="3276600"/>
          <p14:tracePt t="145780" x="1206500" y="3289300"/>
          <p14:tracePt t="145830" x="1250950" y="3289300"/>
          <p14:tracePt t="145832" x="1257300" y="3289300"/>
          <p14:tracePt t="145881" x="1289050" y="3289300"/>
          <p14:tracePt t="145932" x="1320800" y="3289300"/>
          <p14:tracePt t="145982" x="1358900" y="3289300"/>
          <p14:tracePt t="146032" x="1377950" y="3289300"/>
          <p14:tracePt t="146084" x="1422400" y="3289300"/>
          <p14:tracePt t="146132" x="1435100" y="3289300"/>
          <p14:tracePt t="146190" x="1441450" y="3289300"/>
          <p14:tracePt t="146240" x="1460500" y="3289300"/>
          <p14:tracePt t="146295" x="1473200" y="3289300"/>
          <p14:tracePt t="146341" x="1498600" y="3276600"/>
          <p14:tracePt t="146392" x="1504950" y="3270250"/>
          <p14:tracePt t="146441" x="1511300" y="3270250"/>
          <p14:tracePt t="146490" x="1524000" y="3251200"/>
          <p14:tracePt t="146492" x="1524000" y="3244850"/>
          <p14:tracePt t="146540" x="1536700" y="3225800"/>
          <p14:tracePt t="146592" x="1543050" y="3200400"/>
          <p14:tracePt t="146640" x="1549400" y="3200400"/>
          <p14:tracePt t="146954" x="1549400" y="3181350"/>
          <p14:tracePt t="147003" x="1549400" y="3155950"/>
          <p14:tracePt t="147053" x="1549400" y="3111500"/>
          <p14:tracePt t="147100" x="1530350" y="3073400"/>
          <p14:tracePt t="147155" x="1504950" y="3041650"/>
          <p14:tracePt t="147204" x="1485900" y="3022600"/>
          <p14:tracePt t="147256" x="1466850" y="3016250"/>
          <p14:tracePt t="147308" x="1435100" y="3003550"/>
          <p14:tracePt t="147359" x="1409700" y="2997200"/>
          <p14:tracePt t="147406" x="1377950" y="2984500"/>
          <p14:tracePt t="147459" x="1371600" y="2984500"/>
          <p14:tracePt t="147460" x="1365250" y="2984500"/>
          <p14:tracePt t="147509" x="1358900" y="2978150"/>
          <p14:tracePt t="147559" x="1333500" y="2978150"/>
          <p14:tracePt t="147609" x="1289050" y="2978150"/>
          <p14:tracePt t="147658" x="1225550" y="2965450"/>
          <p14:tracePt t="147706" x="1187450" y="2959100"/>
          <p14:tracePt t="147761" x="1143000" y="2959100"/>
          <p14:tracePt t="147811" x="1060450" y="2959100"/>
          <p14:tracePt t="147864" x="1016000" y="2959100"/>
          <p14:tracePt t="147914" x="984250" y="2965450"/>
          <p14:tracePt t="147964" x="952500" y="2978150"/>
          <p14:tracePt t="148015" x="920750" y="2990850"/>
          <p14:tracePt t="148066" x="901700" y="3003550"/>
          <p14:tracePt t="148115" x="869950" y="3028950"/>
          <p14:tracePt t="148169" x="850900" y="3048000"/>
          <p14:tracePt t="148220" x="850900" y="3060700"/>
          <p14:tracePt t="148273" x="844550" y="3086100"/>
          <p14:tracePt t="148320" x="838200" y="3098800"/>
          <p14:tracePt t="148373" x="838200" y="3117850"/>
          <p14:tracePt t="148421" x="838200" y="3130550"/>
          <p14:tracePt t="148474" x="844550" y="3149600"/>
          <p14:tracePt t="148523" x="850900" y="3162300"/>
          <p14:tracePt t="148575" x="863600" y="3175000"/>
          <p14:tracePt t="148625" x="882650" y="3206750"/>
          <p14:tracePt t="148678" x="895350" y="3213100"/>
          <p14:tracePt t="148727" x="933450" y="3232150"/>
          <p14:tracePt t="148784" x="1016000" y="3244850"/>
          <p14:tracePt t="148830" x="1079500" y="3251200"/>
          <p14:tracePt t="148882" x="1206500" y="3251200"/>
          <p14:tracePt t="148932" x="1289050" y="3251200"/>
          <p14:tracePt t="148984" x="1314450" y="3251200"/>
          <p14:tracePt t="149031" x="1339850" y="3251200"/>
          <p14:tracePt t="149081" x="1352550" y="3251200"/>
          <p14:tracePt t="149127" x="1377950" y="3251200"/>
          <p14:tracePt t="149178" x="1403350" y="3251200"/>
          <p14:tracePt t="149180" x="1409700" y="3251200"/>
          <p14:tracePt t="149483" x="0" y="0"/>
        </p14:tracePtLst>
        <p14:tracePtLst>
          <p14:tracePt t="152487" x="812800" y="3581400"/>
          <p14:tracePt t="152582" x="825500" y="3581400"/>
          <p14:tracePt t="152629" x="889000" y="3581400"/>
          <p14:tracePt t="152677" x="933450" y="3581400"/>
          <p14:tracePt t="152725" x="952500" y="3581400"/>
          <p14:tracePt t="152780" x="984250" y="3581400"/>
          <p14:tracePt t="152828" x="1035050" y="3581400"/>
          <p14:tracePt t="152877" x="1187450" y="3594100"/>
          <p14:tracePt t="152926" x="1314450" y="3600450"/>
          <p14:tracePt t="152977" x="1403350" y="3600450"/>
          <p14:tracePt t="152978" x="1416050" y="3600450"/>
          <p14:tracePt t="153028" x="1473200" y="3600450"/>
          <p14:tracePt t="153082" x="1568450" y="3606800"/>
          <p14:tracePt t="153129" x="1619250" y="3606800"/>
          <p14:tracePt t="153181" x="1676400" y="3606800"/>
          <p14:tracePt t="153233" x="1689100" y="3606800"/>
          <p14:tracePt t="153287" x="1695450" y="3606800"/>
          <p14:tracePt t="153440" x="0" y="0"/>
        </p14:tracePtLst>
        <p14:tracePtLst>
          <p14:tracePt t="154174" x="800100" y="3810000"/>
          <p14:tracePt t="154344" x="857250" y="3816350"/>
          <p14:tracePt t="154396" x="914400" y="3822700"/>
          <p14:tracePt t="154442" x="984250" y="3822700"/>
          <p14:tracePt t="154494" x="1022350" y="3822700"/>
          <p14:tracePt t="154546" x="1060450" y="3822700"/>
          <p14:tracePt t="154597" x="1174750" y="3829050"/>
          <p14:tracePt t="154598" x="1187450" y="3829050"/>
          <p14:tracePt t="154645" x="1295400" y="3835400"/>
          <p14:tracePt t="154647" x="1333500" y="3835400"/>
          <p14:tracePt t="154700" x="1498600" y="3841750"/>
          <p14:tracePt t="154703" x="1504950" y="3841750"/>
          <p14:tracePt t="154753" x="1549400" y="3841750"/>
          <p14:tracePt t="154805" x="1581150" y="3841750"/>
          <p14:tracePt t="154853" x="1619250" y="3841750"/>
          <p14:tracePt t="154905" x="1657350" y="3841750"/>
          <p14:tracePt t="154953" x="1695450" y="3841750"/>
          <p14:tracePt t="155005" x="1701800" y="3841750"/>
          <p14:tracePt t="155156" x="0" y="0"/>
        </p14:tracePtLst>
        <p14:tracePtLst>
          <p14:tracePt t="232985" x="4260850" y="6064250"/>
          <p14:tracePt t="233085" x="4305300" y="6064250"/>
          <p14:tracePt t="233131" x="4508500" y="6070600"/>
          <p14:tracePt t="233180" x="4584700" y="6076950"/>
          <p14:tracePt t="233284" x="4603750" y="6076950"/>
          <p14:tracePt t="233331" x="4699000" y="6076950"/>
          <p14:tracePt t="233383" x="4806950" y="6076950"/>
          <p14:tracePt t="233480" x="4813300" y="6076950"/>
          <p14:tracePt t="233526" x="4826000" y="6076950"/>
          <p14:tracePt t="233579" x="4832350" y="6076950"/>
          <p14:tracePt t="233930" x="0" y="0"/>
        </p14:tracePtLst>
        <p14:tracePtLst>
          <p14:tracePt t="244759" x="3587750" y="6343650"/>
          <p14:tracePt t="244858" x="3594100" y="6343650"/>
          <p14:tracePt t="245216" x="3600450" y="6343650"/>
          <p14:tracePt t="245263" x="3606800" y="6343650"/>
          <p14:tracePt t="245317" x="3625850" y="6343650"/>
          <p14:tracePt t="245572" x="3632200" y="6343650"/>
          <p14:tracePt t="245620" x="3638550" y="6343650"/>
          <p14:tracePt t="245670" x="3644900" y="6343650"/>
          <p14:tracePt t="246326" x="3651250" y="6343650"/>
          <p14:tracePt t="246378" x="3689350" y="6343650"/>
          <p14:tracePt t="246426" x="3765550" y="6343650"/>
          <p14:tracePt t="246479" x="3924300" y="6356350"/>
          <p14:tracePt t="246479" x="3943350" y="6362700"/>
          <p14:tracePt t="246528" x="4006850" y="6362700"/>
          <p14:tracePt t="246580" x="4013200" y="6362700"/>
          <p14:tracePt t="246627" x="4025900" y="6362700"/>
          <p14:tracePt t="246677" x="4057650" y="6362700"/>
          <p14:tracePt t="246725" x="4133850" y="6362700"/>
          <p14:tracePt t="246779" x="4203700" y="6362700"/>
          <p14:tracePt t="246830" x="4229100" y="6362700"/>
          <p14:tracePt t="246882" x="4260850" y="6362700"/>
          <p14:tracePt t="246932" x="4298950" y="6362700"/>
          <p14:tracePt t="246985" x="4349750" y="6362700"/>
          <p14:tracePt t="247034" x="4425950" y="6362700"/>
          <p14:tracePt t="247036" x="4438650" y="6369050"/>
          <p14:tracePt t="247088" x="4489450" y="6369050"/>
          <p14:tracePt t="247136" x="4533900" y="6369050"/>
          <p14:tracePt t="247186" x="4565650" y="6369050"/>
          <p14:tracePt t="247238" x="4597400" y="6375400"/>
          <p14:tracePt t="247290" x="4622800" y="6375400"/>
          <p14:tracePt t="247339" x="4673600" y="6375400"/>
          <p14:tracePt t="247388" x="4737100" y="6375400"/>
          <p14:tracePt t="247390" x="4743450" y="6375400"/>
          <p14:tracePt t="247440" x="4762500" y="6375400"/>
          <p14:tracePt t="247493" x="4768850" y="6375400"/>
          <p14:tracePt t="247538" x="4781550" y="6369050"/>
          <p14:tracePt t="247591" x="4794250" y="6369050"/>
          <p14:tracePt t="247637" x="4813300" y="6362700"/>
          <p14:tracePt t="247688" x="4832350" y="6356350"/>
          <p14:tracePt t="247739" x="4838700" y="6356350"/>
          <p14:tracePt t="248095" x="4813300" y="6356350"/>
          <p14:tracePt t="248141" x="4775200" y="6356350"/>
          <p14:tracePt t="248190" x="4711700" y="6350000"/>
          <p14:tracePt t="248240" x="4610100" y="6350000"/>
          <p14:tracePt t="248293" x="4533900" y="6337300"/>
          <p14:tracePt t="248341" x="4476750" y="6330950"/>
          <p14:tracePt t="248392" x="4432300" y="6330950"/>
          <p14:tracePt t="248443" x="4343400" y="6330950"/>
          <p14:tracePt t="248494" x="4267200" y="6324600"/>
          <p14:tracePt t="248542" x="4229100" y="6324600"/>
          <p14:tracePt t="248592" x="4216400" y="6324600"/>
          <p14:tracePt t="248644" x="4178300" y="6324600"/>
          <p14:tracePt t="248698" x="4121150" y="6324600"/>
          <p14:tracePt t="248747" x="4070350" y="6324600"/>
          <p14:tracePt t="248798" x="4038600" y="6324600"/>
          <p14:tracePt t="248800" x="4032250" y="6324600"/>
          <p14:tracePt t="248849" x="3956050" y="6324600"/>
          <p14:tracePt t="248902" x="3911600" y="6324600"/>
          <p14:tracePt t="248948" x="3886200" y="6324600"/>
          <p14:tracePt t="249000" x="3854450" y="6324600"/>
          <p14:tracePt t="249049" x="3829050" y="6324600"/>
          <p14:tracePt t="249050" x="3822700" y="6324600"/>
          <p14:tracePt t="249102" x="3797300" y="6324600"/>
          <p14:tracePt t="249149" x="3765550" y="6324600"/>
          <p14:tracePt t="249203" x="3721100" y="6324600"/>
          <p14:tracePt t="249254" x="3695700" y="6324600"/>
          <p14:tracePt t="249305" x="3676650" y="6324600"/>
          <p14:tracePt t="249351" x="3663950" y="6324600"/>
          <p14:tracePt t="249400" x="3644900" y="6330950"/>
          <p14:tracePt t="249447" x="3625850" y="6337300"/>
          <p14:tracePt t="249500" x="3619500" y="6337300"/>
          <p14:tracePt t="249697" x="3613150" y="6337300"/>
          <p14:tracePt t="249746" x="3632200" y="6337300"/>
          <p14:tracePt t="249797" x="3702050" y="6337300"/>
          <p14:tracePt t="249848" x="3822700" y="6343650"/>
          <p14:tracePt t="249901" x="3930650" y="6350000"/>
          <p14:tracePt t="249947" x="4051300" y="6350000"/>
          <p14:tracePt t="249998" x="4159250" y="6356350"/>
          <p14:tracePt t="250045" x="4311650" y="6362700"/>
          <p14:tracePt t="250100" x="4464050" y="6362700"/>
          <p14:tracePt t="250148" x="4565650" y="6362700"/>
          <p14:tracePt t="250197" x="4629150" y="6362700"/>
          <p14:tracePt t="250244" x="4692650" y="6362700"/>
          <p14:tracePt t="250295" x="4800600" y="6362700"/>
          <p14:tracePt t="250343" x="4857750" y="6362700"/>
          <p14:tracePt t="250397" x="4883150" y="6362700"/>
          <p14:tracePt t="250649" x="4876800" y="6362700"/>
          <p14:tracePt t="250697" x="4832350" y="6362700"/>
          <p14:tracePt t="250751" x="4699000" y="6362700"/>
          <p14:tracePt t="250800" x="4559300" y="6362700"/>
          <p14:tracePt t="250851" x="4470400" y="6356350"/>
          <p14:tracePt t="250900" x="4330700" y="6350000"/>
          <p14:tracePt t="250951" x="4235450" y="6343650"/>
          <p14:tracePt t="250952" x="4222750" y="6343650"/>
          <p14:tracePt t="251001" x="4152900" y="6343650"/>
          <p14:tracePt t="251002" x="4140200" y="6343650"/>
          <p14:tracePt t="251053" x="4057650" y="6343650"/>
          <p14:tracePt t="251104" x="3930650" y="6343650"/>
          <p14:tracePt t="251155" x="3816350" y="6337300"/>
          <p14:tracePt t="251202" x="3746500" y="6330950"/>
          <p14:tracePt t="251257" x="3663950" y="6330950"/>
          <p14:tracePt t="251303" x="3638550" y="6330950"/>
          <p14:tracePt t="251357" x="3587750" y="6330950"/>
          <p14:tracePt t="251406" x="3581400" y="6330950"/>
          <p14:tracePt t="251664" x="3600450" y="6318250"/>
          <p14:tracePt t="251711" x="3651250" y="6305550"/>
          <p14:tracePt t="251762" x="3822700" y="6305550"/>
          <p14:tracePt t="251812" x="4038600" y="6318250"/>
          <p14:tracePt t="251865" x="4387850" y="6337300"/>
          <p14:tracePt t="251913" x="4591050" y="6350000"/>
          <p14:tracePt t="251964" x="4711700" y="6350000"/>
          <p14:tracePt t="252015" x="4787900" y="6350000"/>
          <p14:tracePt t="252070" x="4838700" y="6350000"/>
          <p14:tracePt t="252122" x="4876800" y="6350000"/>
          <p14:tracePt t="252388" x="4826000" y="6350000"/>
          <p14:tracePt t="252439" x="4724400" y="6350000"/>
          <p14:tracePt t="252491" x="4565650" y="6350000"/>
          <p14:tracePt t="252538" x="4387850" y="6337300"/>
          <p14:tracePt t="252589" x="4197350" y="6318250"/>
          <p14:tracePt t="252637" x="4083050" y="6318250"/>
          <p14:tracePt t="252689" x="3892550" y="6305550"/>
          <p14:tracePt t="252741" x="3714750" y="6299200"/>
          <p14:tracePt t="252795" x="3568700" y="6286500"/>
          <p14:tracePt t="252844" x="3511550" y="6286500"/>
          <p14:tracePt t="252899" x="3492500" y="6286500"/>
          <p14:tracePt t="252946" x="3460750" y="6286500"/>
          <p14:tracePt t="252998" x="3448050" y="6286500"/>
          <p14:tracePt t="253198" x="3536950" y="6280150"/>
          <p14:tracePt t="253247" x="3695700" y="6280150"/>
          <p14:tracePt t="253303" x="3898900" y="6299200"/>
          <p14:tracePt t="253352" x="4089400" y="6305550"/>
          <p14:tracePt t="253404" x="4241800" y="6305550"/>
          <p14:tracePt t="253451" x="4368800" y="6311900"/>
          <p14:tracePt t="253467" x="4419600" y="6311900"/>
          <p14:tracePt t="253518" x="4559300" y="6311900"/>
          <p14:tracePt t="253571" x="4679950" y="6311900"/>
          <p14:tracePt t="253619" x="4724400" y="6311900"/>
          <p14:tracePt t="254824" x="0" y="0"/>
        </p14:tracePtLst>
        <p14:tracePtLst>
          <p14:tracePt t="276281" x="4438650" y="5835650"/>
          <p14:tracePt t="276330" x="4451350" y="5848350"/>
          <p14:tracePt t="276382" x="4527550" y="5861050"/>
          <p14:tracePt t="276431" x="4578350" y="5873750"/>
          <p14:tracePt t="276482" x="4730750" y="5854700"/>
          <p14:tracePt t="276531" x="4794250" y="5829300"/>
          <p14:tracePt t="276581" x="4806950" y="5822950"/>
          <p14:tracePt t="276630" x="4819650" y="5816600"/>
          <p14:tracePt t="276678" x="4838700" y="5797550"/>
          <p14:tracePt t="276728" x="4838700" y="5753100"/>
          <p14:tracePt t="276782" x="4826000" y="5721350"/>
          <p14:tracePt t="276833" x="4787900" y="5708650"/>
          <p14:tracePt t="276885" x="4686300" y="5708650"/>
          <p14:tracePt t="276935" x="4616450" y="5702300"/>
          <p14:tracePt t="276987" x="4578350" y="5702300"/>
          <p14:tracePt t="277035" x="4508500" y="5734050"/>
          <p14:tracePt t="277086" x="4483100" y="5740400"/>
          <p14:tracePt t="277137" x="4470400" y="5746750"/>
          <p14:tracePt t="277190" x="4457700" y="5753100"/>
          <p14:tracePt t="277348" x="0" y="0"/>
        </p14:tracePtLst>
        <p14:tracePtLst>
          <p14:tracePt t="285824" x="3848100" y="2959100"/>
          <p14:tracePt t="285877" x="3854450" y="2952750"/>
          <p14:tracePt t="285926" x="3937000" y="2952750"/>
          <p14:tracePt t="285977" x="4222750" y="2952750"/>
          <p14:tracePt t="286025" x="4413250" y="2946400"/>
          <p14:tracePt t="286078" x="4445000" y="2940050"/>
          <p14:tracePt t="286127" x="4502150" y="2914650"/>
          <p14:tracePt t="286179" x="4559300" y="2870200"/>
          <p14:tracePt t="286232" x="4603750" y="2832100"/>
          <p14:tracePt t="286285" x="4616450" y="2806700"/>
          <p14:tracePt t="286333" x="4616450" y="2794000"/>
          <p14:tracePt t="286383" x="4603750" y="2762250"/>
          <p14:tracePt t="286433" x="4584700" y="2730500"/>
          <p14:tracePt t="286486" x="4552950" y="2705100"/>
          <p14:tracePt t="286536" x="4533900" y="2692400"/>
          <p14:tracePt t="286586" x="4489450" y="2673350"/>
          <p14:tracePt t="286588" x="4483100" y="2667000"/>
          <p14:tracePt t="286635" x="4400550" y="2660650"/>
          <p14:tracePt t="286689" x="4343400" y="2647950"/>
          <p14:tracePt t="286740" x="4254500" y="2635250"/>
          <p14:tracePt t="286793" x="4178300" y="2628900"/>
          <p14:tracePt t="286840" x="4121150" y="2628900"/>
          <p14:tracePt t="286891" x="4057650" y="2628900"/>
          <p14:tracePt t="286942" x="3968750" y="2647950"/>
          <p14:tracePt t="286996" x="3937000" y="2654300"/>
          <p14:tracePt t="287093" x="3924300" y="2660650"/>
          <p14:tracePt t="287142" x="3905250" y="2686050"/>
          <p14:tracePt t="287197" x="3879850" y="2717800"/>
          <p14:tracePt t="287245" x="3873500" y="2724150"/>
          <p14:tracePt t="287296" x="3867150" y="2743200"/>
          <p14:tracePt t="287345" x="3867150" y="2762250"/>
          <p14:tracePt t="287348" x="3867150" y="2768600"/>
          <p14:tracePt t="287395" x="3867150" y="2787650"/>
          <p14:tracePt t="287449" x="3867150" y="2800350"/>
          <p14:tracePt t="287496" x="3873500" y="2819400"/>
          <p14:tracePt t="287549" x="3879850" y="2838450"/>
          <p14:tracePt t="287597" x="3886200" y="2851150"/>
          <p14:tracePt t="287649" x="3905250" y="2870200"/>
          <p14:tracePt t="287696" x="3956050" y="2889250"/>
          <p14:tracePt t="287753" x="4102100" y="2914650"/>
          <p14:tracePt t="287803" x="4286250" y="2921000"/>
          <p14:tracePt t="287855" x="4394200" y="2921000"/>
          <p14:tracePt t="287902" x="4464050" y="2914650"/>
          <p14:tracePt t="287955" x="4495800" y="2901950"/>
          <p14:tracePt t="288003" x="4521200" y="2876550"/>
          <p14:tracePt t="288057" x="4552950" y="2825750"/>
          <p14:tracePt t="288058" x="4552950" y="2819400"/>
          <p14:tracePt t="288107" x="4565650" y="2774950"/>
          <p14:tracePt t="288108" x="4565650" y="2755900"/>
          <p14:tracePt t="288162" x="4565650" y="2698750"/>
          <p14:tracePt t="288214" x="4565650" y="2679700"/>
          <p14:tracePt t="288268" x="4552950" y="2647950"/>
          <p14:tracePt t="288318" x="4533900" y="2635250"/>
          <p14:tracePt t="288371" x="4495800" y="2616200"/>
          <p14:tracePt t="288424" x="4419600" y="2603500"/>
          <p14:tracePt t="288481" x="4362450" y="2597150"/>
          <p14:tracePt t="288534" x="4273550" y="2590800"/>
          <p14:tracePt t="288591" x="4152900" y="2584450"/>
          <p14:tracePt t="288640" x="4121150" y="2584450"/>
          <p14:tracePt t="288699" x="4095750" y="2584450"/>
          <p14:tracePt t="288747" x="4070350" y="2584450"/>
          <p14:tracePt t="288799" x="4044950" y="2590800"/>
          <p14:tracePt t="288845" x="4013200" y="2603500"/>
          <p14:tracePt t="288897" x="3981450" y="2628900"/>
          <p14:tracePt t="288948" x="3956050" y="2641600"/>
          <p14:tracePt t="289000" x="3949700" y="2660650"/>
          <p14:tracePt t="289048" x="3924300" y="2692400"/>
          <p14:tracePt t="289101" x="3911600" y="2717800"/>
          <p14:tracePt t="289149" x="3905250" y="2730500"/>
          <p14:tracePt t="289151" x="3905250" y="2736850"/>
          <p14:tracePt t="289202" x="3898900" y="2774950"/>
          <p14:tracePt t="289257" x="3898900" y="2806700"/>
          <p14:tracePt t="289310" x="3898900" y="2838450"/>
          <p14:tracePt t="289312" x="3905250" y="2838450"/>
          <p14:tracePt t="289358" x="3924300" y="2863850"/>
          <p14:tracePt t="289411" x="3949700" y="2882900"/>
          <p14:tracePt t="289461" x="3968750" y="2895600"/>
          <p14:tracePt t="289515" x="4038600" y="2908300"/>
          <p14:tracePt t="289564" x="4133850" y="2921000"/>
          <p14:tracePt t="289619" x="4248150" y="2940050"/>
          <p14:tracePt t="289667" x="4305300" y="2940050"/>
          <p14:tracePt t="289721" x="4387850" y="2933700"/>
          <p14:tracePt t="289772" x="4457700" y="2914650"/>
          <p14:tracePt t="289829" x="4489450" y="2882900"/>
          <p14:tracePt t="289878" x="4521200" y="2857500"/>
          <p14:tracePt t="289933" x="4546600" y="2819400"/>
          <p14:tracePt t="289981" x="4559300" y="2787650"/>
          <p14:tracePt t="290037" x="4559300" y="2762250"/>
          <p14:tracePt t="290084" x="4559300" y="2736850"/>
          <p14:tracePt t="290136" x="4546600" y="2711450"/>
          <p14:tracePt t="290184" x="4527550" y="2686050"/>
          <p14:tracePt t="290242" x="4508500" y="2673350"/>
          <p14:tracePt t="290290" x="4470400" y="2660650"/>
          <p14:tracePt t="290341" x="4432300" y="2654300"/>
          <p14:tracePt t="290387" x="4362450" y="2647950"/>
          <p14:tracePt t="290441" x="4273550" y="2647950"/>
          <p14:tracePt t="290491" x="4235450" y="2647950"/>
          <p14:tracePt t="290544" x="4159250" y="2647950"/>
          <p14:tracePt t="290593" x="4102100" y="2647950"/>
          <p14:tracePt t="290644" x="4070350" y="2647950"/>
          <p14:tracePt t="290693" x="4038600" y="2654300"/>
          <p14:tracePt t="290745" x="4025900" y="2654300"/>
          <p14:tracePt t="290795" x="4013200" y="2660650"/>
          <p14:tracePt t="290848" x="4000500" y="2667000"/>
          <p14:tracePt t="290897" x="3975100" y="2679700"/>
          <p14:tracePt t="290948" x="3962400" y="2692400"/>
          <p14:tracePt t="290998" x="3956050" y="2698750"/>
          <p14:tracePt t="291051" x="3943350" y="2724150"/>
          <p14:tracePt t="291100" x="3937000" y="2743200"/>
          <p14:tracePt t="291152" x="3937000" y="2762250"/>
          <p14:tracePt t="291201" x="3930650" y="2774950"/>
          <p14:tracePt t="291254" x="3930650" y="2781300"/>
          <p14:tracePt t="291300" x="3930650" y="2787650"/>
          <p14:tracePt t="291351" x="3930650" y="2800350"/>
          <p14:tracePt t="291400" x="3930650" y="2813050"/>
          <p14:tracePt t="291453" x="3937000" y="2825750"/>
          <p14:tracePt t="291500" x="3949700" y="2838450"/>
          <p14:tracePt t="291551" x="3956050" y="2844800"/>
          <p14:tracePt t="291599" x="3962400" y="2857500"/>
          <p14:tracePt t="291649" x="3981450" y="2870200"/>
          <p14:tracePt t="291698" x="4013200" y="2889250"/>
          <p14:tracePt t="291751" x="4044950" y="2901950"/>
          <p14:tracePt t="291799" x="4133850" y="2921000"/>
          <p14:tracePt t="291852" x="4197350" y="2933700"/>
          <p14:tracePt t="291901" x="4248150" y="2940050"/>
          <p14:tracePt t="291954" x="4267200" y="2940050"/>
          <p14:tracePt t="292262" x="0" y="0"/>
        </p14:tracePtLst>
        <p14:tracePtLst>
          <p14:tracePt t="294388" x="3543300" y="6102350"/>
          <p14:tracePt t="294487" x="3619500" y="6102350"/>
          <p14:tracePt t="294536" x="3740150" y="6102350"/>
          <p14:tracePt t="294586" x="3816350" y="6102350"/>
          <p14:tracePt t="294635" x="3860800" y="6102350"/>
          <p14:tracePt t="294686" x="3924300" y="6102350"/>
          <p14:tracePt t="294737" x="3975100" y="6102350"/>
          <p14:tracePt t="294791" x="4019550" y="6102350"/>
          <p14:tracePt t="294840" x="4051300" y="6096000"/>
          <p14:tracePt t="294890" x="4064000" y="6089650"/>
          <p14:tracePt t="294938" x="4076700" y="6076950"/>
          <p14:tracePt t="294992" x="4076700" y="6070600"/>
          <p14:tracePt t="295038" x="4083050" y="6057900"/>
          <p14:tracePt t="295091" x="4083050" y="6026150"/>
          <p14:tracePt t="295140" x="4083050" y="6000750"/>
          <p14:tracePt t="295194" x="4083050" y="5975350"/>
          <p14:tracePt t="295245" x="4064000" y="5949950"/>
          <p14:tracePt t="295296" x="4019550" y="5918200"/>
          <p14:tracePt t="295349" x="3949700" y="5886450"/>
          <p14:tracePt t="295403" x="3822700" y="5848350"/>
          <p14:tracePt t="295452" x="3733800" y="5842000"/>
          <p14:tracePt t="295504" x="3676650" y="5842000"/>
          <p14:tracePt t="295553" x="3613150" y="5842000"/>
          <p14:tracePt t="295607" x="3568700" y="5842000"/>
          <p14:tracePt t="295655" x="3517900" y="5842000"/>
          <p14:tracePt t="295709" x="3473450" y="5854700"/>
          <p14:tracePt t="295758" x="3460750" y="5873750"/>
          <p14:tracePt t="295808" x="3448050" y="5892800"/>
          <p14:tracePt t="295857" x="3441700" y="5924550"/>
          <p14:tracePt t="295908" x="3441700" y="5956300"/>
          <p14:tracePt t="295956" x="3441700" y="6007100"/>
          <p14:tracePt t="296011" x="3454400" y="6038850"/>
          <p14:tracePt t="296059" x="3467100" y="6057900"/>
          <p14:tracePt t="296111" x="3479800" y="6070600"/>
          <p14:tracePt t="296158" x="3511550" y="6076950"/>
          <p14:tracePt t="296212" x="3549650" y="6096000"/>
          <p14:tracePt t="296262" x="3657600" y="6115050"/>
          <p14:tracePt t="296314" x="3778250" y="6121400"/>
          <p14:tracePt t="296363" x="3854450" y="6121400"/>
          <p14:tracePt t="296417" x="3987800" y="6108700"/>
          <p14:tracePt t="296464" x="4032250" y="6108700"/>
          <p14:tracePt t="296517" x="4051300" y="6096000"/>
          <p14:tracePt t="296564" x="4076700" y="6076950"/>
          <p14:tracePt t="296619" x="4076700" y="6070600"/>
          <p14:tracePt t="296667" x="4083050" y="6051550"/>
          <p14:tracePt t="296668" x="4089400" y="6045200"/>
          <p14:tracePt t="296720" x="4089400" y="6026150"/>
          <p14:tracePt t="296771" x="4089400" y="6013450"/>
          <p14:tracePt t="296825" x="4089400" y="5988050"/>
          <p14:tracePt t="296874" x="4089400" y="5969000"/>
          <p14:tracePt t="296927" x="4083050" y="5962650"/>
          <p14:tracePt t="296974" x="4076700" y="5956300"/>
          <p14:tracePt t="297028" x="4051300" y="5943600"/>
          <p14:tracePt t="297076" x="3987800" y="5918200"/>
          <p14:tracePt t="297131" x="3937000" y="5905500"/>
          <p14:tracePt t="297180" x="3879850" y="5892800"/>
          <p14:tracePt t="297234" x="3816350" y="5886450"/>
          <p14:tracePt t="297283" x="3765550" y="5886450"/>
          <p14:tracePt t="297336" x="3740150" y="5886450"/>
          <p14:tracePt t="297384" x="3708400" y="5886450"/>
          <p14:tracePt t="297437" x="3676650" y="5892800"/>
          <p14:tracePt t="297485" x="3657600" y="5899150"/>
          <p14:tracePt t="297487" x="3644900" y="5905500"/>
          <p14:tracePt t="297542" x="3606800" y="5918200"/>
          <p14:tracePt t="297543" x="3600450" y="5918200"/>
          <p14:tracePt t="297591" x="3594100" y="5930900"/>
          <p14:tracePt t="297641" x="3581400" y="5937250"/>
          <p14:tracePt t="297689" x="3568700" y="5956300"/>
          <p14:tracePt t="297745" x="3562350" y="5975350"/>
          <p14:tracePt t="297793" x="3562350" y="5994400"/>
          <p14:tracePt t="297843" x="3549650" y="6007100"/>
          <p14:tracePt t="297888" x="3549650" y="6013450"/>
          <p14:tracePt t="297938" x="3549650" y="6032500"/>
          <p14:tracePt t="297986" x="3543300" y="6045200"/>
          <p14:tracePt t="298040" x="3543300" y="6051550"/>
          <p14:tracePt t="298085" x="3549650" y="6064250"/>
          <p14:tracePt t="298139" x="3568700" y="6070600"/>
          <p14:tracePt t="298186" x="3600450" y="6083300"/>
          <p14:tracePt t="298243" x="3676650" y="6108700"/>
          <p14:tracePt t="298291" x="3759200" y="6115050"/>
          <p14:tracePt t="298346" x="3829050" y="6115050"/>
          <p14:tracePt t="298397" x="3886200" y="6121400"/>
          <p14:tracePt t="298451" x="3905250" y="6121400"/>
          <p14:tracePt t="298498" x="3943350" y="6121400"/>
          <p14:tracePt t="298550" x="4032250" y="6121400"/>
          <p14:tracePt t="298551" x="4038600" y="6121400"/>
          <p14:tracePt t="298600" x="4108450" y="6121400"/>
          <p14:tracePt t="298651" x="4114800" y="6121400"/>
          <p14:tracePt t="298751" x="4121150" y="6108700"/>
          <p14:tracePt t="298802" x="4133850" y="6089650"/>
          <p14:tracePt t="298852" x="4133850" y="6076950"/>
          <p14:tracePt t="298899" x="4133850" y="6051550"/>
          <p14:tracePt t="298950" x="4127500" y="6013450"/>
          <p14:tracePt t="298997" x="4108450" y="5994400"/>
          <p14:tracePt t="299052" x="4089400" y="5981700"/>
          <p14:tracePt t="299100" x="4064000" y="5962650"/>
          <p14:tracePt t="299156" x="3956050" y="5937250"/>
          <p14:tracePt t="299205" x="3892550" y="5924550"/>
          <p14:tracePt t="299257" x="3879850" y="5924550"/>
          <p14:tracePt t="299305" x="3867150" y="5924550"/>
          <p14:tracePt t="299358" x="3797300" y="5924550"/>
          <p14:tracePt t="299406" x="3695700" y="5924550"/>
          <p14:tracePt t="299463" x="3651250" y="5937250"/>
          <p14:tracePt t="299510" x="3644900" y="5937250"/>
          <p14:tracePt t="299558" x="3632200" y="5943600"/>
          <p14:tracePt t="299608" x="3613150" y="5949950"/>
          <p14:tracePt t="299665" x="3594100" y="5962650"/>
          <p14:tracePt t="299719" x="3575050" y="5975350"/>
          <p14:tracePt t="299778" x="3568700" y="5988050"/>
          <p14:tracePt t="299828" x="3562350" y="5994400"/>
          <p14:tracePt t="299884" x="3549650" y="6000750"/>
          <p14:tracePt t="299932" x="3549650" y="6013450"/>
          <p14:tracePt t="299980" x="3549650" y="6026150"/>
          <p14:tracePt t="300029" x="3549650" y="6038850"/>
          <p14:tracePt t="300079" x="3568700" y="6051550"/>
          <p14:tracePt t="300126" x="3651250" y="6070600"/>
          <p14:tracePt t="300175" x="3759200" y="6089650"/>
          <p14:tracePt t="300177" x="3778250" y="6096000"/>
          <p14:tracePt t="300227" x="3898900" y="6096000"/>
          <p14:tracePt t="300279" x="3981450" y="6096000"/>
          <p14:tracePt t="300327" x="4006850" y="6096000"/>
          <p14:tracePt t="300377" x="4032250" y="6096000"/>
          <p14:tracePt t="300429" x="4044950" y="6096000"/>
          <p14:tracePt t="300480" x="4057650" y="6096000"/>
          <p14:tracePt t="300680" x="4064000" y="6096000"/>
          <p14:tracePt t="300727" x="4064000" y="6089650"/>
          <p14:tracePt t="300776" x="0" y="0"/>
        </p14:tracePtLst>
        <p14:tracePtLst>
          <p14:tracePt t="304349" x="4083050" y="4222750"/>
          <p14:tracePt t="304406" x="4083050" y="4210050"/>
          <p14:tracePt t="304452" x="3930650" y="4210050"/>
          <p14:tracePt t="304502" x="3644900" y="4222750"/>
          <p14:tracePt t="304548" x="3352800" y="4292600"/>
          <p14:tracePt t="304599" x="3238500" y="4330700"/>
          <p14:tracePt t="304647" x="3181350" y="4349750"/>
          <p14:tracePt t="304699" x="3086100" y="4406900"/>
          <p14:tracePt t="304748" x="2952750" y="4476750"/>
          <p14:tracePt t="304803" x="2889250" y="4559300"/>
          <p14:tracePt t="304850" x="2832100" y="4737100"/>
          <p14:tracePt t="304901" x="2794000" y="4959350"/>
          <p14:tracePt t="304949" x="2794000" y="5137150"/>
          <p14:tracePt t="305001" x="2863850" y="5403850"/>
          <p14:tracePt t="305050" x="2984500" y="5626100"/>
          <p14:tracePt t="305101" x="3054350" y="5734050"/>
          <p14:tracePt t="305147" x="3162300" y="5842000"/>
          <p14:tracePt t="305201" x="3238500" y="5911850"/>
          <p14:tracePt t="305253" x="3378200" y="5988050"/>
          <p14:tracePt t="305305" x="3562350" y="6038850"/>
          <p14:tracePt t="305354" x="3727450" y="6083300"/>
          <p14:tracePt t="305405" x="3892550" y="6096000"/>
          <p14:tracePt t="305451" x="4191000" y="6089650"/>
          <p14:tracePt t="305504" x="4419600" y="6076950"/>
          <p14:tracePt t="305552" x="4603750" y="5988050"/>
          <p14:tracePt t="305603" x="4692650" y="5873750"/>
          <p14:tracePt t="305650" x="4724400" y="5810250"/>
          <p14:tracePt t="305701" x="4781550" y="5664200"/>
          <p14:tracePt t="305751" x="4819650" y="5549900"/>
          <p14:tracePt t="305803" x="4851400" y="5403850"/>
          <p14:tracePt t="305849" x="4870450" y="5232400"/>
          <p14:tracePt t="305903" x="4781550" y="4870450"/>
          <p14:tracePt t="305951" x="4686300" y="4673600"/>
          <p14:tracePt t="306003" x="4616450" y="4559300"/>
          <p14:tracePt t="306049" x="4527550" y="4470400"/>
          <p14:tracePt t="306102" x="4400550" y="4375150"/>
          <p14:tracePt t="306149" x="4248150" y="4279900"/>
          <p14:tracePt t="306202" x="4038600" y="4191000"/>
          <p14:tracePt t="306254" x="3886200" y="4165600"/>
          <p14:tracePt t="306257" x="3867150" y="4165600"/>
          <p14:tracePt t="306304" x="3752850" y="4165600"/>
          <p14:tracePt t="306354" x="3562350" y="4184650"/>
          <p14:tracePt t="306401" x="3422650" y="4222750"/>
          <p14:tracePt t="306452" x="3225800" y="4337050"/>
          <p14:tracePt t="306501" x="3130550" y="4394200"/>
          <p14:tracePt t="306550" x="3067050" y="4483100"/>
          <p14:tracePt t="306597" x="2927350" y="4699000"/>
          <p14:tracePt t="306649" x="2844800" y="4870450"/>
          <p14:tracePt t="306651" x="2844800" y="4883150"/>
          <p14:tracePt t="306699" x="2825750" y="4972050"/>
          <p14:tracePt t="306750" x="2813050" y="5073650"/>
          <p14:tracePt t="306799" x="2800350" y="5175250"/>
          <p14:tracePt t="306851" x="2800350" y="5314950"/>
          <p14:tracePt t="306898" x="2819400" y="5467350"/>
          <p14:tracePt t="306949" x="2876550" y="5594350"/>
          <p14:tracePt t="306999" x="2933700" y="5689600"/>
          <p14:tracePt t="307048" x="3048000" y="5784850"/>
          <p14:tracePt t="307096" x="3181350" y="5861050"/>
          <p14:tracePt t="307149" x="3365500" y="5918200"/>
          <p14:tracePt t="307197" x="3530600" y="5949950"/>
          <p14:tracePt t="307250" x="3797300" y="5994400"/>
          <p14:tracePt t="307299" x="3937000" y="6007100"/>
          <p14:tracePt t="307350" x="4095750" y="6007100"/>
          <p14:tracePt t="307351" x="4165600" y="6007100"/>
          <p14:tracePt t="307399" x="4356100" y="5975350"/>
          <p14:tracePt t="307453" x="4572000" y="5918200"/>
          <p14:tracePt t="307501" x="4692650" y="5854700"/>
          <p14:tracePt t="307551" x="4781550" y="5778500"/>
          <p14:tracePt t="307553" x="4806950" y="5740400"/>
          <p14:tracePt t="307602" x="4895850" y="5613400"/>
          <p14:tracePt t="307653" x="5003800" y="5448300"/>
          <p14:tracePt t="307701" x="5092700" y="5270500"/>
          <p14:tracePt t="307755" x="5149850" y="4953000"/>
          <p14:tracePt t="307801" x="5149850" y="4794250"/>
          <p14:tracePt t="307852" x="5092700" y="4635500"/>
          <p14:tracePt t="307899" x="5029200" y="4527550"/>
          <p14:tracePt t="307951" x="4972050" y="4470400"/>
          <p14:tracePt t="307998" x="4927600" y="4425950"/>
          <p14:tracePt t="308052" x="4813300" y="4387850"/>
          <p14:tracePt t="308102" x="4673600" y="4343400"/>
          <p14:tracePt t="308151" x="4527550" y="4318000"/>
          <p14:tracePt t="308200" x="4406900" y="4318000"/>
          <p14:tracePt t="308203" x="4375150" y="4318000"/>
          <p14:tracePt t="308258" x="4121150" y="4318000"/>
          <p14:tracePt t="308305" x="3962400" y="4318000"/>
          <p14:tracePt t="308354" x="3860800" y="4337050"/>
          <p14:tracePt t="308356" x="3835400" y="4337050"/>
          <p14:tracePt t="308401" x="3689350" y="4375150"/>
          <p14:tracePt t="308454" x="3543300" y="4400550"/>
          <p14:tracePt t="308502" x="3429000" y="4464050"/>
          <p14:tracePt t="308553" x="3327400" y="4540250"/>
          <p14:tracePt t="308601" x="3263900" y="4641850"/>
          <p14:tracePt t="308652" x="3200400" y="4826000"/>
          <p14:tracePt t="308653" x="3187700" y="4857750"/>
          <p14:tracePt t="308700" x="3175000" y="5003800"/>
          <p14:tracePt t="308701" x="3175000" y="5048250"/>
          <p14:tracePt t="308754" x="3187700" y="5314950"/>
          <p14:tracePt t="308804" x="3206750" y="5473700"/>
          <p14:tracePt t="308856" x="3257550" y="5683250"/>
          <p14:tracePt t="308904" x="3340100" y="5880100"/>
          <p14:tracePt t="308952" x="3397250" y="5981700"/>
          <p14:tracePt t="309000" x="3448050" y="6057900"/>
          <p14:tracePt t="309050" x="3511550" y="6096000"/>
          <p14:tracePt t="309051" x="3524250" y="6102350"/>
          <p14:tracePt t="309101" x="3644900" y="6127750"/>
          <p14:tracePt t="309153" x="3778250" y="6159500"/>
          <p14:tracePt t="309201" x="3924300" y="6178550"/>
          <p14:tracePt t="309254" x="4083050" y="6184900"/>
          <p14:tracePt t="309302" x="4235450" y="6178550"/>
          <p14:tracePt t="309352" x="4381500" y="6165850"/>
          <p14:tracePt t="309400" x="4413250" y="6153150"/>
          <p14:tracePt t="309451" x="4445000" y="6146800"/>
          <p14:tracePt t="309498" x="4521200" y="6115050"/>
          <p14:tracePt t="309546" x="4578350" y="6096000"/>
          <p14:tracePt t="309592" x="4654550" y="6083300"/>
          <p14:tracePt t="309644" x="4667250" y="6083300"/>
          <p14:tracePt t="309846" x="0" y="0"/>
        </p14:tracePtLst>
        <p14:tracePtLst>
          <p14:tracePt t="315006" x="2914650" y="4508500"/>
          <p14:tracePt t="315057" x="2895600" y="4552950"/>
          <p14:tracePt t="315109" x="2813050" y="4864100"/>
          <p14:tracePt t="315154" x="2819400" y="5016500"/>
          <p14:tracePt t="315206" x="2844800" y="5226050"/>
          <p14:tracePt t="315258" x="2857500" y="5556250"/>
          <p14:tracePt t="315307" x="2857500" y="5842000"/>
          <p14:tracePt t="315354" x="2876550" y="6051550"/>
          <p14:tracePt t="315405" x="2889250" y="6064250"/>
          <p14:tracePt t="315504" x="2889250" y="6070600"/>
          <p14:tracePt t="315549" x="2889250" y="6051550"/>
          <p14:tracePt t="315601" x="2876550" y="5803900"/>
          <p14:tracePt t="315650" x="2876550" y="5594350"/>
          <p14:tracePt t="315702" x="2844800" y="5397500"/>
          <p14:tracePt t="315751" x="2825750" y="5257800"/>
          <p14:tracePt t="315801" x="2838450" y="5073650"/>
          <p14:tracePt t="315851" x="2838450" y="4984750"/>
          <p14:tracePt t="315899" x="2838450" y="4972050"/>
          <p14:tracePt t="316051" x="2838450" y="4895850"/>
          <p14:tracePt t="316099" x="2825750" y="4864100"/>
          <p14:tracePt t="316259" x="2806700" y="4927600"/>
          <p14:tracePt t="316307" x="2794000" y="5086350"/>
          <p14:tracePt t="316358" x="2794000" y="5207000"/>
          <p14:tracePt t="316403" x="2800350" y="5314950"/>
          <p14:tracePt t="316454" x="2813050" y="5473700"/>
          <p14:tracePt t="316502" x="2819400" y="5543550"/>
          <p14:tracePt t="316556" x="2832100" y="5613400"/>
          <p14:tracePt t="316605" x="2838450" y="5638800"/>
          <p14:tracePt t="316656" x="2844800" y="5708650"/>
          <p14:tracePt t="316703" x="2844800" y="5746750"/>
          <p14:tracePt t="316758" x="2851150" y="5765800"/>
          <p14:tracePt t="316806" x="2851150" y="5778500"/>
          <p14:tracePt t="316957" x="2851150" y="5765800"/>
          <p14:tracePt t="317002" x="2832100" y="5581650"/>
          <p14:tracePt t="317054" x="2806700" y="5264150"/>
          <p14:tracePt t="317104" x="2800350" y="4984750"/>
          <p14:tracePt t="317157" x="2800350" y="4864100"/>
          <p14:tracePt t="317205" x="2800350" y="4749800"/>
          <p14:tracePt t="317262" x="2806700" y="4673600"/>
          <p14:tracePt t="317472" x="2819400" y="4718050"/>
          <p14:tracePt t="317521" x="2851150" y="5041900"/>
          <p14:tracePt t="317571" x="2863850" y="5175250"/>
          <p14:tracePt t="317620" x="2870200" y="5226050"/>
          <p14:tracePt t="317672" x="2882900" y="5391150"/>
          <p14:tracePt t="317720" x="2901950" y="5486400"/>
          <p14:tracePt t="317772" x="2901950" y="5543550"/>
          <p14:tracePt t="317865" x="2908300" y="5549900"/>
          <p14:tracePt t="317913" x="2908300" y="5556250"/>
          <p14:tracePt t="318116" x="0" y="0"/>
        </p14:tracePtLst>
        <p14:tracePtLst>
          <p14:tracePt t="355155" x="8521700" y="4222750"/>
          <p14:tracePt t="355204" x="8521700" y="4216400"/>
          <p14:tracePt t="355304" x="8515350" y="4216400"/>
          <p14:tracePt t="355353" x="8489950" y="4197350"/>
          <p14:tracePt t="355406" x="8451850" y="4197350"/>
          <p14:tracePt t="355457" x="8382000" y="4210050"/>
          <p14:tracePt t="355513" x="8280400" y="4229100"/>
          <p14:tracePt t="355562" x="8229600" y="4241800"/>
          <p14:tracePt t="355612" x="8185150" y="4254500"/>
          <p14:tracePt t="355658" x="8134350" y="4267200"/>
          <p14:tracePt t="355714" x="8083550" y="4286250"/>
          <p14:tracePt t="355766" x="8045450" y="4305300"/>
          <p14:tracePt t="355822" x="7988300" y="4330700"/>
          <p14:tracePt t="355873" x="7943850" y="4368800"/>
          <p14:tracePt t="355929" x="7931150" y="4381500"/>
          <p14:tracePt t="355982" x="7918450" y="4394200"/>
          <p14:tracePt t="355984" x="7918450" y="4400550"/>
          <p14:tracePt t="356035" x="7918450" y="4413250"/>
          <p14:tracePt t="356081" x="7912100" y="4432300"/>
          <p14:tracePt t="356134" x="7912100" y="4438650"/>
          <p14:tracePt t="356233" x="7912100" y="4445000"/>
          <p14:tracePt t="356235" x="7912100" y="4451350"/>
          <p14:tracePt t="356283" x="7912100" y="4457700"/>
          <p14:tracePt t="356333" x="7918450" y="4457700"/>
          <p14:tracePt t="356433" x="7937500" y="4470400"/>
          <p14:tracePt t="356434" x="7943850" y="4470400"/>
          <p14:tracePt t="356481" x="8001000" y="4483100"/>
          <p14:tracePt t="356482" x="8032750" y="4489450"/>
          <p14:tracePt t="356533" x="8191500" y="4502150"/>
          <p14:tracePt t="356579" x="8362950" y="4502150"/>
          <p14:tracePt t="356633" x="8642350" y="4502150"/>
          <p14:tracePt t="356678" x="8756650" y="4495800"/>
          <p14:tracePt t="356682" x="8782050" y="4495800"/>
          <p14:tracePt t="356732" x="8985250" y="4470400"/>
          <p14:tracePt t="356786" x="9036050" y="4432300"/>
          <p14:tracePt t="356838" x="9093200" y="4400550"/>
          <p14:tracePt t="356889" x="9099550" y="4375150"/>
          <p14:tracePt t="356890" x="9105900" y="4368800"/>
          <p14:tracePt t="356937" x="9112250" y="4349750"/>
          <p14:tracePt t="356990" x="9112250" y="4324350"/>
          <p14:tracePt t="357039" x="9112250" y="4311650"/>
          <p14:tracePt t="357089" x="9105900" y="4298950"/>
          <p14:tracePt t="357138" x="9099550" y="4286250"/>
          <p14:tracePt t="357187" x="9093200" y="4279900"/>
          <p14:tracePt t="357238" x="9086850" y="4273550"/>
          <p14:tracePt t="357291" x="9067800" y="4254500"/>
          <p14:tracePt t="357292" x="9061450" y="4254500"/>
          <p14:tracePt t="357342" x="9055100" y="4248150"/>
          <p14:tracePt t="357391" x="9048750" y="4248150"/>
          <p14:tracePt t="357441" x="9004300" y="4241800"/>
          <p14:tracePt t="357495" x="8978900" y="4235450"/>
          <p14:tracePt t="357545" x="8934450" y="4235450"/>
          <p14:tracePt t="357598" x="8890000" y="4241800"/>
          <p14:tracePt t="357643" x="8877300" y="4241800"/>
          <p14:tracePt t="357694" x="8851900" y="4267200"/>
          <p14:tracePt t="357747" x="8826500" y="4298950"/>
          <p14:tracePt t="357800" x="8813800" y="4324350"/>
          <p14:tracePt t="357847" x="8813800" y="4343400"/>
          <p14:tracePt t="357899" x="8813800" y="4349750"/>
          <p14:tracePt t="357947" x="8813800" y="4356100"/>
          <p14:tracePt t="357999" x="8832850" y="4368800"/>
          <p14:tracePt t="358049" x="8896350" y="4381500"/>
          <p14:tracePt t="358050" x="8909050" y="4381500"/>
          <p14:tracePt t="358103" x="8966200" y="4381500"/>
          <p14:tracePt t="358151" x="9029700" y="4381500"/>
          <p14:tracePt t="358202" x="9048750" y="4381500"/>
          <p14:tracePt t="358253" x="9061450" y="4381500"/>
          <p14:tracePt t="358308" x="9099550" y="4368800"/>
          <p14:tracePt t="358357" x="9124950" y="4337050"/>
          <p14:tracePt t="358410" x="9144000" y="4298950"/>
          <p14:tracePt t="358456" x="9144000" y="4267200"/>
          <p14:tracePt t="358506" x="9144000" y="4254500"/>
          <p14:tracePt t="358552" x="9144000" y="4241800"/>
          <p14:tracePt t="358603" x="9144000" y="4229100"/>
          <p14:tracePt t="358649" x="9137650" y="4222750"/>
          <p14:tracePt t="358701" x="9131300" y="4216400"/>
          <p14:tracePt t="358752" x="9105900" y="4203700"/>
          <p14:tracePt t="358804" x="9080500" y="4203700"/>
          <p14:tracePt t="358854" x="9036050" y="4191000"/>
          <p14:tracePt t="358905" x="9010650" y="4191000"/>
          <p14:tracePt t="358953" x="8997950" y="4191000"/>
          <p14:tracePt t="359007" x="8953500" y="4191000"/>
          <p14:tracePt t="359054" x="8902700" y="4191000"/>
          <p14:tracePt t="359108" x="8864600" y="4191000"/>
          <p14:tracePt t="359154" x="8839200" y="4191000"/>
          <p14:tracePt t="359205" x="8826500" y="4197350"/>
          <p14:tracePt t="359257" x="8807450" y="4210050"/>
          <p14:tracePt t="359309" x="8782050" y="4222750"/>
          <p14:tracePt t="359409" x="8775700" y="4235450"/>
          <p14:tracePt t="359457" x="8769350" y="4248150"/>
          <p14:tracePt t="359505" x="8769350" y="4254500"/>
          <p14:tracePt t="359554" x="8763000" y="4267200"/>
          <p14:tracePt t="359609" x="8763000" y="4279900"/>
          <p14:tracePt t="359656" x="8763000" y="4286250"/>
          <p14:tracePt t="359707" x="8769350" y="4292600"/>
          <p14:tracePt t="359756" x="8775700" y="4305300"/>
          <p14:tracePt t="359761" x="8775700" y="4311650"/>
          <p14:tracePt t="359809" x="8794750" y="4318000"/>
          <p14:tracePt t="359862" x="8820150" y="4324350"/>
          <p14:tracePt t="359911" x="8845550" y="4330700"/>
          <p14:tracePt t="359967" x="8883650" y="4337050"/>
          <p14:tracePt t="360016" x="8921750" y="4337050"/>
          <p14:tracePt t="360068" x="8953500" y="4337050"/>
          <p14:tracePt t="360117" x="8978900" y="4337050"/>
          <p14:tracePt t="360167" x="8985250" y="4337050"/>
          <p14:tracePt t="360474" x="0" y="0"/>
        </p14:tracePtLst>
        <p14:tracePtLst>
          <p14:tracePt t="372176" x="8782050" y="4362450"/>
          <p14:tracePt t="372180" x="8794750" y="4362450"/>
          <p14:tracePt t="372229" x="8870950" y="4356100"/>
          <p14:tracePt t="372281" x="8934450" y="4356100"/>
          <p14:tracePt t="372332" x="9048750" y="4356100"/>
          <p14:tracePt t="372385" x="9124950" y="4356100"/>
          <p14:tracePt t="372435" x="9144000" y="4349750"/>
          <p14:tracePt t="372486" x="9182100" y="4318000"/>
          <p14:tracePt t="372534" x="9188450" y="4311650"/>
          <p14:tracePt t="372584" x="9194800" y="4305300"/>
          <p14:tracePt t="372632" x="9194800" y="4279900"/>
          <p14:tracePt t="372684" x="9188450" y="4235450"/>
          <p14:tracePt t="372734" x="9175750" y="4222750"/>
          <p14:tracePt t="372788" x="9163050" y="4197350"/>
          <p14:tracePt t="372838" x="9131300" y="4171950"/>
          <p14:tracePt t="372889" x="9099550" y="4152900"/>
          <p14:tracePt t="372891" x="9093200" y="4152900"/>
          <p14:tracePt t="372940" x="9048750" y="4127500"/>
          <p14:tracePt t="372941" x="9029700" y="4121150"/>
          <p14:tracePt t="372992" x="8947150" y="4102100"/>
          <p14:tracePt t="373042" x="8928100" y="4102100"/>
          <p14:tracePt t="373095" x="8909050" y="4102100"/>
          <p14:tracePt t="373147" x="8890000" y="4102100"/>
          <p14:tracePt t="373202" x="8851900" y="4133850"/>
          <p14:tracePt t="373257" x="8820150" y="4159250"/>
          <p14:tracePt t="373312" x="8801100" y="4178300"/>
          <p14:tracePt t="373358" x="8788400" y="4203700"/>
          <p14:tracePt t="373359" x="8782050" y="4210050"/>
          <p14:tracePt t="373411" x="8769350" y="4241800"/>
          <p14:tracePt t="373466" x="8763000" y="4292600"/>
          <p14:tracePt t="373519" x="8763000" y="4298950"/>
          <p14:tracePt t="373873" x="0" y="0"/>
        </p14:tracePtLst>
        <p14:tracePtLst>
          <p14:tracePt t="378552" x="8756650" y="4527550"/>
          <p14:tracePt t="378697" x="8718550" y="4533900"/>
          <p14:tracePt t="378745" x="8655050" y="4533900"/>
          <p14:tracePt t="378796" x="8547100" y="4540250"/>
          <p14:tracePt t="378842" x="8496300" y="4540250"/>
          <p14:tracePt t="378942" x="8489950" y="4540250"/>
          <p14:tracePt t="379043" x="8458200" y="4552950"/>
          <p14:tracePt t="379092" x="8350250" y="4591050"/>
          <p14:tracePt t="379143" x="8343900" y="4591050"/>
          <p14:tracePt t="379347" x="8375650" y="4591050"/>
          <p14:tracePt t="379395" x="8515350" y="4565650"/>
          <p14:tracePt t="379445" x="8578850" y="4552950"/>
          <p14:tracePt t="379499" x="8591550" y="4552950"/>
          <p14:tracePt t="379546" x="8610600" y="4552950"/>
          <p14:tracePt t="379599" x="8636000" y="4552950"/>
          <p14:tracePt t="379648" x="8686800" y="4552950"/>
          <p14:tracePt t="379697" x="8712200" y="4552950"/>
          <p14:tracePt t="379747" x="8718550" y="4552950"/>
          <p14:tracePt t="379797" x="8724900" y="4552950"/>
          <p14:tracePt t="380099" x="0" y="0"/>
        </p14:tracePtLst>
        <p14:tracePtLst>
          <p14:tracePt t="385599" x="8458200" y="4641850"/>
          <p14:tracePt t="385699" x="8420100" y="4635500"/>
          <p14:tracePt t="385747" x="8343900" y="4629150"/>
          <p14:tracePt t="385798" x="8255000" y="4629150"/>
          <p14:tracePt t="385845" x="8159750" y="4629150"/>
          <p14:tracePt t="385893" x="8096250" y="4641850"/>
          <p14:tracePt t="385939" x="8045450" y="4654550"/>
          <p14:tracePt t="385990" x="7956550" y="4686300"/>
          <p14:tracePt t="386043" x="7912100" y="4711700"/>
          <p14:tracePt t="386050" x="7905750" y="4718050"/>
          <p14:tracePt t="386107" x="7861300" y="4749800"/>
          <p14:tracePt t="386156" x="7842250" y="4787900"/>
          <p14:tracePt t="386211" x="7823200" y="4826000"/>
          <p14:tracePt t="386288" x="7810500" y="4864100"/>
          <p14:tracePt t="386341" x="7810500" y="4889500"/>
          <p14:tracePt t="386390" x="7816850" y="4902200"/>
          <p14:tracePt t="386442" x="7912100" y="4946650"/>
          <p14:tracePt t="386493" x="8039100" y="4972050"/>
          <p14:tracePt t="386543" x="8153400" y="4978400"/>
          <p14:tracePt t="386544" x="8185150" y="4978400"/>
          <p14:tracePt t="386591" x="8337550" y="4978400"/>
          <p14:tracePt t="386640" x="8489950" y="4978400"/>
          <p14:tracePt t="386642" x="8528050" y="4978400"/>
          <p14:tracePt t="386687" x="8705850" y="4978400"/>
          <p14:tracePt t="386742" x="8775700" y="4965700"/>
          <p14:tracePt t="386792" x="8813800" y="4933950"/>
          <p14:tracePt t="386796" x="8820150" y="4933950"/>
          <p14:tracePt t="386845" x="8832850" y="4914900"/>
          <p14:tracePt t="386897" x="8839200" y="4908550"/>
          <p14:tracePt t="386946" x="8839200" y="4864100"/>
          <p14:tracePt t="386998" x="8839200" y="4826000"/>
          <p14:tracePt t="387001" x="8832850" y="4819650"/>
          <p14:tracePt t="387048" x="8807450" y="4775200"/>
          <p14:tracePt t="387099" x="8769350" y="4724400"/>
          <p14:tracePt t="387146" x="8737600" y="4692650"/>
          <p14:tracePt t="387200" x="8642350" y="4654550"/>
          <p14:tracePt t="387249" x="8610600" y="4648200"/>
          <p14:tracePt t="387250" x="8597900" y="4648200"/>
          <p14:tracePt t="387301" x="8521700" y="4648200"/>
          <p14:tracePt t="387349" x="8420100" y="4648200"/>
          <p14:tracePt t="387402" x="8299450" y="4654550"/>
          <p14:tracePt t="387453" x="8223250" y="4667250"/>
          <p14:tracePt t="387508" x="8172450" y="4679950"/>
          <p14:tracePt t="387556" x="8134350" y="4699000"/>
          <p14:tracePt t="387610" x="8077200" y="4730750"/>
          <p14:tracePt t="387657" x="8032750" y="4749800"/>
          <p14:tracePt t="387710" x="8013700" y="4768850"/>
          <p14:tracePt t="387762" x="7988300" y="4794250"/>
          <p14:tracePt t="387815" x="7975600" y="4819650"/>
          <p14:tracePt t="387817" x="7969250" y="4826000"/>
          <p14:tracePt t="387862" x="7962900" y="4851400"/>
          <p14:tracePt t="387915" x="7950200" y="4883150"/>
          <p14:tracePt t="387963" x="7950200" y="4895850"/>
          <p14:tracePt t="388017" x="7956550" y="4921250"/>
          <p14:tracePt t="388064" x="7988300" y="4946650"/>
          <p14:tracePt t="388117" x="8064500" y="4959350"/>
          <p14:tracePt t="388165" x="8172450" y="4965700"/>
          <p14:tracePt t="388183" x="8242300" y="4972050"/>
          <p14:tracePt t="388184" x="8261350" y="4972050"/>
          <p14:tracePt t="388233" x="8350250" y="4972050"/>
          <p14:tracePt t="388287" x="8458200" y="4978400"/>
          <p14:tracePt t="388288" x="8470900" y="4978400"/>
          <p14:tracePt t="388339" x="8636000" y="4978400"/>
          <p14:tracePt t="388392" x="8712200" y="4972050"/>
          <p14:tracePt t="388493" x="8718550" y="4946650"/>
          <p14:tracePt t="388542" x="8750300" y="4876800"/>
          <p14:tracePt t="388595" x="8763000" y="4832350"/>
          <p14:tracePt t="388644" x="8763000" y="4794250"/>
          <p14:tracePt t="388701" x="8763000" y="4762500"/>
          <p14:tracePt t="388749" x="8724900" y="4730750"/>
          <p14:tracePt t="388801" x="8636000" y="4705350"/>
          <p14:tracePt t="388849" x="8528050" y="4692650"/>
          <p14:tracePt t="388902" x="8382000" y="4686300"/>
          <p14:tracePt t="388952" x="8267700" y="4686300"/>
          <p14:tracePt t="389004" x="8166100" y="4686300"/>
          <p14:tracePt t="389006" x="8153400" y="4686300"/>
          <p14:tracePt t="389055" x="8121650" y="4692650"/>
          <p14:tracePt t="389106" x="8070850" y="4711700"/>
          <p14:tracePt t="389154" x="8001000" y="4743450"/>
          <p14:tracePt t="389208" x="7950200" y="4768850"/>
          <p14:tracePt t="389258" x="7937500" y="4775200"/>
          <p14:tracePt t="389370" x="7924800" y="4800600"/>
          <p14:tracePt t="389427" x="7912100" y="4832350"/>
          <p14:tracePt t="389478" x="7912100" y="4857750"/>
          <p14:tracePt t="389535" x="7912100" y="4870450"/>
          <p14:tracePt t="389589" x="7918450" y="4902200"/>
          <p14:tracePt t="389638" x="7988300" y="4914900"/>
          <p14:tracePt t="389685" x="8134350" y="4927600"/>
          <p14:tracePt t="389738" x="8350250" y="4927600"/>
          <p14:tracePt t="389789" x="8489950" y="4927600"/>
          <p14:tracePt t="389841" x="8578850" y="4927600"/>
          <p14:tracePt t="389887" x="8616950" y="4927600"/>
          <p14:tracePt t="389938" x="8642350" y="4927600"/>
          <p14:tracePt t="389984" x="8655050" y="4927600"/>
          <p14:tracePt t="390249" x="0" y="0"/>
        </p14:tracePtLst>
        <p14:tracePtLst>
          <p14:tracePt t="439618" x="7766050" y="5803900"/>
          <p14:tracePt t="439771" x="7874000" y="5803900"/>
          <p14:tracePt t="439817" x="7962900" y="5803900"/>
          <p14:tracePt t="439869" x="8001000" y="5803900"/>
          <p14:tracePt t="439916" x="8032750" y="5803900"/>
          <p14:tracePt t="439965" x="8108950" y="5784850"/>
          <p14:tracePt t="440014" x="8274050" y="5721350"/>
          <p14:tracePt t="440064" x="8362950" y="5683250"/>
          <p14:tracePt t="440112" x="8375650" y="5657850"/>
          <p14:tracePt t="440167" x="8382000" y="5619750"/>
          <p14:tracePt t="440215" x="8375650" y="5581650"/>
          <p14:tracePt t="440267" x="8356600" y="5549900"/>
          <p14:tracePt t="440269" x="8350250" y="5549900"/>
          <p14:tracePt t="440316" x="8331200" y="5537200"/>
          <p14:tracePt t="440371" x="8248650" y="5518150"/>
          <p14:tracePt t="440418" x="8159750" y="5511800"/>
          <p14:tracePt t="440474" x="8045450" y="5499100"/>
          <p14:tracePt t="440523" x="7994650" y="5492750"/>
          <p14:tracePt t="440573" x="7931150" y="5492750"/>
          <p14:tracePt t="440622" x="7804150" y="5518150"/>
          <p14:tracePt t="440676" x="7677150" y="5543550"/>
          <p14:tracePt t="440725" x="7626350" y="5549900"/>
          <p14:tracePt t="440779" x="7594600" y="5556250"/>
          <p14:tracePt t="440829" x="7562850" y="5575300"/>
          <p14:tracePt t="440881" x="7537450" y="5594350"/>
          <p14:tracePt t="440932" x="7512050" y="5619750"/>
          <p14:tracePt t="440988" x="7499350" y="5645150"/>
          <p14:tracePt t="441038" x="7493000" y="5676900"/>
          <p14:tracePt t="441092" x="7499350" y="5715000"/>
          <p14:tracePt t="441143" x="7518400" y="5734050"/>
          <p14:tracePt t="441195" x="7569200" y="5753100"/>
          <p14:tracePt t="441246" x="7689850" y="5778500"/>
          <p14:tracePt t="441300" x="7791450" y="5797550"/>
          <p14:tracePt t="441301" x="7835900" y="5803900"/>
          <p14:tracePt t="441351" x="7956550" y="5816600"/>
          <p14:tracePt t="441404" x="8039100" y="5816600"/>
          <p14:tracePt t="441457" x="8159750" y="5822950"/>
          <p14:tracePt t="441514" x="8299450" y="5829300"/>
          <p14:tracePt t="441564" x="8388350" y="5835650"/>
          <p14:tracePt t="441620" x="8496300" y="5835650"/>
          <p14:tracePt t="441667" x="8578850" y="5835650"/>
          <p14:tracePt t="441722" x="8680450" y="5835650"/>
          <p14:tracePt t="441771" x="8750300" y="5835650"/>
          <p14:tracePt t="441822" x="8851900" y="5822950"/>
          <p14:tracePt t="441869" x="8915400" y="5810250"/>
          <p14:tracePt t="441923" x="8953500" y="5797550"/>
          <p14:tracePt t="441970" x="8991600" y="5772150"/>
          <p14:tracePt t="442025" x="9004300" y="5759450"/>
          <p14:tracePt t="442071" x="9048750" y="5727700"/>
          <p14:tracePt t="442124" x="9080500" y="5702300"/>
          <p14:tracePt t="442173" x="9086850" y="5683250"/>
          <p14:tracePt t="442229" x="9093200" y="5645150"/>
          <p14:tracePt t="442277" x="9086850" y="5626100"/>
          <p14:tracePt t="442284" x="9086850" y="5619750"/>
          <p14:tracePt t="442335" x="9067800" y="5600700"/>
          <p14:tracePt t="442394" x="9023350" y="5575300"/>
          <p14:tracePt t="442446" x="8921750" y="5537200"/>
          <p14:tracePt t="442498" x="8839200" y="5511800"/>
          <p14:tracePt t="442546" x="8788400" y="5505450"/>
          <p14:tracePt t="442596" x="8705850" y="5499100"/>
          <p14:tracePt t="442644" x="8578850" y="5492750"/>
          <p14:tracePt t="442699" x="8451850" y="5486400"/>
          <p14:tracePt t="442750" x="8382000" y="5486400"/>
          <p14:tracePt t="442752" x="8369300" y="5486400"/>
          <p14:tracePt t="442806" x="8274050" y="5486400"/>
          <p14:tracePt t="442856" x="8153400" y="5486400"/>
          <p14:tracePt t="442911" x="8089900" y="5492750"/>
          <p14:tracePt t="442960" x="8013700" y="5505450"/>
          <p14:tracePt t="442961" x="8001000" y="5505450"/>
          <p14:tracePt t="443020" x="7905750" y="5524500"/>
          <p14:tracePt t="443069" x="7797800" y="5543550"/>
          <p14:tracePt t="443125" x="7715250" y="5562600"/>
          <p14:tracePt t="443173" x="7683500" y="5568950"/>
          <p14:tracePt t="443227" x="7651750" y="5588000"/>
          <p14:tracePt t="443277" x="7626350" y="5600700"/>
          <p14:tracePt t="443333" x="7607300" y="5619750"/>
          <p14:tracePt t="443380" x="7594600" y="5626100"/>
          <p14:tracePt t="443433" x="7588250" y="5638800"/>
          <p14:tracePt t="443479" x="7588250" y="5657850"/>
          <p14:tracePt t="443529" x="7588250" y="5683250"/>
          <p14:tracePt t="443576" x="7588250" y="5708650"/>
          <p14:tracePt t="443628" x="7600950" y="5727700"/>
          <p14:tracePt t="443676" x="7620000" y="5746750"/>
          <p14:tracePt t="443730" x="7645400" y="5772150"/>
          <p14:tracePt t="443780" x="7721600" y="5803900"/>
          <p14:tracePt t="443832" x="7804150" y="5816600"/>
          <p14:tracePt t="443880" x="7912100" y="5816600"/>
          <p14:tracePt t="443935" x="8045450" y="5822950"/>
          <p14:tracePt t="443988" x="8102600" y="5822950"/>
          <p14:tracePt t="444043" x="8210550" y="5829300"/>
          <p14:tracePt t="444090" x="8337550" y="5835650"/>
          <p14:tracePt t="444146" x="8445500" y="5835650"/>
          <p14:tracePt t="444196" x="8502650" y="5842000"/>
          <p14:tracePt t="444255" x="8540750" y="5842000"/>
          <p14:tracePt t="444307" x="8661400" y="5829300"/>
          <p14:tracePt t="444364" x="8769350" y="5822950"/>
          <p14:tracePt t="444413" x="8826500" y="5822950"/>
          <p14:tracePt t="444463" x="8870950" y="5810250"/>
          <p14:tracePt t="444511" x="8902700" y="5803900"/>
          <p14:tracePt t="444564" x="8928100" y="5797550"/>
          <p14:tracePt t="444612" x="8959850" y="5784850"/>
          <p14:tracePt t="444662" x="9010650" y="5765800"/>
          <p14:tracePt t="444714" x="9036050" y="5759450"/>
          <p14:tracePt t="444771" x="9061450" y="5734050"/>
          <p14:tracePt t="444820" x="9074150" y="5727700"/>
          <p14:tracePt t="444873" x="9080500" y="5721350"/>
          <p14:tracePt t="444923" x="9086850" y="5702300"/>
          <p14:tracePt t="444975" x="9099550" y="5689600"/>
          <p14:tracePt t="445024" x="9099550" y="5676900"/>
          <p14:tracePt t="445076" x="9099550" y="5664200"/>
          <p14:tracePt t="445126" x="9099550" y="5645150"/>
          <p14:tracePt t="445180" x="9093200" y="5626100"/>
          <p14:tracePt t="445231" x="9074150" y="5607050"/>
          <p14:tracePt t="445287" x="9042400" y="5588000"/>
          <p14:tracePt t="445341" x="9010650" y="5575300"/>
          <p14:tracePt t="445342" x="8997950" y="5575300"/>
          <p14:tracePt t="445400" x="8915400" y="5556250"/>
          <p14:tracePt t="445455" x="8737600" y="5530850"/>
          <p14:tracePt t="445511" x="8629650" y="5524500"/>
          <p14:tracePt t="445512" x="8610600" y="5524500"/>
          <p14:tracePt t="445561" x="8547100" y="5518150"/>
          <p14:tracePt t="445616" x="8502650" y="5518150"/>
          <p14:tracePt t="445662" x="8426450" y="5518150"/>
          <p14:tracePt t="445663" x="8407400" y="5518150"/>
          <p14:tracePt t="445716" x="8324850" y="5518150"/>
          <p14:tracePt t="445767" x="8242300" y="5518150"/>
          <p14:tracePt t="445818" x="8134350" y="5524500"/>
          <p14:tracePt t="445867" x="8051800" y="5524500"/>
          <p14:tracePt t="445919" x="8007350" y="5530850"/>
          <p14:tracePt t="445921" x="7994650" y="5530850"/>
          <p14:tracePt t="445970" x="7931150" y="5543550"/>
          <p14:tracePt t="446023" x="7867650" y="5556250"/>
          <p14:tracePt t="446071" x="7823200" y="5562600"/>
          <p14:tracePt t="446122" x="7797800" y="5568950"/>
          <p14:tracePt t="446170" x="7766050" y="5575300"/>
          <p14:tracePt t="446222" x="7734300" y="5581650"/>
          <p14:tracePt t="446271" x="7702550" y="5588000"/>
          <p14:tracePt t="446322" x="7670800" y="5594350"/>
          <p14:tracePt t="446370" x="7645400" y="5600700"/>
          <p14:tracePt t="446426" x="7632700" y="5607050"/>
          <p14:tracePt t="446477" x="7620000" y="5613400"/>
          <p14:tracePt t="446531" x="7613650" y="5626100"/>
          <p14:tracePt t="446577" x="7607300" y="5638800"/>
          <p14:tracePt t="446630" x="7594600" y="5651500"/>
          <p14:tracePt t="446675" x="7588250" y="5664200"/>
          <p14:tracePt t="446727" x="7588250" y="5683250"/>
          <p14:tracePt t="446776" x="7600950" y="5715000"/>
          <p14:tracePt t="446830" x="7620000" y="5727700"/>
          <p14:tracePt t="446876" x="7658100" y="5740400"/>
          <p14:tracePt t="446877" x="7664450" y="5740400"/>
          <p14:tracePt t="446931" x="7753350" y="5759450"/>
          <p14:tracePt t="446977" x="7874000" y="5765800"/>
          <p14:tracePt t="447031" x="7994650" y="5772150"/>
          <p14:tracePt t="447081" x="8108950" y="5772150"/>
          <p14:tracePt t="447135" x="8210550" y="5772150"/>
          <p14:tracePt t="447184" x="8388350" y="5778500"/>
          <p14:tracePt t="447240" x="8528050" y="5778500"/>
          <p14:tracePt t="447288" x="8712200" y="5778500"/>
          <p14:tracePt t="447344" x="8959850" y="5772150"/>
          <p14:tracePt t="447391" x="8972550" y="5772150"/>
          <p14:tracePt t="447492" x="8978900" y="5765800"/>
          <p14:tracePt t="447591" x="8985250" y="5765800"/>
          <p14:tracePt t="447642" x="9036050" y="5765800"/>
          <p14:tracePt t="447691" x="9048750" y="5765800"/>
          <p14:tracePt t="448135" x="0" y="0"/>
        </p14:tracePtLst>
        <p14:tracePtLst>
          <p14:tracePt t="457029" x="8756650" y="5969000"/>
          <p14:tracePt t="457032" x="8756650" y="5962650"/>
          <p14:tracePt t="457079" x="8743950" y="5962650"/>
          <p14:tracePt t="457131" x="8636000" y="5962650"/>
          <p14:tracePt t="457176" x="8509000" y="5981700"/>
          <p14:tracePt t="457228" x="8470900" y="5994400"/>
          <p14:tracePt t="457275" x="8470900" y="6019800"/>
          <p14:tracePt t="457328" x="8464550" y="6045200"/>
          <p14:tracePt t="457375" x="8458200" y="6083300"/>
          <p14:tracePt t="457428" x="8458200" y="6096000"/>
          <p14:tracePt t="457476" x="8458200" y="6108700"/>
          <p14:tracePt t="457528" x="8515350" y="6134100"/>
          <p14:tracePt t="457574" x="8585200" y="6153150"/>
          <p14:tracePt t="457628" x="8616950" y="6165850"/>
          <p14:tracePt t="457675" x="8642350" y="6165850"/>
          <p14:tracePt t="457728" x="8680450" y="6165850"/>
          <p14:tracePt t="457777" x="8769350" y="6159500"/>
          <p14:tracePt t="457829" x="8839200" y="6159500"/>
          <p14:tracePt t="457874" x="8877300" y="6153150"/>
          <p14:tracePt t="457925" x="8909050" y="6140450"/>
          <p14:tracePt t="457972" x="8959850" y="6115050"/>
          <p14:tracePt t="458029" x="8985250" y="6096000"/>
          <p14:tracePt t="458075" x="8997950" y="6070600"/>
          <p14:tracePt t="458130" x="9004300" y="6032500"/>
          <p14:tracePt t="458178" x="9004300" y="6007100"/>
          <p14:tracePt t="458179" x="9004300" y="6000750"/>
          <p14:tracePt t="458232" x="9004300" y="5988050"/>
          <p14:tracePt t="458279" x="8991600" y="5975350"/>
          <p14:tracePt t="458333" x="8953500" y="5962650"/>
          <p14:tracePt t="458380" x="8877300" y="5937250"/>
          <p14:tracePt t="458430" x="8794750" y="5918200"/>
          <p14:tracePt t="458478" x="8756650" y="5918200"/>
          <p14:tracePt t="458530" x="8705850" y="5918200"/>
          <p14:tracePt t="458578" x="8680450" y="5918200"/>
          <p14:tracePt t="458630" x="8674100" y="5918200"/>
          <p14:tracePt t="458724" x="8667750" y="5924550"/>
          <p14:tracePt t="458776" x="8667750" y="5937250"/>
          <p14:tracePt t="458825" x="0" y="0"/>
        </p14:tracePtLst>
        <p14:tracePtLst>
          <p14:tracePt t="468479" x="8553450" y="4699000"/>
          <p14:tracePt t="468587" x="8470900" y="4660900"/>
          <p14:tracePt t="468634" x="8210550" y="4622800"/>
          <p14:tracePt t="468685" x="8083550" y="4616450"/>
          <p14:tracePt t="468740" x="8064500" y="4622800"/>
          <p14:tracePt t="468802" x="7981950" y="4673600"/>
          <p14:tracePt t="468853" x="7861300" y="4743450"/>
          <p14:tracePt t="468905" x="7823200" y="4800600"/>
          <p14:tracePt t="468954" x="7823200" y="4832350"/>
          <p14:tracePt t="469006" x="7950200" y="4946650"/>
          <p14:tracePt t="469055" x="8299450" y="5035550"/>
          <p14:tracePt t="469104" x="8629650" y="4991100"/>
          <p14:tracePt t="469154" x="8813800" y="4845050"/>
          <p14:tracePt t="469206" x="8826500" y="4819650"/>
          <p14:tracePt t="469353" x="0" y="0"/>
        </p14:tracePtLst>
        <p14:tracePtLst>
          <p14:tracePt t="469865" x="7912100" y="5378450"/>
          <p14:tracePt t="469919" x="7791450" y="5435600"/>
          <p14:tracePt t="469969" x="7721600" y="5492750"/>
          <p14:tracePt t="470023" x="7639050" y="5607050"/>
          <p14:tracePt t="470070" x="7607300" y="5664200"/>
          <p14:tracePt t="470125" x="7581900" y="5721350"/>
          <p14:tracePt t="470172" x="7581900" y="5746750"/>
          <p14:tracePt t="470228" x="7569200" y="5791200"/>
          <p14:tracePt t="470277" x="7562850" y="5803900"/>
          <p14:tracePt t="470331" x="7632700" y="5829300"/>
          <p14:tracePt t="470379" x="7893050" y="5835650"/>
          <p14:tracePt t="470432" x="8089900" y="5822950"/>
          <p14:tracePt t="470481" x="8108950" y="5816600"/>
          <p14:tracePt t="470483" x="8108950" y="5810250"/>
          <p14:tracePt t="470536" x="8140700" y="5772150"/>
          <p14:tracePt t="470584" x="8172450" y="5695950"/>
          <p14:tracePt t="470641" x="8178800" y="5632450"/>
          <p14:tracePt t="470642" x="8178800" y="5619750"/>
          <p14:tracePt t="470689" x="8178800" y="5588000"/>
          <p14:tracePt t="470742" x="8153400" y="5568950"/>
          <p14:tracePt t="470792" x="7969250" y="5524500"/>
          <p14:tracePt t="470849" x="7766050" y="5473700"/>
          <p14:tracePt t="470898" x="7753350" y="5473700"/>
          <p14:tracePt t="470997" x="0" y="0"/>
        </p14:tracePtLst>
        <p14:tracePtLst>
          <p14:tracePt t="474201" x="9785350" y="4578350"/>
          <p14:tracePt t="474206" x="9791700" y="4578350"/>
          <p14:tracePt t="474259" x="9836150" y="4584700"/>
          <p14:tracePt t="474316" x="10090150" y="4629150"/>
          <p14:tracePt t="474366" x="10255250" y="4629150"/>
          <p14:tracePt t="474367" x="10261600" y="4629150"/>
          <p14:tracePt t="474418" x="10331450" y="4629150"/>
          <p14:tracePt t="474465" x="10471150" y="4629150"/>
          <p14:tracePt t="474516" x="10553700" y="4629150"/>
          <p14:tracePt t="474562" x="10642600" y="4629150"/>
          <p14:tracePt t="474615" x="10725150" y="4629150"/>
          <p14:tracePt t="474662" x="10801350" y="4629150"/>
          <p14:tracePt t="474715" x="10985500" y="4610100"/>
          <p14:tracePt t="474765" x="11099800" y="4591050"/>
          <p14:tracePt t="474818" x="11125200" y="4578350"/>
          <p14:tracePt t="474866" x="11163300" y="4552950"/>
          <p14:tracePt t="474920" x="11188700" y="4533900"/>
          <p14:tracePt t="474968" x="11226800" y="4502150"/>
          <p14:tracePt t="475028" x="11245850" y="4483100"/>
          <p14:tracePt t="475075" x="11252200" y="4470400"/>
          <p14:tracePt t="475128" x="11252200" y="4457700"/>
          <p14:tracePt t="475177" x="11252200" y="4406900"/>
          <p14:tracePt t="475230" x="11233150" y="4349750"/>
          <p14:tracePt t="475279" x="11214100" y="4311650"/>
          <p14:tracePt t="475333" x="11112500" y="4260850"/>
          <p14:tracePt t="475380" x="10947400" y="4203700"/>
          <p14:tracePt t="475381" x="10922000" y="4197350"/>
          <p14:tracePt t="475432" x="10795000" y="4159250"/>
          <p14:tracePt t="475480" x="10699750" y="4140200"/>
          <p14:tracePt t="475533" x="10591800" y="4121150"/>
          <p14:tracePt t="475581" x="10477500" y="4114800"/>
          <p14:tracePt t="475583" x="10464800" y="4114800"/>
          <p14:tracePt t="475633" x="10318750" y="4114800"/>
          <p14:tracePt t="475680" x="10236200" y="4114800"/>
          <p14:tracePt t="475681" x="10223500" y="4114800"/>
          <p14:tracePt t="475733" x="10191750" y="4114800"/>
          <p14:tracePt t="475782" x="10134600" y="4114800"/>
          <p14:tracePt t="475783" x="10109200" y="4121150"/>
          <p14:tracePt t="475836" x="9982200" y="4146550"/>
          <p14:tracePt t="475884" x="9925050" y="4165600"/>
          <p14:tracePt t="475935" x="9836150" y="4216400"/>
          <p14:tracePt t="475937" x="9829800" y="4222750"/>
          <p14:tracePt t="475982" x="9798050" y="4241800"/>
          <p14:tracePt t="476037" x="9759950" y="4305300"/>
          <p14:tracePt t="476084" x="9740900" y="4349750"/>
          <p14:tracePt t="476136" x="9734550" y="4400550"/>
          <p14:tracePt t="476183" x="9734550" y="4457700"/>
          <p14:tracePt t="476236" x="9753600" y="4508500"/>
          <p14:tracePt t="476286" x="9823450" y="4572000"/>
          <p14:tracePt t="476336" x="9874250" y="4597400"/>
          <p14:tracePt t="476383" x="10033000" y="4641850"/>
          <p14:tracePt t="476433" x="10185400" y="4667250"/>
          <p14:tracePt t="476481" x="10299700" y="4667250"/>
          <p14:tracePt t="476584" x="10591800" y="4667250"/>
          <p14:tracePt t="476631" x="10674350" y="4667250"/>
          <p14:tracePt t="476682" x="10839450" y="4667250"/>
          <p14:tracePt t="476730" x="10915650" y="4667250"/>
          <p14:tracePt t="476731" x="10922000" y="4667250"/>
          <p14:tracePt t="476784" x="10985500" y="4667250"/>
          <p14:tracePt t="476835" x="11029950" y="4660900"/>
          <p14:tracePt t="476887" x="11036300" y="4660900"/>
          <p14:tracePt t="476936" x="11042650" y="4660900"/>
          <p14:tracePt t="477185" x="0" y="0"/>
        </p14:tracePtLst>
      </p14:laserTraceLst>
    </p:ext>
    <p:ext uri="{E180D4A7-C9FB-4DFB-919C-405C955672EB}">
      <p14:showEvtLst xmlns:p14="http://schemas.microsoft.com/office/powerpoint/2010/main">
        <p14:playEvt time="118" objId="79"/>
        <p14:stopEvt time="511791" objId="79"/>
      </p14:showEvtLst>
    </p:ext>
  </p:extLs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54D41-CE68-4AFB-AFB2-97387A94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中断返回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95103D-1CF2-4CDF-BAC6-97DD3DD9A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1124744"/>
            <a:ext cx="601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中断返回指令实现        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IRET</a:t>
            </a:r>
          </a:p>
        </p:txBody>
      </p:sp>
    </p:spTree>
    <p:extLst>
      <p:ext uri="{BB962C8B-B14F-4D97-AF65-F5344CB8AC3E}">
        <p14:creationId xmlns:p14="http://schemas.microsoft.com/office/powerpoint/2010/main" val="361773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79" y="116632"/>
            <a:ext cx="7886700" cy="617641"/>
          </a:xfrm>
        </p:spPr>
        <p:txBody>
          <a:bodyPr>
            <a:normAutofit/>
          </a:bodyPr>
          <a:lstStyle/>
          <a:p>
            <a:r>
              <a:rPr lang="zh-CN" altLang="en-US" dirty="0"/>
              <a:t>回顾和总结：指令执行一般流程</a:t>
            </a:r>
          </a:p>
        </p:txBody>
      </p:sp>
      <p:sp>
        <p:nvSpPr>
          <p:cNvPr id="4" name="TextBox 24"/>
          <p:cNvSpPr txBox="1"/>
          <p:nvPr/>
        </p:nvSpPr>
        <p:spPr>
          <a:xfrm>
            <a:off x="179512" y="836712"/>
            <a:ext cx="8109289" cy="143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3827" indent="-243827" defTabSz="685800" fontAlgn="auto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1706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取指令、执行指令反复循环</a:t>
            </a:r>
            <a:endParaRPr lang="en-US" altLang="zh-CN" sz="1706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Black" panose="020B0A02040204020203" pitchFamily="34" charset="0"/>
              <a:sym typeface="Arial" panose="020B0604020202020204" pitchFamily="34" charset="0"/>
            </a:endParaRPr>
          </a:p>
          <a:p>
            <a:pPr marL="243827" indent="-243827" defTabSz="685800" fontAlgn="auto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1706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指令功能、寻址方式不同，数据通路不同，执行时间不同，</a:t>
            </a:r>
            <a:r>
              <a:rPr lang="zh-CN" altLang="en-US" sz="1706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如何安排时序？</a:t>
            </a:r>
            <a:endParaRPr lang="zh-CN" altLang="en-US" sz="1706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98972" lvl="1" indent="-243827" defTabSz="685800" fontAlgn="auto">
              <a:lnSpc>
                <a:spcPct val="150000"/>
              </a:lnSpc>
              <a:spcBef>
                <a:spcPts val="427"/>
              </a:spcBef>
              <a:spcAft>
                <a:spcPts val="427"/>
              </a:spcAft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1706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Black" panose="020B0A02040204020203" pitchFamily="34" charset="0"/>
                <a:sym typeface="Arial" panose="020B0604020202020204" pitchFamily="34" charset="0"/>
              </a:rPr>
              <a:t>访存指令、寄存器运算指令、加法指令、除法指令</a:t>
            </a:r>
            <a:endParaRPr lang="en-US" altLang="zh-CN" sz="1706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Black" panose="020B0A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637627" y="3202686"/>
            <a:ext cx="864347" cy="864347"/>
          </a:xfrm>
          <a:prstGeom prst="ellipse">
            <a:avLst/>
          </a:prstGeom>
          <a:solidFill>
            <a:srgbClr val="FFC000"/>
          </a:solidFill>
          <a:ln w="28575" algn="ctr">
            <a:solidFill>
              <a:schemeClr val="tx1"/>
            </a:solidFill>
            <a:round/>
            <a:headEnd/>
            <a:tailEnd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none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349" b="1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rPr>
              <a:t>取指令</a:t>
            </a:r>
            <a:endParaRPr lang="en-US" altLang="zh-CN" sz="1349" b="1" dirty="0">
              <a:solidFill>
                <a:prstClr val="black"/>
              </a:solidFill>
              <a:latin typeface="Segoe UI Black" panose="020B0A02040204020203" pitchFamily="34" charset="0"/>
              <a:ea typeface="微软雅黑" panose="020B0503020204020204" pitchFamily="34" charset="-122"/>
              <a:cs typeface="Segoe UI Black" panose="020B0A02040204020203" pitchFamily="34" charset="0"/>
            </a:endParaRPr>
          </a:p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49" b="1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rPr>
              <a:t>PC++</a:t>
            </a:r>
            <a:endParaRPr lang="zh-CN" altLang="en-US" sz="1349" b="1" dirty="0">
              <a:solidFill>
                <a:prstClr val="black"/>
              </a:solidFill>
              <a:latin typeface="Segoe UI Black" panose="020B0A02040204020203" pitchFamily="34" charset="0"/>
              <a:ea typeface="微软雅黑" panose="020B0503020204020204" pitchFamily="34" charset="-122"/>
              <a:cs typeface="Segoe UI Black" panose="020B0A02040204020203" pitchFamily="34" charset="0"/>
            </a:endParaRP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849248" y="3202686"/>
            <a:ext cx="864347" cy="864347"/>
          </a:xfrm>
          <a:prstGeom prst="ellipse">
            <a:avLst/>
          </a:prstGeom>
          <a:solidFill>
            <a:srgbClr val="FFC000"/>
          </a:solidFill>
          <a:ln w="28575" algn="ctr">
            <a:solidFill>
              <a:schemeClr val="tx1"/>
            </a:solidFill>
            <a:round/>
            <a:headEnd/>
            <a:tailEnd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none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349" b="1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rPr>
              <a:t>指令译码</a:t>
            </a:r>
            <a:endParaRPr lang="en-US" altLang="zh-CN" sz="1349" b="1" dirty="0">
              <a:solidFill>
                <a:prstClr val="black"/>
              </a:solidFill>
              <a:latin typeface="Segoe UI Black" panose="020B0A02040204020203" pitchFamily="34" charset="0"/>
              <a:ea typeface="微软雅黑" panose="020B0503020204020204" pitchFamily="34" charset="-122"/>
              <a:cs typeface="Segoe UI Black" panose="020B0A02040204020203" pitchFamily="34" charset="0"/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5484111" y="3202686"/>
            <a:ext cx="864347" cy="864347"/>
          </a:xfrm>
          <a:prstGeom prst="ellipse">
            <a:avLst/>
          </a:prstGeom>
          <a:solidFill>
            <a:srgbClr val="FFC000"/>
          </a:solidFill>
          <a:ln w="28575" algn="ctr">
            <a:solidFill>
              <a:schemeClr val="tx1"/>
            </a:solidFill>
            <a:round/>
            <a:headEnd/>
            <a:tailEnd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none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349" b="1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rPr>
              <a:t>数据操作</a:t>
            </a:r>
            <a:endParaRPr lang="en-US" altLang="zh-CN" sz="1349" b="1" dirty="0">
              <a:solidFill>
                <a:prstClr val="black"/>
              </a:solidFill>
              <a:latin typeface="Segoe UI Black" panose="020B0A02040204020203" pitchFamily="34" charset="0"/>
              <a:ea typeface="微软雅黑" panose="020B0503020204020204" pitchFamily="34" charset="-122"/>
              <a:cs typeface="Segoe UI Black" panose="020B0A02040204020203" pitchFamily="34" charset="0"/>
            </a:endParaRPr>
          </a:p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349" b="1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rPr>
              <a:t>指令执行</a:t>
            </a:r>
            <a:endParaRPr lang="en-US" altLang="zh-CN" sz="1349" b="1" dirty="0">
              <a:solidFill>
                <a:prstClr val="black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cxnSp>
        <p:nvCxnSpPr>
          <p:cNvPr id="8" name="直接箭头连接符 7"/>
          <p:cNvCxnSpPr>
            <a:stCxn id="5" idx="6"/>
            <a:endCxn id="6" idx="2"/>
          </p:cNvCxnSpPr>
          <p:nvPr/>
        </p:nvCxnSpPr>
        <p:spPr>
          <a:xfrm>
            <a:off x="1501974" y="3634859"/>
            <a:ext cx="347275" cy="0"/>
          </a:xfrm>
          <a:prstGeom prst="straightConnector1">
            <a:avLst/>
          </a:prstGeom>
          <a:ln w="38100">
            <a:tailEnd type="triangle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2713595" y="3634859"/>
            <a:ext cx="347275" cy="0"/>
          </a:xfrm>
          <a:prstGeom prst="straightConnector1">
            <a:avLst/>
          </a:prstGeom>
          <a:ln w="38100">
            <a:tailEnd type="triangle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3060869" y="3202686"/>
            <a:ext cx="2075967" cy="864347"/>
            <a:chOff x="4324142" y="3801131"/>
            <a:chExt cx="2919329" cy="1215487"/>
          </a:xfrm>
        </p:grpSpPr>
        <p:sp>
          <p:nvSpPr>
            <p:cNvPr id="11" name="Oval 4"/>
            <p:cNvSpPr>
              <a:spLocks noChangeArrowheads="1"/>
            </p:cNvSpPr>
            <p:nvPr/>
          </p:nvSpPr>
          <p:spPr bwMode="auto">
            <a:xfrm>
              <a:off x="4324142" y="3801131"/>
              <a:ext cx="1215487" cy="121548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chemeClr val="accent2"/>
              </a:solidFill>
              <a:prstDash val="solid"/>
              <a:round/>
              <a:headEnd/>
              <a:tailE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49" b="1" dirty="0">
                  <a:solidFill>
                    <a:prstClr val="black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操作数</a:t>
              </a:r>
              <a:endParaRPr lang="en-US" altLang="zh-CN" sz="1349" b="1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49" b="1" dirty="0">
                  <a:solidFill>
                    <a:prstClr val="black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地址计算</a:t>
              </a:r>
              <a:endParaRPr lang="en-US" altLang="zh-CN" sz="1349" b="1" dirty="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12" name="Oval 4"/>
            <p:cNvSpPr>
              <a:spLocks noChangeArrowheads="1"/>
            </p:cNvSpPr>
            <p:nvPr/>
          </p:nvSpPr>
          <p:spPr bwMode="auto">
            <a:xfrm>
              <a:off x="6027984" y="3801131"/>
              <a:ext cx="1215487" cy="121548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chemeClr val="accent2"/>
              </a:solidFill>
              <a:prstDash val="solid"/>
              <a:round/>
              <a:headEnd/>
              <a:tailE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49" b="1" dirty="0">
                  <a:solidFill>
                    <a:prstClr val="black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取操作数</a:t>
              </a:r>
              <a:endParaRPr lang="en-US" altLang="zh-CN" sz="1349" b="1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>
              <a:off x="5539629" y="4408875"/>
              <a:ext cx="488355" cy="0"/>
            </a:xfrm>
            <a:prstGeom prst="straightConnector1">
              <a:avLst/>
            </a:prstGeom>
            <a:ln w="38100">
              <a:tailEnd type="triangle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箭头连接符 13"/>
          <p:cNvCxnSpPr/>
          <p:nvPr/>
        </p:nvCxnSpPr>
        <p:spPr>
          <a:xfrm>
            <a:off x="5136837" y="3634859"/>
            <a:ext cx="347275" cy="0"/>
          </a:xfrm>
          <a:prstGeom prst="straightConnector1">
            <a:avLst/>
          </a:prstGeom>
          <a:ln w="38100">
            <a:tailEnd type="triangle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6348458" y="3634859"/>
            <a:ext cx="347275" cy="0"/>
          </a:xfrm>
          <a:prstGeom prst="straightConnector1">
            <a:avLst/>
          </a:prstGeom>
          <a:ln w="38100">
            <a:tailEnd type="triangle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6695732" y="3202686"/>
            <a:ext cx="2075966" cy="864347"/>
            <a:chOff x="9435668" y="3801131"/>
            <a:chExt cx="2919327" cy="1215487"/>
          </a:xfrm>
        </p:grpSpPr>
        <p:sp>
          <p:nvSpPr>
            <p:cNvPr id="17" name="Oval 4"/>
            <p:cNvSpPr>
              <a:spLocks noChangeArrowheads="1"/>
            </p:cNvSpPr>
            <p:nvPr/>
          </p:nvSpPr>
          <p:spPr bwMode="auto">
            <a:xfrm>
              <a:off x="9435668" y="3801131"/>
              <a:ext cx="1215487" cy="121548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chemeClr val="accent2"/>
              </a:solidFill>
              <a:prstDash val="solid"/>
              <a:round/>
              <a:headEnd/>
              <a:tailE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49" b="1" dirty="0">
                  <a:solidFill>
                    <a:prstClr val="black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操作数</a:t>
              </a:r>
              <a:endParaRPr lang="en-US" altLang="zh-CN" sz="1349" b="1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49" b="1" dirty="0">
                  <a:solidFill>
                    <a:prstClr val="black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地址计算</a:t>
              </a:r>
              <a:endParaRPr lang="en-US" altLang="zh-CN" sz="1349" b="1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sp>
          <p:nvSpPr>
            <p:cNvPr id="18" name="Oval 4"/>
            <p:cNvSpPr>
              <a:spLocks noChangeArrowheads="1"/>
            </p:cNvSpPr>
            <p:nvPr/>
          </p:nvSpPr>
          <p:spPr bwMode="auto">
            <a:xfrm>
              <a:off x="11139508" y="3801131"/>
              <a:ext cx="1215487" cy="121548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chemeClr val="accent2"/>
              </a:solidFill>
              <a:prstDash val="solid"/>
              <a:round/>
              <a:headEnd/>
              <a:tailE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49" b="1" dirty="0">
                  <a:solidFill>
                    <a:prstClr val="black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存操作数</a:t>
              </a:r>
              <a:endParaRPr lang="en-US" altLang="zh-CN" sz="1349" b="1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cxnSp>
          <p:nvCxnSpPr>
            <p:cNvPr id="19" name="直接箭头连接符 18"/>
            <p:cNvCxnSpPr/>
            <p:nvPr/>
          </p:nvCxnSpPr>
          <p:spPr>
            <a:xfrm>
              <a:off x="10651155" y="4408875"/>
              <a:ext cx="488355" cy="0"/>
            </a:xfrm>
            <a:prstGeom prst="straightConnector1">
              <a:avLst/>
            </a:prstGeom>
            <a:ln w="38100">
              <a:tailEnd type="triangle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1380158" y="3942559"/>
            <a:ext cx="6658538" cy="515125"/>
            <a:chOff x="1944019" y="4621694"/>
            <a:chExt cx="9363569" cy="724392"/>
          </a:xfrm>
        </p:grpSpPr>
        <p:cxnSp>
          <p:nvCxnSpPr>
            <p:cNvPr id="21" name="曲线连接符 20"/>
            <p:cNvCxnSpPr>
              <a:stCxn id="18" idx="3"/>
              <a:endCxn id="5" idx="5"/>
            </p:cNvCxnSpPr>
            <p:nvPr/>
          </p:nvCxnSpPr>
          <p:spPr>
            <a:xfrm rot="5400000">
              <a:off x="6619106" y="-53393"/>
              <a:ext cx="13395" cy="9363569"/>
            </a:xfrm>
            <a:prstGeom prst="curvedConnector3">
              <a:avLst>
                <a:gd name="adj1" fmla="val 5288929"/>
              </a:avLst>
            </a:prstGeom>
            <a:ln w="38100">
              <a:tailEnd type="triangle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>
              <a:off x="6005588" y="4850248"/>
              <a:ext cx="1409340" cy="49583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lnSpc>
                  <a:spcPct val="150000"/>
                </a:lnSpc>
                <a:spcBef>
                  <a:spcPts val="427"/>
                </a:spcBef>
                <a:spcAft>
                  <a:spcPts val="427"/>
                </a:spcAft>
                <a:buClr>
                  <a:srgbClr val="FFC000"/>
                </a:buClr>
              </a:pPr>
              <a:r>
                <a:rPr lang="zh-CN" altLang="en-US" sz="1280" b="1" dirty="0">
                  <a:solidFill>
                    <a:srgbClr val="0066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  <a:sym typeface="Arial" panose="020B0604020202020204" pitchFamily="34" charset="0"/>
                </a:rPr>
                <a:t>无中断异常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069801" y="4073891"/>
            <a:ext cx="7269725" cy="1410759"/>
            <a:chOff x="1467633" y="4855969"/>
            <a:chExt cx="10223050" cy="1983880"/>
          </a:xfrm>
        </p:grpSpPr>
        <p:sp>
          <p:nvSpPr>
            <p:cNvPr id="24" name="Oval 4"/>
            <p:cNvSpPr>
              <a:spLocks noChangeArrowheads="1"/>
            </p:cNvSpPr>
            <p:nvPr/>
          </p:nvSpPr>
          <p:spPr bwMode="auto">
            <a:xfrm>
              <a:off x="6034333" y="5624362"/>
              <a:ext cx="1215487" cy="1215487"/>
            </a:xfrm>
            <a:prstGeom prst="ellipse">
              <a:avLst/>
            </a:prstGeom>
            <a:solidFill>
              <a:srgbClr val="FFC000"/>
            </a:solidFill>
            <a:ln w="28575" algn="ctr">
              <a:solidFill>
                <a:srgbClr val="FF0000"/>
              </a:solidFill>
              <a:round/>
              <a:headEnd/>
              <a:tailE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49" b="1" dirty="0">
                  <a:solidFill>
                    <a:prstClr val="black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中断响应</a:t>
              </a:r>
              <a:endParaRPr lang="en-US" altLang="zh-CN" sz="1349" b="1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49" b="1" dirty="0">
                  <a:solidFill>
                    <a:prstClr val="black"/>
                  </a:solidFill>
                  <a:latin typeface="Segoe UI Black" panose="020B0A02040204020203" pitchFamily="34" charset="0"/>
                  <a:ea typeface="微软雅黑" panose="020B0503020204020204" pitchFamily="34" charset="-122"/>
                  <a:cs typeface="Segoe UI Black" panose="020B0A02040204020203" pitchFamily="34" charset="0"/>
                </a:rPr>
                <a:t>周期</a:t>
              </a:r>
              <a:endParaRPr lang="en-US" altLang="zh-CN" sz="1349" b="1" dirty="0">
                <a:solidFill>
                  <a:prstClr val="black"/>
                </a:solidFill>
                <a:latin typeface="Segoe UI Black" panose="020B0A02040204020203" pitchFamily="34" charset="0"/>
                <a:ea typeface="微软雅黑" panose="020B0503020204020204" pitchFamily="34" charset="-122"/>
                <a:cs typeface="Segoe UI Black" panose="020B0A02040204020203" pitchFamily="34" charset="0"/>
              </a:endParaRPr>
            </a:p>
          </p:txBody>
        </p:sp>
        <p:cxnSp>
          <p:nvCxnSpPr>
            <p:cNvPr id="25" name="曲线连接符 24"/>
            <p:cNvCxnSpPr>
              <a:stCxn id="18" idx="4"/>
              <a:endCxn id="24" idx="6"/>
            </p:cNvCxnSpPr>
            <p:nvPr/>
          </p:nvCxnSpPr>
          <p:spPr>
            <a:xfrm rot="5400000">
              <a:off x="8782184" y="3323606"/>
              <a:ext cx="1376136" cy="4440862"/>
            </a:xfrm>
            <a:prstGeom prst="curvedConnector2">
              <a:avLst/>
            </a:prstGeom>
            <a:ln w="38100">
              <a:solidFill>
                <a:srgbClr val="FF0000"/>
              </a:solidFill>
              <a:tailEnd type="triangle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曲线连接符 25"/>
            <p:cNvCxnSpPr>
              <a:stCxn id="24" idx="2"/>
              <a:endCxn id="5" idx="4"/>
            </p:cNvCxnSpPr>
            <p:nvPr/>
          </p:nvCxnSpPr>
          <p:spPr>
            <a:xfrm rot="10800000">
              <a:off x="1467633" y="4855970"/>
              <a:ext cx="4566700" cy="1376136"/>
            </a:xfrm>
            <a:prstGeom prst="curvedConnector2">
              <a:avLst/>
            </a:prstGeom>
            <a:ln w="38100">
              <a:solidFill>
                <a:srgbClr val="FF0000"/>
              </a:solidFill>
              <a:tailEnd type="triangle"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/>
          </p:nvSpPr>
          <p:spPr>
            <a:xfrm>
              <a:off x="8350398" y="5440006"/>
              <a:ext cx="2099132" cy="49584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lnSpc>
                  <a:spcPct val="150000"/>
                </a:lnSpc>
                <a:spcBef>
                  <a:spcPts val="427"/>
                </a:spcBef>
                <a:spcAft>
                  <a:spcPts val="427"/>
                </a:spcAft>
                <a:buClr>
                  <a:srgbClr val="FFC000"/>
                </a:buClr>
              </a:pPr>
              <a:r>
                <a:rPr lang="zh-CN" altLang="en-US" sz="1280" b="1" dirty="0">
                  <a:solidFill>
                    <a:srgbClr val="0066FF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  <a:sym typeface="Arial" panose="020B0604020202020204" pitchFamily="34" charset="0"/>
                </a:rPr>
                <a:t>有异常、中断请求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18980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CC52647-1384-4B78-9360-C4997BD2E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7. 4  </a:t>
            </a:r>
            <a:r>
              <a:rPr lang="zh-CN" altLang="en-US" dirty="0"/>
              <a:t>程序中断控制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28800"/>
            <a:ext cx="8388424" cy="460851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7.4.1 </a:t>
            </a:r>
            <a:r>
              <a:rPr lang="zh-CN" altLang="en-US" sz="2800" dirty="0"/>
              <a:t>中断的基本概念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7.4.2  </a:t>
            </a:r>
            <a:r>
              <a:rPr lang="zh-CN" altLang="en-US" sz="2800" dirty="0"/>
              <a:t>中断的完整过程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7.4.3 </a:t>
            </a:r>
            <a:r>
              <a:rPr lang="zh-CN" altLang="en-US" sz="2800" dirty="0"/>
              <a:t>中断方式接口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7.4.4 </a:t>
            </a:r>
            <a:r>
              <a:rPr lang="zh-CN" altLang="en-US" sz="2800" dirty="0"/>
              <a:t>多级中断技术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7.4.5 MIPS</a:t>
            </a:r>
            <a:r>
              <a:rPr lang="zh-CN" altLang="en-US" sz="2800" dirty="0"/>
              <a:t>机中的中断机制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717BFD-39DE-4B08-9FCE-B751E79C144B}"/>
              </a:ext>
            </a:extLst>
          </p:cNvPr>
          <p:cNvSpPr/>
          <p:nvPr/>
        </p:nvSpPr>
        <p:spPr>
          <a:xfrm>
            <a:off x="395536" y="3140968"/>
            <a:ext cx="3744416" cy="6549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lvl="0" indent="-342900" eaLnBrk="0" hangingPunct="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800" kern="0" dirty="0">
                <a:solidFill>
                  <a:srgbClr val="000000"/>
                </a:solidFill>
              </a:rPr>
              <a:t>7.4.3 </a:t>
            </a:r>
            <a:r>
              <a:rPr lang="zh-CN" altLang="en-US" sz="2800" kern="0" dirty="0">
                <a:solidFill>
                  <a:srgbClr val="000000"/>
                </a:solidFill>
              </a:rPr>
              <a:t>中断方式接口</a:t>
            </a:r>
            <a:endParaRPr lang="en-US" altLang="zh-CN" sz="28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26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AF4F650-F01E-41DE-955E-AACBE7D50F76}"/>
              </a:ext>
            </a:extLst>
          </p:cNvPr>
          <p:cNvGrpSpPr>
            <a:grpSpLocks/>
          </p:cNvGrpSpPr>
          <p:nvPr/>
        </p:nvGrpSpPr>
        <p:grpSpPr bwMode="auto">
          <a:xfrm>
            <a:off x="251520" y="1412776"/>
            <a:ext cx="8732143" cy="5076800"/>
            <a:chOff x="0" y="570"/>
            <a:chExt cx="5659" cy="3654"/>
          </a:xfrm>
        </p:grpSpPr>
        <p:sp>
          <p:nvSpPr>
            <p:cNvPr id="28678" name="AutoShape 3">
              <a:extLst>
                <a:ext uri="{FF2B5EF4-FFF2-40B4-BE49-F238E27FC236}">
                  <a16:creationId xmlns:a16="http://schemas.microsoft.com/office/drawing/2014/main" id="{80DBC96E-10AD-4E29-A96E-6EEBD72D7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" y="3984"/>
              <a:ext cx="1728" cy="192"/>
            </a:xfrm>
            <a:prstGeom prst="leftArrow">
              <a:avLst>
                <a:gd name="adj1" fmla="val 58333"/>
                <a:gd name="adj2" fmla="val 135958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8679" name="Group 4">
              <a:extLst>
                <a:ext uri="{FF2B5EF4-FFF2-40B4-BE49-F238E27FC236}">
                  <a16:creationId xmlns:a16="http://schemas.microsoft.com/office/drawing/2014/main" id="{A091E791-09F6-4FCA-A13B-A0FA65AF77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570"/>
              <a:ext cx="5659" cy="3654"/>
              <a:chOff x="0" y="570"/>
              <a:chExt cx="5659" cy="3654"/>
            </a:xfrm>
          </p:grpSpPr>
          <p:sp>
            <p:nvSpPr>
              <p:cNvPr id="28680" name="Freeform 5">
                <a:extLst>
                  <a:ext uri="{FF2B5EF4-FFF2-40B4-BE49-F238E27FC236}">
                    <a16:creationId xmlns:a16="http://schemas.microsoft.com/office/drawing/2014/main" id="{617C3754-FE43-4658-B0C2-264C30F1BE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724"/>
                <a:ext cx="1491" cy="119"/>
              </a:xfrm>
              <a:custGeom>
                <a:avLst/>
                <a:gdLst>
                  <a:gd name="T0" fmla="*/ 0 w 1730"/>
                  <a:gd name="T1" fmla="*/ 119 h 139"/>
                  <a:gd name="T2" fmla="*/ 2 w 1730"/>
                  <a:gd name="T3" fmla="*/ 0 h 139"/>
                  <a:gd name="T4" fmla="*/ 1491 w 1730"/>
                  <a:gd name="T5" fmla="*/ 0 h 139"/>
                  <a:gd name="T6" fmla="*/ 0 60000 65536"/>
                  <a:gd name="T7" fmla="*/ 0 60000 65536"/>
                  <a:gd name="T8" fmla="*/ 0 60000 65536"/>
                  <a:gd name="T9" fmla="*/ 0 w 1730"/>
                  <a:gd name="T10" fmla="*/ 0 h 139"/>
                  <a:gd name="T11" fmla="*/ 1730 w 1730"/>
                  <a:gd name="T12" fmla="*/ 139 h 1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30" h="139">
                    <a:moveTo>
                      <a:pt x="0" y="139"/>
                    </a:moveTo>
                    <a:lnTo>
                      <a:pt x="2" y="0"/>
                    </a:lnTo>
                    <a:lnTo>
                      <a:pt x="173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81" name="Rectangle 6">
                <a:extLst>
                  <a:ext uri="{FF2B5EF4-FFF2-40B4-BE49-F238E27FC236}">
                    <a16:creationId xmlns:a16="http://schemas.microsoft.com/office/drawing/2014/main" id="{FC059F95-0A12-41BA-ACEF-ED9860F6A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3633"/>
                <a:ext cx="2016" cy="207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设备选择电路</a:t>
                </a:r>
              </a:p>
            </p:txBody>
          </p:sp>
          <p:sp>
            <p:nvSpPr>
              <p:cNvPr id="28682" name="Rectangle 7">
                <a:extLst>
                  <a:ext uri="{FF2B5EF4-FFF2-40B4-BE49-F238E27FC236}">
                    <a16:creationId xmlns:a16="http://schemas.microsoft.com/office/drawing/2014/main" id="{ACAA3849-3825-41B4-B345-6AC91A7906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3975"/>
                <a:ext cx="2016" cy="208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DBR</a:t>
                </a:r>
              </a:p>
            </p:txBody>
          </p:sp>
          <p:sp>
            <p:nvSpPr>
              <p:cNvPr id="28683" name="Rectangle 8">
                <a:extLst>
                  <a:ext uri="{FF2B5EF4-FFF2-40B4-BE49-F238E27FC236}">
                    <a16:creationId xmlns:a16="http://schemas.microsoft.com/office/drawing/2014/main" id="{D62F2C2A-495B-4F55-B216-1D4425D1B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2839"/>
                <a:ext cx="576" cy="329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84" name="Text Box 9">
                <a:extLst>
                  <a:ext uri="{FF2B5EF4-FFF2-40B4-BE49-F238E27FC236}">
                    <a16:creationId xmlns:a16="http://schemas.microsoft.com/office/drawing/2014/main" id="{F2AF7A81-49D9-486E-B64A-ADF7E3B9FA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0" y="2880"/>
                <a:ext cx="272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</a:p>
            </p:txBody>
          </p:sp>
          <p:sp>
            <p:nvSpPr>
              <p:cNvPr id="28685" name="Text Box 10">
                <a:extLst>
                  <a:ext uri="{FF2B5EF4-FFF2-40B4-BE49-F238E27FC236}">
                    <a16:creationId xmlns:a16="http://schemas.microsoft.com/office/drawing/2014/main" id="{68A15A52-8B95-42E8-BAF7-902E46EDAF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6" y="2807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</a:p>
            </p:txBody>
          </p:sp>
          <p:sp>
            <p:nvSpPr>
              <p:cNvPr id="28686" name="Oval 11">
                <a:extLst>
                  <a:ext uri="{FF2B5EF4-FFF2-40B4-BE49-F238E27FC236}">
                    <a16:creationId xmlns:a16="http://schemas.microsoft.com/office/drawing/2014/main" id="{CE1A118D-FABD-4E71-95F8-CEAF5DBBE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2" y="2932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87" name="Oval 12">
                <a:extLst>
                  <a:ext uri="{FF2B5EF4-FFF2-40B4-BE49-F238E27FC236}">
                    <a16:creationId xmlns:a16="http://schemas.microsoft.com/office/drawing/2014/main" id="{75D95991-9FF1-4488-BED0-5E63FBA81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7" y="2932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88" name="Freeform 13">
                <a:extLst>
                  <a:ext uri="{FF2B5EF4-FFF2-40B4-BE49-F238E27FC236}">
                    <a16:creationId xmlns:a16="http://schemas.microsoft.com/office/drawing/2014/main" id="{0E9B9FD5-E740-464E-8649-3C67BF42E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7" y="2955"/>
                <a:ext cx="759" cy="1"/>
              </a:xfrm>
              <a:custGeom>
                <a:avLst/>
                <a:gdLst>
                  <a:gd name="T0" fmla="*/ 0 w 759"/>
                  <a:gd name="T1" fmla="*/ 0 h 1"/>
                  <a:gd name="T2" fmla="*/ 759 w 759"/>
                  <a:gd name="T3" fmla="*/ 0 h 1"/>
                  <a:gd name="T4" fmla="*/ 0 60000 65536"/>
                  <a:gd name="T5" fmla="*/ 0 60000 65536"/>
                  <a:gd name="T6" fmla="*/ 0 w 759"/>
                  <a:gd name="T7" fmla="*/ 0 h 1"/>
                  <a:gd name="T8" fmla="*/ 759 w 759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59" h="1">
                    <a:moveTo>
                      <a:pt x="0" y="0"/>
                    </a:moveTo>
                    <a:lnTo>
                      <a:pt x="759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89" name="Freeform 14">
                <a:extLst>
                  <a:ext uri="{FF2B5EF4-FFF2-40B4-BE49-F238E27FC236}">
                    <a16:creationId xmlns:a16="http://schemas.microsoft.com/office/drawing/2014/main" id="{862D96A5-006B-44BE-9A0A-3E2C8DE03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6" y="2955"/>
                <a:ext cx="1488" cy="308"/>
              </a:xfrm>
              <a:custGeom>
                <a:avLst/>
                <a:gdLst>
                  <a:gd name="T0" fmla="*/ 1488 w 1488"/>
                  <a:gd name="T1" fmla="*/ 0 h 357"/>
                  <a:gd name="T2" fmla="*/ 1488 w 1488"/>
                  <a:gd name="T3" fmla="*/ 308 h 357"/>
                  <a:gd name="T4" fmla="*/ 0 w 1488"/>
                  <a:gd name="T5" fmla="*/ 308 h 357"/>
                  <a:gd name="T6" fmla="*/ 0 60000 65536"/>
                  <a:gd name="T7" fmla="*/ 0 60000 65536"/>
                  <a:gd name="T8" fmla="*/ 0 60000 65536"/>
                  <a:gd name="T9" fmla="*/ 0 w 1488"/>
                  <a:gd name="T10" fmla="*/ 0 h 357"/>
                  <a:gd name="T11" fmla="*/ 1488 w 1488"/>
                  <a:gd name="T12" fmla="*/ 357 h 3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88" h="357">
                    <a:moveTo>
                      <a:pt x="1488" y="0"/>
                    </a:moveTo>
                    <a:lnTo>
                      <a:pt x="1488" y="357"/>
                    </a:lnTo>
                    <a:lnTo>
                      <a:pt x="0" y="357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90" name="Rectangle 15">
                <a:extLst>
                  <a:ext uri="{FF2B5EF4-FFF2-40B4-BE49-F238E27FC236}">
                    <a16:creationId xmlns:a16="http://schemas.microsoft.com/office/drawing/2014/main" id="{BAD42262-8198-4218-B77D-C91569A89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3098"/>
                <a:ext cx="240" cy="33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91" name="Text Box 16">
                <a:extLst>
                  <a:ext uri="{FF2B5EF4-FFF2-40B4-BE49-F238E27FC236}">
                    <a16:creationId xmlns:a16="http://schemas.microsoft.com/office/drawing/2014/main" id="{B6D3A7F1-329B-40CA-B378-8B0493E6B6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9" y="3128"/>
                <a:ext cx="249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&amp;</a:t>
                </a:r>
              </a:p>
            </p:txBody>
          </p:sp>
          <p:sp>
            <p:nvSpPr>
              <p:cNvPr id="28692" name="Oval 17">
                <a:extLst>
                  <a:ext uri="{FF2B5EF4-FFF2-40B4-BE49-F238E27FC236}">
                    <a16:creationId xmlns:a16="http://schemas.microsoft.com/office/drawing/2014/main" id="{5F5393C5-A08A-4966-9571-FEF5E4A10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2932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93" name="Freeform 18">
                <a:extLst>
                  <a:ext uri="{FF2B5EF4-FFF2-40B4-BE49-F238E27FC236}">
                    <a16:creationId xmlns:a16="http://schemas.microsoft.com/office/drawing/2014/main" id="{B41D6BF5-5493-48CF-AFC5-F06C8C7E92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" y="2957"/>
                <a:ext cx="2784" cy="396"/>
              </a:xfrm>
              <a:custGeom>
                <a:avLst/>
                <a:gdLst>
                  <a:gd name="T0" fmla="*/ 144 w 2784"/>
                  <a:gd name="T1" fmla="*/ 1 h 396"/>
                  <a:gd name="T2" fmla="*/ 0 w 2784"/>
                  <a:gd name="T3" fmla="*/ 0 h 396"/>
                  <a:gd name="T4" fmla="*/ 0 w 2784"/>
                  <a:gd name="T5" fmla="*/ 396 h 396"/>
                  <a:gd name="T6" fmla="*/ 2784 w 2784"/>
                  <a:gd name="T7" fmla="*/ 396 h 3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84"/>
                  <a:gd name="T13" fmla="*/ 0 h 396"/>
                  <a:gd name="T14" fmla="*/ 2784 w 2784"/>
                  <a:gd name="T15" fmla="*/ 396 h 3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84" h="396">
                    <a:moveTo>
                      <a:pt x="144" y="1"/>
                    </a:moveTo>
                    <a:lnTo>
                      <a:pt x="0" y="0"/>
                    </a:lnTo>
                    <a:lnTo>
                      <a:pt x="0" y="396"/>
                    </a:lnTo>
                    <a:lnTo>
                      <a:pt x="2784" y="39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94" name="Oval 19">
                <a:extLst>
                  <a:ext uri="{FF2B5EF4-FFF2-40B4-BE49-F238E27FC236}">
                    <a16:creationId xmlns:a16="http://schemas.microsoft.com/office/drawing/2014/main" id="{5671C3F1-93CD-46C1-B9B2-AFF58DD37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2" y="2932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95" name="Freeform 20">
                <a:extLst>
                  <a:ext uri="{FF2B5EF4-FFF2-40B4-BE49-F238E27FC236}">
                    <a16:creationId xmlns:a16="http://schemas.microsoft.com/office/drawing/2014/main" id="{05F5CD31-1BE1-4C9E-ABFF-EBB115C47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2955"/>
                <a:ext cx="282" cy="391"/>
              </a:xfrm>
              <a:custGeom>
                <a:avLst/>
                <a:gdLst>
                  <a:gd name="T0" fmla="*/ 282 w 282"/>
                  <a:gd name="T1" fmla="*/ 391 h 453"/>
                  <a:gd name="T2" fmla="*/ 279 w 282"/>
                  <a:gd name="T3" fmla="*/ 0 h 453"/>
                  <a:gd name="T4" fmla="*/ 0 w 282"/>
                  <a:gd name="T5" fmla="*/ 0 h 453"/>
                  <a:gd name="T6" fmla="*/ 0 60000 65536"/>
                  <a:gd name="T7" fmla="*/ 0 60000 65536"/>
                  <a:gd name="T8" fmla="*/ 0 60000 65536"/>
                  <a:gd name="T9" fmla="*/ 0 w 282"/>
                  <a:gd name="T10" fmla="*/ 0 h 453"/>
                  <a:gd name="T11" fmla="*/ 282 w 282"/>
                  <a:gd name="T12" fmla="*/ 453 h 4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2" h="453">
                    <a:moveTo>
                      <a:pt x="282" y="453"/>
                    </a:moveTo>
                    <a:lnTo>
                      <a:pt x="279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96" name="Oval 21">
                <a:extLst>
                  <a:ext uri="{FF2B5EF4-FFF2-40B4-BE49-F238E27FC236}">
                    <a16:creationId xmlns:a16="http://schemas.microsoft.com/office/drawing/2014/main" id="{14CA136D-8698-4701-B3E0-C8A33961D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8" y="3241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97" name="Freeform 22">
                <a:extLst>
                  <a:ext uri="{FF2B5EF4-FFF2-40B4-BE49-F238E27FC236}">
                    <a16:creationId xmlns:a16="http://schemas.microsoft.com/office/drawing/2014/main" id="{F9AFF783-3D11-4389-BCA2-4B9E040D9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8" y="3346"/>
                <a:ext cx="1392" cy="291"/>
              </a:xfrm>
              <a:custGeom>
                <a:avLst/>
                <a:gdLst>
                  <a:gd name="T0" fmla="*/ 240 w 1392"/>
                  <a:gd name="T1" fmla="*/ 0 h 336"/>
                  <a:gd name="T2" fmla="*/ 0 w 1392"/>
                  <a:gd name="T3" fmla="*/ 0 h 336"/>
                  <a:gd name="T4" fmla="*/ 0 w 1392"/>
                  <a:gd name="T5" fmla="*/ 208 h 336"/>
                  <a:gd name="T6" fmla="*/ 1392 w 1392"/>
                  <a:gd name="T7" fmla="*/ 208 h 336"/>
                  <a:gd name="T8" fmla="*/ 1392 w 1392"/>
                  <a:gd name="T9" fmla="*/ 291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92"/>
                  <a:gd name="T16" fmla="*/ 0 h 336"/>
                  <a:gd name="T17" fmla="*/ 1392 w 1392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92" h="336">
                    <a:moveTo>
                      <a:pt x="240" y="0"/>
                    </a:moveTo>
                    <a:lnTo>
                      <a:pt x="0" y="0"/>
                    </a:lnTo>
                    <a:lnTo>
                      <a:pt x="0" y="240"/>
                    </a:lnTo>
                    <a:lnTo>
                      <a:pt x="1392" y="240"/>
                    </a:lnTo>
                    <a:lnTo>
                      <a:pt x="1392" y="33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98" name="Line 23">
                <a:extLst>
                  <a:ext uri="{FF2B5EF4-FFF2-40B4-BE49-F238E27FC236}">
                    <a16:creationId xmlns:a16="http://schemas.microsoft.com/office/drawing/2014/main" id="{1F95E88D-AD4A-4E3C-8866-432F161394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6" y="3180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699" name="Line 24">
                <a:extLst>
                  <a:ext uri="{FF2B5EF4-FFF2-40B4-BE49-F238E27FC236}">
                    <a16:creationId xmlns:a16="http://schemas.microsoft.com/office/drawing/2014/main" id="{A8D5724B-9C1C-413A-968B-B53E99C4C5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4" y="318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00" name="AutoShape 25">
                <a:extLst>
                  <a:ext uri="{FF2B5EF4-FFF2-40B4-BE49-F238E27FC236}">
                    <a16:creationId xmlns:a16="http://schemas.microsoft.com/office/drawing/2014/main" id="{F5C8E481-F7BB-491F-ABB3-9FF0AC695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" y="3637"/>
                <a:ext cx="1632" cy="165"/>
              </a:xfrm>
              <a:prstGeom prst="rightArrow">
                <a:avLst>
                  <a:gd name="adj1" fmla="val 50000"/>
                  <a:gd name="adj2" fmla="val 164253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01" name="AutoShape 26">
                <a:extLst>
                  <a:ext uri="{FF2B5EF4-FFF2-40B4-BE49-F238E27FC236}">
                    <a16:creationId xmlns:a16="http://schemas.microsoft.com/office/drawing/2014/main" id="{00098122-5D5A-466B-A7D0-4C8502811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3" y="3975"/>
                <a:ext cx="1008" cy="208"/>
              </a:xfrm>
              <a:prstGeom prst="leftArrow">
                <a:avLst>
                  <a:gd name="adj1" fmla="val 50000"/>
                  <a:gd name="adj2" fmla="val 88465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02" name="Text Box 27">
                <a:extLst>
                  <a:ext uri="{FF2B5EF4-FFF2-40B4-BE49-F238E27FC236}">
                    <a16:creationId xmlns:a16="http://schemas.microsoft.com/office/drawing/2014/main" id="{80721B06-F51C-4F3A-B473-E70988F6C2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945"/>
                <a:ext cx="55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数据线</a:t>
                </a:r>
              </a:p>
            </p:txBody>
          </p:sp>
          <p:sp>
            <p:nvSpPr>
              <p:cNvPr id="28703" name="Text Box 28">
                <a:extLst>
                  <a:ext uri="{FF2B5EF4-FFF2-40B4-BE49-F238E27FC236}">
                    <a16:creationId xmlns:a16="http://schemas.microsoft.com/office/drawing/2014/main" id="{CDAE1AF7-6582-45CB-BCF1-4F39576AE4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024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启动命令</a:t>
                </a:r>
              </a:p>
            </p:txBody>
          </p:sp>
          <p:sp>
            <p:nvSpPr>
              <p:cNvPr id="28704" name="Text Box 29">
                <a:extLst>
                  <a:ext uri="{FF2B5EF4-FFF2-40B4-BE49-F238E27FC236}">
                    <a16:creationId xmlns:a16="http://schemas.microsoft.com/office/drawing/2014/main" id="{B35A99E7-76DA-4B1D-861E-1EC9267DFF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609"/>
                <a:ext cx="55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地址线</a:t>
                </a:r>
              </a:p>
            </p:txBody>
          </p:sp>
          <p:sp>
            <p:nvSpPr>
              <p:cNvPr id="28705" name="Text Box 30">
                <a:extLst>
                  <a:ext uri="{FF2B5EF4-FFF2-40B4-BE49-F238E27FC236}">
                    <a16:creationId xmlns:a16="http://schemas.microsoft.com/office/drawing/2014/main" id="{908EE885-33AF-42F2-89F2-D7DB8D7DA4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3408"/>
                <a:ext cx="41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SEL</a:t>
                </a:r>
              </a:p>
            </p:txBody>
          </p:sp>
          <p:sp>
            <p:nvSpPr>
              <p:cNvPr id="28706" name="Line 31">
                <a:extLst>
                  <a:ext uri="{FF2B5EF4-FFF2-40B4-BE49-F238E27FC236}">
                    <a16:creationId xmlns:a16="http://schemas.microsoft.com/office/drawing/2014/main" id="{DE16B9BE-7D59-401B-9A52-3FD0201A0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10" y="3346"/>
                <a:ext cx="432" cy="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07" name="Text Box 32">
                <a:extLst>
                  <a:ext uri="{FF2B5EF4-FFF2-40B4-BE49-F238E27FC236}">
                    <a16:creationId xmlns:a16="http://schemas.microsoft.com/office/drawing/2014/main" id="{7DF035F6-EC1B-4EF3-82C6-61B0457EA1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3792"/>
                <a:ext cx="7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输入数据</a:t>
                </a:r>
              </a:p>
            </p:txBody>
          </p:sp>
          <p:sp>
            <p:nvSpPr>
              <p:cNvPr id="28708" name="Text Box 33">
                <a:extLst>
                  <a:ext uri="{FF2B5EF4-FFF2-40B4-BE49-F238E27FC236}">
                    <a16:creationId xmlns:a16="http://schemas.microsoft.com/office/drawing/2014/main" id="{621E98DC-911D-401B-9448-A350F911C0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2747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启动设备</a:t>
                </a:r>
              </a:p>
            </p:txBody>
          </p:sp>
          <p:sp>
            <p:nvSpPr>
              <p:cNvPr id="28709" name="Text Box 34">
                <a:extLst>
                  <a:ext uri="{FF2B5EF4-FFF2-40B4-BE49-F238E27FC236}">
                    <a16:creationId xmlns:a16="http://schemas.microsoft.com/office/drawing/2014/main" id="{77623BBB-D1C5-4335-91F7-05CB52FF71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3360"/>
                <a:ext cx="696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设备工作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 结束</a:t>
                </a:r>
              </a:p>
            </p:txBody>
          </p:sp>
          <p:sp>
            <p:nvSpPr>
              <p:cNvPr id="28710" name="Text Box 35">
                <a:extLst>
                  <a:ext uri="{FF2B5EF4-FFF2-40B4-BE49-F238E27FC236}">
                    <a16:creationId xmlns:a16="http://schemas.microsoft.com/office/drawing/2014/main" id="{F4358442-80C0-4FB1-8876-7A9C9AFFE1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&amp;</a:t>
                </a:r>
              </a:p>
            </p:txBody>
          </p:sp>
          <p:sp>
            <p:nvSpPr>
              <p:cNvPr id="28711" name="Rectangle 36">
                <a:extLst>
                  <a:ext uri="{FF2B5EF4-FFF2-40B4-BE49-F238E27FC236}">
                    <a16:creationId xmlns:a16="http://schemas.microsoft.com/office/drawing/2014/main" id="{DAD6B8C5-4D65-4319-9DAD-77C97176D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6" y="2489"/>
                <a:ext cx="381" cy="15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12" name="Text Box 37">
                <a:extLst>
                  <a:ext uri="{FF2B5EF4-FFF2-40B4-BE49-F238E27FC236}">
                    <a16:creationId xmlns:a16="http://schemas.microsoft.com/office/drawing/2014/main" id="{D869DCBB-6AED-434A-8A4D-F78EC32D11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0" y="2117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28713" name="Rectangle 38">
                <a:extLst>
                  <a:ext uri="{FF2B5EF4-FFF2-40B4-BE49-F238E27FC236}">
                    <a16:creationId xmlns:a16="http://schemas.microsoft.com/office/drawing/2014/main" id="{6CB08C0E-D88F-4732-BC6E-DBFEEAF343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6" y="2157"/>
                <a:ext cx="381" cy="15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14" name="Oval 39">
                <a:extLst>
                  <a:ext uri="{FF2B5EF4-FFF2-40B4-BE49-F238E27FC236}">
                    <a16:creationId xmlns:a16="http://schemas.microsoft.com/office/drawing/2014/main" id="{131BE6E6-4F13-4B35-AFE0-98AD36F78D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8" y="2434"/>
                <a:ext cx="48" cy="4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15" name="Oval 40">
                <a:extLst>
                  <a:ext uri="{FF2B5EF4-FFF2-40B4-BE49-F238E27FC236}">
                    <a16:creationId xmlns:a16="http://schemas.microsoft.com/office/drawing/2014/main" id="{A403A43C-8BB7-427E-A9C0-187E95A2EB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8" y="2112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16" name="Rectangle 41">
                <a:extLst>
                  <a:ext uri="{FF2B5EF4-FFF2-40B4-BE49-F238E27FC236}">
                    <a16:creationId xmlns:a16="http://schemas.microsoft.com/office/drawing/2014/main" id="{14A28B38-6D29-4E28-B1F7-F3133D21A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1583"/>
                <a:ext cx="768" cy="415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17" name="Text Box 42">
                <a:extLst>
                  <a:ext uri="{FF2B5EF4-FFF2-40B4-BE49-F238E27FC236}">
                    <a16:creationId xmlns:a16="http://schemas.microsoft.com/office/drawing/2014/main" id="{2720A3D6-DF41-4A33-A9F1-8DE83B0293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6" y="1583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</a:p>
            </p:txBody>
          </p:sp>
          <p:grpSp>
            <p:nvGrpSpPr>
              <p:cNvPr id="28718" name="Group 43">
                <a:extLst>
                  <a:ext uri="{FF2B5EF4-FFF2-40B4-BE49-F238E27FC236}">
                    <a16:creationId xmlns:a16="http://schemas.microsoft.com/office/drawing/2014/main" id="{03B03061-4A6F-49E6-BF43-57842172EC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8" y="1606"/>
                <a:ext cx="216" cy="213"/>
                <a:chOff x="2808" y="891"/>
                <a:chExt cx="216" cy="246"/>
              </a:xfrm>
            </p:grpSpPr>
            <p:sp>
              <p:nvSpPr>
                <p:cNvPr id="28761" name="Text Box 44">
                  <a:extLst>
                    <a:ext uri="{FF2B5EF4-FFF2-40B4-BE49-F238E27FC236}">
                      <a16:creationId xmlns:a16="http://schemas.microsoft.com/office/drawing/2014/main" id="{B219DF16-C845-4137-B4BC-373836E7A0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8" y="891"/>
                  <a:ext cx="216" cy="2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</a:p>
              </p:txBody>
            </p:sp>
            <p:sp>
              <p:nvSpPr>
                <p:cNvPr id="28762" name="Line 45">
                  <a:extLst>
                    <a:ext uri="{FF2B5EF4-FFF2-40B4-BE49-F238E27FC236}">
                      <a16:creationId xmlns:a16="http://schemas.microsoft.com/office/drawing/2014/main" id="{E07D829A-7E99-4627-A6DC-5D1EBB865D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912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8719" name="Text Box 46">
                <a:extLst>
                  <a:ext uri="{FF2B5EF4-FFF2-40B4-BE49-F238E27FC236}">
                    <a16:creationId xmlns:a16="http://schemas.microsoft.com/office/drawing/2014/main" id="{9BAA520A-8318-4EF2-BA46-2F71A28559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6" y="1815"/>
                <a:ext cx="20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</a:p>
            </p:txBody>
          </p:sp>
          <p:sp>
            <p:nvSpPr>
              <p:cNvPr id="28720" name="Text Box 47">
                <a:extLst>
                  <a:ext uri="{FF2B5EF4-FFF2-40B4-BE49-F238E27FC236}">
                    <a16:creationId xmlns:a16="http://schemas.microsoft.com/office/drawing/2014/main" id="{99C3C383-A22D-4274-BBDC-F28BD3446A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0" y="1699"/>
                <a:ext cx="51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INTR</a:t>
                </a:r>
              </a:p>
            </p:txBody>
          </p:sp>
          <p:sp>
            <p:nvSpPr>
              <p:cNvPr id="28721" name="AutoShape 48">
                <a:extLst>
                  <a:ext uri="{FF2B5EF4-FFF2-40B4-BE49-F238E27FC236}">
                    <a16:creationId xmlns:a16="http://schemas.microsoft.com/office/drawing/2014/main" id="{EBB6DCB3-5D8C-400E-AA54-27DA1806DC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0" y="1911"/>
                <a:ext cx="96" cy="83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22" name="Rectangle 49">
                <a:extLst>
                  <a:ext uri="{FF2B5EF4-FFF2-40B4-BE49-F238E27FC236}">
                    <a16:creationId xmlns:a16="http://schemas.microsoft.com/office/drawing/2014/main" id="{5FEEE1C9-0C31-411D-9155-9390CF48F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6" y="2839"/>
                <a:ext cx="576" cy="329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23" name="Text Box 50">
                <a:extLst>
                  <a:ext uri="{FF2B5EF4-FFF2-40B4-BE49-F238E27FC236}">
                    <a16:creationId xmlns:a16="http://schemas.microsoft.com/office/drawing/2014/main" id="{9F33BBCE-6BE0-4B4B-996A-2365D90355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0" y="2880"/>
                <a:ext cx="26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B</a:t>
                </a:r>
              </a:p>
            </p:txBody>
          </p:sp>
          <p:sp>
            <p:nvSpPr>
              <p:cNvPr id="28724" name="Text Box 51">
                <a:extLst>
                  <a:ext uri="{FF2B5EF4-FFF2-40B4-BE49-F238E27FC236}">
                    <a16:creationId xmlns:a16="http://schemas.microsoft.com/office/drawing/2014/main" id="{C100210C-6816-4DCA-9792-3773D41414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6" y="2807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</a:p>
            </p:txBody>
          </p:sp>
          <p:sp>
            <p:nvSpPr>
              <p:cNvPr id="28725" name="Freeform 52">
                <a:extLst>
                  <a:ext uri="{FF2B5EF4-FFF2-40B4-BE49-F238E27FC236}">
                    <a16:creationId xmlns:a16="http://schemas.microsoft.com/office/drawing/2014/main" id="{96FB81CF-2C0A-4496-93E0-75F8438377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4" y="2646"/>
                <a:ext cx="1" cy="192"/>
              </a:xfrm>
              <a:custGeom>
                <a:avLst/>
                <a:gdLst>
                  <a:gd name="T0" fmla="*/ 0 w 1"/>
                  <a:gd name="T1" fmla="*/ 192 h 192"/>
                  <a:gd name="T2" fmla="*/ 0 w 1"/>
                  <a:gd name="T3" fmla="*/ 0 h 192"/>
                  <a:gd name="T4" fmla="*/ 0 60000 65536"/>
                  <a:gd name="T5" fmla="*/ 0 60000 65536"/>
                  <a:gd name="T6" fmla="*/ 0 w 1"/>
                  <a:gd name="T7" fmla="*/ 0 h 192"/>
                  <a:gd name="T8" fmla="*/ 1 w 1"/>
                  <a:gd name="T9" fmla="*/ 192 h 19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92">
                    <a:moveTo>
                      <a:pt x="0" y="192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26" name="Line 53">
                <a:extLst>
                  <a:ext uri="{FF2B5EF4-FFF2-40B4-BE49-F238E27FC236}">
                    <a16:creationId xmlns:a16="http://schemas.microsoft.com/office/drawing/2014/main" id="{0FC62874-AA46-4071-9460-AD6BA39433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3" y="2310"/>
                <a:ext cx="0" cy="1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27" name="Line 54">
                <a:extLst>
                  <a:ext uri="{FF2B5EF4-FFF2-40B4-BE49-F238E27FC236}">
                    <a16:creationId xmlns:a16="http://schemas.microsoft.com/office/drawing/2014/main" id="{E62159A9-E4DA-4663-AAA4-2C1E2FE0C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3" y="2000"/>
                <a:ext cx="0" cy="1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28" name="Rectangle 55">
                <a:extLst>
                  <a:ext uri="{FF2B5EF4-FFF2-40B4-BE49-F238E27FC236}">
                    <a16:creationId xmlns:a16="http://schemas.microsoft.com/office/drawing/2014/main" id="{AD08AB28-9DA7-4F54-9BDC-B866ACC9F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646"/>
                <a:ext cx="730" cy="418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8729" name="Group 56">
                <a:extLst>
                  <a:ext uri="{FF2B5EF4-FFF2-40B4-BE49-F238E27FC236}">
                    <a16:creationId xmlns:a16="http://schemas.microsoft.com/office/drawing/2014/main" id="{4272B16D-0527-462A-B737-531ED4D2D7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62" y="1669"/>
                <a:ext cx="216" cy="213"/>
                <a:chOff x="2808" y="891"/>
                <a:chExt cx="216" cy="246"/>
              </a:xfrm>
            </p:grpSpPr>
            <p:sp>
              <p:nvSpPr>
                <p:cNvPr id="28759" name="Text Box 57">
                  <a:extLst>
                    <a:ext uri="{FF2B5EF4-FFF2-40B4-BE49-F238E27FC236}">
                      <a16:creationId xmlns:a16="http://schemas.microsoft.com/office/drawing/2014/main" id="{1CB92ECF-FCA9-4D02-9A31-5A1B762301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8" y="891"/>
                  <a:ext cx="216" cy="2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</a:p>
              </p:txBody>
            </p:sp>
            <p:sp>
              <p:nvSpPr>
                <p:cNvPr id="28760" name="Line 58">
                  <a:extLst>
                    <a:ext uri="{FF2B5EF4-FFF2-40B4-BE49-F238E27FC236}">
                      <a16:creationId xmlns:a16="http://schemas.microsoft.com/office/drawing/2014/main" id="{10A64D8E-BA3A-48C4-B6A7-4F56FAA32A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912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8730" name="Text Box 59">
                <a:extLst>
                  <a:ext uri="{FF2B5EF4-FFF2-40B4-BE49-F238E27FC236}">
                    <a16:creationId xmlns:a16="http://schemas.microsoft.com/office/drawing/2014/main" id="{86F48ACD-B5E3-4683-B616-A262DB33AC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1" y="1770"/>
                <a:ext cx="5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MASK</a:t>
                </a:r>
              </a:p>
            </p:txBody>
          </p:sp>
          <p:sp>
            <p:nvSpPr>
              <p:cNvPr id="28731" name="Oval 60">
                <a:extLst>
                  <a:ext uri="{FF2B5EF4-FFF2-40B4-BE49-F238E27FC236}">
                    <a16:creationId xmlns:a16="http://schemas.microsoft.com/office/drawing/2014/main" id="{4766ACE5-C066-4DF8-A8E6-7720372D1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0" y="1543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32" name="Oval 61">
                <a:extLst>
                  <a:ext uri="{FF2B5EF4-FFF2-40B4-BE49-F238E27FC236}">
                    <a16:creationId xmlns:a16="http://schemas.microsoft.com/office/drawing/2014/main" id="{ECB8A571-87A8-4106-AB73-8A184883A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4" y="1605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33" name="Text Box 62">
                <a:extLst>
                  <a:ext uri="{FF2B5EF4-FFF2-40B4-BE49-F238E27FC236}">
                    <a16:creationId xmlns:a16="http://schemas.microsoft.com/office/drawing/2014/main" id="{12517627-1421-4C8F-B1F9-893BA9F322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9" y="797"/>
                <a:ext cx="93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设备编码器</a:t>
                </a:r>
              </a:p>
            </p:txBody>
          </p:sp>
          <p:sp>
            <p:nvSpPr>
              <p:cNvPr id="28734" name="Rectangle 63">
                <a:extLst>
                  <a:ext uri="{FF2B5EF4-FFF2-40B4-BE49-F238E27FC236}">
                    <a16:creationId xmlns:a16="http://schemas.microsoft.com/office/drawing/2014/main" id="{78C0D8E7-4E53-4A87-9051-02170D61F5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4" y="819"/>
                <a:ext cx="960" cy="207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35" name="Text Box 64">
                <a:extLst>
                  <a:ext uri="{FF2B5EF4-FFF2-40B4-BE49-F238E27FC236}">
                    <a16:creationId xmlns:a16="http://schemas.microsoft.com/office/drawing/2014/main" id="{533AA111-1108-401C-9AD0-2704957EC8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1156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排队器</a:t>
                </a:r>
              </a:p>
            </p:txBody>
          </p:sp>
          <p:sp>
            <p:nvSpPr>
              <p:cNvPr id="28736" name="Rectangle 65">
                <a:extLst>
                  <a:ext uri="{FF2B5EF4-FFF2-40B4-BE49-F238E27FC236}">
                    <a16:creationId xmlns:a16="http://schemas.microsoft.com/office/drawing/2014/main" id="{E9697C43-2E1D-4F8C-A297-246956AEB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4" y="1184"/>
                <a:ext cx="960" cy="207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37" name="Freeform 66">
                <a:extLst>
                  <a:ext uri="{FF2B5EF4-FFF2-40B4-BE49-F238E27FC236}">
                    <a16:creationId xmlns:a16="http://schemas.microsoft.com/office/drawing/2014/main" id="{BB888ECF-4A71-4E81-B72E-B67E540FD8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1398"/>
                <a:ext cx="1" cy="147"/>
              </a:xfrm>
              <a:custGeom>
                <a:avLst/>
                <a:gdLst>
                  <a:gd name="T0" fmla="*/ 0 w 1"/>
                  <a:gd name="T1" fmla="*/ 147 h 147"/>
                  <a:gd name="T2" fmla="*/ 0 w 1"/>
                  <a:gd name="T3" fmla="*/ 0 h 147"/>
                  <a:gd name="T4" fmla="*/ 0 60000 65536"/>
                  <a:gd name="T5" fmla="*/ 0 60000 65536"/>
                  <a:gd name="T6" fmla="*/ 0 w 1"/>
                  <a:gd name="T7" fmla="*/ 0 h 147"/>
                  <a:gd name="T8" fmla="*/ 1 w 1"/>
                  <a:gd name="T9" fmla="*/ 147 h 14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47">
                    <a:moveTo>
                      <a:pt x="0" y="147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38" name="Freeform 67">
                <a:extLst>
                  <a:ext uri="{FF2B5EF4-FFF2-40B4-BE49-F238E27FC236}">
                    <a16:creationId xmlns:a16="http://schemas.microsoft.com/office/drawing/2014/main" id="{B20E145B-AB04-4903-AF77-7946F7E155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8" y="1985"/>
                <a:ext cx="1872" cy="207"/>
              </a:xfrm>
              <a:custGeom>
                <a:avLst/>
                <a:gdLst>
                  <a:gd name="T0" fmla="*/ 0 w 2160"/>
                  <a:gd name="T1" fmla="*/ 0 h 240"/>
                  <a:gd name="T2" fmla="*/ 0 w 2160"/>
                  <a:gd name="T3" fmla="*/ 207 h 240"/>
                  <a:gd name="T4" fmla="*/ 1872 w 2160"/>
                  <a:gd name="T5" fmla="*/ 207 h 240"/>
                  <a:gd name="T6" fmla="*/ 0 60000 65536"/>
                  <a:gd name="T7" fmla="*/ 0 60000 65536"/>
                  <a:gd name="T8" fmla="*/ 0 60000 65536"/>
                  <a:gd name="T9" fmla="*/ 0 w 2160"/>
                  <a:gd name="T10" fmla="*/ 0 h 240"/>
                  <a:gd name="T11" fmla="*/ 2160 w 2160"/>
                  <a:gd name="T12" fmla="*/ 240 h 2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" h="240">
                    <a:moveTo>
                      <a:pt x="0" y="0"/>
                    </a:moveTo>
                    <a:lnTo>
                      <a:pt x="0" y="240"/>
                    </a:lnTo>
                    <a:lnTo>
                      <a:pt x="2160" y="24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39" name="Freeform 68">
                <a:extLst>
                  <a:ext uri="{FF2B5EF4-FFF2-40B4-BE49-F238E27FC236}">
                    <a16:creationId xmlns:a16="http://schemas.microsoft.com/office/drawing/2014/main" id="{F9941546-B61F-451C-B51E-7FDF889BA6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5" y="1555"/>
                <a:ext cx="1707" cy="1181"/>
              </a:xfrm>
              <a:custGeom>
                <a:avLst/>
                <a:gdLst>
                  <a:gd name="T0" fmla="*/ 0 w 1707"/>
                  <a:gd name="T1" fmla="*/ 1098 h 1368"/>
                  <a:gd name="T2" fmla="*/ 0 w 1707"/>
                  <a:gd name="T3" fmla="*/ 1181 h 1368"/>
                  <a:gd name="T4" fmla="*/ 720 w 1707"/>
                  <a:gd name="T5" fmla="*/ 1181 h 1368"/>
                  <a:gd name="T6" fmla="*/ 717 w 1707"/>
                  <a:gd name="T7" fmla="*/ 3 h 1368"/>
                  <a:gd name="T8" fmla="*/ 1707 w 1707"/>
                  <a:gd name="T9" fmla="*/ 0 h 1368"/>
                  <a:gd name="T10" fmla="*/ 1707 w 1707"/>
                  <a:gd name="T11" fmla="*/ 54 h 13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07"/>
                  <a:gd name="T19" fmla="*/ 0 h 1368"/>
                  <a:gd name="T20" fmla="*/ 1707 w 1707"/>
                  <a:gd name="T21" fmla="*/ 1368 h 136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07" h="1368">
                    <a:moveTo>
                      <a:pt x="0" y="1272"/>
                    </a:moveTo>
                    <a:lnTo>
                      <a:pt x="0" y="1368"/>
                    </a:lnTo>
                    <a:lnTo>
                      <a:pt x="720" y="1368"/>
                    </a:lnTo>
                    <a:lnTo>
                      <a:pt x="717" y="3"/>
                    </a:lnTo>
                    <a:lnTo>
                      <a:pt x="1707" y="0"/>
                    </a:lnTo>
                    <a:lnTo>
                      <a:pt x="1707" y="63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40" name="Freeform 69">
                <a:extLst>
                  <a:ext uri="{FF2B5EF4-FFF2-40B4-BE49-F238E27FC236}">
                    <a16:creationId xmlns:a16="http://schemas.microsoft.com/office/drawing/2014/main" id="{2005BF94-95EC-4978-8F47-C962AED24A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1392"/>
                <a:ext cx="1440" cy="83"/>
              </a:xfrm>
              <a:custGeom>
                <a:avLst/>
                <a:gdLst>
                  <a:gd name="T0" fmla="*/ 1440 w 1440"/>
                  <a:gd name="T1" fmla="*/ 83 h 96"/>
                  <a:gd name="T2" fmla="*/ 0 w 1440"/>
                  <a:gd name="T3" fmla="*/ 83 h 96"/>
                  <a:gd name="T4" fmla="*/ 0 w 1440"/>
                  <a:gd name="T5" fmla="*/ 0 h 96"/>
                  <a:gd name="T6" fmla="*/ 0 60000 65536"/>
                  <a:gd name="T7" fmla="*/ 0 60000 65536"/>
                  <a:gd name="T8" fmla="*/ 0 60000 65536"/>
                  <a:gd name="T9" fmla="*/ 0 w 1440"/>
                  <a:gd name="T10" fmla="*/ 0 h 96"/>
                  <a:gd name="T11" fmla="*/ 1440 w 1440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0" h="96">
                    <a:moveTo>
                      <a:pt x="1440" y="96"/>
                    </a:moveTo>
                    <a:lnTo>
                      <a:pt x="0" y="96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41" name="Freeform 70">
                <a:extLst>
                  <a:ext uri="{FF2B5EF4-FFF2-40B4-BE49-F238E27FC236}">
                    <a16:creationId xmlns:a16="http://schemas.microsoft.com/office/drawing/2014/main" id="{BD1702F4-6DF1-444E-8555-0F9DD08DC9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" y="1026"/>
                <a:ext cx="3" cy="165"/>
              </a:xfrm>
              <a:custGeom>
                <a:avLst/>
                <a:gdLst>
                  <a:gd name="T0" fmla="*/ 0 w 3"/>
                  <a:gd name="T1" fmla="*/ 165 h 165"/>
                  <a:gd name="T2" fmla="*/ 3 w 3"/>
                  <a:gd name="T3" fmla="*/ 0 h 165"/>
                  <a:gd name="T4" fmla="*/ 0 60000 65536"/>
                  <a:gd name="T5" fmla="*/ 0 60000 65536"/>
                  <a:gd name="T6" fmla="*/ 0 w 3"/>
                  <a:gd name="T7" fmla="*/ 0 h 165"/>
                  <a:gd name="T8" fmla="*/ 3 w 3"/>
                  <a:gd name="T9" fmla="*/ 165 h 1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165">
                    <a:moveTo>
                      <a:pt x="0" y="165"/>
                    </a:moveTo>
                    <a:lnTo>
                      <a:pt x="3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42" name="Freeform 71">
                <a:extLst>
                  <a:ext uri="{FF2B5EF4-FFF2-40B4-BE49-F238E27FC236}">
                    <a16:creationId xmlns:a16="http://schemas.microsoft.com/office/drawing/2014/main" id="{32A12696-7748-4D3D-A379-4B30021768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2" y="1454"/>
                <a:ext cx="1650" cy="130"/>
              </a:xfrm>
              <a:custGeom>
                <a:avLst/>
                <a:gdLst>
                  <a:gd name="T0" fmla="*/ 1650 w 1296"/>
                  <a:gd name="T1" fmla="*/ 130 h 144"/>
                  <a:gd name="T2" fmla="*/ 1650 w 1296"/>
                  <a:gd name="T3" fmla="*/ 0 h 144"/>
                  <a:gd name="T4" fmla="*/ 0 w 1296"/>
                  <a:gd name="T5" fmla="*/ 0 h 144"/>
                  <a:gd name="T6" fmla="*/ 0 60000 65536"/>
                  <a:gd name="T7" fmla="*/ 0 60000 65536"/>
                  <a:gd name="T8" fmla="*/ 0 60000 65536"/>
                  <a:gd name="T9" fmla="*/ 0 w 1296"/>
                  <a:gd name="T10" fmla="*/ 0 h 144"/>
                  <a:gd name="T11" fmla="*/ 1296 w 1296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96" h="144">
                    <a:moveTo>
                      <a:pt x="1296" y="144"/>
                    </a:moveTo>
                    <a:lnTo>
                      <a:pt x="12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43" name="Freeform 72">
                <a:extLst>
                  <a:ext uri="{FF2B5EF4-FFF2-40B4-BE49-F238E27FC236}">
                    <a16:creationId xmlns:a16="http://schemas.microsoft.com/office/drawing/2014/main" id="{D792F79D-3712-4939-BE8A-81CE512BF2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1031"/>
                <a:ext cx="1920" cy="83"/>
              </a:xfrm>
              <a:custGeom>
                <a:avLst/>
                <a:gdLst>
                  <a:gd name="T0" fmla="*/ 1920 w 1920"/>
                  <a:gd name="T1" fmla="*/ 0 h 96"/>
                  <a:gd name="T2" fmla="*/ 1920 w 1920"/>
                  <a:gd name="T3" fmla="*/ 83 h 96"/>
                  <a:gd name="T4" fmla="*/ 0 w 1920"/>
                  <a:gd name="T5" fmla="*/ 83 h 96"/>
                  <a:gd name="T6" fmla="*/ 0 60000 65536"/>
                  <a:gd name="T7" fmla="*/ 0 60000 65536"/>
                  <a:gd name="T8" fmla="*/ 0 60000 65536"/>
                  <a:gd name="T9" fmla="*/ 0 w 1920"/>
                  <a:gd name="T10" fmla="*/ 0 h 96"/>
                  <a:gd name="T11" fmla="*/ 1920 w 1920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0" h="96">
                    <a:moveTo>
                      <a:pt x="1920" y="0"/>
                    </a:moveTo>
                    <a:lnTo>
                      <a:pt x="1920" y="96"/>
                    </a:lnTo>
                    <a:lnTo>
                      <a:pt x="0" y="9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44" name="Line 73">
                <a:extLst>
                  <a:ext uri="{FF2B5EF4-FFF2-40B4-BE49-F238E27FC236}">
                    <a16:creationId xmlns:a16="http://schemas.microsoft.com/office/drawing/2014/main" id="{ADB49432-BA91-4B1F-808C-32C367DB1C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4" y="1280"/>
                <a:ext cx="14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45" name="Rectangle 74">
                <a:extLst>
                  <a:ext uri="{FF2B5EF4-FFF2-40B4-BE49-F238E27FC236}">
                    <a16:creationId xmlns:a16="http://schemas.microsoft.com/office/drawing/2014/main" id="{652D44A8-576F-4575-9E21-B707813D01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8" y="570"/>
                <a:ext cx="3792" cy="365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46" name="Rectangle 75">
                <a:extLst>
                  <a:ext uri="{FF2B5EF4-FFF2-40B4-BE49-F238E27FC236}">
                    <a16:creationId xmlns:a16="http://schemas.microsoft.com/office/drawing/2014/main" id="{B976E1E1-B92A-401D-AE34-793F580E9E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672"/>
                <a:ext cx="48" cy="1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47" name="AutoShape 76">
                <a:extLst>
                  <a:ext uri="{FF2B5EF4-FFF2-40B4-BE49-F238E27FC236}">
                    <a16:creationId xmlns:a16="http://schemas.microsoft.com/office/drawing/2014/main" id="{C5C7FB56-54F2-4AF5-BFFA-3F8ABD3639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624"/>
                <a:ext cx="2686" cy="144"/>
              </a:xfrm>
              <a:prstGeom prst="leftArrow">
                <a:avLst>
                  <a:gd name="adj1" fmla="val 39417"/>
                  <a:gd name="adj2" fmla="val 16485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48" name="Freeform 77">
                <a:extLst>
                  <a:ext uri="{FF2B5EF4-FFF2-40B4-BE49-F238E27FC236}">
                    <a16:creationId xmlns:a16="http://schemas.microsoft.com/office/drawing/2014/main" id="{B059367A-23F8-4B98-845E-3A06E5CD5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3" y="1470"/>
                <a:ext cx="420" cy="1"/>
              </a:xfrm>
              <a:custGeom>
                <a:avLst/>
                <a:gdLst>
                  <a:gd name="T0" fmla="*/ 420 w 420"/>
                  <a:gd name="T1" fmla="*/ 0 h 1"/>
                  <a:gd name="T2" fmla="*/ 0 w 420"/>
                  <a:gd name="T3" fmla="*/ 0 h 1"/>
                  <a:gd name="T4" fmla="*/ 0 60000 65536"/>
                  <a:gd name="T5" fmla="*/ 0 60000 65536"/>
                  <a:gd name="T6" fmla="*/ 0 w 420"/>
                  <a:gd name="T7" fmla="*/ 0 h 1"/>
                  <a:gd name="T8" fmla="*/ 420 w 42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20" h="1">
                    <a:moveTo>
                      <a:pt x="42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49" name="Line 78">
                <a:extLst>
                  <a:ext uri="{FF2B5EF4-FFF2-40B4-BE49-F238E27FC236}">
                    <a16:creationId xmlns:a16="http://schemas.microsoft.com/office/drawing/2014/main" id="{BDC010EF-2D8A-4015-9CD1-686A2506F8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10" y="219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50" name="Text Box 79">
                <a:extLst>
                  <a:ext uri="{FF2B5EF4-FFF2-40B4-BE49-F238E27FC236}">
                    <a16:creationId xmlns:a16="http://schemas.microsoft.com/office/drawing/2014/main" id="{0E00F4BA-BAC0-4287-928F-CA411D3D35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2191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中断查询</a:t>
                </a:r>
              </a:p>
            </p:txBody>
          </p:sp>
          <p:sp>
            <p:nvSpPr>
              <p:cNvPr id="28751" name="Text Box 80">
                <a:extLst>
                  <a:ext uri="{FF2B5EF4-FFF2-40B4-BE49-F238E27FC236}">
                    <a16:creationId xmlns:a16="http://schemas.microsoft.com/office/drawing/2014/main" id="{8EA85D7C-7E8A-4FC3-9AAD-2D03B00B96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1488"/>
                <a:ext cx="841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来自高一级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的排队器</a:t>
                </a:r>
              </a:p>
            </p:txBody>
          </p:sp>
          <p:sp>
            <p:nvSpPr>
              <p:cNvPr id="28752" name="Text Box 81">
                <a:extLst>
                  <a:ext uri="{FF2B5EF4-FFF2-40B4-BE49-F238E27FC236}">
                    <a16:creationId xmlns:a16="http://schemas.microsoft.com/office/drawing/2014/main" id="{63C8C270-6099-4E58-9ADB-F150521CE9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892"/>
                <a:ext cx="696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至低一级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的排队器</a:t>
                </a:r>
              </a:p>
            </p:txBody>
          </p:sp>
          <p:sp>
            <p:nvSpPr>
              <p:cNvPr id="28753" name="Text Box 82">
                <a:extLst>
                  <a:ext uri="{FF2B5EF4-FFF2-40B4-BE49-F238E27FC236}">
                    <a16:creationId xmlns:a16="http://schemas.microsoft.com/office/drawing/2014/main" id="{B3F84987-C22C-43D3-BFF9-FC1497AE32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576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向量地址</a:t>
                </a:r>
              </a:p>
            </p:txBody>
          </p:sp>
          <p:sp>
            <p:nvSpPr>
              <p:cNvPr id="28754" name="Line 83">
                <a:extLst>
                  <a:ext uri="{FF2B5EF4-FFF2-40B4-BE49-F238E27FC236}">
                    <a16:creationId xmlns:a16="http://schemas.microsoft.com/office/drawing/2014/main" id="{FEFC075A-7F79-4DDF-AF0F-2366CA9E0C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2" y="1114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55" name="Text Box 84">
                <a:extLst>
                  <a:ext uri="{FF2B5EF4-FFF2-40B4-BE49-F238E27FC236}">
                    <a16:creationId xmlns:a16="http://schemas.microsoft.com/office/drawing/2014/main" id="{51965D2A-C2C5-43C8-8A2D-9B8C521D1F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912"/>
                <a:ext cx="696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中断响应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 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INTA</a:t>
                </a:r>
              </a:p>
            </p:txBody>
          </p:sp>
          <p:sp>
            <p:nvSpPr>
              <p:cNvPr id="28756" name="Text Box 85">
                <a:extLst>
                  <a:ext uri="{FF2B5EF4-FFF2-40B4-BE49-F238E27FC236}">
                    <a16:creationId xmlns:a16="http://schemas.microsoft.com/office/drawing/2014/main" id="{A3F6740D-43A4-4D98-80FB-C1BD43D2B8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344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中断请求</a:t>
                </a:r>
              </a:p>
            </p:txBody>
          </p:sp>
          <p:sp>
            <p:nvSpPr>
              <p:cNvPr id="28757" name="Rectangle 86">
                <a:extLst>
                  <a:ext uri="{FF2B5EF4-FFF2-40B4-BE49-F238E27FC236}">
                    <a16:creationId xmlns:a16="http://schemas.microsoft.com/office/drawing/2014/main" id="{6FE4A456-8ED1-4681-9F83-656D89B15E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" y="2814"/>
                <a:ext cx="864" cy="788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58" name="Text Box 87">
                <a:extLst>
                  <a:ext uri="{FF2B5EF4-FFF2-40B4-BE49-F238E27FC236}">
                    <a16:creationId xmlns:a16="http://schemas.microsoft.com/office/drawing/2014/main" id="{2505B8C6-BF62-446B-9217-17BFB80D62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3" y="2832"/>
                <a:ext cx="7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命令译码</a:t>
                </a:r>
              </a:p>
            </p:txBody>
          </p:sp>
        </p:grpSp>
      </p:grpSp>
      <p:sp>
        <p:nvSpPr>
          <p:cNvPr id="28675" name="Text Box 88">
            <a:extLst>
              <a:ext uri="{FF2B5EF4-FFF2-40B4-BE49-F238E27FC236}">
                <a16:creationId xmlns:a16="http://schemas.microsoft.com/office/drawing/2014/main" id="{CA26A3AF-318A-49E6-BA6D-1F9FFB8AE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692696"/>
            <a:ext cx="21403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基本组成</a:t>
            </a:r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A75A0346-2923-40B5-87C7-7BE2AEBE2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8964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7.4.3 </a:t>
            </a:r>
            <a:r>
              <a:rPr kumimoji="0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中断方式接口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宋体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E970179-17DF-46DA-BD8A-2310F200926A}"/>
              </a:ext>
            </a:extLst>
          </p:cNvPr>
          <p:cNvGrpSpPr>
            <a:grpSpLocks/>
          </p:cNvGrpSpPr>
          <p:nvPr/>
        </p:nvGrpSpPr>
        <p:grpSpPr bwMode="auto">
          <a:xfrm>
            <a:off x="0" y="606425"/>
            <a:ext cx="9207500" cy="6096000"/>
            <a:chOff x="0" y="382"/>
            <a:chExt cx="5800" cy="3840"/>
          </a:xfrm>
        </p:grpSpPr>
        <p:sp>
          <p:nvSpPr>
            <p:cNvPr id="29794" name="AutoShape 3">
              <a:extLst>
                <a:ext uri="{FF2B5EF4-FFF2-40B4-BE49-F238E27FC236}">
                  <a16:creationId xmlns:a16="http://schemas.microsoft.com/office/drawing/2014/main" id="{CFD851A7-72F0-46E8-9C1D-A5467CD29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" y="3982"/>
              <a:ext cx="1728" cy="192"/>
            </a:xfrm>
            <a:prstGeom prst="leftArrow">
              <a:avLst>
                <a:gd name="adj1" fmla="val 58333"/>
                <a:gd name="adj2" fmla="val 135958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9795" name="Group 4">
              <a:extLst>
                <a:ext uri="{FF2B5EF4-FFF2-40B4-BE49-F238E27FC236}">
                  <a16:creationId xmlns:a16="http://schemas.microsoft.com/office/drawing/2014/main" id="{BEB5FD6E-4423-4462-BAFD-A0169F42CE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82"/>
              <a:ext cx="5800" cy="3840"/>
              <a:chOff x="0" y="382"/>
              <a:chExt cx="5800" cy="3840"/>
            </a:xfrm>
          </p:grpSpPr>
          <p:sp>
            <p:nvSpPr>
              <p:cNvPr id="29796" name="Freeform 5">
                <a:extLst>
                  <a:ext uri="{FF2B5EF4-FFF2-40B4-BE49-F238E27FC236}">
                    <a16:creationId xmlns:a16="http://schemas.microsoft.com/office/drawing/2014/main" id="{8482A2C0-4E13-445C-A75F-4636E5CA01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722"/>
                <a:ext cx="1491" cy="119"/>
              </a:xfrm>
              <a:custGeom>
                <a:avLst/>
                <a:gdLst>
                  <a:gd name="T0" fmla="*/ 0 w 1730"/>
                  <a:gd name="T1" fmla="*/ 119 h 139"/>
                  <a:gd name="T2" fmla="*/ 2 w 1730"/>
                  <a:gd name="T3" fmla="*/ 0 h 139"/>
                  <a:gd name="T4" fmla="*/ 1491 w 1730"/>
                  <a:gd name="T5" fmla="*/ 0 h 139"/>
                  <a:gd name="T6" fmla="*/ 0 60000 65536"/>
                  <a:gd name="T7" fmla="*/ 0 60000 65536"/>
                  <a:gd name="T8" fmla="*/ 0 60000 65536"/>
                  <a:gd name="T9" fmla="*/ 0 w 1730"/>
                  <a:gd name="T10" fmla="*/ 0 h 139"/>
                  <a:gd name="T11" fmla="*/ 1730 w 1730"/>
                  <a:gd name="T12" fmla="*/ 139 h 1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30" h="139">
                    <a:moveTo>
                      <a:pt x="0" y="139"/>
                    </a:moveTo>
                    <a:lnTo>
                      <a:pt x="2" y="0"/>
                    </a:lnTo>
                    <a:lnTo>
                      <a:pt x="173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797" name="Rectangle 6">
                <a:extLst>
                  <a:ext uri="{FF2B5EF4-FFF2-40B4-BE49-F238E27FC236}">
                    <a16:creationId xmlns:a16="http://schemas.microsoft.com/office/drawing/2014/main" id="{BD6B5DFD-A35C-4D01-87E4-0ED03F3F7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3635"/>
                <a:ext cx="2016" cy="20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设备选择电路</a:t>
                </a:r>
              </a:p>
            </p:txBody>
          </p:sp>
          <p:sp>
            <p:nvSpPr>
              <p:cNvPr id="29798" name="Rectangle 7">
                <a:extLst>
                  <a:ext uri="{FF2B5EF4-FFF2-40B4-BE49-F238E27FC236}">
                    <a16:creationId xmlns:a16="http://schemas.microsoft.com/office/drawing/2014/main" id="{FAF9B217-5863-49BB-AEB8-3193BB0BC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3973"/>
                <a:ext cx="2016" cy="20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DBR</a:t>
                </a:r>
              </a:p>
            </p:txBody>
          </p:sp>
          <p:sp>
            <p:nvSpPr>
              <p:cNvPr id="29799" name="Rectangle 8">
                <a:extLst>
                  <a:ext uri="{FF2B5EF4-FFF2-40B4-BE49-F238E27FC236}">
                    <a16:creationId xmlns:a16="http://schemas.microsoft.com/office/drawing/2014/main" id="{4B139771-80DD-4395-B7B4-5B6F8CE0A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2837"/>
                <a:ext cx="576" cy="32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00" name="Text Box 9">
                <a:extLst>
                  <a:ext uri="{FF2B5EF4-FFF2-40B4-BE49-F238E27FC236}">
                    <a16:creationId xmlns:a16="http://schemas.microsoft.com/office/drawing/2014/main" id="{8ADCAF16-1054-456B-A0A0-EB0A1B2D82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0" y="2878"/>
                <a:ext cx="272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D</a:t>
                </a:r>
              </a:p>
            </p:txBody>
          </p:sp>
          <p:sp>
            <p:nvSpPr>
              <p:cNvPr id="29801" name="Text Box 10">
                <a:extLst>
                  <a:ext uri="{FF2B5EF4-FFF2-40B4-BE49-F238E27FC236}">
                    <a16:creationId xmlns:a16="http://schemas.microsoft.com/office/drawing/2014/main" id="{FA93F13C-A149-4E2F-AB97-0B4C39E105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6" y="2805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</a:p>
            </p:txBody>
          </p:sp>
          <p:sp>
            <p:nvSpPr>
              <p:cNvPr id="29802" name="Oval 11">
                <a:extLst>
                  <a:ext uri="{FF2B5EF4-FFF2-40B4-BE49-F238E27FC236}">
                    <a16:creationId xmlns:a16="http://schemas.microsoft.com/office/drawing/2014/main" id="{2D8C2397-1B6D-4304-AD68-310D1E8294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2" y="2930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03" name="Oval 12">
                <a:extLst>
                  <a:ext uri="{FF2B5EF4-FFF2-40B4-BE49-F238E27FC236}">
                    <a16:creationId xmlns:a16="http://schemas.microsoft.com/office/drawing/2014/main" id="{B0A38BDE-8B07-4B15-ACFB-F598E9B8F6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7" y="2930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04" name="Freeform 13">
                <a:extLst>
                  <a:ext uri="{FF2B5EF4-FFF2-40B4-BE49-F238E27FC236}">
                    <a16:creationId xmlns:a16="http://schemas.microsoft.com/office/drawing/2014/main" id="{C59DAED7-AD2E-4867-BBB2-594174F1B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7" y="2953"/>
                <a:ext cx="759" cy="1"/>
              </a:xfrm>
              <a:custGeom>
                <a:avLst/>
                <a:gdLst>
                  <a:gd name="T0" fmla="*/ 0 w 759"/>
                  <a:gd name="T1" fmla="*/ 0 h 1"/>
                  <a:gd name="T2" fmla="*/ 759 w 759"/>
                  <a:gd name="T3" fmla="*/ 0 h 1"/>
                  <a:gd name="T4" fmla="*/ 0 60000 65536"/>
                  <a:gd name="T5" fmla="*/ 0 60000 65536"/>
                  <a:gd name="T6" fmla="*/ 0 w 759"/>
                  <a:gd name="T7" fmla="*/ 0 h 1"/>
                  <a:gd name="T8" fmla="*/ 759 w 759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59" h="1">
                    <a:moveTo>
                      <a:pt x="0" y="0"/>
                    </a:moveTo>
                    <a:lnTo>
                      <a:pt x="759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05" name="Freeform 14">
                <a:extLst>
                  <a:ext uri="{FF2B5EF4-FFF2-40B4-BE49-F238E27FC236}">
                    <a16:creationId xmlns:a16="http://schemas.microsoft.com/office/drawing/2014/main" id="{B6F75F57-76EA-4C8F-8F6F-B19743AEAC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6" y="2953"/>
                <a:ext cx="1488" cy="308"/>
              </a:xfrm>
              <a:custGeom>
                <a:avLst/>
                <a:gdLst>
                  <a:gd name="T0" fmla="*/ 1488 w 1488"/>
                  <a:gd name="T1" fmla="*/ 0 h 357"/>
                  <a:gd name="T2" fmla="*/ 1488 w 1488"/>
                  <a:gd name="T3" fmla="*/ 308 h 357"/>
                  <a:gd name="T4" fmla="*/ 0 w 1488"/>
                  <a:gd name="T5" fmla="*/ 308 h 357"/>
                  <a:gd name="T6" fmla="*/ 0 60000 65536"/>
                  <a:gd name="T7" fmla="*/ 0 60000 65536"/>
                  <a:gd name="T8" fmla="*/ 0 60000 65536"/>
                  <a:gd name="T9" fmla="*/ 0 w 1488"/>
                  <a:gd name="T10" fmla="*/ 0 h 357"/>
                  <a:gd name="T11" fmla="*/ 1488 w 1488"/>
                  <a:gd name="T12" fmla="*/ 357 h 3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88" h="357">
                    <a:moveTo>
                      <a:pt x="1488" y="0"/>
                    </a:moveTo>
                    <a:lnTo>
                      <a:pt x="1488" y="357"/>
                    </a:lnTo>
                    <a:lnTo>
                      <a:pt x="0" y="357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06" name="Rectangle 15">
                <a:extLst>
                  <a:ext uri="{FF2B5EF4-FFF2-40B4-BE49-F238E27FC236}">
                    <a16:creationId xmlns:a16="http://schemas.microsoft.com/office/drawing/2014/main" id="{F4A92CB6-D0CE-427D-A787-D86B4C83C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3096"/>
                <a:ext cx="240" cy="33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07" name="Text Box 16">
                <a:extLst>
                  <a:ext uri="{FF2B5EF4-FFF2-40B4-BE49-F238E27FC236}">
                    <a16:creationId xmlns:a16="http://schemas.microsoft.com/office/drawing/2014/main" id="{401247F6-202C-4B68-807E-8CBAD52B3D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9" y="3118"/>
                <a:ext cx="249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&amp;</a:t>
                </a:r>
              </a:p>
            </p:txBody>
          </p:sp>
          <p:sp>
            <p:nvSpPr>
              <p:cNvPr id="29808" name="Oval 17">
                <a:extLst>
                  <a:ext uri="{FF2B5EF4-FFF2-40B4-BE49-F238E27FC236}">
                    <a16:creationId xmlns:a16="http://schemas.microsoft.com/office/drawing/2014/main" id="{48D01043-3E68-4946-8E82-DD0B40A89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2930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09" name="Freeform 18">
                <a:extLst>
                  <a:ext uri="{FF2B5EF4-FFF2-40B4-BE49-F238E27FC236}">
                    <a16:creationId xmlns:a16="http://schemas.microsoft.com/office/drawing/2014/main" id="{C279B2B0-C94F-4C11-B4AB-51F07BC1D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" y="2955"/>
                <a:ext cx="2784" cy="396"/>
              </a:xfrm>
              <a:custGeom>
                <a:avLst/>
                <a:gdLst>
                  <a:gd name="T0" fmla="*/ 144 w 2784"/>
                  <a:gd name="T1" fmla="*/ 1 h 396"/>
                  <a:gd name="T2" fmla="*/ 0 w 2784"/>
                  <a:gd name="T3" fmla="*/ 0 h 396"/>
                  <a:gd name="T4" fmla="*/ 0 w 2784"/>
                  <a:gd name="T5" fmla="*/ 396 h 396"/>
                  <a:gd name="T6" fmla="*/ 2784 w 2784"/>
                  <a:gd name="T7" fmla="*/ 396 h 3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84"/>
                  <a:gd name="T13" fmla="*/ 0 h 396"/>
                  <a:gd name="T14" fmla="*/ 2784 w 2784"/>
                  <a:gd name="T15" fmla="*/ 396 h 3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84" h="396">
                    <a:moveTo>
                      <a:pt x="144" y="1"/>
                    </a:moveTo>
                    <a:lnTo>
                      <a:pt x="0" y="0"/>
                    </a:lnTo>
                    <a:lnTo>
                      <a:pt x="0" y="396"/>
                    </a:lnTo>
                    <a:lnTo>
                      <a:pt x="2784" y="39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10" name="Oval 19">
                <a:extLst>
                  <a:ext uri="{FF2B5EF4-FFF2-40B4-BE49-F238E27FC236}">
                    <a16:creationId xmlns:a16="http://schemas.microsoft.com/office/drawing/2014/main" id="{B3DAEB1B-C405-4330-955E-4BD23AC572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2" y="2930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11" name="Freeform 20">
                <a:extLst>
                  <a:ext uri="{FF2B5EF4-FFF2-40B4-BE49-F238E27FC236}">
                    <a16:creationId xmlns:a16="http://schemas.microsoft.com/office/drawing/2014/main" id="{2D6E1BF8-1B3D-40C5-98D6-04FC58112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2953"/>
                <a:ext cx="282" cy="391"/>
              </a:xfrm>
              <a:custGeom>
                <a:avLst/>
                <a:gdLst>
                  <a:gd name="T0" fmla="*/ 282 w 282"/>
                  <a:gd name="T1" fmla="*/ 391 h 453"/>
                  <a:gd name="T2" fmla="*/ 279 w 282"/>
                  <a:gd name="T3" fmla="*/ 0 h 453"/>
                  <a:gd name="T4" fmla="*/ 0 w 282"/>
                  <a:gd name="T5" fmla="*/ 0 h 453"/>
                  <a:gd name="T6" fmla="*/ 0 60000 65536"/>
                  <a:gd name="T7" fmla="*/ 0 60000 65536"/>
                  <a:gd name="T8" fmla="*/ 0 60000 65536"/>
                  <a:gd name="T9" fmla="*/ 0 w 282"/>
                  <a:gd name="T10" fmla="*/ 0 h 453"/>
                  <a:gd name="T11" fmla="*/ 282 w 282"/>
                  <a:gd name="T12" fmla="*/ 453 h 4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2" h="453">
                    <a:moveTo>
                      <a:pt x="282" y="453"/>
                    </a:moveTo>
                    <a:lnTo>
                      <a:pt x="279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12" name="Oval 21">
                <a:extLst>
                  <a:ext uri="{FF2B5EF4-FFF2-40B4-BE49-F238E27FC236}">
                    <a16:creationId xmlns:a16="http://schemas.microsoft.com/office/drawing/2014/main" id="{32E8954F-64F2-4BD3-AA1C-E670AC868C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8" y="3239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13" name="Freeform 22">
                <a:extLst>
                  <a:ext uri="{FF2B5EF4-FFF2-40B4-BE49-F238E27FC236}">
                    <a16:creationId xmlns:a16="http://schemas.microsoft.com/office/drawing/2014/main" id="{3127A069-4DBA-4193-96A6-E10FA672B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8" y="3344"/>
                <a:ext cx="1392" cy="291"/>
              </a:xfrm>
              <a:custGeom>
                <a:avLst/>
                <a:gdLst>
                  <a:gd name="T0" fmla="*/ 240 w 1392"/>
                  <a:gd name="T1" fmla="*/ 0 h 336"/>
                  <a:gd name="T2" fmla="*/ 0 w 1392"/>
                  <a:gd name="T3" fmla="*/ 0 h 336"/>
                  <a:gd name="T4" fmla="*/ 0 w 1392"/>
                  <a:gd name="T5" fmla="*/ 208 h 336"/>
                  <a:gd name="T6" fmla="*/ 1392 w 1392"/>
                  <a:gd name="T7" fmla="*/ 208 h 336"/>
                  <a:gd name="T8" fmla="*/ 1392 w 1392"/>
                  <a:gd name="T9" fmla="*/ 291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92"/>
                  <a:gd name="T16" fmla="*/ 0 h 336"/>
                  <a:gd name="T17" fmla="*/ 1392 w 1392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92" h="336">
                    <a:moveTo>
                      <a:pt x="240" y="0"/>
                    </a:moveTo>
                    <a:lnTo>
                      <a:pt x="0" y="0"/>
                    </a:lnTo>
                    <a:lnTo>
                      <a:pt x="0" y="240"/>
                    </a:lnTo>
                    <a:lnTo>
                      <a:pt x="1392" y="240"/>
                    </a:lnTo>
                    <a:lnTo>
                      <a:pt x="1392" y="33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14" name="Line 23">
                <a:extLst>
                  <a:ext uri="{FF2B5EF4-FFF2-40B4-BE49-F238E27FC236}">
                    <a16:creationId xmlns:a16="http://schemas.microsoft.com/office/drawing/2014/main" id="{73FC4E30-1C93-4338-A51F-85752B2B8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6" y="3178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15" name="Line 24">
                <a:extLst>
                  <a:ext uri="{FF2B5EF4-FFF2-40B4-BE49-F238E27FC236}">
                    <a16:creationId xmlns:a16="http://schemas.microsoft.com/office/drawing/2014/main" id="{E17075B5-DA5E-4E00-9CC6-571CF816F1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4" y="3178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16" name="AutoShape 25">
                <a:extLst>
                  <a:ext uri="{FF2B5EF4-FFF2-40B4-BE49-F238E27FC236}">
                    <a16:creationId xmlns:a16="http://schemas.microsoft.com/office/drawing/2014/main" id="{00A4C8E4-3038-4655-80D6-25E040C7B2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3635"/>
                <a:ext cx="1632" cy="165"/>
              </a:xfrm>
              <a:prstGeom prst="rightArrow">
                <a:avLst>
                  <a:gd name="adj1" fmla="val 50000"/>
                  <a:gd name="adj2" fmla="val 164253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17" name="AutoShape 26">
                <a:extLst>
                  <a:ext uri="{FF2B5EF4-FFF2-40B4-BE49-F238E27FC236}">
                    <a16:creationId xmlns:a16="http://schemas.microsoft.com/office/drawing/2014/main" id="{DCA84F03-D4EE-45DB-A070-26D61FDD9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2" y="3973"/>
                <a:ext cx="1008" cy="208"/>
              </a:xfrm>
              <a:prstGeom prst="leftArrow">
                <a:avLst>
                  <a:gd name="adj1" fmla="val 50000"/>
                  <a:gd name="adj2" fmla="val 88465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18" name="Text Box 27">
                <a:extLst>
                  <a:ext uri="{FF2B5EF4-FFF2-40B4-BE49-F238E27FC236}">
                    <a16:creationId xmlns:a16="http://schemas.microsoft.com/office/drawing/2014/main" id="{E401D7E8-83AD-4ED0-B911-698DC2E493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943"/>
                <a:ext cx="55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数据线</a:t>
                </a:r>
              </a:p>
            </p:txBody>
          </p:sp>
          <p:sp>
            <p:nvSpPr>
              <p:cNvPr id="29819" name="Text Box 28">
                <a:extLst>
                  <a:ext uri="{FF2B5EF4-FFF2-40B4-BE49-F238E27FC236}">
                    <a16:creationId xmlns:a16="http://schemas.microsoft.com/office/drawing/2014/main" id="{AE90A9D0-518F-4526-8B18-AAA713DEE6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022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启动命令</a:t>
                </a:r>
              </a:p>
            </p:txBody>
          </p:sp>
          <p:sp>
            <p:nvSpPr>
              <p:cNvPr id="29820" name="Text Box 29">
                <a:extLst>
                  <a:ext uri="{FF2B5EF4-FFF2-40B4-BE49-F238E27FC236}">
                    <a16:creationId xmlns:a16="http://schemas.microsoft.com/office/drawing/2014/main" id="{34B8A415-5808-4E29-8994-7B704882D2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607"/>
                <a:ext cx="55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地址线</a:t>
                </a:r>
              </a:p>
            </p:txBody>
          </p:sp>
          <p:sp>
            <p:nvSpPr>
              <p:cNvPr id="29821" name="Text Box 30">
                <a:extLst>
                  <a:ext uri="{FF2B5EF4-FFF2-40B4-BE49-F238E27FC236}">
                    <a16:creationId xmlns:a16="http://schemas.microsoft.com/office/drawing/2014/main" id="{E81911A3-6202-4FC5-9989-B4D039A868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3406"/>
                <a:ext cx="41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SEL</a:t>
                </a:r>
              </a:p>
            </p:txBody>
          </p:sp>
          <p:sp>
            <p:nvSpPr>
              <p:cNvPr id="29822" name="Line 31">
                <a:extLst>
                  <a:ext uri="{FF2B5EF4-FFF2-40B4-BE49-F238E27FC236}">
                    <a16:creationId xmlns:a16="http://schemas.microsoft.com/office/drawing/2014/main" id="{6B86DB99-D5F6-4C47-B188-E3D7C66AE4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10" y="3344"/>
                <a:ext cx="432" cy="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23" name="Text Box 32">
                <a:extLst>
                  <a:ext uri="{FF2B5EF4-FFF2-40B4-BE49-F238E27FC236}">
                    <a16:creationId xmlns:a16="http://schemas.microsoft.com/office/drawing/2014/main" id="{E20BA8EC-BA6F-4564-883E-CCBC3FD341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0" y="3790"/>
                <a:ext cx="7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输入数据</a:t>
                </a:r>
              </a:p>
            </p:txBody>
          </p:sp>
          <p:sp>
            <p:nvSpPr>
              <p:cNvPr id="29824" name="Text Box 33">
                <a:extLst>
                  <a:ext uri="{FF2B5EF4-FFF2-40B4-BE49-F238E27FC236}">
                    <a16:creationId xmlns:a16="http://schemas.microsoft.com/office/drawing/2014/main" id="{805D2C2E-4DE5-4C2A-8018-E6DB02D064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2745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启动设备</a:t>
                </a:r>
              </a:p>
            </p:txBody>
          </p:sp>
          <p:sp>
            <p:nvSpPr>
              <p:cNvPr id="29825" name="Text Box 34">
                <a:extLst>
                  <a:ext uri="{FF2B5EF4-FFF2-40B4-BE49-F238E27FC236}">
                    <a16:creationId xmlns:a16="http://schemas.microsoft.com/office/drawing/2014/main" id="{A62F4B71-D262-4CD4-A791-3C8EA9404F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3386"/>
                <a:ext cx="696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设备工作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 结束</a:t>
                </a:r>
              </a:p>
            </p:txBody>
          </p:sp>
          <p:sp>
            <p:nvSpPr>
              <p:cNvPr id="29826" name="Text Box 35">
                <a:extLst>
                  <a:ext uri="{FF2B5EF4-FFF2-40B4-BE49-F238E27FC236}">
                    <a16:creationId xmlns:a16="http://schemas.microsoft.com/office/drawing/2014/main" id="{A9ED7D79-952C-4BB8-9E31-EE67166C27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6" y="2455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&amp;</a:t>
                </a:r>
              </a:p>
            </p:txBody>
          </p:sp>
          <p:sp>
            <p:nvSpPr>
              <p:cNvPr id="29827" name="Rectangle 36">
                <a:extLst>
                  <a:ext uri="{FF2B5EF4-FFF2-40B4-BE49-F238E27FC236}">
                    <a16:creationId xmlns:a16="http://schemas.microsoft.com/office/drawing/2014/main" id="{9E8B97A1-E82C-489D-B3C8-29F12163F6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6" y="2487"/>
                <a:ext cx="381" cy="15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28" name="Text Box 37">
                <a:extLst>
                  <a:ext uri="{FF2B5EF4-FFF2-40B4-BE49-F238E27FC236}">
                    <a16:creationId xmlns:a16="http://schemas.microsoft.com/office/drawing/2014/main" id="{D1EB1CDD-639D-4379-834A-CFC734E582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0" y="2119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29829" name="Rectangle 38">
                <a:extLst>
                  <a:ext uri="{FF2B5EF4-FFF2-40B4-BE49-F238E27FC236}">
                    <a16:creationId xmlns:a16="http://schemas.microsoft.com/office/drawing/2014/main" id="{30678CEA-2606-4B83-B95C-3AE65DA372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6" y="2155"/>
                <a:ext cx="381" cy="15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30" name="Oval 39">
                <a:extLst>
                  <a:ext uri="{FF2B5EF4-FFF2-40B4-BE49-F238E27FC236}">
                    <a16:creationId xmlns:a16="http://schemas.microsoft.com/office/drawing/2014/main" id="{AA65A69B-785F-4045-83C6-A994A06B91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8" y="2432"/>
                <a:ext cx="48" cy="4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31" name="Oval 40">
                <a:extLst>
                  <a:ext uri="{FF2B5EF4-FFF2-40B4-BE49-F238E27FC236}">
                    <a16:creationId xmlns:a16="http://schemas.microsoft.com/office/drawing/2014/main" id="{268FA408-C4DB-421B-ACFC-F55E68728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8" y="2110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32" name="Rectangle 41">
                <a:extLst>
                  <a:ext uri="{FF2B5EF4-FFF2-40B4-BE49-F238E27FC236}">
                    <a16:creationId xmlns:a16="http://schemas.microsoft.com/office/drawing/2014/main" id="{68EE96E9-C6FC-4577-88C0-A8C246E56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1581"/>
                <a:ext cx="768" cy="4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33" name="Text Box 42">
                <a:extLst>
                  <a:ext uri="{FF2B5EF4-FFF2-40B4-BE49-F238E27FC236}">
                    <a16:creationId xmlns:a16="http://schemas.microsoft.com/office/drawing/2014/main" id="{6D71D06F-6153-441A-8AE7-8AFF18414B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6" y="1581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</a:p>
            </p:txBody>
          </p:sp>
          <p:grpSp>
            <p:nvGrpSpPr>
              <p:cNvPr id="29834" name="Group 43">
                <a:extLst>
                  <a:ext uri="{FF2B5EF4-FFF2-40B4-BE49-F238E27FC236}">
                    <a16:creationId xmlns:a16="http://schemas.microsoft.com/office/drawing/2014/main" id="{F1D24E3C-4F97-49AF-BFCA-5D6040CD57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8" y="1604"/>
                <a:ext cx="216" cy="213"/>
                <a:chOff x="2818" y="1613"/>
                <a:chExt cx="216" cy="213"/>
              </a:xfrm>
            </p:grpSpPr>
            <p:sp>
              <p:nvSpPr>
                <p:cNvPr id="29885" name="Text Box 44">
                  <a:extLst>
                    <a:ext uri="{FF2B5EF4-FFF2-40B4-BE49-F238E27FC236}">
                      <a16:creationId xmlns:a16="http://schemas.microsoft.com/office/drawing/2014/main" id="{4A088300-C280-49FA-9E6C-4AD005A68B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18" y="1613"/>
                  <a:ext cx="216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</a:p>
              </p:txBody>
            </p:sp>
            <p:sp>
              <p:nvSpPr>
                <p:cNvPr id="29886" name="Line 45">
                  <a:extLst>
                    <a:ext uri="{FF2B5EF4-FFF2-40B4-BE49-F238E27FC236}">
                      <a16:creationId xmlns:a16="http://schemas.microsoft.com/office/drawing/2014/main" id="{96AEDF0F-2ADD-4315-8493-0F477754AD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42" y="1631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9835" name="Text Box 46">
                <a:extLst>
                  <a:ext uri="{FF2B5EF4-FFF2-40B4-BE49-F238E27FC236}">
                    <a16:creationId xmlns:a16="http://schemas.microsoft.com/office/drawing/2014/main" id="{B0B40BD6-8CA3-4F38-9A2B-BF46136384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6" y="1813"/>
                <a:ext cx="20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</a:p>
            </p:txBody>
          </p:sp>
          <p:sp>
            <p:nvSpPr>
              <p:cNvPr id="29836" name="Text Box 47">
                <a:extLst>
                  <a:ext uri="{FF2B5EF4-FFF2-40B4-BE49-F238E27FC236}">
                    <a16:creationId xmlns:a16="http://schemas.microsoft.com/office/drawing/2014/main" id="{F67A76D2-581F-431E-B11D-2F64A3902C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0" y="1697"/>
                <a:ext cx="51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INTR</a:t>
                </a:r>
              </a:p>
            </p:txBody>
          </p:sp>
          <p:sp>
            <p:nvSpPr>
              <p:cNvPr id="29837" name="AutoShape 48">
                <a:extLst>
                  <a:ext uri="{FF2B5EF4-FFF2-40B4-BE49-F238E27FC236}">
                    <a16:creationId xmlns:a16="http://schemas.microsoft.com/office/drawing/2014/main" id="{68309B7D-8400-4477-8437-042D845591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0" y="1909"/>
                <a:ext cx="96" cy="83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38" name="Rectangle 49">
                <a:extLst>
                  <a:ext uri="{FF2B5EF4-FFF2-40B4-BE49-F238E27FC236}">
                    <a16:creationId xmlns:a16="http://schemas.microsoft.com/office/drawing/2014/main" id="{C4F2B2A3-8CF9-41F6-9EB7-ED705BC39C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6" y="2837"/>
                <a:ext cx="576" cy="32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39" name="Text Box 50">
                <a:extLst>
                  <a:ext uri="{FF2B5EF4-FFF2-40B4-BE49-F238E27FC236}">
                    <a16:creationId xmlns:a16="http://schemas.microsoft.com/office/drawing/2014/main" id="{84DFF6C9-A8B0-4C15-90C0-81D4448F3D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0" y="2878"/>
                <a:ext cx="26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B</a:t>
                </a:r>
              </a:p>
            </p:txBody>
          </p:sp>
          <p:sp>
            <p:nvSpPr>
              <p:cNvPr id="29840" name="Text Box 51">
                <a:extLst>
                  <a:ext uri="{FF2B5EF4-FFF2-40B4-BE49-F238E27FC236}">
                    <a16:creationId xmlns:a16="http://schemas.microsoft.com/office/drawing/2014/main" id="{00317EFD-299D-40A7-A634-9F1E37BB9F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6" y="2805"/>
                <a:ext cx="21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</a:p>
            </p:txBody>
          </p:sp>
          <p:sp>
            <p:nvSpPr>
              <p:cNvPr id="29841" name="Freeform 52">
                <a:extLst>
                  <a:ext uri="{FF2B5EF4-FFF2-40B4-BE49-F238E27FC236}">
                    <a16:creationId xmlns:a16="http://schemas.microsoft.com/office/drawing/2014/main" id="{1B7C63C7-DC46-4F8C-BF42-E9991E6802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4" y="2644"/>
                <a:ext cx="1" cy="192"/>
              </a:xfrm>
              <a:custGeom>
                <a:avLst/>
                <a:gdLst>
                  <a:gd name="T0" fmla="*/ 0 w 1"/>
                  <a:gd name="T1" fmla="*/ 192 h 192"/>
                  <a:gd name="T2" fmla="*/ 0 w 1"/>
                  <a:gd name="T3" fmla="*/ 0 h 192"/>
                  <a:gd name="T4" fmla="*/ 0 60000 65536"/>
                  <a:gd name="T5" fmla="*/ 0 60000 65536"/>
                  <a:gd name="T6" fmla="*/ 0 w 1"/>
                  <a:gd name="T7" fmla="*/ 0 h 192"/>
                  <a:gd name="T8" fmla="*/ 1 w 1"/>
                  <a:gd name="T9" fmla="*/ 192 h 19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92">
                    <a:moveTo>
                      <a:pt x="0" y="192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42" name="Line 53">
                <a:extLst>
                  <a:ext uri="{FF2B5EF4-FFF2-40B4-BE49-F238E27FC236}">
                    <a16:creationId xmlns:a16="http://schemas.microsoft.com/office/drawing/2014/main" id="{75BF1CFC-AF01-4921-9AE5-CB904C7EAF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3" y="2308"/>
                <a:ext cx="0" cy="1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43" name="Line 54">
                <a:extLst>
                  <a:ext uri="{FF2B5EF4-FFF2-40B4-BE49-F238E27FC236}">
                    <a16:creationId xmlns:a16="http://schemas.microsoft.com/office/drawing/2014/main" id="{AA691D76-C4B9-40C5-9555-A400E83DF8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3" y="1998"/>
                <a:ext cx="0" cy="1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44" name="Rectangle 55">
                <a:extLst>
                  <a:ext uri="{FF2B5EF4-FFF2-40B4-BE49-F238E27FC236}">
                    <a16:creationId xmlns:a16="http://schemas.microsoft.com/office/drawing/2014/main" id="{270B67E2-E391-48F6-AFDF-CCF6795DE7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644"/>
                <a:ext cx="730" cy="41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9845" name="Group 56">
                <a:extLst>
                  <a:ext uri="{FF2B5EF4-FFF2-40B4-BE49-F238E27FC236}">
                    <a16:creationId xmlns:a16="http://schemas.microsoft.com/office/drawing/2014/main" id="{506D4C4A-558E-4259-8331-CBE194637C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62" y="1667"/>
                <a:ext cx="216" cy="213"/>
                <a:chOff x="4162" y="1676"/>
                <a:chExt cx="216" cy="213"/>
              </a:xfrm>
            </p:grpSpPr>
            <p:sp>
              <p:nvSpPr>
                <p:cNvPr id="29883" name="Text Box 57">
                  <a:extLst>
                    <a:ext uri="{FF2B5EF4-FFF2-40B4-BE49-F238E27FC236}">
                      <a16:creationId xmlns:a16="http://schemas.microsoft.com/office/drawing/2014/main" id="{A171FAFE-3FF0-4DA2-87A3-CD81CEFCD5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62" y="1676"/>
                  <a:ext cx="216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</a:p>
              </p:txBody>
            </p:sp>
            <p:sp>
              <p:nvSpPr>
                <p:cNvPr id="29884" name="Line 58">
                  <a:extLst>
                    <a:ext uri="{FF2B5EF4-FFF2-40B4-BE49-F238E27FC236}">
                      <a16:creationId xmlns:a16="http://schemas.microsoft.com/office/drawing/2014/main" id="{CF52E8E0-2DB3-4C3C-9ED7-94C57D9900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86" y="1694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9846" name="Text Box 59">
                <a:extLst>
                  <a:ext uri="{FF2B5EF4-FFF2-40B4-BE49-F238E27FC236}">
                    <a16:creationId xmlns:a16="http://schemas.microsoft.com/office/drawing/2014/main" id="{6D94AC4A-A087-453B-83E8-A5716BF58D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1759"/>
                <a:ext cx="6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MASK</a:t>
                </a:r>
              </a:p>
            </p:txBody>
          </p:sp>
          <p:sp>
            <p:nvSpPr>
              <p:cNvPr id="29847" name="Oval 60">
                <a:extLst>
                  <a:ext uri="{FF2B5EF4-FFF2-40B4-BE49-F238E27FC236}">
                    <a16:creationId xmlns:a16="http://schemas.microsoft.com/office/drawing/2014/main" id="{861AEB3A-3F84-44B3-87A0-840B2283D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0" y="1541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48" name="Oval 61">
                <a:extLst>
                  <a:ext uri="{FF2B5EF4-FFF2-40B4-BE49-F238E27FC236}">
                    <a16:creationId xmlns:a16="http://schemas.microsoft.com/office/drawing/2014/main" id="{770A6475-F12E-43AA-8A7C-B9256F4D8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4" y="1603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49" name="Text Box 62">
                <a:extLst>
                  <a:ext uri="{FF2B5EF4-FFF2-40B4-BE49-F238E27FC236}">
                    <a16:creationId xmlns:a16="http://schemas.microsoft.com/office/drawing/2014/main" id="{EC090FA8-F12B-4F6B-9F8F-98D7468919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6" y="793"/>
                <a:ext cx="92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设备编码器</a:t>
                </a:r>
              </a:p>
            </p:txBody>
          </p:sp>
          <p:sp>
            <p:nvSpPr>
              <p:cNvPr id="29850" name="Rectangle 63">
                <a:extLst>
                  <a:ext uri="{FF2B5EF4-FFF2-40B4-BE49-F238E27FC236}">
                    <a16:creationId xmlns:a16="http://schemas.microsoft.com/office/drawing/2014/main" id="{1A6F7DE3-3849-4F01-8FA5-8F9DD1D74E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4" y="817"/>
                <a:ext cx="960" cy="20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51" name="Text Box 64">
                <a:extLst>
                  <a:ext uri="{FF2B5EF4-FFF2-40B4-BE49-F238E27FC236}">
                    <a16:creationId xmlns:a16="http://schemas.microsoft.com/office/drawing/2014/main" id="{626EC6A8-E981-4037-83BE-43F5226682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1158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排队器</a:t>
                </a:r>
              </a:p>
            </p:txBody>
          </p:sp>
          <p:sp>
            <p:nvSpPr>
              <p:cNvPr id="29852" name="Rectangle 65">
                <a:extLst>
                  <a:ext uri="{FF2B5EF4-FFF2-40B4-BE49-F238E27FC236}">
                    <a16:creationId xmlns:a16="http://schemas.microsoft.com/office/drawing/2014/main" id="{C0F5FE93-2C35-462D-BB05-C0C17BCD4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4" y="1182"/>
                <a:ext cx="960" cy="20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53" name="Freeform 66">
                <a:extLst>
                  <a:ext uri="{FF2B5EF4-FFF2-40B4-BE49-F238E27FC236}">
                    <a16:creationId xmlns:a16="http://schemas.microsoft.com/office/drawing/2014/main" id="{68CC3BA3-E253-4A5E-9273-918069EDF1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1396"/>
                <a:ext cx="1" cy="147"/>
              </a:xfrm>
              <a:custGeom>
                <a:avLst/>
                <a:gdLst>
                  <a:gd name="T0" fmla="*/ 0 w 1"/>
                  <a:gd name="T1" fmla="*/ 147 h 147"/>
                  <a:gd name="T2" fmla="*/ 0 w 1"/>
                  <a:gd name="T3" fmla="*/ 0 h 147"/>
                  <a:gd name="T4" fmla="*/ 0 60000 65536"/>
                  <a:gd name="T5" fmla="*/ 0 60000 65536"/>
                  <a:gd name="T6" fmla="*/ 0 w 1"/>
                  <a:gd name="T7" fmla="*/ 0 h 147"/>
                  <a:gd name="T8" fmla="*/ 1 w 1"/>
                  <a:gd name="T9" fmla="*/ 147 h 14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47">
                    <a:moveTo>
                      <a:pt x="0" y="147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54" name="Freeform 67">
                <a:extLst>
                  <a:ext uri="{FF2B5EF4-FFF2-40B4-BE49-F238E27FC236}">
                    <a16:creationId xmlns:a16="http://schemas.microsoft.com/office/drawing/2014/main" id="{EEB8313A-8978-4417-851D-617A903C0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8" y="1983"/>
                <a:ext cx="1872" cy="207"/>
              </a:xfrm>
              <a:custGeom>
                <a:avLst/>
                <a:gdLst>
                  <a:gd name="T0" fmla="*/ 0 w 2160"/>
                  <a:gd name="T1" fmla="*/ 0 h 240"/>
                  <a:gd name="T2" fmla="*/ 0 w 2160"/>
                  <a:gd name="T3" fmla="*/ 207 h 240"/>
                  <a:gd name="T4" fmla="*/ 1872 w 2160"/>
                  <a:gd name="T5" fmla="*/ 207 h 240"/>
                  <a:gd name="T6" fmla="*/ 0 60000 65536"/>
                  <a:gd name="T7" fmla="*/ 0 60000 65536"/>
                  <a:gd name="T8" fmla="*/ 0 60000 65536"/>
                  <a:gd name="T9" fmla="*/ 0 w 2160"/>
                  <a:gd name="T10" fmla="*/ 0 h 240"/>
                  <a:gd name="T11" fmla="*/ 2160 w 2160"/>
                  <a:gd name="T12" fmla="*/ 240 h 2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" h="240">
                    <a:moveTo>
                      <a:pt x="0" y="0"/>
                    </a:moveTo>
                    <a:lnTo>
                      <a:pt x="0" y="240"/>
                    </a:lnTo>
                    <a:lnTo>
                      <a:pt x="2160" y="24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55" name="Freeform 68">
                <a:extLst>
                  <a:ext uri="{FF2B5EF4-FFF2-40B4-BE49-F238E27FC236}">
                    <a16:creationId xmlns:a16="http://schemas.microsoft.com/office/drawing/2014/main" id="{AE2B233A-DE2E-42BA-906A-65A5776AAF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4" y="1548"/>
                <a:ext cx="1707" cy="1181"/>
              </a:xfrm>
              <a:custGeom>
                <a:avLst/>
                <a:gdLst>
                  <a:gd name="T0" fmla="*/ 0 w 1707"/>
                  <a:gd name="T1" fmla="*/ 1098 h 1181"/>
                  <a:gd name="T2" fmla="*/ 0 w 1707"/>
                  <a:gd name="T3" fmla="*/ 1181 h 1181"/>
                  <a:gd name="T4" fmla="*/ 720 w 1707"/>
                  <a:gd name="T5" fmla="*/ 1181 h 1181"/>
                  <a:gd name="T6" fmla="*/ 719 w 1707"/>
                  <a:gd name="T7" fmla="*/ 4 h 1181"/>
                  <a:gd name="T8" fmla="*/ 1707 w 1707"/>
                  <a:gd name="T9" fmla="*/ 0 h 1181"/>
                  <a:gd name="T10" fmla="*/ 1707 w 1707"/>
                  <a:gd name="T11" fmla="*/ 54 h 11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07"/>
                  <a:gd name="T19" fmla="*/ 0 h 1181"/>
                  <a:gd name="T20" fmla="*/ 1707 w 1707"/>
                  <a:gd name="T21" fmla="*/ 1181 h 118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07" h="1181">
                    <a:moveTo>
                      <a:pt x="0" y="1098"/>
                    </a:moveTo>
                    <a:lnTo>
                      <a:pt x="0" y="1181"/>
                    </a:lnTo>
                    <a:lnTo>
                      <a:pt x="720" y="1181"/>
                    </a:lnTo>
                    <a:lnTo>
                      <a:pt x="719" y="4"/>
                    </a:lnTo>
                    <a:lnTo>
                      <a:pt x="1707" y="0"/>
                    </a:lnTo>
                    <a:lnTo>
                      <a:pt x="1707" y="5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56" name="Freeform 69">
                <a:extLst>
                  <a:ext uri="{FF2B5EF4-FFF2-40B4-BE49-F238E27FC236}">
                    <a16:creationId xmlns:a16="http://schemas.microsoft.com/office/drawing/2014/main" id="{D279EE35-F0C6-48A5-993C-28942B2A14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1390"/>
                <a:ext cx="1440" cy="83"/>
              </a:xfrm>
              <a:custGeom>
                <a:avLst/>
                <a:gdLst>
                  <a:gd name="T0" fmla="*/ 1440 w 1440"/>
                  <a:gd name="T1" fmla="*/ 83 h 96"/>
                  <a:gd name="T2" fmla="*/ 0 w 1440"/>
                  <a:gd name="T3" fmla="*/ 83 h 96"/>
                  <a:gd name="T4" fmla="*/ 0 w 1440"/>
                  <a:gd name="T5" fmla="*/ 0 h 96"/>
                  <a:gd name="T6" fmla="*/ 0 60000 65536"/>
                  <a:gd name="T7" fmla="*/ 0 60000 65536"/>
                  <a:gd name="T8" fmla="*/ 0 60000 65536"/>
                  <a:gd name="T9" fmla="*/ 0 w 1440"/>
                  <a:gd name="T10" fmla="*/ 0 h 96"/>
                  <a:gd name="T11" fmla="*/ 1440 w 1440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0" h="96">
                    <a:moveTo>
                      <a:pt x="1440" y="96"/>
                    </a:moveTo>
                    <a:lnTo>
                      <a:pt x="0" y="96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57" name="Freeform 70">
                <a:extLst>
                  <a:ext uri="{FF2B5EF4-FFF2-40B4-BE49-F238E27FC236}">
                    <a16:creationId xmlns:a16="http://schemas.microsoft.com/office/drawing/2014/main" id="{FEBB411F-F90C-432A-8F13-9326B17B81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" y="1024"/>
                <a:ext cx="3" cy="165"/>
              </a:xfrm>
              <a:custGeom>
                <a:avLst/>
                <a:gdLst>
                  <a:gd name="T0" fmla="*/ 0 w 3"/>
                  <a:gd name="T1" fmla="*/ 165 h 165"/>
                  <a:gd name="T2" fmla="*/ 3 w 3"/>
                  <a:gd name="T3" fmla="*/ 0 h 165"/>
                  <a:gd name="T4" fmla="*/ 0 60000 65536"/>
                  <a:gd name="T5" fmla="*/ 0 60000 65536"/>
                  <a:gd name="T6" fmla="*/ 0 w 3"/>
                  <a:gd name="T7" fmla="*/ 0 h 165"/>
                  <a:gd name="T8" fmla="*/ 3 w 3"/>
                  <a:gd name="T9" fmla="*/ 165 h 1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165">
                    <a:moveTo>
                      <a:pt x="0" y="165"/>
                    </a:moveTo>
                    <a:lnTo>
                      <a:pt x="3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58" name="Freeform 71">
                <a:extLst>
                  <a:ext uri="{FF2B5EF4-FFF2-40B4-BE49-F238E27FC236}">
                    <a16:creationId xmlns:a16="http://schemas.microsoft.com/office/drawing/2014/main" id="{86A2AC80-AA80-46D2-9C80-D38EF1215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2" y="1452"/>
                <a:ext cx="1650" cy="130"/>
              </a:xfrm>
              <a:custGeom>
                <a:avLst/>
                <a:gdLst>
                  <a:gd name="T0" fmla="*/ 1650 w 1296"/>
                  <a:gd name="T1" fmla="*/ 130 h 144"/>
                  <a:gd name="T2" fmla="*/ 1650 w 1296"/>
                  <a:gd name="T3" fmla="*/ 0 h 144"/>
                  <a:gd name="T4" fmla="*/ 0 w 1296"/>
                  <a:gd name="T5" fmla="*/ 0 h 144"/>
                  <a:gd name="T6" fmla="*/ 0 60000 65536"/>
                  <a:gd name="T7" fmla="*/ 0 60000 65536"/>
                  <a:gd name="T8" fmla="*/ 0 60000 65536"/>
                  <a:gd name="T9" fmla="*/ 0 w 1296"/>
                  <a:gd name="T10" fmla="*/ 0 h 144"/>
                  <a:gd name="T11" fmla="*/ 1296 w 1296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96" h="144">
                    <a:moveTo>
                      <a:pt x="1296" y="144"/>
                    </a:moveTo>
                    <a:lnTo>
                      <a:pt x="12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59" name="Freeform 72">
                <a:extLst>
                  <a:ext uri="{FF2B5EF4-FFF2-40B4-BE49-F238E27FC236}">
                    <a16:creationId xmlns:a16="http://schemas.microsoft.com/office/drawing/2014/main" id="{892F75AB-F6E7-4F3D-8A56-1FBD3F5B3E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1029"/>
                <a:ext cx="1920" cy="83"/>
              </a:xfrm>
              <a:custGeom>
                <a:avLst/>
                <a:gdLst>
                  <a:gd name="T0" fmla="*/ 1920 w 1920"/>
                  <a:gd name="T1" fmla="*/ 0 h 96"/>
                  <a:gd name="T2" fmla="*/ 1920 w 1920"/>
                  <a:gd name="T3" fmla="*/ 83 h 96"/>
                  <a:gd name="T4" fmla="*/ 0 w 1920"/>
                  <a:gd name="T5" fmla="*/ 83 h 96"/>
                  <a:gd name="T6" fmla="*/ 0 60000 65536"/>
                  <a:gd name="T7" fmla="*/ 0 60000 65536"/>
                  <a:gd name="T8" fmla="*/ 0 60000 65536"/>
                  <a:gd name="T9" fmla="*/ 0 w 1920"/>
                  <a:gd name="T10" fmla="*/ 0 h 96"/>
                  <a:gd name="T11" fmla="*/ 1920 w 1920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0" h="96">
                    <a:moveTo>
                      <a:pt x="1920" y="0"/>
                    </a:moveTo>
                    <a:lnTo>
                      <a:pt x="1920" y="96"/>
                    </a:lnTo>
                    <a:lnTo>
                      <a:pt x="0" y="9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60" name="Line 73">
                <a:extLst>
                  <a:ext uri="{FF2B5EF4-FFF2-40B4-BE49-F238E27FC236}">
                    <a16:creationId xmlns:a16="http://schemas.microsoft.com/office/drawing/2014/main" id="{7B408B73-FC9F-424F-B39C-161CC1B00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4" y="1278"/>
                <a:ext cx="14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61" name="Rectangle 74">
                <a:extLst>
                  <a:ext uri="{FF2B5EF4-FFF2-40B4-BE49-F238E27FC236}">
                    <a16:creationId xmlns:a16="http://schemas.microsoft.com/office/drawing/2014/main" id="{9BBB29B3-759A-4DE2-84D8-A13F2F0E67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8" y="568"/>
                <a:ext cx="3792" cy="365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62" name="Rectangle 75">
                <a:extLst>
                  <a:ext uri="{FF2B5EF4-FFF2-40B4-BE49-F238E27FC236}">
                    <a16:creationId xmlns:a16="http://schemas.microsoft.com/office/drawing/2014/main" id="{17D59589-B8A4-480A-8395-6D8D70527E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670"/>
                <a:ext cx="48" cy="1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63" name="AutoShape 76">
                <a:extLst>
                  <a:ext uri="{FF2B5EF4-FFF2-40B4-BE49-F238E27FC236}">
                    <a16:creationId xmlns:a16="http://schemas.microsoft.com/office/drawing/2014/main" id="{3C9DACF2-D125-4430-9B3D-826441489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622"/>
                <a:ext cx="2686" cy="144"/>
              </a:xfrm>
              <a:prstGeom prst="leftArrow">
                <a:avLst>
                  <a:gd name="adj1" fmla="val 39417"/>
                  <a:gd name="adj2" fmla="val 16485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64" name="Freeform 77">
                <a:extLst>
                  <a:ext uri="{FF2B5EF4-FFF2-40B4-BE49-F238E27FC236}">
                    <a16:creationId xmlns:a16="http://schemas.microsoft.com/office/drawing/2014/main" id="{5B8358B6-6711-4516-8ABB-AF765709A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3" y="1468"/>
                <a:ext cx="420" cy="1"/>
              </a:xfrm>
              <a:custGeom>
                <a:avLst/>
                <a:gdLst>
                  <a:gd name="T0" fmla="*/ 420 w 420"/>
                  <a:gd name="T1" fmla="*/ 0 h 1"/>
                  <a:gd name="T2" fmla="*/ 0 w 420"/>
                  <a:gd name="T3" fmla="*/ 0 h 1"/>
                  <a:gd name="T4" fmla="*/ 0 60000 65536"/>
                  <a:gd name="T5" fmla="*/ 0 60000 65536"/>
                  <a:gd name="T6" fmla="*/ 0 w 420"/>
                  <a:gd name="T7" fmla="*/ 0 h 1"/>
                  <a:gd name="T8" fmla="*/ 420 w 42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20" h="1">
                    <a:moveTo>
                      <a:pt x="42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65" name="Line 78">
                <a:extLst>
                  <a:ext uri="{FF2B5EF4-FFF2-40B4-BE49-F238E27FC236}">
                    <a16:creationId xmlns:a16="http://schemas.microsoft.com/office/drawing/2014/main" id="{D5AA504A-7BD9-4FDA-BEE2-B8B810F7E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10" y="2190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66" name="Text Box 79">
                <a:extLst>
                  <a:ext uri="{FF2B5EF4-FFF2-40B4-BE49-F238E27FC236}">
                    <a16:creationId xmlns:a16="http://schemas.microsoft.com/office/drawing/2014/main" id="{55535156-3BBF-45C1-9B3C-A449759977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2189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中断查询</a:t>
                </a:r>
              </a:p>
            </p:txBody>
          </p:sp>
          <p:sp>
            <p:nvSpPr>
              <p:cNvPr id="29867" name="Text Box 80">
                <a:extLst>
                  <a:ext uri="{FF2B5EF4-FFF2-40B4-BE49-F238E27FC236}">
                    <a16:creationId xmlns:a16="http://schemas.microsoft.com/office/drawing/2014/main" id="{CDEC5129-1DA1-4489-967C-1E2F75C25A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1516"/>
                <a:ext cx="841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来自高一级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的排队器</a:t>
                </a:r>
              </a:p>
            </p:txBody>
          </p:sp>
          <p:sp>
            <p:nvSpPr>
              <p:cNvPr id="29868" name="Text Box 81">
                <a:extLst>
                  <a:ext uri="{FF2B5EF4-FFF2-40B4-BE49-F238E27FC236}">
                    <a16:creationId xmlns:a16="http://schemas.microsoft.com/office/drawing/2014/main" id="{92888DB3-AEC5-49D3-AF01-E07DF00E35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" y="890"/>
                <a:ext cx="696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至低一级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的排队器</a:t>
                </a:r>
              </a:p>
            </p:txBody>
          </p:sp>
          <p:sp>
            <p:nvSpPr>
              <p:cNvPr id="29869" name="Text Box 82">
                <a:extLst>
                  <a:ext uri="{FF2B5EF4-FFF2-40B4-BE49-F238E27FC236}">
                    <a16:creationId xmlns:a16="http://schemas.microsoft.com/office/drawing/2014/main" id="{11D2BD9E-3531-4CEE-AEA9-3DECC69CB2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574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向量地址</a:t>
                </a:r>
              </a:p>
            </p:txBody>
          </p:sp>
          <p:sp>
            <p:nvSpPr>
              <p:cNvPr id="29870" name="Line 83">
                <a:extLst>
                  <a:ext uri="{FF2B5EF4-FFF2-40B4-BE49-F238E27FC236}">
                    <a16:creationId xmlns:a16="http://schemas.microsoft.com/office/drawing/2014/main" id="{47660ACF-A469-4BB2-AC9B-525C67E282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2" y="111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71" name="Text Box 84">
                <a:extLst>
                  <a:ext uri="{FF2B5EF4-FFF2-40B4-BE49-F238E27FC236}">
                    <a16:creationId xmlns:a16="http://schemas.microsoft.com/office/drawing/2014/main" id="{AF1E38C7-F536-4D45-9BF6-96C513C067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910"/>
                <a:ext cx="696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中断响应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 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INTA</a:t>
                </a:r>
              </a:p>
            </p:txBody>
          </p:sp>
          <p:sp>
            <p:nvSpPr>
              <p:cNvPr id="29872" name="Text Box 85">
                <a:extLst>
                  <a:ext uri="{FF2B5EF4-FFF2-40B4-BE49-F238E27FC236}">
                    <a16:creationId xmlns:a16="http://schemas.microsoft.com/office/drawing/2014/main" id="{89118FC4-C6D4-4932-B0AE-CE445EBF2C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342"/>
                <a:ext cx="6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中断请求</a:t>
                </a:r>
              </a:p>
            </p:txBody>
          </p:sp>
          <p:sp>
            <p:nvSpPr>
              <p:cNvPr id="29873" name="Rectangle 86">
                <a:extLst>
                  <a:ext uri="{FF2B5EF4-FFF2-40B4-BE49-F238E27FC236}">
                    <a16:creationId xmlns:a16="http://schemas.microsoft.com/office/drawing/2014/main" id="{8EA4F0DD-7750-43E6-AD84-5447393F77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" y="2812"/>
                <a:ext cx="864" cy="7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874" name="Text Box 87">
                <a:extLst>
                  <a:ext uri="{FF2B5EF4-FFF2-40B4-BE49-F238E27FC236}">
                    <a16:creationId xmlns:a16="http://schemas.microsoft.com/office/drawing/2014/main" id="{C4942BD3-5646-40EB-AA35-61A1AA1086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3" y="2830"/>
                <a:ext cx="7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命令译码</a:t>
                </a:r>
              </a:p>
            </p:txBody>
          </p:sp>
          <p:sp>
            <p:nvSpPr>
              <p:cNvPr id="29875" name="Text Box 88">
                <a:extLst>
                  <a:ext uri="{FF2B5EF4-FFF2-40B4-BE49-F238E27FC236}">
                    <a16:creationId xmlns:a16="http://schemas.microsoft.com/office/drawing/2014/main" id="{F8A99622-73CD-4D5D-B439-8B7A7B6B9F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2876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①</a:t>
                </a:r>
              </a:p>
            </p:txBody>
          </p:sp>
          <p:sp>
            <p:nvSpPr>
              <p:cNvPr id="29876" name="Text Box 89">
                <a:extLst>
                  <a:ext uri="{FF2B5EF4-FFF2-40B4-BE49-F238E27FC236}">
                    <a16:creationId xmlns:a16="http://schemas.microsoft.com/office/drawing/2014/main" id="{A78A2891-C46D-4FE6-8CA6-C4E05264AD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2" y="2494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②</a:t>
                </a:r>
              </a:p>
            </p:txBody>
          </p:sp>
          <p:sp>
            <p:nvSpPr>
              <p:cNvPr id="29877" name="Text Box 90">
                <a:extLst>
                  <a:ext uri="{FF2B5EF4-FFF2-40B4-BE49-F238E27FC236}">
                    <a16:creationId xmlns:a16="http://schemas.microsoft.com/office/drawing/2014/main" id="{D24D164F-BF33-4C28-A3DC-D11C1A251E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" y="3780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③</a:t>
                </a:r>
              </a:p>
            </p:txBody>
          </p:sp>
          <p:sp>
            <p:nvSpPr>
              <p:cNvPr id="29878" name="Text Box 91">
                <a:extLst>
                  <a:ext uri="{FF2B5EF4-FFF2-40B4-BE49-F238E27FC236}">
                    <a16:creationId xmlns:a16="http://schemas.microsoft.com/office/drawing/2014/main" id="{961008E4-C4EB-4897-BDA0-2EBB40086D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2" y="3070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④</a:t>
                </a:r>
              </a:p>
            </p:txBody>
          </p:sp>
          <p:sp>
            <p:nvSpPr>
              <p:cNvPr id="29879" name="Text Box 92">
                <a:extLst>
                  <a:ext uri="{FF2B5EF4-FFF2-40B4-BE49-F238E27FC236}">
                    <a16:creationId xmlns:a16="http://schemas.microsoft.com/office/drawing/2014/main" id="{B724D838-B211-49CC-8337-BA04BE973D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2" y="1966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⑤</a:t>
                </a:r>
              </a:p>
            </p:txBody>
          </p:sp>
          <p:sp>
            <p:nvSpPr>
              <p:cNvPr id="29880" name="Text Box 93">
                <a:extLst>
                  <a:ext uri="{FF2B5EF4-FFF2-40B4-BE49-F238E27FC236}">
                    <a16:creationId xmlns:a16="http://schemas.microsoft.com/office/drawing/2014/main" id="{FD97AF9D-DEE7-43BF-8E92-8625C2F6DC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1198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⑥</a:t>
                </a:r>
              </a:p>
            </p:txBody>
          </p:sp>
          <p:sp>
            <p:nvSpPr>
              <p:cNvPr id="29881" name="Text Box 94">
                <a:extLst>
                  <a:ext uri="{FF2B5EF4-FFF2-40B4-BE49-F238E27FC236}">
                    <a16:creationId xmlns:a16="http://schemas.microsoft.com/office/drawing/2014/main" id="{7815BE6D-2430-4768-A3F1-E23C2D28CF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862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⑦</a:t>
                </a:r>
              </a:p>
            </p:txBody>
          </p:sp>
          <p:sp>
            <p:nvSpPr>
              <p:cNvPr id="29882" name="Text Box 95">
                <a:extLst>
                  <a:ext uri="{FF2B5EF4-FFF2-40B4-BE49-F238E27FC236}">
                    <a16:creationId xmlns:a16="http://schemas.microsoft.com/office/drawing/2014/main" id="{79F6705F-22F8-4E4D-A36A-42043A8D99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382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⑧</a:t>
                </a:r>
              </a:p>
            </p:txBody>
          </p:sp>
        </p:grpSp>
      </p:grpSp>
      <p:sp>
        <p:nvSpPr>
          <p:cNvPr id="29699" name="Text Box 96">
            <a:extLst>
              <a:ext uri="{FF2B5EF4-FFF2-40B4-BE49-F238E27FC236}">
                <a16:creationId xmlns:a16="http://schemas.microsoft.com/office/drawing/2014/main" id="{A753CD0A-2FB2-4159-BCB4-0EF0FF54E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"/>
            <a:ext cx="41687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I/O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中断处理过程</a:t>
            </a:r>
          </a:p>
        </p:txBody>
      </p:sp>
      <p:grpSp>
        <p:nvGrpSpPr>
          <p:cNvPr id="6" name="Group 97">
            <a:extLst>
              <a:ext uri="{FF2B5EF4-FFF2-40B4-BE49-F238E27FC236}">
                <a16:creationId xmlns:a16="http://schemas.microsoft.com/office/drawing/2014/main" id="{6A34EE1D-56E5-41E3-AF57-915E1FE159D9}"/>
              </a:ext>
            </a:extLst>
          </p:cNvPr>
          <p:cNvGrpSpPr>
            <a:grpSpLocks/>
          </p:cNvGrpSpPr>
          <p:nvPr/>
        </p:nvGrpSpPr>
        <p:grpSpPr bwMode="auto">
          <a:xfrm>
            <a:off x="1006475" y="4568825"/>
            <a:ext cx="1371600" cy="479425"/>
            <a:chOff x="634" y="2878"/>
            <a:chExt cx="864" cy="302"/>
          </a:xfrm>
        </p:grpSpPr>
        <p:sp>
          <p:nvSpPr>
            <p:cNvPr id="29791" name="Line 98">
              <a:extLst>
                <a:ext uri="{FF2B5EF4-FFF2-40B4-BE49-F238E27FC236}">
                  <a16:creationId xmlns:a16="http://schemas.microsoft.com/office/drawing/2014/main" id="{62C3C38B-88F9-49FF-9D9E-B93F357FF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6" y="3180"/>
              <a:ext cx="67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92" name="Line 99">
              <a:extLst>
                <a:ext uri="{FF2B5EF4-FFF2-40B4-BE49-F238E27FC236}">
                  <a16:creationId xmlns:a16="http://schemas.microsoft.com/office/drawing/2014/main" id="{E9C5CD96-3F4C-468D-B304-BD2D0E619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3180"/>
              <a:ext cx="240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93" name="Text Box 100">
              <a:extLst>
                <a:ext uri="{FF2B5EF4-FFF2-40B4-BE49-F238E27FC236}">
                  <a16:creationId xmlns:a16="http://schemas.microsoft.com/office/drawing/2014/main" id="{8948AE33-83DB-4D30-98A7-F0CAE009C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878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①</a:t>
              </a:r>
            </a:p>
          </p:txBody>
        </p:sp>
      </p:grpSp>
      <p:grpSp>
        <p:nvGrpSpPr>
          <p:cNvPr id="7" name="Group 101">
            <a:extLst>
              <a:ext uri="{FF2B5EF4-FFF2-40B4-BE49-F238E27FC236}">
                <a16:creationId xmlns:a16="http://schemas.microsoft.com/office/drawing/2014/main" id="{C82ED3C3-4DE9-4123-803C-4E498F961899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724400"/>
            <a:ext cx="1225550" cy="396875"/>
            <a:chOff x="2880" y="2976"/>
            <a:chExt cx="772" cy="250"/>
          </a:xfrm>
        </p:grpSpPr>
        <p:grpSp>
          <p:nvGrpSpPr>
            <p:cNvPr id="29785" name="Group 102">
              <a:extLst>
                <a:ext uri="{FF2B5EF4-FFF2-40B4-BE49-F238E27FC236}">
                  <a16:creationId xmlns:a16="http://schemas.microsoft.com/office/drawing/2014/main" id="{F246E63F-7066-44B4-9B7D-D4CF95DE0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976"/>
              <a:ext cx="196" cy="250"/>
              <a:chOff x="2832" y="2880"/>
              <a:chExt cx="196" cy="300"/>
            </a:xfrm>
          </p:grpSpPr>
          <p:sp>
            <p:nvSpPr>
              <p:cNvPr id="29789" name="Rectangle 103">
                <a:extLst>
                  <a:ext uri="{FF2B5EF4-FFF2-40B4-BE49-F238E27FC236}">
                    <a16:creationId xmlns:a16="http://schemas.microsoft.com/office/drawing/2014/main" id="{6E50E9CE-D5E6-4829-87F4-C16FA1D55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880"/>
                <a:ext cx="192" cy="28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790" name="Text Box 104">
                <a:extLst>
                  <a:ext uri="{FF2B5EF4-FFF2-40B4-BE49-F238E27FC236}">
                    <a16:creationId xmlns:a16="http://schemas.microsoft.com/office/drawing/2014/main" id="{1B22AF16-A596-499B-8F8B-8398188711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880"/>
                <a:ext cx="196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29786" name="Group 105">
              <a:extLst>
                <a:ext uri="{FF2B5EF4-FFF2-40B4-BE49-F238E27FC236}">
                  <a16:creationId xmlns:a16="http://schemas.microsoft.com/office/drawing/2014/main" id="{7CAE6F22-3AC6-4B0B-B00F-411281731C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976"/>
              <a:ext cx="196" cy="250"/>
              <a:chOff x="2832" y="2880"/>
              <a:chExt cx="196" cy="300"/>
            </a:xfrm>
          </p:grpSpPr>
          <p:sp>
            <p:nvSpPr>
              <p:cNvPr id="29787" name="Rectangle 106">
                <a:extLst>
                  <a:ext uri="{FF2B5EF4-FFF2-40B4-BE49-F238E27FC236}">
                    <a16:creationId xmlns:a16="http://schemas.microsoft.com/office/drawing/2014/main" id="{08FA9BC5-A86A-4C6E-B91B-26B31FE99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880"/>
                <a:ext cx="192" cy="28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788" name="Text Box 107">
                <a:extLst>
                  <a:ext uri="{FF2B5EF4-FFF2-40B4-BE49-F238E27FC236}">
                    <a16:creationId xmlns:a16="http://schemas.microsoft.com/office/drawing/2014/main" id="{98B63EF9-FD94-4118-B2AB-8C2EA7C6CB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880"/>
                <a:ext cx="196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</p:grpSp>
      </p:grpSp>
      <p:sp>
        <p:nvSpPr>
          <p:cNvPr id="34924" name="Freeform 108">
            <a:extLst>
              <a:ext uri="{FF2B5EF4-FFF2-40B4-BE49-F238E27FC236}">
                <a16:creationId xmlns:a16="http://schemas.microsoft.com/office/drawing/2014/main" id="{D84809AF-968A-406F-9D2B-D79534976D0F}"/>
              </a:ext>
            </a:extLst>
          </p:cNvPr>
          <p:cNvSpPr>
            <a:spLocks/>
          </p:cNvSpPr>
          <p:nvPr/>
        </p:nvSpPr>
        <p:spPr bwMode="auto">
          <a:xfrm>
            <a:off x="2835275" y="4691063"/>
            <a:ext cx="2362200" cy="488950"/>
          </a:xfrm>
          <a:custGeom>
            <a:avLst/>
            <a:gdLst>
              <a:gd name="T0" fmla="*/ 2362200 w 1488"/>
              <a:gd name="T1" fmla="*/ 0 h 357"/>
              <a:gd name="T2" fmla="*/ 2362200 w 1488"/>
              <a:gd name="T3" fmla="*/ 488950 h 357"/>
              <a:gd name="T4" fmla="*/ 0 w 1488"/>
              <a:gd name="T5" fmla="*/ 488950 h 357"/>
              <a:gd name="T6" fmla="*/ 0 60000 65536"/>
              <a:gd name="T7" fmla="*/ 0 60000 65536"/>
              <a:gd name="T8" fmla="*/ 0 60000 65536"/>
              <a:gd name="T9" fmla="*/ 0 w 1488"/>
              <a:gd name="T10" fmla="*/ 0 h 357"/>
              <a:gd name="T11" fmla="*/ 1488 w 1488"/>
              <a:gd name="T12" fmla="*/ 357 h 3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8" h="357">
                <a:moveTo>
                  <a:pt x="1488" y="0"/>
                </a:moveTo>
                <a:lnTo>
                  <a:pt x="1488" y="357"/>
                </a:lnTo>
                <a:lnTo>
                  <a:pt x="0" y="357"/>
                </a:lnTo>
              </a:path>
            </a:pathLst>
          </a:custGeom>
          <a:noFill/>
          <a:ln w="38100">
            <a:solidFill>
              <a:schemeClr val="folHlink"/>
            </a:solidFill>
            <a:round/>
            <a:headEnd type="oval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Group 109">
            <a:extLst>
              <a:ext uri="{FF2B5EF4-FFF2-40B4-BE49-F238E27FC236}">
                <a16:creationId xmlns:a16="http://schemas.microsoft.com/office/drawing/2014/main" id="{CBD80065-064C-4C5A-9226-353FB02947B7}"/>
              </a:ext>
            </a:extLst>
          </p:cNvPr>
          <p:cNvGrpSpPr>
            <a:grpSpLocks/>
          </p:cNvGrpSpPr>
          <p:nvPr/>
        </p:nvGrpSpPr>
        <p:grpSpPr bwMode="auto">
          <a:xfrm>
            <a:off x="2363788" y="4918075"/>
            <a:ext cx="471487" cy="525463"/>
            <a:chOff x="1489" y="3098"/>
            <a:chExt cx="297" cy="331"/>
          </a:xfrm>
        </p:grpSpPr>
        <p:grpSp>
          <p:nvGrpSpPr>
            <p:cNvPr id="29781" name="Group 110">
              <a:extLst>
                <a:ext uri="{FF2B5EF4-FFF2-40B4-BE49-F238E27FC236}">
                  <a16:creationId xmlns:a16="http://schemas.microsoft.com/office/drawing/2014/main" id="{63ACF241-3109-43CF-89AC-E4F916350A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9" y="3098"/>
              <a:ext cx="249" cy="331"/>
              <a:chOff x="1489" y="3098"/>
              <a:chExt cx="249" cy="331"/>
            </a:xfrm>
          </p:grpSpPr>
          <p:sp>
            <p:nvSpPr>
              <p:cNvPr id="29783" name="Rectangle 111">
                <a:extLst>
                  <a:ext uri="{FF2B5EF4-FFF2-40B4-BE49-F238E27FC236}">
                    <a16:creationId xmlns:a16="http://schemas.microsoft.com/office/drawing/2014/main" id="{0EB87776-80E7-4CDF-B122-C16F50D237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3098"/>
                <a:ext cx="240" cy="331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784" name="Text Box 112">
                <a:extLst>
                  <a:ext uri="{FF2B5EF4-FFF2-40B4-BE49-F238E27FC236}">
                    <a16:creationId xmlns:a16="http://schemas.microsoft.com/office/drawing/2014/main" id="{F30DA015-6307-469F-A8FF-0C448FFDA2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9" y="3117"/>
                <a:ext cx="249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&amp;</a:t>
                </a:r>
              </a:p>
            </p:txBody>
          </p:sp>
        </p:grpSp>
        <p:sp>
          <p:nvSpPr>
            <p:cNvPr id="29782" name="Oval 113">
              <a:extLst>
                <a:ext uri="{FF2B5EF4-FFF2-40B4-BE49-F238E27FC236}">
                  <a16:creationId xmlns:a16="http://schemas.microsoft.com/office/drawing/2014/main" id="{92AFB636-0A79-4E96-80EF-6E87F7BA9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" y="3241"/>
              <a:ext cx="48" cy="41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2" name="Group 114">
            <a:extLst>
              <a:ext uri="{FF2B5EF4-FFF2-40B4-BE49-F238E27FC236}">
                <a16:creationId xmlns:a16="http://schemas.microsoft.com/office/drawing/2014/main" id="{CAF75C37-09A4-4941-A2D6-283C44C7DA69}"/>
              </a:ext>
            </a:extLst>
          </p:cNvPr>
          <p:cNvGrpSpPr>
            <a:grpSpLocks/>
          </p:cNvGrpSpPr>
          <p:nvPr/>
        </p:nvGrpSpPr>
        <p:grpSpPr bwMode="auto">
          <a:xfrm>
            <a:off x="3597275" y="4506913"/>
            <a:ext cx="3200400" cy="522287"/>
            <a:chOff x="2266" y="2839"/>
            <a:chExt cx="2016" cy="329"/>
          </a:xfrm>
        </p:grpSpPr>
        <p:sp>
          <p:nvSpPr>
            <p:cNvPr id="29777" name="Rectangle 115">
              <a:extLst>
                <a:ext uri="{FF2B5EF4-FFF2-40B4-BE49-F238E27FC236}">
                  <a16:creationId xmlns:a16="http://schemas.microsoft.com/office/drawing/2014/main" id="{781F750C-6BAC-4028-9283-E3AF5E93A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" y="2839"/>
              <a:ext cx="576" cy="329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78" name="Oval 116">
              <a:extLst>
                <a:ext uri="{FF2B5EF4-FFF2-40B4-BE49-F238E27FC236}">
                  <a16:creationId xmlns:a16="http://schemas.microsoft.com/office/drawing/2014/main" id="{8AE6CA67-2325-4A47-80F9-BFFA72B41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2932"/>
              <a:ext cx="48" cy="41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79" name="Oval 117">
              <a:extLst>
                <a:ext uri="{FF2B5EF4-FFF2-40B4-BE49-F238E27FC236}">
                  <a16:creationId xmlns:a16="http://schemas.microsoft.com/office/drawing/2014/main" id="{B14CCCF9-19C1-4BC6-8600-FD54A8DC0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7" y="2932"/>
              <a:ext cx="48" cy="41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80" name="Rectangle 118">
              <a:extLst>
                <a:ext uri="{FF2B5EF4-FFF2-40B4-BE49-F238E27FC236}">
                  <a16:creationId xmlns:a16="http://schemas.microsoft.com/office/drawing/2014/main" id="{E73BEC2E-8AA9-426C-8E66-E621473EB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" y="2839"/>
              <a:ext cx="576" cy="329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935" name="Freeform 119">
            <a:extLst>
              <a:ext uri="{FF2B5EF4-FFF2-40B4-BE49-F238E27FC236}">
                <a16:creationId xmlns:a16="http://schemas.microsoft.com/office/drawing/2014/main" id="{9DE4F4D1-04ED-4FDA-966A-16924673467B}"/>
              </a:ext>
            </a:extLst>
          </p:cNvPr>
          <p:cNvSpPr>
            <a:spLocks/>
          </p:cNvSpPr>
          <p:nvPr/>
        </p:nvSpPr>
        <p:spPr bwMode="auto">
          <a:xfrm>
            <a:off x="4583113" y="4691063"/>
            <a:ext cx="1204912" cy="1587"/>
          </a:xfrm>
          <a:custGeom>
            <a:avLst/>
            <a:gdLst>
              <a:gd name="T0" fmla="*/ 0 w 759"/>
              <a:gd name="T1" fmla="*/ 0 h 1"/>
              <a:gd name="T2" fmla="*/ 1204912 w 759"/>
              <a:gd name="T3" fmla="*/ 0 h 1"/>
              <a:gd name="T4" fmla="*/ 0 60000 65536"/>
              <a:gd name="T5" fmla="*/ 0 60000 65536"/>
              <a:gd name="T6" fmla="*/ 0 w 759"/>
              <a:gd name="T7" fmla="*/ 0 h 1"/>
              <a:gd name="T8" fmla="*/ 759 w 759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59" h="1">
                <a:moveTo>
                  <a:pt x="0" y="0"/>
                </a:moveTo>
                <a:lnTo>
                  <a:pt x="759" y="0"/>
                </a:lnTo>
              </a:path>
            </a:pathLst>
          </a:cu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936" name="Rectangle 120">
            <a:extLst>
              <a:ext uri="{FF2B5EF4-FFF2-40B4-BE49-F238E27FC236}">
                <a16:creationId xmlns:a16="http://schemas.microsoft.com/office/drawing/2014/main" id="{0053CBBE-9A1F-47CF-B3E9-2D025B11F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5" y="6310313"/>
            <a:ext cx="3200400" cy="33020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DBR</a:t>
            </a:r>
          </a:p>
        </p:txBody>
      </p:sp>
      <p:grpSp>
        <p:nvGrpSpPr>
          <p:cNvPr id="13" name="Group 121">
            <a:extLst>
              <a:ext uri="{FF2B5EF4-FFF2-40B4-BE49-F238E27FC236}">
                <a16:creationId xmlns:a16="http://schemas.microsoft.com/office/drawing/2014/main" id="{1CBD5428-3EFF-412B-86B7-4E0BFEE49CF0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4654550"/>
            <a:ext cx="5053013" cy="676275"/>
            <a:chOff x="2064" y="2932"/>
            <a:chExt cx="3183" cy="426"/>
          </a:xfrm>
        </p:grpSpPr>
        <p:sp>
          <p:nvSpPr>
            <p:cNvPr id="29770" name="Oval 122">
              <a:extLst>
                <a:ext uri="{FF2B5EF4-FFF2-40B4-BE49-F238E27FC236}">
                  <a16:creationId xmlns:a16="http://schemas.microsoft.com/office/drawing/2014/main" id="{A38A79A8-074D-440F-A6E9-63754853C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5" y="2932"/>
              <a:ext cx="48" cy="41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71" name="Oval 123">
              <a:extLst>
                <a:ext uri="{FF2B5EF4-FFF2-40B4-BE49-F238E27FC236}">
                  <a16:creationId xmlns:a16="http://schemas.microsoft.com/office/drawing/2014/main" id="{B011CD20-8576-45CC-AE8E-E6142ABC5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2" y="2932"/>
              <a:ext cx="48" cy="41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9772" name="Group 124">
              <a:extLst>
                <a:ext uri="{FF2B5EF4-FFF2-40B4-BE49-F238E27FC236}">
                  <a16:creationId xmlns:a16="http://schemas.microsoft.com/office/drawing/2014/main" id="{D90EED7B-1FF0-46E5-94F8-62D4C62C02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2952"/>
              <a:ext cx="3183" cy="406"/>
              <a:chOff x="2064" y="2952"/>
              <a:chExt cx="3183" cy="406"/>
            </a:xfrm>
          </p:grpSpPr>
          <p:sp>
            <p:nvSpPr>
              <p:cNvPr id="29773" name="Freeform 125">
                <a:extLst>
                  <a:ext uri="{FF2B5EF4-FFF2-40B4-BE49-F238E27FC236}">
                    <a16:creationId xmlns:a16="http://schemas.microsoft.com/office/drawing/2014/main" id="{84A4B0AE-D4E1-497F-A755-915B86A5D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" y="2961"/>
                <a:ext cx="2784" cy="397"/>
              </a:xfrm>
              <a:custGeom>
                <a:avLst/>
                <a:gdLst>
                  <a:gd name="T0" fmla="*/ 141 w 2784"/>
                  <a:gd name="T1" fmla="*/ 0 h 397"/>
                  <a:gd name="T2" fmla="*/ 0 w 2784"/>
                  <a:gd name="T3" fmla="*/ 1 h 397"/>
                  <a:gd name="T4" fmla="*/ 0 w 2784"/>
                  <a:gd name="T5" fmla="*/ 397 h 397"/>
                  <a:gd name="T6" fmla="*/ 2784 w 2784"/>
                  <a:gd name="T7" fmla="*/ 397 h 39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84"/>
                  <a:gd name="T13" fmla="*/ 0 h 397"/>
                  <a:gd name="T14" fmla="*/ 2784 w 2784"/>
                  <a:gd name="T15" fmla="*/ 397 h 39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84" h="397">
                    <a:moveTo>
                      <a:pt x="141" y="0"/>
                    </a:moveTo>
                    <a:lnTo>
                      <a:pt x="0" y="1"/>
                    </a:lnTo>
                    <a:lnTo>
                      <a:pt x="0" y="397"/>
                    </a:lnTo>
                    <a:lnTo>
                      <a:pt x="2784" y="397"/>
                    </a:lnTo>
                  </a:path>
                </a:pathLst>
              </a:custGeom>
              <a:noFill/>
              <a:ln w="3810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774" name="Freeform 126">
                <a:extLst>
                  <a:ext uri="{FF2B5EF4-FFF2-40B4-BE49-F238E27FC236}">
                    <a16:creationId xmlns:a16="http://schemas.microsoft.com/office/drawing/2014/main" id="{B6E5E972-5212-4F93-AE22-868132C76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2" y="2952"/>
                <a:ext cx="285" cy="396"/>
              </a:xfrm>
              <a:custGeom>
                <a:avLst/>
                <a:gdLst>
                  <a:gd name="T0" fmla="*/ 285 w 285"/>
                  <a:gd name="T1" fmla="*/ 396 h 396"/>
                  <a:gd name="T2" fmla="*/ 282 w 285"/>
                  <a:gd name="T3" fmla="*/ 3 h 396"/>
                  <a:gd name="T4" fmla="*/ 0 w 285"/>
                  <a:gd name="T5" fmla="*/ 0 h 396"/>
                  <a:gd name="T6" fmla="*/ 0 60000 65536"/>
                  <a:gd name="T7" fmla="*/ 0 60000 65536"/>
                  <a:gd name="T8" fmla="*/ 0 60000 65536"/>
                  <a:gd name="T9" fmla="*/ 0 w 285"/>
                  <a:gd name="T10" fmla="*/ 0 h 396"/>
                  <a:gd name="T11" fmla="*/ 285 w 285"/>
                  <a:gd name="T12" fmla="*/ 396 h 3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5" h="396">
                    <a:moveTo>
                      <a:pt x="285" y="396"/>
                    </a:moveTo>
                    <a:lnTo>
                      <a:pt x="282" y="3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folHlink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775" name="Freeform 127">
                <a:extLst>
                  <a:ext uri="{FF2B5EF4-FFF2-40B4-BE49-F238E27FC236}">
                    <a16:creationId xmlns:a16="http://schemas.microsoft.com/office/drawing/2014/main" id="{90C0907D-858A-494E-95A3-E9D1A1A2FC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0" y="3352"/>
                <a:ext cx="447" cy="1"/>
              </a:xfrm>
              <a:custGeom>
                <a:avLst/>
                <a:gdLst>
                  <a:gd name="T0" fmla="*/ 447 w 447"/>
                  <a:gd name="T1" fmla="*/ 1 h 1"/>
                  <a:gd name="T2" fmla="*/ 0 w 447"/>
                  <a:gd name="T3" fmla="*/ 0 h 1"/>
                  <a:gd name="T4" fmla="*/ 0 60000 65536"/>
                  <a:gd name="T5" fmla="*/ 0 60000 65536"/>
                  <a:gd name="T6" fmla="*/ 0 w 447"/>
                  <a:gd name="T7" fmla="*/ 0 h 1"/>
                  <a:gd name="T8" fmla="*/ 447 w 44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47" h="1">
                    <a:moveTo>
                      <a:pt x="447" y="1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folHlink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776" name="Text Box 128">
                <a:extLst>
                  <a:ext uri="{FF2B5EF4-FFF2-40B4-BE49-F238E27FC236}">
                    <a16:creationId xmlns:a16="http://schemas.microsoft.com/office/drawing/2014/main" id="{36DD6F6D-23AB-493F-90F9-458E960C9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4" y="3072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④</a:t>
                </a:r>
              </a:p>
            </p:txBody>
          </p:sp>
        </p:grpSp>
      </p:grpSp>
      <p:grpSp>
        <p:nvGrpSpPr>
          <p:cNvPr id="15" name="Group 129">
            <a:extLst>
              <a:ext uri="{FF2B5EF4-FFF2-40B4-BE49-F238E27FC236}">
                <a16:creationId xmlns:a16="http://schemas.microsoft.com/office/drawing/2014/main" id="{6813A030-DD57-4744-ACDA-C465D29E39C1}"/>
              </a:ext>
            </a:extLst>
          </p:cNvPr>
          <p:cNvGrpSpPr>
            <a:grpSpLocks/>
          </p:cNvGrpSpPr>
          <p:nvPr/>
        </p:nvGrpSpPr>
        <p:grpSpPr bwMode="auto">
          <a:xfrm>
            <a:off x="4664075" y="3124200"/>
            <a:ext cx="3581400" cy="396875"/>
            <a:chOff x="2938" y="1968"/>
            <a:chExt cx="2256" cy="250"/>
          </a:xfrm>
        </p:grpSpPr>
        <p:sp>
          <p:nvSpPr>
            <p:cNvPr id="29767" name="Freeform 130">
              <a:extLst>
                <a:ext uri="{FF2B5EF4-FFF2-40B4-BE49-F238E27FC236}">
                  <a16:creationId xmlns:a16="http://schemas.microsoft.com/office/drawing/2014/main" id="{161325CB-5194-44BC-863E-680AF8E6C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8" y="1985"/>
              <a:ext cx="1872" cy="207"/>
            </a:xfrm>
            <a:custGeom>
              <a:avLst/>
              <a:gdLst>
                <a:gd name="T0" fmla="*/ 0 w 2160"/>
                <a:gd name="T1" fmla="*/ 0 h 240"/>
                <a:gd name="T2" fmla="*/ 0 w 2160"/>
                <a:gd name="T3" fmla="*/ 207 h 240"/>
                <a:gd name="T4" fmla="*/ 1872 w 2160"/>
                <a:gd name="T5" fmla="*/ 207 h 240"/>
                <a:gd name="T6" fmla="*/ 0 60000 65536"/>
                <a:gd name="T7" fmla="*/ 0 60000 65536"/>
                <a:gd name="T8" fmla="*/ 0 60000 65536"/>
                <a:gd name="T9" fmla="*/ 0 w 2160"/>
                <a:gd name="T10" fmla="*/ 0 h 240"/>
                <a:gd name="T11" fmla="*/ 2160 w 216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" h="240">
                  <a:moveTo>
                    <a:pt x="0" y="0"/>
                  </a:moveTo>
                  <a:lnTo>
                    <a:pt x="0" y="240"/>
                  </a:lnTo>
                  <a:lnTo>
                    <a:pt x="2160" y="240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68" name="Line 131">
              <a:extLst>
                <a:ext uri="{FF2B5EF4-FFF2-40B4-BE49-F238E27FC236}">
                  <a16:creationId xmlns:a16="http://schemas.microsoft.com/office/drawing/2014/main" id="{4DF97141-B60E-4C8C-8865-74D16E478B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0" y="2192"/>
              <a:ext cx="384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69" name="Text Box 132">
              <a:extLst>
                <a:ext uri="{FF2B5EF4-FFF2-40B4-BE49-F238E27FC236}">
                  <a16:creationId xmlns:a16="http://schemas.microsoft.com/office/drawing/2014/main" id="{78A18B86-5628-4F12-A0F8-AC8ADC9C7D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2" y="1968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⑤</a:t>
              </a:r>
            </a:p>
          </p:txBody>
        </p:sp>
      </p:grpSp>
      <p:grpSp>
        <p:nvGrpSpPr>
          <p:cNvPr id="16" name="Group 133">
            <a:extLst>
              <a:ext uri="{FF2B5EF4-FFF2-40B4-BE49-F238E27FC236}">
                <a16:creationId xmlns:a16="http://schemas.microsoft.com/office/drawing/2014/main" id="{CDEC53DD-B59D-4CB7-BDB3-2CB872CBA9E2}"/>
              </a:ext>
            </a:extLst>
          </p:cNvPr>
          <p:cNvGrpSpPr>
            <a:grpSpLocks/>
          </p:cNvGrpSpPr>
          <p:nvPr/>
        </p:nvGrpSpPr>
        <p:grpSpPr bwMode="auto">
          <a:xfrm>
            <a:off x="1082675" y="1371600"/>
            <a:ext cx="3581400" cy="396875"/>
            <a:chOff x="682" y="864"/>
            <a:chExt cx="2256" cy="250"/>
          </a:xfrm>
        </p:grpSpPr>
        <p:sp>
          <p:nvSpPr>
            <p:cNvPr id="29764" name="Freeform 134">
              <a:extLst>
                <a:ext uri="{FF2B5EF4-FFF2-40B4-BE49-F238E27FC236}">
                  <a16:creationId xmlns:a16="http://schemas.microsoft.com/office/drawing/2014/main" id="{93F30756-76D9-4A2E-B16A-874BD6D84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1031"/>
              <a:ext cx="1920" cy="83"/>
            </a:xfrm>
            <a:custGeom>
              <a:avLst/>
              <a:gdLst>
                <a:gd name="T0" fmla="*/ 1920 w 1920"/>
                <a:gd name="T1" fmla="*/ 0 h 96"/>
                <a:gd name="T2" fmla="*/ 1920 w 1920"/>
                <a:gd name="T3" fmla="*/ 83 h 96"/>
                <a:gd name="T4" fmla="*/ 0 w 1920"/>
                <a:gd name="T5" fmla="*/ 83 h 96"/>
                <a:gd name="T6" fmla="*/ 0 60000 65536"/>
                <a:gd name="T7" fmla="*/ 0 60000 65536"/>
                <a:gd name="T8" fmla="*/ 0 60000 65536"/>
                <a:gd name="T9" fmla="*/ 0 w 1920"/>
                <a:gd name="T10" fmla="*/ 0 h 96"/>
                <a:gd name="T11" fmla="*/ 1920 w 192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0" h="96">
                  <a:moveTo>
                    <a:pt x="1920" y="0"/>
                  </a:moveTo>
                  <a:lnTo>
                    <a:pt x="1920" y="96"/>
                  </a:lnTo>
                  <a:lnTo>
                    <a:pt x="0" y="96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65" name="Line 135">
              <a:extLst>
                <a:ext uri="{FF2B5EF4-FFF2-40B4-BE49-F238E27FC236}">
                  <a16:creationId xmlns:a16="http://schemas.microsoft.com/office/drawing/2014/main" id="{7CF1F70F-0ABA-4C41-8129-A8E15FD357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" y="1114"/>
              <a:ext cx="336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66" name="Text Box 136">
              <a:extLst>
                <a:ext uri="{FF2B5EF4-FFF2-40B4-BE49-F238E27FC236}">
                  <a16:creationId xmlns:a16="http://schemas.microsoft.com/office/drawing/2014/main" id="{7A4DC895-4579-4983-8551-5707C566B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864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⑦</a:t>
              </a:r>
            </a:p>
          </p:txBody>
        </p:sp>
      </p:grpSp>
      <p:grpSp>
        <p:nvGrpSpPr>
          <p:cNvPr id="17" name="Group 137">
            <a:extLst>
              <a:ext uri="{FF2B5EF4-FFF2-40B4-BE49-F238E27FC236}">
                <a16:creationId xmlns:a16="http://schemas.microsoft.com/office/drawing/2014/main" id="{C6A55453-5E03-4D90-9994-E4A19744CD70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617538"/>
            <a:ext cx="4267200" cy="685800"/>
            <a:chOff x="672" y="164"/>
            <a:chExt cx="2688" cy="432"/>
          </a:xfrm>
        </p:grpSpPr>
        <p:sp>
          <p:nvSpPr>
            <p:cNvPr id="29761" name="Rectangle 138">
              <a:extLst>
                <a:ext uri="{FF2B5EF4-FFF2-40B4-BE49-F238E27FC236}">
                  <a16:creationId xmlns:a16="http://schemas.microsoft.com/office/drawing/2014/main" id="{68B83F07-7906-4075-BE24-D574FCB68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452"/>
              <a:ext cx="48" cy="14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62" name="AutoShape 139">
              <a:extLst>
                <a:ext uri="{FF2B5EF4-FFF2-40B4-BE49-F238E27FC236}">
                  <a16:creationId xmlns:a16="http://schemas.microsoft.com/office/drawing/2014/main" id="{A2A5C546-0CF6-429E-A0DC-91BD8A56A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404"/>
              <a:ext cx="2686" cy="144"/>
            </a:xfrm>
            <a:prstGeom prst="leftArrow">
              <a:avLst>
                <a:gd name="adj1" fmla="val 39417"/>
                <a:gd name="adj2" fmla="val 164853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63" name="Text Box 140">
              <a:extLst>
                <a:ext uri="{FF2B5EF4-FFF2-40B4-BE49-F238E27FC236}">
                  <a16:creationId xmlns:a16="http://schemas.microsoft.com/office/drawing/2014/main" id="{C2DE050D-15E1-4B4C-95EE-BC24C658A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64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⑧</a:t>
              </a:r>
            </a:p>
          </p:txBody>
        </p:sp>
      </p:grpSp>
      <p:grpSp>
        <p:nvGrpSpPr>
          <p:cNvPr id="18" name="Group 141">
            <a:extLst>
              <a:ext uri="{FF2B5EF4-FFF2-40B4-BE49-F238E27FC236}">
                <a16:creationId xmlns:a16="http://schemas.microsoft.com/office/drawing/2014/main" id="{F4324E5A-18F1-4FD1-BC54-F52DD5FE3BB2}"/>
              </a:ext>
            </a:extLst>
          </p:cNvPr>
          <p:cNvGrpSpPr>
            <a:grpSpLocks/>
          </p:cNvGrpSpPr>
          <p:nvPr/>
        </p:nvGrpSpPr>
        <p:grpSpPr bwMode="auto">
          <a:xfrm>
            <a:off x="3594100" y="2449513"/>
            <a:ext cx="1219200" cy="723900"/>
            <a:chOff x="2264" y="1543"/>
            <a:chExt cx="768" cy="456"/>
          </a:xfrm>
        </p:grpSpPr>
        <p:sp>
          <p:nvSpPr>
            <p:cNvPr id="29759" name="Rectangle 142">
              <a:extLst>
                <a:ext uri="{FF2B5EF4-FFF2-40B4-BE49-F238E27FC236}">
                  <a16:creationId xmlns:a16="http://schemas.microsoft.com/office/drawing/2014/main" id="{AA8E1109-7499-41D8-B23E-0F792DDD8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1584"/>
              <a:ext cx="768" cy="415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60" name="Oval 143">
              <a:extLst>
                <a:ext uri="{FF2B5EF4-FFF2-40B4-BE49-F238E27FC236}">
                  <a16:creationId xmlns:a16="http://schemas.microsoft.com/office/drawing/2014/main" id="{7B31C908-8E8B-4F7A-87BD-CD07FB54A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8" y="1543"/>
              <a:ext cx="48" cy="41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960" name="Rectangle 144">
            <a:extLst>
              <a:ext uri="{FF2B5EF4-FFF2-40B4-BE49-F238E27FC236}">
                <a16:creationId xmlns:a16="http://schemas.microsoft.com/office/drawing/2014/main" id="{2C7E777C-DE0D-470F-9277-8B1E9D71E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350" y="1300163"/>
            <a:ext cx="1524000" cy="328612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961" name="Rectangle 145">
            <a:extLst>
              <a:ext uri="{FF2B5EF4-FFF2-40B4-BE49-F238E27FC236}">
                <a16:creationId xmlns:a16="http://schemas.microsoft.com/office/drawing/2014/main" id="{692E1C90-62E5-4E4C-8C74-BF61A2FE4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475" y="1879600"/>
            <a:ext cx="1524000" cy="328613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962" name="Line 146">
            <a:extLst>
              <a:ext uri="{FF2B5EF4-FFF2-40B4-BE49-F238E27FC236}">
                <a16:creationId xmlns:a16="http://schemas.microsoft.com/office/drawing/2014/main" id="{06E215C7-0473-47D9-ACF5-EC4F894106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1763" y="3667125"/>
            <a:ext cx="0" cy="19685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963" name="Line 147">
            <a:extLst>
              <a:ext uri="{FF2B5EF4-FFF2-40B4-BE49-F238E27FC236}">
                <a16:creationId xmlns:a16="http://schemas.microsoft.com/office/drawing/2014/main" id="{71736F2B-DAA1-4F8E-AD87-12302F30C7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1763" y="3175000"/>
            <a:ext cx="0" cy="19685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964" name="Freeform 148">
            <a:extLst>
              <a:ext uri="{FF2B5EF4-FFF2-40B4-BE49-F238E27FC236}">
                <a16:creationId xmlns:a16="http://schemas.microsoft.com/office/drawing/2014/main" id="{B89D53F2-50E5-45DD-B5D7-B4E7FF389D6A}"/>
              </a:ext>
            </a:extLst>
          </p:cNvPr>
          <p:cNvSpPr>
            <a:spLocks/>
          </p:cNvSpPr>
          <p:nvPr/>
        </p:nvSpPr>
        <p:spPr bwMode="auto">
          <a:xfrm>
            <a:off x="5195888" y="1619250"/>
            <a:ext cx="1587" cy="271463"/>
          </a:xfrm>
          <a:custGeom>
            <a:avLst/>
            <a:gdLst>
              <a:gd name="T0" fmla="*/ 0 w 1"/>
              <a:gd name="T1" fmla="*/ 271463 h 171"/>
              <a:gd name="T2" fmla="*/ 0 w 1"/>
              <a:gd name="T3" fmla="*/ 0 h 171"/>
              <a:gd name="T4" fmla="*/ 0 60000 65536"/>
              <a:gd name="T5" fmla="*/ 0 60000 65536"/>
              <a:gd name="T6" fmla="*/ 0 w 1"/>
              <a:gd name="T7" fmla="*/ 0 h 171"/>
              <a:gd name="T8" fmla="*/ 1 w 1"/>
              <a:gd name="T9" fmla="*/ 171 h 17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71">
                <a:moveTo>
                  <a:pt x="0" y="171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9" name="Group 149">
            <a:extLst>
              <a:ext uri="{FF2B5EF4-FFF2-40B4-BE49-F238E27FC236}">
                <a16:creationId xmlns:a16="http://schemas.microsoft.com/office/drawing/2014/main" id="{68D86AE0-C847-470F-B7B6-0A6B1A1E8127}"/>
              </a:ext>
            </a:extLst>
          </p:cNvPr>
          <p:cNvGrpSpPr>
            <a:grpSpLocks/>
          </p:cNvGrpSpPr>
          <p:nvPr/>
        </p:nvGrpSpPr>
        <p:grpSpPr bwMode="auto">
          <a:xfrm>
            <a:off x="3613150" y="3863975"/>
            <a:ext cx="604838" cy="330200"/>
            <a:chOff x="2276" y="2434"/>
            <a:chExt cx="381" cy="208"/>
          </a:xfrm>
        </p:grpSpPr>
        <p:sp>
          <p:nvSpPr>
            <p:cNvPr id="29757" name="Rectangle 150">
              <a:extLst>
                <a:ext uri="{FF2B5EF4-FFF2-40B4-BE49-F238E27FC236}">
                  <a16:creationId xmlns:a16="http://schemas.microsoft.com/office/drawing/2014/main" id="{48EC1E2C-8FAB-4983-9C54-5B34D7721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6" y="2489"/>
              <a:ext cx="381" cy="153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58" name="Oval 151">
              <a:extLst>
                <a:ext uri="{FF2B5EF4-FFF2-40B4-BE49-F238E27FC236}">
                  <a16:creationId xmlns:a16="http://schemas.microsoft.com/office/drawing/2014/main" id="{66153715-E4C0-42B8-8616-177BDFDBB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" y="2434"/>
              <a:ext cx="48" cy="42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" name="Group 152">
            <a:extLst>
              <a:ext uri="{FF2B5EF4-FFF2-40B4-BE49-F238E27FC236}">
                <a16:creationId xmlns:a16="http://schemas.microsoft.com/office/drawing/2014/main" id="{FF531D2E-6FF2-451F-961A-95F90B48521F}"/>
              </a:ext>
            </a:extLst>
          </p:cNvPr>
          <p:cNvGrpSpPr>
            <a:grpSpLocks/>
          </p:cNvGrpSpPr>
          <p:nvPr/>
        </p:nvGrpSpPr>
        <p:grpSpPr bwMode="auto">
          <a:xfrm>
            <a:off x="3613150" y="3352800"/>
            <a:ext cx="604838" cy="314325"/>
            <a:chOff x="2276" y="2112"/>
            <a:chExt cx="381" cy="198"/>
          </a:xfrm>
        </p:grpSpPr>
        <p:sp>
          <p:nvSpPr>
            <p:cNvPr id="29755" name="Rectangle 153">
              <a:extLst>
                <a:ext uri="{FF2B5EF4-FFF2-40B4-BE49-F238E27FC236}">
                  <a16:creationId xmlns:a16="http://schemas.microsoft.com/office/drawing/2014/main" id="{E55C3869-D007-42BC-BBCE-24940C6AE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6" y="2157"/>
              <a:ext cx="381" cy="153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56" name="Oval 154">
              <a:extLst>
                <a:ext uri="{FF2B5EF4-FFF2-40B4-BE49-F238E27FC236}">
                  <a16:creationId xmlns:a16="http://schemas.microsoft.com/office/drawing/2014/main" id="{0D41804D-80B9-4F39-9AEB-5735632C0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" y="2112"/>
              <a:ext cx="48" cy="41"/>
            </a:xfrm>
            <a:prstGeom prst="ellips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4971" name="Rectangle 155">
            <a:extLst>
              <a:ext uri="{FF2B5EF4-FFF2-40B4-BE49-F238E27FC236}">
                <a16:creationId xmlns:a16="http://schemas.microsoft.com/office/drawing/2014/main" id="{A11C1EE0-F0EA-4F74-BD56-285F52922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5" y="5773738"/>
            <a:ext cx="3200400" cy="328612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设备选择电路</a:t>
            </a:r>
          </a:p>
        </p:txBody>
      </p:sp>
      <p:sp>
        <p:nvSpPr>
          <p:cNvPr id="34972" name="AutoShape 156">
            <a:extLst>
              <a:ext uri="{FF2B5EF4-FFF2-40B4-BE49-F238E27FC236}">
                <a16:creationId xmlns:a16="http://schemas.microsoft.com/office/drawing/2014/main" id="{AE107301-4E70-4654-A9C9-8BCC50C2C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5773738"/>
            <a:ext cx="2590800" cy="261937"/>
          </a:xfrm>
          <a:prstGeom prst="rightArrow">
            <a:avLst>
              <a:gd name="adj1" fmla="val 50000"/>
              <a:gd name="adj2" fmla="val 164254"/>
            </a:avLst>
          </a:prstGeom>
          <a:solidFill>
            <a:schemeClr val="folHlink"/>
          </a:solidFill>
          <a:ln w="2857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973" name="AutoShape 157">
            <a:extLst>
              <a:ext uri="{FF2B5EF4-FFF2-40B4-BE49-F238E27FC236}">
                <a16:creationId xmlns:a16="http://schemas.microsoft.com/office/drawing/2014/main" id="{ED7AB994-1083-4D5D-A8F8-8A40C9046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" y="6318250"/>
            <a:ext cx="2743200" cy="304800"/>
          </a:xfrm>
          <a:prstGeom prst="leftArrow">
            <a:avLst>
              <a:gd name="adj1" fmla="val 58333"/>
              <a:gd name="adj2" fmla="val 135958"/>
            </a:avLst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974" name="Freeform 158">
            <a:extLst>
              <a:ext uri="{FF2B5EF4-FFF2-40B4-BE49-F238E27FC236}">
                <a16:creationId xmlns:a16="http://schemas.microsoft.com/office/drawing/2014/main" id="{2BFCF2FD-9194-48A7-94C4-988F9F266DB1}"/>
              </a:ext>
            </a:extLst>
          </p:cNvPr>
          <p:cNvSpPr>
            <a:spLocks/>
          </p:cNvSpPr>
          <p:nvPr/>
        </p:nvSpPr>
        <p:spPr bwMode="auto">
          <a:xfrm>
            <a:off x="1997075" y="5311775"/>
            <a:ext cx="2209800" cy="461963"/>
          </a:xfrm>
          <a:custGeom>
            <a:avLst/>
            <a:gdLst>
              <a:gd name="T0" fmla="*/ 381000 w 1392"/>
              <a:gd name="T1" fmla="*/ 0 h 336"/>
              <a:gd name="T2" fmla="*/ 0 w 1392"/>
              <a:gd name="T3" fmla="*/ 0 h 336"/>
              <a:gd name="T4" fmla="*/ 0 w 1392"/>
              <a:gd name="T5" fmla="*/ 329974 h 336"/>
              <a:gd name="T6" fmla="*/ 2209800 w 1392"/>
              <a:gd name="T7" fmla="*/ 329974 h 336"/>
              <a:gd name="T8" fmla="*/ 2209800 w 1392"/>
              <a:gd name="T9" fmla="*/ 461963 h 3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92"/>
              <a:gd name="T16" fmla="*/ 0 h 336"/>
              <a:gd name="T17" fmla="*/ 1392 w 1392"/>
              <a:gd name="T18" fmla="*/ 336 h 3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92" h="336">
                <a:moveTo>
                  <a:pt x="240" y="0"/>
                </a:moveTo>
                <a:lnTo>
                  <a:pt x="0" y="0"/>
                </a:lnTo>
                <a:lnTo>
                  <a:pt x="0" y="240"/>
                </a:lnTo>
                <a:lnTo>
                  <a:pt x="1392" y="240"/>
                </a:lnTo>
                <a:lnTo>
                  <a:pt x="1392" y="336"/>
                </a:lnTo>
              </a:path>
            </a:pathLst>
          </a:cu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" name="Group 159">
            <a:extLst>
              <a:ext uri="{FF2B5EF4-FFF2-40B4-BE49-F238E27FC236}">
                <a16:creationId xmlns:a16="http://schemas.microsoft.com/office/drawing/2014/main" id="{4229B1EF-4809-489F-A041-B57A7AB2A57B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724400"/>
            <a:ext cx="1225550" cy="396875"/>
            <a:chOff x="2880" y="2976"/>
            <a:chExt cx="772" cy="250"/>
          </a:xfrm>
        </p:grpSpPr>
        <p:grpSp>
          <p:nvGrpSpPr>
            <p:cNvPr id="29749" name="Group 160">
              <a:extLst>
                <a:ext uri="{FF2B5EF4-FFF2-40B4-BE49-F238E27FC236}">
                  <a16:creationId xmlns:a16="http://schemas.microsoft.com/office/drawing/2014/main" id="{49D55C39-FF50-4FD8-8C79-956F6B1F06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976"/>
              <a:ext cx="196" cy="250"/>
              <a:chOff x="2832" y="2880"/>
              <a:chExt cx="196" cy="300"/>
            </a:xfrm>
          </p:grpSpPr>
          <p:sp>
            <p:nvSpPr>
              <p:cNvPr id="29753" name="Rectangle 161">
                <a:extLst>
                  <a:ext uri="{FF2B5EF4-FFF2-40B4-BE49-F238E27FC236}">
                    <a16:creationId xmlns:a16="http://schemas.microsoft.com/office/drawing/2014/main" id="{B25B7C2C-6051-4B4F-95CD-BC9FC280D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880"/>
                <a:ext cx="192" cy="28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754" name="Text Box 162">
                <a:extLst>
                  <a:ext uri="{FF2B5EF4-FFF2-40B4-BE49-F238E27FC236}">
                    <a16:creationId xmlns:a16="http://schemas.microsoft.com/office/drawing/2014/main" id="{09ECFE86-F9AA-48E8-84E1-062D8B2426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880"/>
                <a:ext cx="196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</a:p>
            </p:txBody>
          </p:sp>
        </p:grpSp>
        <p:grpSp>
          <p:nvGrpSpPr>
            <p:cNvPr id="29750" name="Group 163">
              <a:extLst>
                <a:ext uri="{FF2B5EF4-FFF2-40B4-BE49-F238E27FC236}">
                  <a16:creationId xmlns:a16="http://schemas.microsoft.com/office/drawing/2014/main" id="{37E88F15-B01A-4991-B4C2-35641C0465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976"/>
              <a:ext cx="196" cy="250"/>
              <a:chOff x="2832" y="2880"/>
              <a:chExt cx="196" cy="300"/>
            </a:xfrm>
          </p:grpSpPr>
          <p:sp>
            <p:nvSpPr>
              <p:cNvPr id="29751" name="Rectangle 164">
                <a:extLst>
                  <a:ext uri="{FF2B5EF4-FFF2-40B4-BE49-F238E27FC236}">
                    <a16:creationId xmlns:a16="http://schemas.microsoft.com/office/drawing/2014/main" id="{E2276915-C68E-4657-88BF-0537C0DB4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880"/>
                <a:ext cx="192" cy="28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752" name="Text Box 165">
                <a:extLst>
                  <a:ext uri="{FF2B5EF4-FFF2-40B4-BE49-F238E27FC236}">
                    <a16:creationId xmlns:a16="http://schemas.microsoft.com/office/drawing/2014/main" id="{40FC3F43-CB56-44AA-810F-D80791A271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880"/>
                <a:ext cx="196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</p:grpSp>
      <p:sp>
        <p:nvSpPr>
          <p:cNvPr id="34982" name="Freeform 166">
            <a:extLst>
              <a:ext uri="{FF2B5EF4-FFF2-40B4-BE49-F238E27FC236}">
                <a16:creationId xmlns:a16="http://schemas.microsoft.com/office/drawing/2014/main" id="{6DA3199E-7329-480D-8968-3F36C66A743C}"/>
              </a:ext>
            </a:extLst>
          </p:cNvPr>
          <p:cNvSpPr>
            <a:spLocks/>
          </p:cNvSpPr>
          <p:nvPr/>
        </p:nvSpPr>
        <p:spPr bwMode="auto">
          <a:xfrm>
            <a:off x="3749675" y="4191000"/>
            <a:ext cx="1588" cy="304800"/>
          </a:xfrm>
          <a:custGeom>
            <a:avLst/>
            <a:gdLst>
              <a:gd name="T0" fmla="*/ 0 w 1"/>
              <a:gd name="T1" fmla="*/ 304800 h 192"/>
              <a:gd name="T2" fmla="*/ 0 w 1"/>
              <a:gd name="T3" fmla="*/ 0 h 192"/>
              <a:gd name="T4" fmla="*/ 0 60000 65536"/>
              <a:gd name="T5" fmla="*/ 0 60000 65536"/>
              <a:gd name="T6" fmla="*/ 0 w 1"/>
              <a:gd name="T7" fmla="*/ 0 h 192"/>
              <a:gd name="T8" fmla="*/ 1 w 1"/>
              <a:gd name="T9" fmla="*/ 192 h 19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92">
                <a:moveTo>
                  <a:pt x="0" y="192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983" name="Text Box 167">
            <a:extLst>
              <a:ext uri="{FF2B5EF4-FFF2-40B4-BE49-F238E27FC236}">
                <a16:creationId xmlns:a16="http://schemas.microsoft.com/office/drawing/2014/main" id="{FAF7D1F5-B903-4EFA-9A5F-B2BF72FA4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75" y="381000"/>
            <a:ext cx="2549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以输入为例</a:t>
            </a:r>
          </a:p>
        </p:txBody>
      </p:sp>
      <p:grpSp>
        <p:nvGrpSpPr>
          <p:cNvPr id="24" name="Group 168">
            <a:extLst>
              <a:ext uri="{FF2B5EF4-FFF2-40B4-BE49-F238E27FC236}">
                <a16:creationId xmlns:a16="http://schemas.microsoft.com/office/drawing/2014/main" id="{F0E1CF0B-ED0B-45A1-8D9C-E1CEC80F23DE}"/>
              </a:ext>
            </a:extLst>
          </p:cNvPr>
          <p:cNvGrpSpPr>
            <a:grpSpLocks/>
          </p:cNvGrpSpPr>
          <p:nvPr/>
        </p:nvGrpSpPr>
        <p:grpSpPr bwMode="auto">
          <a:xfrm>
            <a:off x="6034088" y="3951288"/>
            <a:ext cx="2366962" cy="560387"/>
            <a:chOff x="3799" y="2496"/>
            <a:chExt cx="1491" cy="353"/>
          </a:xfrm>
        </p:grpSpPr>
        <p:sp>
          <p:nvSpPr>
            <p:cNvPr id="29747" name="Freeform 169">
              <a:extLst>
                <a:ext uri="{FF2B5EF4-FFF2-40B4-BE49-F238E27FC236}">
                  <a16:creationId xmlns:a16="http://schemas.microsoft.com/office/drawing/2014/main" id="{BCDDD09E-A215-48B9-A681-387B9369E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" y="2730"/>
              <a:ext cx="1491" cy="119"/>
            </a:xfrm>
            <a:custGeom>
              <a:avLst/>
              <a:gdLst>
                <a:gd name="T0" fmla="*/ 0 w 1730"/>
                <a:gd name="T1" fmla="*/ 119 h 139"/>
                <a:gd name="T2" fmla="*/ 2 w 1730"/>
                <a:gd name="T3" fmla="*/ 0 h 139"/>
                <a:gd name="T4" fmla="*/ 1491 w 1730"/>
                <a:gd name="T5" fmla="*/ 0 h 139"/>
                <a:gd name="T6" fmla="*/ 0 60000 65536"/>
                <a:gd name="T7" fmla="*/ 0 60000 65536"/>
                <a:gd name="T8" fmla="*/ 0 60000 65536"/>
                <a:gd name="T9" fmla="*/ 0 w 1730"/>
                <a:gd name="T10" fmla="*/ 0 h 139"/>
                <a:gd name="T11" fmla="*/ 1730 w 1730"/>
                <a:gd name="T12" fmla="*/ 139 h 1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0" h="139">
                  <a:moveTo>
                    <a:pt x="0" y="139"/>
                  </a:moveTo>
                  <a:lnTo>
                    <a:pt x="2" y="0"/>
                  </a:lnTo>
                  <a:lnTo>
                    <a:pt x="1730" y="0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48" name="Text Box 170">
              <a:extLst>
                <a:ext uri="{FF2B5EF4-FFF2-40B4-BE49-F238E27FC236}">
                  <a16:creationId xmlns:a16="http://schemas.microsoft.com/office/drawing/2014/main" id="{C13CAB3C-BD4E-4FB9-9A9F-86FEF8FC6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2" y="2496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②</a:t>
              </a:r>
            </a:p>
          </p:txBody>
        </p:sp>
      </p:grpSp>
      <p:grpSp>
        <p:nvGrpSpPr>
          <p:cNvPr id="25" name="Group 172">
            <a:extLst>
              <a:ext uri="{FF2B5EF4-FFF2-40B4-BE49-F238E27FC236}">
                <a16:creationId xmlns:a16="http://schemas.microsoft.com/office/drawing/2014/main" id="{38EF1D91-C8B5-46C1-AB47-18621B22CF74}"/>
              </a:ext>
            </a:extLst>
          </p:cNvPr>
          <p:cNvGrpSpPr>
            <a:grpSpLocks/>
          </p:cNvGrpSpPr>
          <p:nvPr/>
        </p:nvGrpSpPr>
        <p:grpSpPr bwMode="auto">
          <a:xfrm>
            <a:off x="6829425" y="6003925"/>
            <a:ext cx="1600200" cy="636588"/>
            <a:chOff x="4302" y="3782"/>
            <a:chExt cx="1008" cy="401"/>
          </a:xfrm>
        </p:grpSpPr>
        <p:sp>
          <p:nvSpPr>
            <p:cNvPr id="29745" name="AutoShape 173">
              <a:extLst>
                <a:ext uri="{FF2B5EF4-FFF2-40B4-BE49-F238E27FC236}">
                  <a16:creationId xmlns:a16="http://schemas.microsoft.com/office/drawing/2014/main" id="{75D716F6-519F-4D18-ADD6-2051B9119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3975"/>
              <a:ext cx="1008" cy="208"/>
            </a:xfrm>
            <a:prstGeom prst="leftArrow">
              <a:avLst>
                <a:gd name="adj1" fmla="val 50000"/>
                <a:gd name="adj2" fmla="val 88465"/>
              </a:avLst>
            </a:prstGeom>
            <a:solidFill>
              <a:schemeClr val="folHlink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46" name="Text Box 174">
              <a:extLst>
                <a:ext uri="{FF2B5EF4-FFF2-40B4-BE49-F238E27FC236}">
                  <a16:creationId xmlns:a16="http://schemas.microsoft.com/office/drawing/2014/main" id="{046502E4-1F0A-4B19-9377-F69D776E2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2" y="3782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③</a:t>
              </a:r>
            </a:p>
          </p:txBody>
        </p:sp>
      </p:grpSp>
      <p:grpSp>
        <p:nvGrpSpPr>
          <p:cNvPr id="26" name="Group 175">
            <a:extLst>
              <a:ext uri="{FF2B5EF4-FFF2-40B4-BE49-F238E27FC236}">
                <a16:creationId xmlns:a16="http://schemas.microsoft.com/office/drawing/2014/main" id="{5AC6F9A1-DC3D-4409-85D8-DE024166BE64}"/>
              </a:ext>
            </a:extLst>
          </p:cNvPr>
          <p:cNvGrpSpPr>
            <a:grpSpLocks/>
          </p:cNvGrpSpPr>
          <p:nvPr/>
        </p:nvGrpSpPr>
        <p:grpSpPr bwMode="auto">
          <a:xfrm>
            <a:off x="4054475" y="2463800"/>
            <a:ext cx="2895600" cy="1878013"/>
            <a:chOff x="2554" y="1552"/>
            <a:chExt cx="1824" cy="1183"/>
          </a:xfrm>
        </p:grpSpPr>
        <p:sp>
          <p:nvSpPr>
            <p:cNvPr id="29741" name="Freeform 176">
              <a:extLst>
                <a:ext uri="{FF2B5EF4-FFF2-40B4-BE49-F238E27FC236}">
                  <a16:creationId xmlns:a16="http://schemas.microsoft.com/office/drawing/2014/main" id="{B775E8B8-4106-4136-869B-8A5360A3C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" y="1552"/>
              <a:ext cx="1707" cy="1183"/>
            </a:xfrm>
            <a:custGeom>
              <a:avLst/>
              <a:gdLst>
                <a:gd name="T0" fmla="*/ 0 w 1707"/>
                <a:gd name="T1" fmla="*/ 1100 h 1183"/>
                <a:gd name="T2" fmla="*/ 0 w 1707"/>
                <a:gd name="T3" fmla="*/ 1183 h 1183"/>
                <a:gd name="T4" fmla="*/ 720 w 1707"/>
                <a:gd name="T5" fmla="*/ 1183 h 1183"/>
                <a:gd name="T6" fmla="*/ 719 w 1707"/>
                <a:gd name="T7" fmla="*/ 0 h 1183"/>
                <a:gd name="T8" fmla="*/ 1707 w 1707"/>
                <a:gd name="T9" fmla="*/ 2 h 1183"/>
                <a:gd name="T10" fmla="*/ 1707 w 1707"/>
                <a:gd name="T11" fmla="*/ 56 h 11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07"/>
                <a:gd name="T19" fmla="*/ 0 h 1183"/>
                <a:gd name="T20" fmla="*/ 1707 w 1707"/>
                <a:gd name="T21" fmla="*/ 1183 h 118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07" h="1183">
                  <a:moveTo>
                    <a:pt x="0" y="1100"/>
                  </a:moveTo>
                  <a:lnTo>
                    <a:pt x="0" y="1183"/>
                  </a:lnTo>
                  <a:lnTo>
                    <a:pt x="720" y="1183"/>
                  </a:lnTo>
                  <a:lnTo>
                    <a:pt x="719" y="0"/>
                  </a:lnTo>
                  <a:lnTo>
                    <a:pt x="1707" y="2"/>
                  </a:lnTo>
                  <a:lnTo>
                    <a:pt x="1707" y="56"/>
                  </a:lnTo>
                </a:path>
              </a:pathLst>
            </a:cu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9742" name="Group 177">
              <a:extLst>
                <a:ext uri="{FF2B5EF4-FFF2-40B4-BE49-F238E27FC236}">
                  <a16:creationId xmlns:a16="http://schemas.microsoft.com/office/drawing/2014/main" id="{288AB733-0151-455B-93A5-698CB6A6DF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603"/>
              <a:ext cx="730" cy="459"/>
              <a:chOff x="3648" y="1612"/>
              <a:chExt cx="730" cy="459"/>
            </a:xfrm>
          </p:grpSpPr>
          <p:sp>
            <p:nvSpPr>
              <p:cNvPr id="29743" name="Rectangle 178">
                <a:extLst>
                  <a:ext uri="{FF2B5EF4-FFF2-40B4-BE49-F238E27FC236}">
                    <a16:creationId xmlns:a16="http://schemas.microsoft.com/office/drawing/2014/main" id="{55314BAD-364C-4C05-B51D-8216A6EA3B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653"/>
                <a:ext cx="730" cy="418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744" name="Oval 179">
                <a:extLst>
                  <a:ext uri="{FF2B5EF4-FFF2-40B4-BE49-F238E27FC236}">
                    <a16:creationId xmlns:a16="http://schemas.microsoft.com/office/drawing/2014/main" id="{FAD6C7A9-AF68-41D6-ACC8-36CC0C4B11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4" y="1612"/>
                <a:ext cx="48" cy="41"/>
              </a:xfrm>
              <a:prstGeom prst="ellips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4996" name="Line 180">
            <a:extLst>
              <a:ext uri="{FF2B5EF4-FFF2-40B4-BE49-F238E27FC236}">
                <a16:creationId xmlns:a16="http://schemas.microsoft.com/office/drawing/2014/main" id="{384CA849-6A9A-400B-A345-ABCE87786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9475" y="2028825"/>
            <a:ext cx="22860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8" name="Group 181">
            <a:extLst>
              <a:ext uri="{FF2B5EF4-FFF2-40B4-BE49-F238E27FC236}">
                <a16:creationId xmlns:a16="http://schemas.microsoft.com/office/drawing/2014/main" id="{A191D806-949D-4661-B99E-7E100FB81C70}"/>
              </a:ext>
            </a:extLst>
          </p:cNvPr>
          <p:cNvGrpSpPr>
            <a:grpSpLocks/>
          </p:cNvGrpSpPr>
          <p:nvPr/>
        </p:nvGrpSpPr>
        <p:grpSpPr bwMode="auto">
          <a:xfrm>
            <a:off x="1130300" y="1905000"/>
            <a:ext cx="7113588" cy="609600"/>
            <a:chOff x="712" y="1200"/>
            <a:chExt cx="4481" cy="384"/>
          </a:xfrm>
        </p:grpSpPr>
        <p:grpSp>
          <p:nvGrpSpPr>
            <p:cNvPr id="29733" name="Group 182">
              <a:extLst>
                <a:ext uri="{FF2B5EF4-FFF2-40B4-BE49-F238E27FC236}">
                  <a16:creationId xmlns:a16="http://schemas.microsoft.com/office/drawing/2014/main" id="{72435C30-A7AB-435E-8F94-EB339806E2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2" y="1200"/>
              <a:ext cx="2202" cy="384"/>
              <a:chOff x="712" y="1200"/>
              <a:chExt cx="2202" cy="384"/>
            </a:xfrm>
          </p:grpSpPr>
          <p:grpSp>
            <p:nvGrpSpPr>
              <p:cNvPr id="29737" name="Group 183">
                <a:extLst>
                  <a:ext uri="{FF2B5EF4-FFF2-40B4-BE49-F238E27FC236}">
                    <a16:creationId xmlns:a16="http://schemas.microsoft.com/office/drawing/2014/main" id="{98FB7148-3C59-45DE-A42C-08C310D284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2" y="1200"/>
                <a:ext cx="1650" cy="384"/>
                <a:chOff x="712" y="1200"/>
                <a:chExt cx="1650" cy="384"/>
              </a:xfrm>
            </p:grpSpPr>
            <p:sp>
              <p:nvSpPr>
                <p:cNvPr id="29739" name="Freeform 184">
                  <a:extLst>
                    <a:ext uri="{FF2B5EF4-FFF2-40B4-BE49-F238E27FC236}">
                      <a16:creationId xmlns:a16="http://schemas.microsoft.com/office/drawing/2014/main" id="{40601A14-1F0D-4B71-A77A-2A662891B1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2" y="1454"/>
                  <a:ext cx="1650" cy="130"/>
                </a:xfrm>
                <a:custGeom>
                  <a:avLst/>
                  <a:gdLst>
                    <a:gd name="T0" fmla="*/ 1650 w 1296"/>
                    <a:gd name="T1" fmla="*/ 130 h 144"/>
                    <a:gd name="T2" fmla="*/ 1650 w 1296"/>
                    <a:gd name="T3" fmla="*/ 0 h 144"/>
                    <a:gd name="T4" fmla="*/ 0 w 1296"/>
                    <a:gd name="T5" fmla="*/ 0 h 144"/>
                    <a:gd name="T6" fmla="*/ 0 60000 65536"/>
                    <a:gd name="T7" fmla="*/ 0 60000 65536"/>
                    <a:gd name="T8" fmla="*/ 0 60000 65536"/>
                    <a:gd name="T9" fmla="*/ 0 w 1296"/>
                    <a:gd name="T10" fmla="*/ 0 h 144"/>
                    <a:gd name="T11" fmla="*/ 1296 w 1296"/>
                    <a:gd name="T12" fmla="*/ 144 h 14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96" h="144">
                      <a:moveTo>
                        <a:pt x="1296" y="144"/>
                      </a:moveTo>
                      <a:lnTo>
                        <a:pt x="129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chemeClr val="folHlink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9740" name="Text Box 185">
                  <a:extLst>
                    <a:ext uri="{FF2B5EF4-FFF2-40B4-BE49-F238E27FC236}">
                      <a16:creationId xmlns:a16="http://schemas.microsoft.com/office/drawing/2014/main" id="{71FE03AA-E07A-4CD0-A299-F3686A9EF4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8" y="1200"/>
                  <a:ext cx="27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⑥</a:t>
                  </a:r>
                </a:p>
              </p:txBody>
            </p:sp>
          </p:grpSp>
          <p:sp>
            <p:nvSpPr>
              <p:cNvPr id="29738" name="Freeform 186">
                <a:extLst>
                  <a:ext uri="{FF2B5EF4-FFF2-40B4-BE49-F238E27FC236}">
                    <a16:creationId xmlns:a16="http://schemas.microsoft.com/office/drawing/2014/main" id="{C823DFB5-B930-44DA-B65A-491256928F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1395"/>
                <a:ext cx="1" cy="147"/>
              </a:xfrm>
              <a:custGeom>
                <a:avLst/>
                <a:gdLst>
                  <a:gd name="T0" fmla="*/ 0 w 1"/>
                  <a:gd name="T1" fmla="*/ 147 h 147"/>
                  <a:gd name="T2" fmla="*/ 0 w 1"/>
                  <a:gd name="T3" fmla="*/ 0 h 147"/>
                  <a:gd name="T4" fmla="*/ 0 60000 65536"/>
                  <a:gd name="T5" fmla="*/ 0 60000 65536"/>
                  <a:gd name="T6" fmla="*/ 0 w 1"/>
                  <a:gd name="T7" fmla="*/ 0 h 147"/>
                  <a:gd name="T8" fmla="*/ 1 w 1"/>
                  <a:gd name="T9" fmla="*/ 147 h 14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47">
                    <a:moveTo>
                      <a:pt x="0" y="147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9734" name="Group 187">
              <a:extLst>
                <a:ext uri="{FF2B5EF4-FFF2-40B4-BE49-F238E27FC236}">
                  <a16:creationId xmlns:a16="http://schemas.microsoft.com/office/drawing/2014/main" id="{4941B4AD-D4BB-4523-B936-E16C949746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390"/>
              <a:ext cx="1833" cy="83"/>
              <a:chOff x="3360" y="1399"/>
              <a:chExt cx="1833" cy="83"/>
            </a:xfrm>
          </p:grpSpPr>
          <p:sp>
            <p:nvSpPr>
              <p:cNvPr id="29735" name="Freeform 188">
                <a:extLst>
                  <a:ext uri="{FF2B5EF4-FFF2-40B4-BE49-F238E27FC236}">
                    <a16:creationId xmlns:a16="http://schemas.microsoft.com/office/drawing/2014/main" id="{9CA0A219-D2B9-4D54-BC97-6CEB8D7D2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1399"/>
                <a:ext cx="1440" cy="83"/>
              </a:xfrm>
              <a:custGeom>
                <a:avLst/>
                <a:gdLst>
                  <a:gd name="T0" fmla="*/ 1440 w 1440"/>
                  <a:gd name="T1" fmla="*/ 83 h 96"/>
                  <a:gd name="T2" fmla="*/ 0 w 1440"/>
                  <a:gd name="T3" fmla="*/ 83 h 96"/>
                  <a:gd name="T4" fmla="*/ 0 w 1440"/>
                  <a:gd name="T5" fmla="*/ 0 h 96"/>
                  <a:gd name="T6" fmla="*/ 0 60000 65536"/>
                  <a:gd name="T7" fmla="*/ 0 60000 65536"/>
                  <a:gd name="T8" fmla="*/ 0 60000 65536"/>
                  <a:gd name="T9" fmla="*/ 0 w 1440"/>
                  <a:gd name="T10" fmla="*/ 0 h 96"/>
                  <a:gd name="T11" fmla="*/ 1440 w 1440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0" h="96">
                    <a:moveTo>
                      <a:pt x="1440" y="96"/>
                    </a:moveTo>
                    <a:lnTo>
                      <a:pt x="0" y="96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736" name="Freeform 189">
                <a:extLst>
                  <a:ext uri="{FF2B5EF4-FFF2-40B4-BE49-F238E27FC236}">
                    <a16:creationId xmlns:a16="http://schemas.microsoft.com/office/drawing/2014/main" id="{FA9EB130-FD26-4C44-9999-B9F4C92B8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3" y="1477"/>
                <a:ext cx="420" cy="1"/>
              </a:xfrm>
              <a:custGeom>
                <a:avLst/>
                <a:gdLst>
                  <a:gd name="T0" fmla="*/ 420 w 420"/>
                  <a:gd name="T1" fmla="*/ 0 h 1"/>
                  <a:gd name="T2" fmla="*/ 0 w 420"/>
                  <a:gd name="T3" fmla="*/ 0 h 1"/>
                  <a:gd name="T4" fmla="*/ 0 60000 65536"/>
                  <a:gd name="T5" fmla="*/ 0 60000 65536"/>
                  <a:gd name="T6" fmla="*/ 0 w 420"/>
                  <a:gd name="T7" fmla="*/ 0 h 1"/>
                  <a:gd name="T8" fmla="*/ 420 w 42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20" h="1">
                    <a:moveTo>
                      <a:pt x="42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folHlink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7" dur="500"/>
                                        <p:tgtEl>
                                          <p:spTgt spid="34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34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3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0" dur="500"/>
                                        <p:tgtEl>
                                          <p:spTgt spid="3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34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3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0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7" dur="500"/>
                                        <p:tgtEl>
                                          <p:spTgt spid="3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5" dur="500"/>
                                        <p:tgtEl>
                                          <p:spTgt spid="3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0" dur="500"/>
                                        <p:tgtEl>
                                          <p:spTgt spid="34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4" dur="500"/>
                                        <p:tgtEl>
                                          <p:spTgt spid="3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44" dur="500"/>
                                        <p:tgtEl>
                                          <p:spTgt spid="3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4" dur="500"/>
                                        <p:tgtEl>
                                          <p:spTgt spid="34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24" grpId="0" animBg="1"/>
      <p:bldP spid="34935" grpId="0" animBg="1"/>
      <p:bldP spid="34936" grpId="0" animBg="1" autoUpdateAnimBg="0"/>
      <p:bldP spid="34960" grpId="0" animBg="1"/>
      <p:bldP spid="34961" grpId="0" animBg="1"/>
      <p:bldP spid="34964" grpId="0" animBg="1"/>
      <p:bldP spid="34971" grpId="0" animBg="1" autoUpdateAnimBg="0"/>
      <p:bldP spid="34972" grpId="0" animBg="1"/>
      <p:bldP spid="34973" grpId="0" animBg="1"/>
      <p:bldP spid="34974" grpId="0" animBg="1"/>
      <p:bldP spid="34982" grpId="0" animBg="1"/>
      <p:bldP spid="34983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7.4.3 </a:t>
            </a:r>
            <a:r>
              <a:rPr lang="zh-CN" altLang="en-US" dirty="0">
                <a:solidFill>
                  <a:srgbClr val="FF0000"/>
                </a:solidFill>
              </a:rPr>
              <a:t>中断方式接口</a:t>
            </a:r>
            <a:endParaRPr lang="zh-CN" altLang="en-US" b="1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B32FC85-227F-456D-96BF-F30AB653645B}"/>
              </a:ext>
            </a:extLst>
          </p:cNvPr>
          <p:cNvCxnSpPr/>
          <p:nvPr/>
        </p:nvCxnSpPr>
        <p:spPr>
          <a:xfrm>
            <a:off x="233550" y="4482193"/>
            <a:ext cx="8820729" cy="0"/>
          </a:xfrm>
          <a:prstGeom prst="line">
            <a:avLst/>
          </a:prstGeom>
          <a:noFill/>
          <a:ln w="19050" cap="sq" cmpd="sng" algn="ctr">
            <a:solidFill>
              <a:sysClr val="windowText" lastClr="000000">
                <a:lumMod val="95000"/>
                <a:lumOff val="5000"/>
              </a:sysClr>
            </a:solidFill>
            <a:prstDash val="dash"/>
            <a:miter lim="800000"/>
            <a:tailEnd type="none"/>
          </a:ln>
          <a:effectLst/>
        </p:spPr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9A42B25-AA4E-4016-88E0-F1DB8A0CAE12}"/>
              </a:ext>
            </a:extLst>
          </p:cNvPr>
          <p:cNvCxnSpPr/>
          <p:nvPr/>
        </p:nvCxnSpPr>
        <p:spPr>
          <a:xfrm>
            <a:off x="279733" y="3540084"/>
            <a:ext cx="8691419" cy="0"/>
          </a:xfrm>
          <a:prstGeom prst="line">
            <a:avLst/>
          </a:prstGeom>
          <a:noFill/>
          <a:ln w="50800" cap="sq" cmpd="sng" algn="ctr">
            <a:solidFill>
              <a:sysClr val="windowText" lastClr="000000">
                <a:lumMod val="95000"/>
                <a:lumOff val="5000"/>
              </a:sysClr>
            </a:solidFill>
            <a:prstDash val="sysDot"/>
            <a:miter lim="800000"/>
            <a:tailEnd type="none"/>
          </a:ln>
          <a:effectLst/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FE2D89D-5182-4197-84DA-EC00AF7835EC}"/>
              </a:ext>
            </a:extLst>
          </p:cNvPr>
          <p:cNvSpPr txBox="1"/>
          <p:nvPr/>
        </p:nvSpPr>
        <p:spPr>
          <a:xfrm>
            <a:off x="0" y="2060848"/>
            <a:ext cx="668136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DE887F4-0372-422C-BB81-0B509C2CD477}"/>
              </a:ext>
            </a:extLst>
          </p:cNvPr>
          <p:cNvCxnSpPr/>
          <p:nvPr/>
        </p:nvCxnSpPr>
        <p:spPr>
          <a:xfrm flipV="1">
            <a:off x="4917277" y="3570311"/>
            <a:ext cx="0" cy="863539"/>
          </a:xfrm>
          <a:prstGeom prst="line">
            <a:avLst/>
          </a:prstGeom>
          <a:noFill/>
          <a:ln w="19050" cap="sq" cmpd="sng" algn="ctr">
            <a:solidFill>
              <a:sysClr val="windowText" lastClr="000000">
                <a:lumMod val="95000"/>
                <a:lumOff val="5000"/>
              </a:sysClr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9A2D91F-677B-4C44-A7BD-449829C5B63F}"/>
              </a:ext>
            </a:extLst>
          </p:cNvPr>
          <p:cNvCxnSpPr/>
          <p:nvPr/>
        </p:nvCxnSpPr>
        <p:spPr>
          <a:xfrm>
            <a:off x="2479025" y="3589360"/>
            <a:ext cx="0" cy="844490"/>
          </a:xfrm>
          <a:prstGeom prst="line">
            <a:avLst/>
          </a:prstGeom>
          <a:noFill/>
          <a:ln w="19050" cap="sq" cmpd="sng" algn="ctr">
            <a:solidFill>
              <a:sysClr val="windowText" lastClr="000000">
                <a:lumMod val="95000"/>
                <a:lumOff val="5000"/>
              </a:sysClr>
            </a:solidFill>
            <a:prstDash val="dash"/>
            <a:miter lim="800000"/>
            <a:tailEnd type="triangle"/>
          </a:ln>
          <a:effectLst/>
        </p:spPr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C9B57AA-B4E4-41B3-A02B-D1BD71F13FD5}"/>
              </a:ext>
            </a:extLst>
          </p:cNvPr>
          <p:cNvGrpSpPr/>
          <p:nvPr/>
        </p:nvGrpSpPr>
        <p:grpSpPr>
          <a:xfrm>
            <a:off x="2524603" y="4149080"/>
            <a:ext cx="2422563" cy="343984"/>
            <a:chOff x="4046564" y="5105015"/>
            <a:chExt cx="2422563" cy="343984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1B480C06-14D2-4FD1-A52E-2B974BBC8113}"/>
                </a:ext>
              </a:extLst>
            </p:cNvPr>
            <p:cNvCxnSpPr/>
            <p:nvPr/>
          </p:nvCxnSpPr>
          <p:spPr>
            <a:xfrm>
              <a:off x="4071964" y="5448999"/>
              <a:ext cx="2389955" cy="0"/>
            </a:xfrm>
            <a:prstGeom prst="line">
              <a:avLst/>
            </a:prstGeom>
            <a:noFill/>
            <a:ln w="50800" cap="sq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tailEnd type="none"/>
            </a:ln>
            <a:effectLst/>
          </p:spPr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E241D0F-DFAF-4341-A858-F53931FEA36D}"/>
                </a:ext>
              </a:extLst>
            </p:cNvPr>
            <p:cNvSpPr txBox="1"/>
            <p:nvPr/>
          </p:nvSpPr>
          <p:spPr>
            <a:xfrm>
              <a:off x="4046564" y="5105015"/>
              <a:ext cx="2422563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设备准备数据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36887ACB-6FA6-438A-B7E5-1BA191EAFC76}"/>
              </a:ext>
            </a:extLst>
          </p:cNvPr>
          <p:cNvSpPr txBox="1"/>
          <p:nvPr/>
        </p:nvSpPr>
        <p:spPr>
          <a:xfrm>
            <a:off x="1149008" y="3572568"/>
            <a:ext cx="1448563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prstClr val="black"/>
                </a:solidFill>
                <a:latin typeface="宋体" panose="02010600030101010101" pitchFamily="2" charset="-122"/>
              </a:rPr>
              <a:t>启动设备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prstClr val="black"/>
                </a:solidFill>
                <a:latin typeface="宋体" panose="02010600030101010101" pitchFamily="2" charset="-122"/>
              </a:rPr>
              <a:t>发送命令参数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AC530B4-2D7F-4651-AE18-64D6FED30867}"/>
              </a:ext>
            </a:extLst>
          </p:cNvPr>
          <p:cNvSpPr txBox="1"/>
          <p:nvPr/>
        </p:nvSpPr>
        <p:spPr>
          <a:xfrm>
            <a:off x="-19372" y="3645024"/>
            <a:ext cx="561369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AED4C8B-8838-4F2B-B0F9-BDF7CFB1242C}"/>
              </a:ext>
            </a:extLst>
          </p:cNvPr>
          <p:cNvGrpSpPr/>
          <p:nvPr/>
        </p:nvGrpSpPr>
        <p:grpSpPr>
          <a:xfrm>
            <a:off x="7290473" y="2657208"/>
            <a:ext cx="1450586" cy="855127"/>
            <a:chOff x="8858012" y="3624422"/>
            <a:chExt cx="1450586" cy="855127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0BE6163-FBD3-4271-9AD0-F9519BA7897F}"/>
                </a:ext>
              </a:extLst>
            </p:cNvPr>
            <p:cNvCxnSpPr/>
            <p:nvPr/>
          </p:nvCxnSpPr>
          <p:spPr>
            <a:xfrm>
              <a:off x="9583305" y="3999350"/>
              <a:ext cx="0" cy="480199"/>
            </a:xfrm>
            <a:prstGeom prst="line">
              <a:avLst/>
            </a:prstGeom>
            <a:noFill/>
            <a:ln w="19050" cap="sq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D9D5D8C-27AA-41E0-B836-1296C38D9727}"/>
                </a:ext>
              </a:extLst>
            </p:cNvPr>
            <p:cNvSpPr txBox="1"/>
            <p:nvPr/>
          </p:nvSpPr>
          <p:spPr>
            <a:xfrm>
              <a:off x="8858012" y="3624422"/>
              <a:ext cx="1450586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defRPr sz="14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时间片轮转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7A8971F-9E6B-4012-9C6D-FF9127E30823}"/>
              </a:ext>
            </a:extLst>
          </p:cNvPr>
          <p:cNvGrpSpPr/>
          <p:nvPr/>
        </p:nvGrpSpPr>
        <p:grpSpPr>
          <a:xfrm>
            <a:off x="7157851" y="3540084"/>
            <a:ext cx="950369" cy="300162"/>
            <a:chOff x="8725390" y="4507298"/>
            <a:chExt cx="950369" cy="300162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5D757FF3-BACF-4606-B521-C6A061FE54E4}"/>
                </a:ext>
              </a:extLst>
            </p:cNvPr>
            <p:cNvCxnSpPr/>
            <p:nvPr/>
          </p:nvCxnSpPr>
          <p:spPr>
            <a:xfrm>
              <a:off x="8855942" y="4507298"/>
              <a:ext cx="666172" cy="0"/>
            </a:xfrm>
            <a:prstGeom prst="line">
              <a:avLst/>
            </a:prstGeom>
            <a:noFill/>
            <a:ln w="50800" cap="sq" cmpd="sng" algn="ctr">
              <a:solidFill>
                <a:srgbClr val="38A5EF"/>
              </a:solidFill>
              <a:prstDash val="solid"/>
              <a:miter lim="800000"/>
              <a:tailEnd type="none"/>
            </a:ln>
            <a:effectLst/>
          </p:spPr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5FD04C8-EBD9-4E27-BA53-97EF99DA2F01}"/>
                </a:ext>
              </a:extLst>
            </p:cNvPr>
            <p:cNvSpPr txBox="1"/>
            <p:nvPr/>
          </p:nvSpPr>
          <p:spPr>
            <a:xfrm>
              <a:off x="8725390" y="4530461"/>
              <a:ext cx="950369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进程调度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8F7C5FF-7A79-4377-B8AF-869B808FBAA5}"/>
              </a:ext>
            </a:extLst>
          </p:cNvPr>
          <p:cNvGrpSpPr/>
          <p:nvPr/>
        </p:nvGrpSpPr>
        <p:grpSpPr>
          <a:xfrm>
            <a:off x="5921480" y="3563249"/>
            <a:ext cx="993228" cy="645965"/>
            <a:chOff x="7489019" y="4530463"/>
            <a:chExt cx="993228" cy="645965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51CDE45-1B78-4477-96F2-87736B212A9B}"/>
                </a:ext>
              </a:extLst>
            </p:cNvPr>
            <p:cNvSpPr txBox="1"/>
            <p:nvPr/>
          </p:nvSpPr>
          <p:spPr>
            <a:xfrm>
              <a:off x="7489019" y="4899429"/>
              <a:ext cx="993228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defRPr sz="14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中断返回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F1CF7F2-67BA-4E09-A79D-930CD6AED7C0}"/>
                </a:ext>
              </a:extLst>
            </p:cNvPr>
            <p:cNvCxnSpPr>
              <a:stCxn id="24" idx="0"/>
            </p:cNvCxnSpPr>
            <p:nvPr/>
          </p:nvCxnSpPr>
          <p:spPr>
            <a:xfrm flipV="1">
              <a:off x="7985633" y="4530463"/>
              <a:ext cx="0" cy="368966"/>
            </a:xfrm>
            <a:prstGeom prst="line">
              <a:avLst/>
            </a:prstGeom>
            <a:noFill/>
            <a:ln w="19050" cap="sq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F64797A-4E66-44FC-85BF-949C5D3F1237}"/>
              </a:ext>
            </a:extLst>
          </p:cNvPr>
          <p:cNvGrpSpPr/>
          <p:nvPr/>
        </p:nvGrpSpPr>
        <p:grpSpPr>
          <a:xfrm>
            <a:off x="4453146" y="2476873"/>
            <a:ext cx="937792" cy="1035461"/>
            <a:chOff x="6020685" y="3444087"/>
            <a:chExt cx="937792" cy="1035461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C202FFA-8FEB-4891-B8DC-A252E5CF782E}"/>
                </a:ext>
              </a:extLst>
            </p:cNvPr>
            <p:cNvSpPr txBox="1"/>
            <p:nvPr/>
          </p:nvSpPr>
          <p:spPr>
            <a:xfrm>
              <a:off x="6020685" y="3444087"/>
              <a:ext cx="937792" cy="4613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defRPr sz="14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中断</a:t>
              </a:r>
              <a:endPara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设备就绪</a:t>
              </a:r>
              <a:endPara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676D57D-608B-46FD-B2E5-C1435C70F629}"/>
                </a:ext>
              </a:extLst>
            </p:cNvPr>
            <p:cNvCxnSpPr/>
            <p:nvPr/>
          </p:nvCxnSpPr>
          <p:spPr>
            <a:xfrm>
              <a:off x="6487992" y="3999349"/>
              <a:ext cx="0" cy="480199"/>
            </a:xfrm>
            <a:prstGeom prst="line">
              <a:avLst/>
            </a:prstGeom>
            <a:noFill/>
            <a:ln w="19050" cap="sq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7FA3DD1-9A3E-4661-872F-9EA80AAF063B}"/>
              </a:ext>
            </a:extLst>
          </p:cNvPr>
          <p:cNvGrpSpPr/>
          <p:nvPr/>
        </p:nvGrpSpPr>
        <p:grpSpPr>
          <a:xfrm>
            <a:off x="7841555" y="3178601"/>
            <a:ext cx="1448563" cy="684380"/>
            <a:chOff x="9409094" y="4145815"/>
            <a:chExt cx="1448563" cy="684380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A0F3CF91-E5E2-4ED1-9C4C-F41743B8C47B}"/>
                </a:ext>
              </a:extLst>
            </p:cNvPr>
            <p:cNvSpPr txBox="1"/>
            <p:nvPr/>
          </p:nvSpPr>
          <p:spPr>
            <a:xfrm>
              <a:off x="9593358" y="4145815"/>
              <a:ext cx="1134529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用户进程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P1</a:t>
              </a: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33DEF65-748B-4D8D-9DA9-405975A0B150}"/>
                </a:ext>
              </a:extLst>
            </p:cNvPr>
            <p:cNvSpPr txBox="1"/>
            <p:nvPr/>
          </p:nvSpPr>
          <p:spPr>
            <a:xfrm>
              <a:off x="9409094" y="4553196"/>
              <a:ext cx="1448563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实际传输</a:t>
              </a: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A6D6A746-4399-48EA-8E8F-CA01B340E01D}"/>
                </a:ext>
              </a:extLst>
            </p:cNvPr>
            <p:cNvCxnSpPr/>
            <p:nvPr/>
          </p:nvCxnSpPr>
          <p:spPr>
            <a:xfrm>
              <a:off x="9611107" y="4510660"/>
              <a:ext cx="976924" cy="0"/>
            </a:xfrm>
            <a:prstGeom prst="line">
              <a:avLst/>
            </a:prstGeom>
            <a:noFill/>
            <a:ln w="50800" cap="sq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tailEnd type="none"/>
            </a:ln>
            <a:effectLst/>
          </p:spPr>
        </p:cxn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76110176-BF1F-4CAC-801D-9CD9A81B9C41}"/>
              </a:ext>
            </a:extLst>
          </p:cNvPr>
          <p:cNvSpPr txBox="1"/>
          <p:nvPr/>
        </p:nvSpPr>
        <p:spPr>
          <a:xfrm>
            <a:off x="7952390" y="4107375"/>
            <a:ext cx="1129597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中断控制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30CA387-DA64-4F24-B7F2-16679E34501C}"/>
              </a:ext>
            </a:extLst>
          </p:cNvPr>
          <p:cNvGrpSpPr/>
          <p:nvPr/>
        </p:nvGrpSpPr>
        <p:grpSpPr>
          <a:xfrm>
            <a:off x="252084" y="2500191"/>
            <a:ext cx="1636879" cy="1021472"/>
            <a:chOff x="1819623" y="3467405"/>
            <a:chExt cx="1636879" cy="1021472"/>
          </a:xfrm>
        </p:grpSpPr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48BED7B-DAFB-4CAD-821F-35535AD3FB86}"/>
                </a:ext>
              </a:extLst>
            </p:cNvPr>
            <p:cNvCxnSpPr/>
            <p:nvPr/>
          </p:nvCxnSpPr>
          <p:spPr>
            <a:xfrm>
              <a:off x="2946966" y="3999350"/>
              <a:ext cx="0" cy="489527"/>
            </a:xfrm>
            <a:prstGeom prst="line">
              <a:avLst/>
            </a:prstGeom>
            <a:noFill/>
            <a:ln w="19050" cap="sq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73845A4-E4D9-4731-879D-D209017F6109}"/>
                </a:ext>
              </a:extLst>
            </p:cNvPr>
            <p:cNvSpPr txBox="1"/>
            <p:nvPr/>
          </p:nvSpPr>
          <p:spPr>
            <a:xfrm>
              <a:off x="1819623" y="4145815"/>
              <a:ext cx="1102601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用户进程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P1</a:t>
              </a: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C21AB4C-2448-4C95-AC2C-785616F6D8A0}"/>
                </a:ext>
              </a:extLst>
            </p:cNvPr>
            <p:cNvSpPr txBox="1"/>
            <p:nvPr/>
          </p:nvSpPr>
          <p:spPr>
            <a:xfrm>
              <a:off x="2373746" y="3467405"/>
              <a:ext cx="1082756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read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系统调用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F1CC8BB9-90ED-4B3D-B621-D2D9D5D20E51}"/>
              </a:ext>
            </a:extLst>
          </p:cNvPr>
          <p:cNvGrpSpPr/>
          <p:nvPr/>
        </p:nvGrpSpPr>
        <p:grpSpPr>
          <a:xfrm>
            <a:off x="1384046" y="3178601"/>
            <a:ext cx="1094979" cy="361483"/>
            <a:chOff x="2951585" y="4145815"/>
            <a:chExt cx="1094979" cy="361483"/>
          </a:xfrm>
        </p:grpSpPr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8834FDD-EDA2-4B51-B791-4F13739D5F91}"/>
                </a:ext>
              </a:extLst>
            </p:cNvPr>
            <p:cNvCxnSpPr/>
            <p:nvPr/>
          </p:nvCxnSpPr>
          <p:spPr>
            <a:xfrm>
              <a:off x="2965438" y="4507298"/>
              <a:ext cx="1043142" cy="0"/>
            </a:xfrm>
            <a:prstGeom prst="line">
              <a:avLst/>
            </a:prstGeom>
            <a:noFill/>
            <a:ln w="50800" cap="sq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BF102E1-F21B-4C17-AE9C-93532217E30E}"/>
                </a:ext>
              </a:extLst>
            </p:cNvPr>
            <p:cNvSpPr txBox="1"/>
            <p:nvPr/>
          </p:nvSpPr>
          <p:spPr>
            <a:xfrm>
              <a:off x="2951585" y="4145815"/>
              <a:ext cx="1094979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内核态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4423A8D-F14B-4561-B000-E320D346A618}"/>
              </a:ext>
            </a:extLst>
          </p:cNvPr>
          <p:cNvGrpSpPr/>
          <p:nvPr/>
        </p:nvGrpSpPr>
        <p:grpSpPr>
          <a:xfrm>
            <a:off x="1588499" y="2492896"/>
            <a:ext cx="1877784" cy="1028767"/>
            <a:chOff x="3156038" y="3460110"/>
            <a:chExt cx="1877784" cy="1028767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27AEAA8E-7544-4843-B16F-E76D97886210}"/>
                </a:ext>
              </a:extLst>
            </p:cNvPr>
            <p:cNvCxnSpPr/>
            <p:nvPr/>
          </p:nvCxnSpPr>
          <p:spPr>
            <a:xfrm>
              <a:off x="4046564" y="3999350"/>
              <a:ext cx="0" cy="489527"/>
            </a:xfrm>
            <a:prstGeom prst="line">
              <a:avLst/>
            </a:prstGeom>
            <a:noFill/>
            <a:ln w="19050" cap="sq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3E016792-7B70-46E0-9B23-F13ADCECACC4}"/>
                </a:ext>
              </a:extLst>
            </p:cNvPr>
            <p:cNvSpPr txBox="1"/>
            <p:nvPr/>
          </p:nvSpPr>
          <p:spPr>
            <a:xfrm>
              <a:off x="3156038" y="3460110"/>
              <a:ext cx="1877784" cy="41360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defRPr sz="14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wait(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设备就绪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P1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进等待队列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65887FA-6AA0-4930-BFB9-2564AB9F89F1}"/>
              </a:ext>
            </a:extLst>
          </p:cNvPr>
          <p:cNvGrpSpPr/>
          <p:nvPr/>
        </p:nvGrpSpPr>
        <p:grpSpPr>
          <a:xfrm>
            <a:off x="2427437" y="3178601"/>
            <a:ext cx="914956" cy="361483"/>
            <a:chOff x="3994976" y="4145815"/>
            <a:chExt cx="914956" cy="361483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B4E23D9A-68E7-4BD1-A2DC-A7000FF96B90}"/>
                </a:ext>
              </a:extLst>
            </p:cNvPr>
            <p:cNvCxnSpPr/>
            <p:nvPr/>
          </p:nvCxnSpPr>
          <p:spPr>
            <a:xfrm>
              <a:off x="4084113" y="4507298"/>
              <a:ext cx="681851" cy="0"/>
            </a:xfrm>
            <a:prstGeom prst="line">
              <a:avLst/>
            </a:prstGeom>
            <a:noFill/>
            <a:ln w="50800" cap="sq" cmpd="sng" algn="ctr">
              <a:solidFill>
                <a:srgbClr val="38A5EF"/>
              </a:solidFill>
              <a:prstDash val="solid"/>
              <a:miter lim="800000"/>
              <a:tailEnd type="none"/>
            </a:ln>
            <a:effectLst/>
          </p:spPr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9208006-94BD-4531-8D4A-B29557C0FC3D}"/>
                </a:ext>
              </a:extLst>
            </p:cNvPr>
            <p:cNvSpPr txBox="1"/>
            <p:nvPr/>
          </p:nvSpPr>
          <p:spPr>
            <a:xfrm>
              <a:off x="3994976" y="4145815"/>
              <a:ext cx="914956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进程调度</a:t>
              </a: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2FB8AAC1-A743-4704-8C19-971ED0328FCA}"/>
              </a:ext>
            </a:extLst>
          </p:cNvPr>
          <p:cNvSpPr txBox="1"/>
          <p:nvPr/>
        </p:nvSpPr>
        <p:spPr>
          <a:xfrm>
            <a:off x="3265454" y="3178601"/>
            <a:ext cx="1448563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prstClr val="black"/>
                </a:solidFill>
                <a:latin typeface="宋体" panose="02010600030101010101" pitchFamily="2" charset="-122"/>
              </a:rPr>
              <a:t>用户进程</a:t>
            </a:r>
            <a:r>
              <a:rPr lang="en-US" altLang="zh-CN" sz="1400">
                <a:solidFill>
                  <a:prstClr val="black"/>
                </a:solidFill>
                <a:latin typeface="宋体" panose="02010600030101010101" pitchFamily="2" charset="-122"/>
              </a:rPr>
              <a:t>P2</a:t>
            </a:r>
            <a:endParaRPr lang="zh-CN" altLang="en-US" sz="140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C84FD67-2807-462B-9263-57BFCF78F4C2}"/>
              </a:ext>
            </a:extLst>
          </p:cNvPr>
          <p:cNvGrpSpPr/>
          <p:nvPr/>
        </p:nvGrpSpPr>
        <p:grpSpPr>
          <a:xfrm>
            <a:off x="4901588" y="3178601"/>
            <a:ext cx="1468056" cy="649274"/>
            <a:chOff x="6469127" y="4145815"/>
            <a:chExt cx="1468056" cy="649274"/>
          </a:xfrm>
        </p:grpSpPr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4DFA7D57-16BC-4D2A-92EE-8A2B646BA89F}"/>
                </a:ext>
              </a:extLst>
            </p:cNvPr>
            <p:cNvCxnSpPr/>
            <p:nvPr/>
          </p:nvCxnSpPr>
          <p:spPr>
            <a:xfrm>
              <a:off x="6512095" y="4507298"/>
              <a:ext cx="1425088" cy="0"/>
            </a:xfrm>
            <a:prstGeom prst="line">
              <a:avLst/>
            </a:prstGeom>
            <a:noFill/>
            <a:ln w="50800" cap="sq" cmpd="sng" algn="ctr">
              <a:solidFill>
                <a:srgbClr val="38A5EF"/>
              </a:solidFill>
              <a:prstDash val="solid"/>
              <a:miter lim="800000"/>
              <a:tailEnd type="none"/>
            </a:ln>
            <a:effectLst/>
          </p:spPr>
        </p:cxn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2BAC6DA4-371D-44E8-9C7D-31A8518B7CFB}"/>
                </a:ext>
              </a:extLst>
            </p:cNvPr>
            <p:cNvSpPr/>
            <p:nvPr/>
          </p:nvSpPr>
          <p:spPr>
            <a:xfrm>
              <a:off x="6708743" y="4518090"/>
              <a:ext cx="955178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中断服务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101D46B8-5419-4AEE-B696-3FE484578801}"/>
                </a:ext>
              </a:extLst>
            </p:cNvPr>
            <p:cNvSpPr txBox="1"/>
            <p:nvPr/>
          </p:nvSpPr>
          <p:spPr>
            <a:xfrm>
              <a:off x="6469127" y="4145815"/>
              <a:ext cx="1448563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内核态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8DF9263-4418-4C60-88EA-97A4DCD981D8}"/>
              </a:ext>
            </a:extLst>
          </p:cNvPr>
          <p:cNvGrpSpPr/>
          <p:nvPr/>
        </p:nvGrpSpPr>
        <p:grpSpPr>
          <a:xfrm>
            <a:off x="5284265" y="2474424"/>
            <a:ext cx="1726284" cy="1037911"/>
            <a:chOff x="6851804" y="3441638"/>
            <a:chExt cx="1726284" cy="1037911"/>
          </a:xfrm>
        </p:grpSpPr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62A44021-6A0E-4AB1-B329-3CC6C2FC65C6}"/>
                </a:ext>
              </a:extLst>
            </p:cNvPr>
            <p:cNvCxnSpPr/>
            <p:nvPr/>
          </p:nvCxnSpPr>
          <p:spPr>
            <a:xfrm>
              <a:off x="7714946" y="3999350"/>
              <a:ext cx="0" cy="480199"/>
            </a:xfrm>
            <a:prstGeom prst="line">
              <a:avLst/>
            </a:prstGeom>
            <a:noFill/>
            <a:ln w="19050" cap="sq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E6C9D5C3-117A-40DB-B6EB-B8D3783D9FFC}"/>
                </a:ext>
              </a:extLst>
            </p:cNvPr>
            <p:cNvSpPr txBox="1"/>
            <p:nvPr/>
          </p:nvSpPr>
          <p:spPr>
            <a:xfrm>
              <a:off x="6851804" y="3441638"/>
              <a:ext cx="1726284" cy="41360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defRPr sz="14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signal(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设备就绪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P1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进就绪队列</a:t>
              </a: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FC70308E-DF7B-447C-B889-BDF96A51338E}"/>
              </a:ext>
            </a:extLst>
          </p:cNvPr>
          <p:cNvSpPr txBox="1"/>
          <p:nvPr/>
        </p:nvSpPr>
        <p:spPr>
          <a:xfrm>
            <a:off x="6245961" y="3178601"/>
            <a:ext cx="1665616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prstClr val="black"/>
                </a:solidFill>
                <a:latin typeface="宋体" panose="02010600030101010101" pitchFamily="2" charset="-122"/>
              </a:rPr>
              <a:t>用户进程</a:t>
            </a:r>
            <a:r>
              <a:rPr lang="en-US" altLang="zh-CN" sz="1400">
                <a:solidFill>
                  <a:prstClr val="black"/>
                </a:solidFill>
                <a:latin typeface="宋体" panose="02010600030101010101" pitchFamily="2" charset="-122"/>
              </a:rPr>
              <a:t>P2   …</a:t>
            </a:r>
            <a:endParaRPr lang="zh-CN" altLang="en-US" sz="140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25423-0246-4FD9-AE39-D807AFD70A47}"/>
              </a:ext>
            </a:extLst>
          </p:cNvPr>
          <p:cNvSpPr/>
          <p:nvPr/>
        </p:nvSpPr>
        <p:spPr>
          <a:xfrm>
            <a:off x="-8787" y="908720"/>
            <a:ext cx="3815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CPU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与设备的动作关系</a:t>
            </a:r>
          </a:p>
        </p:txBody>
      </p:sp>
    </p:spTree>
    <p:extLst>
      <p:ext uri="{BB962C8B-B14F-4D97-AF65-F5344CB8AC3E}">
        <p14:creationId xmlns:p14="http://schemas.microsoft.com/office/powerpoint/2010/main" val="290866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7" grpId="0"/>
      <p:bldP spid="5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CC52647-1384-4B78-9360-C4997BD2E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7. 4  </a:t>
            </a:r>
            <a:r>
              <a:rPr lang="zh-CN" altLang="en-US" dirty="0"/>
              <a:t>程序中断控制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28800"/>
            <a:ext cx="8388424" cy="460851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7.4.1 </a:t>
            </a:r>
            <a:r>
              <a:rPr lang="zh-CN" altLang="en-US" sz="2800" dirty="0"/>
              <a:t>中断的基本概念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7.4.2  </a:t>
            </a:r>
            <a:r>
              <a:rPr lang="zh-CN" altLang="en-US" sz="2800" dirty="0"/>
              <a:t>中断的完整过程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7.4.3 </a:t>
            </a:r>
            <a:r>
              <a:rPr lang="zh-CN" altLang="en-US" sz="2800" dirty="0"/>
              <a:t>中断方式接口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7.4.4 </a:t>
            </a:r>
            <a:r>
              <a:rPr lang="zh-CN" altLang="en-US" sz="2800" dirty="0"/>
              <a:t>多级中断技术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7.4.5 MIPS</a:t>
            </a:r>
            <a:r>
              <a:rPr lang="zh-CN" altLang="en-US" sz="2800" dirty="0"/>
              <a:t>机中的中断机制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717BFD-39DE-4B08-9FCE-B751E79C144B}"/>
              </a:ext>
            </a:extLst>
          </p:cNvPr>
          <p:cNvSpPr/>
          <p:nvPr/>
        </p:nvSpPr>
        <p:spPr>
          <a:xfrm>
            <a:off x="755576" y="4077072"/>
            <a:ext cx="3456384" cy="6549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7.4.4 </a:t>
            </a:r>
            <a:r>
              <a:rPr lang="zh-CN" altLang="en-US" sz="2800" dirty="0">
                <a:solidFill>
                  <a:schemeClr val="tx1"/>
                </a:solidFill>
              </a:rPr>
              <a:t>多级中断技术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90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kern="1200" dirty="0">
                <a:latin typeface="+mj-ea"/>
                <a:cs typeface="+mn-cs"/>
              </a:rPr>
              <a:t>7.4.4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1200" dirty="0">
                <a:cs typeface="+mn-cs"/>
              </a:rPr>
              <a:t>多级中断技术</a:t>
            </a:r>
            <a:endParaRPr lang="en-US" altLang="zh-CN" sz="2800" kern="1200" dirty="0">
              <a:cs typeface="+mn-cs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C9FD98A-1D98-4FF4-A6D1-4E3749EA2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340768"/>
            <a:ext cx="8712968" cy="5184576"/>
          </a:xfrm>
        </p:spPr>
        <p:txBody>
          <a:bodyPr/>
          <a:lstStyle/>
          <a:p>
            <a:r>
              <a:rPr lang="zh-CN" altLang="en-US" sz="2400" b="1" dirty="0"/>
              <a:t>中断屏蔽触发器 ： </a:t>
            </a:r>
            <a:r>
              <a:rPr lang="en-US" altLang="zh-CN" sz="2400" b="1" dirty="0"/>
              <a:t>EINT    </a:t>
            </a:r>
            <a:r>
              <a:rPr lang="zh-CN" altLang="en-US" sz="2400" b="1" dirty="0">
                <a:solidFill>
                  <a:srgbClr val="FF0000"/>
                </a:solidFill>
              </a:rPr>
              <a:t>针对所有中断源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zh-CN" altLang="en-US" sz="2400" b="1" dirty="0"/>
              <a:t>中断屏蔽字：</a:t>
            </a:r>
            <a:r>
              <a:rPr lang="en-US" altLang="zh-CN" sz="2400" b="1" baseline="-25000" dirty="0"/>
              <a:t>   </a:t>
            </a:r>
            <a:r>
              <a:rPr lang="zh-CN" altLang="en-US" sz="2400" b="1" dirty="0">
                <a:solidFill>
                  <a:srgbClr val="FF0000"/>
                </a:solidFill>
              </a:rPr>
              <a:t>只针对特定中断源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25423-0246-4FD9-AE39-D807AFD70A47}"/>
              </a:ext>
            </a:extLst>
          </p:cNvPr>
          <p:cNvSpPr/>
          <p:nvPr/>
        </p:nvSpPr>
        <p:spPr>
          <a:xfrm>
            <a:off x="107504" y="764704"/>
            <a:ext cx="29979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多级中断的条件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7DA053A-E1FE-4A62-AD18-7D8B7326C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285293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1B3678B8-4377-4D75-8398-1978530C33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459177"/>
              </p:ext>
            </p:extLst>
          </p:nvPr>
        </p:nvGraphicFramePr>
        <p:xfrm>
          <a:off x="683568" y="2564904"/>
          <a:ext cx="7632848" cy="4220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8" name="Visio" r:id="rId3" imgW="5691703" imgH="3142837" progId="Visio.Drawing.11">
                  <p:embed/>
                </p:oleObj>
              </mc:Choice>
              <mc:Fallback>
                <p:oleObj name="Visio" r:id="rId3" imgW="5691703" imgH="314283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564904"/>
                        <a:ext cx="7632848" cy="42202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51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8406C15-2375-4D27-8113-A81530617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4000"/>
            <a:ext cx="53990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实现多重中断的条件</a:t>
            </a:r>
          </a:p>
        </p:txBody>
      </p:sp>
      <p:sp>
        <p:nvSpPr>
          <p:cNvPr id="48131" name="Line 3">
            <a:extLst>
              <a:ext uri="{FF2B5EF4-FFF2-40B4-BE49-F238E27FC236}">
                <a16:creationId xmlns:a16="http://schemas.microsoft.com/office/drawing/2014/main" id="{AC9E1FD2-B972-4948-A86A-CC5559EDD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170238"/>
            <a:ext cx="0" cy="6540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0FFA9764-0E41-4CFB-AFDA-C054FD87FD8B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824288"/>
            <a:ext cx="2743200" cy="0"/>
            <a:chOff x="1296" y="2409"/>
            <a:chExt cx="1728" cy="0"/>
          </a:xfrm>
        </p:grpSpPr>
        <p:sp>
          <p:nvSpPr>
            <p:cNvPr id="43072" name="Line 5">
              <a:extLst>
                <a:ext uri="{FF2B5EF4-FFF2-40B4-BE49-F238E27FC236}">
                  <a16:creationId xmlns:a16="http://schemas.microsoft.com/office/drawing/2014/main" id="{F7ACCC82-C0D0-4D2C-88AA-D6F9B19E1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409"/>
              <a:ext cx="17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73" name="Line 6">
              <a:extLst>
                <a:ext uri="{FF2B5EF4-FFF2-40B4-BE49-F238E27FC236}">
                  <a16:creationId xmlns:a16="http://schemas.microsoft.com/office/drawing/2014/main" id="{FB8E0517-A686-4342-A5B1-FBD5FCC10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409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B201B901-5B50-4CB5-825A-4A9F5616D8EC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4217988"/>
            <a:ext cx="2743200" cy="0"/>
            <a:chOff x="1296" y="2657"/>
            <a:chExt cx="1728" cy="0"/>
          </a:xfrm>
        </p:grpSpPr>
        <p:sp>
          <p:nvSpPr>
            <p:cNvPr id="43070" name="Line 8">
              <a:extLst>
                <a:ext uri="{FF2B5EF4-FFF2-40B4-BE49-F238E27FC236}">
                  <a16:creationId xmlns:a16="http://schemas.microsoft.com/office/drawing/2014/main" id="{E84E10FE-4CDC-4D43-A684-8EAE84AB4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657"/>
              <a:ext cx="17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71" name="Line 9">
              <a:extLst>
                <a:ext uri="{FF2B5EF4-FFF2-40B4-BE49-F238E27FC236}">
                  <a16:creationId xmlns:a16="http://schemas.microsoft.com/office/drawing/2014/main" id="{E4146EF2-4E2A-45D8-B0EC-0BF5DE3106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352" y="265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51C0DBF9-AEA1-4B09-B6E9-A8FD1FAD24DB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4545013"/>
            <a:ext cx="4114800" cy="0"/>
            <a:chOff x="1296" y="2863"/>
            <a:chExt cx="2592" cy="0"/>
          </a:xfrm>
        </p:grpSpPr>
        <p:sp>
          <p:nvSpPr>
            <p:cNvPr id="43068" name="Line 11">
              <a:extLst>
                <a:ext uri="{FF2B5EF4-FFF2-40B4-BE49-F238E27FC236}">
                  <a16:creationId xmlns:a16="http://schemas.microsoft.com/office/drawing/2014/main" id="{15710FA5-C921-4716-811B-0BBEB091A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863"/>
              <a:ext cx="25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69" name="Line 12">
              <a:extLst>
                <a:ext uri="{FF2B5EF4-FFF2-40B4-BE49-F238E27FC236}">
                  <a16:creationId xmlns:a16="http://schemas.microsoft.com/office/drawing/2014/main" id="{96A93FE6-DB2D-41D2-9BBB-8CC890992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863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F9385881-FAE9-498F-B905-6650996D2123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4937125"/>
            <a:ext cx="4114800" cy="0"/>
            <a:chOff x="1296" y="3110"/>
            <a:chExt cx="2592" cy="0"/>
          </a:xfrm>
        </p:grpSpPr>
        <p:sp>
          <p:nvSpPr>
            <p:cNvPr id="43066" name="Line 14">
              <a:extLst>
                <a:ext uri="{FF2B5EF4-FFF2-40B4-BE49-F238E27FC236}">
                  <a16:creationId xmlns:a16="http://schemas.microsoft.com/office/drawing/2014/main" id="{1ED46A0F-8E46-49B8-AA63-C7EB51D12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110"/>
              <a:ext cx="25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67" name="Line 15">
              <a:extLst>
                <a:ext uri="{FF2B5EF4-FFF2-40B4-BE49-F238E27FC236}">
                  <a16:creationId xmlns:a16="http://schemas.microsoft.com/office/drawing/2014/main" id="{46F3C7E5-ADA1-46A3-80AA-F90470DC47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216" y="311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8144" name="Freeform 16">
            <a:extLst>
              <a:ext uri="{FF2B5EF4-FFF2-40B4-BE49-F238E27FC236}">
                <a16:creationId xmlns:a16="http://schemas.microsoft.com/office/drawing/2014/main" id="{B7AAC3FA-71EB-47E3-A54D-D3D28ADA7A44}"/>
              </a:ext>
            </a:extLst>
          </p:cNvPr>
          <p:cNvSpPr>
            <a:spLocks/>
          </p:cNvSpPr>
          <p:nvPr/>
        </p:nvSpPr>
        <p:spPr bwMode="auto">
          <a:xfrm>
            <a:off x="2065338" y="4217988"/>
            <a:ext cx="1587" cy="315912"/>
          </a:xfrm>
          <a:custGeom>
            <a:avLst/>
            <a:gdLst>
              <a:gd name="T0" fmla="*/ 0 w 1"/>
              <a:gd name="T1" fmla="*/ 0 h 199"/>
              <a:gd name="T2" fmla="*/ 0 w 1"/>
              <a:gd name="T3" fmla="*/ 501509551 h 199"/>
              <a:gd name="T4" fmla="*/ 0 60000 65536"/>
              <a:gd name="T5" fmla="*/ 0 60000 65536"/>
              <a:gd name="T6" fmla="*/ 0 w 1"/>
              <a:gd name="T7" fmla="*/ 0 h 199"/>
              <a:gd name="T8" fmla="*/ 1 w 1"/>
              <a:gd name="T9" fmla="*/ 199 h 19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99">
                <a:moveTo>
                  <a:pt x="0" y="0"/>
                </a:moveTo>
                <a:lnTo>
                  <a:pt x="0" y="199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17">
            <a:extLst>
              <a:ext uri="{FF2B5EF4-FFF2-40B4-BE49-F238E27FC236}">
                <a16:creationId xmlns:a16="http://schemas.microsoft.com/office/drawing/2014/main" id="{0EADFCF4-3C54-4D9E-AB55-0C5A69205BEE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5265738"/>
            <a:ext cx="5486400" cy="0"/>
            <a:chOff x="1296" y="3317"/>
            <a:chExt cx="3456" cy="0"/>
          </a:xfrm>
        </p:grpSpPr>
        <p:sp>
          <p:nvSpPr>
            <p:cNvPr id="43064" name="Line 18">
              <a:extLst>
                <a:ext uri="{FF2B5EF4-FFF2-40B4-BE49-F238E27FC236}">
                  <a16:creationId xmlns:a16="http://schemas.microsoft.com/office/drawing/2014/main" id="{E16D8C78-F2BC-447C-B3EA-43151DD7A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317"/>
              <a:ext cx="34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65" name="Line 19">
              <a:extLst>
                <a:ext uri="{FF2B5EF4-FFF2-40B4-BE49-F238E27FC236}">
                  <a16:creationId xmlns:a16="http://schemas.microsoft.com/office/drawing/2014/main" id="{C9803933-D7ED-4592-8B32-12205F6FA0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31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Group 20">
            <a:extLst>
              <a:ext uri="{FF2B5EF4-FFF2-40B4-BE49-F238E27FC236}">
                <a16:creationId xmlns:a16="http://schemas.microsoft.com/office/drawing/2014/main" id="{1BE47F8A-7769-4934-92E3-778733833C1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5657850"/>
            <a:ext cx="4114800" cy="0"/>
            <a:chOff x="2160" y="3564"/>
            <a:chExt cx="2592" cy="0"/>
          </a:xfrm>
        </p:grpSpPr>
        <p:sp>
          <p:nvSpPr>
            <p:cNvPr id="43062" name="Line 21">
              <a:extLst>
                <a:ext uri="{FF2B5EF4-FFF2-40B4-BE49-F238E27FC236}">
                  <a16:creationId xmlns:a16="http://schemas.microsoft.com/office/drawing/2014/main" id="{E58E1378-B399-40F7-A3E1-19D96EA2C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3564"/>
              <a:ext cx="25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63" name="Line 22">
              <a:extLst>
                <a:ext uri="{FF2B5EF4-FFF2-40B4-BE49-F238E27FC236}">
                  <a16:creationId xmlns:a16="http://schemas.microsoft.com/office/drawing/2014/main" id="{A3B9D172-85BA-4EFE-A895-E3E545D9D5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888" y="356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8151" name="Freeform 23">
            <a:extLst>
              <a:ext uri="{FF2B5EF4-FFF2-40B4-BE49-F238E27FC236}">
                <a16:creationId xmlns:a16="http://schemas.microsoft.com/office/drawing/2014/main" id="{9AF5A11B-1278-409E-90BF-AB5C68510375}"/>
              </a:ext>
            </a:extLst>
          </p:cNvPr>
          <p:cNvSpPr>
            <a:spLocks/>
          </p:cNvSpPr>
          <p:nvPr/>
        </p:nvSpPr>
        <p:spPr bwMode="auto">
          <a:xfrm>
            <a:off x="2065338" y="4937125"/>
            <a:ext cx="1587" cy="315913"/>
          </a:xfrm>
          <a:custGeom>
            <a:avLst/>
            <a:gdLst>
              <a:gd name="T0" fmla="*/ 0 w 1"/>
              <a:gd name="T1" fmla="*/ 0 h 199"/>
              <a:gd name="T2" fmla="*/ 0 w 1"/>
              <a:gd name="T3" fmla="*/ 501512726 h 199"/>
              <a:gd name="T4" fmla="*/ 0 60000 65536"/>
              <a:gd name="T5" fmla="*/ 0 60000 65536"/>
              <a:gd name="T6" fmla="*/ 0 w 1"/>
              <a:gd name="T7" fmla="*/ 0 h 199"/>
              <a:gd name="T8" fmla="*/ 1 w 1"/>
              <a:gd name="T9" fmla="*/ 199 h 19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99">
                <a:moveTo>
                  <a:pt x="0" y="0"/>
                </a:moveTo>
                <a:lnTo>
                  <a:pt x="0" y="199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" name="Group 24">
            <a:extLst>
              <a:ext uri="{FF2B5EF4-FFF2-40B4-BE49-F238E27FC236}">
                <a16:creationId xmlns:a16="http://schemas.microsoft.com/office/drawing/2014/main" id="{E1E556A0-FA92-4433-B5B2-224F2E52481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5984875"/>
            <a:ext cx="4114800" cy="0"/>
            <a:chOff x="2160" y="3770"/>
            <a:chExt cx="2592" cy="0"/>
          </a:xfrm>
        </p:grpSpPr>
        <p:sp>
          <p:nvSpPr>
            <p:cNvPr id="43060" name="Line 25">
              <a:extLst>
                <a:ext uri="{FF2B5EF4-FFF2-40B4-BE49-F238E27FC236}">
                  <a16:creationId xmlns:a16="http://schemas.microsoft.com/office/drawing/2014/main" id="{681BCBD1-6538-4A47-A9EA-F2CAD6892B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3770"/>
              <a:ext cx="25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61" name="Line 26">
              <a:extLst>
                <a:ext uri="{FF2B5EF4-FFF2-40B4-BE49-F238E27FC236}">
                  <a16:creationId xmlns:a16="http://schemas.microsoft.com/office/drawing/2014/main" id="{CBA37720-D0A9-4063-8996-23152135F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77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Group 27">
            <a:extLst>
              <a:ext uri="{FF2B5EF4-FFF2-40B4-BE49-F238E27FC236}">
                <a16:creationId xmlns:a16="http://schemas.microsoft.com/office/drawing/2014/main" id="{42C1C9C3-1A66-4E6A-9365-C9C0DA0F614F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6378575"/>
            <a:ext cx="5486400" cy="0"/>
            <a:chOff x="1296" y="4018"/>
            <a:chExt cx="3456" cy="0"/>
          </a:xfrm>
        </p:grpSpPr>
        <p:sp>
          <p:nvSpPr>
            <p:cNvPr id="43058" name="Line 28">
              <a:extLst>
                <a:ext uri="{FF2B5EF4-FFF2-40B4-BE49-F238E27FC236}">
                  <a16:creationId xmlns:a16="http://schemas.microsoft.com/office/drawing/2014/main" id="{18710112-BA3E-474D-B227-9356DAA67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4018"/>
              <a:ext cx="34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59" name="Line 29">
              <a:extLst>
                <a:ext uri="{FF2B5EF4-FFF2-40B4-BE49-F238E27FC236}">
                  <a16:creationId xmlns:a16="http://schemas.microsoft.com/office/drawing/2014/main" id="{E2990D2B-DEFF-496C-8A91-99DC75FE64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216" y="4018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8158" name="Freeform 30">
            <a:extLst>
              <a:ext uri="{FF2B5EF4-FFF2-40B4-BE49-F238E27FC236}">
                <a16:creationId xmlns:a16="http://schemas.microsoft.com/office/drawing/2014/main" id="{F10F7533-BA5B-459A-A995-12C16383ECE4}"/>
              </a:ext>
            </a:extLst>
          </p:cNvPr>
          <p:cNvSpPr>
            <a:spLocks/>
          </p:cNvSpPr>
          <p:nvPr/>
        </p:nvSpPr>
        <p:spPr bwMode="auto">
          <a:xfrm>
            <a:off x="2065338" y="6388100"/>
            <a:ext cx="1587" cy="298450"/>
          </a:xfrm>
          <a:custGeom>
            <a:avLst/>
            <a:gdLst>
              <a:gd name="T0" fmla="*/ 0 w 1"/>
              <a:gd name="T1" fmla="*/ 0 h 188"/>
              <a:gd name="T2" fmla="*/ 0 w 1"/>
              <a:gd name="T3" fmla="*/ 473789420 h 188"/>
              <a:gd name="T4" fmla="*/ 0 60000 65536"/>
              <a:gd name="T5" fmla="*/ 0 60000 65536"/>
              <a:gd name="T6" fmla="*/ 0 w 1"/>
              <a:gd name="T7" fmla="*/ 0 h 188"/>
              <a:gd name="T8" fmla="*/ 1 w 1"/>
              <a:gd name="T9" fmla="*/ 188 h 1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88">
                <a:moveTo>
                  <a:pt x="0" y="0"/>
                </a:moveTo>
                <a:lnTo>
                  <a:pt x="0" y="188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Group 31">
            <a:extLst>
              <a:ext uri="{FF2B5EF4-FFF2-40B4-BE49-F238E27FC236}">
                <a16:creationId xmlns:a16="http://schemas.microsoft.com/office/drawing/2014/main" id="{17B46B28-77F4-4EBC-9809-7E26B1E62B68}"/>
              </a:ext>
            </a:extLst>
          </p:cNvPr>
          <p:cNvGrpSpPr>
            <a:grpSpLocks/>
          </p:cNvGrpSpPr>
          <p:nvPr/>
        </p:nvGrpSpPr>
        <p:grpSpPr bwMode="auto">
          <a:xfrm>
            <a:off x="593725" y="3640138"/>
            <a:ext cx="1296988" cy="396875"/>
            <a:chOff x="374" y="2293"/>
            <a:chExt cx="817" cy="250"/>
          </a:xfrm>
        </p:grpSpPr>
        <p:sp>
          <p:nvSpPr>
            <p:cNvPr id="43056" name="Line 32">
              <a:extLst>
                <a:ext uri="{FF2B5EF4-FFF2-40B4-BE49-F238E27FC236}">
                  <a16:creationId xmlns:a16="http://schemas.microsoft.com/office/drawing/2014/main" id="{E0B2B8CB-5274-4D41-895E-7DFD3DE50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" y="2409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57" name="Text Box 33">
              <a:extLst>
                <a:ext uri="{FF2B5EF4-FFF2-40B4-BE49-F238E27FC236}">
                  <a16:creationId xmlns:a16="http://schemas.microsoft.com/office/drawing/2014/main" id="{52321156-E319-4F01-94FB-7ED4428B4F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" y="2293"/>
              <a:ext cx="5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</p:grpSp>
      <p:grpSp>
        <p:nvGrpSpPr>
          <p:cNvPr id="11" name="Group 34">
            <a:extLst>
              <a:ext uri="{FF2B5EF4-FFF2-40B4-BE49-F238E27FC236}">
                <a16:creationId xmlns:a16="http://schemas.microsoft.com/office/drawing/2014/main" id="{E8095A1E-CAF4-4670-84C7-2418CE33C757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562600"/>
            <a:ext cx="2362200" cy="396875"/>
            <a:chOff x="672" y="3504"/>
            <a:chExt cx="1488" cy="250"/>
          </a:xfrm>
        </p:grpSpPr>
        <p:sp>
          <p:nvSpPr>
            <p:cNvPr id="43052" name="Line 35">
              <a:extLst>
                <a:ext uri="{FF2B5EF4-FFF2-40B4-BE49-F238E27FC236}">
                  <a16:creationId xmlns:a16="http://schemas.microsoft.com/office/drawing/2014/main" id="{0FBD3B20-7ACC-4B32-ABCC-12859A3EBF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3564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43053" name="Group 36">
              <a:extLst>
                <a:ext uri="{FF2B5EF4-FFF2-40B4-BE49-F238E27FC236}">
                  <a16:creationId xmlns:a16="http://schemas.microsoft.com/office/drawing/2014/main" id="{5D072469-7B7D-4291-A9E7-AA8E8F2CEE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3504"/>
              <a:ext cx="528" cy="250"/>
              <a:chOff x="672" y="3489"/>
              <a:chExt cx="528" cy="250"/>
            </a:xfrm>
          </p:grpSpPr>
          <p:sp>
            <p:nvSpPr>
              <p:cNvPr id="43054" name="Line 37">
                <a:extLst>
                  <a:ext uri="{FF2B5EF4-FFF2-40B4-BE49-F238E27FC236}">
                    <a16:creationId xmlns:a16="http://schemas.microsoft.com/office/drawing/2014/main" id="{0CAAA337-ACE2-4E18-8644-7D73C27F1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356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055" name="Text Box 38">
                <a:extLst>
                  <a:ext uri="{FF2B5EF4-FFF2-40B4-BE49-F238E27FC236}">
                    <a16:creationId xmlns:a16="http://schemas.microsoft.com/office/drawing/2014/main" id="{22575697-188D-4674-B6BB-B14CC0DB7A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3489"/>
                <a:ext cx="2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</p:grpSp>
      </p:grpSp>
      <p:sp>
        <p:nvSpPr>
          <p:cNvPr id="48167" name="Text Box 39">
            <a:extLst>
              <a:ext uri="{FF2B5EF4-FFF2-40B4-BE49-F238E27FC236}">
                <a16:creationId xmlns:a16="http://schemas.microsoft.com/office/drawing/2014/main" id="{F8819F9F-4A35-4B61-9055-0BFE61BAE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955925"/>
            <a:ext cx="6953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中断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请求</a:t>
            </a:r>
          </a:p>
        </p:txBody>
      </p:sp>
      <p:sp>
        <p:nvSpPr>
          <p:cNvPr id="48168" name="Text Box 40">
            <a:extLst>
              <a:ext uri="{FF2B5EF4-FFF2-40B4-BE49-F238E27FC236}">
                <a16:creationId xmlns:a16="http://schemas.microsoft.com/office/drawing/2014/main" id="{7308192B-7F65-4B05-8EEC-CEC039CE5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688" y="2133600"/>
            <a:ext cx="950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主程序</a:t>
            </a:r>
          </a:p>
        </p:txBody>
      </p:sp>
      <p:sp>
        <p:nvSpPr>
          <p:cNvPr id="48169" name="Text Box 41">
            <a:extLst>
              <a:ext uri="{FF2B5EF4-FFF2-40B4-BE49-F238E27FC236}">
                <a16:creationId xmlns:a16="http://schemas.microsoft.com/office/drawing/2014/main" id="{A9D9082E-3F5A-493E-B9C0-903C42DBE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8" y="1524000"/>
            <a:ext cx="8145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优先级别高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的中断源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有权中断优先级别低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的中断源</a:t>
            </a:r>
          </a:p>
        </p:txBody>
      </p:sp>
      <p:sp>
        <p:nvSpPr>
          <p:cNvPr id="48170" name="Text Box 42">
            <a:extLst>
              <a:ext uri="{FF2B5EF4-FFF2-40B4-BE49-F238E27FC236}">
                <a16:creationId xmlns:a16="http://schemas.microsoft.com/office/drawing/2014/main" id="{16F810D1-C877-4AB5-8887-5A062DE10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8" y="914400"/>
            <a:ext cx="4106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提前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设置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开中断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</a:t>
            </a:r>
          </a:p>
        </p:txBody>
      </p:sp>
      <p:grpSp>
        <p:nvGrpSpPr>
          <p:cNvPr id="13" name="Group 43">
            <a:extLst>
              <a:ext uri="{FF2B5EF4-FFF2-40B4-BE49-F238E27FC236}">
                <a16:creationId xmlns:a16="http://schemas.microsoft.com/office/drawing/2014/main" id="{D95EA89E-93B9-457E-AAE9-93279A7FD883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133600"/>
            <a:ext cx="4610100" cy="3883025"/>
            <a:chOff x="2016" y="1344"/>
            <a:chExt cx="2904" cy="2446"/>
          </a:xfrm>
        </p:grpSpPr>
        <p:sp>
          <p:nvSpPr>
            <p:cNvPr id="43041" name="Line 44">
              <a:extLst>
                <a:ext uri="{FF2B5EF4-FFF2-40B4-BE49-F238E27FC236}">
                  <a16:creationId xmlns:a16="http://schemas.microsoft.com/office/drawing/2014/main" id="{2FB509F5-C29C-4674-B3F4-F77EDBE05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162"/>
              <a:ext cx="0" cy="16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2" name="Line 45">
              <a:extLst>
                <a:ext uri="{FF2B5EF4-FFF2-40B4-BE49-F238E27FC236}">
                  <a16:creationId xmlns:a16="http://schemas.microsoft.com/office/drawing/2014/main" id="{5A66CEDA-AF8F-41F2-9DC1-BB41B65FE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162"/>
              <a:ext cx="0" cy="16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3" name="Line 46">
              <a:extLst>
                <a:ext uri="{FF2B5EF4-FFF2-40B4-BE49-F238E27FC236}">
                  <a16:creationId xmlns:a16="http://schemas.microsoft.com/office/drawing/2014/main" id="{4C62A9BD-D02D-4BD2-B603-54897E5FC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162"/>
              <a:ext cx="0" cy="16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4" name="Line 47">
              <a:extLst>
                <a:ext uri="{FF2B5EF4-FFF2-40B4-BE49-F238E27FC236}">
                  <a16:creationId xmlns:a16="http://schemas.microsoft.com/office/drawing/2014/main" id="{ABD52B28-0789-49FD-92D2-F52D56A5F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162"/>
              <a:ext cx="0" cy="16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5" name="Text Box 48">
              <a:extLst>
                <a:ext uri="{FF2B5EF4-FFF2-40B4-BE49-F238E27FC236}">
                  <a16:creationId xmlns:a16="http://schemas.microsoft.com/office/drawing/2014/main" id="{ECAEBD52-B545-4E78-9003-66AEA935A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4" y="1963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3046" name="Text Box 49">
              <a:extLst>
                <a:ext uri="{FF2B5EF4-FFF2-40B4-BE49-F238E27FC236}">
                  <a16:creationId xmlns:a16="http://schemas.microsoft.com/office/drawing/2014/main" id="{ADB2C5E9-4E60-4C47-8181-F8E3CECD5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963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3047" name="Text Box 50">
              <a:extLst>
                <a:ext uri="{FF2B5EF4-FFF2-40B4-BE49-F238E27FC236}">
                  <a16:creationId xmlns:a16="http://schemas.microsoft.com/office/drawing/2014/main" id="{95D56230-3974-4024-A7B4-7F28AB579B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2" y="1963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3048" name="Text Box 51">
              <a:extLst>
                <a:ext uri="{FF2B5EF4-FFF2-40B4-BE49-F238E27FC236}">
                  <a16:creationId xmlns:a16="http://schemas.microsoft.com/office/drawing/2014/main" id="{E4CE2DE4-502E-4FCE-8AA7-F327FFC341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6" y="1963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43049" name="AutoShape 52">
              <a:extLst>
                <a:ext uri="{FF2B5EF4-FFF2-40B4-BE49-F238E27FC236}">
                  <a16:creationId xmlns:a16="http://schemas.microsoft.com/office/drawing/2014/main" id="{DD658ED4-20B8-4E5B-875E-B5488AF0E8B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394" y="598"/>
              <a:ext cx="123" cy="2592"/>
            </a:xfrm>
            <a:prstGeom prst="leftBrace">
              <a:avLst>
                <a:gd name="adj1" fmla="val 17561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50" name="Text Box 53">
              <a:extLst>
                <a:ext uri="{FF2B5EF4-FFF2-40B4-BE49-F238E27FC236}">
                  <a16:creationId xmlns:a16="http://schemas.microsoft.com/office/drawing/2014/main" id="{736477A0-6FA8-4128-9565-E50828A8C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2" y="1344"/>
              <a:ext cx="10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中断服务程序</a:t>
              </a:r>
            </a:p>
          </p:txBody>
        </p:sp>
        <p:sp>
          <p:nvSpPr>
            <p:cNvPr id="43051" name="Text Box 54">
              <a:extLst>
                <a:ext uri="{FF2B5EF4-FFF2-40B4-BE49-F238E27FC236}">
                  <a16:creationId xmlns:a16="http://schemas.microsoft.com/office/drawing/2014/main" id="{BF64A6D8-6643-478A-A135-FE2102994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584"/>
              <a:ext cx="29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（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、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优先级按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降序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排列）</a:t>
              </a:r>
            </a:p>
          </p:txBody>
        </p:sp>
      </p:grpSp>
      <p:sp>
        <p:nvSpPr>
          <p:cNvPr id="48183" name="Line 55">
            <a:extLst>
              <a:ext uri="{FF2B5EF4-FFF2-40B4-BE49-F238E27FC236}">
                <a16:creationId xmlns:a16="http://schemas.microsoft.com/office/drawing/2014/main" id="{F7209673-71DF-4BF9-BE5C-34B1F2C31C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824288"/>
            <a:ext cx="0" cy="3937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84" name="Line 56">
            <a:extLst>
              <a:ext uri="{FF2B5EF4-FFF2-40B4-BE49-F238E27FC236}">
                <a16:creationId xmlns:a16="http://schemas.microsoft.com/office/drawing/2014/main" id="{AE14EA55-9369-4AF8-9A33-259D0DB8C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5265738"/>
            <a:ext cx="0" cy="392112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85" name="Freeform 57">
            <a:extLst>
              <a:ext uri="{FF2B5EF4-FFF2-40B4-BE49-F238E27FC236}">
                <a16:creationId xmlns:a16="http://schemas.microsoft.com/office/drawing/2014/main" id="{14D0FCDE-85A0-4340-91D8-BAEB31562105}"/>
              </a:ext>
            </a:extLst>
          </p:cNvPr>
          <p:cNvSpPr>
            <a:spLocks/>
          </p:cNvSpPr>
          <p:nvPr/>
        </p:nvSpPr>
        <p:spPr bwMode="auto">
          <a:xfrm>
            <a:off x="3429000" y="5657850"/>
            <a:ext cx="1588" cy="319088"/>
          </a:xfrm>
          <a:custGeom>
            <a:avLst/>
            <a:gdLst>
              <a:gd name="T0" fmla="*/ 0 w 1"/>
              <a:gd name="T1" fmla="*/ 0 h 201"/>
              <a:gd name="T2" fmla="*/ 0 w 1"/>
              <a:gd name="T3" fmla="*/ 506553038 h 201"/>
              <a:gd name="T4" fmla="*/ 0 60000 65536"/>
              <a:gd name="T5" fmla="*/ 0 60000 65536"/>
              <a:gd name="T6" fmla="*/ 0 w 1"/>
              <a:gd name="T7" fmla="*/ 0 h 201"/>
              <a:gd name="T8" fmla="*/ 1 w 1"/>
              <a:gd name="T9" fmla="*/ 201 h 20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01">
                <a:moveTo>
                  <a:pt x="0" y="0"/>
                </a:moveTo>
                <a:lnTo>
                  <a:pt x="0" y="201"/>
                </a:lnTo>
              </a:path>
            </a:pathLst>
          </a:custGeom>
          <a:noFill/>
          <a:ln w="57150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86" name="Line 58">
            <a:extLst>
              <a:ext uri="{FF2B5EF4-FFF2-40B4-BE49-F238E27FC236}">
                <a16:creationId xmlns:a16="http://schemas.microsoft.com/office/drawing/2014/main" id="{AFE67AA5-EF5F-46B3-A458-193E5618724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5984875"/>
            <a:ext cx="0" cy="3937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87" name="Line 59">
            <a:extLst>
              <a:ext uri="{FF2B5EF4-FFF2-40B4-BE49-F238E27FC236}">
                <a16:creationId xmlns:a16="http://schemas.microsoft.com/office/drawing/2014/main" id="{CDFE03DE-F66F-43D0-B8F6-F0CCD3B6BD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4724400"/>
            <a:ext cx="0" cy="24765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4" name="Group 60">
            <a:extLst>
              <a:ext uri="{FF2B5EF4-FFF2-40B4-BE49-F238E27FC236}">
                <a16:creationId xmlns:a16="http://schemas.microsoft.com/office/drawing/2014/main" id="{6AFCF2DC-CF2C-4616-BFD4-E2A1D7DF1741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556125"/>
            <a:ext cx="838200" cy="396875"/>
            <a:chOff x="672" y="2870"/>
            <a:chExt cx="528" cy="250"/>
          </a:xfrm>
        </p:grpSpPr>
        <p:sp>
          <p:nvSpPr>
            <p:cNvPr id="43039" name="Line 61">
              <a:extLst>
                <a:ext uri="{FF2B5EF4-FFF2-40B4-BE49-F238E27FC236}">
                  <a16:creationId xmlns:a16="http://schemas.microsoft.com/office/drawing/2014/main" id="{E805E4A4-E6BF-40D3-AEA3-CE819D463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98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0" name="Text Box 62">
              <a:extLst>
                <a:ext uri="{FF2B5EF4-FFF2-40B4-BE49-F238E27FC236}">
                  <a16:creationId xmlns:a16="http://schemas.microsoft.com/office/drawing/2014/main" id="{D8948589-D7D4-40F1-AAB3-8A0861A99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870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</p:grpSp>
      <p:sp>
        <p:nvSpPr>
          <p:cNvPr id="48191" name="Freeform 63">
            <a:extLst>
              <a:ext uri="{FF2B5EF4-FFF2-40B4-BE49-F238E27FC236}">
                <a16:creationId xmlns:a16="http://schemas.microsoft.com/office/drawing/2014/main" id="{9D03B195-57D7-4F1D-8F40-B4854C078B4E}"/>
              </a:ext>
            </a:extLst>
          </p:cNvPr>
          <p:cNvSpPr>
            <a:spLocks/>
          </p:cNvSpPr>
          <p:nvPr/>
        </p:nvSpPr>
        <p:spPr bwMode="auto">
          <a:xfrm>
            <a:off x="6172200" y="4548188"/>
            <a:ext cx="1588" cy="176212"/>
          </a:xfrm>
          <a:custGeom>
            <a:avLst/>
            <a:gdLst>
              <a:gd name="T0" fmla="*/ 0 w 1"/>
              <a:gd name="T1" fmla="*/ 0 h 111"/>
              <a:gd name="T2" fmla="*/ 2521744 w 1"/>
              <a:gd name="T3" fmla="*/ 279735779 h 111"/>
              <a:gd name="T4" fmla="*/ 0 60000 65536"/>
              <a:gd name="T5" fmla="*/ 0 60000 65536"/>
              <a:gd name="T6" fmla="*/ 0 w 1"/>
              <a:gd name="T7" fmla="*/ 0 h 111"/>
              <a:gd name="T8" fmla="*/ 1 w 1"/>
              <a:gd name="T9" fmla="*/ 111 h 11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11">
                <a:moveTo>
                  <a:pt x="0" y="0"/>
                </a:moveTo>
                <a:lnTo>
                  <a:pt x="1" y="111"/>
                </a:lnTo>
              </a:path>
            </a:pathLst>
          </a:custGeom>
          <a:noFill/>
          <a:ln w="571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92" name="Rectangle 64">
            <a:extLst>
              <a:ext uri="{FF2B5EF4-FFF2-40B4-BE49-F238E27FC236}">
                <a16:creationId xmlns:a16="http://schemas.microsoft.com/office/drawing/2014/main" id="{2F6105F6-EB72-4E72-9B50-4344221E4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宋体" charset="-122"/>
                <a:cs typeface="+mn-cs"/>
              </a:rPr>
              <a:t>8.4</a:t>
            </a:r>
          </a:p>
        </p:txBody>
      </p:sp>
      <p:sp>
        <p:nvSpPr>
          <p:cNvPr id="43038" name="AutoShape 6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5FBD54B-09D4-4621-9ABF-81BF49E60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8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5" dur="500"/>
                                        <p:tgtEl>
                                          <p:spTgt spid="4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500"/>
                                        <p:tgtEl>
                                          <p:spTgt spid="48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500"/>
                                        <p:tgtEl>
                                          <p:spTgt spid="4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3" dur="500"/>
                                        <p:tgtEl>
                                          <p:spTgt spid="4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3" dur="500"/>
                                        <p:tgtEl>
                                          <p:spTgt spid="4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8" dur="500"/>
                                        <p:tgtEl>
                                          <p:spTgt spid="4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8" dur="500"/>
                                        <p:tgtEl>
                                          <p:spTgt spid="4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8" dur="500"/>
                                        <p:tgtEl>
                                          <p:spTgt spid="48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4" grpId="0" animBg="1"/>
      <p:bldP spid="48151" grpId="0" animBg="1"/>
      <p:bldP spid="48158" grpId="0" animBg="1"/>
      <p:bldP spid="48167" grpId="0" autoUpdateAnimBg="0"/>
      <p:bldP spid="48168" grpId="0" autoUpdateAnimBg="0"/>
      <p:bldP spid="48169" grpId="0" autoUpdateAnimBg="0"/>
      <p:bldP spid="48170" grpId="0" autoUpdateAnimBg="0"/>
      <p:bldP spid="48185" grpId="0" animBg="1"/>
      <p:bldP spid="4819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kern="1200" dirty="0">
                <a:latin typeface="+mj-ea"/>
                <a:cs typeface="+mn-cs"/>
              </a:rPr>
              <a:t>7.4.4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1200" dirty="0">
                <a:cs typeface="+mn-cs"/>
              </a:rPr>
              <a:t>多级中断技术</a:t>
            </a:r>
            <a:endParaRPr lang="en-US" altLang="zh-CN" sz="2800" kern="1200" dirty="0"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25423-0246-4FD9-AE39-D807AFD70A47}"/>
              </a:ext>
            </a:extLst>
          </p:cNvPr>
          <p:cNvSpPr/>
          <p:nvPr/>
        </p:nvSpPr>
        <p:spPr>
          <a:xfrm>
            <a:off x="0" y="836712"/>
            <a:ext cx="55114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中断屏蔽字与中断优先级的关系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6">
            <a:extLst>
              <a:ext uri="{FF2B5EF4-FFF2-40B4-BE49-F238E27FC236}">
                <a16:creationId xmlns:a16="http://schemas.microsoft.com/office/drawing/2014/main" id="{C756798E-70D5-43A4-8F83-7CBC8BB97112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1484784"/>
            <a:ext cx="11031078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2060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控制各设备接口的屏蔽触发器，可改变处理次序。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运行某个设备的中断服务程序时载入对应的屏蔽码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6" name="对象 4">
            <a:extLst>
              <a:ext uri="{FF2B5EF4-FFF2-40B4-BE49-F238E27FC236}">
                <a16:creationId xmlns:a16="http://schemas.microsoft.com/office/drawing/2014/main" id="{059B0997-44F5-448E-B15B-3BB1B3DD0E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090181"/>
              </p:ext>
            </p:extLst>
          </p:nvPr>
        </p:nvGraphicFramePr>
        <p:xfrm>
          <a:off x="539552" y="3356992"/>
          <a:ext cx="8095386" cy="25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0" name="Picture" r:id="rId3" imgW="3867120" imgH="1238400" progId="Word.Picture.8">
                  <p:embed/>
                </p:oleObj>
              </mc:Choice>
              <mc:Fallback>
                <p:oleObj name="Picture" r:id="rId3" imgW="3867120" imgH="1238400" progId="Word.Picture.8">
                  <p:embed/>
                  <p:pic>
                    <p:nvPicPr>
                      <p:cNvPr id="2038788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356992"/>
                        <a:ext cx="8095386" cy="2592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5">
            <a:extLst>
              <a:ext uri="{FF2B5EF4-FFF2-40B4-BE49-F238E27FC236}">
                <a16:creationId xmlns:a16="http://schemas.microsoft.com/office/drawing/2014/main" id="{DB87DF5C-A605-4D90-9159-E5151B59B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8678" y="3161395"/>
            <a:ext cx="7345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</a:pPr>
            <a:endParaRPr lang="zh-CN" altLang="zh-CN" sz="2400" b="1">
              <a:solidFill>
                <a:prstClr val="black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663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6E338A-C5B2-4433-8EAC-48C2C8E8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0BE7A9-CBC0-4520-9E1D-27A6D0A55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假定硬件原来的响应顺序为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0→1→2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，试设置中断屏蔽字，将中断优先级改为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1→2→0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7B37A742-EEBF-480E-9E22-AD7908B32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236506"/>
              </p:ext>
            </p:extLst>
          </p:nvPr>
        </p:nvGraphicFramePr>
        <p:xfrm>
          <a:off x="1115616" y="2492896"/>
          <a:ext cx="6840760" cy="309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190">
                  <a:extLst>
                    <a:ext uri="{9D8B030D-6E8A-4147-A177-3AD203B41FA5}">
                      <a16:colId xmlns:a16="http://schemas.microsoft.com/office/drawing/2014/main" val="3345619707"/>
                    </a:ext>
                  </a:extLst>
                </a:gridCol>
                <a:gridCol w="1710190">
                  <a:extLst>
                    <a:ext uri="{9D8B030D-6E8A-4147-A177-3AD203B41FA5}">
                      <a16:colId xmlns:a16="http://schemas.microsoft.com/office/drawing/2014/main" val="3346959485"/>
                    </a:ext>
                  </a:extLst>
                </a:gridCol>
                <a:gridCol w="1710190">
                  <a:extLst>
                    <a:ext uri="{9D8B030D-6E8A-4147-A177-3AD203B41FA5}">
                      <a16:colId xmlns:a16="http://schemas.microsoft.com/office/drawing/2014/main" val="3540997596"/>
                    </a:ext>
                  </a:extLst>
                </a:gridCol>
                <a:gridCol w="1710190">
                  <a:extLst>
                    <a:ext uri="{9D8B030D-6E8A-4147-A177-3AD203B41FA5}">
                      <a16:colId xmlns:a16="http://schemas.microsoft.com/office/drawing/2014/main" val="275359282"/>
                    </a:ext>
                  </a:extLst>
                </a:gridCol>
              </a:tblGrid>
              <a:tr h="7740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设备</a:t>
                      </a:r>
                      <a:r>
                        <a:rPr lang="en-US" altLang="zh-CN" sz="2000" b="1" dirty="0"/>
                        <a:t>/</a:t>
                      </a:r>
                      <a:r>
                        <a:rPr lang="zh-CN" altLang="en-US" sz="2000" b="1" dirty="0"/>
                        <a:t>屏蔽字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L0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L1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L2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506123222"/>
                  </a:ext>
                </a:extLst>
              </a:tr>
              <a:tr h="7740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L0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1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0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0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3530538848"/>
                  </a:ext>
                </a:extLst>
              </a:tr>
              <a:tr h="7740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L1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1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1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1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2194869898"/>
                  </a:ext>
                </a:extLst>
              </a:tr>
              <a:tr h="7740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L2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1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0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1</a:t>
                      </a:r>
                      <a:endParaRPr lang="zh-CN" altLang="en-US" sz="2000" b="1" dirty="0"/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3218134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02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kern="1200" dirty="0">
                <a:latin typeface="+mj-ea"/>
                <a:cs typeface="+mn-cs"/>
              </a:rPr>
              <a:t>7.4.4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1200" dirty="0">
                <a:cs typeface="+mn-cs"/>
              </a:rPr>
              <a:t>多级中断技术</a:t>
            </a:r>
            <a:endParaRPr lang="en-US" altLang="zh-CN" sz="2800" kern="1200" dirty="0"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25423-0246-4FD9-AE39-D807AFD70A47}"/>
              </a:ext>
            </a:extLst>
          </p:cNvPr>
          <p:cNvSpPr/>
          <p:nvPr/>
        </p:nvSpPr>
        <p:spPr>
          <a:xfrm>
            <a:off x="0" y="836712"/>
            <a:ext cx="5870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利用中断屏蔽字改变中断源优先级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4832929D-2566-4571-94DA-57BAB11457F0}"/>
              </a:ext>
            </a:extLst>
          </p:cNvPr>
          <p:cNvGrpSpPr>
            <a:grpSpLocks/>
          </p:cNvGrpSpPr>
          <p:nvPr/>
        </p:nvGrpSpPr>
        <p:grpSpPr bwMode="auto">
          <a:xfrm>
            <a:off x="744662" y="4156437"/>
            <a:ext cx="685800" cy="398462"/>
            <a:chOff x="651" y="2405"/>
            <a:chExt cx="432" cy="251"/>
          </a:xfrm>
        </p:grpSpPr>
        <p:sp>
          <p:nvSpPr>
            <p:cNvPr id="6" name="Text Box 3">
              <a:extLst>
                <a:ext uri="{FF2B5EF4-FFF2-40B4-BE49-F238E27FC236}">
                  <a16:creationId xmlns:a16="http://schemas.microsoft.com/office/drawing/2014/main" id="{E19203A2-D557-49F8-B8CA-AF21F47694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" y="2425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&amp;</a:t>
              </a:r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F8142F82-5592-4D1D-8DFF-341A473D0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2459"/>
              <a:ext cx="432" cy="177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427E1FDE-FF0A-464F-B237-A0CFA42AB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" y="2405"/>
              <a:ext cx="48" cy="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" name="Rectangle 7">
            <a:extLst>
              <a:ext uri="{FF2B5EF4-FFF2-40B4-BE49-F238E27FC236}">
                <a16:creationId xmlns:a16="http://schemas.microsoft.com/office/drawing/2014/main" id="{F5BD6D62-8034-42DF-A58E-300477606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405299"/>
            <a:ext cx="53990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屏蔽触发器的作用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BC9D3186-CE66-4FE9-95E3-FC9A564F1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799" y="5926499"/>
            <a:ext cx="3429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MASK = 0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（未屏蔽）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270EF278-F09A-41F5-BA64-D99918F70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799" y="6434499"/>
            <a:ext cx="28797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INTR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能被置 “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1”</a:t>
            </a:r>
          </a:p>
        </p:txBody>
      </p:sp>
      <p:grpSp>
        <p:nvGrpSpPr>
          <p:cNvPr id="12" name="Group 10">
            <a:extLst>
              <a:ext uri="{FF2B5EF4-FFF2-40B4-BE49-F238E27FC236}">
                <a16:creationId xmlns:a16="http://schemas.microsoft.com/office/drawing/2014/main" id="{4053C590-728C-47A9-9689-CBC6385B40C1}"/>
              </a:ext>
            </a:extLst>
          </p:cNvPr>
          <p:cNvGrpSpPr>
            <a:grpSpLocks/>
          </p:cNvGrpSpPr>
          <p:nvPr/>
        </p:nvGrpSpPr>
        <p:grpSpPr bwMode="auto">
          <a:xfrm>
            <a:off x="3171949" y="2114912"/>
            <a:ext cx="5075238" cy="2933700"/>
            <a:chOff x="2180" y="1119"/>
            <a:chExt cx="3197" cy="1848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1397B9A4-6534-4873-B2D5-F0DD6D109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1772"/>
              <a:ext cx="1" cy="256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190 h 345"/>
                <a:gd name="T4" fmla="*/ 0 60000 65536"/>
                <a:gd name="T5" fmla="*/ 0 60000 65536"/>
                <a:gd name="T6" fmla="*/ 0 w 1"/>
                <a:gd name="T7" fmla="*/ 0 h 345"/>
                <a:gd name="T8" fmla="*/ 1 w 1"/>
                <a:gd name="T9" fmla="*/ 345 h 3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A976128E-B75B-41F4-8C37-ED4CD0DB4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2" y="2055"/>
              <a:ext cx="323" cy="177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BEE98F84-56B3-4A0A-A5A8-72459C5EF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1772"/>
              <a:ext cx="1" cy="256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190 h 345"/>
                <a:gd name="T4" fmla="*/ 0 60000 65536"/>
                <a:gd name="T5" fmla="*/ 0 60000 65536"/>
                <a:gd name="T6" fmla="*/ 0 w 1"/>
                <a:gd name="T7" fmla="*/ 0 h 345"/>
                <a:gd name="T8" fmla="*/ 1 w 1"/>
                <a:gd name="T9" fmla="*/ 345 h 3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8C1BCBB9-8578-4E1F-A7CF-2BB1794D3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2055"/>
              <a:ext cx="323" cy="177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BA9FD5A5-83C7-4B77-9959-F2BC57E87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0" y="2055"/>
              <a:ext cx="322" cy="177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1D7FA5B4-A802-4F28-955B-72FC1367F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3" y="1772"/>
              <a:ext cx="1" cy="256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190 h 345"/>
                <a:gd name="T4" fmla="*/ 0 60000 65536"/>
                <a:gd name="T5" fmla="*/ 0 60000 65536"/>
                <a:gd name="T6" fmla="*/ 0 w 1"/>
                <a:gd name="T7" fmla="*/ 0 h 345"/>
                <a:gd name="T8" fmla="*/ 1 w 1"/>
                <a:gd name="T9" fmla="*/ 345 h 3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2039D133-F2D4-4BD6-92CA-68DE285C1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9" y="2040"/>
              <a:ext cx="33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&amp;</a:t>
              </a: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91EB0C82-0B09-48A4-A03A-E7EEE673C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9" y="2023"/>
              <a:ext cx="3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&amp;</a:t>
              </a: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ED621F0A-69F7-4805-B8F9-24EE42CFE9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5" y="200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&amp;</a:t>
              </a: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0B202D63-4076-4BFA-8F4E-5850628EA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2" y="1772"/>
              <a:ext cx="1" cy="256"/>
            </a:xfrm>
            <a:custGeom>
              <a:avLst/>
              <a:gdLst>
                <a:gd name="T0" fmla="*/ 0 w 1"/>
                <a:gd name="T1" fmla="*/ 0 h 345"/>
                <a:gd name="T2" fmla="*/ 0 w 1"/>
                <a:gd name="T3" fmla="*/ 190 h 345"/>
                <a:gd name="T4" fmla="*/ 0 60000 65536"/>
                <a:gd name="T5" fmla="*/ 0 60000 65536"/>
                <a:gd name="T6" fmla="*/ 0 w 1"/>
                <a:gd name="T7" fmla="*/ 0 h 345"/>
                <a:gd name="T8" fmla="*/ 1 w 1"/>
                <a:gd name="T9" fmla="*/ 345 h 3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45">
                  <a:moveTo>
                    <a:pt x="0" y="0"/>
                  </a:moveTo>
                  <a:lnTo>
                    <a:pt x="0" y="345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97420A62-CE89-444E-A5FA-B6AFA576C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" y="2055"/>
              <a:ext cx="322" cy="177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276BA563-F60A-4EE7-A9F8-52FDF3348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023"/>
              <a:ext cx="3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&amp;</a:t>
              </a:r>
            </a:p>
          </p:txBody>
        </p:sp>
        <p:sp>
          <p:nvSpPr>
            <p:cNvPr id="25" name="Oval 23">
              <a:extLst>
                <a:ext uri="{FF2B5EF4-FFF2-40B4-BE49-F238E27FC236}">
                  <a16:creationId xmlns:a16="http://schemas.microsoft.com/office/drawing/2014/main" id="{92754061-26D2-44C3-A7C3-48FF05510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0" y="2017"/>
              <a:ext cx="40" cy="3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4E3B6CD2-208D-4B99-AA8B-2184D4C2E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0" y="1597"/>
              <a:ext cx="322" cy="177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35CFE706-A383-440A-B93A-665A3422AB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9" y="1555"/>
              <a:ext cx="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A76D35CD-D827-42C9-89B1-5C5F9FF36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0" y="1562"/>
              <a:ext cx="40" cy="3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53995DA1-3505-4F39-90A6-E76898593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1344"/>
              <a:ext cx="3" cy="218"/>
            </a:xfrm>
            <a:custGeom>
              <a:avLst/>
              <a:gdLst>
                <a:gd name="T0" fmla="*/ 0 w 3"/>
                <a:gd name="T1" fmla="*/ 162 h 294"/>
                <a:gd name="T2" fmla="*/ 3 w 3"/>
                <a:gd name="T3" fmla="*/ 0 h 294"/>
                <a:gd name="T4" fmla="*/ 0 60000 65536"/>
                <a:gd name="T5" fmla="*/ 0 60000 65536"/>
                <a:gd name="T6" fmla="*/ 0 w 3"/>
                <a:gd name="T7" fmla="*/ 0 h 294"/>
                <a:gd name="T8" fmla="*/ 3 w 3"/>
                <a:gd name="T9" fmla="*/ 294 h 2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294">
                  <a:moveTo>
                    <a:pt x="0" y="294"/>
                  </a:moveTo>
                  <a:lnTo>
                    <a:pt x="3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D2B79D7A-F273-44B3-AA7B-F1ED2B41D7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" y="2234"/>
              <a:ext cx="0" cy="5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Oval 29">
              <a:extLst>
                <a:ext uri="{FF2B5EF4-FFF2-40B4-BE49-F238E27FC236}">
                  <a16:creationId xmlns:a16="http://schemas.microsoft.com/office/drawing/2014/main" id="{325C2B60-E5AC-4B9D-8494-FF1B41966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" y="2017"/>
              <a:ext cx="40" cy="3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87C71EE9-15F2-4A0E-9A00-199E4C1BE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1597"/>
              <a:ext cx="323" cy="177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Text Box 31">
              <a:extLst>
                <a:ext uri="{FF2B5EF4-FFF2-40B4-BE49-F238E27FC236}">
                  <a16:creationId xmlns:a16="http://schemas.microsoft.com/office/drawing/2014/main" id="{8261E29B-31FF-45DC-95D0-4077B98F3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9" y="1555"/>
              <a:ext cx="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4" name="Oval 32">
              <a:extLst>
                <a:ext uri="{FF2B5EF4-FFF2-40B4-BE49-F238E27FC236}">
                  <a16:creationId xmlns:a16="http://schemas.microsoft.com/office/drawing/2014/main" id="{2E54C1D4-D75A-4B25-AB9B-6EAEAD708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" y="1562"/>
              <a:ext cx="40" cy="3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8463E2C3-0822-4B3C-B4AD-5A8DA9280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1344"/>
              <a:ext cx="2" cy="218"/>
            </a:xfrm>
            <a:custGeom>
              <a:avLst/>
              <a:gdLst>
                <a:gd name="T0" fmla="*/ 0 w 3"/>
                <a:gd name="T1" fmla="*/ 162 h 294"/>
                <a:gd name="T2" fmla="*/ 1 w 3"/>
                <a:gd name="T3" fmla="*/ 0 h 294"/>
                <a:gd name="T4" fmla="*/ 0 60000 65536"/>
                <a:gd name="T5" fmla="*/ 0 60000 65536"/>
                <a:gd name="T6" fmla="*/ 0 w 3"/>
                <a:gd name="T7" fmla="*/ 0 h 294"/>
                <a:gd name="T8" fmla="*/ 3 w 3"/>
                <a:gd name="T9" fmla="*/ 294 h 2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294">
                  <a:moveTo>
                    <a:pt x="0" y="294"/>
                  </a:moveTo>
                  <a:lnTo>
                    <a:pt x="3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Oval 34">
              <a:extLst>
                <a:ext uri="{FF2B5EF4-FFF2-40B4-BE49-F238E27FC236}">
                  <a16:creationId xmlns:a16="http://schemas.microsoft.com/office/drawing/2014/main" id="{16693FF0-338C-4E17-B69C-D805786CF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2017"/>
              <a:ext cx="40" cy="3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Rectangle 35">
              <a:extLst>
                <a:ext uri="{FF2B5EF4-FFF2-40B4-BE49-F238E27FC236}">
                  <a16:creationId xmlns:a16="http://schemas.microsoft.com/office/drawing/2014/main" id="{460A09CD-553E-4CE5-A608-C277E7537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2" y="1597"/>
              <a:ext cx="323" cy="177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Text Box 36">
              <a:extLst>
                <a:ext uri="{FF2B5EF4-FFF2-40B4-BE49-F238E27FC236}">
                  <a16:creationId xmlns:a16="http://schemas.microsoft.com/office/drawing/2014/main" id="{3B137E4C-D554-4235-979A-3A66BADAF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2" y="1555"/>
              <a:ext cx="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9" name="Oval 37">
              <a:extLst>
                <a:ext uri="{FF2B5EF4-FFF2-40B4-BE49-F238E27FC236}">
                  <a16:creationId xmlns:a16="http://schemas.microsoft.com/office/drawing/2014/main" id="{DD7C98E7-9C55-4F10-BC9E-7D5BD7B17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562"/>
              <a:ext cx="40" cy="3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C86FCB63-6239-4308-B260-977D801DF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3" y="1344"/>
              <a:ext cx="2" cy="218"/>
            </a:xfrm>
            <a:custGeom>
              <a:avLst/>
              <a:gdLst>
                <a:gd name="T0" fmla="*/ 0 w 3"/>
                <a:gd name="T1" fmla="*/ 162 h 294"/>
                <a:gd name="T2" fmla="*/ 1 w 3"/>
                <a:gd name="T3" fmla="*/ 0 h 294"/>
                <a:gd name="T4" fmla="*/ 0 60000 65536"/>
                <a:gd name="T5" fmla="*/ 0 60000 65536"/>
                <a:gd name="T6" fmla="*/ 0 w 3"/>
                <a:gd name="T7" fmla="*/ 0 h 294"/>
                <a:gd name="T8" fmla="*/ 3 w 3"/>
                <a:gd name="T9" fmla="*/ 294 h 2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294">
                  <a:moveTo>
                    <a:pt x="0" y="294"/>
                  </a:moveTo>
                  <a:lnTo>
                    <a:pt x="3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Oval 39">
              <a:extLst>
                <a:ext uri="{FF2B5EF4-FFF2-40B4-BE49-F238E27FC236}">
                  <a16:creationId xmlns:a16="http://schemas.microsoft.com/office/drawing/2014/main" id="{524EDAC3-A29A-48DD-B5D6-8B7483FC8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" y="2017"/>
              <a:ext cx="40" cy="3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Rectangle 40">
              <a:extLst>
                <a:ext uri="{FF2B5EF4-FFF2-40B4-BE49-F238E27FC236}">
                  <a16:creationId xmlns:a16="http://schemas.microsoft.com/office/drawing/2014/main" id="{FD6BD6E9-D42C-4714-B1D1-F601B7428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" y="1597"/>
              <a:ext cx="322" cy="177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Text Box 41">
              <a:extLst>
                <a:ext uri="{FF2B5EF4-FFF2-40B4-BE49-F238E27FC236}">
                  <a16:creationId xmlns:a16="http://schemas.microsoft.com/office/drawing/2014/main" id="{FF775848-2165-460F-AC15-9FB6670DB2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1555"/>
              <a:ext cx="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en-US" altLang="zh-CN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4" name="Oval 42">
              <a:extLst>
                <a:ext uri="{FF2B5EF4-FFF2-40B4-BE49-F238E27FC236}">
                  <a16:creationId xmlns:a16="http://schemas.microsoft.com/office/drawing/2014/main" id="{187F4A9B-E038-4657-A0F3-EFE0A3B28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" y="1562"/>
              <a:ext cx="40" cy="3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22CA6896-1A7C-42A9-B545-5A1FC5332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9" y="1344"/>
              <a:ext cx="3" cy="218"/>
            </a:xfrm>
            <a:custGeom>
              <a:avLst/>
              <a:gdLst>
                <a:gd name="T0" fmla="*/ 0 w 3"/>
                <a:gd name="T1" fmla="*/ 162 h 294"/>
                <a:gd name="T2" fmla="*/ 3 w 3"/>
                <a:gd name="T3" fmla="*/ 0 h 294"/>
                <a:gd name="T4" fmla="*/ 0 60000 65536"/>
                <a:gd name="T5" fmla="*/ 0 60000 65536"/>
                <a:gd name="T6" fmla="*/ 0 w 3"/>
                <a:gd name="T7" fmla="*/ 0 h 294"/>
                <a:gd name="T8" fmla="*/ 3 w 3"/>
                <a:gd name="T9" fmla="*/ 294 h 2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294">
                  <a:moveTo>
                    <a:pt x="0" y="294"/>
                  </a:moveTo>
                  <a:lnTo>
                    <a:pt x="3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EF8314B2-1FDC-4C9F-BA97-DB2D77768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1920"/>
              <a:ext cx="2249" cy="480"/>
            </a:xfrm>
            <a:custGeom>
              <a:avLst/>
              <a:gdLst>
                <a:gd name="T0" fmla="*/ 0 w 2249"/>
                <a:gd name="T1" fmla="*/ 0 h 480"/>
                <a:gd name="T2" fmla="*/ 370 w 2249"/>
                <a:gd name="T3" fmla="*/ 0 h 480"/>
                <a:gd name="T4" fmla="*/ 370 w 2249"/>
                <a:gd name="T5" fmla="*/ 480 h 480"/>
                <a:gd name="T6" fmla="*/ 2249 w 2249"/>
                <a:gd name="T7" fmla="*/ 474 h 480"/>
                <a:gd name="T8" fmla="*/ 2249 w 2249"/>
                <a:gd name="T9" fmla="*/ 312 h 4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49"/>
                <a:gd name="T16" fmla="*/ 0 h 480"/>
                <a:gd name="T17" fmla="*/ 2249 w 2249"/>
                <a:gd name="T18" fmla="*/ 480 h 4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49" h="480">
                  <a:moveTo>
                    <a:pt x="0" y="0"/>
                  </a:moveTo>
                  <a:lnTo>
                    <a:pt x="370" y="0"/>
                  </a:lnTo>
                  <a:lnTo>
                    <a:pt x="370" y="480"/>
                  </a:lnTo>
                  <a:lnTo>
                    <a:pt x="2249" y="474"/>
                  </a:lnTo>
                  <a:lnTo>
                    <a:pt x="2249" y="312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D14E4F7E-F2DB-496F-99AC-BA53DFAE4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7" y="2229"/>
              <a:ext cx="1" cy="171"/>
            </a:xfrm>
            <a:custGeom>
              <a:avLst/>
              <a:gdLst>
                <a:gd name="T0" fmla="*/ 1 w 2"/>
                <a:gd name="T1" fmla="*/ 0 h 171"/>
                <a:gd name="T2" fmla="*/ 0 w 2"/>
                <a:gd name="T3" fmla="*/ 171 h 171"/>
                <a:gd name="T4" fmla="*/ 0 60000 65536"/>
                <a:gd name="T5" fmla="*/ 0 60000 65536"/>
                <a:gd name="T6" fmla="*/ 0 w 2"/>
                <a:gd name="T7" fmla="*/ 0 h 171"/>
                <a:gd name="T8" fmla="*/ 2 w 2"/>
                <a:gd name="T9" fmla="*/ 171 h 17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71">
                  <a:moveTo>
                    <a:pt x="2" y="0"/>
                  </a:moveTo>
                  <a:lnTo>
                    <a:pt x="0" y="171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Freeform 46">
              <a:extLst>
                <a:ext uri="{FF2B5EF4-FFF2-40B4-BE49-F238E27FC236}">
                  <a16:creationId xmlns:a16="http://schemas.microsoft.com/office/drawing/2014/main" id="{648C0A74-545B-4DD3-A4DF-025DE9DBF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1" y="2229"/>
              <a:ext cx="2" cy="171"/>
            </a:xfrm>
            <a:custGeom>
              <a:avLst/>
              <a:gdLst>
                <a:gd name="T0" fmla="*/ 2 w 2"/>
                <a:gd name="T1" fmla="*/ 0 h 171"/>
                <a:gd name="T2" fmla="*/ 0 w 2"/>
                <a:gd name="T3" fmla="*/ 171 h 171"/>
                <a:gd name="T4" fmla="*/ 0 60000 65536"/>
                <a:gd name="T5" fmla="*/ 0 60000 65536"/>
                <a:gd name="T6" fmla="*/ 0 w 2"/>
                <a:gd name="T7" fmla="*/ 0 h 171"/>
                <a:gd name="T8" fmla="*/ 2 w 2"/>
                <a:gd name="T9" fmla="*/ 171 h 17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71">
                  <a:moveTo>
                    <a:pt x="2" y="0"/>
                  </a:moveTo>
                  <a:lnTo>
                    <a:pt x="0" y="171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Freeform 47">
              <a:extLst>
                <a:ext uri="{FF2B5EF4-FFF2-40B4-BE49-F238E27FC236}">
                  <a16:creationId xmlns:a16="http://schemas.microsoft.com/office/drawing/2014/main" id="{276B1CE4-D494-41FD-AD47-EBAEBD88E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1920"/>
              <a:ext cx="1530" cy="624"/>
            </a:xfrm>
            <a:custGeom>
              <a:avLst/>
              <a:gdLst>
                <a:gd name="T0" fmla="*/ 0 w 1821"/>
                <a:gd name="T1" fmla="*/ 0 h 624"/>
                <a:gd name="T2" fmla="*/ 294 w 1821"/>
                <a:gd name="T3" fmla="*/ 0 h 624"/>
                <a:gd name="T4" fmla="*/ 294 w 1821"/>
                <a:gd name="T5" fmla="*/ 624 h 624"/>
                <a:gd name="T6" fmla="*/ 1286 w 1821"/>
                <a:gd name="T7" fmla="*/ 624 h 624"/>
                <a:gd name="T8" fmla="*/ 1286 w 1821"/>
                <a:gd name="T9" fmla="*/ 315 h 6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21"/>
                <a:gd name="T16" fmla="*/ 0 h 624"/>
                <a:gd name="T17" fmla="*/ 1821 w 1821"/>
                <a:gd name="T18" fmla="*/ 624 h 6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21" h="624">
                  <a:moveTo>
                    <a:pt x="0" y="0"/>
                  </a:moveTo>
                  <a:lnTo>
                    <a:pt x="417" y="0"/>
                  </a:lnTo>
                  <a:lnTo>
                    <a:pt x="417" y="624"/>
                  </a:lnTo>
                  <a:lnTo>
                    <a:pt x="1821" y="624"/>
                  </a:lnTo>
                  <a:lnTo>
                    <a:pt x="1821" y="315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Freeform 48">
              <a:extLst>
                <a:ext uri="{FF2B5EF4-FFF2-40B4-BE49-F238E27FC236}">
                  <a16:creationId xmlns:a16="http://schemas.microsoft.com/office/drawing/2014/main" id="{511B9AFB-4E4A-42A4-8613-ABA72B237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4" y="1920"/>
              <a:ext cx="799" cy="720"/>
            </a:xfrm>
            <a:custGeom>
              <a:avLst/>
              <a:gdLst>
                <a:gd name="T0" fmla="*/ 0 w 799"/>
                <a:gd name="T1" fmla="*/ 0 h 720"/>
                <a:gd name="T2" fmla="*/ 403 w 799"/>
                <a:gd name="T3" fmla="*/ 0 h 720"/>
                <a:gd name="T4" fmla="*/ 403 w 799"/>
                <a:gd name="T5" fmla="*/ 720 h 720"/>
                <a:gd name="T6" fmla="*/ 799 w 799"/>
                <a:gd name="T7" fmla="*/ 720 h 720"/>
                <a:gd name="T8" fmla="*/ 799 w 799"/>
                <a:gd name="T9" fmla="*/ 315 h 7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9"/>
                <a:gd name="T16" fmla="*/ 0 h 720"/>
                <a:gd name="T17" fmla="*/ 799 w 799"/>
                <a:gd name="T18" fmla="*/ 720 h 7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9" h="720">
                  <a:moveTo>
                    <a:pt x="0" y="0"/>
                  </a:moveTo>
                  <a:lnTo>
                    <a:pt x="403" y="0"/>
                  </a:lnTo>
                  <a:lnTo>
                    <a:pt x="403" y="720"/>
                  </a:lnTo>
                  <a:lnTo>
                    <a:pt x="799" y="720"/>
                  </a:lnTo>
                  <a:lnTo>
                    <a:pt x="799" y="315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Freeform 49">
              <a:extLst>
                <a:ext uri="{FF2B5EF4-FFF2-40B4-BE49-F238E27FC236}">
                  <a16:creationId xmlns:a16="http://schemas.microsoft.com/office/drawing/2014/main" id="{9C79F5A1-FEF5-4712-8565-539158215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2" y="2232"/>
              <a:ext cx="1" cy="312"/>
            </a:xfrm>
            <a:custGeom>
              <a:avLst/>
              <a:gdLst>
                <a:gd name="T0" fmla="*/ 1 w 2"/>
                <a:gd name="T1" fmla="*/ 0 h 312"/>
                <a:gd name="T2" fmla="*/ 0 w 2"/>
                <a:gd name="T3" fmla="*/ 312 h 312"/>
                <a:gd name="T4" fmla="*/ 0 60000 65536"/>
                <a:gd name="T5" fmla="*/ 0 60000 65536"/>
                <a:gd name="T6" fmla="*/ 0 w 2"/>
                <a:gd name="T7" fmla="*/ 0 h 312"/>
                <a:gd name="T8" fmla="*/ 2 w 2"/>
                <a:gd name="T9" fmla="*/ 312 h 3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312">
                  <a:moveTo>
                    <a:pt x="2" y="0"/>
                  </a:moveTo>
                  <a:lnTo>
                    <a:pt x="0" y="312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Freeform 50">
              <a:extLst>
                <a:ext uri="{FF2B5EF4-FFF2-40B4-BE49-F238E27FC236}">
                  <a16:creationId xmlns:a16="http://schemas.microsoft.com/office/drawing/2014/main" id="{13750858-A79C-4636-A259-E2ADFD192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2238"/>
              <a:ext cx="3" cy="562"/>
            </a:xfrm>
            <a:custGeom>
              <a:avLst/>
              <a:gdLst>
                <a:gd name="T0" fmla="*/ 0 w 3"/>
                <a:gd name="T1" fmla="*/ 0 h 562"/>
                <a:gd name="T2" fmla="*/ 3 w 3"/>
                <a:gd name="T3" fmla="*/ 562 h 562"/>
                <a:gd name="T4" fmla="*/ 0 60000 65536"/>
                <a:gd name="T5" fmla="*/ 0 60000 65536"/>
                <a:gd name="T6" fmla="*/ 0 w 3"/>
                <a:gd name="T7" fmla="*/ 0 h 562"/>
                <a:gd name="T8" fmla="*/ 3 w 3"/>
                <a:gd name="T9" fmla="*/ 562 h 56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562">
                  <a:moveTo>
                    <a:pt x="0" y="0"/>
                  </a:moveTo>
                  <a:lnTo>
                    <a:pt x="3" y="562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Line 51">
              <a:extLst>
                <a:ext uri="{FF2B5EF4-FFF2-40B4-BE49-F238E27FC236}">
                  <a16:creationId xmlns:a16="http://schemas.microsoft.com/office/drawing/2014/main" id="{19165A11-20EA-4004-96CD-F6D3267D56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4" y="2242"/>
              <a:ext cx="0" cy="5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Line 52">
              <a:extLst>
                <a:ext uri="{FF2B5EF4-FFF2-40B4-BE49-F238E27FC236}">
                  <a16:creationId xmlns:a16="http://schemas.microsoft.com/office/drawing/2014/main" id="{A5D09582-33AA-4B52-A533-B1AF49FC89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9" y="2242"/>
              <a:ext cx="0" cy="5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Text Box 53">
              <a:extLst>
                <a:ext uri="{FF2B5EF4-FFF2-40B4-BE49-F238E27FC236}">
                  <a16:creationId xmlns:a16="http://schemas.microsoft.com/office/drawing/2014/main" id="{AB9705D9-177C-4EC8-82C1-C43313971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9" y="1128"/>
              <a:ext cx="5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INTP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6" name="Text Box 54">
              <a:extLst>
                <a:ext uri="{FF2B5EF4-FFF2-40B4-BE49-F238E27FC236}">
                  <a16:creationId xmlns:a16="http://schemas.microsoft.com/office/drawing/2014/main" id="{A2B58EBC-1DF7-4126-9461-55452790F1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6" y="1119"/>
              <a:ext cx="5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INTP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7" name="Text Box 55">
              <a:extLst>
                <a:ext uri="{FF2B5EF4-FFF2-40B4-BE49-F238E27FC236}">
                  <a16:creationId xmlns:a16="http://schemas.microsoft.com/office/drawing/2014/main" id="{2C738A10-E770-4419-BA47-511071FCE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2" y="1119"/>
              <a:ext cx="5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INTP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58" name="Text Box 56">
              <a:extLst>
                <a:ext uri="{FF2B5EF4-FFF2-40B4-BE49-F238E27FC236}">
                  <a16:creationId xmlns:a16="http://schemas.microsoft.com/office/drawing/2014/main" id="{45D79410-E01B-4F9B-B3AF-C56DF5B6C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9" y="1119"/>
              <a:ext cx="5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INTP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59" name="Text Box 57">
              <a:extLst>
                <a:ext uri="{FF2B5EF4-FFF2-40B4-BE49-F238E27FC236}">
                  <a16:creationId xmlns:a16="http://schemas.microsoft.com/office/drawing/2014/main" id="{B1FD4334-7BF9-44DB-BAC5-42E0E000F3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0" y="2736"/>
              <a:ext cx="5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INTR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0" name="Text Box 58">
              <a:extLst>
                <a:ext uri="{FF2B5EF4-FFF2-40B4-BE49-F238E27FC236}">
                  <a16:creationId xmlns:a16="http://schemas.microsoft.com/office/drawing/2014/main" id="{8AA5FC71-A442-4F42-9693-A16BF35D0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6" y="2736"/>
              <a:ext cx="5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INTR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61" name="Text Box 59">
              <a:extLst>
                <a:ext uri="{FF2B5EF4-FFF2-40B4-BE49-F238E27FC236}">
                  <a16:creationId xmlns:a16="http://schemas.microsoft.com/office/drawing/2014/main" id="{617FEC31-0C5E-4AA7-A8D5-84A08A39C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0" y="2736"/>
              <a:ext cx="5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INTR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62" name="Text Box 60">
              <a:extLst>
                <a:ext uri="{FF2B5EF4-FFF2-40B4-BE49-F238E27FC236}">
                  <a16:creationId xmlns:a16="http://schemas.microsoft.com/office/drawing/2014/main" id="{45A28F7B-9657-4D48-86EA-A93798AE73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6" y="2736"/>
              <a:ext cx="5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INTR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63" name="Group 61">
            <a:extLst>
              <a:ext uri="{FF2B5EF4-FFF2-40B4-BE49-F238E27FC236}">
                <a16:creationId xmlns:a16="http://schemas.microsoft.com/office/drawing/2014/main" id="{DF14C127-73F6-48D4-8A06-4460D3AD1BC9}"/>
              </a:ext>
            </a:extLst>
          </p:cNvPr>
          <p:cNvGrpSpPr>
            <a:grpSpLocks/>
          </p:cNvGrpSpPr>
          <p:nvPr/>
        </p:nvGrpSpPr>
        <p:grpSpPr bwMode="auto">
          <a:xfrm>
            <a:off x="3825999" y="3884974"/>
            <a:ext cx="4953000" cy="1787525"/>
            <a:chOff x="2592" y="2234"/>
            <a:chExt cx="3120" cy="1126"/>
          </a:xfrm>
        </p:grpSpPr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CF76A6C7-B6AB-4711-8872-7B771854B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8" y="2234"/>
              <a:ext cx="0" cy="86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6FD32233-166E-46D3-AFB5-1F38530C0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5" y="2234"/>
              <a:ext cx="0" cy="861"/>
            </a:xfrm>
            <a:custGeom>
              <a:avLst/>
              <a:gdLst>
                <a:gd name="T0" fmla="*/ 0 w 1"/>
                <a:gd name="T1" fmla="*/ 0 h 499"/>
                <a:gd name="T2" fmla="*/ 0 w 1"/>
                <a:gd name="T3" fmla="*/ 1486 h 499"/>
                <a:gd name="T4" fmla="*/ 0 60000 65536"/>
                <a:gd name="T5" fmla="*/ 0 60000 65536"/>
                <a:gd name="T6" fmla="*/ 0 w 1"/>
                <a:gd name="T7" fmla="*/ 0 h 499"/>
                <a:gd name="T8" fmla="*/ 0 w 1"/>
                <a:gd name="T9" fmla="*/ 499 h 49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99">
                  <a:moveTo>
                    <a:pt x="0" y="0"/>
                  </a:moveTo>
                  <a:lnTo>
                    <a:pt x="0" y="499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A5C18832-974E-401E-BB14-4F1901BB1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9" y="2234"/>
              <a:ext cx="2" cy="861"/>
            </a:xfrm>
            <a:custGeom>
              <a:avLst/>
              <a:gdLst>
                <a:gd name="T0" fmla="*/ 1 w 3"/>
                <a:gd name="T1" fmla="*/ 0 h 499"/>
                <a:gd name="T2" fmla="*/ 0 w 3"/>
                <a:gd name="T3" fmla="*/ 1486 h 499"/>
                <a:gd name="T4" fmla="*/ 0 60000 65536"/>
                <a:gd name="T5" fmla="*/ 0 60000 65536"/>
                <a:gd name="T6" fmla="*/ 0 w 3"/>
                <a:gd name="T7" fmla="*/ 0 h 499"/>
                <a:gd name="T8" fmla="*/ 3 w 3"/>
                <a:gd name="T9" fmla="*/ 499 h 49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499">
                  <a:moveTo>
                    <a:pt x="3" y="0"/>
                  </a:moveTo>
                  <a:lnTo>
                    <a:pt x="0" y="499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" name="Line 65">
              <a:extLst>
                <a:ext uri="{FF2B5EF4-FFF2-40B4-BE49-F238E27FC236}">
                  <a16:creationId xmlns:a16="http://schemas.microsoft.com/office/drawing/2014/main" id="{C414A834-DB97-47E2-A0F5-E48A3CAB7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2" y="2242"/>
              <a:ext cx="0" cy="86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Text Box 66">
              <a:extLst>
                <a:ext uri="{FF2B5EF4-FFF2-40B4-BE49-F238E27FC236}">
                  <a16:creationId xmlns:a16="http://schemas.microsoft.com/office/drawing/2014/main" id="{6F220906-178A-4310-9AAA-A702502452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129"/>
              <a:ext cx="5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MASK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9" name="Line 67">
              <a:extLst>
                <a:ext uri="{FF2B5EF4-FFF2-40B4-BE49-F238E27FC236}">
                  <a16:creationId xmlns:a16="http://schemas.microsoft.com/office/drawing/2014/main" id="{2F3437B2-DD63-42F5-A47E-BE0C6286F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9" y="3153"/>
              <a:ext cx="45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Text Box 68">
              <a:extLst>
                <a:ext uri="{FF2B5EF4-FFF2-40B4-BE49-F238E27FC236}">
                  <a16:creationId xmlns:a16="http://schemas.microsoft.com/office/drawing/2014/main" id="{31730830-BD4D-4356-A447-AA1117510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3" y="3120"/>
              <a:ext cx="5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MASK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73990EB9-6D26-4A82-8E0F-1C8B9377C5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9" y="3144"/>
              <a:ext cx="45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Text Box 70">
              <a:extLst>
                <a:ext uri="{FF2B5EF4-FFF2-40B4-BE49-F238E27FC236}">
                  <a16:creationId xmlns:a16="http://schemas.microsoft.com/office/drawing/2014/main" id="{F5192E5A-5CC2-4DBC-AC86-B670E98F95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5" y="3120"/>
              <a:ext cx="5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MASK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3" name="Line 71">
              <a:extLst>
                <a:ext uri="{FF2B5EF4-FFF2-40B4-BE49-F238E27FC236}">
                  <a16:creationId xmlns:a16="http://schemas.microsoft.com/office/drawing/2014/main" id="{D552D53B-B778-48A8-8688-02EFDE9D1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144"/>
              <a:ext cx="45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Text Box 72">
              <a:extLst>
                <a:ext uri="{FF2B5EF4-FFF2-40B4-BE49-F238E27FC236}">
                  <a16:creationId xmlns:a16="http://schemas.microsoft.com/office/drawing/2014/main" id="{BDE4522E-CFA1-4FDD-AA48-FD8188351A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6" y="3120"/>
              <a:ext cx="5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MASK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75" name="Line 73">
              <a:extLst>
                <a:ext uri="{FF2B5EF4-FFF2-40B4-BE49-F238E27FC236}">
                  <a16:creationId xmlns:a16="http://schemas.microsoft.com/office/drawing/2014/main" id="{3C742215-FAEE-474E-B3F2-85D9423B6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" y="3144"/>
              <a:ext cx="45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6" name="Group 74">
            <a:extLst>
              <a:ext uri="{FF2B5EF4-FFF2-40B4-BE49-F238E27FC236}">
                <a16:creationId xmlns:a16="http://schemas.microsoft.com/office/drawing/2014/main" id="{D9A3977F-7D64-40D9-8B0C-E15A9C28E05F}"/>
              </a:ext>
            </a:extLst>
          </p:cNvPr>
          <p:cNvGrpSpPr>
            <a:grpSpLocks/>
          </p:cNvGrpSpPr>
          <p:nvPr/>
        </p:nvGrpSpPr>
        <p:grpSpPr bwMode="auto">
          <a:xfrm>
            <a:off x="744662" y="4910499"/>
            <a:ext cx="1008062" cy="565150"/>
            <a:chOff x="1488" y="3504"/>
            <a:chExt cx="635" cy="356"/>
          </a:xfrm>
        </p:grpSpPr>
        <p:sp>
          <p:nvSpPr>
            <p:cNvPr id="77" name="Rectangle 75">
              <a:extLst>
                <a:ext uri="{FF2B5EF4-FFF2-40B4-BE49-F238E27FC236}">
                  <a16:creationId xmlns:a16="http://schemas.microsoft.com/office/drawing/2014/main" id="{DA46DD52-203B-4344-88DD-2DF087E52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520"/>
              <a:ext cx="635" cy="34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" name="Text Box 76">
              <a:extLst>
                <a:ext uri="{FF2B5EF4-FFF2-40B4-BE49-F238E27FC236}">
                  <a16:creationId xmlns:a16="http://schemas.microsoft.com/office/drawing/2014/main" id="{A16B74BC-5421-4C8B-86BF-B9381F9470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8" y="3620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79" name="Text Box 77">
              <a:extLst>
                <a:ext uri="{FF2B5EF4-FFF2-40B4-BE49-F238E27FC236}">
                  <a16:creationId xmlns:a16="http://schemas.microsoft.com/office/drawing/2014/main" id="{424F11CF-4F23-40AE-BC28-A475A1E1E9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" y="3504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</a:p>
          </p:txBody>
        </p:sp>
      </p:grpSp>
      <p:sp>
        <p:nvSpPr>
          <p:cNvPr id="80" name="Freeform 78">
            <a:extLst>
              <a:ext uri="{FF2B5EF4-FFF2-40B4-BE49-F238E27FC236}">
                <a16:creationId xmlns:a16="http://schemas.microsoft.com/office/drawing/2014/main" id="{DD75A33C-7BCB-482B-9935-5706E96E494F}"/>
              </a:ext>
            </a:extLst>
          </p:cNvPr>
          <p:cNvSpPr>
            <a:spLocks/>
          </p:cNvSpPr>
          <p:nvPr/>
        </p:nvSpPr>
        <p:spPr bwMode="auto">
          <a:xfrm>
            <a:off x="971674" y="4529499"/>
            <a:ext cx="1588" cy="409575"/>
          </a:xfrm>
          <a:custGeom>
            <a:avLst/>
            <a:gdLst>
              <a:gd name="T0" fmla="*/ 0 w 1"/>
              <a:gd name="T1" fmla="*/ 0 h 258"/>
              <a:gd name="T2" fmla="*/ 2521744 w 1"/>
              <a:gd name="T3" fmla="*/ 650200203 h 258"/>
              <a:gd name="T4" fmla="*/ 0 60000 65536"/>
              <a:gd name="T5" fmla="*/ 0 60000 65536"/>
              <a:gd name="T6" fmla="*/ 0 w 1"/>
              <a:gd name="T7" fmla="*/ 0 h 258"/>
              <a:gd name="T8" fmla="*/ 1 w 1"/>
              <a:gd name="T9" fmla="*/ 258 h 2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58">
                <a:moveTo>
                  <a:pt x="0" y="0"/>
                </a:moveTo>
                <a:lnTo>
                  <a:pt x="1" y="25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1" name="Group 79">
            <a:extLst>
              <a:ext uri="{FF2B5EF4-FFF2-40B4-BE49-F238E27FC236}">
                <a16:creationId xmlns:a16="http://schemas.microsoft.com/office/drawing/2014/main" id="{09396A0D-E0BC-4716-9F62-1DA1BCF11902}"/>
              </a:ext>
            </a:extLst>
          </p:cNvPr>
          <p:cNvGrpSpPr>
            <a:grpSpLocks/>
          </p:cNvGrpSpPr>
          <p:nvPr/>
        </p:nvGrpSpPr>
        <p:grpSpPr bwMode="auto">
          <a:xfrm>
            <a:off x="744662" y="3538899"/>
            <a:ext cx="685800" cy="396875"/>
            <a:chOff x="651" y="2016"/>
            <a:chExt cx="432" cy="250"/>
          </a:xfrm>
        </p:grpSpPr>
        <p:sp>
          <p:nvSpPr>
            <p:cNvPr id="82" name="Text Box 80">
              <a:extLst>
                <a:ext uri="{FF2B5EF4-FFF2-40B4-BE49-F238E27FC236}">
                  <a16:creationId xmlns:a16="http://schemas.microsoft.com/office/drawing/2014/main" id="{1D748C8E-195C-4176-8928-B4CD840A9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" y="2035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1</a:t>
              </a:r>
            </a:p>
          </p:txBody>
        </p:sp>
        <p:sp>
          <p:nvSpPr>
            <p:cNvPr id="83" name="Rectangle 81">
              <a:extLst>
                <a:ext uri="{FF2B5EF4-FFF2-40B4-BE49-F238E27FC236}">
                  <a16:creationId xmlns:a16="http://schemas.microsoft.com/office/drawing/2014/main" id="{3338FFCA-6ED4-431E-A761-4554784DB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" y="2068"/>
              <a:ext cx="432" cy="17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" name="Oval 82">
              <a:extLst>
                <a:ext uri="{FF2B5EF4-FFF2-40B4-BE49-F238E27FC236}">
                  <a16:creationId xmlns:a16="http://schemas.microsoft.com/office/drawing/2014/main" id="{F05CD211-98DD-4C8A-B084-10803C9C3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" y="2016"/>
              <a:ext cx="48" cy="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5" name="Freeform 83">
            <a:extLst>
              <a:ext uri="{FF2B5EF4-FFF2-40B4-BE49-F238E27FC236}">
                <a16:creationId xmlns:a16="http://schemas.microsoft.com/office/drawing/2014/main" id="{593F6E74-4B3E-443E-A92A-680B2ADE9DBD}"/>
              </a:ext>
            </a:extLst>
          </p:cNvPr>
          <p:cNvSpPr>
            <a:spLocks/>
          </p:cNvSpPr>
          <p:nvPr/>
        </p:nvSpPr>
        <p:spPr bwMode="auto">
          <a:xfrm>
            <a:off x="1089149" y="3229337"/>
            <a:ext cx="1588" cy="333375"/>
          </a:xfrm>
          <a:custGeom>
            <a:avLst/>
            <a:gdLst>
              <a:gd name="T0" fmla="*/ 0 w 1"/>
              <a:gd name="T1" fmla="*/ 0 h 210"/>
              <a:gd name="T2" fmla="*/ 0 w 1"/>
              <a:gd name="T3" fmla="*/ 529232857 h 210"/>
              <a:gd name="T4" fmla="*/ 0 60000 65536"/>
              <a:gd name="T5" fmla="*/ 0 60000 65536"/>
              <a:gd name="T6" fmla="*/ 0 w 1"/>
              <a:gd name="T7" fmla="*/ 0 h 210"/>
              <a:gd name="T8" fmla="*/ 1 w 1"/>
              <a:gd name="T9" fmla="*/ 210 h 2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10">
                <a:moveTo>
                  <a:pt x="0" y="0"/>
                </a:moveTo>
                <a:lnTo>
                  <a:pt x="0" y="21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" name="Freeform 84">
            <a:extLst>
              <a:ext uri="{FF2B5EF4-FFF2-40B4-BE49-F238E27FC236}">
                <a16:creationId xmlns:a16="http://schemas.microsoft.com/office/drawing/2014/main" id="{D5E33812-08EE-4AD1-A100-644E8B9160C1}"/>
              </a:ext>
            </a:extLst>
          </p:cNvPr>
          <p:cNvSpPr>
            <a:spLocks/>
          </p:cNvSpPr>
          <p:nvPr/>
        </p:nvSpPr>
        <p:spPr bwMode="auto">
          <a:xfrm>
            <a:off x="1089149" y="3900849"/>
            <a:ext cx="1588" cy="266700"/>
          </a:xfrm>
          <a:custGeom>
            <a:avLst/>
            <a:gdLst>
              <a:gd name="T0" fmla="*/ 0 w 1"/>
              <a:gd name="T1" fmla="*/ 0 h 168"/>
              <a:gd name="T2" fmla="*/ 0 w 1"/>
              <a:gd name="T3" fmla="*/ 423386295 h 168"/>
              <a:gd name="T4" fmla="*/ 0 60000 65536"/>
              <a:gd name="T5" fmla="*/ 0 60000 65536"/>
              <a:gd name="T6" fmla="*/ 0 w 1"/>
              <a:gd name="T7" fmla="*/ 0 h 168"/>
              <a:gd name="T8" fmla="*/ 1 w 1"/>
              <a:gd name="T9" fmla="*/ 168 h 16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68">
                <a:moveTo>
                  <a:pt x="0" y="0"/>
                </a:moveTo>
                <a:lnTo>
                  <a:pt x="0" y="16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" name="Freeform 85">
            <a:extLst>
              <a:ext uri="{FF2B5EF4-FFF2-40B4-BE49-F238E27FC236}">
                <a16:creationId xmlns:a16="http://schemas.microsoft.com/office/drawing/2014/main" id="{B172308E-B659-4F62-BB48-FEA36D7AC2FB}"/>
              </a:ext>
            </a:extLst>
          </p:cNvPr>
          <p:cNvSpPr>
            <a:spLocks/>
          </p:cNvSpPr>
          <p:nvPr/>
        </p:nvSpPr>
        <p:spPr bwMode="auto">
          <a:xfrm>
            <a:off x="1208212" y="2319699"/>
            <a:ext cx="1749425" cy="2438400"/>
          </a:xfrm>
          <a:custGeom>
            <a:avLst/>
            <a:gdLst>
              <a:gd name="T0" fmla="*/ 0 w 1102"/>
              <a:gd name="T1" fmla="*/ 2147483647 h 1536"/>
              <a:gd name="T2" fmla="*/ 2520950 w 1102"/>
              <a:gd name="T3" fmla="*/ 2147483647 h 1536"/>
              <a:gd name="T4" fmla="*/ 1217234533 w 1102"/>
              <a:gd name="T5" fmla="*/ 2147483647 h 1536"/>
              <a:gd name="T6" fmla="*/ 1214715171 w 1102"/>
              <a:gd name="T7" fmla="*/ 0 h 1536"/>
              <a:gd name="T8" fmla="*/ 2147483647 w 1102"/>
              <a:gd name="T9" fmla="*/ 0 h 1536"/>
              <a:gd name="T10" fmla="*/ 2147483647 w 1102"/>
              <a:gd name="T11" fmla="*/ 476310372 h 153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02"/>
              <a:gd name="T19" fmla="*/ 0 h 1536"/>
              <a:gd name="T20" fmla="*/ 1102 w 1102"/>
              <a:gd name="T21" fmla="*/ 1536 h 1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02" h="1536">
                <a:moveTo>
                  <a:pt x="0" y="1392"/>
                </a:moveTo>
                <a:lnTo>
                  <a:pt x="1" y="1536"/>
                </a:lnTo>
                <a:lnTo>
                  <a:pt x="483" y="1536"/>
                </a:lnTo>
                <a:lnTo>
                  <a:pt x="482" y="0"/>
                </a:lnTo>
                <a:lnTo>
                  <a:pt x="1102" y="0"/>
                </a:lnTo>
                <a:lnTo>
                  <a:pt x="1101" y="189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8" name="Group 86">
            <a:extLst>
              <a:ext uri="{FF2B5EF4-FFF2-40B4-BE49-F238E27FC236}">
                <a16:creationId xmlns:a16="http://schemas.microsoft.com/office/drawing/2014/main" id="{13597326-3EDD-4F30-9831-AAF3C04528D1}"/>
              </a:ext>
            </a:extLst>
          </p:cNvPr>
          <p:cNvGrpSpPr>
            <a:grpSpLocks/>
          </p:cNvGrpSpPr>
          <p:nvPr/>
        </p:nvGrpSpPr>
        <p:grpSpPr bwMode="auto">
          <a:xfrm>
            <a:off x="744662" y="2667362"/>
            <a:ext cx="1008062" cy="598487"/>
            <a:chOff x="651" y="1467"/>
            <a:chExt cx="635" cy="377"/>
          </a:xfrm>
        </p:grpSpPr>
        <p:sp>
          <p:nvSpPr>
            <p:cNvPr id="89" name="Text Box 87">
              <a:extLst>
                <a:ext uri="{FF2B5EF4-FFF2-40B4-BE49-F238E27FC236}">
                  <a16:creationId xmlns:a16="http://schemas.microsoft.com/office/drawing/2014/main" id="{67CC62AC-F5AF-4EB3-A1A6-693C99F676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" y="1632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D</a:t>
              </a:r>
            </a:p>
          </p:txBody>
        </p:sp>
        <p:grpSp>
          <p:nvGrpSpPr>
            <p:cNvPr id="90" name="Group 88">
              <a:extLst>
                <a:ext uri="{FF2B5EF4-FFF2-40B4-BE49-F238E27FC236}">
                  <a16:creationId xmlns:a16="http://schemas.microsoft.com/office/drawing/2014/main" id="{2B18B1D7-7DB6-41AF-A935-A19752E0B6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1467"/>
              <a:ext cx="635" cy="352"/>
              <a:chOff x="651" y="1467"/>
              <a:chExt cx="635" cy="352"/>
            </a:xfrm>
          </p:grpSpPr>
          <p:grpSp>
            <p:nvGrpSpPr>
              <p:cNvPr id="91" name="Group 89">
                <a:extLst>
                  <a:ext uri="{FF2B5EF4-FFF2-40B4-BE49-F238E27FC236}">
                    <a16:creationId xmlns:a16="http://schemas.microsoft.com/office/drawing/2014/main" id="{288527EF-DD53-4930-A73E-8274B18FEB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1" y="1467"/>
                <a:ext cx="635" cy="352"/>
                <a:chOff x="651" y="1467"/>
                <a:chExt cx="635" cy="352"/>
              </a:xfrm>
            </p:grpSpPr>
            <p:sp>
              <p:nvSpPr>
                <p:cNvPr id="93" name="Text Box 90">
                  <a:extLst>
                    <a:ext uri="{FF2B5EF4-FFF2-40B4-BE49-F238E27FC236}">
                      <a16:creationId xmlns:a16="http://schemas.microsoft.com/office/drawing/2014/main" id="{57AF792C-0F3D-4ED9-968B-95832C8D56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51" y="1467"/>
                  <a:ext cx="47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INTR</a:t>
                  </a:r>
                </a:p>
              </p:txBody>
            </p:sp>
            <p:sp>
              <p:nvSpPr>
                <p:cNvPr id="94" name="Rectangle 91">
                  <a:extLst>
                    <a:ext uri="{FF2B5EF4-FFF2-40B4-BE49-F238E27FC236}">
                      <a16:creationId xmlns:a16="http://schemas.microsoft.com/office/drawing/2014/main" id="{AB17311B-2CD5-4DC4-A6AF-BDF3BEA326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1" y="1479"/>
                  <a:ext cx="635" cy="340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92" name="AutoShape 92">
                <a:extLst>
                  <a:ext uri="{FF2B5EF4-FFF2-40B4-BE49-F238E27FC236}">
                    <a16:creationId xmlns:a16="http://schemas.microsoft.com/office/drawing/2014/main" id="{C1A40A23-FD99-4982-9063-04EF8EB3D7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3" y="1707"/>
                <a:ext cx="120" cy="112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95" name="Group 93">
            <a:extLst>
              <a:ext uri="{FF2B5EF4-FFF2-40B4-BE49-F238E27FC236}">
                <a16:creationId xmlns:a16="http://schemas.microsoft.com/office/drawing/2014/main" id="{46B5DAE7-E88E-4F4A-B864-AEAD3C4C438D}"/>
              </a:ext>
            </a:extLst>
          </p:cNvPr>
          <p:cNvGrpSpPr>
            <a:grpSpLocks/>
          </p:cNvGrpSpPr>
          <p:nvPr/>
        </p:nvGrpSpPr>
        <p:grpSpPr bwMode="auto">
          <a:xfrm>
            <a:off x="2116262" y="2611799"/>
            <a:ext cx="1023937" cy="619125"/>
            <a:chOff x="1382" y="1344"/>
            <a:chExt cx="645" cy="390"/>
          </a:xfrm>
        </p:grpSpPr>
        <p:sp>
          <p:nvSpPr>
            <p:cNvPr id="96" name="Text Box 94">
              <a:extLst>
                <a:ext uri="{FF2B5EF4-FFF2-40B4-BE49-F238E27FC236}">
                  <a16:creationId xmlns:a16="http://schemas.microsoft.com/office/drawing/2014/main" id="{91D907FD-E39D-42CD-B8CC-E2D506C05D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" y="1503"/>
              <a:ext cx="5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MASK</a:t>
              </a:r>
            </a:p>
          </p:txBody>
        </p:sp>
        <p:sp>
          <p:nvSpPr>
            <p:cNvPr id="97" name="Rectangle 95">
              <a:extLst>
                <a:ext uri="{FF2B5EF4-FFF2-40B4-BE49-F238E27FC236}">
                  <a16:creationId xmlns:a16="http://schemas.microsoft.com/office/drawing/2014/main" id="{4067B774-E838-4C51-BF79-8BB0043DD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2" y="1392"/>
              <a:ext cx="635" cy="34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" name="Oval 96">
              <a:extLst>
                <a:ext uri="{FF2B5EF4-FFF2-40B4-BE49-F238E27FC236}">
                  <a16:creationId xmlns:a16="http://schemas.microsoft.com/office/drawing/2014/main" id="{DCB9CDC9-89D1-4967-8226-D42F241DD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4" y="1344"/>
              <a:ext cx="48" cy="4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9" name="Group 97">
              <a:extLst>
                <a:ext uri="{FF2B5EF4-FFF2-40B4-BE49-F238E27FC236}">
                  <a16:creationId xmlns:a16="http://schemas.microsoft.com/office/drawing/2014/main" id="{AC2B2B75-3FD8-4962-9075-73FCE7121F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1" y="1392"/>
              <a:ext cx="216" cy="212"/>
              <a:chOff x="3096" y="1660"/>
              <a:chExt cx="216" cy="212"/>
            </a:xfrm>
          </p:grpSpPr>
          <p:grpSp>
            <p:nvGrpSpPr>
              <p:cNvPr id="100" name="Group 98">
                <a:extLst>
                  <a:ext uri="{FF2B5EF4-FFF2-40B4-BE49-F238E27FC236}">
                    <a16:creationId xmlns:a16="http://schemas.microsoft.com/office/drawing/2014/main" id="{EE7BDA35-7BD9-464C-8A07-1A40F0C7BB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6" y="1660"/>
                <a:ext cx="216" cy="212"/>
                <a:chOff x="3120" y="2044"/>
                <a:chExt cx="216" cy="212"/>
              </a:xfrm>
            </p:grpSpPr>
            <p:sp>
              <p:nvSpPr>
                <p:cNvPr id="102" name="Text Box 99">
                  <a:extLst>
                    <a:ext uri="{FF2B5EF4-FFF2-40B4-BE49-F238E27FC236}">
                      <a16:creationId xmlns:a16="http://schemas.microsoft.com/office/drawing/2014/main" id="{4F62E873-D8F1-4C51-B815-B84F4046C4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0" y="2044"/>
                  <a:ext cx="21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Q</a:t>
                  </a:r>
                </a:p>
              </p:txBody>
            </p:sp>
            <p:sp>
              <p:nvSpPr>
                <p:cNvPr id="103" name="Line 100">
                  <a:extLst>
                    <a:ext uri="{FF2B5EF4-FFF2-40B4-BE49-F238E27FC236}">
                      <a16:creationId xmlns:a16="http://schemas.microsoft.com/office/drawing/2014/main" id="{8C315C85-FE95-476F-B6B1-7888D87BD7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8" y="2064"/>
                  <a:ext cx="144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101" name="Line 101">
                <a:extLst>
                  <a:ext uri="{FF2B5EF4-FFF2-40B4-BE49-F238E27FC236}">
                    <a16:creationId xmlns:a16="http://schemas.microsoft.com/office/drawing/2014/main" id="{16D8E23B-C73B-49A5-81D4-25DD5380ED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4" y="1700"/>
                <a:ext cx="9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104" name="Group 102">
            <a:extLst>
              <a:ext uri="{FF2B5EF4-FFF2-40B4-BE49-F238E27FC236}">
                <a16:creationId xmlns:a16="http://schemas.microsoft.com/office/drawing/2014/main" id="{5130063B-26AE-4971-B33A-050121005066}"/>
              </a:ext>
            </a:extLst>
          </p:cNvPr>
          <p:cNvGrpSpPr>
            <a:grpSpLocks/>
          </p:cNvGrpSpPr>
          <p:nvPr/>
        </p:nvGrpSpPr>
        <p:grpSpPr bwMode="auto">
          <a:xfrm>
            <a:off x="74737" y="2988037"/>
            <a:ext cx="1466850" cy="777875"/>
            <a:chOff x="229" y="1669"/>
            <a:chExt cx="924" cy="490"/>
          </a:xfrm>
        </p:grpSpPr>
        <p:sp>
          <p:nvSpPr>
            <p:cNvPr id="105" name="Freeform 103">
              <a:extLst>
                <a:ext uri="{FF2B5EF4-FFF2-40B4-BE49-F238E27FC236}">
                  <a16:creationId xmlns:a16="http://schemas.microsoft.com/office/drawing/2014/main" id="{DA984CBA-5DB1-4D17-A79A-BCC8E31BE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" y="1818"/>
              <a:ext cx="828" cy="105"/>
            </a:xfrm>
            <a:custGeom>
              <a:avLst/>
              <a:gdLst>
                <a:gd name="T0" fmla="*/ 0 w 828"/>
                <a:gd name="T1" fmla="*/ 102 h 105"/>
                <a:gd name="T2" fmla="*/ 825 w 828"/>
                <a:gd name="T3" fmla="*/ 105 h 105"/>
                <a:gd name="T4" fmla="*/ 828 w 828"/>
                <a:gd name="T5" fmla="*/ 0 h 105"/>
                <a:gd name="T6" fmla="*/ 0 60000 65536"/>
                <a:gd name="T7" fmla="*/ 0 60000 65536"/>
                <a:gd name="T8" fmla="*/ 0 60000 65536"/>
                <a:gd name="T9" fmla="*/ 0 w 828"/>
                <a:gd name="T10" fmla="*/ 0 h 105"/>
                <a:gd name="T11" fmla="*/ 828 w 828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28" h="105">
                  <a:moveTo>
                    <a:pt x="0" y="102"/>
                  </a:moveTo>
                  <a:lnTo>
                    <a:pt x="825" y="105"/>
                  </a:lnTo>
                  <a:lnTo>
                    <a:pt x="828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" name="Text Box 104">
              <a:extLst>
                <a:ext uri="{FF2B5EF4-FFF2-40B4-BE49-F238E27FC236}">
                  <a16:creationId xmlns:a16="http://schemas.microsoft.com/office/drawing/2014/main" id="{6B01EE86-FC3E-496A-8D46-F8DFB75E49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" y="1669"/>
              <a:ext cx="412" cy="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CPU</a:t>
              </a:r>
            </a:p>
            <a:p>
              <a:pPr marL="0" marR="0" lvl="0" indent="0" defTabSz="91440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查询</a:t>
              </a:r>
            </a:p>
          </p:txBody>
        </p:sp>
      </p:grpSp>
      <p:sp>
        <p:nvSpPr>
          <p:cNvPr id="107" name="Text Box 105">
            <a:extLst>
              <a:ext uri="{FF2B5EF4-FFF2-40B4-BE49-F238E27FC236}">
                <a16:creationId xmlns:a16="http://schemas.microsoft.com/office/drawing/2014/main" id="{7A0B206B-3330-4466-8715-7750CA79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199" y="5926499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MASK</a:t>
            </a:r>
            <a:r>
              <a:rPr kumimoji="1" lang="en-US" altLang="zh-CN" sz="2400" b="1" i="1" baseline="-1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= 1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（屏蔽）</a:t>
            </a:r>
          </a:p>
        </p:txBody>
      </p:sp>
      <p:sp>
        <p:nvSpPr>
          <p:cNvPr id="108" name="Text Box 106">
            <a:extLst>
              <a:ext uri="{FF2B5EF4-FFF2-40B4-BE49-F238E27FC236}">
                <a16:creationId xmlns:a16="http://schemas.microsoft.com/office/drawing/2014/main" id="{7B1B6B86-5374-4FC5-8D74-343D4262C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199" y="6434499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INTP</a:t>
            </a:r>
            <a:r>
              <a:rPr kumimoji="1" lang="en-US" altLang="zh-CN" sz="2400" b="1" i="1" baseline="-1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12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= 0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（不能被排队选中）</a:t>
            </a:r>
          </a:p>
        </p:txBody>
      </p:sp>
    </p:spTree>
    <p:extLst>
      <p:ext uri="{BB962C8B-B14F-4D97-AF65-F5344CB8AC3E}">
        <p14:creationId xmlns:p14="http://schemas.microsoft.com/office/powerpoint/2010/main" val="130863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autoUpdateAnimBg="0"/>
      <p:bldP spid="11" grpId="0" autoUpdateAnimBg="0"/>
      <p:bldP spid="80" grpId="0" animBg="1"/>
      <p:bldP spid="85" grpId="0" animBg="1"/>
      <p:bldP spid="86" grpId="0" animBg="1"/>
      <p:bldP spid="87" grpId="0" animBg="1"/>
      <p:bldP spid="107" grpId="0" autoUpdateAnimBg="0"/>
      <p:bldP spid="108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kern="1200" dirty="0">
                <a:latin typeface="+mj-ea"/>
                <a:cs typeface="+mn-cs"/>
              </a:rPr>
              <a:t>7.4.4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1200" dirty="0">
                <a:cs typeface="+mn-cs"/>
              </a:rPr>
              <a:t>多级中断技术</a:t>
            </a:r>
            <a:endParaRPr lang="en-US" altLang="zh-CN" sz="2800" kern="1200" dirty="0"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25423-0246-4FD9-AE39-D807AFD70A47}"/>
              </a:ext>
            </a:extLst>
          </p:cNvPr>
          <p:cNvSpPr/>
          <p:nvPr/>
        </p:nvSpPr>
        <p:spPr>
          <a:xfrm>
            <a:off x="0" y="836712"/>
            <a:ext cx="5870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利用中断屏蔽字改变中断源优先级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Rectangle 2">
            <a:extLst>
              <a:ext uri="{FF2B5EF4-FFF2-40B4-BE49-F238E27FC236}">
                <a16:creationId xmlns:a16="http://schemas.microsoft.com/office/drawing/2014/main" id="{697D0F35-38BF-4EBE-BF9A-012A4D8D8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412776"/>
            <a:ext cx="53990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(2)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屏蔽字</a:t>
            </a:r>
          </a:p>
        </p:txBody>
      </p:sp>
      <p:grpSp>
        <p:nvGrpSpPr>
          <p:cNvPr id="110" name="Group 5">
            <a:extLst>
              <a:ext uri="{FF2B5EF4-FFF2-40B4-BE49-F238E27FC236}">
                <a16:creationId xmlns:a16="http://schemas.microsoft.com/office/drawing/2014/main" id="{8CAE4255-B269-4717-80CA-2E373748A781}"/>
              </a:ext>
            </a:extLst>
          </p:cNvPr>
          <p:cNvGrpSpPr>
            <a:grpSpLocks/>
          </p:cNvGrpSpPr>
          <p:nvPr/>
        </p:nvGrpSpPr>
        <p:grpSpPr bwMode="auto">
          <a:xfrm>
            <a:off x="899592" y="1988840"/>
            <a:ext cx="6848475" cy="4583112"/>
            <a:chOff x="768" y="1193"/>
            <a:chExt cx="4314" cy="2887"/>
          </a:xfrm>
        </p:grpSpPr>
        <p:grpSp>
          <p:nvGrpSpPr>
            <p:cNvPr id="111" name="Group 6">
              <a:extLst>
                <a:ext uri="{FF2B5EF4-FFF2-40B4-BE49-F238E27FC236}">
                  <a16:creationId xmlns:a16="http://schemas.microsoft.com/office/drawing/2014/main" id="{DD16E29C-F8C3-4F9E-BFF3-31EBAAE6AD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193"/>
              <a:ext cx="4314" cy="2887"/>
              <a:chOff x="768" y="1193"/>
              <a:chExt cx="4314" cy="2887"/>
            </a:xfrm>
          </p:grpSpPr>
          <p:sp>
            <p:nvSpPr>
              <p:cNvPr id="114" name="Text Box 7">
                <a:extLst>
                  <a:ext uri="{FF2B5EF4-FFF2-40B4-BE49-F238E27FC236}">
                    <a16:creationId xmlns:a16="http://schemas.microsoft.com/office/drawing/2014/main" id="{C0BF335E-B399-409D-A2F4-E30BE2FE55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0" y="1213"/>
                <a:ext cx="75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　</a:t>
                </a:r>
                <a:r>
                  <a: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优先级</a:t>
                </a:r>
              </a:p>
            </p:txBody>
          </p:sp>
          <p:sp>
            <p:nvSpPr>
              <p:cNvPr id="115" name="Text Box 8">
                <a:extLst>
                  <a:ext uri="{FF2B5EF4-FFF2-40B4-BE49-F238E27FC236}">
                    <a16:creationId xmlns:a16="http://schemas.microsoft.com/office/drawing/2014/main" id="{06A599E8-9B56-4ECD-910A-5D75D7E4AE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0" y="1226"/>
                <a:ext cx="20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屏              蔽             字 </a:t>
                </a:r>
              </a:p>
            </p:txBody>
          </p:sp>
          <p:sp>
            <p:nvSpPr>
              <p:cNvPr id="116" name="Line 9">
                <a:extLst>
                  <a:ext uri="{FF2B5EF4-FFF2-40B4-BE49-F238E27FC236}">
                    <a16:creationId xmlns:a16="http://schemas.microsoft.com/office/drawing/2014/main" id="{B964A8D5-D150-45D2-930F-BCBD1A767C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1193"/>
                <a:ext cx="431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7" name="Text Box 10">
                <a:extLst>
                  <a:ext uri="{FF2B5EF4-FFF2-40B4-BE49-F238E27FC236}">
                    <a16:creationId xmlns:a16="http://schemas.microsoft.com/office/drawing/2014/main" id="{AB4F5387-B143-47F6-811F-D41C027B9D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1" y="1505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1  1  1  1  1  1  1  1  1  1  1  1  1  1  1  1</a:t>
                </a:r>
              </a:p>
            </p:txBody>
          </p:sp>
          <p:sp>
            <p:nvSpPr>
              <p:cNvPr id="118" name="Text Box 11">
                <a:extLst>
                  <a:ext uri="{FF2B5EF4-FFF2-40B4-BE49-F238E27FC236}">
                    <a16:creationId xmlns:a16="http://schemas.microsoft.com/office/drawing/2014/main" id="{F04402BA-C6B7-4943-B809-0AA0C1DF04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1" y="1771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  1  1  1  1  1  1  1  1  1  1  1  1  1  1  1</a:t>
                </a:r>
              </a:p>
            </p:txBody>
          </p:sp>
          <p:sp>
            <p:nvSpPr>
              <p:cNvPr id="119" name="Text Box 12">
                <a:extLst>
                  <a:ext uri="{FF2B5EF4-FFF2-40B4-BE49-F238E27FC236}">
                    <a16:creationId xmlns:a16="http://schemas.microsoft.com/office/drawing/2014/main" id="{E6E1981E-BA0D-4CE4-8F81-FBC04ED0BA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1" y="2042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0  0</a:t>
                </a: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  1  1  1  1  1  1  1  1  1  1  1  1  1  1</a:t>
                </a:r>
              </a:p>
            </p:txBody>
          </p:sp>
          <p:sp>
            <p:nvSpPr>
              <p:cNvPr id="120" name="Text Box 13">
                <a:extLst>
                  <a:ext uri="{FF2B5EF4-FFF2-40B4-BE49-F238E27FC236}">
                    <a16:creationId xmlns:a16="http://schemas.microsoft.com/office/drawing/2014/main" id="{618C93D7-260C-417B-8A42-4175C18017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1" y="2305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0  0  0</a:t>
                </a: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  1  1  1  1  1  1  1  1  1  1  1  1  1</a:t>
                </a:r>
              </a:p>
            </p:txBody>
          </p:sp>
          <p:sp>
            <p:nvSpPr>
              <p:cNvPr id="121" name="Text Box 14">
                <a:extLst>
                  <a:ext uri="{FF2B5EF4-FFF2-40B4-BE49-F238E27FC236}">
                    <a16:creationId xmlns:a16="http://schemas.microsoft.com/office/drawing/2014/main" id="{44FDE25F-154B-456F-94C7-43434024EA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1" y="2572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0  0  0  0</a:t>
                </a: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  1  1  1  1  1  1  1  1  1  1  1  1</a:t>
                </a:r>
              </a:p>
            </p:txBody>
          </p:sp>
          <p:sp>
            <p:nvSpPr>
              <p:cNvPr id="122" name="Text Box 15">
                <a:extLst>
                  <a:ext uri="{FF2B5EF4-FFF2-40B4-BE49-F238E27FC236}">
                    <a16:creationId xmlns:a16="http://schemas.microsoft.com/office/drawing/2014/main" id="{A37C73EF-EF42-45B3-A1F7-6678CC8725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1" y="2839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0  0  0  0  0</a:t>
                </a: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  1  1  1  1  1  1  1  1  1  1  1</a:t>
                </a:r>
              </a:p>
            </p:txBody>
          </p:sp>
          <p:sp>
            <p:nvSpPr>
              <p:cNvPr id="123" name="Text Box 16">
                <a:extLst>
                  <a:ext uri="{FF2B5EF4-FFF2-40B4-BE49-F238E27FC236}">
                    <a16:creationId xmlns:a16="http://schemas.microsoft.com/office/drawing/2014/main" id="{E84D9322-A623-466C-948A-30665AEFE2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7" y="3218"/>
                <a:ext cx="3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…</a:t>
                </a:r>
              </a:p>
            </p:txBody>
          </p:sp>
          <p:sp>
            <p:nvSpPr>
              <p:cNvPr id="124" name="Text Box 17">
                <a:extLst>
                  <a:ext uri="{FF2B5EF4-FFF2-40B4-BE49-F238E27FC236}">
                    <a16:creationId xmlns:a16="http://schemas.microsoft.com/office/drawing/2014/main" id="{D5CE6597-B057-4338-BB20-88841B8D2B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1" y="3552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0  0  0  0  0  0  0  0  0  0  0  0  0  0</a:t>
                </a: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  1  1</a:t>
                </a:r>
              </a:p>
            </p:txBody>
          </p:sp>
          <p:sp>
            <p:nvSpPr>
              <p:cNvPr id="125" name="Text Box 18">
                <a:extLst>
                  <a:ext uri="{FF2B5EF4-FFF2-40B4-BE49-F238E27FC236}">
                    <a16:creationId xmlns:a16="http://schemas.microsoft.com/office/drawing/2014/main" id="{AC35A3A1-9B2B-476D-9675-A4ABCEFE92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1" y="3785"/>
                <a:ext cx="30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0  0  0  0  0  0  0  0  0  0  0  0  0  0  0</a:t>
                </a: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  1</a:t>
                </a:r>
              </a:p>
            </p:txBody>
          </p:sp>
          <p:sp>
            <p:nvSpPr>
              <p:cNvPr id="126" name="Line 19">
                <a:extLst>
                  <a:ext uri="{FF2B5EF4-FFF2-40B4-BE49-F238E27FC236}">
                    <a16:creationId xmlns:a16="http://schemas.microsoft.com/office/drawing/2014/main" id="{68662A6C-E559-4747-86D1-D80599A61B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1529"/>
                <a:ext cx="431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7" name="Line 20">
                <a:extLst>
                  <a:ext uri="{FF2B5EF4-FFF2-40B4-BE49-F238E27FC236}">
                    <a16:creationId xmlns:a16="http://schemas.microsoft.com/office/drawing/2014/main" id="{747B44F9-C1C1-49A2-9DB8-D6249771F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4080"/>
                <a:ext cx="431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8" name="Freeform 21">
                <a:extLst>
                  <a:ext uri="{FF2B5EF4-FFF2-40B4-BE49-F238E27FC236}">
                    <a16:creationId xmlns:a16="http://schemas.microsoft.com/office/drawing/2014/main" id="{A0D48ABD-9393-43C9-8E4D-1C19AC5FC8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4" y="1200"/>
                <a:ext cx="1" cy="2880"/>
              </a:xfrm>
              <a:custGeom>
                <a:avLst/>
                <a:gdLst>
                  <a:gd name="T0" fmla="*/ 1 w 1"/>
                  <a:gd name="T1" fmla="*/ 0 h 2880"/>
                  <a:gd name="T2" fmla="*/ 0 w 1"/>
                  <a:gd name="T3" fmla="*/ 2880 h 2880"/>
                  <a:gd name="T4" fmla="*/ 0 60000 65536"/>
                  <a:gd name="T5" fmla="*/ 0 60000 65536"/>
                  <a:gd name="T6" fmla="*/ 0 w 1"/>
                  <a:gd name="T7" fmla="*/ 0 h 2880"/>
                  <a:gd name="T8" fmla="*/ 1 w 1"/>
                  <a:gd name="T9" fmla="*/ 2880 h 288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880">
                    <a:moveTo>
                      <a:pt x="1" y="0"/>
                    </a:moveTo>
                    <a:lnTo>
                      <a:pt x="0" y="288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" name="Text Box 22">
                <a:extLst>
                  <a:ext uri="{FF2B5EF4-FFF2-40B4-BE49-F238E27FC236}">
                    <a16:creationId xmlns:a16="http://schemas.microsoft.com/office/drawing/2014/main" id="{DF1CA1ED-DC6B-46E8-8F7B-C3D784C73F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" y="1505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30" name="Text Box 23">
                <a:extLst>
                  <a:ext uri="{FF2B5EF4-FFF2-40B4-BE49-F238E27FC236}">
                    <a16:creationId xmlns:a16="http://schemas.microsoft.com/office/drawing/2014/main" id="{8BA02D5F-B556-462F-BF0A-30F78F0860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" y="1771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31" name="Text Box 24">
                <a:extLst>
                  <a:ext uri="{FF2B5EF4-FFF2-40B4-BE49-F238E27FC236}">
                    <a16:creationId xmlns:a16="http://schemas.microsoft.com/office/drawing/2014/main" id="{D61961C3-58F5-4882-9785-DE8693F058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" y="204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132" name="Text Box 25">
                <a:extLst>
                  <a:ext uri="{FF2B5EF4-FFF2-40B4-BE49-F238E27FC236}">
                    <a16:creationId xmlns:a16="http://schemas.microsoft.com/office/drawing/2014/main" id="{5D479A33-D7BB-4D3D-8F44-284DAAAC66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" y="2305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133" name="Text Box 26">
                <a:extLst>
                  <a:ext uri="{FF2B5EF4-FFF2-40B4-BE49-F238E27FC236}">
                    <a16:creationId xmlns:a16="http://schemas.microsoft.com/office/drawing/2014/main" id="{F29D144F-F1A8-4F23-A569-C2559358A4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" y="257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</a:p>
            </p:txBody>
          </p:sp>
          <p:sp>
            <p:nvSpPr>
              <p:cNvPr id="134" name="Text Box 27">
                <a:extLst>
                  <a:ext uri="{FF2B5EF4-FFF2-40B4-BE49-F238E27FC236}">
                    <a16:creationId xmlns:a16="http://schemas.microsoft.com/office/drawing/2014/main" id="{EFFAE208-6F80-4B8F-92BA-E116FA4AC3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" y="2839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135" name="Text Box 28">
                <a:extLst>
                  <a:ext uri="{FF2B5EF4-FFF2-40B4-BE49-F238E27FC236}">
                    <a16:creationId xmlns:a16="http://schemas.microsoft.com/office/drawing/2014/main" id="{9BE9E41E-FD83-488B-BC53-EBA13B6E3E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4" y="3552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136" name="Text Box 29">
                <a:extLst>
                  <a:ext uri="{FF2B5EF4-FFF2-40B4-BE49-F238E27FC236}">
                    <a16:creationId xmlns:a16="http://schemas.microsoft.com/office/drawing/2014/main" id="{D3EFF036-D49E-4DA9-AB1C-AD5AB93418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4" y="3792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137" name="Text Box 30">
                <a:extLst>
                  <a:ext uri="{FF2B5EF4-FFF2-40B4-BE49-F238E27FC236}">
                    <a16:creationId xmlns:a16="http://schemas.microsoft.com/office/drawing/2014/main" id="{C2097940-2D9A-4BDD-A971-4E5A7E0C0D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" y="3218"/>
                <a:ext cx="3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…</a:t>
                </a:r>
              </a:p>
            </p:txBody>
          </p:sp>
        </p:grpSp>
        <p:sp>
          <p:nvSpPr>
            <p:cNvPr id="112" name="Freeform 31">
              <a:extLst>
                <a:ext uri="{FF2B5EF4-FFF2-40B4-BE49-F238E27FC236}">
                  <a16:creationId xmlns:a16="http://schemas.microsoft.com/office/drawing/2014/main" id="{C86B7D58-0EFC-4D9E-8DE8-FA385EFB5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" y="1200"/>
              <a:ext cx="1" cy="2880"/>
            </a:xfrm>
            <a:custGeom>
              <a:avLst/>
              <a:gdLst>
                <a:gd name="T0" fmla="*/ 1 w 1"/>
                <a:gd name="T1" fmla="*/ 0 h 2880"/>
                <a:gd name="T2" fmla="*/ 0 w 1"/>
                <a:gd name="T3" fmla="*/ 2880 h 2880"/>
                <a:gd name="T4" fmla="*/ 0 60000 65536"/>
                <a:gd name="T5" fmla="*/ 0 60000 65536"/>
                <a:gd name="T6" fmla="*/ 0 w 1"/>
                <a:gd name="T7" fmla="*/ 0 h 2880"/>
                <a:gd name="T8" fmla="*/ 1 w 1"/>
                <a:gd name="T9" fmla="*/ 2880 h 2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880">
                  <a:moveTo>
                    <a:pt x="1" y="0"/>
                  </a:moveTo>
                  <a:lnTo>
                    <a:pt x="0" y="288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" name="Freeform 32">
              <a:extLst>
                <a:ext uri="{FF2B5EF4-FFF2-40B4-BE49-F238E27FC236}">
                  <a16:creationId xmlns:a16="http://schemas.microsoft.com/office/drawing/2014/main" id="{358EFD6A-022E-4689-BA3E-FC04BFE11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4" y="1200"/>
              <a:ext cx="1" cy="2880"/>
            </a:xfrm>
            <a:custGeom>
              <a:avLst/>
              <a:gdLst>
                <a:gd name="T0" fmla="*/ 1 w 1"/>
                <a:gd name="T1" fmla="*/ 0 h 2880"/>
                <a:gd name="T2" fmla="*/ 0 w 1"/>
                <a:gd name="T3" fmla="*/ 2880 h 2880"/>
                <a:gd name="T4" fmla="*/ 0 60000 65536"/>
                <a:gd name="T5" fmla="*/ 0 60000 65536"/>
                <a:gd name="T6" fmla="*/ 0 w 1"/>
                <a:gd name="T7" fmla="*/ 0 h 2880"/>
                <a:gd name="T8" fmla="*/ 1 w 1"/>
                <a:gd name="T9" fmla="*/ 2880 h 2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880">
                  <a:moveTo>
                    <a:pt x="1" y="0"/>
                  </a:moveTo>
                  <a:lnTo>
                    <a:pt x="0" y="288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8" name="Group 33">
            <a:extLst>
              <a:ext uri="{FF2B5EF4-FFF2-40B4-BE49-F238E27FC236}">
                <a16:creationId xmlns:a16="http://schemas.microsoft.com/office/drawing/2014/main" id="{9EDDB6F9-F92F-4A2E-B735-5B9DE519AEAA}"/>
              </a:ext>
            </a:extLst>
          </p:cNvPr>
          <p:cNvGrpSpPr>
            <a:grpSpLocks/>
          </p:cNvGrpSpPr>
          <p:nvPr/>
        </p:nvGrpSpPr>
        <p:grpSpPr bwMode="auto">
          <a:xfrm>
            <a:off x="1979737" y="1268314"/>
            <a:ext cx="6781800" cy="1223963"/>
            <a:chOff x="1422" y="197"/>
            <a:chExt cx="4272" cy="771"/>
          </a:xfrm>
        </p:grpSpPr>
        <p:sp>
          <p:nvSpPr>
            <p:cNvPr id="139" name="Text Box 34">
              <a:extLst>
                <a:ext uri="{FF2B5EF4-FFF2-40B4-BE49-F238E27FC236}">
                  <a16:creationId xmlns:a16="http://schemas.microsoft.com/office/drawing/2014/main" id="{F1E77C9D-A6F0-492D-9AEB-5FC651FF4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2" y="197"/>
              <a:ext cx="42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16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个中断源 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 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zh-CN" altLang="en-US" sz="32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</a:t>
              </a:r>
              <a:r>
                <a:rPr kumimoji="1" lang="zh-CN" altLang="en-US" sz="2400" b="1" baseline="18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16 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按 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降序 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排列</a:t>
              </a:r>
            </a:p>
          </p:txBody>
        </p:sp>
        <p:sp>
          <p:nvSpPr>
            <p:cNvPr id="140" name="Text Box 35">
              <a:extLst>
                <a:ext uri="{FF2B5EF4-FFF2-40B4-BE49-F238E27FC236}">
                  <a16:creationId xmlns:a16="http://schemas.microsoft.com/office/drawing/2014/main" id="{5259699E-F11C-469B-8081-A8784EC62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4" y="641"/>
              <a:ext cx="5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…</a:t>
              </a:r>
              <a:endParaRPr kumimoji="1" lang="en-US" altLang="zh-CN" sz="28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501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kern="1200" dirty="0">
                <a:latin typeface="+mj-ea"/>
                <a:cs typeface="+mn-cs"/>
              </a:rPr>
              <a:t>7.4.4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1200" dirty="0">
                <a:cs typeface="+mn-cs"/>
              </a:rPr>
              <a:t>多级中断技术</a:t>
            </a:r>
            <a:endParaRPr lang="en-US" altLang="zh-CN" sz="2800" kern="1200" dirty="0"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25423-0246-4FD9-AE39-D807AFD70A47}"/>
              </a:ext>
            </a:extLst>
          </p:cNvPr>
          <p:cNvSpPr/>
          <p:nvPr/>
        </p:nvSpPr>
        <p:spPr>
          <a:xfrm>
            <a:off x="0" y="620688"/>
            <a:ext cx="5870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利用中断屏蔽字改变中断源优先级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5A90A7E-DA96-42E0-8553-12B4B41E8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992" y="1340272"/>
            <a:ext cx="21431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响应优先级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7383CC-69B9-4E97-BA3F-2B3A5D452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992" y="5372522"/>
            <a:ext cx="63373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响应优先级 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A→B→C→D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降序排列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C7AD6E0-CECF-4025-A3C4-1748B17A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942" y="1340272"/>
            <a:ext cx="21431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不可改变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297CA8B-15A8-45F9-B9D5-641695172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992" y="2060997"/>
            <a:ext cx="21431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处理优先级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BABEA9CE-D4DC-4621-BB86-C00190DA3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942" y="2060997"/>
            <a:ext cx="40322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可改变（通过重新设置屏蔽字）</a:t>
            </a:r>
          </a:p>
        </p:txBody>
      </p:sp>
      <p:graphicFrame>
        <p:nvGraphicFramePr>
          <p:cNvPr id="11" name="Group 9">
            <a:extLst>
              <a:ext uri="{FF2B5EF4-FFF2-40B4-BE49-F238E27FC236}">
                <a16:creationId xmlns:a16="http://schemas.microsoft.com/office/drawing/2014/main" id="{1008C445-10CB-43B4-8DD7-365DF95D8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796975"/>
              </p:ext>
            </p:extLst>
          </p:nvPr>
        </p:nvGraphicFramePr>
        <p:xfrm>
          <a:off x="1553717" y="2997622"/>
          <a:ext cx="5184775" cy="1943101"/>
        </p:xfrm>
        <a:graphic>
          <a:graphicData uri="http://schemas.openxmlformats.org/drawingml/2006/table">
            <a:tbl>
              <a:tblPr/>
              <a:tblGrid>
                <a:gridCol w="1384300">
                  <a:extLst>
                    <a:ext uri="{9D8B030D-6E8A-4147-A177-3AD203B41FA5}">
                      <a16:colId xmlns:a16="http://schemas.microsoft.com/office/drawing/2014/main" val="2567958761"/>
                    </a:ext>
                  </a:extLst>
                </a:gridCol>
                <a:gridCol w="1900237">
                  <a:extLst>
                    <a:ext uri="{9D8B030D-6E8A-4147-A177-3AD203B41FA5}">
                      <a16:colId xmlns:a16="http://schemas.microsoft.com/office/drawing/2014/main" val="1344245392"/>
                    </a:ext>
                  </a:extLst>
                </a:gridCol>
                <a:gridCol w="1900238">
                  <a:extLst>
                    <a:ext uri="{9D8B030D-6E8A-4147-A177-3AD203B41FA5}">
                      <a16:colId xmlns:a16="http://schemas.microsoft.com/office/drawing/2014/main" val="3778650955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中断源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原屏蔽字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新屏蔽字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85664"/>
                  </a:ext>
                </a:extLst>
              </a:tr>
              <a:tr h="1439863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1  1  1  1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0  1  1  1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0  0  1  1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0  0  0  1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1  1  1  1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0  1  0  0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0  1  1  0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0  1  1  1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412886"/>
                  </a:ext>
                </a:extLst>
              </a:tr>
            </a:tbl>
          </a:graphicData>
        </a:graphic>
      </p:graphicFrame>
      <p:sp>
        <p:nvSpPr>
          <p:cNvPr id="12" name="Rectangle 23">
            <a:extLst>
              <a:ext uri="{FF2B5EF4-FFF2-40B4-BE49-F238E27FC236}">
                <a16:creationId xmlns:a16="http://schemas.microsoft.com/office/drawing/2014/main" id="{60DCF678-1B6F-4B72-B40E-846319237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992" y="6164685"/>
            <a:ext cx="65532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处理优先级 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A→D→C→B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降序排列</a:t>
            </a: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36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2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kern="1200" dirty="0">
                <a:latin typeface="+mj-ea"/>
                <a:cs typeface="+mn-cs"/>
              </a:rPr>
              <a:t>7.4.4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1200" dirty="0">
                <a:cs typeface="+mn-cs"/>
              </a:rPr>
              <a:t>多级中断技术</a:t>
            </a:r>
            <a:endParaRPr lang="en-US" altLang="zh-CN" sz="2800" kern="1200" dirty="0"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25423-0246-4FD9-AE39-D807AFD70A47}"/>
              </a:ext>
            </a:extLst>
          </p:cNvPr>
          <p:cNvSpPr/>
          <p:nvPr/>
        </p:nvSpPr>
        <p:spPr>
          <a:xfrm>
            <a:off x="0" y="836712"/>
            <a:ext cx="5870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利用中断屏蔽字改变中断源优先级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F25390A-B203-4015-9301-FD8DD1389539}"/>
              </a:ext>
            </a:extLst>
          </p:cNvPr>
          <p:cNvGrpSpPr>
            <a:grpSpLocks/>
          </p:cNvGrpSpPr>
          <p:nvPr/>
        </p:nvGrpSpPr>
        <p:grpSpPr bwMode="auto">
          <a:xfrm>
            <a:off x="827584" y="1700808"/>
            <a:ext cx="6913563" cy="4130675"/>
            <a:chOff x="748" y="935"/>
            <a:chExt cx="4355" cy="260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EB28064-D966-43F7-B13C-89A3CD8CFC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935"/>
              <a:ext cx="4355" cy="1912"/>
              <a:chOff x="748" y="935"/>
              <a:chExt cx="4355" cy="1912"/>
            </a:xfrm>
          </p:grpSpPr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id="{CCFAA85D-33DA-4A2C-93C9-1F911968B1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0" y="935"/>
                <a:ext cx="787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服务程序</a:t>
                </a:r>
              </a:p>
            </p:txBody>
          </p:sp>
          <p:sp>
            <p:nvSpPr>
              <p:cNvPr id="9" name="Text Box 7">
                <a:extLst>
                  <a:ext uri="{FF2B5EF4-FFF2-40B4-BE49-F238E27FC236}">
                    <a16:creationId xmlns:a16="http://schemas.microsoft.com/office/drawing/2014/main" id="{B19AD49F-3503-4185-9E33-383B638E6F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1" y="2341"/>
                <a:ext cx="70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处理完</a:t>
                </a:r>
              </a:p>
            </p:txBody>
          </p:sp>
          <p:sp>
            <p:nvSpPr>
              <p:cNvPr id="10" name="Text Box 8">
                <a:extLst>
                  <a:ext uri="{FF2B5EF4-FFF2-40B4-BE49-F238E27FC236}">
                    <a16:creationId xmlns:a16="http://schemas.microsoft.com/office/drawing/2014/main" id="{B95FDDAA-1F89-423D-B126-55D913A771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0" y="2516"/>
                <a:ext cx="692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处理完</a:t>
                </a:r>
              </a:p>
            </p:txBody>
          </p:sp>
          <p:sp>
            <p:nvSpPr>
              <p:cNvPr id="11" name="Text Box 9">
                <a:extLst>
                  <a:ext uri="{FF2B5EF4-FFF2-40B4-BE49-F238E27FC236}">
                    <a16:creationId xmlns:a16="http://schemas.microsoft.com/office/drawing/2014/main" id="{28251B7A-F436-4DB3-8EF0-58D9051CE3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4" y="2341"/>
                <a:ext cx="630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处理完</a:t>
                </a:r>
              </a:p>
            </p:txBody>
          </p:sp>
          <p:sp>
            <p:nvSpPr>
              <p:cNvPr id="12" name="Text Box 10">
                <a:extLst>
                  <a:ext uri="{FF2B5EF4-FFF2-40B4-BE49-F238E27FC236}">
                    <a16:creationId xmlns:a16="http://schemas.microsoft.com/office/drawing/2014/main" id="{FB61D793-F3AC-49BC-AB5F-D6A6D3CA61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5" y="2341"/>
                <a:ext cx="630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处理完</a:t>
                </a:r>
              </a:p>
            </p:txBody>
          </p:sp>
          <p:sp>
            <p:nvSpPr>
              <p:cNvPr id="13" name="Text Box 11">
                <a:extLst>
                  <a:ext uri="{FF2B5EF4-FFF2-40B4-BE49-F238E27FC236}">
                    <a16:creationId xmlns:a16="http://schemas.microsoft.com/office/drawing/2014/main" id="{D12D6B97-4B39-42DE-B5CB-22D4551042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1" y="2206"/>
                <a:ext cx="2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Line 12">
                <a:extLst>
                  <a:ext uri="{FF2B5EF4-FFF2-40B4-BE49-F238E27FC236}">
                    <a16:creationId xmlns:a16="http://schemas.microsoft.com/office/drawing/2014/main" id="{DBF149CE-B14F-424B-AAF5-647EA5E74E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9" y="2341"/>
                <a:ext cx="356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" name="Line 13">
                <a:extLst>
                  <a:ext uri="{FF2B5EF4-FFF2-40B4-BE49-F238E27FC236}">
                    <a16:creationId xmlns:a16="http://schemas.microsoft.com/office/drawing/2014/main" id="{8DF1A8A2-2B87-4FDE-8B54-306F4FA05E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9" y="1099"/>
                <a:ext cx="0" cy="12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stealth" w="sm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" name="Line 14">
                <a:extLst>
                  <a:ext uri="{FF2B5EF4-FFF2-40B4-BE49-F238E27FC236}">
                    <a16:creationId xmlns:a16="http://schemas.microsoft.com/office/drawing/2014/main" id="{3D28B8F8-98E4-45A1-A91F-353E668E5E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" y="1372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" name="Text Box 15">
                <a:extLst>
                  <a:ext uri="{FF2B5EF4-FFF2-40B4-BE49-F238E27FC236}">
                    <a16:creationId xmlns:a16="http://schemas.microsoft.com/office/drawing/2014/main" id="{2EC4CBCB-5C40-40A3-966A-828074BB4A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2165"/>
                <a:ext cx="51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主程序</a:t>
                </a:r>
              </a:p>
            </p:txBody>
          </p:sp>
          <p:sp>
            <p:nvSpPr>
              <p:cNvPr id="18" name="Text Box 16">
                <a:extLst>
                  <a:ext uri="{FF2B5EF4-FFF2-40B4-BE49-F238E27FC236}">
                    <a16:creationId xmlns:a16="http://schemas.microsoft.com/office/drawing/2014/main" id="{71DFC1F9-CF4A-4037-9770-C0D0B5A7AB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1868"/>
                <a:ext cx="51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程序</a:t>
                </a:r>
              </a:p>
            </p:txBody>
          </p:sp>
          <p:sp>
            <p:nvSpPr>
              <p:cNvPr id="19" name="Text Box 17">
                <a:extLst>
                  <a:ext uri="{FF2B5EF4-FFF2-40B4-BE49-F238E27FC236}">
                    <a16:creationId xmlns:a16="http://schemas.microsoft.com/office/drawing/2014/main" id="{02EB5E70-6F60-457D-84E5-905B10D46F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1649"/>
                <a:ext cx="51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程序</a:t>
                </a:r>
              </a:p>
            </p:txBody>
          </p:sp>
          <p:sp>
            <p:nvSpPr>
              <p:cNvPr id="20" name="Text Box 18">
                <a:extLst>
                  <a:ext uri="{FF2B5EF4-FFF2-40B4-BE49-F238E27FC236}">
                    <a16:creationId xmlns:a16="http://schemas.microsoft.com/office/drawing/2014/main" id="{AE45B5D6-9C6D-4F08-B374-3C22FB4B7A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1411"/>
                <a:ext cx="51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程序</a:t>
                </a:r>
              </a:p>
            </p:txBody>
          </p:sp>
          <p:sp>
            <p:nvSpPr>
              <p:cNvPr id="21" name="Text Box 19">
                <a:extLst>
                  <a:ext uri="{FF2B5EF4-FFF2-40B4-BE49-F238E27FC236}">
                    <a16:creationId xmlns:a16="http://schemas.microsoft.com/office/drawing/2014/main" id="{118B6325-FEF0-4A52-8DD6-DB156196CF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1158"/>
                <a:ext cx="51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程序</a:t>
                </a:r>
              </a:p>
            </p:txBody>
          </p:sp>
          <p:sp>
            <p:nvSpPr>
              <p:cNvPr id="22" name="Line 20">
                <a:extLst>
                  <a:ext uri="{FF2B5EF4-FFF2-40B4-BE49-F238E27FC236}">
                    <a16:creationId xmlns:a16="http://schemas.microsoft.com/office/drawing/2014/main" id="{AE2A2286-D447-43CE-9EF4-A1876BEA2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2" y="2081"/>
                <a:ext cx="0" cy="25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" name="Line 21">
                <a:extLst>
                  <a:ext uri="{FF2B5EF4-FFF2-40B4-BE49-F238E27FC236}">
                    <a16:creationId xmlns:a16="http://schemas.microsoft.com/office/drawing/2014/main" id="{039481E7-B392-42A5-9CB3-C0EEDAF494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4" y="2081"/>
                <a:ext cx="0" cy="25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" name="Line 22">
                <a:extLst>
                  <a:ext uri="{FF2B5EF4-FFF2-40B4-BE49-F238E27FC236}">
                    <a16:creationId xmlns:a16="http://schemas.microsoft.com/office/drawing/2014/main" id="{D44ED3FC-9BF8-4198-87DE-BB78B8CCBB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136" y="1787"/>
                <a:ext cx="0" cy="58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" name="Line 23">
                <a:extLst>
                  <a:ext uri="{FF2B5EF4-FFF2-40B4-BE49-F238E27FC236}">
                    <a16:creationId xmlns:a16="http://schemas.microsoft.com/office/drawing/2014/main" id="{987D6807-2471-409D-9AE8-7D56E99FCE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8" y="1849"/>
                <a:ext cx="0" cy="4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" name="Line 24">
                <a:extLst>
                  <a:ext uri="{FF2B5EF4-FFF2-40B4-BE49-F238E27FC236}">
                    <a16:creationId xmlns:a16="http://schemas.microsoft.com/office/drawing/2014/main" id="{4B9599B8-A82B-47A9-838E-9AE0632985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1851"/>
                <a:ext cx="0" cy="48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7" name="Line 25">
                <a:extLst>
                  <a:ext uri="{FF2B5EF4-FFF2-40B4-BE49-F238E27FC236}">
                    <a16:creationId xmlns:a16="http://schemas.microsoft.com/office/drawing/2014/main" id="{002B63F0-EE6A-4E20-8C2B-EC83BAB6AA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879" y="1441"/>
                <a:ext cx="0" cy="81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8" name="Line 26">
                <a:extLst>
                  <a:ext uri="{FF2B5EF4-FFF2-40B4-BE49-F238E27FC236}">
                    <a16:creationId xmlns:a16="http://schemas.microsoft.com/office/drawing/2014/main" id="{A60E9769-FE88-4A9A-BB83-4FEC1F1A8A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3537" y="1402"/>
                <a:ext cx="0" cy="42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" name="Line 27">
                <a:extLst>
                  <a:ext uri="{FF2B5EF4-FFF2-40B4-BE49-F238E27FC236}">
                    <a16:creationId xmlns:a16="http://schemas.microsoft.com/office/drawing/2014/main" id="{26DF49F8-DED2-4C39-8D9A-8A8CF29A1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7" y="1615"/>
                <a:ext cx="0" cy="73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" name="Line 28">
                <a:extLst>
                  <a:ext uri="{FF2B5EF4-FFF2-40B4-BE49-F238E27FC236}">
                    <a16:creationId xmlns:a16="http://schemas.microsoft.com/office/drawing/2014/main" id="{EEA59742-5785-4255-854A-B07726E8F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0" y="1615"/>
                <a:ext cx="0" cy="72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Line 29">
                <a:extLst>
                  <a:ext uri="{FF2B5EF4-FFF2-40B4-BE49-F238E27FC236}">
                    <a16:creationId xmlns:a16="http://schemas.microsoft.com/office/drawing/2014/main" id="{FBB8E2C0-EB91-43AF-AC08-DE80EDDCF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4065" y="1100"/>
                <a:ext cx="0" cy="54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Line 30">
                <a:extLst>
                  <a:ext uri="{FF2B5EF4-FFF2-40B4-BE49-F238E27FC236}">
                    <a16:creationId xmlns:a16="http://schemas.microsoft.com/office/drawing/2014/main" id="{FF4D24B2-95AA-4776-B699-3EBB5AE338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3" y="1374"/>
                <a:ext cx="0" cy="9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Line 31">
                <a:extLst>
                  <a:ext uri="{FF2B5EF4-FFF2-40B4-BE49-F238E27FC236}">
                    <a16:creationId xmlns:a16="http://schemas.microsoft.com/office/drawing/2014/main" id="{309A4F20-DDB2-45F7-951A-0E13984D5D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1" y="1374"/>
                <a:ext cx="0" cy="9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Line 32">
                <a:extLst>
                  <a:ext uri="{FF2B5EF4-FFF2-40B4-BE49-F238E27FC236}">
                    <a16:creationId xmlns:a16="http://schemas.microsoft.com/office/drawing/2014/main" id="{35B9DC05-873E-4383-81C9-1091FFAEA8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2" y="2343"/>
                <a:ext cx="0" cy="14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stealth" w="sm" len="med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Text Box 33">
                <a:extLst>
                  <a:ext uri="{FF2B5EF4-FFF2-40B4-BE49-F238E27FC236}">
                    <a16:creationId xmlns:a16="http://schemas.microsoft.com/office/drawing/2014/main" id="{5400A7BA-2E72-4D2B-A3D6-3110674BCE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5" y="2516"/>
                <a:ext cx="876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同时请求中断</a:t>
                </a:r>
              </a:p>
            </p:txBody>
          </p:sp>
          <p:sp>
            <p:nvSpPr>
              <p:cNvPr id="36" name="Line 34">
                <a:extLst>
                  <a:ext uri="{FF2B5EF4-FFF2-40B4-BE49-F238E27FC236}">
                    <a16:creationId xmlns:a16="http://schemas.microsoft.com/office/drawing/2014/main" id="{E92A16DA-5384-4314-A674-3341F3FA60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8" y="2343"/>
                <a:ext cx="0" cy="14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stealth" w="sm" len="med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Line 35">
                <a:extLst>
                  <a:ext uri="{FF2B5EF4-FFF2-40B4-BE49-F238E27FC236}">
                    <a16:creationId xmlns:a16="http://schemas.microsoft.com/office/drawing/2014/main" id="{D4AACC6F-EC81-4F22-8C04-E40F40AC0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" y="207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Line 36">
                <a:extLst>
                  <a:ext uri="{FF2B5EF4-FFF2-40B4-BE49-F238E27FC236}">
                    <a16:creationId xmlns:a16="http://schemas.microsoft.com/office/drawing/2014/main" id="{A96F9355-A90D-4BED-A3DE-50EAEBEBA3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" y="1851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Line 37">
                <a:extLst>
                  <a:ext uri="{FF2B5EF4-FFF2-40B4-BE49-F238E27FC236}">
                    <a16:creationId xmlns:a16="http://schemas.microsoft.com/office/drawing/2014/main" id="{AF72DBA3-1EAD-40BA-B737-9103A42BB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" y="1621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7" name="Text Box 38">
              <a:extLst>
                <a:ext uri="{FF2B5EF4-FFF2-40B4-BE49-F238E27FC236}">
                  <a16:creationId xmlns:a16="http://schemas.microsoft.com/office/drawing/2014/main" id="{4B1F70F6-4390-4A00-840D-FEDF4AA59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5" y="3249"/>
              <a:ext cx="3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CPU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执行程序轨迹（原屏蔽字）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749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kern="1200" dirty="0">
                <a:latin typeface="+mj-ea"/>
                <a:cs typeface="+mn-cs"/>
              </a:rPr>
              <a:t>7.4.4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1200" dirty="0">
                <a:cs typeface="+mn-cs"/>
              </a:rPr>
              <a:t>多级中断技术</a:t>
            </a:r>
            <a:endParaRPr lang="en-US" altLang="zh-CN" sz="2800" kern="1200" dirty="0"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25423-0246-4FD9-AE39-D807AFD70A47}"/>
              </a:ext>
            </a:extLst>
          </p:cNvPr>
          <p:cNvSpPr/>
          <p:nvPr/>
        </p:nvSpPr>
        <p:spPr>
          <a:xfrm>
            <a:off x="0" y="836712"/>
            <a:ext cx="5870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利用中断屏蔽字改变中断源优先级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59767F25-EAC6-49FF-8303-6989329B4C3E}"/>
              </a:ext>
            </a:extLst>
          </p:cNvPr>
          <p:cNvGrpSpPr>
            <a:grpSpLocks/>
          </p:cNvGrpSpPr>
          <p:nvPr/>
        </p:nvGrpSpPr>
        <p:grpSpPr bwMode="auto">
          <a:xfrm>
            <a:off x="179512" y="1772816"/>
            <a:ext cx="6337300" cy="3625850"/>
            <a:chOff x="793" y="799"/>
            <a:chExt cx="3992" cy="2284"/>
          </a:xfrm>
        </p:grpSpPr>
        <p:grpSp>
          <p:nvGrpSpPr>
            <p:cNvPr id="6" name="Group 8">
              <a:extLst>
                <a:ext uri="{FF2B5EF4-FFF2-40B4-BE49-F238E27FC236}">
                  <a16:creationId xmlns:a16="http://schemas.microsoft.com/office/drawing/2014/main" id="{9EB28765-45E6-449E-ABF5-BEF0C9F714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3" y="799"/>
              <a:ext cx="3992" cy="1859"/>
              <a:chOff x="793" y="890"/>
              <a:chExt cx="3992" cy="1859"/>
            </a:xfrm>
          </p:grpSpPr>
          <p:sp>
            <p:nvSpPr>
              <p:cNvPr id="8" name="Text Box 9">
                <a:extLst>
                  <a:ext uri="{FF2B5EF4-FFF2-40B4-BE49-F238E27FC236}">
                    <a16:creationId xmlns:a16="http://schemas.microsoft.com/office/drawing/2014/main" id="{438F82EC-021F-4826-A1F1-83C6E6AA4B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1" y="890"/>
                <a:ext cx="67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服务程序</a:t>
                </a:r>
              </a:p>
            </p:txBody>
          </p:sp>
          <p:sp>
            <p:nvSpPr>
              <p:cNvPr id="9" name="Text Box 10">
                <a:extLst>
                  <a:ext uri="{FF2B5EF4-FFF2-40B4-BE49-F238E27FC236}">
                    <a16:creationId xmlns:a16="http://schemas.microsoft.com/office/drawing/2014/main" id="{C60169EB-D3A0-492B-86DE-4DC21A6620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7" y="2257"/>
                <a:ext cx="577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zh-CN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处理完</a:t>
                </a:r>
              </a:p>
            </p:txBody>
          </p:sp>
          <p:sp>
            <p:nvSpPr>
              <p:cNvPr id="10" name="Text Box 11">
                <a:extLst>
                  <a:ext uri="{FF2B5EF4-FFF2-40B4-BE49-F238E27FC236}">
                    <a16:creationId xmlns:a16="http://schemas.microsoft.com/office/drawing/2014/main" id="{B151E777-C8B3-48EE-B72C-F36C9D05A4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0" y="2426"/>
                <a:ext cx="552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kumimoji="1" lang="zh-CN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处理完</a:t>
                </a:r>
              </a:p>
            </p:txBody>
          </p:sp>
          <p:sp>
            <p:nvSpPr>
              <p:cNvPr id="11" name="Text Box 12">
                <a:extLst>
                  <a:ext uri="{FF2B5EF4-FFF2-40B4-BE49-F238E27FC236}">
                    <a16:creationId xmlns:a16="http://schemas.microsoft.com/office/drawing/2014/main" id="{03FD6C47-4AED-4C59-A2F0-3F5FB30FE0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3" y="2257"/>
                <a:ext cx="659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kumimoji="1" lang="zh-CN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处理完</a:t>
                </a:r>
              </a:p>
            </p:txBody>
          </p:sp>
          <p:sp>
            <p:nvSpPr>
              <p:cNvPr id="12" name="Text Box 13">
                <a:extLst>
                  <a:ext uri="{FF2B5EF4-FFF2-40B4-BE49-F238E27FC236}">
                    <a16:creationId xmlns:a16="http://schemas.microsoft.com/office/drawing/2014/main" id="{549C5308-1024-45C0-A046-D87F297FD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2" y="2257"/>
                <a:ext cx="607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zh-CN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处理完</a:t>
                </a:r>
              </a:p>
            </p:txBody>
          </p:sp>
          <p:sp>
            <p:nvSpPr>
              <p:cNvPr id="13" name="Text Box 14">
                <a:extLst>
                  <a:ext uri="{FF2B5EF4-FFF2-40B4-BE49-F238E27FC236}">
                    <a16:creationId xmlns:a16="http://schemas.microsoft.com/office/drawing/2014/main" id="{87DFC1E4-AFD4-4C04-BB0F-38DC222C60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8" y="2126"/>
                <a:ext cx="267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Line 15">
                <a:extLst>
                  <a:ext uri="{FF2B5EF4-FFF2-40B4-BE49-F238E27FC236}">
                    <a16:creationId xmlns:a16="http://schemas.microsoft.com/office/drawing/2014/main" id="{95F71314-51AF-435A-B24C-E8346C5B18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0" y="2257"/>
                <a:ext cx="327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" name="Line 16">
                <a:extLst>
                  <a:ext uri="{FF2B5EF4-FFF2-40B4-BE49-F238E27FC236}">
                    <a16:creationId xmlns:a16="http://schemas.microsoft.com/office/drawing/2014/main" id="{22F5A67E-9417-4FF9-BA87-C9CBB3078E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0" y="1049"/>
                <a:ext cx="0" cy="120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stealth" w="sm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" name="Text Box 17">
                <a:extLst>
                  <a:ext uri="{FF2B5EF4-FFF2-40B4-BE49-F238E27FC236}">
                    <a16:creationId xmlns:a16="http://schemas.microsoft.com/office/drawing/2014/main" id="{366CCA9F-256F-4DAD-AA05-63D7556539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3" y="2095"/>
                <a:ext cx="468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主程序</a:t>
                </a:r>
              </a:p>
            </p:txBody>
          </p:sp>
          <p:sp>
            <p:nvSpPr>
              <p:cNvPr id="17" name="Text Box 18">
                <a:extLst>
                  <a:ext uri="{FF2B5EF4-FFF2-40B4-BE49-F238E27FC236}">
                    <a16:creationId xmlns:a16="http://schemas.microsoft.com/office/drawing/2014/main" id="{EE7B30FF-444E-4B37-8FB6-DD0076E318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3" y="1806"/>
                <a:ext cx="468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zh-CN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程序</a:t>
                </a:r>
              </a:p>
            </p:txBody>
          </p:sp>
          <p:sp>
            <p:nvSpPr>
              <p:cNvPr id="18" name="Text Box 19">
                <a:extLst>
                  <a:ext uri="{FF2B5EF4-FFF2-40B4-BE49-F238E27FC236}">
                    <a16:creationId xmlns:a16="http://schemas.microsoft.com/office/drawing/2014/main" id="{8738E36C-0E7E-4842-AD61-F954AAB6BC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3" y="1593"/>
                <a:ext cx="468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kumimoji="1" lang="zh-CN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程序</a:t>
                </a:r>
              </a:p>
            </p:txBody>
          </p:sp>
          <p:sp>
            <p:nvSpPr>
              <p:cNvPr id="19" name="Text Box 20">
                <a:extLst>
                  <a:ext uri="{FF2B5EF4-FFF2-40B4-BE49-F238E27FC236}">
                    <a16:creationId xmlns:a16="http://schemas.microsoft.com/office/drawing/2014/main" id="{B26E849A-CA61-4D05-8847-4495E2C395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3" y="1362"/>
                <a:ext cx="468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kumimoji="1" lang="zh-CN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程序</a:t>
                </a:r>
              </a:p>
            </p:txBody>
          </p:sp>
          <p:sp>
            <p:nvSpPr>
              <p:cNvPr id="20" name="Text Box 21">
                <a:extLst>
                  <a:ext uri="{FF2B5EF4-FFF2-40B4-BE49-F238E27FC236}">
                    <a16:creationId xmlns:a16="http://schemas.microsoft.com/office/drawing/2014/main" id="{858EAF49-B5A5-45F8-84A7-F8460B6911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3" y="1130"/>
                <a:ext cx="468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kumimoji="1" lang="zh-CN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程序</a:t>
                </a:r>
              </a:p>
            </p:txBody>
          </p:sp>
          <p:sp>
            <p:nvSpPr>
              <p:cNvPr id="21" name="Line 22">
                <a:extLst>
                  <a:ext uri="{FF2B5EF4-FFF2-40B4-BE49-F238E27FC236}">
                    <a16:creationId xmlns:a16="http://schemas.microsoft.com/office/drawing/2014/main" id="{90743792-3414-4AD0-8C6D-8DA0F72F12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6" y="2004"/>
                <a:ext cx="0" cy="2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" name="Line 23">
                <a:extLst>
                  <a:ext uri="{FF2B5EF4-FFF2-40B4-BE49-F238E27FC236}">
                    <a16:creationId xmlns:a16="http://schemas.microsoft.com/office/drawing/2014/main" id="{6B2EEAD6-0C21-448A-84CB-9BB95C5012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9" y="2004"/>
                <a:ext cx="0" cy="2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" name="Line 24">
                <a:extLst>
                  <a:ext uri="{FF2B5EF4-FFF2-40B4-BE49-F238E27FC236}">
                    <a16:creationId xmlns:a16="http://schemas.microsoft.com/office/drawing/2014/main" id="{FEB5D1B4-848E-42AB-B354-BF864F7D10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065" y="1724"/>
                <a:ext cx="0" cy="5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" name="Line 25">
                <a:extLst>
                  <a:ext uri="{FF2B5EF4-FFF2-40B4-BE49-F238E27FC236}">
                    <a16:creationId xmlns:a16="http://schemas.microsoft.com/office/drawing/2014/main" id="{6F4DAA87-128D-49C3-88C7-76FC0913A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1766"/>
                <a:ext cx="0" cy="48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" name="Line 26">
                <a:extLst>
                  <a:ext uri="{FF2B5EF4-FFF2-40B4-BE49-F238E27FC236}">
                    <a16:creationId xmlns:a16="http://schemas.microsoft.com/office/drawing/2014/main" id="{ED1F24CE-C247-431B-8642-3083B5F82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5" y="1553"/>
                <a:ext cx="0" cy="22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" name="Line 27">
                <a:extLst>
                  <a:ext uri="{FF2B5EF4-FFF2-40B4-BE49-F238E27FC236}">
                    <a16:creationId xmlns:a16="http://schemas.microsoft.com/office/drawing/2014/main" id="{714AB2C8-4C65-431F-A5B0-11CF0248CC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411" y="1720"/>
                <a:ext cx="0" cy="10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7" name="Line 28">
                <a:extLst>
                  <a:ext uri="{FF2B5EF4-FFF2-40B4-BE49-F238E27FC236}">
                    <a16:creationId xmlns:a16="http://schemas.microsoft.com/office/drawing/2014/main" id="{72C452D2-A72B-4F28-AE18-792336B052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3222" y="1387"/>
                <a:ext cx="0" cy="32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8" name="Line 29">
                <a:extLst>
                  <a:ext uri="{FF2B5EF4-FFF2-40B4-BE49-F238E27FC236}">
                    <a16:creationId xmlns:a16="http://schemas.microsoft.com/office/drawing/2014/main" id="{AA2F0142-2A71-4385-8854-3A5ED19FC9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804" y="1071"/>
                <a:ext cx="0" cy="50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" name="Line 30">
                <a:extLst>
                  <a:ext uri="{FF2B5EF4-FFF2-40B4-BE49-F238E27FC236}">
                    <a16:creationId xmlns:a16="http://schemas.microsoft.com/office/drawing/2014/main" id="{BF960752-D9CF-4037-961A-5B881E6037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3" y="1773"/>
                <a:ext cx="0" cy="48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" name="Line 31">
                <a:extLst>
                  <a:ext uri="{FF2B5EF4-FFF2-40B4-BE49-F238E27FC236}">
                    <a16:creationId xmlns:a16="http://schemas.microsoft.com/office/drawing/2014/main" id="{FD741C90-A01B-4875-8F4C-82624EEC22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6" y="2258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stealth" w="sm" len="med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Text Box 32">
                <a:extLst>
                  <a:ext uri="{FF2B5EF4-FFF2-40B4-BE49-F238E27FC236}">
                    <a16:creationId xmlns:a16="http://schemas.microsoft.com/office/drawing/2014/main" id="{553F09CA-E248-452C-AA46-0152479D3D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4" y="2426"/>
                <a:ext cx="912" cy="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zh-CN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kumimoji="1" lang="zh-CN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kumimoji="1" lang="zh-CN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同时请求中断</a:t>
                </a:r>
              </a:p>
            </p:txBody>
          </p:sp>
          <p:sp>
            <p:nvSpPr>
              <p:cNvPr id="32" name="Line 33">
                <a:extLst>
                  <a:ext uri="{FF2B5EF4-FFF2-40B4-BE49-F238E27FC236}">
                    <a16:creationId xmlns:a16="http://schemas.microsoft.com/office/drawing/2014/main" id="{BA0C240C-5CA8-49E7-8438-394354E515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1" y="2258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stealth" w="sm" len="med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Line 34">
                <a:extLst>
                  <a:ext uri="{FF2B5EF4-FFF2-40B4-BE49-F238E27FC236}">
                    <a16:creationId xmlns:a16="http://schemas.microsoft.com/office/drawing/2014/main" id="{BF3E8AB2-7A04-4B09-B724-8A33D3BDF3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509" y="1506"/>
                <a:ext cx="0" cy="10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Line 35">
                <a:extLst>
                  <a:ext uri="{FF2B5EF4-FFF2-40B4-BE49-F238E27FC236}">
                    <a16:creationId xmlns:a16="http://schemas.microsoft.com/office/drawing/2014/main" id="{A4208965-AFEA-4930-B7DD-39830AA2CF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1" y="1326"/>
                <a:ext cx="0" cy="22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Line 36">
                <a:extLst>
                  <a:ext uri="{FF2B5EF4-FFF2-40B4-BE49-F238E27FC236}">
                    <a16:creationId xmlns:a16="http://schemas.microsoft.com/office/drawing/2014/main" id="{A4653015-A41A-46D9-B2E2-E37247977F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7" y="1326"/>
                <a:ext cx="0" cy="22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Line 37">
                <a:extLst>
                  <a:ext uri="{FF2B5EF4-FFF2-40B4-BE49-F238E27FC236}">
                    <a16:creationId xmlns:a16="http://schemas.microsoft.com/office/drawing/2014/main" id="{BEC1B5F1-793B-4822-86DB-F91716019D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1" y="1553"/>
                <a:ext cx="0" cy="22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Line 38">
                <a:extLst>
                  <a:ext uri="{FF2B5EF4-FFF2-40B4-BE49-F238E27FC236}">
                    <a16:creationId xmlns:a16="http://schemas.microsoft.com/office/drawing/2014/main" id="{4B5A70D8-9EAD-422F-AF17-E212326CE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3682" y="1475"/>
                <a:ext cx="0" cy="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Line 39">
                <a:extLst>
                  <a:ext uri="{FF2B5EF4-FFF2-40B4-BE49-F238E27FC236}">
                    <a16:creationId xmlns:a16="http://schemas.microsoft.com/office/drawing/2014/main" id="{FEBEE8DF-F905-46D6-834F-E4B0923C6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1" y="1783"/>
                <a:ext cx="0" cy="48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Line 40">
                <a:extLst>
                  <a:ext uri="{FF2B5EF4-FFF2-40B4-BE49-F238E27FC236}">
                    <a16:creationId xmlns:a16="http://schemas.microsoft.com/office/drawing/2014/main" id="{DB97C545-5B59-4675-85BB-D1F67E2862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9" y="1543"/>
                <a:ext cx="0" cy="7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Line 41">
                <a:extLst>
                  <a:ext uri="{FF2B5EF4-FFF2-40B4-BE49-F238E27FC236}">
                    <a16:creationId xmlns:a16="http://schemas.microsoft.com/office/drawing/2014/main" id="{4A9D954E-7F10-4FCF-B1CE-F358681E33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" y="2002"/>
                <a:ext cx="44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Line 42">
                <a:extLst>
                  <a:ext uri="{FF2B5EF4-FFF2-40B4-BE49-F238E27FC236}">
                    <a16:creationId xmlns:a16="http://schemas.microsoft.com/office/drawing/2014/main" id="{B307DA73-DDB9-476A-AAF4-CA74A8F787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" y="1780"/>
                <a:ext cx="44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Line 43">
                <a:extLst>
                  <a:ext uri="{FF2B5EF4-FFF2-40B4-BE49-F238E27FC236}">
                    <a16:creationId xmlns:a16="http://schemas.microsoft.com/office/drawing/2014/main" id="{E5439D76-1D15-4EB9-8AEF-27C651C0E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" y="1557"/>
                <a:ext cx="44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Line 44">
                <a:extLst>
                  <a:ext uri="{FF2B5EF4-FFF2-40B4-BE49-F238E27FC236}">
                    <a16:creationId xmlns:a16="http://schemas.microsoft.com/office/drawing/2014/main" id="{BAC828F9-76EB-4FAD-B3F4-77D73A216B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" y="1314"/>
                <a:ext cx="44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7" name="Text Box 45">
              <a:extLst>
                <a:ext uri="{FF2B5EF4-FFF2-40B4-BE49-F238E27FC236}">
                  <a16:creationId xmlns:a16="http://schemas.microsoft.com/office/drawing/2014/main" id="{D0B920E5-90BC-4CB9-9F74-BB0392A42D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3" y="2795"/>
              <a:ext cx="3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CPU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执行程序轨迹（新屏蔽字）</a:t>
              </a:r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E855E0E7-FDA1-42E6-97F3-DB2D95DA6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312" y="18864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E98A7D2-A128-4BD6-B663-3BC9C56A4E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718355"/>
              </p:ext>
            </p:extLst>
          </p:nvPr>
        </p:nvGraphicFramePr>
        <p:xfrm>
          <a:off x="7308304" y="187128"/>
          <a:ext cx="1224136" cy="6670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5" name="Visio" r:id="rId3" imgW="1018757" imgH="5563871" progId="Visio.Drawing.11">
                  <p:embed/>
                </p:oleObj>
              </mc:Choice>
              <mc:Fallback>
                <p:oleObj name="Visio" r:id="rId3" imgW="1018757" imgH="5563871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304" y="187128"/>
                        <a:ext cx="1224136" cy="66708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655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kern="1200" dirty="0">
                <a:latin typeface="+mj-ea"/>
                <a:cs typeface="+mn-cs"/>
              </a:rPr>
              <a:t>7.4.4</a:t>
            </a:r>
            <a:r>
              <a:rPr lang="en-US" altLang="zh-CN" sz="2800" kern="1200" dirty="0">
                <a:cs typeface="+mn-cs"/>
              </a:rPr>
              <a:t> </a:t>
            </a:r>
            <a:r>
              <a:rPr lang="zh-CN" altLang="en-US" sz="2800" kern="1200" dirty="0">
                <a:cs typeface="+mn-cs"/>
              </a:rPr>
              <a:t>多级中断技术</a:t>
            </a:r>
            <a:endParaRPr lang="en-US" altLang="zh-CN" sz="2800" kern="1200" dirty="0"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25423-0246-4FD9-AE39-D807AFD70A47}"/>
              </a:ext>
            </a:extLst>
          </p:cNvPr>
          <p:cNvSpPr/>
          <p:nvPr/>
        </p:nvSpPr>
        <p:spPr>
          <a:xfrm>
            <a:off x="107504" y="764704"/>
            <a:ext cx="3716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多级中断的断点保护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BF88B2D-423C-4D33-A583-942564AC3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484784"/>
            <a:ext cx="53990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断点进栈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3F82D0-31F4-499D-8B30-28F2BA0E3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170584"/>
            <a:ext cx="4318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断点存入“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0 ”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地址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C2B0A15-D5D8-46DE-81CA-D37E1A12F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647" y="2170584"/>
            <a:ext cx="28797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中断隐指令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完成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6B07DC0-8388-4863-B1AF-6A74E352C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847" y="3008784"/>
            <a:ext cx="18002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中断周期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891BA2B-7B7D-4BC3-BC0D-E89A7BBF2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847" y="3600922"/>
            <a:ext cx="2159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命令存储器写</a:t>
            </a: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F07BF25E-DEEB-4784-B4C0-052254272BAC}"/>
              </a:ext>
            </a:extLst>
          </p:cNvPr>
          <p:cNvGrpSpPr>
            <a:grpSpLocks/>
          </p:cNvGrpSpPr>
          <p:nvPr/>
        </p:nvGrpSpPr>
        <p:grpSpPr bwMode="auto">
          <a:xfrm>
            <a:off x="3038847" y="3008784"/>
            <a:ext cx="1800225" cy="431800"/>
            <a:chOff x="1968" y="1776"/>
            <a:chExt cx="1134" cy="272"/>
          </a:xfrm>
        </p:grpSpPr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2ABB0884-152A-48B4-893D-A4A310EBC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776"/>
              <a:ext cx="113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        MAR</a:t>
              </a: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2D5727E5-BF26-4FB7-AF84-2182BEA6DA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1" y="1908"/>
              <a:ext cx="29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" name="Group 10">
            <a:extLst>
              <a:ext uri="{FF2B5EF4-FFF2-40B4-BE49-F238E27FC236}">
                <a16:creationId xmlns:a16="http://schemas.microsoft.com/office/drawing/2014/main" id="{26666C8B-8629-4787-A7C1-431B75FA70BB}"/>
              </a:ext>
            </a:extLst>
          </p:cNvPr>
          <p:cNvGrpSpPr>
            <a:grpSpLocks/>
          </p:cNvGrpSpPr>
          <p:nvPr/>
        </p:nvGrpSpPr>
        <p:grpSpPr bwMode="auto">
          <a:xfrm>
            <a:off x="3038847" y="4193059"/>
            <a:ext cx="2159000" cy="431800"/>
            <a:chOff x="1968" y="2522"/>
            <a:chExt cx="1360" cy="272"/>
          </a:xfrm>
        </p:grpSpPr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483E8297-E363-4223-B00C-4F3C4E22F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522"/>
              <a:ext cx="136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PC         MDR</a:t>
              </a: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F1BED66D-4D10-48C7-9748-1068A1230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3" y="2654"/>
              <a:ext cx="29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6" name="Group 13">
            <a:extLst>
              <a:ext uri="{FF2B5EF4-FFF2-40B4-BE49-F238E27FC236}">
                <a16:creationId xmlns:a16="http://schemas.microsoft.com/office/drawing/2014/main" id="{3C569D18-FCA2-4EE9-A4EF-02268562950C}"/>
              </a:ext>
            </a:extLst>
          </p:cNvPr>
          <p:cNvGrpSpPr>
            <a:grpSpLocks/>
          </p:cNvGrpSpPr>
          <p:nvPr/>
        </p:nvGrpSpPr>
        <p:grpSpPr bwMode="auto">
          <a:xfrm>
            <a:off x="3038847" y="4786784"/>
            <a:ext cx="4318000" cy="431800"/>
            <a:chOff x="1968" y="2896"/>
            <a:chExt cx="2720" cy="272"/>
          </a:xfrm>
        </p:grpSpPr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A8E31FFF-E138-4DD6-AF48-3CA5F4C56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896"/>
              <a:ext cx="272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(MDR)         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存入存储器</a:t>
              </a: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4A9788A3-5A9E-4A09-9BA4-D4AFA42D98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9" y="3028"/>
              <a:ext cx="29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9" name="Rectangle 16">
            <a:extLst>
              <a:ext uri="{FF2B5EF4-FFF2-40B4-BE49-F238E27FC236}">
                <a16:creationId xmlns:a16="http://schemas.microsoft.com/office/drawing/2014/main" id="{9CE06947-510B-45A8-9388-3A20C2AA1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847" y="5472584"/>
            <a:ext cx="64785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三次中断，三个断点都存入 “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0 ”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地址</a:t>
            </a:r>
          </a:p>
        </p:txBody>
      </p:sp>
      <p:grpSp>
        <p:nvGrpSpPr>
          <p:cNvPr id="20" name="Group 18">
            <a:extLst>
              <a:ext uri="{FF2B5EF4-FFF2-40B4-BE49-F238E27FC236}">
                <a16:creationId xmlns:a16="http://schemas.microsoft.com/office/drawing/2014/main" id="{F72BDEB0-A779-41F3-B700-3AD7F3312765}"/>
              </a:ext>
            </a:extLst>
          </p:cNvPr>
          <p:cNvGrpSpPr>
            <a:grpSpLocks/>
          </p:cNvGrpSpPr>
          <p:nvPr/>
        </p:nvGrpSpPr>
        <p:grpSpPr bwMode="auto">
          <a:xfrm>
            <a:off x="5537572" y="4193059"/>
            <a:ext cx="2201863" cy="457200"/>
            <a:chOff x="3542" y="2522"/>
            <a:chExt cx="1387" cy="288"/>
          </a:xfrm>
        </p:grpSpPr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59C94FA6-4458-4268-AD60-D28205922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2" y="2522"/>
              <a:ext cx="1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断点         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MDR</a:t>
              </a:r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877839E6-2EFD-4F7E-9324-D9207B333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663"/>
              <a:ext cx="3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3" name="Group 21">
            <a:extLst>
              <a:ext uri="{FF2B5EF4-FFF2-40B4-BE49-F238E27FC236}">
                <a16:creationId xmlns:a16="http://schemas.microsoft.com/office/drawing/2014/main" id="{44D1E324-F5AA-4D4D-B1F3-4A4CFB84E2B5}"/>
              </a:ext>
            </a:extLst>
          </p:cNvPr>
          <p:cNvGrpSpPr>
            <a:grpSpLocks/>
          </p:cNvGrpSpPr>
          <p:nvPr/>
        </p:nvGrpSpPr>
        <p:grpSpPr bwMode="auto">
          <a:xfrm>
            <a:off x="1133847" y="6071072"/>
            <a:ext cx="4289425" cy="519112"/>
            <a:chOff x="768" y="3705"/>
            <a:chExt cx="2702" cy="327"/>
          </a:xfrm>
        </p:grpSpPr>
        <p:sp>
          <p:nvSpPr>
            <p:cNvPr id="24" name="Rectangle 22">
              <a:extLst>
                <a:ext uri="{FF2B5EF4-FFF2-40B4-BE49-F238E27FC236}">
                  <a16:creationId xmlns:a16="http://schemas.microsoft.com/office/drawing/2014/main" id="{41D827E7-52BC-4EA4-B751-62672CCCC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760"/>
              <a:ext cx="38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4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？</a:t>
              </a:r>
              <a:endPara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12996713-B032-4D7C-A608-8DA26D38C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705"/>
              <a:ext cx="23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如何保证断点不丢失？</a:t>
              </a:r>
              <a:endPara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6" name="Rectangle 24">
            <a:extLst>
              <a:ext uri="{FF2B5EF4-FFF2-40B4-BE49-F238E27FC236}">
                <a16:creationId xmlns:a16="http://schemas.microsoft.com/office/drawing/2014/main" id="{05BF4BA8-5603-4106-B027-82D9F0584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647" y="1484784"/>
            <a:ext cx="28797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中断隐指令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完成</a:t>
            </a:r>
          </a:p>
        </p:txBody>
      </p:sp>
    </p:spTree>
    <p:extLst>
      <p:ext uri="{BB962C8B-B14F-4D97-AF65-F5344CB8AC3E}">
        <p14:creationId xmlns:p14="http://schemas.microsoft.com/office/powerpoint/2010/main" val="332881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9" grpId="0" autoUpdateAnimBg="0"/>
      <p:bldP spid="26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CC52647-1384-4B78-9360-C4997BD2E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7. 4  </a:t>
            </a:r>
            <a:r>
              <a:rPr lang="zh-CN" altLang="en-US" dirty="0"/>
              <a:t>程序中断控制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28800"/>
            <a:ext cx="8388424" cy="460851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7.4.1 </a:t>
            </a:r>
            <a:r>
              <a:rPr lang="zh-CN" altLang="en-US" sz="2800" dirty="0"/>
              <a:t>中断的基本概念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7.4.2  </a:t>
            </a:r>
            <a:r>
              <a:rPr lang="zh-CN" altLang="en-US" sz="2800" dirty="0"/>
              <a:t>中断的完整过程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7.4.3 </a:t>
            </a:r>
            <a:r>
              <a:rPr lang="zh-CN" altLang="en-US" sz="2800" dirty="0"/>
              <a:t>中断方式接口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7.4.4 </a:t>
            </a:r>
            <a:r>
              <a:rPr lang="zh-CN" altLang="en-US" sz="2800" dirty="0"/>
              <a:t>多级中断技术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7.4.5 MIPS</a:t>
            </a:r>
            <a:r>
              <a:rPr lang="zh-CN" altLang="en-US" sz="2800" dirty="0"/>
              <a:t>机中的中断机制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717BFD-39DE-4B08-9FCE-B751E79C144B}"/>
              </a:ext>
            </a:extLst>
          </p:cNvPr>
          <p:cNvSpPr/>
          <p:nvPr/>
        </p:nvSpPr>
        <p:spPr>
          <a:xfrm>
            <a:off x="683568" y="4797152"/>
            <a:ext cx="4536504" cy="6549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7.4.5 MIPS</a:t>
            </a:r>
            <a:r>
              <a:rPr lang="zh-CN" altLang="en-US" sz="2800" dirty="0">
                <a:solidFill>
                  <a:srgbClr val="000000"/>
                </a:solidFill>
              </a:rPr>
              <a:t>机中的中断机制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33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kern="1200" dirty="0">
                <a:latin typeface="+mj-ea"/>
                <a:cs typeface="+mn-cs"/>
              </a:rPr>
              <a:t>7.4.5 MIPS</a:t>
            </a:r>
            <a:r>
              <a:rPr lang="zh-CN" altLang="en-US" sz="2800" kern="1200" dirty="0">
                <a:latin typeface="+mj-ea"/>
                <a:cs typeface="+mn-cs"/>
              </a:rPr>
              <a:t>机中的中断机制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B6A0BEF-5CAF-4314-940B-1207793B9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2592288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1.MIPS</a:t>
            </a:r>
            <a:r>
              <a:rPr lang="zh-CN" altLang="en-US" dirty="0"/>
              <a:t>中断处理方式</a:t>
            </a:r>
            <a:endParaRPr lang="en-US" altLang="zh-CN" dirty="0"/>
          </a:p>
          <a:p>
            <a:pPr lvl="1"/>
            <a:r>
              <a:rPr lang="zh-CN" altLang="en-US" dirty="0"/>
              <a:t>异常（</a:t>
            </a:r>
            <a:r>
              <a:rPr lang="en-US" altLang="zh-CN" dirty="0"/>
              <a:t>Exception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指</a:t>
            </a:r>
            <a:r>
              <a:rPr lang="en-US" altLang="zh-CN" dirty="0"/>
              <a:t>CPU</a:t>
            </a:r>
            <a:r>
              <a:rPr lang="zh-CN" altLang="en-US" dirty="0"/>
              <a:t>执行的控制流中任何意外的改变</a:t>
            </a:r>
            <a:endParaRPr lang="en-US" altLang="zh-CN" dirty="0"/>
          </a:p>
          <a:p>
            <a:pPr lvl="1"/>
            <a:r>
              <a:rPr lang="zh-CN" altLang="en-US" dirty="0"/>
              <a:t>中断（</a:t>
            </a:r>
            <a:r>
              <a:rPr lang="en-US" altLang="zh-CN" dirty="0"/>
              <a:t>Interrupt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指由外部引起的事件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33B0E26-A1A5-43C9-91FB-528B4618A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007614"/>
              </p:ext>
            </p:extLst>
          </p:nvPr>
        </p:nvGraphicFramePr>
        <p:xfrm>
          <a:off x="683568" y="3501008"/>
          <a:ext cx="7920880" cy="3024336"/>
        </p:xfrm>
        <a:graphic>
          <a:graphicData uri="http://schemas.openxmlformats.org/drawingml/2006/table">
            <a:tbl>
              <a:tblPr firstRow="1" firstCol="1" bandRow="1"/>
              <a:tblGrid>
                <a:gridCol w="2639674">
                  <a:extLst>
                    <a:ext uri="{9D8B030D-6E8A-4147-A177-3AD203B41FA5}">
                      <a16:colId xmlns:a16="http://schemas.microsoft.com/office/drawing/2014/main" val="1183233097"/>
                    </a:ext>
                  </a:extLst>
                </a:gridCol>
                <a:gridCol w="2640603">
                  <a:extLst>
                    <a:ext uri="{9D8B030D-6E8A-4147-A177-3AD203B41FA5}">
                      <a16:colId xmlns:a16="http://schemas.microsoft.com/office/drawing/2014/main" val="2229738151"/>
                    </a:ext>
                  </a:extLst>
                </a:gridCol>
                <a:gridCol w="2640603">
                  <a:extLst>
                    <a:ext uri="{9D8B030D-6E8A-4147-A177-3AD203B41FA5}">
                      <a16:colId xmlns:a16="http://schemas.microsoft.com/office/drawing/2014/main" val="171848777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事件类型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来源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MIPS</a:t>
                      </a: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中的术语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19153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I/O</a:t>
                      </a: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设备请求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外部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中断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0992259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用户程序进行操作系统调用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552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算术溢出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6986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使用未定义的指令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32005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硬件故障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内部或外部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异常或中断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247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71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kern="1200" dirty="0">
                <a:latin typeface="+mj-ea"/>
                <a:cs typeface="+mn-cs"/>
              </a:rPr>
              <a:t>7.4.5 MIPS</a:t>
            </a:r>
            <a:r>
              <a:rPr lang="zh-CN" altLang="en-US" sz="2800" kern="1200" dirty="0">
                <a:latin typeface="+mj-ea"/>
                <a:cs typeface="+mn-cs"/>
              </a:rPr>
              <a:t>机中的中断机制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111A8E7-A32A-40AC-8EE9-55383AD22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>
                <a:solidFill>
                  <a:srgbClr val="000000"/>
                </a:solidFill>
              </a:rPr>
              <a:t>1.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MIPS</a:t>
            </a:r>
            <a:r>
              <a:rPr lang="zh-CN" altLang="en-US" dirty="0">
                <a:solidFill>
                  <a:srgbClr val="000000"/>
                </a:solidFill>
              </a:rPr>
              <a:t>中断处理方式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lvl="0" indent="0">
              <a:buNone/>
            </a:pPr>
            <a:r>
              <a:rPr lang="zh-CN" altLang="en-US" dirty="0">
                <a:solidFill>
                  <a:srgbClr val="000000"/>
                </a:solidFill>
              </a:rPr>
              <a:t>与中断有关的三个寄存器：</a:t>
            </a:r>
            <a:endParaRPr lang="en-US" altLang="zh-CN" dirty="0">
              <a:solidFill>
                <a:srgbClr val="000000"/>
              </a:solidFill>
            </a:endParaRPr>
          </a:p>
          <a:p>
            <a:pPr lvl="1" algn="just">
              <a:spcAft>
                <a:spcPts val="0"/>
              </a:spcAft>
            </a:pPr>
            <a:r>
              <a:rPr lang="zh-CN" altLang="zh-CN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异常程序中断计数器</a:t>
            </a:r>
            <a:r>
              <a:rPr lang="en-US" altLang="zh-CN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EPC</a:t>
            </a:r>
            <a:r>
              <a:rPr lang="zh-CN" altLang="zh-CN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i="1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Exception Program Counter</a:t>
            </a:r>
            <a:r>
              <a:rPr lang="zh-CN" altLang="zh-CN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	 </a:t>
            </a:r>
          </a:p>
          <a:p>
            <a:pPr lvl="2" algn="just">
              <a:spcAft>
                <a:spcPts val="0"/>
              </a:spcAft>
            </a:pPr>
            <a:r>
              <a:rPr lang="zh-CN" altLang="zh-CN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存放断点地址，</a:t>
            </a:r>
          </a:p>
          <a:p>
            <a:pPr lvl="1" algn="just">
              <a:spcAft>
                <a:spcPts val="0"/>
              </a:spcAft>
            </a:pPr>
            <a:r>
              <a:rPr lang="zh-CN" altLang="en-US" kern="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原因寄存器</a:t>
            </a:r>
            <a:r>
              <a:rPr lang="en-US" altLang="zh-CN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Cause</a:t>
            </a:r>
            <a:r>
              <a:rPr lang="en-US" altLang="zh-CN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</a:p>
          <a:p>
            <a:pPr lvl="2" algn="just">
              <a:spcAft>
                <a:spcPts val="0"/>
              </a:spcAft>
            </a:pPr>
            <a:r>
              <a:rPr lang="zh-CN" altLang="zh-CN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保存异常产生的原因</a:t>
            </a:r>
            <a:r>
              <a:rPr lang="en-US" altLang="zh-CN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kern="100" dirty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</a:pPr>
            <a:r>
              <a:rPr lang="en-US" altLang="zh-CN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Status</a:t>
            </a:r>
            <a:r>
              <a:rPr lang="zh-CN" altLang="zh-CN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寄存器</a:t>
            </a:r>
            <a:endParaRPr lang="en-US" altLang="zh-CN" kern="100" dirty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</a:pPr>
            <a:r>
              <a:rPr lang="zh-CN" altLang="en-US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存放</a:t>
            </a:r>
            <a:r>
              <a:rPr lang="zh-CN" altLang="zh-CN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是处理器状态和控制寄存器，包括确定</a:t>
            </a:r>
            <a:r>
              <a:rPr lang="en-US" altLang="zh-CN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的特权等级，对中断源的屏蔽等</a:t>
            </a:r>
            <a:r>
              <a:rPr lang="en-US" altLang="zh-CN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kern="100" dirty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700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indent="267970"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kern="1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MIPS</a:t>
            </a:r>
            <a:r>
              <a:rPr lang="zh-CN" altLang="zh-CN" sz="2800" b="1" kern="1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为实现中断在结构上的变化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D9B8059-5458-42D5-8157-F986EC351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CECED12-7FE1-4B36-A8D3-EF80EA3689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871468"/>
              </p:ext>
            </p:extLst>
          </p:nvPr>
        </p:nvGraphicFramePr>
        <p:xfrm>
          <a:off x="107504" y="1052736"/>
          <a:ext cx="8642376" cy="4752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9" name="Visio" r:id="rId3" imgW="7096595" imgH="3909700" progId="Visio.Drawing.11">
                  <p:embed/>
                </p:oleObj>
              </mc:Choice>
              <mc:Fallback>
                <p:oleObj name="Visio" r:id="rId3" imgW="7096595" imgH="39097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1052736"/>
                        <a:ext cx="8642376" cy="47525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8E4D2080-C532-4673-BE95-4CEE14B5E51C}"/>
              </a:ext>
            </a:extLst>
          </p:cNvPr>
          <p:cNvSpPr/>
          <p:nvPr/>
        </p:nvSpPr>
        <p:spPr>
          <a:xfrm>
            <a:off x="6444208" y="1052736"/>
            <a:ext cx="2376264" cy="2304256"/>
          </a:xfrm>
          <a:prstGeom prst="rect">
            <a:avLst/>
          </a:prstGeom>
          <a:solidFill>
            <a:schemeClr val="accent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E895D9-9BA5-4DBE-B2F6-856C2873F670}"/>
              </a:ext>
            </a:extLst>
          </p:cNvPr>
          <p:cNvSpPr/>
          <p:nvPr/>
        </p:nvSpPr>
        <p:spPr>
          <a:xfrm>
            <a:off x="1547664" y="6165304"/>
            <a:ext cx="5661102" cy="46166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）增加中断服务程序返回指令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ERET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7BFBAA-8185-497A-9FFF-69E3592D537C}"/>
              </a:ext>
            </a:extLst>
          </p:cNvPr>
          <p:cNvSpPr txBox="1"/>
          <p:nvPr/>
        </p:nvSpPr>
        <p:spPr>
          <a:xfrm>
            <a:off x="6732240" y="332656"/>
            <a:ext cx="2100401" cy="46166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indent="266700" algn="just">
              <a:spcAft>
                <a:spcPts val="0"/>
              </a:spcAft>
              <a:defRPr sz="2400" kern="1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CP0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128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indent="267970"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kern="1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MIPS</a:t>
            </a:r>
            <a:r>
              <a:rPr lang="zh-CN" altLang="zh-CN" sz="2800" b="1" kern="1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为实现中断在结构上的变化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195F5F-B673-4469-AFF9-AE67AFFC4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504056"/>
          </a:xfrm>
        </p:spPr>
        <p:txBody>
          <a:bodyPr/>
          <a:lstStyle/>
          <a:p>
            <a:r>
              <a:rPr lang="en-US" altLang="zh-CN" dirty="0"/>
              <a:t>CAUSE</a:t>
            </a:r>
            <a:r>
              <a:rPr lang="zh-CN" altLang="zh-CN" dirty="0"/>
              <a:t>寄存器</a:t>
            </a: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FFF98B-6F04-4375-8A0F-78DA50656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888204"/>
              </p:ext>
            </p:extLst>
          </p:nvPr>
        </p:nvGraphicFramePr>
        <p:xfrm>
          <a:off x="107504" y="1556792"/>
          <a:ext cx="8928992" cy="792088"/>
        </p:xfrm>
        <a:graphic>
          <a:graphicData uri="http://schemas.openxmlformats.org/drawingml/2006/table">
            <a:tbl>
              <a:tblPr firstRow="1" firstCol="1" bandRow="1"/>
              <a:tblGrid>
                <a:gridCol w="917655">
                  <a:extLst>
                    <a:ext uri="{9D8B030D-6E8A-4147-A177-3AD203B41FA5}">
                      <a16:colId xmlns:a16="http://schemas.microsoft.com/office/drawing/2014/main" val="3458590220"/>
                    </a:ext>
                  </a:extLst>
                </a:gridCol>
                <a:gridCol w="530908">
                  <a:extLst>
                    <a:ext uri="{9D8B030D-6E8A-4147-A177-3AD203B41FA5}">
                      <a16:colId xmlns:a16="http://schemas.microsoft.com/office/drawing/2014/main" val="4267270570"/>
                    </a:ext>
                  </a:extLst>
                </a:gridCol>
                <a:gridCol w="426515">
                  <a:extLst>
                    <a:ext uri="{9D8B030D-6E8A-4147-A177-3AD203B41FA5}">
                      <a16:colId xmlns:a16="http://schemas.microsoft.com/office/drawing/2014/main" val="3071851613"/>
                    </a:ext>
                  </a:extLst>
                </a:gridCol>
                <a:gridCol w="702906">
                  <a:extLst>
                    <a:ext uri="{9D8B030D-6E8A-4147-A177-3AD203B41FA5}">
                      <a16:colId xmlns:a16="http://schemas.microsoft.com/office/drawing/2014/main" val="892268626"/>
                    </a:ext>
                  </a:extLst>
                </a:gridCol>
                <a:gridCol w="455348">
                  <a:extLst>
                    <a:ext uri="{9D8B030D-6E8A-4147-A177-3AD203B41FA5}">
                      <a16:colId xmlns:a16="http://schemas.microsoft.com/office/drawing/2014/main" val="2053768647"/>
                    </a:ext>
                  </a:extLst>
                </a:gridCol>
                <a:gridCol w="487162">
                  <a:extLst>
                    <a:ext uri="{9D8B030D-6E8A-4147-A177-3AD203B41FA5}">
                      <a16:colId xmlns:a16="http://schemas.microsoft.com/office/drawing/2014/main" val="2352234119"/>
                    </a:ext>
                  </a:extLst>
                </a:gridCol>
                <a:gridCol w="702906">
                  <a:extLst>
                    <a:ext uri="{9D8B030D-6E8A-4147-A177-3AD203B41FA5}">
                      <a16:colId xmlns:a16="http://schemas.microsoft.com/office/drawing/2014/main" val="2736018380"/>
                    </a:ext>
                  </a:extLst>
                </a:gridCol>
                <a:gridCol w="426515">
                  <a:extLst>
                    <a:ext uri="{9D8B030D-6E8A-4147-A177-3AD203B41FA5}">
                      <a16:colId xmlns:a16="http://schemas.microsoft.com/office/drawing/2014/main" val="1895095343"/>
                    </a:ext>
                  </a:extLst>
                </a:gridCol>
                <a:gridCol w="509035">
                  <a:extLst>
                    <a:ext uri="{9D8B030D-6E8A-4147-A177-3AD203B41FA5}">
                      <a16:colId xmlns:a16="http://schemas.microsoft.com/office/drawing/2014/main" val="3404395476"/>
                    </a:ext>
                  </a:extLst>
                </a:gridCol>
                <a:gridCol w="702906">
                  <a:extLst>
                    <a:ext uri="{9D8B030D-6E8A-4147-A177-3AD203B41FA5}">
                      <a16:colId xmlns:a16="http://schemas.microsoft.com/office/drawing/2014/main" val="228520938"/>
                    </a:ext>
                  </a:extLst>
                </a:gridCol>
                <a:gridCol w="702906">
                  <a:extLst>
                    <a:ext uri="{9D8B030D-6E8A-4147-A177-3AD203B41FA5}">
                      <a16:colId xmlns:a16="http://schemas.microsoft.com/office/drawing/2014/main" val="1780582757"/>
                    </a:ext>
                  </a:extLst>
                </a:gridCol>
                <a:gridCol w="651207">
                  <a:extLst>
                    <a:ext uri="{9D8B030D-6E8A-4147-A177-3AD203B41FA5}">
                      <a16:colId xmlns:a16="http://schemas.microsoft.com/office/drawing/2014/main" val="1178470121"/>
                    </a:ext>
                  </a:extLst>
                </a:gridCol>
                <a:gridCol w="321129">
                  <a:extLst>
                    <a:ext uri="{9D8B030D-6E8A-4147-A177-3AD203B41FA5}">
                      <a16:colId xmlns:a16="http://schemas.microsoft.com/office/drawing/2014/main" val="2404658350"/>
                    </a:ext>
                  </a:extLst>
                </a:gridCol>
                <a:gridCol w="843090">
                  <a:extLst>
                    <a:ext uri="{9D8B030D-6E8A-4147-A177-3AD203B41FA5}">
                      <a16:colId xmlns:a16="http://schemas.microsoft.com/office/drawing/2014/main" val="1740843984"/>
                    </a:ext>
                  </a:extLst>
                </a:gridCol>
                <a:gridCol w="548804">
                  <a:extLst>
                    <a:ext uri="{9D8B030D-6E8A-4147-A177-3AD203B41FA5}">
                      <a16:colId xmlns:a16="http://schemas.microsoft.com/office/drawing/2014/main" val="925888051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29-28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26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25-24 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21-16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15-10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9-8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6-2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1-0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7403374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字段名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BD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CE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DC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PCI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IV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WP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IP7-2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IP1-0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ExCode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242637"/>
                  </a:ext>
                </a:extLst>
              </a:tr>
            </a:tbl>
          </a:graphicData>
        </a:graphic>
      </p:graphicFrame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AF2DD37-E690-4AE9-8729-02B104FA0D6A}"/>
              </a:ext>
            </a:extLst>
          </p:cNvPr>
          <p:cNvSpPr txBox="1">
            <a:spLocks/>
          </p:cNvSpPr>
          <p:nvPr/>
        </p:nvSpPr>
        <p:spPr bwMode="auto">
          <a:xfrm>
            <a:off x="0" y="2492896"/>
            <a:ext cx="8712968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kern="0" dirty="0"/>
              <a:t>STATUS</a:t>
            </a:r>
            <a:r>
              <a:rPr lang="zh-CN" altLang="zh-CN" kern="0" dirty="0"/>
              <a:t>寄存器</a:t>
            </a:r>
            <a:endParaRPr lang="zh-CN" altLang="en-US" kern="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B5D5A79-B2BE-4F49-9FA5-75DEFF907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081238"/>
              </p:ext>
            </p:extLst>
          </p:nvPr>
        </p:nvGraphicFramePr>
        <p:xfrm>
          <a:off x="107504" y="3140968"/>
          <a:ext cx="9036495" cy="1728192"/>
        </p:xfrm>
        <a:graphic>
          <a:graphicData uri="http://schemas.openxmlformats.org/drawingml/2006/table">
            <a:tbl>
              <a:tblPr firstRow="1" firstCol="1" bandRow="1"/>
              <a:tblGrid>
                <a:gridCol w="1444786">
                  <a:extLst>
                    <a:ext uri="{9D8B030D-6E8A-4147-A177-3AD203B41FA5}">
                      <a16:colId xmlns:a16="http://schemas.microsoft.com/office/drawing/2014/main" val="3654182210"/>
                    </a:ext>
                  </a:extLst>
                </a:gridCol>
                <a:gridCol w="1089078">
                  <a:extLst>
                    <a:ext uri="{9D8B030D-6E8A-4147-A177-3AD203B41FA5}">
                      <a16:colId xmlns:a16="http://schemas.microsoft.com/office/drawing/2014/main" val="1408976440"/>
                    </a:ext>
                  </a:extLst>
                </a:gridCol>
                <a:gridCol w="481962">
                  <a:extLst>
                    <a:ext uri="{9D8B030D-6E8A-4147-A177-3AD203B41FA5}">
                      <a16:colId xmlns:a16="http://schemas.microsoft.com/office/drawing/2014/main" val="2621264617"/>
                    </a:ext>
                  </a:extLst>
                </a:gridCol>
                <a:gridCol w="470983">
                  <a:extLst>
                    <a:ext uri="{9D8B030D-6E8A-4147-A177-3AD203B41FA5}">
                      <a16:colId xmlns:a16="http://schemas.microsoft.com/office/drawing/2014/main" val="304684602"/>
                    </a:ext>
                  </a:extLst>
                </a:gridCol>
                <a:gridCol w="475375">
                  <a:extLst>
                    <a:ext uri="{9D8B030D-6E8A-4147-A177-3AD203B41FA5}">
                      <a16:colId xmlns:a16="http://schemas.microsoft.com/office/drawing/2014/main" val="4134886622"/>
                    </a:ext>
                  </a:extLst>
                </a:gridCol>
                <a:gridCol w="595042">
                  <a:extLst>
                    <a:ext uri="{9D8B030D-6E8A-4147-A177-3AD203B41FA5}">
                      <a16:colId xmlns:a16="http://schemas.microsoft.com/office/drawing/2014/main" val="592365066"/>
                    </a:ext>
                  </a:extLst>
                </a:gridCol>
                <a:gridCol w="500624">
                  <a:extLst>
                    <a:ext uri="{9D8B030D-6E8A-4147-A177-3AD203B41FA5}">
                      <a16:colId xmlns:a16="http://schemas.microsoft.com/office/drawing/2014/main" val="2042092134"/>
                    </a:ext>
                  </a:extLst>
                </a:gridCol>
                <a:gridCol w="500624">
                  <a:extLst>
                    <a:ext uri="{9D8B030D-6E8A-4147-A177-3AD203B41FA5}">
                      <a16:colId xmlns:a16="http://schemas.microsoft.com/office/drawing/2014/main" val="1306387932"/>
                    </a:ext>
                  </a:extLst>
                </a:gridCol>
                <a:gridCol w="500624">
                  <a:extLst>
                    <a:ext uri="{9D8B030D-6E8A-4147-A177-3AD203B41FA5}">
                      <a16:colId xmlns:a16="http://schemas.microsoft.com/office/drawing/2014/main" val="911430385"/>
                    </a:ext>
                  </a:extLst>
                </a:gridCol>
                <a:gridCol w="500624">
                  <a:extLst>
                    <a:ext uri="{9D8B030D-6E8A-4147-A177-3AD203B41FA5}">
                      <a16:colId xmlns:a16="http://schemas.microsoft.com/office/drawing/2014/main" val="2039092094"/>
                    </a:ext>
                  </a:extLst>
                </a:gridCol>
                <a:gridCol w="697142">
                  <a:extLst>
                    <a:ext uri="{9D8B030D-6E8A-4147-A177-3AD203B41FA5}">
                      <a16:colId xmlns:a16="http://schemas.microsoft.com/office/drawing/2014/main" val="2645747141"/>
                    </a:ext>
                  </a:extLst>
                </a:gridCol>
                <a:gridCol w="500624">
                  <a:extLst>
                    <a:ext uri="{9D8B030D-6E8A-4147-A177-3AD203B41FA5}">
                      <a16:colId xmlns:a16="http://schemas.microsoft.com/office/drawing/2014/main" val="3475374065"/>
                    </a:ext>
                  </a:extLst>
                </a:gridCol>
                <a:gridCol w="500624">
                  <a:extLst>
                    <a:ext uri="{9D8B030D-6E8A-4147-A177-3AD203B41FA5}">
                      <a16:colId xmlns:a16="http://schemas.microsoft.com/office/drawing/2014/main" val="300477"/>
                    </a:ext>
                  </a:extLst>
                </a:gridCol>
                <a:gridCol w="778383">
                  <a:extLst>
                    <a:ext uri="{9D8B030D-6E8A-4147-A177-3AD203B41FA5}">
                      <a16:colId xmlns:a16="http://schemas.microsoft.com/office/drawing/2014/main" val="294864938"/>
                    </a:ext>
                  </a:extLst>
                </a:gridCol>
              </a:tblGrid>
              <a:tr h="384043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31-28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26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18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17      16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606292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字段名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CU3-CU0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RP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MX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PX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BEV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TS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SR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NMI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Impl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583583"/>
                  </a:ext>
                </a:extLst>
              </a:tr>
              <a:tr h="192021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15                                                                         8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17353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字段名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IM7-IM0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F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KX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SX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UX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UM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R0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ERL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EXL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IE</a:t>
                      </a:r>
                      <a:endParaRPr lang="zh-CN" sz="12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196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35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indent="267970"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kern="1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3.MIPS</a:t>
            </a:r>
            <a:r>
              <a:rPr lang="zh-CN" altLang="zh-CN" sz="2800" b="1" kern="1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中断中断处理完整过程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195F5F-B673-4469-AFF9-AE67AFFC4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）中断请求</a:t>
            </a:r>
          </a:p>
          <a:p>
            <a:pPr lvl="1"/>
            <a:r>
              <a:rPr lang="zh-CN" altLang="en-US" dirty="0"/>
              <a:t>检测的时刻：每个时钟都会检测中断请求 ，如果有中断，则进入中断响应状态 </a:t>
            </a:r>
          </a:p>
          <a:p>
            <a:pPr lvl="1"/>
            <a:r>
              <a:rPr lang="zh-CN" altLang="en-US" dirty="0"/>
              <a:t>检测时的条件</a:t>
            </a:r>
            <a:r>
              <a:rPr lang="en-US" altLang="zh-CN" dirty="0"/>
              <a:t>:IE</a:t>
            </a:r>
          </a:p>
          <a:p>
            <a:pPr lvl="1"/>
            <a:r>
              <a:rPr lang="zh-CN" altLang="en-US" dirty="0"/>
              <a:t>有中断请求的条件： （</a:t>
            </a:r>
            <a:r>
              <a:rPr lang="en-US" altLang="zh-CN" dirty="0"/>
              <a:t>Verilog</a:t>
            </a:r>
            <a:r>
              <a:rPr lang="zh-CN" altLang="en-US" dirty="0"/>
              <a:t>）</a:t>
            </a:r>
          </a:p>
          <a:p>
            <a:pPr lvl="2"/>
            <a:r>
              <a:rPr lang="en-US" altLang="zh-CN" dirty="0"/>
              <a:t>assign </a:t>
            </a:r>
            <a:r>
              <a:rPr lang="en-US" altLang="zh-CN" dirty="0" err="1"/>
              <a:t>IntReq</a:t>
            </a:r>
            <a:r>
              <a:rPr lang="en-US" altLang="zh-CN" dirty="0"/>
              <a:t> = |</a:t>
            </a:r>
            <a:r>
              <a:rPr lang="en-US" altLang="zh-CN" dirty="0" err="1"/>
              <a:t>HWInt</a:t>
            </a:r>
            <a:r>
              <a:rPr lang="en-US" altLang="zh-CN" dirty="0"/>
              <a:t>[7:2] &amp; |IM[7:2] &amp; IE &amp; !EXL ; 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）中断判优</a:t>
            </a:r>
          </a:p>
          <a:p>
            <a:pPr lvl="1"/>
            <a:r>
              <a:rPr lang="zh-CN" altLang="en-US" dirty="0"/>
              <a:t>硬件判优</a:t>
            </a:r>
            <a:endParaRPr lang="en-US" altLang="zh-CN" dirty="0"/>
          </a:p>
          <a:p>
            <a:pPr lvl="1"/>
            <a:r>
              <a:rPr lang="zh-CN" altLang="en-US" dirty="0"/>
              <a:t>软件判优</a:t>
            </a:r>
            <a:r>
              <a:rPr lang="en-US" altLang="zh-CN" dirty="0"/>
              <a:t>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234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indent="267970"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kern="1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3.MIPS</a:t>
            </a:r>
            <a:r>
              <a:rPr lang="zh-CN" altLang="zh-CN" sz="2800" b="1" kern="1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中断中断处理完整过程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195F5F-B673-4469-AFF9-AE67AFFC4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266700" algn="just">
              <a:spcAft>
                <a:spcPts val="0"/>
              </a:spcAft>
            </a:pP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中断响应</a:t>
            </a:r>
            <a:endParaRPr lang="en-US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>
              <a:spcAft>
                <a:spcPts val="0"/>
              </a:spcAft>
            </a:pPr>
            <a:r>
              <a:rPr lang="zh-CN" altLang="zh-CN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保存</a:t>
            </a:r>
            <a:r>
              <a:rPr lang="en-US" altLang="zh-CN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：将断点地址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保存在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EPC</a:t>
            </a:r>
            <a:r>
              <a:rPr lang="zh-CN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中；</a:t>
            </a:r>
          </a:p>
          <a:p>
            <a:pPr lvl="1" indent="266700" algn="just">
              <a:spcAft>
                <a:spcPts val="0"/>
              </a:spcAft>
            </a:pPr>
            <a:r>
              <a:rPr lang="zh-CN" altLang="zh-CN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完成跳转</a:t>
            </a:r>
            <a:r>
              <a:rPr lang="zh-CN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←</a:t>
            </a:r>
            <a:r>
              <a:rPr lang="zh-CN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中断处理程序入口地址</a:t>
            </a:r>
          </a:p>
          <a:p>
            <a:pPr lvl="1" indent="266700" algn="just">
              <a:spcAft>
                <a:spcPts val="0"/>
              </a:spcAft>
            </a:pPr>
            <a:r>
              <a:rPr lang="zh-CN" altLang="zh-CN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关中断</a:t>
            </a:r>
            <a:r>
              <a:rPr lang="zh-CN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EXL</a:t>
            </a:r>
            <a:r>
              <a:rPr lang="zh-CN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置位，防止再次进入。</a:t>
            </a:r>
            <a:endParaRPr lang="en-US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）中断处理</a:t>
            </a:r>
            <a:endParaRPr lang="en-US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>
              <a:spcAft>
                <a:spcPts val="0"/>
              </a:spcAft>
            </a:pPr>
            <a:r>
              <a:rPr lang="zh-CN" alt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保存现场</a:t>
            </a:r>
            <a:endParaRPr lang="en-US" altLang="zh-CN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>
              <a:spcAft>
                <a:spcPts val="0"/>
              </a:spcAft>
            </a:pPr>
            <a:r>
              <a:rPr lang="zh-CN" alt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中断处理</a:t>
            </a:r>
            <a:endParaRPr lang="en-US" altLang="zh-CN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>
              <a:spcAft>
                <a:spcPts val="0"/>
              </a:spcAft>
            </a:pPr>
            <a:r>
              <a:rPr lang="zh-CN" alt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恢复现场</a:t>
            </a:r>
            <a:endParaRPr lang="en-US" altLang="zh-CN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>
              <a:spcAft>
                <a:spcPts val="0"/>
              </a:spcAft>
            </a:pPr>
            <a:r>
              <a:rPr lang="zh-CN" alt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中断返回</a:t>
            </a:r>
            <a:endParaRPr lang="zh-CN" altLang="zh-CN" kern="1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557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5">
            <a:extLst>
              <a:ext uri="{FF2B5EF4-FFF2-40B4-BE49-F238E27FC236}">
                <a16:creationId xmlns:a16="http://schemas.microsoft.com/office/drawing/2014/main" id="{29ED29A6-088B-46D1-8E60-2DA9F73A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indent="267970"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kern="1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4.CP0</a:t>
            </a:r>
            <a:r>
              <a:rPr lang="zh-CN" altLang="zh-CN" sz="2800" b="1" kern="1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b="1" kern="1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800" b="1" kern="100" dirty="0"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的协同工作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2340620-F31C-42D7-9FAE-F8AC162C7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19675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E35CEE8-5392-4946-8A4B-7A95CB5FF9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3992294"/>
              </p:ext>
            </p:extLst>
          </p:nvPr>
        </p:nvGraphicFramePr>
        <p:xfrm>
          <a:off x="539552" y="1268760"/>
          <a:ext cx="8100391" cy="4752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0" name="Visio" r:id="rId3" imgW="5180705" imgH="3038642" progId="Visio.Drawing.11">
                  <p:embed/>
                </p:oleObj>
              </mc:Choice>
              <mc:Fallback>
                <p:oleObj name="Visio" r:id="rId3" imgW="5180705" imgH="303864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268760"/>
                        <a:ext cx="8100391" cy="47525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500543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D4FBB3E-ED7A-45CF-9EDF-D6F6BC61E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/>
            <a:r>
              <a:rPr lang="zh-CN" altLang="en-US" b="1" dirty="0"/>
              <a:t>第 </a:t>
            </a:r>
            <a:r>
              <a:rPr lang="en-US" altLang="zh-CN" b="1" dirty="0"/>
              <a:t>7 </a:t>
            </a:r>
            <a:r>
              <a:rPr lang="zh-CN" altLang="en-US" b="1" dirty="0"/>
              <a:t>章 输入</a:t>
            </a:r>
            <a:r>
              <a:rPr lang="en-US" altLang="zh-CN" b="1" dirty="0"/>
              <a:t>/</a:t>
            </a:r>
            <a:r>
              <a:rPr lang="zh-CN" altLang="en-US" b="1" dirty="0"/>
              <a:t>输出系统</a:t>
            </a:r>
          </a:p>
        </p:txBody>
      </p:sp>
      <p:sp>
        <p:nvSpPr>
          <p:cNvPr id="4099" name="内容占位符 1">
            <a:extLst>
              <a:ext uri="{FF2B5EF4-FFF2-40B4-BE49-F238E27FC236}">
                <a16:creationId xmlns:a16="http://schemas.microsoft.com/office/drawing/2014/main" id="{4C1ACEFE-A55B-48FB-91A9-3906A3E66A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600" y="1268760"/>
            <a:ext cx="7450138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7. 1  </a:t>
            </a:r>
            <a:r>
              <a:rPr lang="zh-CN" altLang="en-US" dirty="0"/>
              <a:t>概 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2 I / O  </a:t>
            </a:r>
            <a:r>
              <a:rPr lang="zh-CN" altLang="en-US" dirty="0"/>
              <a:t>接 口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7. 3  </a:t>
            </a:r>
            <a:r>
              <a:rPr lang="zh-CN" altLang="en-US" dirty="0"/>
              <a:t>直接程序控制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7. 4  </a:t>
            </a:r>
            <a:r>
              <a:rPr lang="zh-CN" altLang="en-US" dirty="0"/>
              <a:t>程序中断控制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5 DMA</a:t>
            </a:r>
            <a:r>
              <a:rPr lang="zh-CN" altLang="en-US" dirty="0"/>
              <a:t>技 术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7. 6  </a:t>
            </a:r>
            <a:r>
              <a:rPr lang="zh-CN" altLang="en-US" dirty="0"/>
              <a:t>通 道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971600" y="3645024"/>
            <a:ext cx="3153427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altLang="zh-CN" sz="3200" dirty="0">
                <a:solidFill>
                  <a:srgbClr val="000000"/>
                </a:solidFill>
              </a:rPr>
              <a:t>7. 5 DMA</a:t>
            </a:r>
            <a:r>
              <a:rPr lang="zh-CN" altLang="en-US" sz="3200" dirty="0">
                <a:solidFill>
                  <a:srgbClr val="000000"/>
                </a:solidFill>
              </a:rPr>
              <a:t>技术</a:t>
            </a:r>
          </a:p>
        </p:txBody>
      </p:sp>
    </p:spTree>
    <p:extLst>
      <p:ext uri="{BB962C8B-B14F-4D97-AF65-F5344CB8AC3E}">
        <p14:creationId xmlns:p14="http://schemas.microsoft.com/office/powerpoint/2010/main" val="311281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CC52647-1384-4B78-9360-C4997BD2E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5 DMA</a:t>
            </a:r>
            <a:r>
              <a:rPr lang="zh-CN" altLang="en-US" dirty="0"/>
              <a:t>技 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28801"/>
            <a:ext cx="8388424" cy="38164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7.4.1 DMA</a:t>
            </a:r>
            <a:r>
              <a:rPr lang="zh-CN" altLang="en-US" sz="2800" dirty="0"/>
              <a:t>方式概述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7.5.2 DMA</a:t>
            </a:r>
            <a:r>
              <a:rPr lang="zh-CN" altLang="en-US" sz="2800" dirty="0"/>
              <a:t>控制器的基本结构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7.5.3 DMA</a:t>
            </a:r>
            <a:r>
              <a:rPr lang="zh-CN" altLang="en-US" sz="2800" dirty="0"/>
              <a:t>的工作过程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7.5.4 DMA</a:t>
            </a:r>
            <a:r>
              <a:rPr lang="zh-CN" altLang="en-US" sz="2800" dirty="0"/>
              <a:t>控制器的类型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  <a:defRPr/>
            </a:pP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4009A7-808A-444D-8F86-716C47410EE7}"/>
              </a:ext>
            </a:extLst>
          </p:cNvPr>
          <p:cNvSpPr/>
          <p:nvPr/>
        </p:nvSpPr>
        <p:spPr>
          <a:xfrm>
            <a:off x="683568" y="1700808"/>
            <a:ext cx="3600400" cy="6549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7.5.1 DMA</a:t>
            </a:r>
            <a:r>
              <a:rPr lang="zh-CN" altLang="en-US" sz="2800" dirty="0">
                <a:solidFill>
                  <a:srgbClr val="000000"/>
                </a:solidFill>
              </a:rPr>
              <a:t>方式概述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2654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47E9315-24DB-4FB7-B578-BBDCABDD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DMA</a:t>
            </a:r>
            <a:r>
              <a:rPr lang="zh-CN" altLang="en-US" dirty="0"/>
              <a:t>方式概述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A509587-5B7E-4290-9D1E-EFD451757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836712"/>
            <a:ext cx="8712968" cy="3600400"/>
          </a:xfrm>
        </p:spPr>
        <p:txBody>
          <a:bodyPr/>
          <a:lstStyle/>
          <a:p>
            <a:pPr marL="342900" lvl="0" indent="-342900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26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1.DMA</a:t>
            </a:r>
            <a:r>
              <a:rPr lang="zh-CN" altLang="en-US" sz="26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方式的特点</a:t>
            </a:r>
            <a:endParaRPr lang="en-US" altLang="zh-CN" sz="26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</a:pPr>
            <a:r>
              <a:rPr lang="zh-CN" altLang="en-US" sz="20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外设与主存间建立一个由硬件管理的数据通路（</a:t>
            </a:r>
            <a:r>
              <a:rPr lang="zh-CN" altLang="en-US" sz="2000" kern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虚拟通路，还是通过系统总线</a:t>
            </a:r>
            <a:r>
              <a:rPr lang="zh-CN" altLang="en-US" sz="20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en-US" altLang="zh-CN" sz="2000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</a:pPr>
            <a:r>
              <a:rPr lang="en-US" altLang="zh-CN" sz="20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lang="zh-CN" altLang="en-US" sz="20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不介入外设与主存的数据传送操作（</a:t>
            </a:r>
            <a:r>
              <a:rPr lang="en-US" altLang="zh-CN" sz="2000" kern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DMAC</a:t>
            </a:r>
            <a:r>
              <a:rPr lang="zh-CN" altLang="en-US" sz="2000" kern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控制完成</a:t>
            </a:r>
            <a:r>
              <a:rPr lang="zh-CN" altLang="en-US" sz="20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en-US" altLang="zh-CN" sz="2000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</a:pPr>
            <a:r>
              <a:rPr lang="zh-CN" altLang="en-US" sz="20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减少</a:t>
            </a:r>
            <a:r>
              <a:rPr lang="en-US" altLang="zh-CN" sz="20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lang="zh-CN" altLang="en-US" sz="20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开销，提升效率</a:t>
            </a:r>
            <a:endParaRPr lang="en-US" altLang="zh-CN" sz="2000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</a:pPr>
            <a:r>
              <a:rPr lang="en-US" altLang="zh-CN" sz="20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DMA</a:t>
            </a:r>
            <a:r>
              <a:rPr lang="zh-CN" altLang="zh-CN" sz="20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方式只能处理简单的数据传送</a:t>
            </a:r>
            <a:endParaRPr lang="zh-CN" altLang="en-US" sz="2000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C7F1098-5E08-4624-90AF-5DA4A8D7FC6E}"/>
              </a:ext>
            </a:extLst>
          </p:cNvPr>
          <p:cNvGrpSpPr/>
          <p:nvPr/>
        </p:nvGrpSpPr>
        <p:grpSpPr>
          <a:xfrm>
            <a:off x="899592" y="4365104"/>
            <a:ext cx="7128792" cy="1962218"/>
            <a:chOff x="827584" y="4293096"/>
            <a:chExt cx="7128792" cy="196221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D7F29B2-0A15-4C75-8252-27C3440795AC}"/>
                </a:ext>
              </a:extLst>
            </p:cNvPr>
            <p:cNvGrpSpPr/>
            <p:nvPr/>
          </p:nvGrpSpPr>
          <p:grpSpPr>
            <a:xfrm>
              <a:off x="827584" y="4293096"/>
              <a:ext cx="7128792" cy="1080120"/>
              <a:chOff x="3895725" y="8233092"/>
              <a:chExt cx="12420600" cy="1830070"/>
            </a:xfrm>
          </p:grpSpPr>
          <p:sp>
            <p:nvSpPr>
              <p:cNvPr id="7" name="直线 4">
                <a:extLst>
                  <a:ext uri="{FF2B5EF4-FFF2-40B4-BE49-F238E27FC236}">
                    <a16:creationId xmlns:a16="http://schemas.microsoft.com/office/drawing/2014/main" id="{24575D6F-E48E-4D9A-AB06-382B705189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5725" y="8233092"/>
                <a:ext cx="12420600" cy="0"/>
              </a:xfrm>
              <a:prstGeom prst="line">
                <a:avLst/>
              </a:prstGeom>
              <a:noFill/>
              <a:ln w="57150">
                <a:solidFill>
                  <a:sysClr val="windowText" lastClr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6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0DB6097-5E1E-42B2-AEBB-CC8226F41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8231" y="9300633"/>
                <a:ext cx="1830070" cy="762529"/>
              </a:xfrm>
              <a:prstGeom prst="rect">
                <a:avLst/>
              </a:prstGeom>
              <a:solidFill>
                <a:srgbClr val="92D050"/>
              </a:solidFill>
              <a:ln w="38100" cap="flat" cmpd="sng" algn="ctr">
                <a:solidFill>
                  <a:srgbClr val="FFFFFF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CPU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D063046-F5EF-4D1D-8BF7-3119D07F1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5818" y="9300633"/>
                <a:ext cx="1830070" cy="762529"/>
              </a:xfrm>
              <a:prstGeom prst="rect">
                <a:avLst/>
              </a:prstGeom>
              <a:solidFill>
                <a:srgbClr val="FFC000"/>
              </a:solidFill>
              <a:ln w="38100" cap="flat" cmpd="sng" algn="ctr">
                <a:solidFill>
                  <a:srgbClr val="FFFFFF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主存</a:t>
                </a: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D300A00-0752-4C1D-ACF6-B28587F21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82125" y="9300633"/>
                <a:ext cx="1830070" cy="762529"/>
              </a:xfrm>
              <a:prstGeom prst="rect">
                <a:avLst/>
              </a:prstGeom>
              <a:solidFill>
                <a:srgbClr val="92D050"/>
              </a:solidFill>
              <a:ln w="38100" cap="flat" cmpd="sng" algn="ctr">
                <a:solidFill>
                  <a:srgbClr val="FFFFFF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DMA</a:t>
                </a: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817AD03-F145-4842-BCA3-C6E4C3680B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20525" y="9300633"/>
                <a:ext cx="1830070" cy="762529"/>
              </a:xfrm>
              <a:prstGeom prst="rect">
                <a:avLst/>
              </a:prstGeom>
              <a:solidFill>
                <a:srgbClr val="E7E6E6"/>
              </a:solidFill>
              <a:ln w="9525">
                <a:solidFill>
                  <a:sysClr val="windowText" lastClr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接口</a:t>
                </a: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E110624-E96E-4696-94DC-48D493C06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5610" y="9300633"/>
                <a:ext cx="1830070" cy="762529"/>
              </a:xfrm>
              <a:prstGeom prst="rect">
                <a:avLst/>
              </a:prstGeom>
              <a:solidFill>
                <a:srgbClr val="E7E6E6"/>
              </a:solidFill>
              <a:ln w="9525">
                <a:solidFill>
                  <a:sysClr val="windowText" lastClr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接口</a:t>
                </a:r>
              </a:p>
            </p:txBody>
          </p:sp>
          <p:sp>
            <p:nvSpPr>
              <p:cNvPr id="13" name="直线 10">
                <a:extLst>
                  <a:ext uri="{FF2B5EF4-FFF2-40B4-BE49-F238E27FC236}">
                    <a16:creationId xmlns:a16="http://schemas.microsoft.com/office/drawing/2014/main" id="{D0B7B11F-FE75-4427-96CC-4B19E2E580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3266" y="8233092"/>
                <a:ext cx="0" cy="1067541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6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14" name="直线 11">
                <a:extLst>
                  <a:ext uri="{FF2B5EF4-FFF2-40B4-BE49-F238E27FC236}">
                    <a16:creationId xmlns:a16="http://schemas.microsoft.com/office/drawing/2014/main" id="{8382C11D-9EB8-412F-86A7-A81BDF90F7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98347" y="8233092"/>
                <a:ext cx="0" cy="1067541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6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15" name="直线 12">
                <a:extLst>
                  <a:ext uri="{FF2B5EF4-FFF2-40B4-BE49-F238E27FC236}">
                    <a16:creationId xmlns:a16="http://schemas.microsoft.com/office/drawing/2014/main" id="{02F1F904-6EA3-4B16-9541-76EF511E83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20325" y="8233092"/>
                <a:ext cx="0" cy="1067541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6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16" name="直线 13">
                <a:extLst>
                  <a:ext uri="{FF2B5EF4-FFF2-40B4-BE49-F238E27FC236}">
                    <a16:creationId xmlns:a16="http://schemas.microsoft.com/office/drawing/2014/main" id="{4086614B-BB11-4B3F-93AF-6F030419B6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83054" y="8233092"/>
                <a:ext cx="0" cy="1067541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6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17" name="直线 14">
                <a:extLst>
                  <a:ext uri="{FF2B5EF4-FFF2-40B4-BE49-F238E27FC236}">
                    <a16:creationId xmlns:a16="http://schemas.microsoft.com/office/drawing/2014/main" id="{94208558-CABD-4065-B88F-0E7AB7A2D7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20010" y="8233092"/>
                <a:ext cx="0" cy="1067541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6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18" name="直线 15">
                <a:extLst>
                  <a:ext uri="{FF2B5EF4-FFF2-40B4-BE49-F238E27FC236}">
                    <a16:creationId xmlns:a16="http://schemas.microsoft.com/office/drawing/2014/main" id="{9BFB0CBD-B80B-459B-A579-BB997C9156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5888" y="9605644"/>
                <a:ext cx="1216237" cy="317"/>
              </a:xfrm>
              <a:prstGeom prst="line">
                <a:avLst/>
              </a:prstGeom>
              <a:noFill/>
              <a:ln w="38100">
                <a:solidFill>
                  <a:srgbClr val="00B050"/>
                </a:solidFill>
                <a:prstDash val="sysDot"/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43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6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521EEE2-96B6-43C0-9D14-9274FD04D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832" y="5805264"/>
              <a:ext cx="1050367" cy="450050"/>
            </a:xfrm>
            <a:prstGeom prst="rect">
              <a:avLst/>
            </a:prstGeom>
            <a:solidFill>
              <a:srgbClr val="FF0000"/>
            </a:solidFill>
            <a:ln w="38100" cap="flat" cmpd="sng" algn="ctr">
              <a:solidFill>
                <a:srgbClr val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43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43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43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43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43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43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43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43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43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DMAC</a:t>
              </a: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5DFCC565-2557-49DA-8C3F-0B459094B793}"/>
                </a:ext>
              </a:extLst>
            </p:cNvPr>
            <p:cNvCxnSpPr>
              <a:endCxn id="10" idx="2"/>
            </p:cNvCxnSpPr>
            <p:nvPr/>
          </p:nvCxnSpPr>
          <p:spPr>
            <a:xfrm flipV="1">
              <a:off x="3851920" y="5373216"/>
              <a:ext cx="649762" cy="50405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6D9F6344-CA21-409A-B139-DC16359CBA5B}"/>
                </a:ext>
              </a:extLst>
            </p:cNvPr>
            <p:cNvCxnSpPr>
              <a:endCxn id="9" idx="2"/>
            </p:cNvCxnSpPr>
            <p:nvPr/>
          </p:nvCxnSpPr>
          <p:spPr>
            <a:xfrm flipH="1" flipV="1">
              <a:off x="2753257" y="5373216"/>
              <a:ext cx="594607" cy="43204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892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F93AA5D4-226B-471D-A5CF-69472B316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73050"/>
            <a:ext cx="73533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DMA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与主存交换数据的三种方式</a:t>
            </a: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2F64A37D-8CB5-498F-B036-56E6C3992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1133475"/>
            <a:ext cx="5197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停止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访问主存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DC9DDE5B-0E2F-47CA-AC3A-BBC52FE35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1768475"/>
            <a:ext cx="3521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控制简单</a:t>
            </a:r>
          </a:p>
        </p:txBody>
      </p:sp>
      <p:sp>
        <p:nvSpPr>
          <p:cNvPr id="40965" name="Text Box 5">
            <a:extLst>
              <a:ext uri="{FF2B5EF4-FFF2-40B4-BE49-F238E27FC236}">
                <a16:creationId xmlns:a16="http://schemas.microsoft.com/office/drawing/2014/main" id="{3DB4A6ED-203A-4326-BB24-1E59B74FB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2403475"/>
            <a:ext cx="5883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处于不工作状态或保持状态</a:t>
            </a:r>
          </a:p>
        </p:txBody>
      </p:sp>
      <p:sp>
        <p:nvSpPr>
          <p:cNvPr id="40966" name="Text Box 6">
            <a:extLst>
              <a:ext uri="{FF2B5EF4-FFF2-40B4-BE49-F238E27FC236}">
                <a16:creationId xmlns:a16="http://schemas.microsoft.com/office/drawing/2014/main" id="{A90F79EE-F3C2-4793-984B-FF1D4488B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3038475"/>
            <a:ext cx="6188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未充分发挥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对主存的利用率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947D2050-E3EC-430D-A691-24C64D8F1E62}"/>
              </a:ext>
            </a:extLst>
          </p:cNvPr>
          <p:cNvGrpSpPr>
            <a:grpSpLocks/>
          </p:cNvGrpSpPr>
          <p:nvPr/>
        </p:nvGrpSpPr>
        <p:grpSpPr bwMode="auto">
          <a:xfrm>
            <a:off x="365125" y="3810000"/>
            <a:ext cx="8331200" cy="2438400"/>
            <a:chOff x="230" y="2400"/>
            <a:chExt cx="5248" cy="1536"/>
          </a:xfrm>
        </p:grpSpPr>
        <p:grpSp>
          <p:nvGrpSpPr>
            <p:cNvPr id="53258" name="Group 8">
              <a:extLst>
                <a:ext uri="{FF2B5EF4-FFF2-40B4-BE49-F238E27FC236}">
                  <a16:creationId xmlns:a16="http://schemas.microsoft.com/office/drawing/2014/main" id="{80100113-56EE-4884-BB71-0CEC540E2A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" y="2400"/>
              <a:ext cx="5248" cy="1536"/>
              <a:chOff x="230" y="2400"/>
              <a:chExt cx="5248" cy="1536"/>
            </a:xfrm>
          </p:grpSpPr>
          <p:sp>
            <p:nvSpPr>
              <p:cNvPr id="53260" name="Text Box 9">
                <a:extLst>
                  <a:ext uri="{FF2B5EF4-FFF2-40B4-BE49-F238E27FC236}">
                    <a16:creationId xmlns:a16="http://schemas.microsoft.com/office/drawing/2014/main" id="{942BF06C-F0CE-423A-950E-0B6129CBD9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" y="2400"/>
                <a:ext cx="108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主存工作时间</a:t>
                </a:r>
              </a:p>
            </p:txBody>
          </p:sp>
          <p:sp>
            <p:nvSpPr>
              <p:cNvPr id="53261" name="Line 10">
                <a:extLst>
                  <a:ext uri="{FF2B5EF4-FFF2-40B4-BE49-F238E27FC236}">
                    <a16:creationId xmlns:a16="http://schemas.microsoft.com/office/drawing/2014/main" id="{13694BB3-3E38-403D-A91A-3B4AAF7215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448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62" name="Line 11">
                <a:extLst>
                  <a:ext uri="{FF2B5EF4-FFF2-40B4-BE49-F238E27FC236}">
                    <a16:creationId xmlns:a16="http://schemas.microsoft.com/office/drawing/2014/main" id="{DDEBEFC7-29AE-4BAA-A6B1-6ED57D85C0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544"/>
                <a:ext cx="38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63" name="Line 12">
                <a:extLst>
                  <a:ext uri="{FF2B5EF4-FFF2-40B4-BE49-F238E27FC236}">
                    <a16:creationId xmlns:a16="http://schemas.microsoft.com/office/drawing/2014/main" id="{1DFAADA7-DD53-4572-AC03-D6974FE8B7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688"/>
                <a:ext cx="0" cy="12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64" name="Line 13">
                <a:extLst>
                  <a:ext uri="{FF2B5EF4-FFF2-40B4-BE49-F238E27FC236}">
                    <a16:creationId xmlns:a16="http://schemas.microsoft.com/office/drawing/2014/main" id="{26D8B086-F307-4D8E-9E09-3977832A5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3149"/>
                <a:ext cx="1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65" name="Line 14">
                <a:extLst>
                  <a:ext uri="{FF2B5EF4-FFF2-40B4-BE49-F238E27FC236}">
                    <a16:creationId xmlns:a16="http://schemas.microsoft.com/office/drawing/2014/main" id="{92318C21-A210-4CBE-908C-CA176C5071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957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66" name="Text Box 15">
                <a:extLst>
                  <a:ext uri="{FF2B5EF4-FFF2-40B4-BE49-F238E27FC236}">
                    <a16:creationId xmlns:a16="http://schemas.microsoft.com/office/drawing/2014/main" id="{3714C912-C4B0-48A9-90A4-D7723B9B59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3" y="2918"/>
                <a:ext cx="125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CPU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不执行程序</a:t>
                </a:r>
              </a:p>
            </p:txBody>
          </p:sp>
          <p:sp>
            <p:nvSpPr>
              <p:cNvPr id="53267" name="Line 16">
                <a:extLst>
                  <a:ext uri="{FF2B5EF4-FFF2-40B4-BE49-F238E27FC236}">
                    <a16:creationId xmlns:a16="http://schemas.microsoft.com/office/drawing/2014/main" id="{5420ECFC-C005-493D-B549-94DD6E875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149"/>
                <a:ext cx="11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68" name="Line 17">
                <a:extLst>
                  <a:ext uri="{FF2B5EF4-FFF2-40B4-BE49-F238E27FC236}">
                    <a16:creationId xmlns:a16="http://schemas.microsoft.com/office/drawing/2014/main" id="{FEF8A82A-E0D7-4061-83C9-E8063D18BD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2957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69" name="Line 18">
                <a:extLst>
                  <a:ext uri="{FF2B5EF4-FFF2-40B4-BE49-F238E27FC236}">
                    <a16:creationId xmlns:a16="http://schemas.microsoft.com/office/drawing/2014/main" id="{75FA8FE5-8E15-4B2D-804C-9A4E8E934D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92" y="3053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70" name="Line 19">
                <a:extLst>
                  <a:ext uri="{FF2B5EF4-FFF2-40B4-BE49-F238E27FC236}">
                    <a16:creationId xmlns:a16="http://schemas.microsoft.com/office/drawing/2014/main" id="{61203184-D275-4339-9A7E-F058105C23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032" y="3053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71" name="Line 20">
                <a:extLst>
                  <a:ext uri="{FF2B5EF4-FFF2-40B4-BE49-F238E27FC236}">
                    <a16:creationId xmlns:a16="http://schemas.microsoft.com/office/drawing/2014/main" id="{3E0356CA-53ED-4DBA-A0DD-EE97CE215D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3120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72" name="Text Box 21">
                <a:extLst>
                  <a:ext uri="{FF2B5EF4-FFF2-40B4-BE49-F238E27FC236}">
                    <a16:creationId xmlns:a16="http://schemas.microsoft.com/office/drawing/2014/main" id="{5E899E47-F800-49C9-A915-FA4EB382CC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542"/>
                <a:ext cx="98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DMA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不工作</a:t>
                </a:r>
              </a:p>
            </p:txBody>
          </p:sp>
          <p:sp>
            <p:nvSpPr>
              <p:cNvPr id="53273" name="Line 22">
                <a:extLst>
                  <a:ext uri="{FF2B5EF4-FFF2-40B4-BE49-F238E27FC236}">
                    <a16:creationId xmlns:a16="http://schemas.microsoft.com/office/drawing/2014/main" id="{DBAA0D17-58B3-4E40-A69F-3AC5D5A916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3638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74" name="Line 23">
                <a:extLst>
                  <a:ext uri="{FF2B5EF4-FFF2-40B4-BE49-F238E27FC236}">
                    <a16:creationId xmlns:a16="http://schemas.microsoft.com/office/drawing/2014/main" id="{2092089D-2600-4A2E-8E9D-7D59D12140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448" y="3638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75" name="Text Box 24">
                <a:extLst>
                  <a:ext uri="{FF2B5EF4-FFF2-40B4-BE49-F238E27FC236}">
                    <a16:creationId xmlns:a16="http://schemas.microsoft.com/office/drawing/2014/main" id="{A17F5AF7-848B-4595-8FBA-DAB3921EC5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3542"/>
                <a:ext cx="98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DMA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不工作</a:t>
                </a:r>
              </a:p>
            </p:txBody>
          </p:sp>
          <p:sp>
            <p:nvSpPr>
              <p:cNvPr id="53276" name="Line 25">
                <a:extLst>
                  <a:ext uri="{FF2B5EF4-FFF2-40B4-BE49-F238E27FC236}">
                    <a16:creationId xmlns:a16="http://schemas.microsoft.com/office/drawing/2014/main" id="{B9F0B686-DB7F-48CC-BE23-35159F536C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024"/>
                <a:ext cx="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77" name="Line 26">
                <a:extLst>
                  <a:ext uri="{FF2B5EF4-FFF2-40B4-BE49-F238E27FC236}">
                    <a16:creationId xmlns:a16="http://schemas.microsoft.com/office/drawing/2014/main" id="{AE860ED4-F767-4C92-A129-863CAEFBF0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3638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78" name="Text Box 27">
                <a:extLst>
                  <a:ext uri="{FF2B5EF4-FFF2-40B4-BE49-F238E27FC236}">
                    <a16:creationId xmlns:a16="http://schemas.microsoft.com/office/drawing/2014/main" id="{B08C2B58-8549-44C6-AB20-837C80FC40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3638"/>
                <a:ext cx="82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DMA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工作</a:t>
                </a:r>
              </a:p>
            </p:txBody>
          </p:sp>
          <p:sp>
            <p:nvSpPr>
              <p:cNvPr id="53279" name="Line 28">
                <a:extLst>
                  <a:ext uri="{FF2B5EF4-FFF2-40B4-BE49-F238E27FC236}">
                    <a16:creationId xmlns:a16="http://schemas.microsoft.com/office/drawing/2014/main" id="{327D98C6-7A4E-4C66-9E9D-D650B0AE99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3734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80" name="Line 29">
                <a:extLst>
                  <a:ext uri="{FF2B5EF4-FFF2-40B4-BE49-F238E27FC236}">
                    <a16:creationId xmlns:a16="http://schemas.microsoft.com/office/drawing/2014/main" id="{7E9218E8-59F8-446A-B1C5-F47D4A0931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2592" y="3734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81" name="Text Box 30">
                <a:extLst>
                  <a:ext uri="{FF2B5EF4-FFF2-40B4-BE49-F238E27FC236}">
                    <a16:creationId xmlns:a16="http://schemas.microsoft.com/office/drawing/2014/main" id="{AE036746-0E1A-46E8-B8EA-ED7FC01246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" y="2832"/>
                <a:ext cx="921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CPU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控制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并使用主存</a:t>
                </a:r>
              </a:p>
            </p:txBody>
          </p:sp>
          <p:sp>
            <p:nvSpPr>
              <p:cNvPr id="53282" name="Text Box 31">
                <a:extLst>
                  <a:ext uri="{FF2B5EF4-FFF2-40B4-BE49-F238E27FC236}">
                    <a16:creationId xmlns:a16="http://schemas.microsoft.com/office/drawing/2014/main" id="{5DF81F55-7E72-4642-AE04-3B72BE2E25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" y="3446"/>
                <a:ext cx="921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DMA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控制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并使用主存</a:t>
                </a:r>
              </a:p>
            </p:txBody>
          </p:sp>
          <p:sp>
            <p:nvSpPr>
              <p:cNvPr id="53283" name="Text Box 32">
                <a:extLst>
                  <a:ext uri="{FF2B5EF4-FFF2-40B4-BE49-F238E27FC236}">
                    <a16:creationId xmlns:a16="http://schemas.microsoft.com/office/drawing/2014/main" id="{ECC24B08-3FAB-4829-9B28-0FFF9F36C7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8" y="2400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</a:p>
            </p:txBody>
          </p:sp>
          <p:sp>
            <p:nvSpPr>
              <p:cNvPr id="53284" name="Line 33">
                <a:extLst>
                  <a:ext uri="{FF2B5EF4-FFF2-40B4-BE49-F238E27FC236}">
                    <a16:creationId xmlns:a16="http://schemas.microsoft.com/office/drawing/2014/main" id="{860C0AFB-40EF-40A7-B5C3-6300301B79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360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285" name="Line 34">
                <a:extLst>
                  <a:ext uri="{FF2B5EF4-FFF2-40B4-BE49-F238E27FC236}">
                    <a16:creationId xmlns:a16="http://schemas.microsoft.com/office/drawing/2014/main" id="{E4C8690A-1F03-4906-846C-A8CC114120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60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3259" name="Line 35">
              <a:extLst>
                <a:ext uri="{FF2B5EF4-FFF2-40B4-BE49-F238E27FC236}">
                  <a16:creationId xmlns:a16="http://schemas.microsoft.com/office/drawing/2014/main" id="{F8195DD3-3EAB-466D-929E-4492F042C4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3636"/>
              <a:ext cx="14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 type="stealth" w="med" len="med"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3257" name="AutoShape 3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CC10164-03E2-4447-B33C-CB9F55198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utoUpdateAnimBg="0"/>
      <p:bldP spid="40964" grpId="0" autoUpdateAnimBg="0"/>
      <p:bldP spid="40965" grpId="0" autoUpdateAnimBg="0"/>
      <p:bldP spid="40966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extLst>
              <a:ext uri="{FF2B5EF4-FFF2-40B4-BE49-F238E27FC236}">
                <a16:creationId xmlns:a16="http://schemas.microsoft.com/office/drawing/2014/main" id="{DEE8FC30-27C1-49FF-9C8E-EA54C6C67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6850"/>
            <a:ext cx="632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周期挪用（或周期窃取）</a:t>
            </a:r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F84A2325-7805-4051-A2C5-BC90922BB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990600"/>
            <a:ext cx="4337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DMA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访问主存有三种可能</a:t>
            </a:r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DF4ACAA9-3D94-4CA6-8AD5-ABF2A514B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1576388"/>
            <a:ext cx="3003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CPU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此时不访存</a:t>
            </a:r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48E114FB-F43E-4F20-84EE-83458A6E1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2163763"/>
            <a:ext cx="2646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CPU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正在访存</a:t>
            </a:r>
          </a:p>
        </p:txBody>
      </p:sp>
      <p:sp>
        <p:nvSpPr>
          <p:cNvPr id="41990" name="Text Box 6">
            <a:extLst>
              <a:ext uri="{FF2B5EF4-FFF2-40B4-BE49-F238E27FC236}">
                <a16:creationId xmlns:a16="http://schemas.microsoft.com/office/drawing/2014/main" id="{546D64D2-3E03-4D39-923F-4CFBF3885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2751138"/>
            <a:ext cx="4733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CPU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DMA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同时请求访存</a:t>
            </a:r>
          </a:p>
        </p:txBody>
      </p:sp>
      <p:sp>
        <p:nvSpPr>
          <p:cNvPr id="41991" name="Text Box 7">
            <a:extLst>
              <a:ext uri="{FF2B5EF4-FFF2-40B4-BE49-F238E27FC236}">
                <a16:creationId xmlns:a16="http://schemas.microsoft.com/office/drawing/2014/main" id="{FB77154A-8D35-4898-8ACF-8DD8FB8E5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338513"/>
            <a:ext cx="558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此时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将总线控制权让给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DMA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DEA7B934-F563-4443-B626-1839A521A3BD}"/>
              </a:ext>
            </a:extLst>
          </p:cNvPr>
          <p:cNvGrpSpPr>
            <a:grpSpLocks/>
          </p:cNvGrpSpPr>
          <p:nvPr/>
        </p:nvGrpSpPr>
        <p:grpSpPr bwMode="auto">
          <a:xfrm>
            <a:off x="365125" y="4267200"/>
            <a:ext cx="8347075" cy="2133600"/>
            <a:chOff x="230" y="2688"/>
            <a:chExt cx="5258" cy="1344"/>
          </a:xfrm>
        </p:grpSpPr>
        <p:sp>
          <p:nvSpPr>
            <p:cNvPr id="54283" name="Text Box 9">
              <a:extLst>
                <a:ext uri="{FF2B5EF4-FFF2-40B4-BE49-F238E27FC236}">
                  <a16:creationId xmlns:a16="http://schemas.microsoft.com/office/drawing/2014/main" id="{8A777309-A9FE-4DFB-AC6E-7C89669A7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" y="2688"/>
              <a:ext cx="10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主存工作时间</a:t>
              </a:r>
            </a:p>
          </p:txBody>
        </p:sp>
        <p:sp>
          <p:nvSpPr>
            <p:cNvPr id="54284" name="Line 10">
              <a:extLst>
                <a:ext uri="{FF2B5EF4-FFF2-40B4-BE49-F238E27FC236}">
                  <a16:creationId xmlns:a16="http://schemas.microsoft.com/office/drawing/2014/main" id="{DB2DBC00-6040-4B40-8EB3-C126F6060A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709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285" name="Line 11">
              <a:extLst>
                <a:ext uri="{FF2B5EF4-FFF2-40B4-BE49-F238E27FC236}">
                  <a16:creationId xmlns:a16="http://schemas.microsoft.com/office/drawing/2014/main" id="{4AE020B9-5E0D-4693-B7B3-DE99670BB3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832"/>
              <a:ext cx="38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286" name="Line 12">
              <a:extLst>
                <a:ext uri="{FF2B5EF4-FFF2-40B4-BE49-F238E27FC236}">
                  <a16:creationId xmlns:a16="http://schemas.microsoft.com/office/drawing/2014/main" id="{5B1BA979-C098-4CEC-8145-C0BBBE51A0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985"/>
              <a:ext cx="0" cy="9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287" name="Text Box 13">
              <a:extLst>
                <a:ext uri="{FF2B5EF4-FFF2-40B4-BE49-F238E27FC236}">
                  <a16:creationId xmlns:a16="http://schemas.microsoft.com/office/drawing/2014/main" id="{B27A5919-7911-4065-B2A8-C2C0884AE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" y="3062"/>
              <a:ext cx="92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CPU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控制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并使用主存</a:t>
              </a:r>
            </a:p>
          </p:txBody>
        </p:sp>
        <p:sp>
          <p:nvSpPr>
            <p:cNvPr id="54288" name="Text Box 14">
              <a:extLst>
                <a:ext uri="{FF2B5EF4-FFF2-40B4-BE49-F238E27FC236}">
                  <a16:creationId xmlns:a16="http://schemas.microsoft.com/office/drawing/2014/main" id="{F5076746-FD40-40E7-B0EB-4B148F1DC4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" y="3590"/>
              <a:ext cx="92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DMA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控制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并使用主存</a:t>
              </a:r>
            </a:p>
          </p:txBody>
        </p:sp>
        <p:sp>
          <p:nvSpPr>
            <p:cNvPr id="54289" name="Text Box 15">
              <a:extLst>
                <a:ext uri="{FF2B5EF4-FFF2-40B4-BE49-F238E27FC236}">
                  <a16:creationId xmlns:a16="http://schemas.microsoft.com/office/drawing/2014/main" id="{208CC3F9-C6D3-46C4-BB78-59072E55B0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2726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  <p:sp>
          <p:nvSpPr>
            <p:cNvPr id="54290" name="Line 16">
              <a:extLst>
                <a:ext uri="{FF2B5EF4-FFF2-40B4-BE49-F238E27FC236}">
                  <a16:creationId xmlns:a16="http://schemas.microsoft.com/office/drawing/2014/main" id="{41731F9E-FF79-4485-9743-DAE8DF17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1" y="33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291" name="Line 17">
              <a:extLst>
                <a:ext uri="{FF2B5EF4-FFF2-40B4-BE49-F238E27FC236}">
                  <a16:creationId xmlns:a16="http://schemas.microsoft.com/office/drawing/2014/main" id="{FF9DD267-40E7-48E5-9BF7-A40EBC2EC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379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292" name="Line 18">
              <a:extLst>
                <a:ext uri="{FF2B5EF4-FFF2-40B4-BE49-F238E27FC236}">
                  <a16:creationId xmlns:a16="http://schemas.microsoft.com/office/drawing/2014/main" id="{C460C542-CF4E-41E9-AA01-0F713D090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3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293" name="Line 19">
              <a:extLst>
                <a:ext uri="{FF2B5EF4-FFF2-40B4-BE49-F238E27FC236}">
                  <a16:creationId xmlns:a16="http://schemas.microsoft.com/office/drawing/2014/main" id="{CDD6D707-2D77-49E7-8ABF-029C5579E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33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294" name="Line 20">
              <a:extLst>
                <a:ext uri="{FF2B5EF4-FFF2-40B4-BE49-F238E27FC236}">
                  <a16:creationId xmlns:a16="http://schemas.microsoft.com/office/drawing/2014/main" id="{3C021B4B-C034-4C71-8498-25FC0D643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0" y="33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295" name="Line 21">
              <a:extLst>
                <a:ext uri="{FF2B5EF4-FFF2-40B4-BE49-F238E27FC236}">
                  <a16:creationId xmlns:a16="http://schemas.microsoft.com/office/drawing/2014/main" id="{4A5F8B81-3317-4B83-B14D-7902A1E991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7" y="379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296" name="Line 22">
              <a:extLst>
                <a:ext uri="{FF2B5EF4-FFF2-40B4-BE49-F238E27FC236}">
                  <a16:creationId xmlns:a16="http://schemas.microsoft.com/office/drawing/2014/main" id="{8A6FBDB5-41D0-4BFE-83DB-24D6E7FCD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33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297" name="Line 23">
              <a:extLst>
                <a:ext uri="{FF2B5EF4-FFF2-40B4-BE49-F238E27FC236}">
                  <a16:creationId xmlns:a16="http://schemas.microsoft.com/office/drawing/2014/main" id="{9FFF8CA8-9156-45C5-9A93-E33595A5B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3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298" name="Line 24">
              <a:extLst>
                <a:ext uri="{FF2B5EF4-FFF2-40B4-BE49-F238E27FC236}">
                  <a16:creationId xmlns:a16="http://schemas.microsoft.com/office/drawing/2014/main" id="{91CCB119-34C0-499F-A2C0-3C3DEE37C8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9" y="379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299" name="Line 25">
              <a:extLst>
                <a:ext uri="{FF2B5EF4-FFF2-40B4-BE49-F238E27FC236}">
                  <a16:creationId xmlns:a16="http://schemas.microsoft.com/office/drawing/2014/main" id="{A87B4DBF-5BEA-4834-BA16-1F4C52660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6" y="33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300" name="Line 26">
              <a:extLst>
                <a:ext uri="{FF2B5EF4-FFF2-40B4-BE49-F238E27FC236}">
                  <a16:creationId xmlns:a16="http://schemas.microsoft.com/office/drawing/2014/main" id="{D3FCF330-8BCB-43E0-AEFD-24C6776C8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9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301" name="Line 27">
              <a:extLst>
                <a:ext uri="{FF2B5EF4-FFF2-40B4-BE49-F238E27FC236}">
                  <a16:creationId xmlns:a16="http://schemas.microsoft.com/office/drawing/2014/main" id="{B94BB5C2-FC58-4392-8E5E-1ACDD12D5C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6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302" name="Line 28">
              <a:extLst>
                <a:ext uri="{FF2B5EF4-FFF2-40B4-BE49-F238E27FC236}">
                  <a16:creationId xmlns:a16="http://schemas.microsoft.com/office/drawing/2014/main" id="{CC9A907B-769C-4B67-8087-2FF04D8BD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303" name="Line 29">
              <a:extLst>
                <a:ext uri="{FF2B5EF4-FFF2-40B4-BE49-F238E27FC236}">
                  <a16:creationId xmlns:a16="http://schemas.microsoft.com/office/drawing/2014/main" id="{74438B48-BFEF-4B07-8944-192759829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5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304" name="Line 30">
              <a:extLst>
                <a:ext uri="{FF2B5EF4-FFF2-40B4-BE49-F238E27FC236}">
                  <a16:creationId xmlns:a16="http://schemas.microsoft.com/office/drawing/2014/main" id="{5938BC45-CAE5-4E90-8B73-FEC8EAB22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9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305" name="Line 31">
              <a:extLst>
                <a:ext uri="{FF2B5EF4-FFF2-40B4-BE49-F238E27FC236}">
                  <a16:creationId xmlns:a16="http://schemas.microsoft.com/office/drawing/2014/main" id="{9A78A826-2D24-444A-96A8-45BEAD3BBB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6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306" name="Line 32">
              <a:extLst>
                <a:ext uri="{FF2B5EF4-FFF2-40B4-BE49-F238E27FC236}">
                  <a16:creationId xmlns:a16="http://schemas.microsoft.com/office/drawing/2014/main" id="{8115270F-96D2-4168-981C-C9B171EDB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3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307" name="Line 33">
              <a:extLst>
                <a:ext uri="{FF2B5EF4-FFF2-40B4-BE49-F238E27FC236}">
                  <a16:creationId xmlns:a16="http://schemas.microsoft.com/office/drawing/2014/main" id="{7E91E377-07FF-463F-973D-8B65D48BD3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0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308" name="Line 34">
              <a:extLst>
                <a:ext uri="{FF2B5EF4-FFF2-40B4-BE49-F238E27FC236}">
                  <a16:creationId xmlns:a16="http://schemas.microsoft.com/office/drawing/2014/main" id="{A65C04A4-119F-4030-9EC0-0CC35557A0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2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309" name="Line 35">
              <a:extLst>
                <a:ext uri="{FF2B5EF4-FFF2-40B4-BE49-F238E27FC236}">
                  <a16:creationId xmlns:a16="http://schemas.microsoft.com/office/drawing/2014/main" id="{9BCA9B7F-E938-42C7-96F4-5775EC98B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832"/>
              <a:ext cx="0" cy="1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4282" name="AutoShape 3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2F8ACDD-4E9F-4BBD-A3B7-D7932B6F1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utoUpdateAnimBg="0"/>
      <p:bldP spid="41988" grpId="0" autoUpdateAnimBg="0"/>
      <p:bldP spid="41989" grpId="0" autoUpdateAnimBg="0"/>
      <p:bldP spid="41990" grpId="0" autoUpdateAnimBg="0"/>
      <p:bldP spid="41991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>
            <a:extLst>
              <a:ext uri="{FF2B5EF4-FFF2-40B4-BE49-F238E27FC236}">
                <a16:creationId xmlns:a16="http://schemas.microsoft.com/office/drawing/2014/main" id="{26386132-65FD-4D43-B107-B5A947024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1000"/>
            <a:ext cx="632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 DMA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 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交替访问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7E6FE91D-C5A6-44F4-BAEE-45FC45435BE5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048000"/>
            <a:ext cx="8347075" cy="2895600"/>
            <a:chOff x="240" y="1920"/>
            <a:chExt cx="5258" cy="1824"/>
          </a:xfrm>
        </p:grpSpPr>
        <p:sp>
          <p:nvSpPr>
            <p:cNvPr id="55310" name="Text Box 4">
              <a:extLst>
                <a:ext uri="{FF2B5EF4-FFF2-40B4-BE49-F238E27FC236}">
                  <a16:creationId xmlns:a16="http://schemas.microsoft.com/office/drawing/2014/main" id="{1FF72CDD-9D41-43C1-AC6D-45D419C290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920"/>
              <a:ext cx="10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主存工作时间</a:t>
              </a:r>
            </a:p>
          </p:txBody>
        </p:sp>
        <p:sp>
          <p:nvSpPr>
            <p:cNvPr id="55311" name="Line 5">
              <a:extLst>
                <a:ext uri="{FF2B5EF4-FFF2-40B4-BE49-F238E27FC236}">
                  <a16:creationId xmlns:a16="http://schemas.microsoft.com/office/drawing/2014/main" id="{299A4822-F8A4-4DD5-A197-949B624D44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2" y="1941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12" name="Line 6">
              <a:extLst>
                <a:ext uri="{FF2B5EF4-FFF2-40B4-BE49-F238E27FC236}">
                  <a16:creationId xmlns:a16="http://schemas.microsoft.com/office/drawing/2014/main" id="{0B7BF751-03F6-4CFD-9B23-03D46FFF5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2" y="2064"/>
              <a:ext cx="38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13" name="Line 7">
              <a:extLst>
                <a:ext uri="{FF2B5EF4-FFF2-40B4-BE49-F238E27FC236}">
                  <a16:creationId xmlns:a16="http://schemas.microsoft.com/office/drawing/2014/main" id="{5DB3761F-E1C4-4724-A22A-2DBE94EEAB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2211"/>
              <a:ext cx="10" cy="14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14" name="Text Box 8">
              <a:extLst>
                <a:ext uri="{FF2B5EF4-FFF2-40B4-BE49-F238E27FC236}">
                  <a16:creationId xmlns:a16="http://schemas.microsoft.com/office/drawing/2014/main" id="{DE1DEC9C-4EB6-4326-A12B-76192A79E1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486"/>
              <a:ext cx="92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DMA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控制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并使用主存</a:t>
              </a:r>
            </a:p>
          </p:txBody>
        </p:sp>
        <p:sp>
          <p:nvSpPr>
            <p:cNvPr id="55315" name="Text Box 9">
              <a:extLst>
                <a:ext uri="{FF2B5EF4-FFF2-40B4-BE49-F238E27FC236}">
                  <a16:creationId xmlns:a16="http://schemas.microsoft.com/office/drawing/2014/main" id="{820E3135-47A8-4DBB-888E-A0E0119F64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" y="3302"/>
              <a:ext cx="92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CPU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控制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并使用主存</a:t>
              </a:r>
            </a:p>
          </p:txBody>
        </p:sp>
        <p:sp>
          <p:nvSpPr>
            <p:cNvPr id="55316" name="Text Box 10">
              <a:extLst>
                <a:ext uri="{FF2B5EF4-FFF2-40B4-BE49-F238E27FC236}">
                  <a16:creationId xmlns:a16="http://schemas.microsoft.com/office/drawing/2014/main" id="{A9C13518-EA83-4C3D-AB31-60A17BBEA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8" y="1958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  <p:sp>
          <p:nvSpPr>
            <p:cNvPr id="55317" name="Line 11">
              <a:extLst>
                <a:ext uri="{FF2B5EF4-FFF2-40B4-BE49-F238E27FC236}">
                  <a16:creationId xmlns:a16="http://schemas.microsoft.com/office/drawing/2014/main" id="{2AE7F6B4-2BF2-4ADA-8AC3-203C9D83B4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2" y="2688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18" name="Line 12">
              <a:extLst>
                <a:ext uri="{FF2B5EF4-FFF2-40B4-BE49-F238E27FC236}">
                  <a16:creationId xmlns:a16="http://schemas.microsoft.com/office/drawing/2014/main" id="{AEF031EA-0B57-49C2-82FC-B066F43894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0" y="360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19" name="Line 13">
              <a:extLst>
                <a:ext uri="{FF2B5EF4-FFF2-40B4-BE49-F238E27FC236}">
                  <a16:creationId xmlns:a16="http://schemas.microsoft.com/office/drawing/2014/main" id="{3695BF7A-075E-4F71-8AE7-94EB411BD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688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20" name="Line 14">
              <a:extLst>
                <a:ext uri="{FF2B5EF4-FFF2-40B4-BE49-F238E27FC236}">
                  <a16:creationId xmlns:a16="http://schemas.microsoft.com/office/drawing/2014/main" id="{9E9E21DD-BC5C-4FE7-AFC3-3A242191C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" y="360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21" name="Line 15">
              <a:extLst>
                <a:ext uri="{FF2B5EF4-FFF2-40B4-BE49-F238E27FC236}">
                  <a16:creationId xmlns:a16="http://schemas.microsoft.com/office/drawing/2014/main" id="{1D776A94-7752-4251-B7D8-B9F469BFC4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688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22" name="Line 16">
              <a:extLst>
                <a:ext uri="{FF2B5EF4-FFF2-40B4-BE49-F238E27FC236}">
                  <a16:creationId xmlns:a16="http://schemas.microsoft.com/office/drawing/2014/main" id="{0B214FF3-B195-4055-89AD-861AE763AE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8" y="360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23" name="Line 17">
              <a:extLst>
                <a:ext uri="{FF2B5EF4-FFF2-40B4-BE49-F238E27FC236}">
                  <a16:creationId xmlns:a16="http://schemas.microsoft.com/office/drawing/2014/main" id="{218D6197-3C24-415E-AA29-F38AD158C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6" y="2688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24" name="Line 18">
              <a:extLst>
                <a:ext uri="{FF2B5EF4-FFF2-40B4-BE49-F238E27FC236}">
                  <a16:creationId xmlns:a16="http://schemas.microsoft.com/office/drawing/2014/main" id="{FB230950-BAFE-4CE2-BDCB-94662246EA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2" y="360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25" name="Line 19">
              <a:extLst>
                <a:ext uri="{FF2B5EF4-FFF2-40B4-BE49-F238E27FC236}">
                  <a16:creationId xmlns:a16="http://schemas.microsoft.com/office/drawing/2014/main" id="{CF41CBEF-B610-4931-AC82-BFC8536F7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0" y="2688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26" name="Line 20">
              <a:extLst>
                <a:ext uri="{FF2B5EF4-FFF2-40B4-BE49-F238E27FC236}">
                  <a16:creationId xmlns:a16="http://schemas.microsoft.com/office/drawing/2014/main" id="{3187E663-10DB-4C61-BF48-ADE06EA34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360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27" name="Line 21">
              <a:extLst>
                <a:ext uri="{FF2B5EF4-FFF2-40B4-BE49-F238E27FC236}">
                  <a16:creationId xmlns:a16="http://schemas.microsoft.com/office/drawing/2014/main" id="{BEE51138-8EFD-4F71-A394-03550CA31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064"/>
              <a:ext cx="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28" name="Line 22">
              <a:extLst>
                <a:ext uri="{FF2B5EF4-FFF2-40B4-BE49-F238E27FC236}">
                  <a16:creationId xmlns:a16="http://schemas.microsoft.com/office/drawing/2014/main" id="{C16509D5-F33A-4136-970B-E17214B4C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064"/>
              <a:ext cx="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29" name="Line 23">
              <a:extLst>
                <a:ext uri="{FF2B5EF4-FFF2-40B4-BE49-F238E27FC236}">
                  <a16:creationId xmlns:a16="http://schemas.microsoft.com/office/drawing/2014/main" id="{70C0A61B-0C1B-4F98-BA93-1086971CD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064"/>
              <a:ext cx="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30" name="Line 24">
              <a:extLst>
                <a:ext uri="{FF2B5EF4-FFF2-40B4-BE49-F238E27FC236}">
                  <a16:creationId xmlns:a16="http://schemas.microsoft.com/office/drawing/2014/main" id="{6CD5A380-FF7D-4C86-B060-06A74FBDFD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064"/>
              <a:ext cx="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31" name="Line 25">
              <a:extLst>
                <a:ext uri="{FF2B5EF4-FFF2-40B4-BE49-F238E27FC236}">
                  <a16:creationId xmlns:a16="http://schemas.microsoft.com/office/drawing/2014/main" id="{44F41B8C-D6B3-451F-B6BE-FE3798435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064"/>
              <a:ext cx="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3034" name="Text Box 26">
            <a:extLst>
              <a:ext uri="{FF2B5EF4-FFF2-40B4-BE49-F238E27FC236}">
                <a16:creationId xmlns:a16="http://schemas.microsoft.com/office/drawing/2014/main" id="{FF90EA4E-E666-45B5-8461-4987C7F40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325" y="1347788"/>
            <a:ext cx="2301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工作周期</a:t>
            </a:r>
          </a:p>
        </p:txBody>
      </p:sp>
      <p:grpSp>
        <p:nvGrpSpPr>
          <p:cNvPr id="3" name="Group 27">
            <a:extLst>
              <a:ext uri="{FF2B5EF4-FFF2-40B4-BE49-F238E27FC236}">
                <a16:creationId xmlns:a16="http://schemas.microsoft.com/office/drawing/2014/main" id="{490C5B0D-A2A9-4274-9131-0DF069B7A455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119188"/>
            <a:ext cx="4038600" cy="938212"/>
            <a:chOff x="2208" y="705"/>
            <a:chExt cx="2544" cy="591"/>
          </a:xfrm>
        </p:grpSpPr>
        <p:sp>
          <p:nvSpPr>
            <p:cNvPr id="55308" name="Text Box 28">
              <a:extLst>
                <a:ext uri="{FF2B5EF4-FFF2-40B4-BE49-F238E27FC236}">
                  <a16:creationId xmlns:a16="http://schemas.microsoft.com/office/drawing/2014/main" id="{4B87B9B0-CBBA-4B0A-B202-E77066C382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705"/>
              <a:ext cx="2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专供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DMA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访存</a:t>
              </a:r>
            </a:p>
          </p:txBody>
        </p:sp>
        <p:sp>
          <p:nvSpPr>
            <p:cNvPr id="55309" name="Text Box 29">
              <a:extLst>
                <a:ext uri="{FF2B5EF4-FFF2-40B4-BE49-F238E27FC236}">
                  <a16:creationId xmlns:a16="http://schemas.microsoft.com/office/drawing/2014/main" id="{3F43BDEE-A510-45C5-9C0D-89EE03C0B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008"/>
              <a:ext cx="22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专供 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CPU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访存</a:t>
              </a:r>
            </a:p>
          </p:txBody>
        </p:sp>
      </p:grpSp>
      <p:sp>
        <p:nvSpPr>
          <p:cNvPr id="43038" name="AutoShape 30">
            <a:extLst>
              <a:ext uri="{FF2B5EF4-FFF2-40B4-BE49-F238E27FC236}">
                <a16:creationId xmlns:a16="http://schemas.microsoft.com/office/drawing/2014/main" id="{B765BF4E-91CA-4E8D-B0AA-11CD70E37F4F}"/>
              </a:ext>
            </a:extLst>
          </p:cNvPr>
          <p:cNvSpPr>
            <a:spLocks/>
          </p:cNvSpPr>
          <p:nvPr/>
        </p:nvSpPr>
        <p:spPr bwMode="auto">
          <a:xfrm>
            <a:off x="3352800" y="1295400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39" name="Text Box 31">
            <a:extLst>
              <a:ext uri="{FF2B5EF4-FFF2-40B4-BE49-F238E27FC236}">
                <a16:creationId xmlns:a16="http://schemas.microsoft.com/office/drawing/2014/main" id="{2062001B-C89F-4A0C-B05F-4F313136F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54250"/>
            <a:ext cx="6950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所有指令执行过程中的一个基准时间</a:t>
            </a:r>
          </a:p>
        </p:txBody>
      </p:sp>
      <p:sp>
        <p:nvSpPr>
          <p:cNvPr id="43040" name="Line 32">
            <a:extLst>
              <a:ext uri="{FF2B5EF4-FFF2-40B4-BE49-F238E27FC236}">
                <a16:creationId xmlns:a16="http://schemas.microsoft.com/office/drawing/2014/main" id="{66AFA65A-8E30-48B2-951C-81DFC97A4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752600"/>
            <a:ext cx="0" cy="6096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42" name="Text Box 34">
            <a:extLst>
              <a:ext uri="{FF2B5EF4-FFF2-40B4-BE49-F238E27FC236}">
                <a16:creationId xmlns:a16="http://schemas.microsoft.com/office/drawing/2014/main" id="{5D5FF8C6-A761-4A2F-9BAA-5A7852742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092825"/>
            <a:ext cx="7345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不需要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申请建立和归还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总线的使用权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7" name="AutoShape 3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40EB05C-E8B6-4797-8A24-0CFB0C5C8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4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34" grpId="0" autoUpdateAnimBg="0"/>
      <p:bldP spid="43038" grpId="0" animBg="1"/>
      <p:bldP spid="43039" grpId="0" autoUpdateAnimBg="0"/>
      <p:bldP spid="43042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47E9315-24DB-4FB7-B578-BBDCABDD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2.DMA</a:t>
            </a:r>
            <a:r>
              <a:rPr lang="zh-CN" altLang="en-US" dirty="0"/>
              <a:t>控制器的基本结构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9A06BC99-01B3-4BB0-B31E-82A8A4816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836712"/>
            <a:ext cx="3289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1. DMA 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接口功能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7070CE6-A3AA-4AE3-8DA9-558A94B84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3" y="1644750"/>
            <a:ext cx="518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向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CPU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申请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DMA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传送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46B86014-1113-47A5-82F2-D26C22E7C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3" y="2394050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处理总线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控制权的转交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E30F219A-21B4-4E8D-864D-74345D735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3" y="3143350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(3)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管理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系统总线、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控制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数据传送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BBE9EB3F-0B6A-4175-B208-565F13FAC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3" y="3891062"/>
            <a:ext cx="647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(4)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确定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数据传送的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首地址和长度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6686474E-8F2F-4A56-B294-7B186B84F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3" y="5389662"/>
            <a:ext cx="708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(5) DMA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传送结束时，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给出操作完成信号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0B22E659-FA10-4504-9A74-3DEDAF7F8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278" y="4662587"/>
            <a:ext cx="6308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修正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传送过程中的数据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地址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和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长度</a:t>
            </a:r>
          </a:p>
        </p:txBody>
      </p:sp>
    </p:spTree>
    <p:extLst>
      <p:ext uri="{BB962C8B-B14F-4D97-AF65-F5344CB8AC3E}">
        <p14:creationId xmlns:p14="http://schemas.microsoft.com/office/powerpoint/2010/main" val="121319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47E9315-24DB-4FB7-B578-BBDCABDD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2.DMA</a:t>
            </a:r>
            <a:r>
              <a:rPr lang="zh-CN" altLang="en-US" dirty="0"/>
              <a:t>控制器的基本结构</a:t>
            </a:r>
          </a:p>
        </p:txBody>
      </p:sp>
      <p:grpSp>
        <p:nvGrpSpPr>
          <p:cNvPr id="13" name="Group 2">
            <a:extLst>
              <a:ext uri="{FF2B5EF4-FFF2-40B4-BE49-F238E27FC236}">
                <a16:creationId xmlns:a16="http://schemas.microsoft.com/office/drawing/2014/main" id="{BEBA355D-2C48-4E22-A776-78E40FF080D6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980728"/>
            <a:ext cx="8610600" cy="4457700"/>
            <a:chOff x="240" y="758"/>
            <a:chExt cx="5424" cy="2808"/>
          </a:xfrm>
        </p:grpSpPr>
        <p:sp>
          <p:nvSpPr>
            <p:cNvPr id="14" name="Text Box 3">
              <a:extLst>
                <a:ext uri="{FF2B5EF4-FFF2-40B4-BE49-F238E27FC236}">
                  <a16:creationId xmlns:a16="http://schemas.microsoft.com/office/drawing/2014/main" id="{B7DC0DF9-8BA0-4034-911B-BCAE89F341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1" y="3298"/>
              <a:ext cx="8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DMA</a:t>
              </a: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接口</a:t>
              </a:r>
            </a:p>
          </p:txBody>
        </p:sp>
        <p:grpSp>
          <p:nvGrpSpPr>
            <p:cNvPr id="15" name="Group 4">
              <a:extLst>
                <a:ext uri="{FF2B5EF4-FFF2-40B4-BE49-F238E27FC236}">
                  <a16:creationId xmlns:a16="http://schemas.microsoft.com/office/drawing/2014/main" id="{E1FBC3EE-B8D0-4EE1-A32F-F064C548AB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758"/>
              <a:ext cx="5424" cy="2808"/>
              <a:chOff x="240" y="758"/>
              <a:chExt cx="5424" cy="2808"/>
            </a:xfrm>
          </p:grpSpPr>
          <p:sp>
            <p:nvSpPr>
              <p:cNvPr id="16" name="Rectangle 5">
                <a:extLst>
                  <a:ext uri="{FF2B5EF4-FFF2-40B4-BE49-F238E27FC236}">
                    <a16:creationId xmlns:a16="http://schemas.microsoft.com/office/drawing/2014/main" id="{E508B1AD-354F-438F-9E7C-B2CA85F16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541"/>
                <a:ext cx="3547" cy="2025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prstDash val="lg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7" name="Group 6">
                <a:extLst>
                  <a:ext uri="{FF2B5EF4-FFF2-40B4-BE49-F238E27FC236}">
                    <a16:creationId xmlns:a16="http://schemas.microsoft.com/office/drawing/2014/main" id="{9899D309-4DE3-459D-B42C-2A6C88AED5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1495"/>
                <a:ext cx="528" cy="2071"/>
                <a:chOff x="288" y="1200"/>
                <a:chExt cx="528" cy="2160"/>
              </a:xfrm>
            </p:grpSpPr>
            <p:sp>
              <p:nvSpPr>
                <p:cNvPr id="24" name="Text Box 7">
                  <a:extLst>
                    <a:ext uri="{FF2B5EF4-FFF2-40B4-BE49-F238E27FC236}">
                      <a16:creationId xmlns:a16="http://schemas.microsoft.com/office/drawing/2014/main" id="{311A3B2C-A395-4343-A02E-DBF2B1023C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2" y="1870"/>
                  <a:ext cx="277" cy="8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主</a:t>
                  </a:r>
                </a:p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存</a:t>
                  </a:r>
                </a:p>
              </p:txBody>
            </p:sp>
            <p:sp>
              <p:nvSpPr>
                <p:cNvPr id="25" name="Rectangle 8">
                  <a:extLst>
                    <a:ext uri="{FF2B5EF4-FFF2-40B4-BE49-F238E27FC236}">
                      <a16:creationId xmlns:a16="http://schemas.microsoft.com/office/drawing/2014/main" id="{D25F296B-3D96-44E5-B487-7AEE5048DE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0"/>
                  <a:ext cx="528" cy="2160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8" name="Group 9">
                <a:extLst>
                  <a:ext uri="{FF2B5EF4-FFF2-40B4-BE49-F238E27FC236}">
                    <a16:creationId xmlns:a16="http://schemas.microsoft.com/office/drawing/2014/main" id="{90475A13-3F52-4F2E-ACC0-0D51E18B21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495"/>
                <a:ext cx="528" cy="2071"/>
                <a:chOff x="816" y="1200"/>
                <a:chExt cx="528" cy="2160"/>
              </a:xfrm>
            </p:grpSpPr>
            <p:sp>
              <p:nvSpPr>
                <p:cNvPr id="22" name="Text Box 10">
                  <a:extLst>
                    <a:ext uri="{FF2B5EF4-FFF2-40B4-BE49-F238E27FC236}">
                      <a16:creationId xmlns:a16="http://schemas.microsoft.com/office/drawing/2014/main" id="{63F577B2-AE87-4A89-953F-2C36A1DE53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2054"/>
                  <a:ext cx="446" cy="2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CPU</a:t>
                  </a:r>
                </a:p>
              </p:txBody>
            </p:sp>
            <p:sp>
              <p:nvSpPr>
                <p:cNvPr id="23" name="Rectangle 11">
                  <a:extLst>
                    <a:ext uri="{FF2B5EF4-FFF2-40B4-BE49-F238E27FC236}">
                      <a16:creationId xmlns:a16="http://schemas.microsoft.com/office/drawing/2014/main" id="{CD0196A5-374C-41BC-BC4A-ACC9CC6124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200"/>
                  <a:ext cx="528" cy="2160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9" name="AutoShape 12">
                <a:extLst>
                  <a:ext uri="{FF2B5EF4-FFF2-40B4-BE49-F238E27FC236}">
                    <a16:creationId xmlns:a16="http://schemas.microsoft.com/office/drawing/2014/main" id="{1284DA30-3CB0-46C6-A96A-96EE970ABD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758"/>
                <a:ext cx="5424" cy="138"/>
              </a:xfrm>
              <a:prstGeom prst="leftRightArrow">
                <a:avLst>
                  <a:gd name="adj1" fmla="val 56769"/>
                  <a:gd name="adj2" fmla="val 189789"/>
                </a:avLst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AutoShape 13">
                <a:extLst>
                  <a:ext uri="{FF2B5EF4-FFF2-40B4-BE49-F238E27FC236}">
                    <a16:creationId xmlns:a16="http://schemas.microsoft.com/office/drawing/2014/main" id="{DC9C3D92-3344-4C06-9854-35E048C524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850"/>
                <a:ext cx="144" cy="645"/>
              </a:xfrm>
              <a:prstGeom prst="upDownArrow">
                <a:avLst>
                  <a:gd name="adj1" fmla="val 50000"/>
                  <a:gd name="adj2" fmla="val 89583"/>
                </a:avLst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AutoShape 14">
                <a:extLst>
                  <a:ext uri="{FF2B5EF4-FFF2-40B4-BE49-F238E27FC236}">
                    <a16:creationId xmlns:a16="http://schemas.microsoft.com/office/drawing/2014/main" id="{CF7FC0C4-DA18-4630-9295-F7E446AD2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850"/>
                <a:ext cx="144" cy="645"/>
              </a:xfrm>
              <a:prstGeom prst="upDownArrow">
                <a:avLst>
                  <a:gd name="adj1" fmla="val 50000"/>
                  <a:gd name="adj2" fmla="val 89583"/>
                </a:avLst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6" name="Group 16">
            <a:extLst>
              <a:ext uri="{FF2B5EF4-FFF2-40B4-BE49-F238E27FC236}">
                <a16:creationId xmlns:a16="http://schemas.microsoft.com/office/drawing/2014/main" id="{783642E9-5891-4396-98B6-56D6469E969B}"/>
              </a:ext>
            </a:extLst>
          </p:cNvPr>
          <p:cNvGrpSpPr>
            <a:grpSpLocks/>
          </p:cNvGrpSpPr>
          <p:nvPr/>
        </p:nvGrpSpPr>
        <p:grpSpPr bwMode="auto">
          <a:xfrm>
            <a:off x="3367336" y="2442816"/>
            <a:ext cx="868363" cy="2338387"/>
            <a:chOff x="2112" y="1679"/>
            <a:chExt cx="547" cy="1473"/>
          </a:xfrm>
        </p:grpSpPr>
        <p:sp>
          <p:nvSpPr>
            <p:cNvPr id="27" name="Text Box 17">
              <a:extLst>
                <a:ext uri="{FF2B5EF4-FFF2-40B4-BE49-F238E27FC236}">
                  <a16:creationId xmlns:a16="http://schemas.microsoft.com/office/drawing/2014/main" id="{75CE2DAC-AC8C-4CE6-885B-AE97338C8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848"/>
              <a:ext cx="499" cy="1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DMA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控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制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逻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辑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</a:p>
          </p:txBody>
        </p:sp>
        <p:sp>
          <p:nvSpPr>
            <p:cNvPr id="28" name="Rectangle 18">
              <a:extLst>
                <a:ext uri="{FF2B5EF4-FFF2-40B4-BE49-F238E27FC236}">
                  <a16:creationId xmlns:a16="http://schemas.microsoft.com/office/drawing/2014/main" id="{2DCE659A-61DF-454D-ABCE-E8DF3B2DE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679"/>
              <a:ext cx="528" cy="147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Group 19">
            <a:extLst>
              <a:ext uri="{FF2B5EF4-FFF2-40B4-BE49-F238E27FC236}">
                <a16:creationId xmlns:a16="http://schemas.microsoft.com/office/drawing/2014/main" id="{A7E69B39-57AB-4B8F-A707-7B052F656D1A}"/>
              </a:ext>
            </a:extLst>
          </p:cNvPr>
          <p:cNvGrpSpPr>
            <a:grpSpLocks/>
          </p:cNvGrpSpPr>
          <p:nvPr/>
        </p:nvGrpSpPr>
        <p:grpSpPr bwMode="auto">
          <a:xfrm>
            <a:off x="4967536" y="2442816"/>
            <a:ext cx="838200" cy="2338387"/>
            <a:chOff x="3120" y="1679"/>
            <a:chExt cx="528" cy="1473"/>
          </a:xfrm>
        </p:grpSpPr>
        <p:sp>
          <p:nvSpPr>
            <p:cNvPr id="30" name="Text Box 20">
              <a:extLst>
                <a:ext uri="{FF2B5EF4-FFF2-40B4-BE49-F238E27FC236}">
                  <a16:creationId xmlns:a16="http://schemas.microsoft.com/office/drawing/2014/main" id="{E33255AD-F370-45DE-9486-DCFF1F5B8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984"/>
              <a:ext cx="357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中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断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机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构</a:t>
              </a:r>
            </a:p>
          </p:txBody>
        </p:sp>
        <p:sp>
          <p:nvSpPr>
            <p:cNvPr id="31" name="Rectangle 21">
              <a:extLst>
                <a:ext uri="{FF2B5EF4-FFF2-40B4-BE49-F238E27FC236}">
                  <a16:creationId xmlns:a16="http://schemas.microsoft.com/office/drawing/2014/main" id="{0908A66F-508F-4296-A287-47694B8C9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679"/>
              <a:ext cx="528" cy="147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" name="Group 22">
            <a:extLst>
              <a:ext uri="{FF2B5EF4-FFF2-40B4-BE49-F238E27FC236}">
                <a16:creationId xmlns:a16="http://schemas.microsoft.com/office/drawing/2014/main" id="{B1ABC17F-8188-44EB-8019-03833004DF81}"/>
              </a:ext>
            </a:extLst>
          </p:cNvPr>
          <p:cNvGrpSpPr>
            <a:grpSpLocks/>
          </p:cNvGrpSpPr>
          <p:nvPr/>
        </p:nvGrpSpPr>
        <p:grpSpPr bwMode="auto">
          <a:xfrm>
            <a:off x="6315324" y="5873403"/>
            <a:ext cx="701675" cy="438150"/>
            <a:chOff x="3921" y="3840"/>
            <a:chExt cx="442" cy="276"/>
          </a:xfrm>
        </p:grpSpPr>
        <p:sp>
          <p:nvSpPr>
            <p:cNvPr id="33" name="Text Box 23">
              <a:extLst>
                <a:ext uri="{FF2B5EF4-FFF2-40B4-BE49-F238E27FC236}">
                  <a16:creationId xmlns:a16="http://schemas.microsoft.com/office/drawing/2014/main" id="{7B634A78-7CD8-40B6-B6FD-9FC186709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1" y="3846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设备</a:t>
              </a:r>
            </a:p>
          </p:txBody>
        </p:sp>
        <p:sp>
          <p:nvSpPr>
            <p:cNvPr id="34" name="Rectangle 24">
              <a:extLst>
                <a:ext uri="{FF2B5EF4-FFF2-40B4-BE49-F238E27FC236}">
                  <a16:creationId xmlns:a16="http://schemas.microsoft.com/office/drawing/2014/main" id="{393AA707-E00E-4552-905A-03EC2AFD5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" y="3840"/>
              <a:ext cx="432" cy="27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5" name="AutoShape 25">
            <a:extLst>
              <a:ext uri="{FF2B5EF4-FFF2-40B4-BE49-F238E27FC236}">
                <a16:creationId xmlns:a16="http://schemas.microsoft.com/office/drawing/2014/main" id="{4B259982-128E-462A-ADF1-18ED1ADC3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736" y="5340003"/>
            <a:ext cx="228600" cy="533400"/>
          </a:xfrm>
          <a:prstGeom prst="upDownArrow">
            <a:avLst>
              <a:gd name="adj1" fmla="val 50000"/>
              <a:gd name="adj2" fmla="val 4666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6" name="Group 26">
            <a:extLst>
              <a:ext uri="{FF2B5EF4-FFF2-40B4-BE49-F238E27FC236}">
                <a16:creationId xmlns:a16="http://schemas.microsoft.com/office/drawing/2014/main" id="{EC189286-6D25-4D79-A349-75B34F32BBAC}"/>
              </a:ext>
            </a:extLst>
          </p:cNvPr>
          <p:cNvGrpSpPr>
            <a:grpSpLocks/>
          </p:cNvGrpSpPr>
          <p:nvPr/>
        </p:nvGrpSpPr>
        <p:grpSpPr bwMode="auto">
          <a:xfrm>
            <a:off x="2752974" y="1126778"/>
            <a:ext cx="919162" cy="1316038"/>
            <a:chOff x="1725" y="850"/>
            <a:chExt cx="579" cy="829"/>
          </a:xfrm>
        </p:grpSpPr>
        <p:sp>
          <p:nvSpPr>
            <p:cNvPr id="37" name="Line 27">
              <a:extLst>
                <a:ext uri="{FF2B5EF4-FFF2-40B4-BE49-F238E27FC236}">
                  <a16:creationId xmlns:a16="http://schemas.microsoft.com/office/drawing/2014/main" id="{AB097476-0B32-483C-AC5A-AD92A2DB396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256" y="850"/>
              <a:ext cx="0" cy="82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Text Box 28">
              <a:extLst>
                <a:ext uri="{FF2B5EF4-FFF2-40B4-BE49-F238E27FC236}">
                  <a16:creationId xmlns:a16="http://schemas.microsoft.com/office/drawing/2014/main" id="{C716DB75-29B6-4651-A815-87F0491847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1089"/>
              <a:ext cx="5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HLDA</a:t>
              </a:r>
            </a:p>
          </p:txBody>
        </p:sp>
      </p:grpSp>
      <p:grpSp>
        <p:nvGrpSpPr>
          <p:cNvPr id="39" name="Group 29">
            <a:extLst>
              <a:ext uri="{FF2B5EF4-FFF2-40B4-BE49-F238E27FC236}">
                <a16:creationId xmlns:a16="http://schemas.microsoft.com/office/drawing/2014/main" id="{44C57404-9D9D-498E-9B83-EFC90C450414}"/>
              </a:ext>
            </a:extLst>
          </p:cNvPr>
          <p:cNvGrpSpPr>
            <a:grpSpLocks/>
          </p:cNvGrpSpPr>
          <p:nvPr/>
        </p:nvGrpSpPr>
        <p:grpSpPr bwMode="auto">
          <a:xfrm>
            <a:off x="7169399" y="2442816"/>
            <a:ext cx="685800" cy="438150"/>
            <a:chOff x="4507" y="1679"/>
            <a:chExt cx="432" cy="276"/>
          </a:xfrm>
        </p:grpSpPr>
        <p:sp>
          <p:nvSpPr>
            <p:cNvPr id="40" name="Text Box 30">
              <a:extLst>
                <a:ext uri="{FF2B5EF4-FFF2-40B4-BE49-F238E27FC236}">
                  <a16:creationId xmlns:a16="http://schemas.microsoft.com/office/drawing/2014/main" id="{0C87E9F6-0E84-4007-909E-559A333F4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5" y="1680"/>
              <a:ext cx="3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AR</a:t>
              </a:r>
            </a:p>
          </p:txBody>
        </p:sp>
        <p:sp>
          <p:nvSpPr>
            <p:cNvPr id="41" name="Rectangle 31">
              <a:extLst>
                <a:ext uri="{FF2B5EF4-FFF2-40B4-BE49-F238E27FC236}">
                  <a16:creationId xmlns:a16="http://schemas.microsoft.com/office/drawing/2014/main" id="{847DCA74-AC06-48F7-A299-4926B7D50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7" y="1679"/>
              <a:ext cx="432" cy="27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2" name="Group 32">
            <a:extLst>
              <a:ext uri="{FF2B5EF4-FFF2-40B4-BE49-F238E27FC236}">
                <a16:creationId xmlns:a16="http://schemas.microsoft.com/office/drawing/2014/main" id="{61B9524E-4306-4C4D-AAD3-157DC36F208E}"/>
              </a:ext>
            </a:extLst>
          </p:cNvPr>
          <p:cNvGrpSpPr>
            <a:grpSpLocks/>
          </p:cNvGrpSpPr>
          <p:nvPr/>
        </p:nvGrpSpPr>
        <p:grpSpPr bwMode="auto">
          <a:xfrm>
            <a:off x="7169399" y="3319116"/>
            <a:ext cx="685800" cy="438150"/>
            <a:chOff x="4507" y="2231"/>
            <a:chExt cx="432" cy="276"/>
          </a:xfrm>
        </p:grpSpPr>
        <p:sp>
          <p:nvSpPr>
            <p:cNvPr id="43" name="Text Box 33">
              <a:extLst>
                <a:ext uri="{FF2B5EF4-FFF2-40B4-BE49-F238E27FC236}">
                  <a16:creationId xmlns:a16="http://schemas.microsoft.com/office/drawing/2014/main" id="{6558B1B3-7837-4B51-A018-99A2D9A7F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246"/>
              <a:ext cx="3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WC</a:t>
              </a:r>
            </a:p>
          </p:txBody>
        </p:sp>
        <p:sp>
          <p:nvSpPr>
            <p:cNvPr id="44" name="Rectangle 34">
              <a:extLst>
                <a:ext uri="{FF2B5EF4-FFF2-40B4-BE49-F238E27FC236}">
                  <a16:creationId xmlns:a16="http://schemas.microsoft.com/office/drawing/2014/main" id="{AF9F2DDD-0DB3-44CA-A113-5C362C522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7" y="2231"/>
              <a:ext cx="432" cy="27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5" name="Group 35">
            <a:extLst>
              <a:ext uri="{FF2B5EF4-FFF2-40B4-BE49-F238E27FC236}">
                <a16:creationId xmlns:a16="http://schemas.microsoft.com/office/drawing/2014/main" id="{8D8DC72E-E529-4204-9751-FD5EFED133C4}"/>
              </a:ext>
            </a:extLst>
          </p:cNvPr>
          <p:cNvGrpSpPr>
            <a:grpSpLocks/>
          </p:cNvGrpSpPr>
          <p:nvPr/>
        </p:nvGrpSpPr>
        <p:grpSpPr bwMode="auto">
          <a:xfrm>
            <a:off x="7158286" y="4195416"/>
            <a:ext cx="736600" cy="438150"/>
            <a:chOff x="4500" y="2783"/>
            <a:chExt cx="464" cy="276"/>
          </a:xfrm>
        </p:grpSpPr>
        <p:sp>
          <p:nvSpPr>
            <p:cNvPr id="46" name="Text Box 36">
              <a:extLst>
                <a:ext uri="{FF2B5EF4-FFF2-40B4-BE49-F238E27FC236}">
                  <a16:creationId xmlns:a16="http://schemas.microsoft.com/office/drawing/2014/main" id="{030F5C75-42BF-48D1-AF3F-F5811ADCF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" y="2788"/>
              <a:ext cx="4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DAR</a:t>
              </a:r>
            </a:p>
          </p:txBody>
        </p:sp>
        <p:sp>
          <p:nvSpPr>
            <p:cNvPr id="47" name="Rectangle 37">
              <a:extLst>
                <a:ext uri="{FF2B5EF4-FFF2-40B4-BE49-F238E27FC236}">
                  <a16:creationId xmlns:a16="http://schemas.microsoft.com/office/drawing/2014/main" id="{A27FD083-6DCE-48A6-849E-BE8D8135D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7" y="2783"/>
              <a:ext cx="432" cy="27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8" name="Group 38">
            <a:extLst>
              <a:ext uri="{FF2B5EF4-FFF2-40B4-BE49-F238E27FC236}">
                <a16:creationId xmlns:a16="http://schemas.microsoft.com/office/drawing/2014/main" id="{7F780D0F-9202-4317-9FFE-2566EF821091}"/>
              </a:ext>
            </a:extLst>
          </p:cNvPr>
          <p:cNvGrpSpPr>
            <a:grpSpLocks/>
          </p:cNvGrpSpPr>
          <p:nvPr/>
        </p:nvGrpSpPr>
        <p:grpSpPr bwMode="auto">
          <a:xfrm>
            <a:off x="3900736" y="1126778"/>
            <a:ext cx="762000" cy="1316038"/>
            <a:chOff x="2448" y="850"/>
            <a:chExt cx="480" cy="829"/>
          </a:xfrm>
        </p:grpSpPr>
        <p:sp>
          <p:nvSpPr>
            <p:cNvPr id="49" name="Line 39">
              <a:extLst>
                <a:ext uri="{FF2B5EF4-FFF2-40B4-BE49-F238E27FC236}">
                  <a16:creationId xmlns:a16="http://schemas.microsoft.com/office/drawing/2014/main" id="{3D99CEC8-2AC6-4156-A18A-03AC3B0083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850"/>
              <a:ext cx="0" cy="82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40">
              <a:extLst>
                <a:ext uri="{FF2B5EF4-FFF2-40B4-BE49-F238E27FC236}">
                  <a16:creationId xmlns:a16="http://schemas.microsoft.com/office/drawing/2014/main" id="{B0A315CF-4B59-45B2-BF3A-63D545985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089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HRQ</a:t>
              </a:r>
            </a:p>
          </p:txBody>
        </p:sp>
      </p:grpSp>
      <p:grpSp>
        <p:nvGrpSpPr>
          <p:cNvPr id="51" name="Group 41">
            <a:extLst>
              <a:ext uri="{FF2B5EF4-FFF2-40B4-BE49-F238E27FC236}">
                <a16:creationId xmlns:a16="http://schemas.microsoft.com/office/drawing/2014/main" id="{12209214-1608-4AD5-8911-AEEB86BF653B}"/>
              </a:ext>
            </a:extLst>
          </p:cNvPr>
          <p:cNvGrpSpPr>
            <a:grpSpLocks/>
          </p:cNvGrpSpPr>
          <p:nvPr/>
        </p:nvGrpSpPr>
        <p:grpSpPr bwMode="auto">
          <a:xfrm>
            <a:off x="5370761" y="1126778"/>
            <a:ext cx="542925" cy="1316038"/>
            <a:chOff x="3374" y="850"/>
            <a:chExt cx="342" cy="829"/>
          </a:xfrm>
        </p:grpSpPr>
        <p:sp>
          <p:nvSpPr>
            <p:cNvPr id="52" name="Line 42">
              <a:extLst>
                <a:ext uri="{FF2B5EF4-FFF2-40B4-BE49-F238E27FC236}">
                  <a16:creationId xmlns:a16="http://schemas.microsoft.com/office/drawing/2014/main" id="{45B8E425-F8B7-4603-8AF2-442239D1CF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4" y="850"/>
              <a:ext cx="0" cy="82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Text Box 43">
              <a:extLst>
                <a:ext uri="{FF2B5EF4-FFF2-40B4-BE49-F238E27FC236}">
                  <a16:creationId xmlns:a16="http://schemas.microsoft.com/office/drawing/2014/main" id="{40B9CD32-1953-452B-B420-C524C3453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896"/>
              <a:ext cx="308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中断请求</a:t>
              </a:r>
            </a:p>
          </p:txBody>
        </p:sp>
      </p:grpSp>
      <p:grpSp>
        <p:nvGrpSpPr>
          <p:cNvPr id="54" name="Group 44">
            <a:extLst>
              <a:ext uri="{FF2B5EF4-FFF2-40B4-BE49-F238E27FC236}">
                <a16:creationId xmlns:a16="http://schemas.microsoft.com/office/drawing/2014/main" id="{89490A64-2C73-4BB0-AD0E-85CEE3431AAF}"/>
              </a:ext>
            </a:extLst>
          </p:cNvPr>
          <p:cNvGrpSpPr>
            <a:grpSpLocks/>
          </p:cNvGrpSpPr>
          <p:nvPr/>
        </p:nvGrpSpPr>
        <p:grpSpPr bwMode="auto">
          <a:xfrm>
            <a:off x="6567736" y="1126778"/>
            <a:ext cx="641350" cy="3756025"/>
            <a:chOff x="4128" y="850"/>
            <a:chExt cx="404" cy="2348"/>
          </a:xfrm>
        </p:grpSpPr>
        <p:sp>
          <p:nvSpPr>
            <p:cNvPr id="55" name="AutoShape 45">
              <a:extLst>
                <a:ext uri="{FF2B5EF4-FFF2-40B4-BE49-F238E27FC236}">
                  <a16:creationId xmlns:a16="http://schemas.microsoft.com/office/drawing/2014/main" id="{F2D98631-719D-4543-8E65-B8B9050FA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850"/>
              <a:ext cx="122" cy="2348"/>
            </a:xfrm>
            <a:prstGeom prst="upDownArrow">
              <a:avLst>
                <a:gd name="adj1" fmla="val 68750"/>
                <a:gd name="adj2" fmla="val 147819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AutoShape 46">
              <a:extLst>
                <a:ext uri="{FF2B5EF4-FFF2-40B4-BE49-F238E27FC236}">
                  <a16:creationId xmlns:a16="http://schemas.microsoft.com/office/drawing/2014/main" id="{39BBDC97-AE7B-47C9-921F-5BDD28091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725"/>
              <a:ext cx="288" cy="184"/>
            </a:xfrm>
            <a:prstGeom prst="rightArrow">
              <a:avLst>
                <a:gd name="adj1" fmla="val 50000"/>
                <a:gd name="adj2" fmla="val 39130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AutoShape 47">
              <a:extLst>
                <a:ext uri="{FF2B5EF4-FFF2-40B4-BE49-F238E27FC236}">
                  <a16:creationId xmlns:a16="http://schemas.microsoft.com/office/drawing/2014/main" id="{A7428A8C-001F-4896-9E87-62FF32F98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277"/>
              <a:ext cx="288" cy="184"/>
            </a:xfrm>
            <a:prstGeom prst="rightArrow">
              <a:avLst>
                <a:gd name="adj1" fmla="val 50000"/>
                <a:gd name="adj2" fmla="val 39130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" name="AutoShape 48">
              <a:extLst>
                <a:ext uri="{FF2B5EF4-FFF2-40B4-BE49-F238E27FC236}">
                  <a16:creationId xmlns:a16="http://schemas.microsoft.com/office/drawing/2014/main" id="{F0AAF9AC-757F-4A54-9073-0BDD43F4C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802"/>
              <a:ext cx="288" cy="184"/>
            </a:xfrm>
            <a:prstGeom prst="rightArrow">
              <a:avLst>
                <a:gd name="adj1" fmla="val 50000"/>
                <a:gd name="adj2" fmla="val 39130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Text Box 49">
              <a:extLst>
                <a:ext uri="{FF2B5EF4-FFF2-40B4-BE49-F238E27FC236}">
                  <a16:creationId xmlns:a16="http://schemas.microsoft.com/office/drawing/2014/main" id="{253FB664-A34B-4157-8B3E-C4906BC1AF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960"/>
              <a:ext cx="308" cy="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数据线</a:t>
              </a:r>
            </a:p>
          </p:txBody>
        </p:sp>
      </p:grpSp>
      <p:grpSp>
        <p:nvGrpSpPr>
          <p:cNvPr id="60" name="Group 50">
            <a:extLst>
              <a:ext uri="{FF2B5EF4-FFF2-40B4-BE49-F238E27FC236}">
                <a16:creationId xmlns:a16="http://schemas.microsoft.com/office/drawing/2014/main" id="{FED20906-ECE5-46AD-B476-93D83CA70C34}"/>
              </a:ext>
            </a:extLst>
          </p:cNvPr>
          <p:cNvGrpSpPr>
            <a:grpSpLocks/>
          </p:cNvGrpSpPr>
          <p:nvPr/>
        </p:nvGrpSpPr>
        <p:grpSpPr bwMode="auto">
          <a:xfrm>
            <a:off x="7405936" y="1126778"/>
            <a:ext cx="685800" cy="1316038"/>
            <a:chOff x="4656" y="850"/>
            <a:chExt cx="432" cy="829"/>
          </a:xfrm>
        </p:grpSpPr>
        <p:sp>
          <p:nvSpPr>
            <p:cNvPr id="61" name="AutoShape 51">
              <a:extLst>
                <a:ext uri="{FF2B5EF4-FFF2-40B4-BE49-F238E27FC236}">
                  <a16:creationId xmlns:a16="http://schemas.microsoft.com/office/drawing/2014/main" id="{CC91D338-C469-42C1-BD11-F462F5A2B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850"/>
              <a:ext cx="144" cy="829"/>
            </a:xfrm>
            <a:prstGeom prst="upArrow">
              <a:avLst>
                <a:gd name="adj1" fmla="val 50000"/>
                <a:gd name="adj2" fmla="val 143924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Text Box 52">
              <a:extLst>
                <a:ext uri="{FF2B5EF4-FFF2-40B4-BE49-F238E27FC236}">
                  <a16:creationId xmlns:a16="http://schemas.microsoft.com/office/drawing/2014/main" id="{078EBD6C-60D0-4ABB-8EDD-353C7AF654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0" y="960"/>
              <a:ext cx="30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地址线</a:t>
              </a:r>
            </a:p>
          </p:txBody>
        </p:sp>
      </p:grpSp>
      <p:sp>
        <p:nvSpPr>
          <p:cNvPr id="63" name="Text Box 53">
            <a:extLst>
              <a:ext uri="{FF2B5EF4-FFF2-40B4-BE49-F238E27FC236}">
                <a16:creationId xmlns:a16="http://schemas.microsoft.com/office/drawing/2014/main" id="{BC9DDEC0-EE49-4F47-A661-280CB376F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9661" y="2528541"/>
            <a:ext cx="455613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+1</a:t>
            </a:r>
          </a:p>
        </p:txBody>
      </p:sp>
      <p:sp>
        <p:nvSpPr>
          <p:cNvPr id="64" name="Text Box 54">
            <a:extLst>
              <a:ext uri="{FF2B5EF4-FFF2-40B4-BE49-F238E27FC236}">
                <a16:creationId xmlns:a16="http://schemas.microsoft.com/office/drawing/2014/main" id="{9040DA80-6B90-40E7-8E39-CF579191A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9661" y="3334991"/>
            <a:ext cx="455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+1</a:t>
            </a:r>
          </a:p>
        </p:txBody>
      </p:sp>
      <p:grpSp>
        <p:nvGrpSpPr>
          <p:cNvPr id="65" name="Group 55">
            <a:extLst>
              <a:ext uri="{FF2B5EF4-FFF2-40B4-BE49-F238E27FC236}">
                <a16:creationId xmlns:a16="http://schemas.microsoft.com/office/drawing/2014/main" id="{046F3F67-CA31-4C58-B5AF-B54741B4A935}"/>
              </a:ext>
            </a:extLst>
          </p:cNvPr>
          <p:cNvGrpSpPr>
            <a:grpSpLocks/>
          </p:cNvGrpSpPr>
          <p:nvPr/>
        </p:nvGrpSpPr>
        <p:grpSpPr bwMode="auto">
          <a:xfrm>
            <a:off x="5805736" y="2839691"/>
            <a:ext cx="2165350" cy="479425"/>
            <a:chOff x="3648" y="1929"/>
            <a:chExt cx="1364" cy="302"/>
          </a:xfrm>
        </p:grpSpPr>
        <p:sp>
          <p:nvSpPr>
            <p:cNvPr id="66" name="Freeform 56">
              <a:extLst>
                <a:ext uri="{FF2B5EF4-FFF2-40B4-BE49-F238E27FC236}">
                  <a16:creationId xmlns:a16="http://schemas.microsoft.com/office/drawing/2014/main" id="{6AA1CF3B-1332-4F13-8C68-ECA92C527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139"/>
              <a:ext cx="1056" cy="92"/>
            </a:xfrm>
            <a:custGeom>
              <a:avLst/>
              <a:gdLst>
                <a:gd name="T0" fmla="*/ 1056 w 1104"/>
                <a:gd name="T1" fmla="*/ 92 h 96"/>
                <a:gd name="T2" fmla="*/ 1056 w 1104"/>
                <a:gd name="T3" fmla="*/ 0 h 96"/>
                <a:gd name="T4" fmla="*/ 0 w 1104"/>
                <a:gd name="T5" fmla="*/ 0 h 96"/>
                <a:gd name="T6" fmla="*/ 0 60000 65536"/>
                <a:gd name="T7" fmla="*/ 0 60000 65536"/>
                <a:gd name="T8" fmla="*/ 0 60000 65536"/>
                <a:gd name="T9" fmla="*/ 0 w 1104"/>
                <a:gd name="T10" fmla="*/ 0 h 96"/>
                <a:gd name="T11" fmla="*/ 1104 w 1104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96">
                  <a:moveTo>
                    <a:pt x="1104" y="96"/>
                  </a:moveTo>
                  <a:lnTo>
                    <a:pt x="1104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" name="Text Box 57">
              <a:extLst>
                <a:ext uri="{FF2B5EF4-FFF2-40B4-BE49-F238E27FC236}">
                  <a16:creationId xmlns:a16="http://schemas.microsoft.com/office/drawing/2014/main" id="{ACE6CA0A-E165-449E-84CC-3DAB48083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929"/>
              <a:ext cx="6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溢出信号</a:t>
              </a:r>
            </a:p>
          </p:txBody>
        </p:sp>
      </p:grpSp>
      <p:grpSp>
        <p:nvGrpSpPr>
          <p:cNvPr id="68" name="Group 58">
            <a:extLst>
              <a:ext uri="{FF2B5EF4-FFF2-40B4-BE49-F238E27FC236}">
                <a16:creationId xmlns:a16="http://schemas.microsoft.com/office/drawing/2014/main" id="{41B27EBF-2DA4-4D60-A044-09C638C179FF}"/>
              </a:ext>
            </a:extLst>
          </p:cNvPr>
          <p:cNvGrpSpPr>
            <a:grpSpLocks/>
          </p:cNvGrpSpPr>
          <p:nvPr/>
        </p:nvGrpSpPr>
        <p:grpSpPr bwMode="auto">
          <a:xfrm>
            <a:off x="3953124" y="4781203"/>
            <a:ext cx="2362200" cy="1184275"/>
            <a:chOff x="2448" y="3152"/>
            <a:chExt cx="1488" cy="746"/>
          </a:xfrm>
        </p:grpSpPr>
        <p:sp>
          <p:nvSpPr>
            <p:cNvPr id="69" name="Freeform 59">
              <a:extLst>
                <a:ext uri="{FF2B5EF4-FFF2-40B4-BE49-F238E27FC236}">
                  <a16:creationId xmlns:a16="http://schemas.microsoft.com/office/drawing/2014/main" id="{2A696FFF-89D4-4E81-BB8B-EB17F8655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3152"/>
              <a:ext cx="1488" cy="736"/>
            </a:xfrm>
            <a:custGeom>
              <a:avLst/>
              <a:gdLst>
                <a:gd name="T0" fmla="*/ 1488 w 1488"/>
                <a:gd name="T1" fmla="*/ 736 h 768"/>
                <a:gd name="T2" fmla="*/ 0 w 1488"/>
                <a:gd name="T3" fmla="*/ 736 h 768"/>
                <a:gd name="T4" fmla="*/ 0 w 1488"/>
                <a:gd name="T5" fmla="*/ 0 h 768"/>
                <a:gd name="T6" fmla="*/ 0 60000 65536"/>
                <a:gd name="T7" fmla="*/ 0 60000 65536"/>
                <a:gd name="T8" fmla="*/ 0 60000 65536"/>
                <a:gd name="T9" fmla="*/ 0 w 1488"/>
                <a:gd name="T10" fmla="*/ 0 h 768"/>
                <a:gd name="T11" fmla="*/ 1488 w 1488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768">
                  <a:moveTo>
                    <a:pt x="1488" y="768"/>
                  </a:moveTo>
                  <a:lnTo>
                    <a:pt x="0" y="768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" name="Text Box 60">
              <a:extLst>
                <a:ext uri="{FF2B5EF4-FFF2-40B4-BE49-F238E27FC236}">
                  <a16:creationId xmlns:a16="http://schemas.microsoft.com/office/drawing/2014/main" id="{52EAE7E4-328F-436A-8017-11DC26D148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3648"/>
              <a:ext cx="5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DREQ</a:t>
              </a:r>
            </a:p>
          </p:txBody>
        </p:sp>
      </p:grpSp>
      <p:grpSp>
        <p:nvGrpSpPr>
          <p:cNvPr id="71" name="Group 61">
            <a:extLst>
              <a:ext uri="{FF2B5EF4-FFF2-40B4-BE49-F238E27FC236}">
                <a16:creationId xmlns:a16="http://schemas.microsoft.com/office/drawing/2014/main" id="{E0B541A8-B8BA-4F67-AEED-F0FFB304ACEE}"/>
              </a:ext>
            </a:extLst>
          </p:cNvPr>
          <p:cNvGrpSpPr>
            <a:grpSpLocks/>
          </p:cNvGrpSpPr>
          <p:nvPr/>
        </p:nvGrpSpPr>
        <p:grpSpPr bwMode="auto">
          <a:xfrm>
            <a:off x="2791074" y="4781203"/>
            <a:ext cx="3524250" cy="1503363"/>
            <a:chOff x="1716" y="3152"/>
            <a:chExt cx="2220" cy="947"/>
          </a:xfrm>
        </p:grpSpPr>
        <p:sp>
          <p:nvSpPr>
            <p:cNvPr id="72" name="Freeform 62">
              <a:extLst>
                <a:ext uri="{FF2B5EF4-FFF2-40B4-BE49-F238E27FC236}">
                  <a16:creationId xmlns:a16="http://schemas.microsoft.com/office/drawing/2014/main" id="{9720D400-906C-4AFE-8E29-9B28958A1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3152"/>
              <a:ext cx="1680" cy="874"/>
            </a:xfrm>
            <a:custGeom>
              <a:avLst/>
              <a:gdLst>
                <a:gd name="T0" fmla="*/ 0 w 1680"/>
                <a:gd name="T1" fmla="*/ 0 h 960"/>
                <a:gd name="T2" fmla="*/ 0 w 1680"/>
                <a:gd name="T3" fmla="*/ 874 h 960"/>
                <a:gd name="T4" fmla="*/ 1680 w 1680"/>
                <a:gd name="T5" fmla="*/ 874 h 960"/>
                <a:gd name="T6" fmla="*/ 0 60000 65536"/>
                <a:gd name="T7" fmla="*/ 0 60000 65536"/>
                <a:gd name="T8" fmla="*/ 0 60000 65536"/>
                <a:gd name="T9" fmla="*/ 0 w 1680"/>
                <a:gd name="T10" fmla="*/ 0 h 960"/>
                <a:gd name="T11" fmla="*/ 1680 w 1680"/>
                <a:gd name="T12" fmla="*/ 960 h 9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0" h="960">
                  <a:moveTo>
                    <a:pt x="0" y="0"/>
                  </a:moveTo>
                  <a:lnTo>
                    <a:pt x="0" y="960"/>
                  </a:lnTo>
                  <a:lnTo>
                    <a:pt x="1680" y="96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" name="Text Box 63">
              <a:extLst>
                <a:ext uri="{FF2B5EF4-FFF2-40B4-BE49-F238E27FC236}">
                  <a16:creationId xmlns:a16="http://schemas.microsoft.com/office/drawing/2014/main" id="{DB642157-31CF-453F-AEFC-1343CC162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6" y="3849"/>
              <a:ext cx="5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DACK</a:t>
              </a:r>
            </a:p>
          </p:txBody>
        </p:sp>
      </p:grpSp>
      <p:grpSp>
        <p:nvGrpSpPr>
          <p:cNvPr id="74" name="Group 64">
            <a:extLst>
              <a:ext uri="{FF2B5EF4-FFF2-40B4-BE49-F238E27FC236}">
                <a16:creationId xmlns:a16="http://schemas.microsoft.com/office/drawing/2014/main" id="{C76CB482-6800-4116-AFF1-684147CA99A3}"/>
              </a:ext>
            </a:extLst>
          </p:cNvPr>
          <p:cNvGrpSpPr>
            <a:grpSpLocks/>
          </p:cNvGrpSpPr>
          <p:nvPr/>
        </p:nvGrpSpPr>
        <p:grpSpPr bwMode="auto">
          <a:xfrm>
            <a:off x="6315324" y="4882803"/>
            <a:ext cx="685800" cy="438150"/>
            <a:chOff x="3931" y="3216"/>
            <a:chExt cx="432" cy="276"/>
          </a:xfrm>
        </p:grpSpPr>
        <p:sp>
          <p:nvSpPr>
            <p:cNvPr id="75" name="Text Box 65">
              <a:extLst>
                <a:ext uri="{FF2B5EF4-FFF2-40B4-BE49-F238E27FC236}">
                  <a16:creationId xmlns:a16="http://schemas.microsoft.com/office/drawing/2014/main" id="{95E3A9D9-499A-4502-BCEF-01EC345ACA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" y="3234"/>
              <a:ext cx="339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BR</a:t>
              </a:r>
            </a:p>
          </p:txBody>
        </p:sp>
        <p:sp>
          <p:nvSpPr>
            <p:cNvPr id="76" name="Rectangle 66">
              <a:extLst>
                <a:ext uri="{FF2B5EF4-FFF2-40B4-BE49-F238E27FC236}">
                  <a16:creationId xmlns:a16="http://schemas.microsoft.com/office/drawing/2014/main" id="{4D34712B-049C-44F5-B332-1A6E8F1A8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" y="3216"/>
              <a:ext cx="432" cy="27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4838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63" grpId="0" autoUpdateAnimBg="0"/>
      <p:bldP spid="64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Text Box 3">
            <a:extLst>
              <a:ext uri="{FF2B5EF4-FFF2-40B4-BE49-F238E27FC236}">
                <a16:creationId xmlns:a16="http://schemas.microsoft.com/office/drawing/2014/main" id="{5E3BA001-4C58-417B-A62B-C70BB46B6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009650"/>
            <a:ext cx="32956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DMA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传送过程</a:t>
            </a:r>
          </a:p>
        </p:txBody>
      </p:sp>
      <p:sp>
        <p:nvSpPr>
          <p:cNvPr id="46084" name="Text Box 4">
            <a:extLst>
              <a:ext uri="{FF2B5EF4-FFF2-40B4-BE49-F238E27FC236}">
                <a16:creationId xmlns:a16="http://schemas.microsoft.com/office/drawing/2014/main" id="{D161C2CD-24EB-49D1-99AB-2BEEB3922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676400"/>
            <a:ext cx="4816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预处理、数据传送、后处理</a:t>
            </a:r>
          </a:p>
        </p:txBody>
      </p:sp>
      <p:sp>
        <p:nvSpPr>
          <p:cNvPr id="46085" name="Text Box 5">
            <a:extLst>
              <a:ext uri="{FF2B5EF4-FFF2-40B4-BE49-F238E27FC236}">
                <a16:creationId xmlns:a16="http://schemas.microsoft.com/office/drawing/2014/main" id="{7EB299F4-A65A-4091-A4A2-296FAE3CA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363788"/>
            <a:ext cx="1997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预处理</a:t>
            </a:r>
          </a:p>
        </p:txBody>
      </p:sp>
      <p:sp>
        <p:nvSpPr>
          <p:cNvPr id="46086" name="Text Box 6">
            <a:extLst>
              <a:ext uri="{FF2B5EF4-FFF2-40B4-BE49-F238E27FC236}">
                <a16:creationId xmlns:a16="http://schemas.microsoft.com/office/drawing/2014/main" id="{8DF33063-B0DE-40BF-A709-BC93872B1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25" y="3052763"/>
            <a:ext cx="5899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通过几条输入输出指令预置如下信息</a:t>
            </a:r>
          </a:p>
        </p:txBody>
      </p:sp>
      <p:sp>
        <p:nvSpPr>
          <p:cNvPr id="46087" name="Text Box 7">
            <a:extLst>
              <a:ext uri="{FF2B5EF4-FFF2-40B4-BE49-F238E27FC236}">
                <a16:creationId xmlns:a16="http://schemas.microsoft.com/office/drawing/2014/main" id="{C3E9A80C-258C-4065-A32F-441C0B302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25" y="3740150"/>
            <a:ext cx="6523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通知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DMA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控制逻辑传送方向（入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出）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B71A4DF3-F66E-436E-8C62-48CC8C8151CB}"/>
              </a:ext>
            </a:extLst>
          </p:cNvPr>
          <p:cNvGrpSpPr>
            <a:grpSpLocks/>
          </p:cNvGrpSpPr>
          <p:nvPr/>
        </p:nvGrpSpPr>
        <p:grpSpPr bwMode="auto">
          <a:xfrm>
            <a:off x="1889125" y="4429125"/>
            <a:ext cx="4692650" cy="519113"/>
            <a:chOff x="1190" y="2790"/>
            <a:chExt cx="2956" cy="327"/>
          </a:xfrm>
        </p:grpSpPr>
        <p:sp>
          <p:nvSpPr>
            <p:cNvPr id="58385" name="Text Box 9">
              <a:extLst>
                <a:ext uri="{FF2B5EF4-FFF2-40B4-BE49-F238E27FC236}">
                  <a16:creationId xmlns:a16="http://schemas.microsoft.com/office/drawing/2014/main" id="{027BDECE-D1D3-4CAA-8DCA-082FD4217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" y="2790"/>
              <a:ext cx="29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设备地址      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DMA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DAR</a:t>
              </a:r>
            </a:p>
          </p:txBody>
        </p:sp>
        <p:sp>
          <p:nvSpPr>
            <p:cNvPr id="58386" name="Line 10">
              <a:extLst>
                <a:ext uri="{FF2B5EF4-FFF2-40B4-BE49-F238E27FC236}">
                  <a16:creationId xmlns:a16="http://schemas.microsoft.com/office/drawing/2014/main" id="{EBA32B59-F35D-4A15-8FC4-2E4157B00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98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FB196C7E-6CD2-4F02-8A0F-BEF227182BB5}"/>
              </a:ext>
            </a:extLst>
          </p:cNvPr>
          <p:cNvGrpSpPr>
            <a:grpSpLocks/>
          </p:cNvGrpSpPr>
          <p:nvPr/>
        </p:nvGrpSpPr>
        <p:grpSpPr bwMode="auto">
          <a:xfrm>
            <a:off x="1889125" y="5116513"/>
            <a:ext cx="4435475" cy="519112"/>
            <a:chOff x="1190" y="3223"/>
            <a:chExt cx="2794" cy="327"/>
          </a:xfrm>
        </p:grpSpPr>
        <p:sp>
          <p:nvSpPr>
            <p:cNvPr id="58383" name="Text Box 12">
              <a:extLst>
                <a:ext uri="{FF2B5EF4-FFF2-40B4-BE49-F238E27FC236}">
                  <a16:creationId xmlns:a16="http://schemas.microsoft.com/office/drawing/2014/main" id="{35336BE0-DB41-45F6-B67B-B14FB4F9D5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" y="3223"/>
              <a:ext cx="279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主存地址      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DMA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AR</a:t>
              </a:r>
            </a:p>
          </p:txBody>
        </p:sp>
        <p:sp>
          <p:nvSpPr>
            <p:cNvPr id="58384" name="Line 13">
              <a:extLst>
                <a:ext uri="{FF2B5EF4-FFF2-40B4-BE49-F238E27FC236}">
                  <a16:creationId xmlns:a16="http://schemas.microsoft.com/office/drawing/2014/main" id="{B3ED5360-4E00-4510-9100-24552C5D1A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40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DC964147-DC4C-481C-A6CD-7BF2231D7926}"/>
              </a:ext>
            </a:extLst>
          </p:cNvPr>
          <p:cNvGrpSpPr>
            <a:grpSpLocks/>
          </p:cNvGrpSpPr>
          <p:nvPr/>
        </p:nvGrpSpPr>
        <p:grpSpPr bwMode="auto">
          <a:xfrm>
            <a:off x="1889125" y="5805488"/>
            <a:ext cx="4533900" cy="519112"/>
            <a:chOff x="1190" y="3657"/>
            <a:chExt cx="2856" cy="327"/>
          </a:xfrm>
        </p:grpSpPr>
        <p:sp>
          <p:nvSpPr>
            <p:cNvPr id="58381" name="Text Box 15">
              <a:extLst>
                <a:ext uri="{FF2B5EF4-FFF2-40B4-BE49-F238E27FC236}">
                  <a16:creationId xmlns:a16="http://schemas.microsoft.com/office/drawing/2014/main" id="{968F792E-7C27-4109-A301-494FF5FF1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" y="3657"/>
              <a:ext cx="28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传送字数      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DMA 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WC</a:t>
              </a:r>
            </a:p>
          </p:txBody>
        </p:sp>
        <p:sp>
          <p:nvSpPr>
            <p:cNvPr id="58382" name="Line 16">
              <a:extLst>
                <a:ext uri="{FF2B5EF4-FFF2-40B4-BE49-F238E27FC236}">
                  <a16:creationId xmlns:a16="http://schemas.microsoft.com/office/drawing/2014/main" id="{DE54BAFA-5BA0-4C4B-8A62-41FE2C394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4" y="384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9" name="标题 3">
            <a:extLst>
              <a:ext uri="{FF2B5EF4-FFF2-40B4-BE49-F238E27FC236}">
                <a16:creationId xmlns:a16="http://schemas.microsoft.com/office/drawing/2014/main" id="{B1F1343D-3742-4254-98E2-BEDC735AA9F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964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3.DMA</a:t>
            </a:r>
            <a:r>
              <a:rPr kumimoji="0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的工作过程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宋体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/>
      <p:bldP spid="46084" grpId="0" autoUpdateAnimBg="0"/>
      <p:bldP spid="46085" grpId="0" autoUpdateAnimBg="0"/>
      <p:bldP spid="46086" grpId="0" autoUpdateAnimBg="0"/>
      <p:bldP spid="46087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FB3F03-4354-4FD6-9543-3A05F56F4AA7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219200"/>
            <a:ext cx="3063875" cy="1752600"/>
            <a:chOff x="758" y="624"/>
            <a:chExt cx="1930" cy="1104"/>
          </a:xfrm>
        </p:grpSpPr>
        <p:sp>
          <p:nvSpPr>
            <p:cNvPr id="59438" name="Text Box 3">
              <a:extLst>
                <a:ext uri="{FF2B5EF4-FFF2-40B4-BE49-F238E27FC236}">
                  <a16:creationId xmlns:a16="http://schemas.microsoft.com/office/drawing/2014/main" id="{B717BC1B-B87B-49DF-8D13-B58A1B062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670"/>
              <a:ext cx="1082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预处理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：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主存起始地址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设备地址     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传送数据个数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启动设备</a:t>
              </a:r>
            </a:p>
          </p:txBody>
        </p:sp>
        <p:grpSp>
          <p:nvGrpSpPr>
            <p:cNvPr id="59439" name="Group 4">
              <a:extLst>
                <a:ext uri="{FF2B5EF4-FFF2-40B4-BE49-F238E27FC236}">
                  <a16:creationId xmlns:a16="http://schemas.microsoft.com/office/drawing/2014/main" id="{1EA78802-04A9-4452-B968-35A7ADF839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3" y="864"/>
              <a:ext cx="729" cy="250"/>
              <a:chOff x="2640" y="1430"/>
              <a:chExt cx="729" cy="250"/>
            </a:xfrm>
          </p:grpSpPr>
          <p:sp>
            <p:nvSpPr>
              <p:cNvPr id="59447" name="Text Box 5">
                <a:extLst>
                  <a:ext uri="{FF2B5EF4-FFF2-40B4-BE49-F238E27FC236}">
                    <a16:creationId xmlns:a16="http://schemas.microsoft.com/office/drawing/2014/main" id="{A11E806F-A30D-452E-BFBB-33CC58E7E0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0" y="1430"/>
                <a:ext cx="4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DMA</a:t>
                </a:r>
              </a:p>
            </p:txBody>
          </p:sp>
          <p:sp>
            <p:nvSpPr>
              <p:cNvPr id="59448" name="Line 6">
                <a:extLst>
                  <a:ext uri="{FF2B5EF4-FFF2-40B4-BE49-F238E27FC236}">
                    <a16:creationId xmlns:a16="http://schemas.microsoft.com/office/drawing/2014/main" id="{DC94B11B-52F1-4366-9414-12535B1EC7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53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9440" name="Group 7">
              <a:extLst>
                <a:ext uri="{FF2B5EF4-FFF2-40B4-BE49-F238E27FC236}">
                  <a16:creationId xmlns:a16="http://schemas.microsoft.com/office/drawing/2014/main" id="{6DBF4675-3294-4F06-B46B-9448CBFCD5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056"/>
              <a:ext cx="729" cy="250"/>
              <a:chOff x="2640" y="1430"/>
              <a:chExt cx="729" cy="250"/>
            </a:xfrm>
          </p:grpSpPr>
          <p:sp>
            <p:nvSpPr>
              <p:cNvPr id="59445" name="Text Box 8">
                <a:extLst>
                  <a:ext uri="{FF2B5EF4-FFF2-40B4-BE49-F238E27FC236}">
                    <a16:creationId xmlns:a16="http://schemas.microsoft.com/office/drawing/2014/main" id="{8AF39B54-F88A-4FB8-B9D6-2D4F2EBCD3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0" y="1430"/>
                <a:ext cx="4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DMA</a:t>
                </a:r>
              </a:p>
            </p:txBody>
          </p:sp>
          <p:sp>
            <p:nvSpPr>
              <p:cNvPr id="59446" name="Line 9">
                <a:extLst>
                  <a:ext uri="{FF2B5EF4-FFF2-40B4-BE49-F238E27FC236}">
                    <a16:creationId xmlns:a16="http://schemas.microsoft.com/office/drawing/2014/main" id="{10ECFB12-3299-4C64-B87E-FD97207FC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53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9441" name="Group 10">
              <a:extLst>
                <a:ext uri="{FF2B5EF4-FFF2-40B4-BE49-F238E27FC236}">
                  <a16:creationId xmlns:a16="http://schemas.microsoft.com/office/drawing/2014/main" id="{E4075DCF-CB5E-40D2-8613-E45BDC868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3" y="1286"/>
              <a:ext cx="729" cy="250"/>
              <a:chOff x="2640" y="1430"/>
              <a:chExt cx="729" cy="250"/>
            </a:xfrm>
          </p:grpSpPr>
          <p:sp>
            <p:nvSpPr>
              <p:cNvPr id="59443" name="Text Box 11">
                <a:extLst>
                  <a:ext uri="{FF2B5EF4-FFF2-40B4-BE49-F238E27FC236}">
                    <a16:creationId xmlns:a16="http://schemas.microsoft.com/office/drawing/2014/main" id="{76C74704-91C7-4F5E-BEB8-1FDC76D6FB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0" y="1430"/>
                <a:ext cx="4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DMA</a:t>
                </a:r>
              </a:p>
            </p:txBody>
          </p:sp>
          <p:sp>
            <p:nvSpPr>
              <p:cNvPr id="59444" name="Line 12">
                <a:extLst>
                  <a:ext uri="{FF2B5EF4-FFF2-40B4-BE49-F238E27FC236}">
                    <a16:creationId xmlns:a16="http://schemas.microsoft.com/office/drawing/2014/main" id="{51C83B2C-D6F6-4492-9DBE-E50A78D795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536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9442" name="Rectangle 13">
              <a:extLst>
                <a:ext uri="{FF2B5EF4-FFF2-40B4-BE49-F238E27FC236}">
                  <a16:creationId xmlns:a16="http://schemas.microsoft.com/office/drawing/2014/main" id="{375D20B0-3A23-4FD3-9382-F16EA6D52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624"/>
              <a:ext cx="1920" cy="110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Group 14">
            <a:extLst>
              <a:ext uri="{FF2B5EF4-FFF2-40B4-BE49-F238E27FC236}">
                <a16:creationId xmlns:a16="http://schemas.microsoft.com/office/drawing/2014/main" id="{EEEC90A9-34B5-4652-BAAA-D50324CA67B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225800"/>
            <a:ext cx="3063875" cy="1143000"/>
            <a:chOff x="758" y="1920"/>
            <a:chExt cx="1930" cy="720"/>
          </a:xfrm>
        </p:grpSpPr>
        <p:sp>
          <p:nvSpPr>
            <p:cNvPr id="59436" name="Rectangle 15">
              <a:extLst>
                <a:ext uri="{FF2B5EF4-FFF2-40B4-BE49-F238E27FC236}">
                  <a16:creationId xmlns:a16="http://schemas.microsoft.com/office/drawing/2014/main" id="{540B5ECE-86F5-44C4-BAD2-C19E36322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920"/>
              <a:ext cx="1920" cy="7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437" name="Text Box 16">
              <a:extLst>
                <a:ext uri="{FF2B5EF4-FFF2-40B4-BE49-F238E27FC236}">
                  <a16:creationId xmlns:a16="http://schemas.microsoft.com/office/drawing/2014/main" id="{72E0B438-DE44-496C-96F0-129753739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1966"/>
              <a:ext cx="1726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数据传送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：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继续执行主程序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同时完成一批数据传送</a:t>
              </a:r>
            </a:p>
          </p:txBody>
        </p:sp>
      </p:grpSp>
      <p:grpSp>
        <p:nvGrpSpPr>
          <p:cNvPr id="7" name="Group 17">
            <a:extLst>
              <a:ext uri="{FF2B5EF4-FFF2-40B4-BE49-F238E27FC236}">
                <a16:creationId xmlns:a16="http://schemas.microsoft.com/office/drawing/2014/main" id="{58DB5361-B234-496D-B950-770B0B58CE71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622800"/>
            <a:ext cx="3063875" cy="1143000"/>
            <a:chOff x="758" y="2784"/>
            <a:chExt cx="1930" cy="720"/>
          </a:xfrm>
        </p:grpSpPr>
        <p:sp>
          <p:nvSpPr>
            <p:cNvPr id="59434" name="Rectangle 18">
              <a:extLst>
                <a:ext uri="{FF2B5EF4-FFF2-40B4-BE49-F238E27FC236}">
                  <a16:creationId xmlns:a16="http://schemas.microsoft.com/office/drawing/2014/main" id="{2E9D5B3C-B263-499D-9A67-6982A51D0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84"/>
              <a:ext cx="1920" cy="7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435" name="Text Box 19">
              <a:extLst>
                <a:ext uri="{FF2B5EF4-FFF2-40B4-BE49-F238E27FC236}">
                  <a16:creationId xmlns:a16="http://schemas.microsoft.com/office/drawing/2014/main" id="{E0D0A0BD-9467-4030-B31F-05D061286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2830"/>
              <a:ext cx="1384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后处理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：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中断服务程序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做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DMA 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结束处理</a:t>
              </a:r>
            </a:p>
          </p:txBody>
        </p:sp>
      </p:grpSp>
      <p:grpSp>
        <p:nvGrpSpPr>
          <p:cNvPr id="8" name="Group 20">
            <a:extLst>
              <a:ext uri="{FF2B5EF4-FFF2-40B4-BE49-F238E27FC236}">
                <a16:creationId xmlns:a16="http://schemas.microsoft.com/office/drawing/2014/main" id="{B38D3080-2E5B-4432-B11D-356F01BDBD34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6019800"/>
            <a:ext cx="3063875" cy="533400"/>
            <a:chOff x="758" y="3648"/>
            <a:chExt cx="1930" cy="336"/>
          </a:xfrm>
        </p:grpSpPr>
        <p:sp>
          <p:nvSpPr>
            <p:cNvPr id="59432" name="Rectangle 21">
              <a:extLst>
                <a:ext uri="{FF2B5EF4-FFF2-40B4-BE49-F238E27FC236}">
                  <a16:creationId xmlns:a16="http://schemas.microsoft.com/office/drawing/2014/main" id="{7E41FCC4-5120-4055-A207-A0AE575B4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648"/>
              <a:ext cx="1920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433" name="Text Box 22">
              <a:extLst>
                <a:ext uri="{FF2B5EF4-FFF2-40B4-BE49-F238E27FC236}">
                  <a16:creationId xmlns:a16="http://schemas.microsoft.com/office/drawing/2014/main" id="{64C23520-A5F4-4319-8A86-706902498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3694"/>
              <a:ext cx="12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继续执行主程序</a:t>
              </a:r>
            </a:p>
          </p:txBody>
        </p:sp>
      </p:grpSp>
      <p:sp>
        <p:nvSpPr>
          <p:cNvPr id="47127" name="Line 23">
            <a:extLst>
              <a:ext uri="{FF2B5EF4-FFF2-40B4-BE49-F238E27FC236}">
                <a16:creationId xmlns:a16="http://schemas.microsoft.com/office/drawing/2014/main" id="{9E273B6A-C77C-4ECE-8A3E-D7DE02F6C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7075" y="2971800"/>
            <a:ext cx="0" cy="266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28" name="Line 24">
            <a:extLst>
              <a:ext uri="{FF2B5EF4-FFF2-40B4-BE49-F238E27FC236}">
                <a16:creationId xmlns:a16="http://schemas.microsoft.com/office/drawing/2014/main" id="{D9C24802-C74C-4AD2-926E-EEAFB76AFA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7075" y="4359275"/>
            <a:ext cx="0" cy="266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29" name="Line 25">
            <a:extLst>
              <a:ext uri="{FF2B5EF4-FFF2-40B4-BE49-F238E27FC236}">
                <a16:creationId xmlns:a16="http://schemas.microsoft.com/office/drawing/2014/main" id="{C424CF7A-2F62-42BC-B3D1-1CF5B7B432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7075" y="5753100"/>
            <a:ext cx="0" cy="266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30" name="Text Box 26">
            <a:extLst>
              <a:ext uri="{FF2B5EF4-FFF2-40B4-BE49-F238E27FC236}">
                <a16:creationId xmlns:a16="http://schemas.microsoft.com/office/drawing/2014/main" id="{59DA8BF2-D3DA-4896-8CFC-6EB21FA28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838200"/>
            <a:ext cx="708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</a:t>
            </a:r>
          </a:p>
        </p:txBody>
      </p:sp>
      <p:sp>
        <p:nvSpPr>
          <p:cNvPr id="59402" name="Text Box 27">
            <a:extLst>
              <a:ext uri="{FF2B5EF4-FFF2-40B4-BE49-F238E27FC236}">
                <a16:creationId xmlns:a16="http://schemas.microsoft.com/office/drawing/2014/main" id="{05E0D5B1-E4D4-40A8-A855-CD7D7C73D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6363"/>
            <a:ext cx="4648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 DMA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传送过程示意</a:t>
            </a:r>
          </a:p>
        </p:txBody>
      </p:sp>
      <p:grpSp>
        <p:nvGrpSpPr>
          <p:cNvPr id="9" name="Group 28">
            <a:extLst>
              <a:ext uri="{FF2B5EF4-FFF2-40B4-BE49-F238E27FC236}">
                <a16:creationId xmlns:a16="http://schemas.microsoft.com/office/drawing/2014/main" id="{512B5764-050E-40A2-8804-0608BC07D9CF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401638"/>
            <a:ext cx="3886200" cy="6303962"/>
            <a:chOff x="2976" y="253"/>
            <a:chExt cx="2448" cy="3971"/>
          </a:xfrm>
        </p:grpSpPr>
        <p:grpSp>
          <p:nvGrpSpPr>
            <p:cNvPr id="59406" name="Group 29">
              <a:extLst>
                <a:ext uri="{FF2B5EF4-FFF2-40B4-BE49-F238E27FC236}">
                  <a16:creationId xmlns:a16="http://schemas.microsoft.com/office/drawing/2014/main" id="{3C14F9A3-0958-48D8-99E9-98BC2991EF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2" y="470"/>
              <a:ext cx="2242" cy="3754"/>
              <a:chOff x="3192" y="470"/>
              <a:chExt cx="2242" cy="3754"/>
            </a:xfrm>
          </p:grpSpPr>
          <p:grpSp>
            <p:nvGrpSpPr>
              <p:cNvPr id="59408" name="Group 30">
                <a:extLst>
                  <a:ext uri="{FF2B5EF4-FFF2-40B4-BE49-F238E27FC236}">
                    <a16:creationId xmlns:a16="http://schemas.microsoft.com/office/drawing/2014/main" id="{0F950BDC-8C69-4420-9A54-F9F85FE606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26" y="864"/>
                <a:ext cx="1392" cy="480"/>
                <a:chOff x="3456" y="624"/>
                <a:chExt cx="1392" cy="480"/>
              </a:xfrm>
            </p:grpSpPr>
            <p:sp>
              <p:nvSpPr>
                <p:cNvPr id="59430" name="Text Box 31">
                  <a:extLst>
                    <a:ext uri="{FF2B5EF4-FFF2-40B4-BE49-F238E27FC236}">
                      <a16:creationId xmlns:a16="http://schemas.microsoft.com/office/drawing/2014/main" id="{39F49C0A-9D90-4DDF-83AB-453914ECE1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4" y="718"/>
                  <a:ext cx="921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允许传送？</a:t>
                  </a:r>
                </a:p>
              </p:txBody>
            </p:sp>
            <p:sp>
              <p:nvSpPr>
                <p:cNvPr id="59431" name="AutoShape 32">
                  <a:extLst>
                    <a:ext uri="{FF2B5EF4-FFF2-40B4-BE49-F238E27FC236}">
                      <a16:creationId xmlns:a16="http://schemas.microsoft.com/office/drawing/2014/main" id="{3B6FA9F0-911B-40EC-8A44-91BF84389E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624"/>
                  <a:ext cx="1392" cy="480"/>
                </a:xfrm>
                <a:prstGeom prst="diamond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59409" name="Group 33">
                <a:extLst>
                  <a:ext uri="{FF2B5EF4-FFF2-40B4-BE49-F238E27FC236}">
                    <a16:creationId xmlns:a16="http://schemas.microsoft.com/office/drawing/2014/main" id="{52F02FB1-87C6-425F-AFFD-597E5EC4F5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38" y="1616"/>
                <a:ext cx="1996" cy="910"/>
                <a:chOff x="3168" y="1248"/>
                <a:chExt cx="1996" cy="910"/>
              </a:xfrm>
            </p:grpSpPr>
            <p:sp>
              <p:nvSpPr>
                <p:cNvPr id="59428" name="Rectangle 34">
                  <a:extLst>
                    <a:ext uri="{FF2B5EF4-FFF2-40B4-BE49-F238E27FC236}">
                      <a16:creationId xmlns:a16="http://schemas.microsoft.com/office/drawing/2014/main" id="{7ED252FD-ABB7-4A2B-A198-5B7C6783D2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8" y="1248"/>
                  <a:ext cx="1920" cy="91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29" name="Text Box 35">
                  <a:extLst>
                    <a:ext uri="{FF2B5EF4-FFF2-40B4-BE49-F238E27FC236}">
                      <a16:creationId xmlns:a16="http://schemas.microsoft.com/office/drawing/2014/main" id="{6EF7B9DD-30E0-4163-BD73-12C328FDB2E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68" y="1296"/>
                  <a:ext cx="1996" cy="8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主存地址送总线</a:t>
                  </a: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数据送</a:t>
                  </a: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I/O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设备（或主存 ）</a:t>
                  </a: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修改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 主存地址</a:t>
                  </a: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修改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 字计数器</a:t>
                  </a:r>
                </a:p>
              </p:txBody>
            </p:sp>
          </p:grpSp>
          <p:grpSp>
            <p:nvGrpSpPr>
              <p:cNvPr id="59410" name="Group 36">
                <a:extLst>
                  <a:ext uri="{FF2B5EF4-FFF2-40B4-BE49-F238E27FC236}">
                    <a16:creationId xmlns:a16="http://schemas.microsoft.com/office/drawing/2014/main" id="{2F166A13-B6F9-4624-BD32-CC51C71F4C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8" y="2799"/>
                <a:ext cx="1488" cy="768"/>
                <a:chOff x="3696" y="2352"/>
                <a:chExt cx="1488" cy="768"/>
              </a:xfrm>
            </p:grpSpPr>
            <p:sp>
              <p:nvSpPr>
                <p:cNvPr id="59426" name="Text Box 37">
                  <a:extLst>
                    <a:ext uri="{FF2B5EF4-FFF2-40B4-BE49-F238E27FC236}">
                      <a16:creationId xmlns:a16="http://schemas.microsoft.com/office/drawing/2014/main" id="{9DDB68CA-D8CB-4497-8FC9-407F7C5B770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22" y="2505"/>
                  <a:ext cx="921" cy="4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   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数据块</a:t>
                  </a: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传送结束？</a:t>
                  </a:r>
                </a:p>
              </p:txBody>
            </p:sp>
            <p:sp>
              <p:nvSpPr>
                <p:cNvPr id="59427" name="AutoShape 38">
                  <a:extLst>
                    <a:ext uri="{FF2B5EF4-FFF2-40B4-BE49-F238E27FC236}">
                      <a16:creationId xmlns:a16="http://schemas.microsoft.com/office/drawing/2014/main" id="{38AC6249-6C29-4B90-BE87-736E11C609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6" y="2352"/>
                  <a:ext cx="1488" cy="768"/>
                </a:xfrm>
                <a:prstGeom prst="diamond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59411" name="Group 39">
                <a:extLst>
                  <a:ext uri="{FF2B5EF4-FFF2-40B4-BE49-F238E27FC236}">
                    <a16:creationId xmlns:a16="http://schemas.microsoft.com/office/drawing/2014/main" id="{B5FBD85A-F152-4176-BC62-621666EE35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38" y="3840"/>
                <a:ext cx="1920" cy="384"/>
                <a:chOff x="3216" y="3600"/>
                <a:chExt cx="1920" cy="384"/>
              </a:xfrm>
            </p:grpSpPr>
            <p:sp>
              <p:nvSpPr>
                <p:cNvPr id="59424" name="Rectangle 40">
                  <a:extLst>
                    <a:ext uri="{FF2B5EF4-FFF2-40B4-BE49-F238E27FC236}">
                      <a16:creationId xmlns:a16="http://schemas.microsoft.com/office/drawing/2014/main" id="{17DCEBB6-7C1E-417A-BE4C-CF576B5C4E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3600"/>
                  <a:ext cx="1920" cy="38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425" name="Text Box 41">
                  <a:extLst>
                    <a:ext uri="{FF2B5EF4-FFF2-40B4-BE49-F238E27FC236}">
                      <a16:creationId xmlns:a16="http://schemas.microsoft.com/office/drawing/2014/main" id="{777363C5-27FA-4FE6-BC57-8137246DE1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3657"/>
                  <a:ext cx="161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向</a:t>
                  </a: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CPU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申请 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程序中断</a:t>
                  </a:r>
                </a:p>
              </p:txBody>
            </p:sp>
          </p:grpSp>
          <p:sp>
            <p:nvSpPr>
              <p:cNvPr id="59412" name="Line 42">
                <a:extLst>
                  <a:ext uri="{FF2B5EF4-FFF2-40B4-BE49-F238E27FC236}">
                    <a16:creationId xmlns:a16="http://schemas.microsoft.com/office/drawing/2014/main" id="{85EEE9C7-D025-4E8C-A263-92B81ED131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3" y="134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413" name="Line 43">
                <a:extLst>
                  <a:ext uri="{FF2B5EF4-FFF2-40B4-BE49-F238E27FC236}">
                    <a16:creationId xmlns:a16="http://schemas.microsoft.com/office/drawing/2014/main" id="{F8F40549-3CB9-4423-BD01-6AAC971B59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3" y="2531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414" name="Line 44">
                <a:extLst>
                  <a:ext uri="{FF2B5EF4-FFF2-40B4-BE49-F238E27FC236}">
                    <a16:creationId xmlns:a16="http://schemas.microsoft.com/office/drawing/2014/main" id="{7EC89689-8D33-4C1E-B240-6C18777F26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3" y="355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415" name="Line 45">
                <a:extLst>
                  <a:ext uri="{FF2B5EF4-FFF2-40B4-BE49-F238E27FC236}">
                    <a16:creationId xmlns:a16="http://schemas.microsoft.com/office/drawing/2014/main" id="{F14F007E-2728-418D-96A5-7EC4C0F4F8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3" y="576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416" name="Freeform 46">
                <a:extLst>
                  <a:ext uri="{FF2B5EF4-FFF2-40B4-BE49-F238E27FC236}">
                    <a16:creationId xmlns:a16="http://schemas.microsoft.com/office/drawing/2014/main" id="{D1DECFA4-3CB5-4C71-B80C-A5F45ED56B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2" y="3183"/>
                <a:ext cx="492" cy="3"/>
              </a:xfrm>
              <a:custGeom>
                <a:avLst/>
                <a:gdLst>
                  <a:gd name="T0" fmla="*/ 492 w 492"/>
                  <a:gd name="T1" fmla="*/ 0 h 3"/>
                  <a:gd name="T2" fmla="*/ 0 w 492"/>
                  <a:gd name="T3" fmla="*/ 3 h 3"/>
                  <a:gd name="T4" fmla="*/ 0 60000 65536"/>
                  <a:gd name="T5" fmla="*/ 0 60000 65536"/>
                  <a:gd name="T6" fmla="*/ 0 w 492"/>
                  <a:gd name="T7" fmla="*/ 0 h 3"/>
                  <a:gd name="T8" fmla="*/ 492 w 492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92" h="3">
                    <a:moveTo>
                      <a:pt x="492" y="0"/>
                    </a:moveTo>
                    <a:lnTo>
                      <a:pt x="0" y="3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417" name="Freeform 47">
                <a:extLst>
                  <a:ext uri="{FF2B5EF4-FFF2-40B4-BE49-F238E27FC236}">
                    <a16:creationId xmlns:a16="http://schemas.microsoft.com/office/drawing/2014/main" id="{C2EB8799-6DD4-46D8-95DF-393400E3AA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2" y="720"/>
                <a:ext cx="1230" cy="2466"/>
              </a:xfrm>
              <a:custGeom>
                <a:avLst/>
                <a:gdLst>
                  <a:gd name="T0" fmla="*/ 0 w 1230"/>
                  <a:gd name="T1" fmla="*/ 2466 h 2466"/>
                  <a:gd name="T2" fmla="*/ 6 w 1230"/>
                  <a:gd name="T3" fmla="*/ 0 h 2466"/>
                  <a:gd name="T4" fmla="*/ 1230 w 1230"/>
                  <a:gd name="T5" fmla="*/ 0 h 2466"/>
                  <a:gd name="T6" fmla="*/ 0 60000 65536"/>
                  <a:gd name="T7" fmla="*/ 0 60000 65536"/>
                  <a:gd name="T8" fmla="*/ 0 60000 65536"/>
                  <a:gd name="T9" fmla="*/ 0 w 1230"/>
                  <a:gd name="T10" fmla="*/ 0 h 2466"/>
                  <a:gd name="T11" fmla="*/ 1230 w 1230"/>
                  <a:gd name="T12" fmla="*/ 2466 h 24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30" h="2466">
                    <a:moveTo>
                      <a:pt x="0" y="2466"/>
                    </a:moveTo>
                    <a:lnTo>
                      <a:pt x="6" y="0"/>
                    </a:lnTo>
                    <a:lnTo>
                      <a:pt x="123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418" name="Line 48">
                <a:extLst>
                  <a:ext uri="{FF2B5EF4-FFF2-40B4-BE49-F238E27FC236}">
                    <a16:creationId xmlns:a16="http://schemas.microsoft.com/office/drawing/2014/main" id="{ECF49761-5CFC-440C-8F96-552A37DFEC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98" y="1104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419" name="Text Box 49">
                <a:extLst>
                  <a:ext uri="{FF2B5EF4-FFF2-40B4-BE49-F238E27FC236}">
                    <a16:creationId xmlns:a16="http://schemas.microsoft.com/office/drawing/2014/main" id="{B060F7CF-D807-4B1C-801E-D0E5EFF53D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8" y="470"/>
                <a:ext cx="82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DMA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请求</a:t>
                </a:r>
              </a:p>
            </p:txBody>
          </p:sp>
          <p:sp>
            <p:nvSpPr>
              <p:cNvPr id="59420" name="Text Box 50">
                <a:extLst>
                  <a:ext uri="{FF2B5EF4-FFF2-40B4-BE49-F238E27FC236}">
                    <a16:creationId xmlns:a16="http://schemas.microsoft.com/office/drawing/2014/main" id="{EB29443D-9F0D-4B85-9F6E-1CAB47B761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0" y="862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否</a:t>
                </a:r>
              </a:p>
            </p:txBody>
          </p:sp>
          <p:sp>
            <p:nvSpPr>
              <p:cNvPr id="59421" name="Text Box 51">
                <a:extLst>
                  <a:ext uri="{FF2B5EF4-FFF2-40B4-BE49-F238E27FC236}">
                    <a16:creationId xmlns:a16="http://schemas.microsoft.com/office/drawing/2014/main" id="{1FEB09D3-BE83-4EF8-AF61-83A2A7A6A9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0" y="2878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否</a:t>
                </a:r>
              </a:p>
            </p:txBody>
          </p:sp>
          <p:sp>
            <p:nvSpPr>
              <p:cNvPr id="59422" name="Text Box 52">
                <a:extLst>
                  <a:ext uri="{FF2B5EF4-FFF2-40B4-BE49-F238E27FC236}">
                    <a16:creationId xmlns:a16="http://schemas.microsoft.com/office/drawing/2014/main" id="{5E6DBD90-3989-46B0-BD63-186EE25CC3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2" y="1342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是</a:t>
                </a:r>
              </a:p>
            </p:txBody>
          </p:sp>
          <p:sp>
            <p:nvSpPr>
              <p:cNvPr id="59423" name="Text Box 53">
                <a:extLst>
                  <a:ext uri="{FF2B5EF4-FFF2-40B4-BE49-F238E27FC236}">
                    <a16:creationId xmlns:a16="http://schemas.microsoft.com/office/drawing/2014/main" id="{A0FEC6CB-A0F4-4402-B08C-A9FA2E1406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84" y="3550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是</a:t>
                </a:r>
              </a:p>
            </p:txBody>
          </p:sp>
        </p:grpSp>
        <p:sp>
          <p:nvSpPr>
            <p:cNvPr id="59407" name="Text Box 54">
              <a:extLst>
                <a:ext uri="{FF2B5EF4-FFF2-40B4-BE49-F238E27FC236}">
                  <a16:creationId xmlns:a16="http://schemas.microsoft.com/office/drawing/2014/main" id="{B5EB7CDA-2B1E-4B2C-BD4C-41B589104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53"/>
              <a:ext cx="8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数据传送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30" grpId="0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5B5254-6833-4B9E-8B44-97BCFB0CA2AA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431925"/>
            <a:ext cx="8610600" cy="5322888"/>
            <a:chOff x="240" y="902"/>
            <a:chExt cx="5424" cy="3353"/>
          </a:xfrm>
        </p:grpSpPr>
        <p:grpSp>
          <p:nvGrpSpPr>
            <p:cNvPr id="60478" name="Group 3">
              <a:extLst>
                <a:ext uri="{FF2B5EF4-FFF2-40B4-BE49-F238E27FC236}">
                  <a16:creationId xmlns:a16="http://schemas.microsoft.com/office/drawing/2014/main" id="{23486F8E-0043-4B60-BEA9-EE0EC28493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8" y="3312"/>
              <a:ext cx="432" cy="276"/>
              <a:chOff x="3978" y="3312"/>
              <a:chExt cx="432" cy="276"/>
            </a:xfrm>
          </p:grpSpPr>
          <p:sp>
            <p:nvSpPr>
              <p:cNvPr id="60510" name="Text Box 4">
                <a:extLst>
                  <a:ext uri="{FF2B5EF4-FFF2-40B4-BE49-F238E27FC236}">
                    <a16:creationId xmlns:a16="http://schemas.microsoft.com/office/drawing/2014/main" id="{3142A9E2-720A-4F21-BA89-8CE44C1C38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0" y="3360"/>
                <a:ext cx="326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2000" t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BR</a:t>
                </a:r>
              </a:p>
            </p:txBody>
          </p:sp>
          <p:sp>
            <p:nvSpPr>
              <p:cNvPr id="60511" name="Rectangle 5">
                <a:extLst>
                  <a:ext uri="{FF2B5EF4-FFF2-40B4-BE49-F238E27FC236}">
                    <a16:creationId xmlns:a16="http://schemas.microsoft.com/office/drawing/2014/main" id="{09858185-35DC-41E8-ADBD-ABBDADC1C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8" y="3312"/>
                <a:ext cx="432" cy="2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0479" name="Group 6">
              <a:extLst>
                <a:ext uri="{FF2B5EF4-FFF2-40B4-BE49-F238E27FC236}">
                  <a16:creationId xmlns:a16="http://schemas.microsoft.com/office/drawing/2014/main" id="{CB65366E-4E4E-4FF1-9D7A-86828FA124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902"/>
              <a:ext cx="5424" cy="3353"/>
              <a:chOff x="240" y="902"/>
              <a:chExt cx="5424" cy="3353"/>
            </a:xfrm>
          </p:grpSpPr>
          <p:grpSp>
            <p:nvGrpSpPr>
              <p:cNvPr id="60480" name="Group 7">
                <a:extLst>
                  <a:ext uri="{FF2B5EF4-FFF2-40B4-BE49-F238E27FC236}">
                    <a16:creationId xmlns:a16="http://schemas.microsoft.com/office/drawing/2014/main" id="{7D5A17C8-B202-454B-80EA-1572F8C90D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3979"/>
                <a:ext cx="436" cy="276"/>
                <a:chOff x="3928" y="3979"/>
                <a:chExt cx="436" cy="276"/>
              </a:xfrm>
            </p:grpSpPr>
            <p:sp>
              <p:nvSpPr>
                <p:cNvPr id="60508" name="Text Box 8">
                  <a:extLst>
                    <a:ext uri="{FF2B5EF4-FFF2-40B4-BE49-F238E27FC236}">
                      <a16:creationId xmlns:a16="http://schemas.microsoft.com/office/drawing/2014/main" id="{9442ED71-91EF-41B7-A030-B5D715C2AE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8" y="3989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设备</a:t>
                  </a:r>
                </a:p>
              </p:txBody>
            </p:sp>
            <p:sp>
              <p:nvSpPr>
                <p:cNvPr id="60509" name="Rectangle 9">
                  <a:extLst>
                    <a:ext uri="{FF2B5EF4-FFF2-40B4-BE49-F238E27FC236}">
                      <a16:creationId xmlns:a16="http://schemas.microsoft.com/office/drawing/2014/main" id="{6D78B352-CDD7-44F8-9373-0C9556A272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1" y="3979"/>
                  <a:ext cx="432" cy="276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0481" name="Text Box 10">
                <a:extLst>
                  <a:ext uri="{FF2B5EF4-FFF2-40B4-BE49-F238E27FC236}">
                    <a16:creationId xmlns:a16="http://schemas.microsoft.com/office/drawing/2014/main" id="{7A7AD995-B586-4C54-B0FF-00CC23D6A7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1992"/>
                <a:ext cx="499" cy="10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DMA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控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制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逻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辑</a:t>
                </a:r>
              </a:p>
            </p:txBody>
          </p:sp>
          <p:sp>
            <p:nvSpPr>
              <p:cNvPr id="60482" name="Rectangle 11">
                <a:extLst>
                  <a:ext uri="{FF2B5EF4-FFF2-40B4-BE49-F238E27FC236}">
                    <a16:creationId xmlns:a16="http://schemas.microsoft.com/office/drawing/2014/main" id="{49762F52-0A93-4DE1-9CDB-03794F19B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1823"/>
                <a:ext cx="528" cy="147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83" name="Text Box 12">
                <a:extLst>
                  <a:ext uri="{FF2B5EF4-FFF2-40B4-BE49-F238E27FC236}">
                    <a16:creationId xmlns:a16="http://schemas.microsoft.com/office/drawing/2014/main" id="{13523AF0-ABB3-47D1-898A-F250654FF0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8" y="2128"/>
                <a:ext cx="357" cy="8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中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断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机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构</a:t>
                </a:r>
              </a:p>
            </p:txBody>
          </p:sp>
          <p:sp>
            <p:nvSpPr>
              <p:cNvPr id="60484" name="Rectangle 13">
                <a:extLst>
                  <a:ext uri="{FF2B5EF4-FFF2-40B4-BE49-F238E27FC236}">
                    <a16:creationId xmlns:a16="http://schemas.microsoft.com/office/drawing/2014/main" id="{4E7672FC-0561-4AF1-AE09-851C895DB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823"/>
                <a:ext cx="528" cy="147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85" name="Text Box 14">
                <a:extLst>
                  <a:ext uri="{FF2B5EF4-FFF2-40B4-BE49-F238E27FC236}">
                    <a16:creationId xmlns:a16="http://schemas.microsoft.com/office/drawing/2014/main" id="{97A6F175-F2D0-48F4-AF26-5318464D6E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5" y="1824"/>
                <a:ext cx="348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AR</a:t>
                </a:r>
              </a:p>
            </p:txBody>
          </p:sp>
          <p:sp>
            <p:nvSpPr>
              <p:cNvPr id="60486" name="Rectangle 15">
                <a:extLst>
                  <a:ext uri="{FF2B5EF4-FFF2-40B4-BE49-F238E27FC236}">
                    <a16:creationId xmlns:a16="http://schemas.microsoft.com/office/drawing/2014/main" id="{EA9AFDEA-0CD1-40F6-B895-B1EFE30816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1823"/>
                <a:ext cx="432" cy="2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87" name="Text Box 16">
                <a:extLst>
                  <a:ext uri="{FF2B5EF4-FFF2-40B4-BE49-F238E27FC236}">
                    <a16:creationId xmlns:a16="http://schemas.microsoft.com/office/drawing/2014/main" id="{C82EE1CE-2FF7-44C5-B712-4E5793296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2" y="2390"/>
                <a:ext cx="39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WC</a:t>
                </a:r>
              </a:p>
            </p:txBody>
          </p:sp>
          <p:sp>
            <p:nvSpPr>
              <p:cNvPr id="60488" name="Rectangle 17">
                <a:extLst>
                  <a:ext uri="{FF2B5EF4-FFF2-40B4-BE49-F238E27FC236}">
                    <a16:creationId xmlns:a16="http://schemas.microsoft.com/office/drawing/2014/main" id="{831004C5-F8DB-405C-A75C-69EBD95CC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375"/>
                <a:ext cx="432" cy="2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89" name="Text Box 18">
                <a:extLst>
                  <a:ext uri="{FF2B5EF4-FFF2-40B4-BE49-F238E27FC236}">
                    <a16:creationId xmlns:a16="http://schemas.microsoft.com/office/drawing/2014/main" id="{99C5BBED-8ABA-47B8-816A-AC13E357BF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7" y="2932"/>
                <a:ext cx="46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DAR</a:t>
                </a:r>
              </a:p>
            </p:txBody>
          </p:sp>
          <p:sp>
            <p:nvSpPr>
              <p:cNvPr id="60490" name="Rectangle 19">
                <a:extLst>
                  <a:ext uri="{FF2B5EF4-FFF2-40B4-BE49-F238E27FC236}">
                    <a16:creationId xmlns:a16="http://schemas.microsoft.com/office/drawing/2014/main" id="{8CF40C53-1593-45FA-9592-019D9EF9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927"/>
                <a:ext cx="432" cy="27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91" name="Rectangle 20">
                <a:extLst>
                  <a:ext uri="{FF2B5EF4-FFF2-40B4-BE49-F238E27FC236}">
                    <a16:creationId xmlns:a16="http://schemas.microsoft.com/office/drawing/2014/main" id="{C9E82326-45FB-4167-BDBF-7B8415BD8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28"/>
                <a:ext cx="3547" cy="198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92" name="Text Box 21">
                <a:extLst>
                  <a:ext uri="{FF2B5EF4-FFF2-40B4-BE49-F238E27FC236}">
                    <a16:creationId xmlns:a16="http://schemas.microsoft.com/office/drawing/2014/main" id="{D82A1265-E6AF-4F93-9D7D-DF27DEAF01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1" y="3442"/>
                <a:ext cx="81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DMA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接口</a:t>
                </a:r>
              </a:p>
            </p:txBody>
          </p:sp>
          <p:grpSp>
            <p:nvGrpSpPr>
              <p:cNvPr id="60493" name="Group 22">
                <a:extLst>
                  <a:ext uri="{FF2B5EF4-FFF2-40B4-BE49-F238E27FC236}">
                    <a16:creationId xmlns:a16="http://schemas.microsoft.com/office/drawing/2014/main" id="{D4C66D15-60A7-4044-8BED-E8841A3B87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1639"/>
                <a:ext cx="528" cy="2071"/>
                <a:chOff x="288" y="1200"/>
                <a:chExt cx="528" cy="2160"/>
              </a:xfrm>
            </p:grpSpPr>
            <p:sp>
              <p:nvSpPr>
                <p:cNvPr id="60506" name="Text Box 23">
                  <a:extLst>
                    <a:ext uri="{FF2B5EF4-FFF2-40B4-BE49-F238E27FC236}">
                      <a16:creationId xmlns:a16="http://schemas.microsoft.com/office/drawing/2014/main" id="{83D895FB-3AAA-4DD9-AB75-2193234E60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2" y="1870"/>
                  <a:ext cx="277" cy="8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主</a:t>
                  </a: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存</a:t>
                  </a:r>
                </a:p>
              </p:txBody>
            </p:sp>
            <p:sp>
              <p:nvSpPr>
                <p:cNvPr id="60507" name="Rectangle 24">
                  <a:extLst>
                    <a:ext uri="{FF2B5EF4-FFF2-40B4-BE49-F238E27FC236}">
                      <a16:creationId xmlns:a16="http://schemas.microsoft.com/office/drawing/2014/main" id="{B8FE996A-4255-4521-854B-2F3C69AB53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0"/>
                  <a:ext cx="528" cy="216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60494" name="Group 25">
                <a:extLst>
                  <a:ext uri="{FF2B5EF4-FFF2-40B4-BE49-F238E27FC236}">
                    <a16:creationId xmlns:a16="http://schemas.microsoft.com/office/drawing/2014/main" id="{F32513FE-964B-4566-A63D-3DB32542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639"/>
                <a:ext cx="528" cy="2071"/>
                <a:chOff x="816" y="1200"/>
                <a:chExt cx="528" cy="2160"/>
              </a:xfrm>
            </p:grpSpPr>
            <p:sp>
              <p:nvSpPr>
                <p:cNvPr id="60504" name="Text Box 26">
                  <a:extLst>
                    <a:ext uri="{FF2B5EF4-FFF2-40B4-BE49-F238E27FC236}">
                      <a16:creationId xmlns:a16="http://schemas.microsoft.com/office/drawing/2014/main" id="{2DCB7269-0321-47A4-BD1B-B32BE0549D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2054"/>
                  <a:ext cx="446" cy="2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CPU</a:t>
                  </a:r>
                </a:p>
              </p:txBody>
            </p:sp>
            <p:sp>
              <p:nvSpPr>
                <p:cNvPr id="60505" name="Rectangle 27">
                  <a:extLst>
                    <a:ext uri="{FF2B5EF4-FFF2-40B4-BE49-F238E27FC236}">
                      <a16:creationId xmlns:a16="http://schemas.microsoft.com/office/drawing/2014/main" id="{288CCEB2-CBA7-4D53-9A41-A60B6C29B0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200"/>
                  <a:ext cx="528" cy="216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0495" name="AutoShape 28">
                <a:extLst>
                  <a:ext uri="{FF2B5EF4-FFF2-40B4-BE49-F238E27FC236}">
                    <a16:creationId xmlns:a16="http://schemas.microsoft.com/office/drawing/2014/main" id="{BC78C5C8-CDCD-414A-8BF4-E0203C0BB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902"/>
                <a:ext cx="5424" cy="138"/>
              </a:xfrm>
              <a:prstGeom prst="leftRightArrow">
                <a:avLst>
                  <a:gd name="adj1" fmla="val 56769"/>
                  <a:gd name="adj2" fmla="val 189789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96" name="AutoShape 29">
                <a:extLst>
                  <a:ext uri="{FF2B5EF4-FFF2-40B4-BE49-F238E27FC236}">
                    <a16:creationId xmlns:a16="http://schemas.microsoft.com/office/drawing/2014/main" id="{A0135C36-8ED5-4FCF-ADE1-4CF9FEBCB6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869"/>
                <a:ext cx="288" cy="184"/>
              </a:xfrm>
              <a:prstGeom prst="rightArrow">
                <a:avLst>
                  <a:gd name="adj1" fmla="val 50000"/>
                  <a:gd name="adj2" fmla="val 3913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97" name="AutoShape 30">
                <a:extLst>
                  <a:ext uri="{FF2B5EF4-FFF2-40B4-BE49-F238E27FC236}">
                    <a16:creationId xmlns:a16="http://schemas.microsoft.com/office/drawing/2014/main" id="{A283EB45-A707-4F13-A22E-16F33EECA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421"/>
                <a:ext cx="288" cy="184"/>
              </a:xfrm>
              <a:prstGeom prst="rightArrow">
                <a:avLst>
                  <a:gd name="adj1" fmla="val 50000"/>
                  <a:gd name="adj2" fmla="val 3913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98" name="AutoShape 31">
                <a:extLst>
                  <a:ext uri="{FF2B5EF4-FFF2-40B4-BE49-F238E27FC236}">
                    <a16:creationId xmlns:a16="http://schemas.microsoft.com/office/drawing/2014/main" id="{9C8673CA-0223-4829-8E18-40A90C58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946"/>
                <a:ext cx="288" cy="184"/>
              </a:xfrm>
              <a:prstGeom prst="rightArrow">
                <a:avLst>
                  <a:gd name="adj1" fmla="val 50000"/>
                  <a:gd name="adj2" fmla="val 3913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99" name="Text Box 32">
                <a:extLst>
                  <a:ext uri="{FF2B5EF4-FFF2-40B4-BE49-F238E27FC236}">
                    <a16:creationId xmlns:a16="http://schemas.microsoft.com/office/drawing/2014/main" id="{DE5C256B-3E05-4641-A43F-6A25A4637D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0" y="1877"/>
                <a:ext cx="287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+1</a:t>
                </a:r>
              </a:p>
            </p:txBody>
          </p:sp>
          <p:sp>
            <p:nvSpPr>
              <p:cNvPr id="60500" name="Text Box 33">
                <a:extLst>
                  <a:ext uri="{FF2B5EF4-FFF2-40B4-BE49-F238E27FC236}">
                    <a16:creationId xmlns:a16="http://schemas.microsoft.com/office/drawing/2014/main" id="{1FCDCEDD-94B0-46B8-851B-BE5BA16A1E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0" y="2385"/>
                <a:ext cx="28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+1</a:t>
                </a:r>
              </a:p>
            </p:txBody>
          </p:sp>
          <p:sp>
            <p:nvSpPr>
              <p:cNvPr id="60501" name="AutoShape 34">
                <a:extLst>
                  <a:ext uri="{FF2B5EF4-FFF2-40B4-BE49-F238E27FC236}">
                    <a16:creationId xmlns:a16="http://schemas.microsoft.com/office/drawing/2014/main" id="{4B45EF87-A89A-40EE-B521-97A19F3428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994"/>
                <a:ext cx="144" cy="645"/>
              </a:xfrm>
              <a:prstGeom prst="upDownArrow">
                <a:avLst>
                  <a:gd name="adj1" fmla="val 50000"/>
                  <a:gd name="adj2" fmla="val 89583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502" name="AutoShape 35">
                <a:extLst>
                  <a:ext uri="{FF2B5EF4-FFF2-40B4-BE49-F238E27FC236}">
                    <a16:creationId xmlns:a16="http://schemas.microsoft.com/office/drawing/2014/main" id="{468FD771-FDD0-41B1-BA87-690E410013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994"/>
                <a:ext cx="144" cy="645"/>
              </a:xfrm>
              <a:prstGeom prst="upDownArrow">
                <a:avLst>
                  <a:gd name="adj1" fmla="val 50000"/>
                  <a:gd name="adj2" fmla="val 89583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503" name="AutoShape 36">
                <a:extLst>
                  <a:ext uri="{FF2B5EF4-FFF2-40B4-BE49-F238E27FC236}">
                    <a16:creationId xmlns:a16="http://schemas.microsoft.com/office/drawing/2014/main" id="{20879A67-5B53-44D2-884C-D0B17DCC4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008"/>
                <a:ext cx="240" cy="2304"/>
              </a:xfrm>
              <a:prstGeom prst="upDownArrow">
                <a:avLst>
                  <a:gd name="adj1" fmla="val 38333"/>
                  <a:gd name="adj2" fmla="val 6960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60419" name="Text Box 37">
            <a:extLst>
              <a:ext uri="{FF2B5EF4-FFF2-40B4-BE49-F238E27FC236}">
                <a16:creationId xmlns:a16="http://schemas.microsoft.com/office/drawing/2014/main" id="{AC3794FE-3224-4B6F-A274-FE0CA74F4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6248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数据传送过程（输入）</a:t>
            </a:r>
          </a:p>
        </p:txBody>
      </p:sp>
      <p:grpSp>
        <p:nvGrpSpPr>
          <p:cNvPr id="8" name="Group 38">
            <a:extLst>
              <a:ext uri="{FF2B5EF4-FFF2-40B4-BE49-F238E27FC236}">
                <a16:creationId xmlns:a16="http://schemas.microsoft.com/office/drawing/2014/main" id="{D71018FE-B916-4F66-9722-BFC5C2E9130C}"/>
              </a:ext>
            </a:extLst>
          </p:cNvPr>
          <p:cNvGrpSpPr>
            <a:grpSpLocks/>
          </p:cNvGrpSpPr>
          <p:nvPr/>
        </p:nvGrpSpPr>
        <p:grpSpPr bwMode="auto">
          <a:xfrm>
            <a:off x="3938588" y="5257800"/>
            <a:ext cx="2362200" cy="1184275"/>
            <a:chOff x="2448" y="3296"/>
            <a:chExt cx="1488" cy="746"/>
          </a:xfrm>
        </p:grpSpPr>
        <p:sp>
          <p:nvSpPr>
            <p:cNvPr id="60475" name="Freeform 39">
              <a:extLst>
                <a:ext uri="{FF2B5EF4-FFF2-40B4-BE49-F238E27FC236}">
                  <a16:creationId xmlns:a16="http://schemas.microsoft.com/office/drawing/2014/main" id="{2CFA7AD5-4F4F-40E8-B483-EFAA01191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3296"/>
              <a:ext cx="1488" cy="736"/>
            </a:xfrm>
            <a:custGeom>
              <a:avLst/>
              <a:gdLst>
                <a:gd name="T0" fmla="*/ 1488 w 1488"/>
                <a:gd name="T1" fmla="*/ 736 h 768"/>
                <a:gd name="T2" fmla="*/ 0 w 1488"/>
                <a:gd name="T3" fmla="*/ 736 h 768"/>
                <a:gd name="T4" fmla="*/ 0 w 1488"/>
                <a:gd name="T5" fmla="*/ 0 h 768"/>
                <a:gd name="T6" fmla="*/ 0 60000 65536"/>
                <a:gd name="T7" fmla="*/ 0 60000 65536"/>
                <a:gd name="T8" fmla="*/ 0 60000 65536"/>
                <a:gd name="T9" fmla="*/ 0 w 1488"/>
                <a:gd name="T10" fmla="*/ 0 h 768"/>
                <a:gd name="T11" fmla="*/ 1488 w 1488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768">
                  <a:moveTo>
                    <a:pt x="1488" y="768"/>
                  </a:moveTo>
                  <a:lnTo>
                    <a:pt x="0" y="768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76" name="Text Box 40">
              <a:extLst>
                <a:ext uri="{FF2B5EF4-FFF2-40B4-BE49-F238E27FC236}">
                  <a16:creationId xmlns:a16="http://schemas.microsoft.com/office/drawing/2014/main" id="{BEB01224-F13B-42FC-A4FD-1FE61509B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3792"/>
              <a:ext cx="5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DREQ</a:t>
              </a:r>
            </a:p>
          </p:txBody>
        </p:sp>
        <p:sp>
          <p:nvSpPr>
            <p:cNvPr id="60477" name="Text Box 41">
              <a:extLst>
                <a:ext uri="{FF2B5EF4-FFF2-40B4-BE49-F238E27FC236}">
                  <a16:creationId xmlns:a16="http://schemas.microsoft.com/office/drawing/2014/main" id="{CD87D2E0-65BD-4FE5-ACE9-DFDAA0638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782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②</a:t>
              </a:r>
            </a:p>
          </p:txBody>
        </p:sp>
      </p:grpSp>
      <p:grpSp>
        <p:nvGrpSpPr>
          <p:cNvPr id="9" name="Group 42">
            <a:extLst>
              <a:ext uri="{FF2B5EF4-FFF2-40B4-BE49-F238E27FC236}">
                <a16:creationId xmlns:a16="http://schemas.microsoft.com/office/drawing/2014/main" id="{A030BEC1-28C7-4DE4-AF88-C025B2929DB1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577975"/>
            <a:ext cx="762000" cy="1316038"/>
            <a:chOff x="2448" y="994"/>
            <a:chExt cx="480" cy="829"/>
          </a:xfrm>
        </p:grpSpPr>
        <p:sp>
          <p:nvSpPr>
            <p:cNvPr id="60472" name="Text Box 43">
              <a:extLst>
                <a:ext uri="{FF2B5EF4-FFF2-40B4-BE49-F238E27FC236}">
                  <a16:creationId xmlns:a16="http://schemas.microsoft.com/office/drawing/2014/main" id="{37A0E7FD-FCBF-4722-98B0-56011A9A08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233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HRQ</a:t>
              </a:r>
            </a:p>
          </p:txBody>
        </p:sp>
        <p:sp>
          <p:nvSpPr>
            <p:cNvPr id="60473" name="Text Box 44">
              <a:extLst>
                <a:ext uri="{FF2B5EF4-FFF2-40B4-BE49-F238E27FC236}">
                  <a16:creationId xmlns:a16="http://schemas.microsoft.com/office/drawing/2014/main" id="{C9B1ECCF-560D-4FBE-9D98-219FF316BF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440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③</a:t>
              </a:r>
            </a:p>
          </p:txBody>
        </p:sp>
        <p:sp>
          <p:nvSpPr>
            <p:cNvPr id="60474" name="Line 45">
              <a:extLst>
                <a:ext uri="{FF2B5EF4-FFF2-40B4-BE49-F238E27FC236}">
                  <a16:creationId xmlns:a16="http://schemas.microsoft.com/office/drawing/2014/main" id="{936DFE62-08F8-4480-ABC0-44D46683CD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994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" name="Group 46">
            <a:extLst>
              <a:ext uri="{FF2B5EF4-FFF2-40B4-BE49-F238E27FC236}">
                <a16:creationId xmlns:a16="http://schemas.microsoft.com/office/drawing/2014/main" id="{6FAA85D3-F3CF-47DC-BF65-9F12B26C5F3E}"/>
              </a:ext>
            </a:extLst>
          </p:cNvPr>
          <p:cNvGrpSpPr>
            <a:grpSpLocks/>
          </p:cNvGrpSpPr>
          <p:nvPr/>
        </p:nvGrpSpPr>
        <p:grpSpPr bwMode="auto">
          <a:xfrm>
            <a:off x="2738438" y="1577975"/>
            <a:ext cx="919162" cy="1316038"/>
            <a:chOff x="1725" y="994"/>
            <a:chExt cx="579" cy="829"/>
          </a:xfrm>
        </p:grpSpPr>
        <p:sp>
          <p:nvSpPr>
            <p:cNvPr id="60469" name="Line 47">
              <a:extLst>
                <a:ext uri="{FF2B5EF4-FFF2-40B4-BE49-F238E27FC236}">
                  <a16:creationId xmlns:a16="http://schemas.microsoft.com/office/drawing/2014/main" id="{DDDE55CF-C65F-4DB7-9CCF-63D0C1719DB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256" y="994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70" name="Text Box 48">
              <a:extLst>
                <a:ext uri="{FF2B5EF4-FFF2-40B4-BE49-F238E27FC236}">
                  <a16:creationId xmlns:a16="http://schemas.microsoft.com/office/drawing/2014/main" id="{E7E0BF69-6C24-419E-8820-CC6C0F42F8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1233"/>
              <a:ext cx="5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HLDA</a:t>
              </a:r>
            </a:p>
          </p:txBody>
        </p:sp>
        <p:sp>
          <p:nvSpPr>
            <p:cNvPr id="60471" name="Text Box 49">
              <a:extLst>
                <a:ext uri="{FF2B5EF4-FFF2-40B4-BE49-F238E27FC236}">
                  <a16:creationId xmlns:a16="http://schemas.microsoft.com/office/drawing/2014/main" id="{CC61E445-AAAD-4136-804E-BD9EAD947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440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④</a:t>
              </a:r>
            </a:p>
          </p:txBody>
        </p:sp>
      </p:grpSp>
      <p:grpSp>
        <p:nvGrpSpPr>
          <p:cNvPr id="11" name="Group 50">
            <a:extLst>
              <a:ext uri="{FF2B5EF4-FFF2-40B4-BE49-F238E27FC236}">
                <a16:creationId xmlns:a16="http://schemas.microsoft.com/office/drawing/2014/main" id="{677D267B-14DA-44E1-AD0A-5339F009B88B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1577975"/>
            <a:ext cx="641350" cy="1316038"/>
            <a:chOff x="4656" y="994"/>
            <a:chExt cx="404" cy="829"/>
          </a:xfrm>
        </p:grpSpPr>
        <p:sp>
          <p:nvSpPr>
            <p:cNvPr id="60466" name="AutoShape 51">
              <a:extLst>
                <a:ext uri="{FF2B5EF4-FFF2-40B4-BE49-F238E27FC236}">
                  <a16:creationId xmlns:a16="http://schemas.microsoft.com/office/drawing/2014/main" id="{4174A48F-7C19-41F3-862A-9265F2AED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994"/>
              <a:ext cx="144" cy="829"/>
            </a:xfrm>
            <a:prstGeom prst="upArrow">
              <a:avLst>
                <a:gd name="adj1" fmla="val 50000"/>
                <a:gd name="adj2" fmla="val 143924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67" name="Text Box 52">
              <a:extLst>
                <a:ext uri="{FF2B5EF4-FFF2-40B4-BE49-F238E27FC236}">
                  <a16:creationId xmlns:a16="http://schemas.microsoft.com/office/drawing/2014/main" id="{0685C23F-168F-45A2-B378-55CF641AB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043"/>
              <a:ext cx="308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地址线</a:t>
              </a:r>
            </a:p>
          </p:txBody>
        </p:sp>
        <p:sp>
          <p:nvSpPr>
            <p:cNvPr id="60468" name="Text Box 53">
              <a:extLst>
                <a:ext uri="{FF2B5EF4-FFF2-40B4-BE49-F238E27FC236}">
                  <a16:creationId xmlns:a16="http://schemas.microsoft.com/office/drawing/2014/main" id="{D26792F2-FA09-495E-8E60-F3482343E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526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⑤</a:t>
              </a:r>
            </a:p>
          </p:txBody>
        </p:sp>
      </p:grpSp>
      <p:grpSp>
        <p:nvGrpSpPr>
          <p:cNvPr id="12" name="Group 54">
            <a:extLst>
              <a:ext uri="{FF2B5EF4-FFF2-40B4-BE49-F238E27FC236}">
                <a16:creationId xmlns:a16="http://schemas.microsoft.com/office/drawing/2014/main" id="{F3657533-BD8F-46CC-9139-0ABD186A77E1}"/>
              </a:ext>
            </a:extLst>
          </p:cNvPr>
          <p:cNvGrpSpPr>
            <a:grpSpLocks/>
          </p:cNvGrpSpPr>
          <p:nvPr/>
        </p:nvGrpSpPr>
        <p:grpSpPr bwMode="auto">
          <a:xfrm>
            <a:off x="2776538" y="5232400"/>
            <a:ext cx="3524250" cy="1503363"/>
            <a:chOff x="1716" y="3296"/>
            <a:chExt cx="2220" cy="947"/>
          </a:xfrm>
        </p:grpSpPr>
        <p:sp>
          <p:nvSpPr>
            <p:cNvPr id="60463" name="Freeform 55">
              <a:extLst>
                <a:ext uri="{FF2B5EF4-FFF2-40B4-BE49-F238E27FC236}">
                  <a16:creationId xmlns:a16="http://schemas.microsoft.com/office/drawing/2014/main" id="{CE619E51-0406-4437-BFA8-183B0ED76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3296"/>
              <a:ext cx="1680" cy="874"/>
            </a:xfrm>
            <a:custGeom>
              <a:avLst/>
              <a:gdLst>
                <a:gd name="T0" fmla="*/ 0 w 1680"/>
                <a:gd name="T1" fmla="*/ 0 h 960"/>
                <a:gd name="T2" fmla="*/ 0 w 1680"/>
                <a:gd name="T3" fmla="*/ 874 h 960"/>
                <a:gd name="T4" fmla="*/ 1680 w 1680"/>
                <a:gd name="T5" fmla="*/ 874 h 960"/>
                <a:gd name="T6" fmla="*/ 0 60000 65536"/>
                <a:gd name="T7" fmla="*/ 0 60000 65536"/>
                <a:gd name="T8" fmla="*/ 0 60000 65536"/>
                <a:gd name="T9" fmla="*/ 0 w 1680"/>
                <a:gd name="T10" fmla="*/ 0 h 960"/>
                <a:gd name="T11" fmla="*/ 1680 w 1680"/>
                <a:gd name="T12" fmla="*/ 960 h 9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0" h="960">
                  <a:moveTo>
                    <a:pt x="0" y="0"/>
                  </a:moveTo>
                  <a:lnTo>
                    <a:pt x="0" y="960"/>
                  </a:lnTo>
                  <a:lnTo>
                    <a:pt x="1680" y="960"/>
                  </a:lnTo>
                </a:path>
              </a:pathLst>
            </a:cu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64" name="Text Box 56">
              <a:extLst>
                <a:ext uri="{FF2B5EF4-FFF2-40B4-BE49-F238E27FC236}">
                  <a16:creationId xmlns:a16="http://schemas.microsoft.com/office/drawing/2014/main" id="{BF27FCCB-D6A8-4F93-9920-8542B1EEF9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6" y="3993"/>
              <a:ext cx="5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DACK</a:t>
              </a:r>
            </a:p>
          </p:txBody>
        </p:sp>
        <p:sp>
          <p:nvSpPr>
            <p:cNvPr id="60465" name="Text Box 57">
              <a:extLst>
                <a:ext uri="{FF2B5EF4-FFF2-40B4-BE49-F238E27FC236}">
                  <a16:creationId xmlns:a16="http://schemas.microsoft.com/office/drawing/2014/main" id="{CA5D37E2-A9BF-4B15-A0A4-F8D65B13D2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3792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⑥</a:t>
              </a:r>
            </a:p>
          </p:txBody>
        </p:sp>
      </p:grpSp>
      <p:grpSp>
        <p:nvGrpSpPr>
          <p:cNvPr id="13" name="Group 58">
            <a:extLst>
              <a:ext uri="{FF2B5EF4-FFF2-40B4-BE49-F238E27FC236}">
                <a16:creationId xmlns:a16="http://schemas.microsoft.com/office/drawing/2014/main" id="{F923B307-F84B-4161-B3C3-4B408802D3F3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5715000"/>
            <a:ext cx="744538" cy="609600"/>
            <a:chOff x="4032" y="3600"/>
            <a:chExt cx="469" cy="384"/>
          </a:xfrm>
        </p:grpSpPr>
        <p:sp>
          <p:nvSpPr>
            <p:cNvPr id="60461" name="Text Box 59">
              <a:extLst>
                <a:ext uri="{FF2B5EF4-FFF2-40B4-BE49-F238E27FC236}">
                  <a16:creationId xmlns:a16="http://schemas.microsoft.com/office/drawing/2014/main" id="{AFAC8BFC-8E99-4326-BF9C-5B6C00A14D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734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①</a:t>
              </a:r>
            </a:p>
          </p:txBody>
        </p:sp>
        <p:sp>
          <p:nvSpPr>
            <p:cNvPr id="60462" name="AutoShape 60">
              <a:extLst>
                <a:ext uri="{FF2B5EF4-FFF2-40B4-BE49-F238E27FC236}">
                  <a16:creationId xmlns:a16="http://schemas.microsoft.com/office/drawing/2014/main" id="{0FE08D13-0201-4F38-A068-8AD516714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600"/>
              <a:ext cx="192" cy="384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folHlink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4" name="Group 61">
            <a:extLst>
              <a:ext uri="{FF2B5EF4-FFF2-40B4-BE49-F238E27FC236}">
                <a16:creationId xmlns:a16="http://schemas.microsoft.com/office/drawing/2014/main" id="{63E6FC13-5832-4C80-9CE1-FC8D09C67A52}"/>
              </a:ext>
            </a:extLst>
          </p:cNvPr>
          <p:cNvGrpSpPr>
            <a:grpSpLocks/>
          </p:cNvGrpSpPr>
          <p:nvPr/>
        </p:nvGrpSpPr>
        <p:grpSpPr bwMode="auto">
          <a:xfrm>
            <a:off x="6799263" y="1676400"/>
            <a:ext cx="515937" cy="1143000"/>
            <a:chOff x="4283" y="1056"/>
            <a:chExt cx="325" cy="720"/>
          </a:xfrm>
        </p:grpSpPr>
        <p:sp>
          <p:nvSpPr>
            <p:cNvPr id="60459" name="Text Box 62">
              <a:extLst>
                <a:ext uri="{FF2B5EF4-FFF2-40B4-BE49-F238E27FC236}">
                  <a16:creationId xmlns:a16="http://schemas.microsoft.com/office/drawing/2014/main" id="{E0C47A0B-D534-4815-8F0A-48CD59C2D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0" y="1056"/>
              <a:ext cx="308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数据线</a:t>
              </a:r>
            </a:p>
          </p:txBody>
        </p:sp>
        <p:sp>
          <p:nvSpPr>
            <p:cNvPr id="60460" name="Text Box 63">
              <a:extLst>
                <a:ext uri="{FF2B5EF4-FFF2-40B4-BE49-F238E27FC236}">
                  <a16:creationId xmlns:a16="http://schemas.microsoft.com/office/drawing/2014/main" id="{F479E37A-BD68-4B64-90F6-FCED5DAB6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3" y="1526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⑦</a:t>
              </a:r>
            </a:p>
          </p:txBody>
        </p:sp>
      </p:grpSp>
      <p:grpSp>
        <p:nvGrpSpPr>
          <p:cNvPr id="15" name="Group 64">
            <a:extLst>
              <a:ext uri="{FF2B5EF4-FFF2-40B4-BE49-F238E27FC236}">
                <a16:creationId xmlns:a16="http://schemas.microsoft.com/office/drawing/2014/main" id="{E3782722-8CE5-49C6-AF41-AE7B0C56BE91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290888"/>
            <a:ext cx="2171700" cy="479425"/>
            <a:chOff x="3648" y="2073"/>
            <a:chExt cx="1368" cy="302"/>
          </a:xfrm>
        </p:grpSpPr>
        <p:sp>
          <p:nvSpPr>
            <p:cNvPr id="60457" name="Freeform 65">
              <a:extLst>
                <a:ext uri="{FF2B5EF4-FFF2-40B4-BE49-F238E27FC236}">
                  <a16:creationId xmlns:a16="http://schemas.microsoft.com/office/drawing/2014/main" id="{AD223887-FC90-4167-99CE-FFEB8044C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283"/>
              <a:ext cx="1056" cy="92"/>
            </a:xfrm>
            <a:custGeom>
              <a:avLst/>
              <a:gdLst>
                <a:gd name="T0" fmla="*/ 1056 w 1104"/>
                <a:gd name="T1" fmla="*/ 92 h 96"/>
                <a:gd name="T2" fmla="*/ 1056 w 1104"/>
                <a:gd name="T3" fmla="*/ 0 h 96"/>
                <a:gd name="T4" fmla="*/ 0 w 1104"/>
                <a:gd name="T5" fmla="*/ 0 h 96"/>
                <a:gd name="T6" fmla="*/ 0 60000 65536"/>
                <a:gd name="T7" fmla="*/ 0 60000 65536"/>
                <a:gd name="T8" fmla="*/ 0 60000 65536"/>
                <a:gd name="T9" fmla="*/ 0 w 1104"/>
                <a:gd name="T10" fmla="*/ 0 h 96"/>
                <a:gd name="T11" fmla="*/ 1104 w 1104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96">
                  <a:moveTo>
                    <a:pt x="1104" y="96"/>
                  </a:moveTo>
                  <a:lnTo>
                    <a:pt x="1104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58" name="Text Box 66">
              <a:extLst>
                <a:ext uri="{FF2B5EF4-FFF2-40B4-BE49-F238E27FC236}">
                  <a16:creationId xmlns:a16="http://schemas.microsoft.com/office/drawing/2014/main" id="{B9D8983F-F6A6-405E-8894-505D71361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073"/>
              <a:ext cx="6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溢出信号</a:t>
              </a:r>
            </a:p>
          </p:txBody>
        </p:sp>
      </p:grpSp>
      <p:grpSp>
        <p:nvGrpSpPr>
          <p:cNvPr id="16" name="Group 67">
            <a:extLst>
              <a:ext uri="{FF2B5EF4-FFF2-40B4-BE49-F238E27FC236}">
                <a16:creationId xmlns:a16="http://schemas.microsoft.com/office/drawing/2014/main" id="{CDEAF724-E42A-4D33-9991-F1947BABEFAE}"/>
              </a:ext>
            </a:extLst>
          </p:cNvPr>
          <p:cNvGrpSpPr>
            <a:grpSpLocks/>
          </p:cNvGrpSpPr>
          <p:nvPr/>
        </p:nvGrpSpPr>
        <p:grpSpPr bwMode="auto">
          <a:xfrm>
            <a:off x="5356225" y="1577975"/>
            <a:ext cx="542925" cy="1316038"/>
            <a:chOff x="3374" y="994"/>
            <a:chExt cx="342" cy="829"/>
          </a:xfrm>
        </p:grpSpPr>
        <p:sp>
          <p:nvSpPr>
            <p:cNvPr id="60455" name="Line 68">
              <a:extLst>
                <a:ext uri="{FF2B5EF4-FFF2-40B4-BE49-F238E27FC236}">
                  <a16:creationId xmlns:a16="http://schemas.microsoft.com/office/drawing/2014/main" id="{7817D8A1-5271-4B5A-831A-41CA7AA9B5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4" y="994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56" name="Text Box 69">
              <a:extLst>
                <a:ext uri="{FF2B5EF4-FFF2-40B4-BE49-F238E27FC236}">
                  <a16:creationId xmlns:a16="http://schemas.microsoft.com/office/drawing/2014/main" id="{B4567D93-4801-4EC5-B6C6-2C7DE997C3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040"/>
              <a:ext cx="308" cy="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中断请求</a:t>
              </a:r>
            </a:p>
          </p:txBody>
        </p:sp>
      </p:grpSp>
      <p:grpSp>
        <p:nvGrpSpPr>
          <p:cNvPr id="17" name="Group 70">
            <a:extLst>
              <a:ext uri="{FF2B5EF4-FFF2-40B4-BE49-F238E27FC236}">
                <a16:creationId xmlns:a16="http://schemas.microsoft.com/office/drawing/2014/main" id="{3B901D03-5EF0-498E-9FB5-725A24503E39}"/>
              </a:ext>
            </a:extLst>
          </p:cNvPr>
          <p:cNvGrpSpPr>
            <a:grpSpLocks/>
          </p:cNvGrpSpPr>
          <p:nvPr/>
        </p:nvGrpSpPr>
        <p:grpSpPr bwMode="auto">
          <a:xfrm>
            <a:off x="7159625" y="2894013"/>
            <a:ext cx="1285875" cy="1314450"/>
            <a:chOff x="4507" y="1823"/>
            <a:chExt cx="810" cy="828"/>
          </a:xfrm>
        </p:grpSpPr>
        <p:grpSp>
          <p:nvGrpSpPr>
            <p:cNvPr id="60447" name="Group 71">
              <a:extLst>
                <a:ext uri="{FF2B5EF4-FFF2-40B4-BE49-F238E27FC236}">
                  <a16:creationId xmlns:a16="http://schemas.microsoft.com/office/drawing/2014/main" id="{C4D44F6E-43FA-4C23-8815-146674658B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7" y="1823"/>
              <a:ext cx="432" cy="276"/>
              <a:chOff x="4507" y="1823"/>
              <a:chExt cx="432" cy="276"/>
            </a:xfrm>
          </p:grpSpPr>
          <p:sp>
            <p:nvSpPr>
              <p:cNvPr id="60453" name="Rectangle 72">
                <a:extLst>
                  <a:ext uri="{FF2B5EF4-FFF2-40B4-BE49-F238E27FC236}">
                    <a16:creationId xmlns:a16="http://schemas.microsoft.com/office/drawing/2014/main" id="{AEB927F7-000F-41BD-90D6-D765F6B0C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1823"/>
                <a:ext cx="432" cy="27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54" name="Text Box 73">
                <a:extLst>
                  <a:ext uri="{FF2B5EF4-FFF2-40B4-BE49-F238E27FC236}">
                    <a16:creationId xmlns:a16="http://schemas.microsoft.com/office/drawing/2014/main" id="{7FF9A76F-41D6-4E06-8146-38B869AF98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5" y="1824"/>
                <a:ext cx="348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AR</a:t>
                </a:r>
              </a:p>
            </p:txBody>
          </p:sp>
        </p:grpSp>
        <p:grpSp>
          <p:nvGrpSpPr>
            <p:cNvPr id="60448" name="Group 74">
              <a:extLst>
                <a:ext uri="{FF2B5EF4-FFF2-40B4-BE49-F238E27FC236}">
                  <a16:creationId xmlns:a16="http://schemas.microsoft.com/office/drawing/2014/main" id="{64D63C13-5AD8-4412-B9C2-5DE695AA93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7" y="2375"/>
              <a:ext cx="437" cy="276"/>
              <a:chOff x="4507" y="2375"/>
              <a:chExt cx="437" cy="276"/>
            </a:xfrm>
          </p:grpSpPr>
          <p:sp>
            <p:nvSpPr>
              <p:cNvPr id="60451" name="Rectangle 75">
                <a:extLst>
                  <a:ext uri="{FF2B5EF4-FFF2-40B4-BE49-F238E27FC236}">
                    <a16:creationId xmlns:a16="http://schemas.microsoft.com/office/drawing/2014/main" id="{79AB7C8F-9FB4-4E2C-8276-558AB2709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375"/>
                <a:ext cx="432" cy="27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52" name="Text Box 76">
                <a:extLst>
                  <a:ext uri="{FF2B5EF4-FFF2-40B4-BE49-F238E27FC236}">
                    <a16:creationId xmlns:a16="http://schemas.microsoft.com/office/drawing/2014/main" id="{C9BF05A2-18F0-4B66-9058-BAD7D253D1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2" y="2390"/>
                <a:ext cx="39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WC</a:t>
                </a:r>
              </a:p>
            </p:txBody>
          </p:sp>
        </p:grpSp>
        <p:sp>
          <p:nvSpPr>
            <p:cNvPr id="60449" name="Text Box 77">
              <a:extLst>
                <a:ext uri="{FF2B5EF4-FFF2-40B4-BE49-F238E27FC236}">
                  <a16:creationId xmlns:a16="http://schemas.microsoft.com/office/drawing/2014/main" id="{A34CBB87-AFFA-4A30-AC1C-0A22A9544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" y="1877"/>
              <a:ext cx="287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+1</a:t>
              </a:r>
            </a:p>
          </p:txBody>
        </p:sp>
        <p:sp>
          <p:nvSpPr>
            <p:cNvPr id="60450" name="Text Box 78">
              <a:extLst>
                <a:ext uri="{FF2B5EF4-FFF2-40B4-BE49-F238E27FC236}">
                  <a16:creationId xmlns:a16="http://schemas.microsoft.com/office/drawing/2014/main" id="{3286F5AA-9A69-4227-91E5-39AEB4E54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" y="2385"/>
              <a:ext cx="2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+1</a:t>
              </a:r>
            </a:p>
          </p:txBody>
        </p:sp>
      </p:grpSp>
      <p:grpSp>
        <p:nvGrpSpPr>
          <p:cNvPr id="20" name="Group 80">
            <a:extLst>
              <a:ext uri="{FF2B5EF4-FFF2-40B4-BE49-F238E27FC236}">
                <a16:creationId xmlns:a16="http://schemas.microsoft.com/office/drawing/2014/main" id="{CBB2C053-3DCB-4BD3-A054-FB1BAA5BEB59}"/>
              </a:ext>
            </a:extLst>
          </p:cNvPr>
          <p:cNvGrpSpPr>
            <a:grpSpLocks/>
          </p:cNvGrpSpPr>
          <p:nvPr/>
        </p:nvGrpSpPr>
        <p:grpSpPr bwMode="auto">
          <a:xfrm>
            <a:off x="6315075" y="5257800"/>
            <a:ext cx="685800" cy="438150"/>
            <a:chOff x="3931" y="3312"/>
            <a:chExt cx="432" cy="276"/>
          </a:xfrm>
        </p:grpSpPr>
        <p:sp>
          <p:nvSpPr>
            <p:cNvPr id="60445" name="Rectangle 81">
              <a:extLst>
                <a:ext uri="{FF2B5EF4-FFF2-40B4-BE49-F238E27FC236}">
                  <a16:creationId xmlns:a16="http://schemas.microsoft.com/office/drawing/2014/main" id="{0DA36466-07D3-4AC0-BC31-1D7644D95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" y="3312"/>
              <a:ext cx="432" cy="27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46" name="Text Box 82">
              <a:extLst>
                <a:ext uri="{FF2B5EF4-FFF2-40B4-BE49-F238E27FC236}">
                  <a16:creationId xmlns:a16="http://schemas.microsoft.com/office/drawing/2014/main" id="{27C54343-4034-4FA4-883D-626284FE9C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7" y="3318"/>
              <a:ext cx="339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BR</a:t>
              </a:r>
            </a:p>
          </p:txBody>
        </p:sp>
      </p:grpSp>
      <p:grpSp>
        <p:nvGrpSpPr>
          <p:cNvPr id="21" name="Group 83">
            <a:extLst>
              <a:ext uri="{FF2B5EF4-FFF2-40B4-BE49-F238E27FC236}">
                <a16:creationId xmlns:a16="http://schemas.microsoft.com/office/drawing/2014/main" id="{4A9C5FCB-9C89-4F29-8892-7718CE229027}"/>
              </a:ext>
            </a:extLst>
          </p:cNvPr>
          <p:cNvGrpSpPr>
            <a:grpSpLocks/>
          </p:cNvGrpSpPr>
          <p:nvPr/>
        </p:nvGrpSpPr>
        <p:grpSpPr bwMode="auto">
          <a:xfrm>
            <a:off x="6315075" y="5260975"/>
            <a:ext cx="723900" cy="469900"/>
            <a:chOff x="3912" y="3296"/>
            <a:chExt cx="456" cy="296"/>
          </a:xfrm>
        </p:grpSpPr>
        <p:sp>
          <p:nvSpPr>
            <p:cNvPr id="60443" name="Rectangle 84">
              <a:extLst>
                <a:ext uri="{FF2B5EF4-FFF2-40B4-BE49-F238E27FC236}">
                  <a16:creationId xmlns:a16="http://schemas.microsoft.com/office/drawing/2014/main" id="{ADEE1ED6-C0CC-4769-91B7-01B86286A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2" y="3296"/>
              <a:ext cx="456" cy="296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rgbClr val="9966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44" name="Text Box 85">
              <a:extLst>
                <a:ext uri="{FF2B5EF4-FFF2-40B4-BE49-F238E27FC236}">
                  <a16:creationId xmlns:a16="http://schemas.microsoft.com/office/drawing/2014/main" id="{2D8E60B5-DD9C-4A84-B291-1104D88AA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3312"/>
              <a:ext cx="345" cy="255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rgbClr val="996633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BR</a:t>
              </a:r>
            </a:p>
          </p:txBody>
        </p:sp>
      </p:grpSp>
      <p:grpSp>
        <p:nvGrpSpPr>
          <p:cNvPr id="22" name="Group 86">
            <a:extLst>
              <a:ext uri="{FF2B5EF4-FFF2-40B4-BE49-F238E27FC236}">
                <a16:creationId xmlns:a16="http://schemas.microsoft.com/office/drawing/2014/main" id="{DC7A4BDC-BE4C-4EB6-B197-56DD73ABC9BC}"/>
              </a:ext>
            </a:extLst>
          </p:cNvPr>
          <p:cNvGrpSpPr>
            <a:grpSpLocks/>
          </p:cNvGrpSpPr>
          <p:nvPr/>
        </p:nvGrpSpPr>
        <p:grpSpPr bwMode="auto">
          <a:xfrm>
            <a:off x="6315075" y="5260975"/>
            <a:ext cx="685800" cy="438150"/>
            <a:chOff x="3924" y="3303"/>
            <a:chExt cx="432" cy="276"/>
          </a:xfrm>
        </p:grpSpPr>
        <p:sp>
          <p:nvSpPr>
            <p:cNvPr id="60441" name="Rectangle 87">
              <a:extLst>
                <a:ext uri="{FF2B5EF4-FFF2-40B4-BE49-F238E27FC236}">
                  <a16:creationId xmlns:a16="http://schemas.microsoft.com/office/drawing/2014/main" id="{7E5BBEEC-ED4F-498C-9F6B-1C9DABB0C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3303"/>
              <a:ext cx="432" cy="276"/>
            </a:xfrm>
            <a:prstGeom prst="rect">
              <a:avLst/>
            </a:prstGeom>
            <a:solidFill>
              <a:schemeClr val="folHlink"/>
            </a:solidFill>
            <a:ln w="5715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42" name="Text Box 88">
              <a:extLst>
                <a:ext uri="{FF2B5EF4-FFF2-40B4-BE49-F238E27FC236}">
                  <a16:creationId xmlns:a16="http://schemas.microsoft.com/office/drawing/2014/main" id="{6A320205-4BDF-4CA9-BD20-7BA516C86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3309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BR</a:t>
              </a:r>
            </a:p>
          </p:txBody>
        </p:sp>
      </p:grpSp>
      <p:grpSp>
        <p:nvGrpSpPr>
          <p:cNvPr id="23" name="Group 89">
            <a:extLst>
              <a:ext uri="{FF2B5EF4-FFF2-40B4-BE49-F238E27FC236}">
                <a16:creationId xmlns:a16="http://schemas.microsoft.com/office/drawing/2014/main" id="{7FA86B0E-5C0B-4980-8F59-1612A88066E0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5253038"/>
            <a:ext cx="723900" cy="469900"/>
            <a:chOff x="3912" y="3296"/>
            <a:chExt cx="456" cy="296"/>
          </a:xfrm>
        </p:grpSpPr>
        <p:sp>
          <p:nvSpPr>
            <p:cNvPr id="60439" name="Rectangle 90">
              <a:extLst>
                <a:ext uri="{FF2B5EF4-FFF2-40B4-BE49-F238E27FC236}">
                  <a16:creationId xmlns:a16="http://schemas.microsoft.com/office/drawing/2014/main" id="{F78F936C-F869-46AD-A622-25D2F3DF4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2" y="3296"/>
              <a:ext cx="456" cy="296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rgbClr val="9966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40" name="Text Box 91">
              <a:extLst>
                <a:ext uri="{FF2B5EF4-FFF2-40B4-BE49-F238E27FC236}">
                  <a16:creationId xmlns:a16="http://schemas.microsoft.com/office/drawing/2014/main" id="{C4B14B5A-7710-4F0A-B4CD-A36F748AE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3312"/>
              <a:ext cx="345" cy="255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rgbClr val="996633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BR</a:t>
              </a:r>
            </a:p>
          </p:txBody>
        </p:sp>
      </p:grpSp>
      <p:grpSp>
        <p:nvGrpSpPr>
          <p:cNvPr id="24" name="Group 92">
            <a:extLst>
              <a:ext uri="{FF2B5EF4-FFF2-40B4-BE49-F238E27FC236}">
                <a16:creationId xmlns:a16="http://schemas.microsoft.com/office/drawing/2014/main" id="{C9410BD7-59E2-48E1-8EFE-810E055E419D}"/>
              </a:ext>
            </a:extLst>
          </p:cNvPr>
          <p:cNvGrpSpPr>
            <a:grpSpLocks/>
          </p:cNvGrpSpPr>
          <p:nvPr/>
        </p:nvGrpSpPr>
        <p:grpSpPr bwMode="auto">
          <a:xfrm>
            <a:off x="6315075" y="5260975"/>
            <a:ext cx="685800" cy="438150"/>
            <a:chOff x="3924" y="3303"/>
            <a:chExt cx="432" cy="276"/>
          </a:xfrm>
        </p:grpSpPr>
        <p:sp>
          <p:nvSpPr>
            <p:cNvPr id="60437" name="Rectangle 93">
              <a:extLst>
                <a:ext uri="{FF2B5EF4-FFF2-40B4-BE49-F238E27FC236}">
                  <a16:creationId xmlns:a16="http://schemas.microsoft.com/office/drawing/2014/main" id="{BD4EEC41-1498-430C-9B20-CC5CAF4D9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3303"/>
              <a:ext cx="432" cy="276"/>
            </a:xfrm>
            <a:prstGeom prst="rect">
              <a:avLst/>
            </a:prstGeom>
            <a:solidFill>
              <a:schemeClr val="folHlink"/>
            </a:solidFill>
            <a:ln w="5715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38" name="Text Box 94">
              <a:extLst>
                <a:ext uri="{FF2B5EF4-FFF2-40B4-BE49-F238E27FC236}">
                  <a16:creationId xmlns:a16="http://schemas.microsoft.com/office/drawing/2014/main" id="{D4278E2D-A345-4FE1-97FA-12D2C9019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3309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12D0723-4C1B-4761-8470-B59D8926C075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431925"/>
            <a:ext cx="8610600" cy="5322888"/>
            <a:chOff x="240" y="902"/>
            <a:chExt cx="5424" cy="3353"/>
          </a:xfrm>
        </p:grpSpPr>
        <p:grpSp>
          <p:nvGrpSpPr>
            <p:cNvPr id="61502" name="Group 3">
              <a:extLst>
                <a:ext uri="{FF2B5EF4-FFF2-40B4-BE49-F238E27FC236}">
                  <a16:creationId xmlns:a16="http://schemas.microsoft.com/office/drawing/2014/main" id="{C07BA466-AFB4-418E-8478-62376BE487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8" y="3312"/>
              <a:ext cx="432" cy="276"/>
              <a:chOff x="3978" y="3312"/>
              <a:chExt cx="432" cy="276"/>
            </a:xfrm>
          </p:grpSpPr>
          <p:sp>
            <p:nvSpPr>
              <p:cNvPr id="61534" name="Text Box 4">
                <a:extLst>
                  <a:ext uri="{FF2B5EF4-FFF2-40B4-BE49-F238E27FC236}">
                    <a16:creationId xmlns:a16="http://schemas.microsoft.com/office/drawing/2014/main" id="{B695CD21-4951-488D-B2ED-ED50F82EC4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0" y="3360"/>
                <a:ext cx="326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2000" t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BR</a:t>
                </a:r>
              </a:p>
            </p:txBody>
          </p:sp>
          <p:sp>
            <p:nvSpPr>
              <p:cNvPr id="61535" name="Rectangle 5">
                <a:extLst>
                  <a:ext uri="{FF2B5EF4-FFF2-40B4-BE49-F238E27FC236}">
                    <a16:creationId xmlns:a16="http://schemas.microsoft.com/office/drawing/2014/main" id="{50E555FA-D80E-42B9-B249-C32C9E30B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8" y="3312"/>
                <a:ext cx="432" cy="2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1503" name="Group 6">
              <a:extLst>
                <a:ext uri="{FF2B5EF4-FFF2-40B4-BE49-F238E27FC236}">
                  <a16:creationId xmlns:a16="http://schemas.microsoft.com/office/drawing/2014/main" id="{ADE75407-4EFE-46C7-858F-5ACC6383BF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902"/>
              <a:ext cx="5424" cy="3353"/>
              <a:chOff x="240" y="902"/>
              <a:chExt cx="5424" cy="3353"/>
            </a:xfrm>
          </p:grpSpPr>
          <p:grpSp>
            <p:nvGrpSpPr>
              <p:cNvPr id="61504" name="Group 7">
                <a:extLst>
                  <a:ext uri="{FF2B5EF4-FFF2-40B4-BE49-F238E27FC236}">
                    <a16:creationId xmlns:a16="http://schemas.microsoft.com/office/drawing/2014/main" id="{D5DF8F42-D998-437F-B23E-FFA4C7BDCE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3979"/>
                <a:ext cx="436" cy="276"/>
                <a:chOff x="3928" y="3979"/>
                <a:chExt cx="436" cy="276"/>
              </a:xfrm>
            </p:grpSpPr>
            <p:sp>
              <p:nvSpPr>
                <p:cNvPr id="61532" name="Text Box 8">
                  <a:extLst>
                    <a:ext uri="{FF2B5EF4-FFF2-40B4-BE49-F238E27FC236}">
                      <a16:creationId xmlns:a16="http://schemas.microsoft.com/office/drawing/2014/main" id="{FB6CDB70-169B-4A5C-B06C-894149D9838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8" y="3989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设备</a:t>
                  </a:r>
                </a:p>
              </p:txBody>
            </p:sp>
            <p:sp>
              <p:nvSpPr>
                <p:cNvPr id="61533" name="Rectangle 9">
                  <a:extLst>
                    <a:ext uri="{FF2B5EF4-FFF2-40B4-BE49-F238E27FC236}">
                      <a16:creationId xmlns:a16="http://schemas.microsoft.com/office/drawing/2014/main" id="{5B3FB1C9-01BE-4D6C-B59C-5BDAAE6C95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31" y="3979"/>
                  <a:ext cx="432" cy="27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1505" name="Text Box 10">
                <a:extLst>
                  <a:ext uri="{FF2B5EF4-FFF2-40B4-BE49-F238E27FC236}">
                    <a16:creationId xmlns:a16="http://schemas.microsoft.com/office/drawing/2014/main" id="{629AE362-350F-4996-8321-29A49DE2B6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1992"/>
                <a:ext cx="499" cy="10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DMA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控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制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逻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辑</a:t>
                </a:r>
              </a:p>
            </p:txBody>
          </p:sp>
          <p:sp>
            <p:nvSpPr>
              <p:cNvPr id="61506" name="Rectangle 11">
                <a:extLst>
                  <a:ext uri="{FF2B5EF4-FFF2-40B4-BE49-F238E27FC236}">
                    <a16:creationId xmlns:a16="http://schemas.microsoft.com/office/drawing/2014/main" id="{A4B47437-FB82-4105-B171-E529F61C61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1823"/>
                <a:ext cx="528" cy="147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07" name="Text Box 12">
                <a:extLst>
                  <a:ext uri="{FF2B5EF4-FFF2-40B4-BE49-F238E27FC236}">
                    <a16:creationId xmlns:a16="http://schemas.microsoft.com/office/drawing/2014/main" id="{14CD90CB-6252-45E3-B460-D96D4EDB26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8" y="2128"/>
                <a:ext cx="357" cy="8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中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断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机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 构</a:t>
                </a:r>
              </a:p>
            </p:txBody>
          </p:sp>
          <p:sp>
            <p:nvSpPr>
              <p:cNvPr id="61508" name="Rectangle 13">
                <a:extLst>
                  <a:ext uri="{FF2B5EF4-FFF2-40B4-BE49-F238E27FC236}">
                    <a16:creationId xmlns:a16="http://schemas.microsoft.com/office/drawing/2014/main" id="{A9B1A5CA-140C-4990-B2EA-6BC7E7ED62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823"/>
                <a:ext cx="528" cy="147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09" name="Text Box 14">
                <a:extLst>
                  <a:ext uri="{FF2B5EF4-FFF2-40B4-BE49-F238E27FC236}">
                    <a16:creationId xmlns:a16="http://schemas.microsoft.com/office/drawing/2014/main" id="{B0B7A52D-508F-4A3F-9905-963A7EED04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5" y="1824"/>
                <a:ext cx="348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AR</a:t>
                </a:r>
              </a:p>
            </p:txBody>
          </p:sp>
          <p:sp>
            <p:nvSpPr>
              <p:cNvPr id="61510" name="Rectangle 15">
                <a:extLst>
                  <a:ext uri="{FF2B5EF4-FFF2-40B4-BE49-F238E27FC236}">
                    <a16:creationId xmlns:a16="http://schemas.microsoft.com/office/drawing/2014/main" id="{EAF5CFA2-0DE8-4A02-94E3-F8BE5F8FD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1823"/>
                <a:ext cx="432" cy="2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11" name="Text Box 16">
                <a:extLst>
                  <a:ext uri="{FF2B5EF4-FFF2-40B4-BE49-F238E27FC236}">
                    <a16:creationId xmlns:a16="http://schemas.microsoft.com/office/drawing/2014/main" id="{DD486E6F-3260-4612-A1EC-262BD54AA7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2" y="2390"/>
                <a:ext cx="39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WC</a:t>
                </a:r>
              </a:p>
            </p:txBody>
          </p:sp>
          <p:sp>
            <p:nvSpPr>
              <p:cNvPr id="61512" name="Rectangle 17">
                <a:extLst>
                  <a:ext uri="{FF2B5EF4-FFF2-40B4-BE49-F238E27FC236}">
                    <a16:creationId xmlns:a16="http://schemas.microsoft.com/office/drawing/2014/main" id="{2121409A-E0AB-416C-B052-098CDA61A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375"/>
                <a:ext cx="432" cy="2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13" name="Text Box 18">
                <a:extLst>
                  <a:ext uri="{FF2B5EF4-FFF2-40B4-BE49-F238E27FC236}">
                    <a16:creationId xmlns:a16="http://schemas.microsoft.com/office/drawing/2014/main" id="{340B56C5-845D-495B-9E14-A81E9B6F3C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7" y="2932"/>
                <a:ext cx="46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DAR</a:t>
                </a:r>
              </a:p>
            </p:txBody>
          </p:sp>
          <p:sp>
            <p:nvSpPr>
              <p:cNvPr id="61514" name="Rectangle 19">
                <a:extLst>
                  <a:ext uri="{FF2B5EF4-FFF2-40B4-BE49-F238E27FC236}">
                    <a16:creationId xmlns:a16="http://schemas.microsoft.com/office/drawing/2014/main" id="{97A54614-15CF-4AA1-8A88-E23A8AF7E6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927"/>
                <a:ext cx="432" cy="2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15" name="Rectangle 20">
                <a:extLst>
                  <a:ext uri="{FF2B5EF4-FFF2-40B4-BE49-F238E27FC236}">
                    <a16:creationId xmlns:a16="http://schemas.microsoft.com/office/drawing/2014/main" id="{E29020D1-5B05-429A-B827-31EEEA0064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728"/>
                <a:ext cx="3547" cy="198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16" name="Text Box 21">
                <a:extLst>
                  <a:ext uri="{FF2B5EF4-FFF2-40B4-BE49-F238E27FC236}">
                    <a16:creationId xmlns:a16="http://schemas.microsoft.com/office/drawing/2014/main" id="{6D332AD9-DA0E-4D95-BA63-BADD002256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1" y="3442"/>
                <a:ext cx="81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DMA</a:t>
                </a: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接口</a:t>
                </a:r>
              </a:p>
            </p:txBody>
          </p:sp>
          <p:grpSp>
            <p:nvGrpSpPr>
              <p:cNvPr id="61517" name="Group 22">
                <a:extLst>
                  <a:ext uri="{FF2B5EF4-FFF2-40B4-BE49-F238E27FC236}">
                    <a16:creationId xmlns:a16="http://schemas.microsoft.com/office/drawing/2014/main" id="{F4122CB0-9F76-466A-88B5-D3690A0EA5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1639"/>
                <a:ext cx="528" cy="2071"/>
                <a:chOff x="288" y="1200"/>
                <a:chExt cx="528" cy="2160"/>
              </a:xfrm>
            </p:grpSpPr>
            <p:sp>
              <p:nvSpPr>
                <p:cNvPr id="61530" name="Text Box 23">
                  <a:extLst>
                    <a:ext uri="{FF2B5EF4-FFF2-40B4-BE49-F238E27FC236}">
                      <a16:creationId xmlns:a16="http://schemas.microsoft.com/office/drawing/2014/main" id="{016E5F5B-1810-40B3-A8DC-78E2801451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2" y="1870"/>
                  <a:ext cx="277" cy="8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主</a:t>
                  </a: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存</a:t>
                  </a:r>
                </a:p>
              </p:txBody>
            </p:sp>
            <p:sp>
              <p:nvSpPr>
                <p:cNvPr id="61531" name="Rectangle 24">
                  <a:extLst>
                    <a:ext uri="{FF2B5EF4-FFF2-40B4-BE49-F238E27FC236}">
                      <a16:creationId xmlns:a16="http://schemas.microsoft.com/office/drawing/2014/main" id="{9AE978A5-94BE-46C2-9DA5-1296C76D17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0"/>
                  <a:ext cx="528" cy="216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61518" name="Group 25">
                <a:extLst>
                  <a:ext uri="{FF2B5EF4-FFF2-40B4-BE49-F238E27FC236}">
                    <a16:creationId xmlns:a16="http://schemas.microsoft.com/office/drawing/2014/main" id="{83B6B98F-23AA-49F3-9121-9133B195F2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639"/>
                <a:ext cx="528" cy="2071"/>
                <a:chOff x="816" y="1200"/>
                <a:chExt cx="528" cy="2160"/>
              </a:xfrm>
            </p:grpSpPr>
            <p:sp>
              <p:nvSpPr>
                <p:cNvPr id="61528" name="Text Box 26">
                  <a:extLst>
                    <a:ext uri="{FF2B5EF4-FFF2-40B4-BE49-F238E27FC236}">
                      <a16:creationId xmlns:a16="http://schemas.microsoft.com/office/drawing/2014/main" id="{1D0D6B8B-A6AB-48E5-B20C-827693A1BB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2054"/>
                  <a:ext cx="446" cy="2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CPU</a:t>
                  </a:r>
                </a:p>
              </p:txBody>
            </p:sp>
            <p:sp>
              <p:nvSpPr>
                <p:cNvPr id="61529" name="Rectangle 27">
                  <a:extLst>
                    <a:ext uri="{FF2B5EF4-FFF2-40B4-BE49-F238E27FC236}">
                      <a16:creationId xmlns:a16="http://schemas.microsoft.com/office/drawing/2014/main" id="{2E15B9A0-5A2D-46D3-8149-E6DB4B72A2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200"/>
                  <a:ext cx="528" cy="216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1519" name="AutoShape 28">
                <a:extLst>
                  <a:ext uri="{FF2B5EF4-FFF2-40B4-BE49-F238E27FC236}">
                    <a16:creationId xmlns:a16="http://schemas.microsoft.com/office/drawing/2014/main" id="{5C77AC63-E86E-49B2-8496-0EBE28AA9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902"/>
                <a:ext cx="5424" cy="138"/>
              </a:xfrm>
              <a:prstGeom prst="leftRightArrow">
                <a:avLst>
                  <a:gd name="adj1" fmla="val 56769"/>
                  <a:gd name="adj2" fmla="val 189789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20" name="AutoShape 29">
                <a:extLst>
                  <a:ext uri="{FF2B5EF4-FFF2-40B4-BE49-F238E27FC236}">
                    <a16:creationId xmlns:a16="http://schemas.microsoft.com/office/drawing/2014/main" id="{76D07546-D36D-4034-BFAD-809BE015E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869"/>
                <a:ext cx="288" cy="184"/>
              </a:xfrm>
              <a:prstGeom prst="rightArrow">
                <a:avLst>
                  <a:gd name="adj1" fmla="val 50000"/>
                  <a:gd name="adj2" fmla="val 3913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21" name="AutoShape 30">
                <a:extLst>
                  <a:ext uri="{FF2B5EF4-FFF2-40B4-BE49-F238E27FC236}">
                    <a16:creationId xmlns:a16="http://schemas.microsoft.com/office/drawing/2014/main" id="{8822E74D-7170-48F9-BBC9-FCD52172E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421"/>
                <a:ext cx="288" cy="184"/>
              </a:xfrm>
              <a:prstGeom prst="rightArrow">
                <a:avLst>
                  <a:gd name="adj1" fmla="val 50000"/>
                  <a:gd name="adj2" fmla="val 3913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22" name="AutoShape 31">
                <a:extLst>
                  <a:ext uri="{FF2B5EF4-FFF2-40B4-BE49-F238E27FC236}">
                    <a16:creationId xmlns:a16="http://schemas.microsoft.com/office/drawing/2014/main" id="{A48BA03E-0FC2-49FB-85B2-7A01BBCD6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946"/>
                <a:ext cx="288" cy="184"/>
              </a:xfrm>
              <a:prstGeom prst="rightArrow">
                <a:avLst>
                  <a:gd name="adj1" fmla="val 50000"/>
                  <a:gd name="adj2" fmla="val 3913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23" name="Text Box 32">
                <a:extLst>
                  <a:ext uri="{FF2B5EF4-FFF2-40B4-BE49-F238E27FC236}">
                    <a16:creationId xmlns:a16="http://schemas.microsoft.com/office/drawing/2014/main" id="{8215E012-A1EA-437D-ACEE-8E4AE661B2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0" y="1877"/>
                <a:ext cx="287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+1</a:t>
                </a:r>
              </a:p>
            </p:txBody>
          </p:sp>
          <p:sp>
            <p:nvSpPr>
              <p:cNvPr id="61524" name="Text Box 33">
                <a:extLst>
                  <a:ext uri="{FF2B5EF4-FFF2-40B4-BE49-F238E27FC236}">
                    <a16:creationId xmlns:a16="http://schemas.microsoft.com/office/drawing/2014/main" id="{480C2413-1E52-4B1B-8850-F2C0D1AB19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0" y="2385"/>
                <a:ext cx="28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+1</a:t>
                </a:r>
              </a:p>
            </p:txBody>
          </p:sp>
          <p:sp>
            <p:nvSpPr>
              <p:cNvPr id="61525" name="AutoShape 34">
                <a:extLst>
                  <a:ext uri="{FF2B5EF4-FFF2-40B4-BE49-F238E27FC236}">
                    <a16:creationId xmlns:a16="http://schemas.microsoft.com/office/drawing/2014/main" id="{ED832E5C-C27D-45B2-A28A-C7A63045BB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994"/>
                <a:ext cx="144" cy="645"/>
              </a:xfrm>
              <a:prstGeom prst="upDownArrow">
                <a:avLst>
                  <a:gd name="adj1" fmla="val 50000"/>
                  <a:gd name="adj2" fmla="val 89583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26" name="AutoShape 35">
                <a:extLst>
                  <a:ext uri="{FF2B5EF4-FFF2-40B4-BE49-F238E27FC236}">
                    <a16:creationId xmlns:a16="http://schemas.microsoft.com/office/drawing/2014/main" id="{F6A0ED8D-94B1-4FFB-892B-0514126F83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994"/>
                <a:ext cx="144" cy="645"/>
              </a:xfrm>
              <a:prstGeom prst="upDownArrow">
                <a:avLst>
                  <a:gd name="adj1" fmla="val 50000"/>
                  <a:gd name="adj2" fmla="val 89583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527" name="AutoShape 36">
                <a:extLst>
                  <a:ext uri="{FF2B5EF4-FFF2-40B4-BE49-F238E27FC236}">
                    <a16:creationId xmlns:a16="http://schemas.microsoft.com/office/drawing/2014/main" id="{6F79228D-9869-40A3-87F9-DA7E2FFB8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008"/>
                <a:ext cx="240" cy="2304"/>
              </a:xfrm>
              <a:prstGeom prst="upDownArrow">
                <a:avLst>
                  <a:gd name="adj1" fmla="val 38333"/>
                  <a:gd name="adj2" fmla="val 69600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8" name="Group 37">
            <a:extLst>
              <a:ext uri="{FF2B5EF4-FFF2-40B4-BE49-F238E27FC236}">
                <a16:creationId xmlns:a16="http://schemas.microsoft.com/office/drawing/2014/main" id="{DA865765-78B5-49C2-AE41-E4FED94A1934}"/>
              </a:ext>
            </a:extLst>
          </p:cNvPr>
          <p:cNvGrpSpPr>
            <a:grpSpLocks/>
          </p:cNvGrpSpPr>
          <p:nvPr/>
        </p:nvGrpSpPr>
        <p:grpSpPr bwMode="auto">
          <a:xfrm>
            <a:off x="6315075" y="5257800"/>
            <a:ext cx="685800" cy="438150"/>
            <a:chOff x="3931" y="3312"/>
            <a:chExt cx="432" cy="276"/>
          </a:xfrm>
        </p:grpSpPr>
        <p:sp>
          <p:nvSpPr>
            <p:cNvPr id="61500" name="Rectangle 38">
              <a:extLst>
                <a:ext uri="{FF2B5EF4-FFF2-40B4-BE49-F238E27FC236}">
                  <a16:creationId xmlns:a16="http://schemas.microsoft.com/office/drawing/2014/main" id="{A9E9ADD6-1D54-4B6C-AAD7-13325ED09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" y="3312"/>
              <a:ext cx="432" cy="27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1" name="Text Box 39">
              <a:extLst>
                <a:ext uri="{FF2B5EF4-FFF2-40B4-BE49-F238E27FC236}">
                  <a16:creationId xmlns:a16="http://schemas.microsoft.com/office/drawing/2014/main" id="{14DF9E89-CCED-4405-B182-5F65395B4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7" y="3318"/>
              <a:ext cx="339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BR</a:t>
              </a:r>
            </a:p>
          </p:txBody>
        </p:sp>
      </p:grpSp>
      <p:grpSp>
        <p:nvGrpSpPr>
          <p:cNvPr id="9" name="Group 40">
            <a:extLst>
              <a:ext uri="{FF2B5EF4-FFF2-40B4-BE49-F238E27FC236}">
                <a16:creationId xmlns:a16="http://schemas.microsoft.com/office/drawing/2014/main" id="{E758270A-05A6-42D3-B59C-5B1D92FABC44}"/>
              </a:ext>
            </a:extLst>
          </p:cNvPr>
          <p:cNvGrpSpPr>
            <a:grpSpLocks/>
          </p:cNvGrpSpPr>
          <p:nvPr/>
        </p:nvGrpSpPr>
        <p:grpSpPr bwMode="auto">
          <a:xfrm>
            <a:off x="3938588" y="5257800"/>
            <a:ext cx="2362200" cy="1184275"/>
            <a:chOff x="2448" y="3296"/>
            <a:chExt cx="1488" cy="746"/>
          </a:xfrm>
        </p:grpSpPr>
        <p:sp>
          <p:nvSpPr>
            <p:cNvPr id="61497" name="Freeform 41">
              <a:extLst>
                <a:ext uri="{FF2B5EF4-FFF2-40B4-BE49-F238E27FC236}">
                  <a16:creationId xmlns:a16="http://schemas.microsoft.com/office/drawing/2014/main" id="{A68D793A-13EF-4401-8929-AB23BA4AD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3296"/>
              <a:ext cx="1488" cy="736"/>
            </a:xfrm>
            <a:custGeom>
              <a:avLst/>
              <a:gdLst>
                <a:gd name="T0" fmla="*/ 1488 w 1488"/>
                <a:gd name="T1" fmla="*/ 736 h 768"/>
                <a:gd name="T2" fmla="*/ 0 w 1488"/>
                <a:gd name="T3" fmla="*/ 736 h 768"/>
                <a:gd name="T4" fmla="*/ 0 w 1488"/>
                <a:gd name="T5" fmla="*/ 0 h 768"/>
                <a:gd name="T6" fmla="*/ 0 60000 65536"/>
                <a:gd name="T7" fmla="*/ 0 60000 65536"/>
                <a:gd name="T8" fmla="*/ 0 60000 65536"/>
                <a:gd name="T9" fmla="*/ 0 w 1488"/>
                <a:gd name="T10" fmla="*/ 0 h 768"/>
                <a:gd name="T11" fmla="*/ 1488 w 1488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768">
                  <a:moveTo>
                    <a:pt x="1488" y="768"/>
                  </a:moveTo>
                  <a:lnTo>
                    <a:pt x="0" y="768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98" name="Text Box 42">
              <a:extLst>
                <a:ext uri="{FF2B5EF4-FFF2-40B4-BE49-F238E27FC236}">
                  <a16:creationId xmlns:a16="http://schemas.microsoft.com/office/drawing/2014/main" id="{FAA6205B-10CB-43B7-86E4-C37BF6387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3792"/>
              <a:ext cx="5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DREQ</a:t>
              </a:r>
            </a:p>
          </p:txBody>
        </p:sp>
        <p:sp>
          <p:nvSpPr>
            <p:cNvPr id="61499" name="Text Box 43">
              <a:extLst>
                <a:ext uri="{FF2B5EF4-FFF2-40B4-BE49-F238E27FC236}">
                  <a16:creationId xmlns:a16="http://schemas.microsoft.com/office/drawing/2014/main" id="{02831BF7-35A1-4430-9FD1-C17ACFB83C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782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②</a:t>
              </a:r>
            </a:p>
          </p:txBody>
        </p:sp>
      </p:grpSp>
      <p:grpSp>
        <p:nvGrpSpPr>
          <p:cNvPr id="10" name="Group 44">
            <a:extLst>
              <a:ext uri="{FF2B5EF4-FFF2-40B4-BE49-F238E27FC236}">
                <a16:creationId xmlns:a16="http://schemas.microsoft.com/office/drawing/2014/main" id="{8FAEB4FC-7517-4F75-AA07-7153D2A593AD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577975"/>
            <a:ext cx="762000" cy="1316038"/>
            <a:chOff x="2448" y="994"/>
            <a:chExt cx="480" cy="829"/>
          </a:xfrm>
        </p:grpSpPr>
        <p:sp>
          <p:nvSpPr>
            <p:cNvPr id="61494" name="Text Box 45">
              <a:extLst>
                <a:ext uri="{FF2B5EF4-FFF2-40B4-BE49-F238E27FC236}">
                  <a16:creationId xmlns:a16="http://schemas.microsoft.com/office/drawing/2014/main" id="{2D5C4E35-7CE0-4029-94B2-413B496EEF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233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HRQ</a:t>
              </a:r>
            </a:p>
          </p:txBody>
        </p:sp>
        <p:sp>
          <p:nvSpPr>
            <p:cNvPr id="61495" name="Text Box 46">
              <a:extLst>
                <a:ext uri="{FF2B5EF4-FFF2-40B4-BE49-F238E27FC236}">
                  <a16:creationId xmlns:a16="http://schemas.microsoft.com/office/drawing/2014/main" id="{9AD40BDF-7110-4115-8860-D89A8DEC6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440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③</a:t>
              </a:r>
            </a:p>
          </p:txBody>
        </p:sp>
        <p:sp>
          <p:nvSpPr>
            <p:cNvPr id="61496" name="Line 47">
              <a:extLst>
                <a:ext uri="{FF2B5EF4-FFF2-40B4-BE49-F238E27FC236}">
                  <a16:creationId xmlns:a16="http://schemas.microsoft.com/office/drawing/2014/main" id="{478F529E-0EDC-4AB1-B03A-73AFAFD1BF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994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" name="Group 48">
            <a:extLst>
              <a:ext uri="{FF2B5EF4-FFF2-40B4-BE49-F238E27FC236}">
                <a16:creationId xmlns:a16="http://schemas.microsoft.com/office/drawing/2014/main" id="{BA17F088-B530-4548-86AC-4C4A991B70FF}"/>
              </a:ext>
            </a:extLst>
          </p:cNvPr>
          <p:cNvGrpSpPr>
            <a:grpSpLocks/>
          </p:cNvGrpSpPr>
          <p:nvPr/>
        </p:nvGrpSpPr>
        <p:grpSpPr bwMode="auto">
          <a:xfrm>
            <a:off x="2738438" y="1577975"/>
            <a:ext cx="919162" cy="1316038"/>
            <a:chOff x="1725" y="994"/>
            <a:chExt cx="579" cy="829"/>
          </a:xfrm>
        </p:grpSpPr>
        <p:sp>
          <p:nvSpPr>
            <p:cNvPr id="61491" name="Line 49">
              <a:extLst>
                <a:ext uri="{FF2B5EF4-FFF2-40B4-BE49-F238E27FC236}">
                  <a16:creationId xmlns:a16="http://schemas.microsoft.com/office/drawing/2014/main" id="{3C40E369-D8B7-4398-A522-5F04AC04C9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256" y="994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92" name="Text Box 50">
              <a:extLst>
                <a:ext uri="{FF2B5EF4-FFF2-40B4-BE49-F238E27FC236}">
                  <a16:creationId xmlns:a16="http://schemas.microsoft.com/office/drawing/2014/main" id="{B6E9B583-05B2-43CF-9DF4-A4288FD17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1233"/>
              <a:ext cx="5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HLDA</a:t>
              </a:r>
            </a:p>
          </p:txBody>
        </p:sp>
        <p:sp>
          <p:nvSpPr>
            <p:cNvPr id="61493" name="Text Box 51">
              <a:extLst>
                <a:ext uri="{FF2B5EF4-FFF2-40B4-BE49-F238E27FC236}">
                  <a16:creationId xmlns:a16="http://schemas.microsoft.com/office/drawing/2014/main" id="{B80CBBA7-D2ED-41DE-8DCE-6752CB92E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440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④</a:t>
              </a:r>
            </a:p>
          </p:txBody>
        </p:sp>
      </p:grpSp>
      <p:grpSp>
        <p:nvGrpSpPr>
          <p:cNvPr id="12" name="Group 52">
            <a:extLst>
              <a:ext uri="{FF2B5EF4-FFF2-40B4-BE49-F238E27FC236}">
                <a16:creationId xmlns:a16="http://schemas.microsoft.com/office/drawing/2014/main" id="{D626E03F-767F-46FA-BA4C-64DFD1CB7D26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1577975"/>
            <a:ext cx="641350" cy="1316038"/>
            <a:chOff x="4656" y="994"/>
            <a:chExt cx="404" cy="829"/>
          </a:xfrm>
        </p:grpSpPr>
        <p:sp>
          <p:nvSpPr>
            <p:cNvPr id="61488" name="AutoShape 53">
              <a:extLst>
                <a:ext uri="{FF2B5EF4-FFF2-40B4-BE49-F238E27FC236}">
                  <a16:creationId xmlns:a16="http://schemas.microsoft.com/office/drawing/2014/main" id="{794BB070-8C41-419E-B625-F69F46513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994"/>
              <a:ext cx="144" cy="829"/>
            </a:xfrm>
            <a:prstGeom prst="upArrow">
              <a:avLst>
                <a:gd name="adj1" fmla="val 50000"/>
                <a:gd name="adj2" fmla="val 143924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89" name="Text Box 54">
              <a:extLst>
                <a:ext uri="{FF2B5EF4-FFF2-40B4-BE49-F238E27FC236}">
                  <a16:creationId xmlns:a16="http://schemas.microsoft.com/office/drawing/2014/main" id="{A34CBEE3-4193-4624-AD4E-85260A1A0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043"/>
              <a:ext cx="308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地址线</a:t>
              </a:r>
            </a:p>
          </p:txBody>
        </p:sp>
        <p:sp>
          <p:nvSpPr>
            <p:cNvPr id="61490" name="Text Box 55">
              <a:extLst>
                <a:ext uri="{FF2B5EF4-FFF2-40B4-BE49-F238E27FC236}">
                  <a16:creationId xmlns:a16="http://schemas.microsoft.com/office/drawing/2014/main" id="{5861E6EC-5B12-4F88-9343-8BDB154232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526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⑤</a:t>
              </a:r>
            </a:p>
          </p:txBody>
        </p:sp>
      </p:grpSp>
      <p:grpSp>
        <p:nvGrpSpPr>
          <p:cNvPr id="13" name="Group 56">
            <a:extLst>
              <a:ext uri="{FF2B5EF4-FFF2-40B4-BE49-F238E27FC236}">
                <a16:creationId xmlns:a16="http://schemas.microsoft.com/office/drawing/2014/main" id="{3E6549F2-0B24-41B3-9531-FA1FCA8A45A7}"/>
              </a:ext>
            </a:extLst>
          </p:cNvPr>
          <p:cNvGrpSpPr>
            <a:grpSpLocks/>
          </p:cNvGrpSpPr>
          <p:nvPr/>
        </p:nvGrpSpPr>
        <p:grpSpPr bwMode="auto">
          <a:xfrm>
            <a:off x="2776538" y="5232400"/>
            <a:ext cx="3524250" cy="1503363"/>
            <a:chOff x="1716" y="3296"/>
            <a:chExt cx="2220" cy="947"/>
          </a:xfrm>
        </p:grpSpPr>
        <p:sp>
          <p:nvSpPr>
            <p:cNvPr id="61485" name="Freeform 57">
              <a:extLst>
                <a:ext uri="{FF2B5EF4-FFF2-40B4-BE49-F238E27FC236}">
                  <a16:creationId xmlns:a16="http://schemas.microsoft.com/office/drawing/2014/main" id="{F725EC27-AA75-4D47-B2C4-1E962FE90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3296"/>
              <a:ext cx="1680" cy="874"/>
            </a:xfrm>
            <a:custGeom>
              <a:avLst/>
              <a:gdLst>
                <a:gd name="T0" fmla="*/ 0 w 1680"/>
                <a:gd name="T1" fmla="*/ 0 h 960"/>
                <a:gd name="T2" fmla="*/ 0 w 1680"/>
                <a:gd name="T3" fmla="*/ 874 h 960"/>
                <a:gd name="T4" fmla="*/ 1680 w 1680"/>
                <a:gd name="T5" fmla="*/ 874 h 960"/>
                <a:gd name="T6" fmla="*/ 0 60000 65536"/>
                <a:gd name="T7" fmla="*/ 0 60000 65536"/>
                <a:gd name="T8" fmla="*/ 0 60000 65536"/>
                <a:gd name="T9" fmla="*/ 0 w 1680"/>
                <a:gd name="T10" fmla="*/ 0 h 960"/>
                <a:gd name="T11" fmla="*/ 1680 w 1680"/>
                <a:gd name="T12" fmla="*/ 960 h 9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0" h="960">
                  <a:moveTo>
                    <a:pt x="0" y="0"/>
                  </a:moveTo>
                  <a:lnTo>
                    <a:pt x="0" y="960"/>
                  </a:lnTo>
                  <a:lnTo>
                    <a:pt x="1680" y="960"/>
                  </a:lnTo>
                </a:path>
              </a:pathLst>
            </a:cu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86" name="Text Box 58">
              <a:extLst>
                <a:ext uri="{FF2B5EF4-FFF2-40B4-BE49-F238E27FC236}">
                  <a16:creationId xmlns:a16="http://schemas.microsoft.com/office/drawing/2014/main" id="{2C616BE2-7D87-40A2-96B8-9DA439B95C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6" y="3993"/>
              <a:ext cx="5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DACK</a:t>
              </a:r>
            </a:p>
          </p:txBody>
        </p:sp>
        <p:sp>
          <p:nvSpPr>
            <p:cNvPr id="61487" name="Text Box 59">
              <a:extLst>
                <a:ext uri="{FF2B5EF4-FFF2-40B4-BE49-F238E27FC236}">
                  <a16:creationId xmlns:a16="http://schemas.microsoft.com/office/drawing/2014/main" id="{ABF44439-F128-439B-B77F-CF82F6AB3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3792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⑥</a:t>
              </a:r>
            </a:p>
          </p:txBody>
        </p:sp>
      </p:grpSp>
      <p:grpSp>
        <p:nvGrpSpPr>
          <p:cNvPr id="14" name="Group 60">
            <a:extLst>
              <a:ext uri="{FF2B5EF4-FFF2-40B4-BE49-F238E27FC236}">
                <a16:creationId xmlns:a16="http://schemas.microsoft.com/office/drawing/2014/main" id="{7AC8387F-3E40-4ACF-B144-A98DDA9173F2}"/>
              </a:ext>
            </a:extLst>
          </p:cNvPr>
          <p:cNvGrpSpPr>
            <a:grpSpLocks/>
          </p:cNvGrpSpPr>
          <p:nvPr/>
        </p:nvGrpSpPr>
        <p:grpSpPr bwMode="auto">
          <a:xfrm>
            <a:off x="6494463" y="5715000"/>
            <a:ext cx="744537" cy="609600"/>
            <a:chOff x="4032" y="3600"/>
            <a:chExt cx="469" cy="384"/>
          </a:xfrm>
        </p:grpSpPr>
        <p:sp>
          <p:nvSpPr>
            <p:cNvPr id="61483" name="Text Box 61">
              <a:extLst>
                <a:ext uri="{FF2B5EF4-FFF2-40B4-BE49-F238E27FC236}">
                  <a16:creationId xmlns:a16="http://schemas.microsoft.com/office/drawing/2014/main" id="{3BEF3F14-C783-4E97-B0AE-E1B5EB494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734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①</a:t>
              </a:r>
            </a:p>
          </p:txBody>
        </p:sp>
        <p:sp>
          <p:nvSpPr>
            <p:cNvPr id="61484" name="AutoShape 62">
              <a:extLst>
                <a:ext uri="{FF2B5EF4-FFF2-40B4-BE49-F238E27FC236}">
                  <a16:creationId xmlns:a16="http://schemas.microsoft.com/office/drawing/2014/main" id="{EB5BC06A-6B50-47AA-BD04-AF944B4A55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032" y="3600"/>
              <a:ext cx="192" cy="384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folHlink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" name="Group 63">
            <a:extLst>
              <a:ext uri="{FF2B5EF4-FFF2-40B4-BE49-F238E27FC236}">
                <a16:creationId xmlns:a16="http://schemas.microsoft.com/office/drawing/2014/main" id="{C7D226FC-1E74-40DC-8783-0E594CF54B22}"/>
              </a:ext>
            </a:extLst>
          </p:cNvPr>
          <p:cNvGrpSpPr>
            <a:grpSpLocks/>
          </p:cNvGrpSpPr>
          <p:nvPr/>
        </p:nvGrpSpPr>
        <p:grpSpPr bwMode="auto">
          <a:xfrm>
            <a:off x="6799263" y="1676400"/>
            <a:ext cx="515937" cy="1143000"/>
            <a:chOff x="4283" y="1056"/>
            <a:chExt cx="325" cy="720"/>
          </a:xfrm>
        </p:grpSpPr>
        <p:sp>
          <p:nvSpPr>
            <p:cNvPr id="61481" name="Text Box 64">
              <a:extLst>
                <a:ext uri="{FF2B5EF4-FFF2-40B4-BE49-F238E27FC236}">
                  <a16:creationId xmlns:a16="http://schemas.microsoft.com/office/drawing/2014/main" id="{1F78E4B9-C6A1-4113-9194-72547103EF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0" y="1056"/>
              <a:ext cx="308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数据线</a:t>
              </a:r>
            </a:p>
          </p:txBody>
        </p:sp>
        <p:sp>
          <p:nvSpPr>
            <p:cNvPr id="61482" name="Text Box 65">
              <a:extLst>
                <a:ext uri="{FF2B5EF4-FFF2-40B4-BE49-F238E27FC236}">
                  <a16:creationId xmlns:a16="http://schemas.microsoft.com/office/drawing/2014/main" id="{A48467C6-B0E0-4E3A-A4DE-076B3AC6E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3" y="1526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⑦</a:t>
              </a:r>
            </a:p>
          </p:txBody>
        </p:sp>
      </p:grpSp>
      <p:grpSp>
        <p:nvGrpSpPr>
          <p:cNvPr id="16" name="Group 66">
            <a:extLst>
              <a:ext uri="{FF2B5EF4-FFF2-40B4-BE49-F238E27FC236}">
                <a16:creationId xmlns:a16="http://schemas.microsoft.com/office/drawing/2014/main" id="{2DB331DB-4C4E-46AC-9FC5-807A1DDDCE12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290888"/>
            <a:ext cx="2171700" cy="479425"/>
            <a:chOff x="3648" y="2073"/>
            <a:chExt cx="1368" cy="302"/>
          </a:xfrm>
        </p:grpSpPr>
        <p:sp>
          <p:nvSpPr>
            <p:cNvPr id="61479" name="Freeform 67">
              <a:extLst>
                <a:ext uri="{FF2B5EF4-FFF2-40B4-BE49-F238E27FC236}">
                  <a16:creationId xmlns:a16="http://schemas.microsoft.com/office/drawing/2014/main" id="{7F3F5A35-0359-4AA6-8BAF-81E5087BB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283"/>
              <a:ext cx="1056" cy="92"/>
            </a:xfrm>
            <a:custGeom>
              <a:avLst/>
              <a:gdLst>
                <a:gd name="T0" fmla="*/ 1056 w 1104"/>
                <a:gd name="T1" fmla="*/ 92 h 96"/>
                <a:gd name="T2" fmla="*/ 1056 w 1104"/>
                <a:gd name="T3" fmla="*/ 0 h 96"/>
                <a:gd name="T4" fmla="*/ 0 w 1104"/>
                <a:gd name="T5" fmla="*/ 0 h 96"/>
                <a:gd name="T6" fmla="*/ 0 60000 65536"/>
                <a:gd name="T7" fmla="*/ 0 60000 65536"/>
                <a:gd name="T8" fmla="*/ 0 60000 65536"/>
                <a:gd name="T9" fmla="*/ 0 w 1104"/>
                <a:gd name="T10" fmla="*/ 0 h 96"/>
                <a:gd name="T11" fmla="*/ 1104 w 1104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96">
                  <a:moveTo>
                    <a:pt x="1104" y="96"/>
                  </a:moveTo>
                  <a:lnTo>
                    <a:pt x="1104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80" name="Text Box 68">
              <a:extLst>
                <a:ext uri="{FF2B5EF4-FFF2-40B4-BE49-F238E27FC236}">
                  <a16:creationId xmlns:a16="http://schemas.microsoft.com/office/drawing/2014/main" id="{22BC708F-6655-40E2-A87F-D2E5D7EE4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073"/>
              <a:ext cx="6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溢出信号</a:t>
              </a:r>
            </a:p>
          </p:txBody>
        </p:sp>
      </p:grpSp>
      <p:grpSp>
        <p:nvGrpSpPr>
          <p:cNvPr id="17" name="Group 69">
            <a:extLst>
              <a:ext uri="{FF2B5EF4-FFF2-40B4-BE49-F238E27FC236}">
                <a16:creationId xmlns:a16="http://schemas.microsoft.com/office/drawing/2014/main" id="{B6A83D03-5717-4A94-8944-B8313B2633B6}"/>
              </a:ext>
            </a:extLst>
          </p:cNvPr>
          <p:cNvGrpSpPr>
            <a:grpSpLocks/>
          </p:cNvGrpSpPr>
          <p:nvPr/>
        </p:nvGrpSpPr>
        <p:grpSpPr bwMode="auto">
          <a:xfrm>
            <a:off x="5356225" y="1577975"/>
            <a:ext cx="542925" cy="1316038"/>
            <a:chOff x="3374" y="994"/>
            <a:chExt cx="342" cy="829"/>
          </a:xfrm>
        </p:grpSpPr>
        <p:sp>
          <p:nvSpPr>
            <p:cNvPr id="61477" name="Line 70">
              <a:extLst>
                <a:ext uri="{FF2B5EF4-FFF2-40B4-BE49-F238E27FC236}">
                  <a16:creationId xmlns:a16="http://schemas.microsoft.com/office/drawing/2014/main" id="{6958F427-E2A6-4E64-8683-4B6A938870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4" y="994"/>
              <a:ext cx="0" cy="8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78" name="Text Box 71">
              <a:extLst>
                <a:ext uri="{FF2B5EF4-FFF2-40B4-BE49-F238E27FC236}">
                  <a16:creationId xmlns:a16="http://schemas.microsoft.com/office/drawing/2014/main" id="{CD475C16-2C2F-43E4-A8EF-031A576BD6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040"/>
              <a:ext cx="308" cy="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中断请求</a:t>
              </a:r>
            </a:p>
          </p:txBody>
        </p:sp>
      </p:grpSp>
      <p:grpSp>
        <p:nvGrpSpPr>
          <p:cNvPr id="18" name="Group 72">
            <a:extLst>
              <a:ext uri="{FF2B5EF4-FFF2-40B4-BE49-F238E27FC236}">
                <a16:creationId xmlns:a16="http://schemas.microsoft.com/office/drawing/2014/main" id="{7A471E6A-3D73-472F-8985-2DD7945ACE1D}"/>
              </a:ext>
            </a:extLst>
          </p:cNvPr>
          <p:cNvGrpSpPr>
            <a:grpSpLocks/>
          </p:cNvGrpSpPr>
          <p:nvPr/>
        </p:nvGrpSpPr>
        <p:grpSpPr bwMode="auto">
          <a:xfrm>
            <a:off x="7154863" y="2894013"/>
            <a:ext cx="1285875" cy="1314450"/>
            <a:chOff x="4507" y="1823"/>
            <a:chExt cx="810" cy="828"/>
          </a:xfrm>
        </p:grpSpPr>
        <p:grpSp>
          <p:nvGrpSpPr>
            <p:cNvPr id="61469" name="Group 73">
              <a:extLst>
                <a:ext uri="{FF2B5EF4-FFF2-40B4-BE49-F238E27FC236}">
                  <a16:creationId xmlns:a16="http://schemas.microsoft.com/office/drawing/2014/main" id="{EF72C08E-0048-446C-A016-4441FDDB5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7" y="1823"/>
              <a:ext cx="432" cy="276"/>
              <a:chOff x="4507" y="1823"/>
              <a:chExt cx="432" cy="276"/>
            </a:xfrm>
          </p:grpSpPr>
          <p:sp>
            <p:nvSpPr>
              <p:cNvPr id="61475" name="Rectangle 74">
                <a:extLst>
                  <a:ext uri="{FF2B5EF4-FFF2-40B4-BE49-F238E27FC236}">
                    <a16:creationId xmlns:a16="http://schemas.microsoft.com/office/drawing/2014/main" id="{84179951-8685-4DB0-AC93-4FBDD3910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1823"/>
                <a:ext cx="432" cy="27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476" name="Text Box 75">
                <a:extLst>
                  <a:ext uri="{FF2B5EF4-FFF2-40B4-BE49-F238E27FC236}">
                    <a16:creationId xmlns:a16="http://schemas.microsoft.com/office/drawing/2014/main" id="{3C640ECE-6B44-4795-B39D-82FB27AAF0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5" y="1824"/>
                <a:ext cx="348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AR</a:t>
                </a:r>
              </a:p>
            </p:txBody>
          </p:sp>
        </p:grpSp>
        <p:grpSp>
          <p:nvGrpSpPr>
            <p:cNvPr id="61470" name="Group 76">
              <a:extLst>
                <a:ext uri="{FF2B5EF4-FFF2-40B4-BE49-F238E27FC236}">
                  <a16:creationId xmlns:a16="http://schemas.microsoft.com/office/drawing/2014/main" id="{85B957B8-D422-42DD-A83A-62295EF312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7" y="2375"/>
              <a:ext cx="437" cy="276"/>
              <a:chOff x="4507" y="2375"/>
              <a:chExt cx="437" cy="276"/>
            </a:xfrm>
          </p:grpSpPr>
          <p:sp>
            <p:nvSpPr>
              <p:cNvPr id="61473" name="Rectangle 77">
                <a:extLst>
                  <a:ext uri="{FF2B5EF4-FFF2-40B4-BE49-F238E27FC236}">
                    <a16:creationId xmlns:a16="http://schemas.microsoft.com/office/drawing/2014/main" id="{CEBC37EA-0205-4514-83C7-6FAA805F3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375"/>
                <a:ext cx="432" cy="27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474" name="Text Box 78">
                <a:extLst>
                  <a:ext uri="{FF2B5EF4-FFF2-40B4-BE49-F238E27FC236}">
                    <a16:creationId xmlns:a16="http://schemas.microsoft.com/office/drawing/2014/main" id="{E1135A5F-D48F-4E0B-BCB3-E93620199F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2" y="2390"/>
                <a:ext cx="39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969696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WC</a:t>
                </a:r>
              </a:p>
            </p:txBody>
          </p:sp>
        </p:grpSp>
        <p:sp>
          <p:nvSpPr>
            <p:cNvPr id="61471" name="Text Box 79">
              <a:extLst>
                <a:ext uri="{FF2B5EF4-FFF2-40B4-BE49-F238E27FC236}">
                  <a16:creationId xmlns:a16="http://schemas.microsoft.com/office/drawing/2014/main" id="{C842E19A-0D15-4A57-97CF-10C425D8D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" y="1877"/>
              <a:ext cx="287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+1</a:t>
              </a:r>
            </a:p>
          </p:txBody>
        </p:sp>
        <p:sp>
          <p:nvSpPr>
            <p:cNvPr id="61472" name="Text Box 80">
              <a:extLst>
                <a:ext uri="{FF2B5EF4-FFF2-40B4-BE49-F238E27FC236}">
                  <a16:creationId xmlns:a16="http://schemas.microsoft.com/office/drawing/2014/main" id="{8A4F24E8-0BF1-4A9E-A9D7-F428C180A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" y="2385"/>
              <a:ext cx="2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+1</a:t>
              </a:r>
            </a:p>
          </p:txBody>
        </p:sp>
      </p:grpSp>
      <p:sp>
        <p:nvSpPr>
          <p:cNvPr id="61454" name="Text Box 81">
            <a:extLst>
              <a:ext uri="{FF2B5EF4-FFF2-40B4-BE49-F238E27FC236}">
                <a16:creationId xmlns:a16="http://schemas.microsoft.com/office/drawing/2014/main" id="{F1E2CBFE-E851-432F-B51A-4A204E42E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571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(4)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数据传送过程（输出）</a:t>
            </a:r>
          </a:p>
        </p:txBody>
      </p:sp>
      <p:grpSp>
        <p:nvGrpSpPr>
          <p:cNvPr id="21" name="Group 83">
            <a:extLst>
              <a:ext uri="{FF2B5EF4-FFF2-40B4-BE49-F238E27FC236}">
                <a16:creationId xmlns:a16="http://schemas.microsoft.com/office/drawing/2014/main" id="{1446A334-4765-4ACE-8EA3-FA43B5B8B8AB}"/>
              </a:ext>
            </a:extLst>
          </p:cNvPr>
          <p:cNvGrpSpPr>
            <a:grpSpLocks/>
          </p:cNvGrpSpPr>
          <p:nvPr/>
        </p:nvGrpSpPr>
        <p:grpSpPr bwMode="auto">
          <a:xfrm>
            <a:off x="6315075" y="5257800"/>
            <a:ext cx="685800" cy="438150"/>
            <a:chOff x="3931" y="3312"/>
            <a:chExt cx="432" cy="276"/>
          </a:xfrm>
        </p:grpSpPr>
        <p:sp>
          <p:nvSpPr>
            <p:cNvPr id="61467" name="Rectangle 84">
              <a:extLst>
                <a:ext uri="{FF2B5EF4-FFF2-40B4-BE49-F238E27FC236}">
                  <a16:creationId xmlns:a16="http://schemas.microsoft.com/office/drawing/2014/main" id="{29C5936D-76A9-4707-B949-EAEE17937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" y="3312"/>
              <a:ext cx="432" cy="27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68" name="Text Box 85">
              <a:extLst>
                <a:ext uri="{FF2B5EF4-FFF2-40B4-BE49-F238E27FC236}">
                  <a16:creationId xmlns:a16="http://schemas.microsoft.com/office/drawing/2014/main" id="{B87C5796-0369-4975-A714-730DE31C4C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7" y="3318"/>
              <a:ext cx="339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BR</a:t>
              </a:r>
            </a:p>
          </p:txBody>
        </p:sp>
      </p:grpSp>
      <p:grpSp>
        <p:nvGrpSpPr>
          <p:cNvPr id="22" name="Group 86">
            <a:extLst>
              <a:ext uri="{FF2B5EF4-FFF2-40B4-BE49-F238E27FC236}">
                <a16:creationId xmlns:a16="http://schemas.microsoft.com/office/drawing/2014/main" id="{005E53D8-1B8A-4CD2-94AB-FE73EC8B59DD}"/>
              </a:ext>
            </a:extLst>
          </p:cNvPr>
          <p:cNvGrpSpPr>
            <a:grpSpLocks/>
          </p:cNvGrpSpPr>
          <p:nvPr/>
        </p:nvGrpSpPr>
        <p:grpSpPr bwMode="auto">
          <a:xfrm>
            <a:off x="6315075" y="5257800"/>
            <a:ext cx="685800" cy="438150"/>
            <a:chOff x="3933" y="3312"/>
            <a:chExt cx="432" cy="276"/>
          </a:xfrm>
        </p:grpSpPr>
        <p:sp>
          <p:nvSpPr>
            <p:cNvPr id="61465" name="Rectangle 87">
              <a:extLst>
                <a:ext uri="{FF2B5EF4-FFF2-40B4-BE49-F238E27FC236}">
                  <a16:creationId xmlns:a16="http://schemas.microsoft.com/office/drawing/2014/main" id="{535B3BEA-26E2-4377-8FF3-E73BE6C1D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3" y="3312"/>
              <a:ext cx="432" cy="276"/>
            </a:xfrm>
            <a:prstGeom prst="rect">
              <a:avLst/>
            </a:prstGeom>
            <a:solidFill>
              <a:srgbClr val="996633"/>
            </a:solidFill>
            <a:ln w="38100">
              <a:solidFill>
                <a:srgbClr val="9966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66" name="Text Box 88">
              <a:extLst>
                <a:ext uri="{FF2B5EF4-FFF2-40B4-BE49-F238E27FC236}">
                  <a16:creationId xmlns:a16="http://schemas.microsoft.com/office/drawing/2014/main" id="{DE4EFD7E-B8FF-4FAE-808B-A571786419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" y="3318"/>
              <a:ext cx="339" cy="250"/>
            </a:xfrm>
            <a:prstGeom prst="rect">
              <a:avLst/>
            </a:prstGeom>
            <a:solidFill>
              <a:srgbClr val="99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BR</a:t>
              </a:r>
            </a:p>
          </p:txBody>
        </p:sp>
      </p:grpSp>
      <p:grpSp>
        <p:nvGrpSpPr>
          <p:cNvPr id="23" name="Group 89">
            <a:extLst>
              <a:ext uri="{FF2B5EF4-FFF2-40B4-BE49-F238E27FC236}">
                <a16:creationId xmlns:a16="http://schemas.microsoft.com/office/drawing/2014/main" id="{6405CD16-E78D-49CC-8D5C-3355FAFC1F1A}"/>
              </a:ext>
            </a:extLst>
          </p:cNvPr>
          <p:cNvGrpSpPr>
            <a:grpSpLocks/>
          </p:cNvGrpSpPr>
          <p:nvPr/>
        </p:nvGrpSpPr>
        <p:grpSpPr bwMode="auto">
          <a:xfrm>
            <a:off x="6315075" y="5257800"/>
            <a:ext cx="685800" cy="438150"/>
            <a:chOff x="3933" y="3312"/>
            <a:chExt cx="432" cy="276"/>
          </a:xfrm>
        </p:grpSpPr>
        <p:sp>
          <p:nvSpPr>
            <p:cNvPr id="61463" name="Rectangle 90">
              <a:extLst>
                <a:ext uri="{FF2B5EF4-FFF2-40B4-BE49-F238E27FC236}">
                  <a16:creationId xmlns:a16="http://schemas.microsoft.com/office/drawing/2014/main" id="{4409C564-D906-4381-A3ED-B317C27A4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3" y="3312"/>
              <a:ext cx="432" cy="276"/>
            </a:xfrm>
            <a:prstGeom prst="rect">
              <a:avLst/>
            </a:prstGeom>
            <a:solidFill>
              <a:srgbClr val="996633"/>
            </a:solidFill>
            <a:ln w="38100">
              <a:solidFill>
                <a:srgbClr val="9966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64" name="Text Box 91">
              <a:extLst>
                <a:ext uri="{FF2B5EF4-FFF2-40B4-BE49-F238E27FC236}">
                  <a16:creationId xmlns:a16="http://schemas.microsoft.com/office/drawing/2014/main" id="{FF220C5F-76B8-44A4-864C-61F8865C79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" y="3318"/>
              <a:ext cx="339" cy="250"/>
            </a:xfrm>
            <a:prstGeom prst="rect">
              <a:avLst/>
            </a:prstGeom>
            <a:solidFill>
              <a:srgbClr val="99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BR</a:t>
              </a:r>
            </a:p>
          </p:txBody>
        </p:sp>
      </p:grpSp>
      <p:grpSp>
        <p:nvGrpSpPr>
          <p:cNvPr id="24" name="Group 92">
            <a:extLst>
              <a:ext uri="{FF2B5EF4-FFF2-40B4-BE49-F238E27FC236}">
                <a16:creationId xmlns:a16="http://schemas.microsoft.com/office/drawing/2014/main" id="{B74DCAA9-2316-4D56-AB78-736824218F42}"/>
              </a:ext>
            </a:extLst>
          </p:cNvPr>
          <p:cNvGrpSpPr>
            <a:grpSpLocks/>
          </p:cNvGrpSpPr>
          <p:nvPr/>
        </p:nvGrpSpPr>
        <p:grpSpPr bwMode="auto">
          <a:xfrm>
            <a:off x="6315075" y="5257800"/>
            <a:ext cx="685800" cy="438150"/>
            <a:chOff x="3936" y="3312"/>
            <a:chExt cx="432" cy="276"/>
          </a:xfrm>
        </p:grpSpPr>
        <p:sp>
          <p:nvSpPr>
            <p:cNvPr id="61461" name="Rectangle 93">
              <a:extLst>
                <a:ext uri="{FF2B5EF4-FFF2-40B4-BE49-F238E27FC236}">
                  <a16:creationId xmlns:a16="http://schemas.microsoft.com/office/drawing/2014/main" id="{EB7F2EFF-CFD7-444D-9699-53A1B4D00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312"/>
              <a:ext cx="432" cy="276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62" name="Text Box 94">
              <a:extLst>
                <a:ext uri="{FF2B5EF4-FFF2-40B4-BE49-F238E27FC236}">
                  <a16:creationId xmlns:a16="http://schemas.microsoft.com/office/drawing/2014/main" id="{D3BFB8B5-28E3-4305-8F73-629A0B124E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1" y="3318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>
            <a:extLst>
              <a:ext uri="{FF2B5EF4-FFF2-40B4-BE49-F238E27FC236}">
                <a16:creationId xmlns:a16="http://schemas.microsoft.com/office/drawing/2014/main" id="{287C3C77-B699-4C63-994C-42A4DEFA5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425450"/>
            <a:ext cx="29876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(5)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后处理</a:t>
            </a:r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A5ABB036-6E66-46CF-99E7-47A526115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6075" y="1263650"/>
            <a:ext cx="4451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校验送入主存的数是否正确</a:t>
            </a:r>
          </a:p>
        </p:txBody>
      </p:sp>
      <p:sp>
        <p:nvSpPr>
          <p:cNvPr id="50180" name="Text Box 4">
            <a:extLst>
              <a:ext uri="{FF2B5EF4-FFF2-40B4-BE49-F238E27FC236}">
                <a16:creationId xmlns:a16="http://schemas.microsoft.com/office/drawing/2014/main" id="{5691AEAF-498F-49DF-B066-A15A6FC35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6075" y="2116138"/>
            <a:ext cx="2900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是否继续用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DMA</a:t>
            </a:r>
          </a:p>
        </p:txBody>
      </p:sp>
      <p:sp>
        <p:nvSpPr>
          <p:cNvPr id="50181" name="Text Box 5">
            <a:extLst>
              <a:ext uri="{FF2B5EF4-FFF2-40B4-BE49-F238E27FC236}">
                <a16:creationId xmlns:a16="http://schemas.microsoft.com/office/drawing/2014/main" id="{08EA69CF-9C02-4F14-9603-2B5406A60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6075" y="2970213"/>
            <a:ext cx="6584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测试传送过程是否正确，错则转诊断程序</a:t>
            </a:r>
          </a:p>
        </p:txBody>
      </p:sp>
      <p:sp>
        <p:nvSpPr>
          <p:cNvPr id="50182" name="Text Box 6">
            <a:extLst>
              <a:ext uri="{FF2B5EF4-FFF2-40B4-BE49-F238E27FC236}">
                <a16:creationId xmlns:a16="http://schemas.microsoft.com/office/drawing/2014/main" id="{0A8A53A6-2795-443A-BC6D-FB3B1EC4A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6075" y="3824288"/>
            <a:ext cx="4860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由中断服务程序完成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autoUpdateAnimBg="0"/>
      <p:bldP spid="50180" grpId="0" autoUpdateAnimBg="0"/>
      <p:bldP spid="50181" grpId="0" autoUpdateAnimBg="0"/>
      <p:bldP spid="50182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Text Box 3">
            <a:extLst>
              <a:ext uri="{FF2B5EF4-FFF2-40B4-BE49-F238E27FC236}">
                <a16:creationId xmlns:a16="http://schemas.microsoft.com/office/drawing/2014/main" id="{215D36A1-ABB9-48F9-A819-D7ECE1C7B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1133475"/>
            <a:ext cx="1611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选择型</a:t>
            </a:r>
          </a:p>
        </p:txBody>
      </p:sp>
      <p:sp>
        <p:nvSpPr>
          <p:cNvPr id="54276" name="Text Box 4">
            <a:extLst>
              <a:ext uri="{FF2B5EF4-FFF2-40B4-BE49-F238E27FC236}">
                <a16:creationId xmlns:a16="http://schemas.microsoft.com/office/drawing/2014/main" id="{C4F3224D-903C-4781-B1D0-5ADC242A8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0725" y="1133475"/>
            <a:ext cx="55784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物理上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连接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多个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设备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逻辑上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只允许连接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一个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设备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21F72D48-BF04-4309-8E6A-F96AD2C9B6C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828800"/>
            <a:ext cx="7315200" cy="4724400"/>
            <a:chOff x="672" y="1152"/>
            <a:chExt cx="4608" cy="2976"/>
          </a:xfrm>
        </p:grpSpPr>
        <p:sp>
          <p:nvSpPr>
            <p:cNvPr id="66568" name="Text Box 6">
              <a:extLst>
                <a:ext uri="{FF2B5EF4-FFF2-40B4-BE49-F238E27FC236}">
                  <a16:creationId xmlns:a16="http://schemas.microsoft.com/office/drawing/2014/main" id="{D9432F74-74D0-431B-A438-B7F7F43AC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400"/>
              <a:ext cx="12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设备地址寄存器</a:t>
              </a:r>
            </a:p>
          </p:txBody>
        </p:sp>
        <p:sp>
          <p:nvSpPr>
            <p:cNvPr id="66569" name="Rectangle 7">
              <a:extLst>
                <a:ext uri="{FF2B5EF4-FFF2-40B4-BE49-F238E27FC236}">
                  <a16:creationId xmlns:a16="http://schemas.microsoft.com/office/drawing/2014/main" id="{F0BD3D3E-D126-475C-AC36-E027F1811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" y="3408"/>
              <a:ext cx="120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70" name="Text Box 8">
              <a:extLst>
                <a:ext uri="{FF2B5EF4-FFF2-40B4-BE49-F238E27FC236}">
                  <a16:creationId xmlns:a16="http://schemas.microsoft.com/office/drawing/2014/main" id="{8E187121-7482-4BB7-B6FD-EE3E4501E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062"/>
              <a:ext cx="12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控制状态寄存器</a:t>
              </a:r>
            </a:p>
          </p:txBody>
        </p:sp>
        <p:sp>
          <p:nvSpPr>
            <p:cNvPr id="66571" name="Rectangle 9">
              <a:extLst>
                <a:ext uri="{FF2B5EF4-FFF2-40B4-BE49-F238E27FC236}">
                  <a16:creationId xmlns:a16="http://schemas.microsoft.com/office/drawing/2014/main" id="{C445701C-A42C-4B82-8B32-8C5F3FC7C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" y="3072"/>
              <a:ext cx="120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72" name="Text Box 10">
              <a:extLst>
                <a:ext uri="{FF2B5EF4-FFF2-40B4-BE49-F238E27FC236}">
                  <a16:creationId xmlns:a16="http://schemas.microsoft.com/office/drawing/2014/main" id="{FA5471FF-18B3-4224-BEB3-87CAE26D6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724"/>
              <a:ext cx="12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数据缓冲寄存器</a:t>
              </a:r>
            </a:p>
          </p:txBody>
        </p:sp>
        <p:sp>
          <p:nvSpPr>
            <p:cNvPr id="66573" name="Rectangle 11">
              <a:extLst>
                <a:ext uri="{FF2B5EF4-FFF2-40B4-BE49-F238E27FC236}">
                  <a16:creationId xmlns:a16="http://schemas.microsoft.com/office/drawing/2014/main" id="{F8267EE5-917E-4137-ABB3-00F833FB6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" y="2737"/>
              <a:ext cx="120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74" name="Text Box 12">
              <a:extLst>
                <a:ext uri="{FF2B5EF4-FFF2-40B4-BE49-F238E27FC236}">
                  <a16:creationId xmlns:a16="http://schemas.microsoft.com/office/drawing/2014/main" id="{5AFD49C6-6655-4418-81CF-3A9D4CAB5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391"/>
              <a:ext cx="12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主存地址寄存器</a:t>
              </a:r>
            </a:p>
          </p:txBody>
        </p:sp>
        <p:sp>
          <p:nvSpPr>
            <p:cNvPr id="66575" name="Rectangle 13">
              <a:extLst>
                <a:ext uri="{FF2B5EF4-FFF2-40B4-BE49-F238E27FC236}">
                  <a16:creationId xmlns:a16="http://schemas.microsoft.com/office/drawing/2014/main" id="{EAE0E940-6F4E-49BD-A293-5771956B9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" y="2401"/>
              <a:ext cx="120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76" name="Text Box 14">
              <a:extLst>
                <a:ext uri="{FF2B5EF4-FFF2-40B4-BE49-F238E27FC236}">
                  <a16:creationId xmlns:a16="http://schemas.microsoft.com/office/drawing/2014/main" id="{92FEB555-7523-4AF9-B315-22310453F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4" y="3736"/>
              <a:ext cx="7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时序电路</a:t>
              </a:r>
            </a:p>
          </p:txBody>
        </p:sp>
        <p:sp>
          <p:nvSpPr>
            <p:cNvPr id="66577" name="Rectangle 15">
              <a:extLst>
                <a:ext uri="{FF2B5EF4-FFF2-40B4-BE49-F238E27FC236}">
                  <a16:creationId xmlns:a16="http://schemas.microsoft.com/office/drawing/2014/main" id="{D0A574D1-82B4-408A-BAE2-D20C9440D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744"/>
              <a:ext cx="120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78" name="Text Box 16">
              <a:extLst>
                <a:ext uri="{FF2B5EF4-FFF2-40B4-BE49-F238E27FC236}">
                  <a16:creationId xmlns:a16="http://schemas.microsoft.com/office/drawing/2014/main" id="{5635D9A1-2147-4EA0-8BA4-ECC63A231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2" y="2044"/>
              <a:ext cx="7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字计数器</a:t>
              </a:r>
            </a:p>
          </p:txBody>
        </p:sp>
        <p:sp>
          <p:nvSpPr>
            <p:cNvPr id="66579" name="Rectangle 17">
              <a:extLst>
                <a:ext uri="{FF2B5EF4-FFF2-40B4-BE49-F238E27FC236}">
                  <a16:creationId xmlns:a16="http://schemas.microsoft.com/office/drawing/2014/main" id="{B103B742-55FC-48C4-97E1-3639DF607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066"/>
              <a:ext cx="1200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80" name="Text Box 18">
              <a:extLst>
                <a:ext uri="{FF2B5EF4-FFF2-40B4-BE49-F238E27FC236}">
                  <a16:creationId xmlns:a16="http://schemas.microsoft.com/office/drawing/2014/main" id="{73927655-56FC-40D1-B183-96EB0A5C89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9" y="1824"/>
              <a:ext cx="8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DMA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接口</a:t>
              </a:r>
            </a:p>
          </p:txBody>
        </p:sp>
        <p:sp>
          <p:nvSpPr>
            <p:cNvPr id="66581" name="Rectangle 19">
              <a:extLst>
                <a:ext uri="{FF2B5EF4-FFF2-40B4-BE49-F238E27FC236}">
                  <a16:creationId xmlns:a16="http://schemas.microsoft.com/office/drawing/2014/main" id="{DBEF8C48-01EB-44AF-A7C6-FF729F3AF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1488" cy="2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82" name="Rectangle 20">
              <a:extLst>
                <a:ext uri="{FF2B5EF4-FFF2-40B4-BE49-F238E27FC236}">
                  <a16:creationId xmlns:a16="http://schemas.microsoft.com/office/drawing/2014/main" id="{1371A78E-E136-42CD-AF61-D7724B45F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776"/>
              <a:ext cx="384" cy="2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83" name="Text Box 21">
              <a:extLst>
                <a:ext uri="{FF2B5EF4-FFF2-40B4-BE49-F238E27FC236}">
                  <a16:creationId xmlns:a16="http://schemas.microsoft.com/office/drawing/2014/main" id="{D44C43CB-F30B-4850-96F5-33789756D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6" y="2649"/>
              <a:ext cx="4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CPU</a:t>
              </a:r>
            </a:p>
          </p:txBody>
        </p:sp>
        <p:sp>
          <p:nvSpPr>
            <p:cNvPr id="66584" name="Rectangle 22">
              <a:extLst>
                <a:ext uri="{FF2B5EF4-FFF2-40B4-BE49-F238E27FC236}">
                  <a16:creationId xmlns:a16="http://schemas.microsoft.com/office/drawing/2014/main" id="{C21FABE9-8249-419C-80B3-F0E0B98E0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776"/>
              <a:ext cx="384" cy="2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85" name="Text Box 23">
              <a:extLst>
                <a:ext uri="{FF2B5EF4-FFF2-40B4-BE49-F238E27FC236}">
                  <a16:creationId xmlns:a16="http://schemas.microsoft.com/office/drawing/2014/main" id="{B832A7F0-B290-4E10-9931-A88523F85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2638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主存</a:t>
              </a:r>
            </a:p>
          </p:txBody>
        </p:sp>
        <p:sp>
          <p:nvSpPr>
            <p:cNvPr id="66586" name="AutoShape 24">
              <a:extLst>
                <a:ext uri="{FF2B5EF4-FFF2-40B4-BE49-F238E27FC236}">
                  <a16:creationId xmlns:a16="http://schemas.microsoft.com/office/drawing/2014/main" id="{79E7604D-D87C-416D-995C-7EAA55171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392"/>
              <a:ext cx="4608" cy="192"/>
            </a:xfrm>
            <a:prstGeom prst="leftRightArrow">
              <a:avLst>
                <a:gd name="adj1" fmla="val 50000"/>
                <a:gd name="adj2" fmla="val 74556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87" name="AutoShape 25">
              <a:extLst>
                <a:ext uri="{FF2B5EF4-FFF2-40B4-BE49-F238E27FC236}">
                  <a16:creationId xmlns:a16="http://schemas.microsoft.com/office/drawing/2014/main" id="{8A5B5A2F-6D04-4269-9966-3F2AF5C36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536"/>
              <a:ext cx="144" cy="240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88" name="AutoShape 26">
              <a:extLst>
                <a:ext uri="{FF2B5EF4-FFF2-40B4-BE49-F238E27FC236}">
                  <a16:creationId xmlns:a16="http://schemas.microsoft.com/office/drawing/2014/main" id="{280596A5-4B63-4282-83CF-05CFD0CCB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536"/>
              <a:ext cx="144" cy="240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89" name="AutoShape 27">
              <a:extLst>
                <a:ext uri="{FF2B5EF4-FFF2-40B4-BE49-F238E27FC236}">
                  <a16:creationId xmlns:a16="http://schemas.microsoft.com/office/drawing/2014/main" id="{C4CE0F6A-D7F6-4669-AD69-4745AAC24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536"/>
              <a:ext cx="144" cy="240"/>
            </a:xfrm>
            <a:prstGeom prst="upDownArrow">
              <a:avLst>
                <a:gd name="adj1" fmla="val 50000"/>
                <a:gd name="adj2" fmla="val 33333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90" name="Text Box 28">
              <a:extLst>
                <a:ext uri="{FF2B5EF4-FFF2-40B4-BE49-F238E27FC236}">
                  <a16:creationId xmlns:a16="http://schemas.microsoft.com/office/drawing/2014/main" id="{9F1841FC-4879-44B4-B6E8-3D4943DB0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1" y="1947"/>
              <a:ext cx="5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设备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66591" name="Rectangle 29">
              <a:extLst>
                <a:ext uri="{FF2B5EF4-FFF2-40B4-BE49-F238E27FC236}">
                  <a16:creationId xmlns:a16="http://schemas.microsoft.com/office/drawing/2014/main" id="{FFFC46F2-B710-48CE-9767-66EB01377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1" y="1949"/>
              <a:ext cx="52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92" name="Text Box 30">
              <a:extLst>
                <a:ext uri="{FF2B5EF4-FFF2-40B4-BE49-F238E27FC236}">
                  <a16:creationId xmlns:a16="http://schemas.microsoft.com/office/drawing/2014/main" id="{B43E9595-B6AB-41C2-8006-AE87D5F2B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" y="2452"/>
              <a:ext cx="5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设备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66593" name="Rectangle 31">
              <a:extLst>
                <a:ext uri="{FF2B5EF4-FFF2-40B4-BE49-F238E27FC236}">
                  <a16:creationId xmlns:a16="http://schemas.microsoft.com/office/drawing/2014/main" id="{9E28B931-199C-4F17-809F-36E8AAD8F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1" y="2458"/>
              <a:ext cx="52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94" name="Text Box 32">
              <a:extLst>
                <a:ext uri="{FF2B5EF4-FFF2-40B4-BE49-F238E27FC236}">
                  <a16:creationId xmlns:a16="http://schemas.microsoft.com/office/drawing/2014/main" id="{09283E25-35A7-4045-8B58-FB9B9F2CA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" y="3627"/>
              <a:ext cx="5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设备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sp>
          <p:nvSpPr>
            <p:cNvPr id="66595" name="Rectangle 33">
              <a:extLst>
                <a:ext uri="{FF2B5EF4-FFF2-40B4-BE49-F238E27FC236}">
                  <a16:creationId xmlns:a16="http://schemas.microsoft.com/office/drawing/2014/main" id="{A69A94CA-09B9-43F9-90E1-E62C5FFF9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1" y="3629"/>
              <a:ext cx="528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96" name="AutoShape 34">
              <a:extLst>
                <a:ext uri="{FF2B5EF4-FFF2-40B4-BE49-F238E27FC236}">
                  <a16:creationId xmlns:a16="http://schemas.microsoft.com/office/drawing/2014/main" id="{E6A2A97E-0480-4EE3-85D3-137A8B435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584"/>
              <a:ext cx="144" cy="2544"/>
            </a:xfrm>
            <a:prstGeom prst="upDownArrow">
              <a:avLst>
                <a:gd name="adj1" fmla="val 50000"/>
                <a:gd name="adj2" fmla="val 141824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97" name="AutoShape 35">
              <a:extLst>
                <a:ext uri="{FF2B5EF4-FFF2-40B4-BE49-F238E27FC236}">
                  <a16:creationId xmlns:a16="http://schemas.microsoft.com/office/drawing/2014/main" id="{E3831305-B8B8-414B-B767-F5010C7C6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968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98" name="AutoShape 36">
              <a:extLst>
                <a:ext uri="{FF2B5EF4-FFF2-40B4-BE49-F238E27FC236}">
                  <a16:creationId xmlns:a16="http://schemas.microsoft.com/office/drawing/2014/main" id="{98241A34-EE44-49F5-A78C-D807B3B4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496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99" name="AutoShape 37">
              <a:extLst>
                <a:ext uri="{FF2B5EF4-FFF2-40B4-BE49-F238E27FC236}">
                  <a16:creationId xmlns:a16="http://schemas.microsoft.com/office/drawing/2014/main" id="{CD005BE9-E9A1-4B5D-B63F-E12EBA89B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3648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600" name="AutoShape 38">
              <a:extLst>
                <a:ext uri="{FF2B5EF4-FFF2-40B4-BE49-F238E27FC236}">
                  <a16:creationId xmlns:a16="http://schemas.microsoft.com/office/drawing/2014/main" id="{3AA3AE31-BF65-496F-AB68-B3B7A77AF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640"/>
              <a:ext cx="528" cy="192"/>
            </a:xfrm>
            <a:prstGeom prst="leftArrow">
              <a:avLst>
                <a:gd name="adj1" fmla="val 50000"/>
                <a:gd name="adj2" fmla="val 68750"/>
              </a:avLst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601" name="Text Box 39">
              <a:extLst>
                <a:ext uri="{FF2B5EF4-FFF2-40B4-BE49-F238E27FC236}">
                  <a16:creationId xmlns:a16="http://schemas.microsoft.com/office/drawing/2014/main" id="{B7F76526-2A33-4619-B922-B7B12BA4D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3" y="2878"/>
              <a:ext cx="277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选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择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线</a:t>
              </a:r>
            </a:p>
          </p:txBody>
        </p:sp>
        <p:sp>
          <p:nvSpPr>
            <p:cNvPr id="66602" name="Text Box 40">
              <a:extLst>
                <a:ext uri="{FF2B5EF4-FFF2-40B4-BE49-F238E27FC236}">
                  <a16:creationId xmlns:a16="http://schemas.microsoft.com/office/drawing/2014/main" id="{9CCE1BFA-C48E-41E3-B95C-E685CF603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3" y="2992"/>
              <a:ext cx="30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 . .</a:t>
              </a:r>
            </a:p>
          </p:txBody>
        </p:sp>
        <p:sp>
          <p:nvSpPr>
            <p:cNvPr id="66603" name="Text Box 41">
              <a:extLst>
                <a:ext uri="{FF2B5EF4-FFF2-40B4-BE49-F238E27FC236}">
                  <a16:creationId xmlns:a16="http://schemas.microsoft.com/office/drawing/2014/main" id="{C5E3597F-6EB0-4640-AF83-479A33BDA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152"/>
              <a:ext cx="7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系统总线</a:t>
              </a:r>
            </a:p>
          </p:txBody>
        </p:sp>
      </p:grpSp>
      <p:sp>
        <p:nvSpPr>
          <p:cNvPr id="44" name="标题 3">
            <a:extLst>
              <a:ext uri="{FF2B5EF4-FFF2-40B4-BE49-F238E27FC236}">
                <a16:creationId xmlns:a16="http://schemas.microsoft.com/office/drawing/2014/main" id="{D8DA23B0-9723-4B17-9B24-69BB39DC810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452320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4.DMA</a:t>
            </a:r>
            <a:r>
              <a:rPr kumimoji="0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控制器的类型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宋体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autoUpdateAnimBg="0"/>
      <p:bldP spid="54276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>
            <a:extLst>
              <a:ext uri="{FF2B5EF4-FFF2-40B4-BE49-F238E27FC236}">
                <a16:creationId xmlns:a16="http://schemas.microsoft.com/office/drawing/2014/main" id="{02C3192C-2438-4E3A-8D44-52E797FF1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1000"/>
            <a:ext cx="20177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多路型</a:t>
            </a:r>
          </a:p>
        </p:txBody>
      </p:sp>
      <p:sp>
        <p:nvSpPr>
          <p:cNvPr id="55299" name="Text Box 3">
            <a:extLst>
              <a:ext uri="{FF2B5EF4-FFF2-40B4-BE49-F238E27FC236}">
                <a16:creationId xmlns:a16="http://schemas.microsoft.com/office/drawing/2014/main" id="{3D15E13F-2F8E-4F59-9E5E-E15AA1E40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79425"/>
            <a:ext cx="6629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物理上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连接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多个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设备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逻辑上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允许连接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多个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设备同时工作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6F38F50D-0A12-4DDC-A36E-EC8480B7B82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038600"/>
            <a:ext cx="8382000" cy="2362200"/>
            <a:chOff x="432" y="2544"/>
            <a:chExt cx="5280" cy="1488"/>
          </a:xfrm>
        </p:grpSpPr>
        <p:grpSp>
          <p:nvGrpSpPr>
            <p:cNvPr id="67643" name="Group 6">
              <a:extLst>
                <a:ext uri="{FF2B5EF4-FFF2-40B4-BE49-F238E27FC236}">
                  <a16:creationId xmlns:a16="http://schemas.microsoft.com/office/drawing/2014/main" id="{CD7748C0-AD36-457F-9649-0410A7D40A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832"/>
              <a:ext cx="4848" cy="1200"/>
              <a:chOff x="432" y="2832"/>
              <a:chExt cx="4848" cy="1200"/>
            </a:xfrm>
          </p:grpSpPr>
          <p:grpSp>
            <p:nvGrpSpPr>
              <p:cNvPr id="67645" name="Group 7">
                <a:extLst>
                  <a:ext uri="{FF2B5EF4-FFF2-40B4-BE49-F238E27FC236}">
                    <a16:creationId xmlns:a16="http://schemas.microsoft.com/office/drawing/2014/main" id="{8B69B7A2-3133-400E-926C-EEE0BE3C09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23" y="3264"/>
                <a:ext cx="438" cy="384"/>
                <a:chOff x="2783" y="3264"/>
                <a:chExt cx="438" cy="384"/>
              </a:xfrm>
            </p:grpSpPr>
            <p:sp>
              <p:nvSpPr>
                <p:cNvPr id="67674" name="Text Box 8">
                  <a:extLst>
                    <a:ext uri="{FF2B5EF4-FFF2-40B4-BE49-F238E27FC236}">
                      <a16:creationId xmlns:a16="http://schemas.microsoft.com/office/drawing/2014/main" id="{9F2C660B-BD00-41E6-83B2-A66F79E3B6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83" y="3309"/>
                  <a:ext cx="43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设备</a:t>
                  </a:r>
                </a:p>
              </p:txBody>
            </p:sp>
            <p:sp>
              <p:nvSpPr>
                <p:cNvPr id="67675" name="Rectangle 9">
                  <a:extLst>
                    <a:ext uri="{FF2B5EF4-FFF2-40B4-BE49-F238E27FC236}">
                      <a16:creationId xmlns:a16="http://schemas.microsoft.com/office/drawing/2014/main" id="{B62B6822-DAFA-4597-B5AC-6334C15140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4" y="3264"/>
                  <a:ext cx="432" cy="38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67646" name="Group 10">
                <a:extLst>
                  <a:ext uri="{FF2B5EF4-FFF2-40B4-BE49-F238E27FC236}">
                    <a16:creationId xmlns:a16="http://schemas.microsoft.com/office/drawing/2014/main" id="{D9E3844E-FBD3-421E-9D01-34DFFCA12D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4" y="3264"/>
                <a:ext cx="438" cy="383"/>
                <a:chOff x="3454" y="3264"/>
                <a:chExt cx="438" cy="383"/>
              </a:xfrm>
            </p:grpSpPr>
            <p:sp>
              <p:nvSpPr>
                <p:cNvPr id="67672" name="Text Box 11">
                  <a:extLst>
                    <a:ext uri="{FF2B5EF4-FFF2-40B4-BE49-F238E27FC236}">
                      <a16:creationId xmlns:a16="http://schemas.microsoft.com/office/drawing/2014/main" id="{250912C9-22CB-4277-96AE-2347397FF1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54" y="3309"/>
                  <a:ext cx="43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设备</a:t>
                  </a:r>
                </a:p>
              </p:txBody>
            </p:sp>
            <p:sp>
              <p:nvSpPr>
                <p:cNvPr id="67673" name="Rectangle 12">
                  <a:extLst>
                    <a:ext uri="{FF2B5EF4-FFF2-40B4-BE49-F238E27FC236}">
                      <a16:creationId xmlns:a16="http://schemas.microsoft.com/office/drawing/2014/main" id="{3BE67254-1EC1-44E4-B4B1-F7910EC5C6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3264"/>
                  <a:ext cx="432" cy="38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67647" name="Group 13">
                <a:extLst>
                  <a:ext uri="{FF2B5EF4-FFF2-40B4-BE49-F238E27FC236}">
                    <a16:creationId xmlns:a16="http://schemas.microsoft.com/office/drawing/2014/main" id="{9136134B-CC19-4D45-856D-C8BBABBBA4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20" y="3264"/>
                <a:ext cx="438" cy="383"/>
                <a:chOff x="4280" y="3264"/>
                <a:chExt cx="438" cy="383"/>
              </a:xfrm>
            </p:grpSpPr>
            <p:sp>
              <p:nvSpPr>
                <p:cNvPr id="67670" name="Text Box 14">
                  <a:extLst>
                    <a:ext uri="{FF2B5EF4-FFF2-40B4-BE49-F238E27FC236}">
                      <a16:creationId xmlns:a16="http://schemas.microsoft.com/office/drawing/2014/main" id="{6442FA46-09B9-42C0-BB29-7CA2B076FD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80" y="3309"/>
                  <a:ext cx="43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设备</a:t>
                  </a:r>
                </a:p>
              </p:txBody>
            </p:sp>
            <p:sp>
              <p:nvSpPr>
                <p:cNvPr id="67671" name="Rectangle 15">
                  <a:extLst>
                    <a:ext uri="{FF2B5EF4-FFF2-40B4-BE49-F238E27FC236}">
                      <a16:creationId xmlns:a16="http://schemas.microsoft.com/office/drawing/2014/main" id="{AB356227-BE92-4CF0-900A-76FAA39F66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2" y="3264"/>
                  <a:ext cx="432" cy="38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67648" name="Group 16">
                <a:extLst>
                  <a:ext uri="{FF2B5EF4-FFF2-40B4-BE49-F238E27FC236}">
                    <a16:creationId xmlns:a16="http://schemas.microsoft.com/office/drawing/2014/main" id="{53D53A42-CCCD-4800-AE48-D6E54A3759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4" y="3264"/>
                <a:ext cx="624" cy="768"/>
                <a:chOff x="1824" y="3264"/>
                <a:chExt cx="624" cy="768"/>
              </a:xfrm>
            </p:grpSpPr>
            <p:sp>
              <p:nvSpPr>
                <p:cNvPr id="67668" name="Text Box 17">
                  <a:extLst>
                    <a:ext uri="{FF2B5EF4-FFF2-40B4-BE49-F238E27FC236}">
                      <a16:creationId xmlns:a16="http://schemas.microsoft.com/office/drawing/2014/main" id="{6B2D9D27-247B-49E1-900C-C0AABB576C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10" y="3397"/>
                  <a:ext cx="499" cy="4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DMA</a:t>
                  </a: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 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接口</a:t>
                  </a:r>
                </a:p>
              </p:txBody>
            </p:sp>
            <p:sp>
              <p:nvSpPr>
                <p:cNvPr id="67669" name="Rectangle 18">
                  <a:extLst>
                    <a:ext uri="{FF2B5EF4-FFF2-40B4-BE49-F238E27FC236}">
                      <a16:creationId xmlns:a16="http://schemas.microsoft.com/office/drawing/2014/main" id="{A520BA7C-0DE7-467E-B485-F79322AC1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3264"/>
                  <a:ext cx="624" cy="76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67649" name="Group 19">
                <a:extLst>
                  <a:ext uri="{FF2B5EF4-FFF2-40B4-BE49-F238E27FC236}">
                    <a16:creationId xmlns:a16="http://schemas.microsoft.com/office/drawing/2014/main" id="{02F5FB82-4EB4-44C7-A14F-DDEC478937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3264"/>
                <a:ext cx="480" cy="768"/>
                <a:chOff x="1056" y="3264"/>
                <a:chExt cx="480" cy="768"/>
              </a:xfrm>
            </p:grpSpPr>
            <p:sp>
              <p:nvSpPr>
                <p:cNvPr id="67666" name="Rectangle 20">
                  <a:extLst>
                    <a:ext uri="{FF2B5EF4-FFF2-40B4-BE49-F238E27FC236}">
                      <a16:creationId xmlns:a16="http://schemas.microsoft.com/office/drawing/2014/main" id="{71434A10-E5BD-40B7-9CCF-9C9F7881D9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3264"/>
                  <a:ext cx="480" cy="76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67" name="Text Box 21">
                  <a:extLst>
                    <a:ext uri="{FF2B5EF4-FFF2-40B4-BE49-F238E27FC236}">
                      <a16:creationId xmlns:a16="http://schemas.microsoft.com/office/drawing/2014/main" id="{F90F4E3F-B978-4AB0-95C4-4003273708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56" y="3504"/>
                  <a:ext cx="44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CPU</a:t>
                  </a:r>
                </a:p>
              </p:txBody>
            </p:sp>
          </p:grpSp>
          <p:grpSp>
            <p:nvGrpSpPr>
              <p:cNvPr id="67650" name="Group 22">
                <a:extLst>
                  <a:ext uri="{FF2B5EF4-FFF2-40B4-BE49-F238E27FC236}">
                    <a16:creationId xmlns:a16="http://schemas.microsoft.com/office/drawing/2014/main" id="{8A3B45A3-12A4-423E-B551-37BB9DA8E0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4" y="3264"/>
                <a:ext cx="480" cy="768"/>
                <a:chOff x="384" y="3264"/>
                <a:chExt cx="480" cy="768"/>
              </a:xfrm>
            </p:grpSpPr>
            <p:sp>
              <p:nvSpPr>
                <p:cNvPr id="67664" name="Rectangle 23">
                  <a:extLst>
                    <a:ext uri="{FF2B5EF4-FFF2-40B4-BE49-F238E27FC236}">
                      <a16:creationId xmlns:a16="http://schemas.microsoft.com/office/drawing/2014/main" id="{6702AEF7-7E72-45EF-859B-19039024D0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" y="3264"/>
                  <a:ext cx="480" cy="76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665" name="Text Box 24">
                  <a:extLst>
                    <a:ext uri="{FF2B5EF4-FFF2-40B4-BE49-F238E27FC236}">
                      <a16:creationId xmlns:a16="http://schemas.microsoft.com/office/drawing/2014/main" id="{8891B77C-7FA8-418A-80EB-9F44D202352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9" y="3504"/>
                  <a:ext cx="43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主存</a:t>
                  </a:r>
                </a:p>
              </p:txBody>
            </p:sp>
          </p:grpSp>
          <p:sp>
            <p:nvSpPr>
              <p:cNvPr id="67651" name="AutoShape 25">
                <a:extLst>
                  <a:ext uri="{FF2B5EF4-FFF2-40B4-BE49-F238E27FC236}">
                    <a16:creationId xmlns:a16="http://schemas.microsoft.com/office/drawing/2014/main" id="{7AC0E500-CF89-445C-8AE5-D072A3E26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2832"/>
                <a:ext cx="4848" cy="144"/>
              </a:xfrm>
              <a:prstGeom prst="leftRightArrow">
                <a:avLst>
                  <a:gd name="adj1" fmla="val 58333"/>
                  <a:gd name="adj2" fmla="val 161319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652" name="Text Box 26">
                <a:extLst>
                  <a:ext uri="{FF2B5EF4-FFF2-40B4-BE49-F238E27FC236}">
                    <a16:creationId xmlns:a16="http://schemas.microsoft.com/office/drawing/2014/main" id="{D6F9F4B9-E24D-49A7-898A-30F84BFF69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4" y="3296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…</a:t>
                </a:r>
              </a:p>
            </p:txBody>
          </p:sp>
          <p:sp>
            <p:nvSpPr>
              <p:cNvPr id="67653" name="AutoShape 27">
                <a:extLst>
                  <a:ext uri="{FF2B5EF4-FFF2-40B4-BE49-F238E27FC236}">
                    <a16:creationId xmlns:a16="http://schemas.microsoft.com/office/drawing/2014/main" id="{C5375027-F134-4F1A-984E-B30028E4A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928"/>
                <a:ext cx="144" cy="336"/>
              </a:xfrm>
              <a:prstGeom prst="upDownArrow">
                <a:avLst>
                  <a:gd name="adj1" fmla="val 50000"/>
                  <a:gd name="adj2" fmla="val 46667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654" name="AutoShape 28">
                <a:extLst>
                  <a:ext uri="{FF2B5EF4-FFF2-40B4-BE49-F238E27FC236}">
                    <a16:creationId xmlns:a16="http://schemas.microsoft.com/office/drawing/2014/main" id="{972CF3A7-0A57-4F2C-9859-92CD5F6B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2928"/>
                <a:ext cx="144" cy="336"/>
              </a:xfrm>
              <a:prstGeom prst="upDownArrow">
                <a:avLst>
                  <a:gd name="adj1" fmla="val 50000"/>
                  <a:gd name="adj2" fmla="val 46667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655" name="AutoShape 29">
                <a:extLst>
                  <a:ext uri="{FF2B5EF4-FFF2-40B4-BE49-F238E27FC236}">
                    <a16:creationId xmlns:a16="http://schemas.microsoft.com/office/drawing/2014/main" id="{A3072F2B-CFF4-4423-89D1-452E09D74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928"/>
                <a:ext cx="144" cy="336"/>
              </a:xfrm>
              <a:prstGeom prst="upDownArrow">
                <a:avLst>
                  <a:gd name="adj1" fmla="val 50000"/>
                  <a:gd name="adj2" fmla="val 46667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656" name="AutoShape 30">
                <a:extLst>
                  <a:ext uri="{FF2B5EF4-FFF2-40B4-BE49-F238E27FC236}">
                    <a16:creationId xmlns:a16="http://schemas.microsoft.com/office/drawing/2014/main" id="{2290C8E6-92F5-40F1-BE5C-24796EA12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928"/>
                <a:ext cx="144" cy="336"/>
              </a:xfrm>
              <a:prstGeom prst="upDownArrow">
                <a:avLst>
                  <a:gd name="adj1" fmla="val 50000"/>
                  <a:gd name="adj2" fmla="val 46667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657" name="AutoShape 31">
                <a:extLst>
                  <a:ext uri="{FF2B5EF4-FFF2-40B4-BE49-F238E27FC236}">
                    <a16:creationId xmlns:a16="http://schemas.microsoft.com/office/drawing/2014/main" id="{93FD8A62-359E-4C21-8134-A085020D5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2928"/>
                <a:ext cx="144" cy="336"/>
              </a:xfrm>
              <a:prstGeom prst="upDownArrow">
                <a:avLst>
                  <a:gd name="adj1" fmla="val 50000"/>
                  <a:gd name="adj2" fmla="val 46667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658" name="AutoShape 32">
                <a:extLst>
                  <a:ext uri="{FF2B5EF4-FFF2-40B4-BE49-F238E27FC236}">
                    <a16:creationId xmlns:a16="http://schemas.microsoft.com/office/drawing/2014/main" id="{1215AC78-38CA-4D1A-B9F9-EF27939D12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2928"/>
                <a:ext cx="144" cy="336"/>
              </a:xfrm>
              <a:prstGeom prst="upDownArrow">
                <a:avLst>
                  <a:gd name="adj1" fmla="val 50000"/>
                  <a:gd name="adj2" fmla="val 46667"/>
                </a:avLst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659" name="Line 33">
                <a:extLst>
                  <a:ext uri="{FF2B5EF4-FFF2-40B4-BE49-F238E27FC236}">
                    <a16:creationId xmlns:a16="http://schemas.microsoft.com/office/drawing/2014/main" id="{F3941084-015C-4F10-9AE6-D901A0976B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3696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660" name="Line 34">
                <a:extLst>
                  <a:ext uri="{FF2B5EF4-FFF2-40B4-BE49-F238E27FC236}">
                    <a16:creationId xmlns:a16="http://schemas.microsoft.com/office/drawing/2014/main" id="{C43EA879-8EDD-450C-9C45-FB200A84F9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776" y="3504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661" name="Freeform 35">
                <a:extLst>
                  <a:ext uri="{FF2B5EF4-FFF2-40B4-BE49-F238E27FC236}">
                    <a16:creationId xmlns:a16="http://schemas.microsoft.com/office/drawing/2014/main" id="{3F6022A7-D82C-44FB-85B3-F2F140FFE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3648"/>
                <a:ext cx="528" cy="144"/>
              </a:xfrm>
              <a:custGeom>
                <a:avLst/>
                <a:gdLst>
                  <a:gd name="T0" fmla="*/ 0 w 432"/>
                  <a:gd name="T1" fmla="*/ 144 h 96"/>
                  <a:gd name="T2" fmla="*/ 528 w 432"/>
                  <a:gd name="T3" fmla="*/ 144 h 96"/>
                  <a:gd name="T4" fmla="*/ 528 w 432"/>
                  <a:gd name="T5" fmla="*/ 0 h 96"/>
                  <a:gd name="T6" fmla="*/ 0 60000 65536"/>
                  <a:gd name="T7" fmla="*/ 0 60000 65536"/>
                  <a:gd name="T8" fmla="*/ 0 60000 65536"/>
                  <a:gd name="T9" fmla="*/ 0 w 432"/>
                  <a:gd name="T10" fmla="*/ 0 h 96"/>
                  <a:gd name="T11" fmla="*/ 432 w 432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" h="96">
                    <a:moveTo>
                      <a:pt x="0" y="96"/>
                    </a:moveTo>
                    <a:lnTo>
                      <a:pt x="432" y="96"/>
                    </a:lnTo>
                    <a:lnTo>
                      <a:pt x="432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stealth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662" name="Freeform 36">
                <a:extLst>
                  <a:ext uri="{FF2B5EF4-FFF2-40B4-BE49-F238E27FC236}">
                    <a16:creationId xmlns:a16="http://schemas.microsoft.com/office/drawing/2014/main" id="{E051225C-A444-4D2E-A856-974000F93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3648"/>
                <a:ext cx="1200" cy="240"/>
              </a:xfrm>
              <a:custGeom>
                <a:avLst/>
                <a:gdLst>
                  <a:gd name="T0" fmla="*/ 0 w 432"/>
                  <a:gd name="T1" fmla="*/ 240 h 96"/>
                  <a:gd name="T2" fmla="*/ 1200 w 432"/>
                  <a:gd name="T3" fmla="*/ 240 h 96"/>
                  <a:gd name="T4" fmla="*/ 1200 w 432"/>
                  <a:gd name="T5" fmla="*/ 0 h 96"/>
                  <a:gd name="T6" fmla="*/ 0 60000 65536"/>
                  <a:gd name="T7" fmla="*/ 0 60000 65536"/>
                  <a:gd name="T8" fmla="*/ 0 60000 65536"/>
                  <a:gd name="T9" fmla="*/ 0 w 432"/>
                  <a:gd name="T10" fmla="*/ 0 h 96"/>
                  <a:gd name="T11" fmla="*/ 432 w 432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" h="96">
                    <a:moveTo>
                      <a:pt x="0" y="96"/>
                    </a:moveTo>
                    <a:lnTo>
                      <a:pt x="432" y="96"/>
                    </a:lnTo>
                    <a:lnTo>
                      <a:pt x="432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stealth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663" name="Freeform 37">
                <a:extLst>
                  <a:ext uri="{FF2B5EF4-FFF2-40B4-BE49-F238E27FC236}">
                    <a16:creationId xmlns:a16="http://schemas.microsoft.com/office/drawing/2014/main" id="{46EBB4EE-4D31-4C7C-AF64-950A7A744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3648"/>
                <a:ext cx="2064" cy="336"/>
              </a:xfrm>
              <a:custGeom>
                <a:avLst/>
                <a:gdLst>
                  <a:gd name="T0" fmla="*/ 0 w 432"/>
                  <a:gd name="T1" fmla="*/ 336 h 96"/>
                  <a:gd name="T2" fmla="*/ 2064 w 432"/>
                  <a:gd name="T3" fmla="*/ 336 h 96"/>
                  <a:gd name="T4" fmla="*/ 2064 w 432"/>
                  <a:gd name="T5" fmla="*/ 0 h 96"/>
                  <a:gd name="T6" fmla="*/ 0 60000 65536"/>
                  <a:gd name="T7" fmla="*/ 0 60000 65536"/>
                  <a:gd name="T8" fmla="*/ 0 60000 65536"/>
                  <a:gd name="T9" fmla="*/ 0 w 432"/>
                  <a:gd name="T10" fmla="*/ 0 h 96"/>
                  <a:gd name="T11" fmla="*/ 432 w 432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" h="96">
                    <a:moveTo>
                      <a:pt x="0" y="96"/>
                    </a:moveTo>
                    <a:lnTo>
                      <a:pt x="432" y="96"/>
                    </a:lnTo>
                    <a:lnTo>
                      <a:pt x="432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stealth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7644" name="Text Box 38">
              <a:extLst>
                <a:ext uri="{FF2B5EF4-FFF2-40B4-BE49-F238E27FC236}">
                  <a16:creationId xmlns:a16="http://schemas.microsoft.com/office/drawing/2014/main" id="{1FA14126-C93B-4C28-9DE6-14CA94198B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544"/>
              <a:ext cx="14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独立请求式</a:t>
              </a:r>
            </a:p>
          </p:txBody>
        </p:sp>
      </p:grpSp>
      <p:grpSp>
        <p:nvGrpSpPr>
          <p:cNvPr id="10" name="Group 40">
            <a:extLst>
              <a:ext uri="{FF2B5EF4-FFF2-40B4-BE49-F238E27FC236}">
                <a16:creationId xmlns:a16="http://schemas.microsoft.com/office/drawing/2014/main" id="{95D6EEB0-F1B8-4E5A-B05A-849D99EEA214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524000"/>
            <a:ext cx="7696200" cy="2425700"/>
            <a:chOff x="432" y="960"/>
            <a:chExt cx="4848" cy="1528"/>
          </a:xfrm>
        </p:grpSpPr>
        <p:grpSp>
          <p:nvGrpSpPr>
            <p:cNvPr id="67592" name="Group 41">
              <a:extLst>
                <a:ext uri="{FF2B5EF4-FFF2-40B4-BE49-F238E27FC236}">
                  <a16:creationId xmlns:a16="http://schemas.microsoft.com/office/drawing/2014/main" id="{981168C6-EA33-4281-AA39-8B3B839450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960"/>
              <a:ext cx="4848" cy="1528"/>
              <a:chOff x="432" y="960"/>
              <a:chExt cx="4848" cy="1528"/>
            </a:xfrm>
          </p:grpSpPr>
          <p:grpSp>
            <p:nvGrpSpPr>
              <p:cNvPr id="67594" name="Group 42">
                <a:extLst>
                  <a:ext uri="{FF2B5EF4-FFF2-40B4-BE49-F238E27FC236}">
                    <a16:creationId xmlns:a16="http://schemas.microsoft.com/office/drawing/2014/main" id="{8358AF03-4D6F-41F0-A3CD-CA2CB18243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960"/>
                <a:ext cx="4848" cy="1528"/>
                <a:chOff x="432" y="960"/>
                <a:chExt cx="4848" cy="1528"/>
              </a:xfrm>
            </p:grpSpPr>
            <p:grpSp>
              <p:nvGrpSpPr>
                <p:cNvPr id="67596" name="Group 43">
                  <a:extLst>
                    <a:ext uri="{FF2B5EF4-FFF2-40B4-BE49-F238E27FC236}">
                      <a16:creationId xmlns:a16="http://schemas.microsoft.com/office/drawing/2014/main" id="{ADAB780B-4B84-42A2-BE7E-DF1D2C7EB4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2" y="960"/>
                  <a:ext cx="4848" cy="1488"/>
                  <a:chOff x="432" y="960"/>
                  <a:chExt cx="4848" cy="1488"/>
                </a:xfrm>
              </p:grpSpPr>
              <p:grpSp>
                <p:nvGrpSpPr>
                  <p:cNvPr id="67598" name="Group 44">
                    <a:extLst>
                      <a:ext uri="{FF2B5EF4-FFF2-40B4-BE49-F238E27FC236}">
                        <a16:creationId xmlns:a16="http://schemas.microsoft.com/office/drawing/2014/main" id="{B6B4ECC0-B4C9-4A27-AB48-3FE0851E103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2" y="1248"/>
                    <a:ext cx="4848" cy="1200"/>
                    <a:chOff x="432" y="1248"/>
                    <a:chExt cx="4848" cy="1200"/>
                  </a:xfrm>
                </p:grpSpPr>
                <p:grpSp>
                  <p:nvGrpSpPr>
                    <p:cNvPr id="67600" name="Group 45">
                      <a:extLst>
                        <a:ext uri="{FF2B5EF4-FFF2-40B4-BE49-F238E27FC236}">
                          <a16:creationId xmlns:a16="http://schemas.microsoft.com/office/drawing/2014/main" id="{C946FD4F-1D1E-4724-990F-D8B7C47D060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023" y="1680"/>
                      <a:ext cx="438" cy="480"/>
                      <a:chOff x="2783" y="1680"/>
                      <a:chExt cx="438" cy="480"/>
                    </a:xfrm>
                  </p:grpSpPr>
                  <p:sp>
                    <p:nvSpPr>
                      <p:cNvPr id="67641" name="Text Box 46">
                        <a:extLst>
                          <a:ext uri="{FF2B5EF4-FFF2-40B4-BE49-F238E27FC236}">
                            <a16:creationId xmlns:a16="http://schemas.microsoft.com/office/drawing/2014/main" id="{6C088671-1D62-4AAD-BC1A-104E0FC4670B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783" y="1766"/>
                        <a:ext cx="43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1" lang="zh-CN" altLang="en-US" sz="20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rPr>
                          <a:t>设备</a:t>
                        </a:r>
                      </a:p>
                    </p:txBody>
                  </p:sp>
                  <p:sp>
                    <p:nvSpPr>
                      <p:cNvPr id="67642" name="Rectangle 47">
                        <a:extLst>
                          <a:ext uri="{FF2B5EF4-FFF2-40B4-BE49-F238E27FC236}">
                            <a16:creationId xmlns:a16="http://schemas.microsoft.com/office/drawing/2014/main" id="{116DB272-8688-4847-9212-77D0C0A2922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84" y="1680"/>
                        <a:ext cx="432" cy="48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67601" name="Group 48">
                      <a:extLst>
                        <a:ext uri="{FF2B5EF4-FFF2-40B4-BE49-F238E27FC236}">
                          <a16:creationId xmlns:a16="http://schemas.microsoft.com/office/drawing/2014/main" id="{D268A4EC-A5A1-4CA0-999C-382BCC3F0E7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94" y="1680"/>
                      <a:ext cx="438" cy="480"/>
                      <a:chOff x="3454" y="1680"/>
                      <a:chExt cx="438" cy="480"/>
                    </a:xfrm>
                  </p:grpSpPr>
                  <p:sp>
                    <p:nvSpPr>
                      <p:cNvPr id="67639" name="Text Box 49">
                        <a:extLst>
                          <a:ext uri="{FF2B5EF4-FFF2-40B4-BE49-F238E27FC236}">
                            <a16:creationId xmlns:a16="http://schemas.microsoft.com/office/drawing/2014/main" id="{759C1388-4B21-41D5-864C-997C82E2EAC7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454" y="1766"/>
                        <a:ext cx="43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1" lang="zh-CN" altLang="en-US" sz="20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rPr>
                          <a:t>设备</a:t>
                        </a:r>
                      </a:p>
                    </p:txBody>
                  </p:sp>
                  <p:sp>
                    <p:nvSpPr>
                      <p:cNvPr id="67640" name="Rectangle 50">
                        <a:extLst>
                          <a:ext uri="{FF2B5EF4-FFF2-40B4-BE49-F238E27FC236}">
                            <a16:creationId xmlns:a16="http://schemas.microsoft.com/office/drawing/2014/main" id="{F685D973-B021-42E2-8078-40E5863F3C5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56" y="1680"/>
                        <a:ext cx="432" cy="48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67602" name="Group 51">
                      <a:extLst>
                        <a:ext uri="{FF2B5EF4-FFF2-40B4-BE49-F238E27FC236}">
                          <a16:creationId xmlns:a16="http://schemas.microsoft.com/office/drawing/2014/main" id="{E71F579A-CF9F-47EA-8403-7C42460EDF2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520" y="1680"/>
                      <a:ext cx="438" cy="480"/>
                      <a:chOff x="4280" y="1680"/>
                      <a:chExt cx="438" cy="480"/>
                    </a:xfrm>
                  </p:grpSpPr>
                  <p:sp>
                    <p:nvSpPr>
                      <p:cNvPr id="67637" name="Text Box 52">
                        <a:extLst>
                          <a:ext uri="{FF2B5EF4-FFF2-40B4-BE49-F238E27FC236}">
                            <a16:creationId xmlns:a16="http://schemas.microsoft.com/office/drawing/2014/main" id="{095C1858-6A0F-4CAF-AD0C-922255A6FC21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280" y="1766"/>
                        <a:ext cx="43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1" lang="zh-CN" altLang="en-US" sz="20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rPr>
                          <a:t>设备</a:t>
                        </a:r>
                      </a:p>
                    </p:txBody>
                  </p:sp>
                  <p:sp>
                    <p:nvSpPr>
                      <p:cNvPr id="67638" name="Rectangle 53">
                        <a:extLst>
                          <a:ext uri="{FF2B5EF4-FFF2-40B4-BE49-F238E27FC236}">
                            <a16:creationId xmlns:a16="http://schemas.microsoft.com/office/drawing/2014/main" id="{2E427BA9-B5A5-425F-9F7D-E47892CD719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282" y="1680"/>
                        <a:ext cx="432" cy="48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67603" name="Group 54">
                      <a:extLst>
                        <a:ext uri="{FF2B5EF4-FFF2-40B4-BE49-F238E27FC236}">
                          <a16:creationId xmlns:a16="http://schemas.microsoft.com/office/drawing/2014/main" id="{5D04DF8F-D97F-40AC-9F9A-10565C45A63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064" y="1680"/>
                      <a:ext cx="624" cy="768"/>
                      <a:chOff x="1824" y="1680"/>
                      <a:chExt cx="624" cy="768"/>
                    </a:xfrm>
                  </p:grpSpPr>
                  <p:sp>
                    <p:nvSpPr>
                      <p:cNvPr id="67635" name="Text Box 55">
                        <a:extLst>
                          <a:ext uri="{FF2B5EF4-FFF2-40B4-BE49-F238E27FC236}">
                            <a16:creationId xmlns:a16="http://schemas.microsoft.com/office/drawing/2014/main" id="{F03A24AA-47D7-494E-8154-069FD4714A00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910" y="1824"/>
                        <a:ext cx="499" cy="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1" lang="en-US" altLang="zh-CN" sz="20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rPr>
                          <a:t>DMA</a:t>
                        </a:r>
                      </a:p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1" lang="en-US" altLang="zh-CN" sz="20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rPr>
                          <a:t> </a:t>
                        </a:r>
                        <a:r>
                          <a:rPr kumimoji="1" lang="zh-CN" altLang="en-US" sz="20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rPr>
                          <a:t>接口</a:t>
                        </a:r>
                      </a:p>
                    </p:txBody>
                  </p:sp>
                  <p:sp>
                    <p:nvSpPr>
                      <p:cNvPr id="67636" name="Rectangle 56">
                        <a:extLst>
                          <a:ext uri="{FF2B5EF4-FFF2-40B4-BE49-F238E27FC236}">
                            <a16:creationId xmlns:a16="http://schemas.microsoft.com/office/drawing/2014/main" id="{B37596CF-E606-4716-87F8-D427DCCDB45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24" y="1680"/>
                        <a:ext cx="624" cy="76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67604" name="Group 57">
                      <a:extLst>
                        <a:ext uri="{FF2B5EF4-FFF2-40B4-BE49-F238E27FC236}">
                          <a16:creationId xmlns:a16="http://schemas.microsoft.com/office/drawing/2014/main" id="{5975DD07-A07F-415E-B8EE-DC97ECF9670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96" y="1680"/>
                      <a:ext cx="480" cy="768"/>
                      <a:chOff x="1056" y="1680"/>
                      <a:chExt cx="480" cy="768"/>
                    </a:xfrm>
                  </p:grpSpPr>
                  <p:sp>
                    <p:nvSpPr>
                      <p:cNvPr id="67633" name="Rectangle 58">
                        <a:extLst>
                          <a:ext uri="{FF2B5EF4-FFF2-40B4-BE49-F238E27FC236}">
                            <a16:creationId xmlns:a16="http://schemas.microsoft.com/office/drawing/2014/main" id="{F2674BC6-052C-4209-B00F-2AC313FC416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56" y="1680"/>
                        <a:ext cx="480" cy="76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endParaRPr>
                      </a:p>
                    </p:txBody>
                  </p:sp>
                  <p:sp>
                    <p:nvSpPr>
                      <p:cNvPr id="67634" name="Text Box 59">
                        <a:extLst>
                          <a:ext uri="{FF2B5EF4-FFF2-40B4-BE49-F238E27FC236}">
                            <a16:creationId xmlns:a16="http://schemas.microsoft.com/office/drawing/2014/main" id="{A0FB9EDF-50A7-4052-9AF6-F1D3EF87D899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056" y="1920"/>
                        <a:ext cx="446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1" lang="en-US" altLang="zh-CN" sz="20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rPr>
                          <a:t>CPU</a:t>
                        </a:r>
                      </a:p>
                    </p:txBody>
                  </p:sp>
                </p:grpSp>
                <p:grpSp>
                  <p:nvGrpSpPr>
                    <p:cNvPr id="67605" name="Group 60">
                      <a:extLst>
                        <a:ext uri="{FF2B5EF4-FFF2-40B4-BE49-F238E27FC236}">
                          <a16:creationId xmlns:a16="http://schemas.microsoft.com/office/drawing/2014/main" id="{BA806E3F-C82E-43F8-A2C7-445E3FFA973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24" y="1680"/>
                      <a:ext cx="480" cy="768"/>
                      <a:chOff x="384" y="1680"/>
                      <a:chExt cx="480" cy="768"/>
                    </a:xfrm>
                  </p:grpSpPr>
                  <p:sp>
                    <p:nvSpPr>
                      <p:cNvPr id="67631" name="Rectangle 61">
                        <a:extLst>
                          <a:ext uri="{FF2B5EF4-FFF2-40B4-BE49-F238E27FC236}">
                            <a16:creationId xmlns:a16="http://schemas.microsoft.com/office/drawing/2014/main" id="{E951AA2E-0191-499C-8F80-CCA940F2EE7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4" y="1680"/>
                        <a:ext cx="480" cy="76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endParaRPr>
                      </a:p>
                    </p:txBody>
                  </p:sp>
                  <p:sp>
                    <p:nvSpPr>
                      <p:cNvPr id="67632" name="Text Box 62">
                        <a:extLst>
                          <a:ext uri="{FF2B5EF4-FFF2-40B4-BE49-F238E27FC236}">
                            <a16:creationId xmlns:a16="http://schemas.microsoft.com/office/drawing/2014/main" id="{A44447BF-8C9A-4EC2-A387-9A3EFAE49645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19" y="1910"/>
                        <a:ext cx="438" cy="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1" lang="zh-CN" altLang="en-US" sz="20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rPr>
                          <a:t>主存</a:t>
                        </a:r>
                      </a:p>
                    </p:txBody>
                  </p:sp>
                </p:grpSp>
                <p:sp>
                  <p:nvSpPr>
                    <p:cNvPr id="67606" name="AutoShape 63">
                      <a:extLst>
                        <a:ext uri="{FF2B5EF4-FFF2-40B4-BE49-F238E27FC236}">
                          <a16:creationId xmlns:a16="http://schemas.microsoft.com/office/drawing/2014/main" id="{C5EE8402-775F-4095-A132-FB9AF9E49CA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2" y="1248"/>
                      <a:ext cx="4848" cy="144"/>
                    </a:xfrm>
                    <a:prstGeom prst="leftRightArrow">
                      <a:avLst>
                        <a:gd name="adj1" fmla="val 58333"/>
                        <a:gd name="adj2" fmla="val 161319"/>
                      </a:avLst>
                    </a:prstGeom>
                    <a:solidFill>
                      <a:schemeClr val="folHlink"/>
                    </a:solidFill>
                    <a:ln w="9525">
                      <a:solidFill>
                        <a:schemeClr val="folHlink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07" name="Text Box 64">
                      <a:extLst>
                        <a:ext uri="{FF2B5EF4-FFF2-40B4-BE49-F238E27FC236}">
                          <a16:creationId xmlns:a16="http://schemas.microsoft.com/office/drawing/2014/main" id="{507C3C09-499F-4833-A74B-96396A89239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196" y="1763"/>
                      <a:ext cx="27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…</a:t>
                      </a:r>
                    </a:p>
                  </p:txBody>
                </p:sp>
                <p:sp>
                  <p:nvSpPr>
                    <p:cNvPr id="67608" name="AutoShape 65">
                      <a:extLst>
                        <a:ext uri="{FF2B5EF4-FFF2-40B4-BE49-F238E27FC236}">
                          <a16:creationId xmlns:a16="http://schemas.microsoft.com/office/drawing/2014/main" id="{A2B2E8FD-F427-4F70-BE03-79E3FDCDA1A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6" y="1344"/>
                      <a:ext cx="144" cy="336"/>
                    </a:xfrm>
                    <a:prstGeom prst="upDownArrow">
                      <a:avLst>
                        <a:gd name="adj1" fmla="val 50000"/>
                        <a:gd name="adj2" fmla="val 46667"/>
                      </a:avLst>
                    </a:prstGeom>
                    <a:solidFill>
                      <a:schemeClr val="folHlink"/>
                    </a:solidFill>
                    <a:ln w="9525">
                      <a:solidFill>
                        <a:schemeClr val="folHlink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09" name="AutoShape 66">
                      <a:extLst>
                        <a:ext uri="{FF2B5EF4-FFF2-40B4-BE49-F238E27FC236}">
                          <a16:creationId xmlns:a16="http://schemas.microsoft.com/office/drawing/2014/main" id="{C1FCB370-08E3-4E9E-9142-B40B7514308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88" y="1344"/>
                      <a:ext cx="144" cy="336"/>
                    </a:xfrm>
                    <a:prstGeom prst="upDownArrow">
                      <a:avLst>
                        <a:gd name="adj1" fmla="val 50000"/>
                        <a:gd name="adj2" fmla="val 46667"/>
                      </a:avLst>
                    </a:prstGeom>
                    <a:solidFill>
                      <a:schemeClr val="folHlink"/>
                    </a:solidFill>
                    <a:ln w="9525">
                      <a:solidFill>
                        <a:schemeClr val="folHlink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10" name="AutoShape 67">
                      <a:extLst>
                        <a:ext uri="{FF2B5EF4-FFF2-40B4-BE49-F238E27FC236}">
                          <a16:creationId xmlns:a16="http://schemas.microsoft.com/office/drawing/2014/main" id="{69E5D889-3FEA-4760-88F1-396E2514F93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04" y="1344"/>
                      <a:ext cx="144" cy="336"/>
                    </a:xfrm>
                    <a:prstGeom prst="upDownArrow">
                      <a:avLst>
                        <a:gd name="adj1" fmla="val 50000"/>
                        <a:gd name="adj2" fmla="val 46667"/>
                      </a:avLst>
                    </a:prstGeom>
                    <a:solidFill>
                      <a:schemeClr val="folHlink"/>
                    </a:solidFill>
                    <a:ln w="9525">
                      <a:solidFill>
                        <a:schemeClr val="folHlink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11" name="AutoShape 68">
                      <a:extLst>
                        <a:ext uri="{FF2B5EF4-FFF2-40B4-BE49-F238E27FC236}">
                          <a16:creationId xmlns:a16="http://schemas.microsoft.com/office/drawing/2014/main" id="{9B86BD1F-7A80-4B06-8554-24313FD923E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68" y="1344"/>
                      <a:ext cx="144" cy="336"/>
                    </a:xfrm>
                    <a:prstGeom prst="upDownArrow">
                      <a:avLst>
                        <a:gd name="adj1" fmla="val 50000"/>
                        <a:gd name="adj2" fmla="val 46667"/>
                      </a:avLst>
                    </a:prstGeom>
                    <a:solidFill>
                      <a:schemeClr val="folHlink"/>
                    </a:solidFill>
                    <a:ln w="9525">
                      <a:solidFill>
                        <a:schemeClr val="folHlink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12" name="AutoShape 69">
                      <a:extLst>
                        <a:ext uri="{FF2B5EF4-FFF2-40B4-BE49-F238E27FC236}">
                          <a16:creationId xmlns:a16="http://schemas.microsoft.com/office/drawing/2014/main" id="{8FC97991-9E06-4D7C-994E-0385A5117CF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40" y="1344"/>
                      <a:ext cx="144" cy="336"/>
                    </a:xfrm>
                    <a:prstGeom prst="upDownArrow">
                      <a:avLst>
                        <a:gd name="adj1" fmla="val 50000"/>
                        <a:gd name="adj2" fmla="val 46667"/>
                      </a:avLst>
                    </a:prstGeom>
                    <a:solidFill>
                      <a:schemeClr val="folHlink"/>
                    </a:solidFill>
                    <a:ln w="9525">
                      <a:solidFill>
                        <a:schemeClr val="folHlink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13" name="AutoShape 70">
                      <a:extLst>
                        <a:ext uri="{FF2B5EF4-FFF2-40B4-BE49-F238E27FC236}">
                          <a16:creationId xmlns:a16="http://schemas.microsoft.com/office/drawing/2014/main" id="{F5F39532-E4F5-4386-9C4E-4214192ECD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56" y="1344"/>
                      <a:ext cx="144" cy="336"/>
                    </a:xfrm>
                    <a:prstGeom prst="upDownArrow">
                      <a:avLst>
                        <a:gd name="adj1" fmla="val 50000"/>
                        <a:gd name="adj2" fmla="val 46667"/>
                      </a:avLst>
                    </a:prstGeom>
                    <a:solidFill>
                      <a:schemeClr val="folHlink"/>
                    </a:solidFill>
                    <a:ln w="9525">
                      <a:solidFill>
                        <a:schemeClr val="folHlink"/>
                      </a:solidFill>
                      <a:miter lim="800000"/>
                      <a:headEnd/>
                      <a:tailEnd/>
                    </a:ln>
                  </p:spPr>
                  <p:txBody>
                    <a:bodyPr vert="eaVert"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14" name="Line 71">
                      <a:extLst>
                        <a:ext uri="{FF2B5EF4-FFF2-40B4-BE49-F238E27FC236}">
                          <a16:creationId xmlns:a16="http://schemas.microsoft.com/office/drawing/2014/main" id="{13D9E903-EC28-402E-82CD-AC00A2104B0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76" y="2112"/>
                      <a:ext cx="28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15" name="Line 72">
                      <a:extLst>
                        <a:ext uri="{FF2B5EF4-FFF2-40B4-BE49-F238E27FC236}">
                          <a16:creationId xmlns:a16="http://schemas.microsoft.com/office/drawing/2014/main" id="{CB014FEF-FCFC-447C-8A14-2F27383BC5B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>
                      <a:off x="1776" y="1920"/>
                      <a:ext cx="28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16" name="Freeform 73">
                      <a:extLst>
                        <a:ext uri="{FF2B5EF4-FFF2-40B4-BE49-F238E27FC236}">
                          <a16:creationId xmlns:a16="http://schemas.microsoft.com/office/drawing/2014/main" id="{97258546-6E71-46EB-B2C0-2747F0B4447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88" y="2160"/>
                      <a:ext cx="432" cy="144"/>
                    </a:xfrm>
                    <a:custGeom>
                      <a:avLst/>
                      <a:gdLst>
                        <a:gd name="T0" fmla="*/ 0 w 432"/>
                        <a:gd name="T1" fmla="*/ 144 h 96"/>
                        <a:gd name="T2" fmla="*/ 432 w 432"/>
                        <a:gd name="T3" fmla="*/ 144 h 96"/>
                        <a:gd name="T4" fmla="*/ 432 w 432"/>
                        <a:gd name="T5" fmla="*/ 0 h 96"/>
                        <a:gd name="T6" fmla="*/ 0 60000 65536"/>
                        <a:gd name="T7" fmla="*/ 0 60000 65536"/>
                        <a:gd name="T8" fmla="*/ 0 60000 65536"/>
                        <a:gd name="T9" fmla="*/ 0 w 432"/>
                        <a:gd name="T10" fmla="*/ 0 h 96"/>
                        <a:gd name="T11" fmla="*/ 432 w 432"/>
                        <a:gd name="T12" fmla="*/ 96 h 9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432" h="96">
                          <a:moveTo>
                            <a:pt x="0" y="96"/>
                          </a:moveTo>
                          <a:lnTo>
                            <a:pt x="432" y="96"/>
                          </a:lnTo>
                          <a:lnTo>
                            <a:pt x="432" y="0"/>
                          </a:ln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17" name="Freeform 74">
                      <a:extLst>
                        <a:ext uri="{FF2B5EF4-FFF2-40B4-BE49-F238E27FC236}">
                          <a16:creationId xmlns:a16="http://schemas.microsoft.com/office/drawing/2014/main" id="{9D2B9317-E1CA-483F-A834-92C74A754E5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16" y="2160"/>
                      <a:ext cx="576" cy="144"/>
                    </a:xfrm>
                    <a:custGeom>
                      <a:avLst/>
                      <a:gdLst>
                        <a:gd name="T0" fmla="*/ 0 w 576"/>
                        <a:gd name="T1" fmla="*/ 0 h 144"/>
                        <a:gd name="T2" fmla="*/ 0 w 576"/>
                        <a:gd name="T3" fmla="*/ 144 h 144"/>
                        <a:gd name="T4" fmla="*/ 576 w 576"/>
                        <a:gd name="T5" fmla="*/ 144 h 144"/>
                        <a:gd name="T6" fmla="*/ 576 w 576"/>
                        <a:gd name="T7" fmla="*/ 0 h 144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576"/>
                        <a:gd name="T13" fmla="*/ 0 h 144"/>
                        <a:gd name="T14" fmla="*/ 576 w 576"/>
                        <a:gd name="T15" fmla="*/ 144 h 144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576" h="144">
                          <a:moveTo>
                            <a:pt x="0" y="0"/>
                          </a:moveTo>
                          <a:lnTo>
                            <a:pt x="0" y="144"/>
                          </a:lnTo>
                          <a:lnTo>
                            <a:pt x="576" y="144"/>
                          </a:lnTo>
                          <a:lnTo>
                            <a:pt x="576" y="0"/>
                          </a:ln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18" name="Freeform 75">
                      <a:extLst>
                        <a:ext uri="{FF2B5EF4-FFF2-40B4-BE49-F238E27FC236}">
                          <a16:creationId xmlns:a16="http://schemas.microsoft.com/office/drawing/2014/main" id="{7DC71233-07EC-4766-BF46-547BCF37293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888" y="2160"/>
                      <a:ext cx="240" cy="144"/>
                    </a:xfrm>
                    <a:custGeom>
                      <a:avLst/>
                      <a:gdLst>
                        <a:gd name="T0" fmla="*/ 0 w 240"/>
                        <a:gd name="T1" fmla="*/ 0 h 144"/>
                        <a:gd name="T2" fmla="*/ 0 w 240"/>
                        <a:gd name="T3" fmla="*/ 144 h 144"/>
                        <a:gd name="T4" fmla="*/ 240 w 240"/>
                        <a:gd name="T5" fmla="*/ 144 h 144"/>
                        <a:gd name="T6" fmla="*/ 0 60000 65536"/>
                        <a:gd name="T7" fmla="*/ 0 60000 65536"/>
                        <a:gd name="T8" fmla="*/ 0 60000 65536"/>
                        <a:gd name="T9" fmla="*/ 0 w 240"/>
                        <a:gd name="T10" fmla="*/ 0 h 144"/>
                        <a:gd name="T11" fmla="*/ 240 w 240"/>
                        <a:gd name="T12" fmla="*/ 144 h 14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40" h="144">
                          <a:moveTo>
                            <a:pt x="0" y="0"/>
                          </a:moveTo>
                          <a:lnTo>
                            <a:pt x="0" y="144"/>
                          </a:lnTo>
                          <a:lnTo>
                            <a:pt x="240" y="144"/>
                          </a:ln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19" name="Line 76">
                      <a:extLst>
                        <a:ext uri="{FF2B5EF4-FFF2-40B4-BE49-F238E27FC236}">
                          <a16:creationId xmlns:a16="http://schemas.microsoft.com/office/drawing/2014/main" id="{DCDE940B-C4E1-4549-9709-786252A9B71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24" y="2304"/>
                      <a:ext cx="336" cy="0"/>
                    </a:xfrm>
                    <a:prstGeom prst="line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91240B29-F687-4F45-9708-019B960494DF}">
                        <a14:hiddenLine xmlns:a14="http://schemas.microsoft.com/office/drawing/2010/main" w="28575">
                          <a:solidFill>
                            <a:srgbClr val="000000"/>
                          </a:solidFill>
                          <a:prstDash val="dash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20" name="Line 77">
                      <a:extLst>
                        <a:ext uri="{FF2B5EF4-FFF2-40B4-BE49-F238E27FC236}">
                          <a16:creationId xmlns:a16="http://schemas.microsoft.com/office/drawing/2014/main" id="{5C74E26A-365E-41E2-B560-92CC0396247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608" y="2160"/>
                      <a:ext cx="0" cy="14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21" name="Freeform 78">
                      <a:extLst>
                        <a:ext uri="{FF2B5EF4-FFF2-40B4-BE49-F238E27FC236}">
                          <a16:creationId xmlns:a16="http://schemas.microsoft.com/office/drawing/2014/main" id="{13E90382-12C7-4E85-A194-A0DF5015AE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704" y="2160"/>
                      <a:ext cx="240" cy="144"/>
                    </a:xfrm>
                    <a:custGeom>
                      <a:avLst/>
                      <a:gdLst>
                        <a:gd name="T0" fmla="*/ 0 w 240"/>
                        <a:gd name="T1" fmla="*/ 0 h 144"/>
                        <a:gd name="T2" fmla="*/ 0 w 240"/>
                        <a:gd name="T3" fmla="*/ 144 h 144"/>
                        <a:gd name="T4" fmla="*/ 240 w 240"/>
                        <a:gd name="T5" fmla="*/ 144 h 144"/>
                        <a:gd name="T6" fmla="*/ 0 60000 65536"/>
                        <a:gd name="T7" fmla="*/ 0 60000 65536"/>
                        <a:gd name="T8" fmla="*/ 0 60000 65536"/>
                        <a:gd name="T9" fmla="*/ 0 w 240"/>
                        <a:gd name="T10" fmla="*/ 0 h 144"/>
                        <a:gd name="T11" fmla="*/ 240 w 240"/>
                        <a:gd name="T12" fmla="*/ 144 h 14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40" h="144">
                          <a:moveTo>
                            <a:pt x="0" y="0"/>
                          </a:moveTo>
                          <a:lnTo>
                            <a:pt x="0" y="144"/>
                          </a:lnTo>
                          <a:lnTo>
                            <a:pt x="240" y="144"/>
                          </a:lnTo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22" name="Line 79">
                      <a:extLst>
                        <a:ext uri="{FF2B5EF4-FFF2-40B4-BE49-F238E27FC236}">
                          <a16:creationId xmlns:a16="http://schemas.microsoft.com/office/drawing/2014/main" id="{54E8FBE8-2F91-48F4-8366-BF418E588DD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688" y="2400"/>
                      <a:ext cx="148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stealth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23" name="Line 80">
                      <a:extLst>
                        <a:ext uri="{FF2B5EF4-FFF2-40B4-BE49-F238E27FC236}">
                          <a16:creationId xmlns:a16="http://schemas.microsoft.com/office/drawing/2014/main" id="{93528791-D16D-4FE0-AD64-23C6B31D471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76" y="2400"/>
                      <a:ext cx="336" cy="0"/>
                    </a:xfrm>
                    <a:prstGeom prst="line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91240B29-F687-4F45-9708-019B960494DF}">
                        <a14:hiddenLine xmlns:a14="http://schemas.microsoft.com/office/drawing/2010/main" w="28575">
                          <a:solidFill>
                            <a:srgbClr val="000000"/>
                          </a:solidFill>
                          <a:prstDash val="dash"/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24" name="Line 81">
                      <a:extLst>
                        <a:ext uri="{FF2B5EF4-FFF2-40B4-BE49-F238E27FC236}">
                          <a16:creationId xmlns:a16="http://schemas.microsoft.com/office/drawing/2014/main" id="{2BF64AAE-AF6A-4246-85BC-5161578454B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67" y="2400"/>
                      <a:ext cx="549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25" name="Line 82">
                      <a:extLst>
                        <a:ext uri="{FF2B5EF4-FFF2-40B4-BE49-F238E27FC236}">
                          <a16:creationId xmlns:a16="http://schemas.microsoft.com/office/drawing/2014/main" id="{B53908D2-AD40-46C9-AF85-3C241EB02CD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2160"/>
                      <a:ext cx="0" cy="24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oval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26" name="Line 83">
                      <a:extLst>
                        <a:ext uri="{FF2B5EF4-FFF2-40B4-BE49-F238E27FC236}">
                          <a16:creationId xmlns:a16="http://schemas.microsoft.com/office/drawing/2014/main" id="{19DBFFF1-E0EB-4F76-BC43-366564949F0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32" y="2160"/>
                      <a:ext cx="0" cy="24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oval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27" name="Line 84">
                      <a:extLst>
                        <a:ext uri="{FF2B5EF4-FFF2-40B4-BE49-F238E27FC236}">
                          <a16:creationId xmlns:a16="http://schemas.microsoft.com/office/drawing/2014/main" id="{BDBC1222-F77B-4EA2-9B6F-1FA848F025E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896" y="2160"/>
                      <a:ext cx="0" cy="24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oval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28" name="Freeform 85">
                      <a:extLst>
                        <a:ext uri="{FF2B5EF4-FFF2-40B4-BE49-F238E27FC236}">
                          <a16:creationId xmlns:a16="http://schemas.microsoft.com/office/drawing/2014/main" id="{4BFEEF2F-6211-42E7-97D3-7533EC98432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20" y="2088"/>
                      <a:ext cx="96" cy="72"/>
                    </a:xfrm>
                    <a:custGeom>
                      <a:avLst/>
                      <a:gdLst>
                        <a:gd name="T0" fmla="*/ 0 w 96"/>
                        <a:gd name="T1" fmla="*/ 72 h 72"/>
                        <a:gd name="T2" fmla="*/ 18 w 96"/>
                        <a:gd name="T3" fmla="*/ 18 h 72"/>
                        <a:gd name="T4" fmla="*/ 48 w 96"/>
                        <a:gd name="T5" fmla="*/ 0 h 72"/>
                        <a:gd name="T6" fmla="*/ 81 w 96"/>
                        <a:gd name="T7" fmla="*/ 12 h 72"/>
                        <a:gd name="T8" fmla="*/ 96 w 96"/>
                        <a:gd name="T9" fmla="*/ 72 h 7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96"/>
                        <a:gd name="T16" fmla="*/ 0 h 72"/>
                        <a:gd name="T17" fmla="*/ 96 w 96"/>
                        <a:gd name="T18" fmla="*/ 72 h 7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96" h="72">
                          <a:moveTo>
                            <a:pt x="0" y="72"/>
                          </a:moveTo>
                          <a:lnTo>
                            <a:pt x="18" y="18"/>
                          </a:lnTo>
                          <a:lnTo>
                            <a:pt x="48" y="0"/>
                          </a:lnTo>
                          <a:lnTo>
                            <a:pt x="81" y="12"/>
                          </a:lnTo>
                          <a:lnTo>
                            <a:pt x="96" y="72"/>
                          </a:lnTo>
                        </a:path>
                      </a:pathLst>
                    </a:custGeom>
                    <a:noFill/>
                    <a:ln w="38100">
                      <a:solidFill>
                        <a:schemeClr val="tx1"/>
                      </a:solidFill>
                      <a:prstDash val="sysDot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29" name="Freeform 86">
                      <a:extLst>
                        <a:ext uri="{FF2B5EF4-FFF2-40B4-BE49-F238E27FC236}">
                          <a16:creationId xmlns:a16="http://schemas.microsoft.com/office/drawing/2014/main" id="{0E55762B-B161-4100-B37C-AAF94EB8A74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792" y="2088"/>
                      <a:ext cx="96" cy="72"/>
                    </a:xfrm>
                    <a:custGeom>
                      <a:avLst/>
                      <a:gdLst>
                        <a:gd name="T0" fmla="*/ 0 w 96"/>
                        <a:gd name="T1" fmla="*/ 72 h 72"/>
                        <a:gd name="T2" fmla="*/ 18 w 96"/>
                        <a:gd name="T3" fmla="*/ 18 h 72"/>
                        <a:gd name="T4" fmla="*/ 48 w 96"/>
                        <a:gd name="T5" fmla="*/ 0 h 72"/>
                        <a:gd name="T6" fmla="*/ 81 w 96"/>
                        <a:gd name="T7" fmla="*/ 12 h 72"/>
                        <a:gd name="T8" fmla="*/ 96 w 96"/>
                        <a:gd name="T9" fmla="*/ 72 h 7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96"/>
                        <a:gd name="T16" fmla="*/ 0 h 72"/>
                        <a:gd name="T17" fmla="*/ 96 w 96"/>
                        <a:gd name="T18" fmla="*/ 72 h 7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96" h="72">
                          <a:moveTo>
                            <a:pt x="0" y="72"/>
                          </a:moveTo>
                          <a:lnTo>
                            <a:pt x="18" y="18"/>
                          </a:lnTo>
                          <a:lnTo>
                            <a:pt x="48" y="0"/>
                          </a:lnTo>
                          <a:lnTo>
                            <a:pt x="81" y="12"/>
                          </a:lnTo>
                          <a:lnTo>
                            <a:pt x="96" y="72"/>
                          </a:lnTo>
                        </a:path>
                      </a:pathLst>
                    </a:custGeom>
                    <a:noFill/>
                    <a:ln w="38100">
                      <a:solidFill>
                        <a:schemeClr val="tx1"/>
                      </a:solidFill>
                      <a:prstDash val="sysDot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67630" name="Freeform 87">
                      <a:extLst>
                        <a:ext uri="{FF2B5EF4-FFF2-40B4-BE49-F238E27FC236}">
                          <a16:creationId xmlns:a16="http://schemas.microsoft.com/office/drawing/2014/main" id="{15521E11-DD5D-4089-890D-92CD7857B05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608" y="2088"/>
                      <a:ext cx="96" cy="72"/>
                    </a:xfrm>
                    <a:custGeom>
                      <a:avLst/>
                      <a:gdLst>
                        <a:gd name="T0" fmla="*/ 0 w 96"/>
                        <a:gd name="T1" fmla="*/ 72 h 72"/>
                        <a:gd name="T2" fmla="*/ 18 w 96"/>
                        <a:gd name="T3" fmla="*/ 18 h 72"/>
                        <a:gd name="T4" fmla="*/ 48 w 96"/>
                        <a:gd name="T5" fmla="*/ 0 h 72"/>
                        <a:gd name="T6" fmla="*/ 81 w 96"/>
                        <a:gd name="T7" fmla="*/ 12 h 72"/>
                        <a:gd name="T8" fmla="*/ 96 w 96"/>
                        <a:gd name="T9" fmla="*/ 72 h 7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96"/>
                        <a:gd name="T16" fmla="*/ 0 h 72"/>
                        <a:gd name="T17" fmla="*/ 96 w 96"/>
                        <a:gd name="T18" fmla="*/ 72 h 7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96" h="72">
                          <a:moveTo>
                            <a:pt x="0" y="72"/>
                          </a:moveTo>
                          <a:lnTo>
                            <a:pt x="18" y="18"/>
                          </a:lnTo>
                          <a:lnTo>
                            <a:pt x="48" y="0"/>
                          </a:lnTo>
                          <a:lnTo>
                            <a:pt x="81" y="12"/>
                          </a:lnTo>
                          <a:lnTo>
                            <a:pt x="96" y="72"/>
                          </a:lnTo>
                        </a:path>
                      </a:pathLst>
                    </a:custGeom>
                    <a:noFill/>
                    <a:ln w="38100">
                      <a:solidFill>
                        <a:schemeClr val="tx1"/>
                      </a:solidFill>
                      <a:prstDash val="sysDot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67599" name="Text Box 88">
                    <a:extLst>
                      <a:ext uri="{FF2B5EF4-FFF2-40B4-BE49-F238E27FC236}">
                        <a16:creationId xmlns:a16="http://schemas.microsoft.com/office/drawing/2014/main" id="{1C745FAF-3BDD-4875-BDBC-891FD38DAAE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72" y="960"/>
                    <a:ext cx="76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链式</a:t>
                    </a:r>
                  </a:p>
                </p:txBody>
              </p:sp>
            </p:grpSp>
            <p:sp>
              <p:nvSpPr>
                <p:cNvPr id="67597" name="Text Box 89">
                  <a:extLst>
                    <a:ext uri="{FF2B5EF4-FFF2-40B4-BE49-F238E27FC236}">
                      <a16:creationId xmlns:a16="http://schemas.microsoft.com/office/drawing/2014/main" id="{2FCB1216-B2C4-435A-B455-627F943F4C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96" y="2238"/>
                  <a:ext cx="86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…</a:t>
                  </a:r>
                  <a:endPara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7595" name="Line 90">
                <a:extLst>
                  <a:ext uri="{FF2B5EF4-FFF2-40B4-BE49-F238E27FC236}">
                    <a16:creationId xmlns:a16="http://schemas.microsoft.com/office/drawing/2014/main" id="{563829C5-998B-4752-B5B7-887C4F9D2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8" y="2296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7593" name="Text Box 91">
              <a:extLst>
                <a:ext uri="{FF2B5EF4-FFF2-40B4-BE49-F238E27FC236}">
                  <a16:creationId xmlns:a16="http://schemas.microsoft.com/office/drawing/2014/main" id="{49488143-2C44-453B-9469-704005F15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2131"/>
              <a:ext cx="8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>
            <a:extLst>
              <a:ext uri="{FF2B5EF4-FFF2-40B4-BE49-F238E27FC236}">
                <a16:creationId xmlns:a16="http://schemas.microsoft.com/office/drawing/2014/main" id="{E33EF1BF-336D-4233-A2A1-448E04B35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349250"/>
            <a:ext cx="65500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多路型 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DMA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接口的工作原理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2EF0BE4B-50F3-469D-9F34-351B17F28276}"/>
              </a:ext>
            </a:extLst>
          </p:cNvPr>
          <p:cNvGrpSpPr>
            <a:grpSpLocks/>
          </p:cNvGrpSpPr>
          <p:nvPr/>
        </p:nvGrpSpPr>
        <p:grpSpPr bwMode="auto">
          <a:xfrm>
            <a:off x="2347913" y="5322888"/>
            <a:ext cx="1892300" cy="409575"/>
            <a:chOff x="1479" y="3353"/>
            <a:chExt cx="1192" cy="258"/>
          </a:xfrm>
        </p:grpSpPr>
        <p:sp>
          <p:nvSpPr>
            <p:cNvPr id="68696" name="Freeform 4">
              <a:extLst>
                <a:ext uri="{FF2B5EF4-FFF2-40B4-BE49-F238E27FC236}">
                  <a16:creationId xmlns:a16="http://schemas.microsoft.com/office/drawing/2014/main" id="{88BEDE9B-08FC-4592-BF9B-49EF9A8A0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" y="3353"/>
              <a:ext cx="1173" cy="211"/>
            </a:xfrm>
            <a:custGeom>
              <a:avLst/>
              <a:gdLst>
                <a:gd name="T0" fmla="*/ 0 w 1173"/>
                <a:gd name="T1" fmla="*/ 205 h 211"/>
                <a:gd name="T2" fmla="*/ 927 w 1173"/>
                <a:gd name="T3" fmla="*/ 202 h 211"/>
                <a:gd name="T4" fmla="*/ 927 w 1173"/>
                <a:gd name="T5" fmla="*/ 1 h 211"/>
                <a:gd name="T6" fmla="*/ 1173 w 1173"/>
                <a:gd name="T7" fmla="*/ 0 h 211"/>
                <a:gd name="T8" fmla="*/ 1170 w 1173"/>
                <a:gd name="T9" fmla="*/ 211 h 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3"/>
                <a:gd name="T16" fmla="*/ 0 h 211"/>
                <a:gd name="T17" fmla="*/ 1173 w 1173"/>
                <a:gd name="T18" fmla="*/ 211 h 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3" h="211">
                  <a:moveTo>
                    <a:pt x="0" y="205"/>
                  </a:moveTo>
                  <a:lnTo>
                    <a:pt x="927" y="202"/>
                  </a:lnTo>
                  <a:lnTo>
                    <a:pt x="927" y="1"/>
                  </a:lnTo>
                  <a:lnTo>
                    <a:pt x="1173" y="0"/>
                  </a:lnTo>
                  <a:cubicBezTo>
                    <a:pt x="1172" y="65"/>
                    <a:pt x="1170" y="169"/>
                    <a:pt x="1170" y="211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697" name="Text Box 5">
              <a:extLst>
                <a:ext uri="{FF2B5EF4-FFF2-40B4-BE49-F238E27FC236}">
                  <a16:creationId xmlns:a16="http://schemas.microsoft.com/office/drawing/2014/main" id="{2B03C5B0-8AD7-49DC-9137-4ED22B4EEE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5" y="3361"/>
              <a:ext cx="30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T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92732074-BD71-476C-8D23-F4ADFDB4388F}"/>
              </a:ext>
            </a:extLst>
          </p:cNvPr>
          <p:cNvGrpSpPr>
            <a:grpSpLocks/>
          </p:cNvGrpSpPr>
          <p:nvPr/>
        </p:nvGrpSpPr>
        <p:grpSpPr bwMode="auto">
          <a:xfrm>
            <a:off x="4205288" y="5319713"/>
            <a:ext cx="1855787" cy="396875"/>
            <a:chOff x="2649" y="3351"/>
            <a:chExt cx="1169" cy="250"/>
          </a:xfrm>
        </p:grpSpPr>
        <p:sp>
          <p:nvSpPr>
            <p:cNvPr id="68694" name="Freeform 7">
              <a:extLst>
                <a:ext uri="{FF2B5EF4-FFF2-40B4-BE49-F238E27FC236}">
                  <a16:creationId xmlns:a16="http://schemas.microsoft.com/office/drawing/2014/main" id="{1DC6B98D-97A7-41A1-BDCA-9C519DB28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9" y="3351"/>
              <a:ext cx="1155" cy="209"/>
            </a:xfrm>
            <a:custGeom>
              <a:avLst/>
              <a:gdLst>
                <a:gd name="T0" fmla="*/ 0 w 1155"/>
                <a:gd name="T1" fmla="*/ 204 h 209"/>
                <a:gd name="T2" fmla="*/ 900 w 1155"/>
                <a:gd name="T3" fmla="*/ 204 h 209"/>
                <a:gd name="T4" fmla="*/ 906 w 1155"/>
                <a:gd name="T5" fmla="*/ 198 h 209"/>
                <a:gd name="T6" fmla="*/ 906 w 1155"/>
                <a:gd name="T7" fmla="*/ 0 h 209"/>
                <a:gd name="T8" fmla="*/ 1155 w 1155"/>
                <a:gd name="T9" fmla="*/ 0 h 209"/>
                <a:gd name="T10" fmla="*/ 1154 w 1155"/>
                <a:gd name="T11" fmla="*/ 209 h 2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55"/>
                <a:gd name="T19" fmla="*/ 0 h 209"/>
                <a:gd name="T20" fmla="*/ 1155 w 1155"/>
                <a:gd name="T21" fmla="*/ 209 h 20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55" h="209">
                  <a:moveTo>
                    <a:pt x="0" y="204"/>
                  </a:moveTo>
                  <a:lnTo>
                    <a:pt x="900" y="204"/>
                  </a:lnTo>
                  <a:lnTo>
                    <a:pt x="906" y="198"/>
                  </a:lnTo>
                  <a:lnTo>
                    <a:pt x="906" y="0"/>
                  </a:lnTo>
                  <a:lnTo>
                    <a:pt x="1155" y="0"/>
                  </a:lnTo>
                  <a:cubicBezTo>
                    <a:pt x="1155" y="0"/>
                    <a:pt x="1154" y="166"/>
                    <a:pt x="1154" y="209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695" name="Text Box 8">
              <a:extLst>
                <a:ext uri="{FF2B5EF4-FFF2-40B4-BE49-F238E27FC236}">
                  <a16:creationId xmlns:a16="http://schemas.microsoft.com/office/drawing/2014/main" id="{B2E5D3A1-E032-43C0-8293-46AF48837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351"/>
              <a:ext cx="26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D2C3E5DA-2B7A-45C5-A5F3-FCA4456FEF62}"/>
              </a:ext>
            </a:extLst>
          </p:cNvPr>
          <p:cNvGrpSpPr>
            <a:grpSpLocks/>
          </p:cNvGrpSpPr>
          <p:nvPr/>
        </p:nvGrpSpPr>
        <p:grpSpPr bwMode="auto">
          <a:xfrm>
            <a:off x="6024563" y="5327650"/>
            <a:ext cx="2357437" cy="404813"/>
            <a:chOff x="3795" y="3356"/>
            <a:chExt cx="1485" cy="255"/>
          </a:xfrm>
        </p:grpSpPr>
        <p:sp>
          <p:nvSpPr>
            <p:cNvPr id="68691" name="Freeform 10">
              <a:extLst>
                <a:ext uri="{FF2B5EF4-FFF2-40B4-BE49-F238E27FC236}">
                  <a16:creationId xmlns:a16="http://schemas.microsoft.com/office/drawing/2014/main" id="{FD443C79-1647-48A5-A79C-19D5D1039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3356"/>
              <a:ext cx="1154" cy="204"/>
            </a:xfrm>
            <a:custGeom>
              <a:avLst/>
              <a:gdLst>
                <a:gd name="T0" fmla="*/ 0 w 1154"/>
                <a:gd name="T1" fmla="*/ 199 h 204"/>
                <a:gd name="T2" fmla="*/ 915 w 1154"/>
                <a:gd name="T3" fmla="*/ 198 h 204"/>
                <a:gd name="T4" fmla="*/ 915 w 1154"/>
                <a:gd name="T5" fmla="*/ 1 h 204"/>
                <a:gd name="T6" fmla="*/ 1152 w 1154"/>
                <a:gd name="T7" fmla="*/ 0 h 204"/>
                <a:gd name="T8" fmla="*/ 1154 w 1154"/>
                <a:gd name="T9" fmla="*/ 204 h 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4"/>
                <a:gd name="T16" fmla="*/ 0 h 204"/>
                <a:gd name="T17" fmla="*/ 1154 w 1154"/>
                <a:gd name="T18" fmla="*/ 204 h 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4" h="204">
                  <a:moveTo>
                    <a:pt x="0" y="199"/>
                  </a:moveTo>
                  <a:lnTo>
                    <a:pt x="915" y="198"/>
                  </a:lnTo>
                  <a:lnTo>
                    <a:pt x="915" y="1"/>
                  </a:lnTo>
                  <a:lnTo>
                    <a:pt x="1152" y="0"/>
                  </a:lnTo>
                  <a:cubicBezTo>
                    <a:pt x="1151" y="65"/>
                    <a:pt x="1154" y="162"/>
                    <a:pt x="1154" y="20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692" name="Freeform 11">
              <a:extLst>
                <a:ext uri="{FF2B5EF4-FFF2-40B4-BE49-F238E27FC236}">
                  <a16:creationId xmlns:a16="http://schemas.microsoft.com/office/drawing/2014/main" id="{F43F6F92-CA85-4E76-BD9C-BB897AE5F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" y="3554"/>
              <a:ext cx="339" cy="1"/>
            </a:xfrm>
            <a:custGeom>
              <a:avLst/>
              <a:gdLst>
                <a:gd name="T0" fmla="*/ 0 w 339"/>
                <a:gd name="T1" fmla="*/ 1 h 1"/>
                <a:gd name="T2" fmla="*/ 339 w 339"/>
                <a:gd name="T3" fmla="*/ 0 h 1"/>
                <a:gd name="T4" fmla="*/ 0 60000 65536"/>
                <a:gd name="T5" fmla="*/ 0 60000 65536"/>
                <a:gd name="T6" fmla="*/ 0 w 339"/>
                <a:gd name="T7" fmla="*/ 0 h 1"/>
                <a:gd name="T8" fmla="*/ 339 w 339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39" h="1">
                  <a:moveTo>
                    <a:pt x="0" y="1"/>
                  </a:moveTo>
                  <a:lnTo>
                    <a:pt x="339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693" name="Text Box 12">
              <a:extLst>
                <a:ext uri="{FF2B5EF4-FFF2-40B4-BE49-F238E27FC236}">
                  <a16:creationId xmlns:a16="http://schemas.microsoft.com/office/drawing/2014/main" id="{1730F555-E8CC-48A2-808C-7BB334793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9" y="3361"/>
              <a:ext cx="30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T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</a:p>
          </p:txBody>
        </p:sp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B290354D-DC81-422C-8406-29F52BA3995D}"/>
              </a:ext>
            </a:extLst>
          </p:cNvPr>
          <p:cNvGrpSpPr>
            <a:grpSpLocks/>
          </p:cNvGrpSpPr>
          <p:nvPr/>
        </p:nvGrpSpPr>
        <p:grpSpPr bwMode="auto">
          <a:xfrm>
            <a:off x="0" y="5319713"/>
            <a:ext cx="2403475" cy="701675"/>
            <a:chOff x="0" y="3351"/>
            <a:chExt cx="1514" cy="442"/>
          </a:xfrm>
        </p:grpSpPr>
        <p:grpSp>
          <p:nvGrpSpPr>
            <p:cNvPr id="68687" name="Group 14">
              <a:extLst>
                <a:ext uri="{FF2B5EF4-FFF2-40B4-BE49-F238E27FC236}">
                  <a16:creationId xmlns:a16="http://schemas.microsoft.com/office/drawing/2014/main" id="{E45DDC1B-05CC-4EE2-9AB1-52F7694E02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" y="3351"/>
              <a:ext cx="992" cy="250"/>
              <a:chOff x="522" y="3351"/>
              <a:chExt cx="992" cy="250"/>
            </a:xfrm>
          </p:grpSpPr>
          <p:sp>
            <p:nvSpPr>
              <p:cNvPr id="68689" name="Freeform 15">
                <a:extLst>
                  <a:ext uri="{FF2B5EF4-FFF2-40B4-BE49-F238E27FC236}">
                    <a16:creationId xmlns:a16="http://schemas.microsoft.com/office/drawing/2014/main" id="{9920231C-AE56-40E1-8B5C-1C8FB4BFD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2" y="3354"/>
                <a:ext cx="964" cy="204"/>
              </a:xfrm>
              <a:custGeom>
                <a:avLst/>
                <a:gdLst>
                  <a:gd name="T0" fmla="*/ 0 w 964"/>
                  <a:gd name="T1" fmla="*/ 201 h 204"/>
                  <a:gd name="T2" fmla="*/ 729 w 964"/>
                  <a:gd name="T3" fmla="*/ 201 h 204"/>
                  <a:gd name="T4" fmla="*/ 732 w 964"/>
                  <a:gd name="T5" fmla="*/ 0 h 204"/>
                  <a:gd name="T6" fmla="*/ 963 w 964"/>
                  <a:gd name="T7" fmla="*/ 0 h 204"/>
                  <a:gd name="T8" fmla="*/ 963 w 964"/>
                  <a:gd name="T9" fmla="*/ 204 h 2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64"/>
                  <a:gd name="T16" fmla="*/ 0 h 204"/>
                  <a:gd name="T17" fmla="*/ 964 w 964"/>
                  <a:gd name="T18" fmla="*/ 204 h 2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64" h="204">
                    <a:moveTo>
                      <a:pt x="0" y="201"/>
                    </a:moveTo>
                    <a:lnTo>
                      <a:pt x="729" y="201"/>
                    </a:lnTo>
                    <a:lnTo>
                      <a:pt x="732" y="0"/>
                    </a:lnTo>
                    <a:lnTo>
                      <a:pt x="963" y="0"/>
                    </a:lnTo>
                    <a:cubicBezTo>
                      <a:pt x="962" y="65"/>
                      <a:pt x="964" y="162"/>
                      <a:pt x="963" y="204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90" name="Text Box 16">
                <a:extLst>
                  <a:ext uri="{FF2B5EF4-FFF2-40B4-BE49-F238E27FC236}">
                    <a16:creationId xmlns:a16="http://schemas.microsoft.com/office/drawing/2014/main" id="{38216FA9-FFE9-4D8D-A66A-4CAF6F5DA1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351"/>
                <a:ext cx="26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r>
                  <a:rPr kumimoji="1" lang="en-US" altLang="zh-CN" sz="20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</p:grpSp>
        <p:sp>
          <p:nvSpPr>
            <p:cNvPr id="68688" name="Text Box 17">
              <a:extLst>
                <a:ext uri="{FF2B5EF4-FFF2-40B4-BE49-F238E27FC236}">
                  <a16:creationId xmlns:a16="http://schemas.microsoft.com/office/drawing/2014/main" id="{C7313E4E-A5B6-4FF8-A03C-76BC895D7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351"/>
              <a:ext cx="59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为磁盘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服务</a:t>
              </a:r>
            </a:p>
          </p:txBody>
        </p:sp>
      </p:grpSp>
      <p:grpSp>
        <p:nvGrpSpPr>
          <p:cNvPr id="7" name="Group 18">
            <a:extLst>
              <a:ext uri="{FF2B5EF4-FFF2-40B4-BE49-F238E27FC236}">
                <a16:creationId xmlns:a16="http://schemas.microsoft.com/office/drawing/2014/main" id="{D6CDD15C-BFCF-4084-9F36-0252E945B0F0}"/>
              </a:ext>
            </a:extLst>
          </p:cNvPr>
          <p:cNvGrpSpPr>
            <a:grpSpLocks/>
          </p:cNvGrpSpPr>
          <p:nvPr/>
        </p:nvGrpSpPr>
        <p:grpSpPr bwMode="auto">
          <a:xfrm>
            <a:off x="2733675" y="6096000"/>
            <a:ext cx="2417763" cy="396875"/>
            <a:chOff x="1722" y="3840"/>
            <a:chExt cx="1523" cy="250"/>
          </a:xfrm>
        </p:grpSpPr>
        <p:sp>
          <p:nvSpPr>
            <p:cNvPr id="68685" name="Freeform 19">
              <a:extLst>
                <a:ext uri="{FF2B5EF4-FFF2-40B4-BE49-F238E27FC236}">
                  <a16:creationId xmlns:a16="http://schemas.microsoft.com/office/drawing/2014/main" id="{C7B705E4-1913-4CF7-85D3-FBD36CD2A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3850"/>
              <a:ext cx="1494" cy="194"/>
            </a:xfrm>
            <a:custGeom>
              <a:avLst/>
              <a:gdLst>
                <a:gd name="T0" fmla="*/ 0 w 1494"/>
                <a:gd name="T1" fmla="*/ 194 h 194"/>
                <a:gd name="T2" fmla="*/ 1251 w 1494"/>
                <a:gd name="T3" fmla="*/ 194 h 194"/>
                <a:gd name="T4" fmla="*/ 1254 w 1494"/>
                <a:gd name="T5" fmla="*/ 0 h 194"/>
                <a:gd name="T6" fmla="*/ 1494 w 1494"/>
                <a:gd name="T7" fmla="*/ 0 h 194"/>
                <a:gd name="T8" fmla="*/ 1494 w 1494"/>
                <a:gd name="T9" fmla="*/ 194 h 1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94"/>
                <a:gd name="T16" fmla="*/ 0 h 194"/>
                <a:gd name="T17" fmla="*/ 1494 w 1494"/>
                <a:gd name="T18" fmla="*/ 194 h 1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94" h="194">
                  <a:moveTo>
                    <a:pt x="0" y="194"/>
                  </a:moveTo>
                  <a:lnTo>
                    <a:pt x="1251" y="194"/>
                  </a:lnTo>
                  <a:lnTo>
                    <a:pt x="1254" y="0"/>
                  </a:lnTo>
                  <a:lnTo>
                    <a:pt x="1494" y="0"/>
                  </a:lnTo>
                  <a:cubicBezTo>
                    <a:pt x="1493" y="65"/>
                    <a:pt x="1494" y="154"/>
                    <a:pt x="1494" y="19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686" name="Text Box 20">
              <a:extLst>
                <a:ext uri="{FF2B5EF4-FFF2-40B4-BE49-F238E27FC236}">
                  <a16:creationId xmlns:a16="http://schemas.microsoft.com/office/drawing/2014/main" id="{2906A9A9-2244-46F3-8095-A525AC931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9" y="3840"/>
              <a:ext cx="26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</p:grpSp>
      <p:grpSp>
        <p:nvGrpSpPr>
          <p:cNvPr id="8" name="Group 21">
            <a:extLst>
              <a:ext uri="{FF2B5EF4-FFF2-40B4-BE49-F238E27FC236}">
                <a16:creationId xmlns:a16="http://schemas.microsoft.com/office/drawing/2014/main" id="{9663278E-7D81-411E-ACBD-5FA119D82BF1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6096000"/>
            <a:ext cx="3352800" cy="396875"/>
            <a:chOff x="3216" y="3840"/>
            <a:chExt cx="2112" cy="250"/>
          </a:xfrm>
        </p:grpSpPr>
        <p:grpSp>
          <p:nvGrpSpPr>
            <p:cNvPr id="68681" name="Group 22">
              <a:extLst>
                <a:ext uri="{FF2B5EF4-FFF2-40B4-BE49-F238E27FC236}">
                  <a16:creationId xmlns:a16="http://schemas.microsoft.com/office/drawing/2014/main" id="{FC1A6181-0CAC-45B5-A81E-9E5A52557D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3840"/>
              <a:ext cx="1994" cy="250"/>
              <a:chOff x="3216" y="3840"/>
              <a:chExt cx="1994" cy="250"/>
            </a:xfrm>
          </p:grpSpPr>
          <p:sp>
            <p:nvSpPr>
              <p:cNvPr id="68683" name="Freeform 23">
                <a:extLst>
                  <a:ext uri="{FF2B5EF4-FFF2-40B4-BE49-F238E27FC236}">
                    <a16:creationId xmlns:a16="http://schemas.microsoft.com/office/drawing/2014/main" id="{EBBA4BAA-63E2-40F6-B021-7F2C06D4F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3850"/>
                <a:ext cx="1968" cy="200"/>
              </a:xfrm>
              <a:custGeom>
                <a:avLst/>
                <a:gdLst>
                  <a:gd name="T0" fmla="*/ 0 w 1968"/>
                  <a:gd name="T1" fmla="*/ 197 h 200"/>
                  <a:gd name="T2" fmla="*/ 1728 w 1968"/>
                  <a:gd name="T3" fmla="*/ 197 h 200"/>
                  <a:gd name="T4" fmla="*/ 1728 w 1968"/>
                  <a:gd name="T5" fmla="*/ 0 h 200"/>
                  <a:gd name="T6" fmla="*/ 1968 w 1968"/>
                  <a:gd name="T7" fmla="*/ 0 h 200"/>
                  <a:gd name="T8" fmla="*/ 1968 w 1968"/>
                  <a:gd name="T9" fmla="*/ 200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68"/>
                  <a:gd name="T16" fmla="*/ 0 h 200"/>
                  <a:gd name="T17" fmla="*/ 1968 w 1968"/>
                  <a:gd name="T18" fmla="*/ 200 h 2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68" h="200">
                    <a:moveTo>
                      <a:pt x="0" y="197"/>
                    </a:moveTo>
                    <a:lnTo>
                      <a:pt x="1728" y="197"/>
                    </a:lnTo>
                    <a:lnTo>
                      <a:pt x="1728" y="0"/>
                    </a:lnTo>
                    <a:lnTo>
                      <a:pt x="1968" y="0"/>
                    </a:lnTo>
                    <a:cubicBezTo>
                      <a:pt x="1967" y="65"/>
                      <a:pt x="1968" y="158"/>
                      <a:pt x="1968" y="20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84" name="Text Box 24">
                <a:extLst>
                  <a:ext uri="{FF2B5EF4-FFF2-40B4-BE49-F238E27FC236}">
                    <a16:creationId xmlns:a16="http://schemas.microsoft.com/office/drawing/2014/main" id="{748C6B12-5A34-43CA-AC7B-0A104B433D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4" y="3840"/>
                <a:ext cx="26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r>
                  <a:rPr kumimoji="1" lang="en-US" altLang="zh-CN" sz="20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8</a:t>
                </a:r>
              </a:p>
            </p:txBody>
          </p:sp>
        </p:grpSp>
        <p:sp>
          <p:nvSpPr>
            <p:cNvPr id="68682" name="Line 25">
              <a:extLst>
                <a:ext uri="{FF2B5EF4-FFF2-40B4-BE49-F238E27FC236}">
                  <a16:creationId xmlns:a16="http://schemas.microsoft.com/office/drawing/2014/main" id="{C8E63374-155A-47E4-B5E7-566B0AD0AF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404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" name="Group 26">
            <a:extLst>
              <a:ext uri="{FF2B5EF4-FFF2-40B4-BE49-F238E27FC236}">
                <a16:creationId xmlns:a16="http://schemas.microsoft.com/office/drawing/2014/main" id="{6B310CEC-E70B-4F65-8086-70558F13D1BF}"/>
              </a:ext>
            </a:extLst>
          </p:cNvPr>
          <p:cNvGrpSpPr>
            <a:grpSpLocks/>
          </p:cNvGrpSpPr>
          <p:nvPr/>
        </p:nvGrpSpPr>
        <p:grpSpPr bwMode="auto">
          <a:xfrm>
            <a:off x="0" y="6080125"/>
            <a:ext cx="2784475" cy="717550"/>
            <a:chOff x="0" y="3830"/>
            <a:chExt cx="1754" cy="452"/>
          </a:xfrm>
        </p:grpSpPr>
        <p:grpSp>
          <p:nvGrpSpPr>
            <p:cNvPr id="68677" name="Group 27">
              <a:extLst>
                <a:ext uri="{FF2B5EF4-FFF2-40B4-BE49-F238E27FC236}">
                  <a16:creationId xmlns:a16="http://schemas.microsoft.com/office/drawing/2014/main" id="{52CB17FF-8E9A-4F26-91C4-D26990F091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3830"/>
              <a:ext cx="1226" cy="250"/>
              <a:chOff x="528" y="3830"/>
              <a:chExt cx="1226" cy="250"/>
            </a:xfrm>
          </p:grpSpPr>
          <p:sp>
            <p:nvSpPr>
              <p:cNvPr id="68679" name="Freeform 28">
                <a:extLst>
                  <a:ext uri="{FF2B5EF4-FFF2-40B4-BE49-F238E27FC236}">
                    <a16:creationId xmlns:a16="http://schemas.microsoft.com/office/drawing/2014/main" id="{6CC72543-6E2E-4E3D-9D47-2D93F4EF7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" y="3846"/>
                <a:ext cx="1194" cy="201"/>
              </a:xfrm>
              <a:custGeom>
                <a:avLst/>
                <a:gdLst>
                  <a:gd name="T0" fmla="*/ 0 w 1194"/>
                  <a:gd name="T1" fmla="*/ 193 h 201"/>
                  <a:gd name="T2" fmla="*/ 954 w 1194"/>
                  <a:gd name="T3" fmla="*/ 192 h 201"/>
                  <a:gd name="T4" fmla="*/ 954 w 1194"/>
                  <a:gd name="T5" fmla="*/ 0 h 201"/>
                  <a:gd name="T6" fmla="*/ 1194 w 1194"/>
                  <a:gd name="T7" fmla="*/ 0 h 201"/>
                  <a:gd name="T8" fmla="*/ 1194 w 1194"/>
                  <a:gd name="T9" fmla="*/ 201 h 2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94"/>
                  <a:gd name="T16" fmla="*/ 0 h 201"/>
                  <a:gd name="T17" fmla="*/ 1194 w 1194"/>
                  <a:gd name="T18" fmla="*/ 201 h 20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94" h="201">
                    <a:moveTo>
                      <a:pt x="0" y="193"/>
                    </a:moveTo>
                    <a:lnTo>
                      <a:pt x="954" y="192"/>
                    </a:lnTo>
                    <a:lnTo>
                      <a:pt x="954" y="0"/>
                    </a:lnTo>
                    <a:lnTo>
                      <a:pt x="1194" y="0"/>
                    </a:lnTo>
                    <a:cubicBezTo>
                      <a:pt x="1193" y="65"/>
                      <a:pt x="1194" y="159"/>
                      <a:pt x="1194" y="201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80" name="Text Box 29">
                <a:extLst>
                  <a:ext uri="{FF2B5EF4-FFF2-40B4-BE49-F238E27FC236}">
                    <a16:creationId xmlns:a16="http://schemas.microsoft.com/office/drawing/2014/main" id="{2E1BC137-4944-41D1-BF39-24F7457F87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830"/>
                <a:ext cx="26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r>
                  <a:rPr kumimoji="1" lang="en-US" altLang="zh-CN" sz="20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3</a:t>
                </a:r>
              </a:p>
            </p:txBody>
          </p:sp>
        </p:grpSp>
        <p:sp>
          <p:nvSpPr>
            <p:cNvPr id="68678" name="Text Box 30">
              <a:extLst>
                <a:ext uri="{FF2B5EF4-FFF2-40B4-BE49-F238E27FC236}">
                  <a16:creationId xmlns:a16="http://schemas.microsoft.com/office/drawing/2014/main" id="{E7E64C6C-3387-4D5F-A2EF-DC37D6825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840"/>
              <a:ext cx="59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为磁带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服务</a:t>
              </a:r>
            </a:p>
          </p:txBody>
        </p:sp>
      </p:grpSp>
      <p:grpSp>
        <p:nvGrpSpPr>
          <p:cNvPr id="12" name="Group 31">
            <a:extLst>
              <a:ext uri="{FF2B5EF4-FFF2-40B4-BE49-F238E27FC236}">
                <a16:creationId xmlns:a16="http://schemas.microsoft.com/office/drawing/2014/main" id="{0D02493C-F6E7-49AA-A488-1DD0C1D4ED17}"/>
              </a:ext>
            </a:extLst>
          </p:cNvPr>
          <p:cNvGrpSpPr>
            <a:grpSpLocks/>
          </p:cNvGrpSpPr>
          <p:nvPr/>
        </p:nvGrpSpPr>
        <p:grpSpPr bwMode="auto">
          <a:xfrm>
            <a:off x="0" y="4233863"/>
            <a:ext cx="8382000" cy="981075"/>
            <a:chOff x="0" y="2667"/>
            <a:chExt cx="5280" cy="618"/>
          </a:xfrm>
        </p:grpSpPr>
        <p:sp>
          <p:nvSpPr>
            <p:cNvPr id="68667" name="Text Box 32">
              <a:extLst>
                <a:ext uri="{FF2B5EF4-FFF2-40B4-BE49-F238E27FC236}">
                  <a16:creationId xmlns:a16="http://schemas.microsoft.com/office/drawing/2014/main" id="{01D511C7-BA7C-4B32-B720-EF3CFB56D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43"/>
              <a:ext cx="59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为打印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机服务</a:t>
              </a:r>
            </a:p>
          </p:txBody>
        </p:sp>
        <p:grpSp>
          <p:nvGrpSpPr>
            <p:cNvPr id="68668" name="Group 33">
              <a:extLst>
                <a:ext uri="{FF2B5EF4-FFF2-40B4-BE49-F238E27FC236}">
                  <a16:creationId xmlns:a16="http://schemas.microsoft.com/office/drawing/2014/main" id="{8BF12B26-7530-49FB-847F-EE9B6A295A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2667"/>
              <a:ext cx="4752" cy="464"/>
              <a:chOff x="528" y="2667"/>
              <a:chExt cx="4752" cy="464"/>
            </a:xfrm>
          </p:grpSpPr>
          <p:sp>
            <p:nvSpPr>
              <p:cNvPr id="68669" name="Freeform 34">
                <a:extLst>
                  <a:ext uri="{FF2B5EF4-FFF2-40B4-BE49-F238E27FC236}">
                    <a16:creationId xmlns:a16="http://schemas.microsoft.com/office/drawing/2014/main" id="{AD8016D8-F7F3-486A-AF68-6C701783D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" y="2891"/>
                <a:ext cx="4752" cy="192"/>
              </a:xfrm>
              <a:custGeom>
                <a:avLst/>
                <a:gdLst>
                  <a:gd name="T0" fmla="*/ 0 w 4752"/>
                  <a:gd name="T1" fmla="*/ 192 h 192"/>
                  <a:gd name="T2" fmla="*/ 432 w 4752"/>
                  <a:gd name="T3" fmla="*/ 192 h 192"/>
                  <a:gd name="T4" fmla="*/ 432 w 4752"/>
                  <a:gd name="T5" fmla="*/ 0 h 192"/>
                  <a:gd name="T6" fmla="*/ 672 w 4752"/>
                  <a:gd name="T7" fmla="*/ 0 h 192"/>
                  <a:gd name="T8" fmla="*/ 672 w 4752"/>
                  <a:gd name="T9" fmla="*/ 192 h 192"/>
                  <a:gd name="T10" fmla="*/ 4752 w 4752"/>
                  <a:gd name="T11" fmla="*/ 192 h 19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752"/>
                  <a:gd name="T19" fmla="*/ 0 h 192"/>
                  <a:gd name="T20" fmla="*/ 4752 w 4752"/>
                  <a:gd name="T21" fmla="*/ 192 h 19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752" h="192">
                    <a:moveTo>
                      <a:pt x="0" y="192"/>
                    </a:moveTo>
                    <a:lnTo>
                      <a:pt x="432" y="192"/>
                    </a:lnTo>
                    <a:lnTo>
                      <a:pt x="432" y="0"/>
                    </a:lnTo>
                    <a:lnTo>
                      <a:pt x="672" y="0"/>
                    </a:lnTo>
                    <a:lnTo>
                      <a:pt x="672" y="192"/>
                    </a:lnTo>
                    <a:lnTo>
                      <a:pt x="4752" y="192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70" name="Text Box 35">
                <a:extLst>
                  <a:ext uri="{FF2B5EF4-FFF2-40B4-BE49-F238E27FC236}">
                    <a16:creationId xmlns:a16="http://schemas.microsoft.com/office/drawing/2014/main" id="{19FFF77B-9157-4370-AF98-F6D9B04FB0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3" y="2881"/>
                <a:ext cx="26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r>
                  <a:rPr kumimoji="1" lang="en-US" altLang="zh-CN" sz="20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68671" name="Line 36">
                <a:extLst>
                  <a:ext uri="{FF2B5EF4-FFF2-40B4-BE49-F238E27FC236}">
                    <a16:creationId xmlns:a16="http://schemas.microsoft.com/office/drawing/2014/main" id="{4E4C5BCA-93AF-4958-B732-C29DAC4E9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757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72" name="Line 37">
                <a:extLst>
                  <a:ext uri="{FF2B5EF4-FFF2-40B4-BE49-F238E27FC236}">
                    <a16:creationId xmlns:a16="http://schemas.microsoft.com/office/drawing/2014/main" id="{BDA42D2A-D1F9-4FE1-819E-171B22E4E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757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73" name="Line 38">
                <a:extLst>
                  <a:ext uri="{FF2B5EF4-FFF2-40B4-BE49-F238E27FC236}">
                    <a16:creationId xmlns:a16="http://schemas.microsoft.com/office/drawing/2014/main" id="{B04886E4-2456-4FD8-B9E6-0081151A0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05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74" name="Line 39">
                <a:extLst>
                  <a:ext uri="{FF2B5EF4-FFF2-40B4-BE49-F238E27FC236}">
                    <a16:creationId xmlns:a16="http://schemas.microsoft.com/office/drawing/2014/main" id="{48DF871C-96F3-450A-986C-309B307C6A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805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75" name="Line 40">
                <a:extLst>
                  <a:ext uri="{FF2B5EF4-FFF2-40B4-BE49-F238E27FC236}">
                    <a16:creationId xmlns:a16="http://schemas.microsoft.com/office/drawing/2014/main" id="{E473CB1D-FF50-4545-A7A0-D858D5A781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200" y="2805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676" name="Text Box 41">
                <a:extLst>
                  <a:ext uri="{FF2B5EF4-FFF2-40B4-BE49-F238E27FC236}">
                    <a16:creationId xmlns:a16="http://schemas.microsoft.com/office/drawing/2014/main" id="{EAE9981A-AB20-4F04-92D1-EB767C894D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2667"/>
                <a:ext cx="44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5 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</a:t>
                </a:r>
                <a:r>
                  <a:rPr kumimoji="1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1" lang="en-US" altLang="zh-CN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 </a:t>
                </a:r>
              </a:p>
            </p:txBody>
          </p:sp>
        </p:grpSp>
      </p:grpSp>
      <p:sp>
        <p:nvSpPr>
          <p:cNvPr id="56362" name="Line 42">
            <a:extLst>
              <a:ext uri="{FF2B5EF4-FFF2-40B4-BE49-F238E27FC236}">
                <a16:creationId xmlns:a16="http://schemas.microsoft.com/office/drawing/2014/main" id="{2E6D1D30-3C8A-4147-8453-BA2AAF333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124200"/>
            <a:ext cx="0" cy="35814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63" name="Line 43">
            <a:extLst>
              <a:ext uri="{FF2B5EF4-FFF2-40B4-BE49-F238E27FC236}">
                <a16:creationId xmlns:a16="http://schemas.microsoft.com/office/drawing/2014/main" id="{18A075C1-DE53-4A2E-902B-7BE594D9C3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2209800"/>
            <a:ext cx="0" cy="449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64" name="Line 44">
            <a:extLst>
              <a:ext uri="{FF2B5EF4-FFF2-40B4-BE49-F238E27FC236}">
                <a16:creationId xmlns:a16="http://schemas.microsoft.com/office/drawing/2014/main" id="{E38D5C8A-B5B6-4B6E-8216-018224E25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2133600"/>
            <a:ext cx="0" cy="4572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65" name="Line 45">
            <a:extLst>
              <a:ext uri="{FF2B5EF4-FFF2-40B4-BE49-F238E27FC236}">
                <a16:creationId xmlns:a16="http://schemas.microsoft.com/office/drawing/2014/main" id="{E5D30F5F-1660-432C-9D95-AC504E6100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200400"/>
            <a:ext cx="0" cy="35052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66" name="Line 46">
            <a:extLst>
              <a:ext uri="{FF2B5EF4-FFF2-40B4-BE49-F238E27FC236}">
                <a16:creationId xmlns:a16="http://schemas.microsoft.com/office/drawing/2014/main" id="{B667E0B0-1FFB-4D49-A93B-A7CB50F71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3124200"/>
            <a:ext cx="0" cy="35814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67" name="Line 47">
            <a:extLst>
              <a:ext uri="{FF2B5EF4-FFF2-40B4-BE49-F238E27FC236}">
                <a16:creationId xmlns:a16="http://schemas.microsoft.com/office/drawing/2014/main" id="{D38B6B20-DB26-46F5-B533-E2855F90F2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027488"/>
            <a:ext cx="0" cy="267811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68" name="Line 48">
            <a:extLst>
              <a:ext uri="{FF2B5EF4-FFF2-40B4-BE49-F238E27FC236}">
                <a16:creationId xmlns:a16="http://schemas.microsoft.com/office/drawing/2014/main" id="{27C6D6CA-5EB2-48E5-8705-7B6DC5AAE4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5334000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69" name="Line 49">
            <a:extLst>
              <a:ext uri="{FF2B5EF4-FFF2-40B4-BE49-F238E27FC236}">
                <a16:creationId xmlns:a16="http://schemas.microsoft.com/office/drawing/2014/main" id="{F16B3AF0-1DC9-4AAD-AF67-AB254D203B6B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5418138"/>
            <a:ext cx="0" cy="12588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4" name="Group 51">
            <a:extLst>
              <a:ext uri="{FF2B5EF4-FFF2-40B4-BE49-F238E27FC236}">
                <a16:creationId xmlns:a16="http://schemas.microsoft.com/office/drawing/2014/main" id="{A0C0E168-ECAF-403A-8FDA-7C1FCBAFD0E7}"/>
              </a:ext>
            </a:extLst>
          </p:cNvPr>
          <p:cNvGrpSpPr>
            <a:grpSpLocks/>
          </p:cNvGrpSpPr>
          <p:nvPr/>
        </p:nvGrpSpPr>
        <p:grpSpPr bwMode="auto">
          <a:xfrm>
            <a:off x="-36513" y="3340100"/>
            <a:ext cx="8672513" cy="866775"/>
            <a:chOff x="-23" y="2104"/>
            <a:chExt cx="5463" cy="546"/>
          </a:xfrm>
        </p:grpSpPr>
        <p:grpSp>
          <p:nvGrpSpPr>
            <p:cNvPr id="68660" name="Group 52">
              <a:extLst>
                <a:ext uri="{FF2B5EF4-FFF2-40B4-BE49-F238E27FC236}">
                  <a16:creationId xmlns:a16="http://schemas.microsoft.com/office/drawing/2014/main" id="{0F1040C4-601A-47BE-A5F4-02FA20F2CA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3" y="2104"/>
              <a:ext cx="5303" cy="538"/>
              <a:chOff x="-23" y="2144"/>
              <a:chExt cx="5303" cy="538"/>
            </a:xfrm>
          </p:grpSpPr>
          <p:grpSp>
            <p:nvGrpSpPr>
              <p:cNvPr id="68662" name="Group 53">
                <a:extLst>
                  <a:ext uri="{FF2B5EF4-FFF2-40B4-BE49-F238E27FC236}">
                    <a16:creationId xmlns:a16="http://schemas.microsoft.com/office/drawing/2014/main" id="{601DF193-01D6-43D2-BA37-6A293DA8F9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2144"/>
                <a:ext cx="4752" cy="442"/>
                <a:chOff x="528" y="2144"/>
                <a:chExt cx="4752" cy="442"/>
              </a:xfrm>
            </p:grpSpPr>
            <p:sp>
              <p:nvSpPr>
                <p:cNvPr id="68664" name="Line 54">
                  <a:extLst>
                    <a:ext uri="{FF2B5EF4-FFF2-40B4-BE49-F238E27FC236}">
                      <a16:creationId xmlns:a16="http://schemas.microsoft.com/office/drawing/2014/main" id="{28F051B6-A391-401E-AA38-DCE3A0D356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586"/>
                  <a:ext cx="475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665" name="Line 55">
                  <a:extLst>
                    <a:ext uri="{FF2B5EF4-FFF2-40B4-BE49-F238E27FC236}">
                      <a16:creationId xmlns:a16="http://schemas.microsoft.com/office/drawing/2014/main" id="{ECCC477D-D525-421B-AB8A-E7E79FF4BE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2346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666" name="Text Box 56">
                  <a:extLst>
                    <a:ext uri="{FF2B5EF4-FFF2-40B4-BE49-F238E27FC236}">
                      <a16:creationId xmlns:a16="http://schemas.microsoft.com/office/drawing/2014/main" id="{DCC92D44-148A-4DDC-A990-7E912D5779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2" y="2144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DMA 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请求</a:t>
                  </a:r>
                </a:p>
              </p:txBody>
            </p:sp>
          </p:grpSp>
          <p:sp>
            <p:nvSpPr>
              <p:cNvPr id="68663" name="Text Box 57">
                <a:extLst>
                  <a:ext uri="{FF2B5EF4-FFF2-40B4-BE49-F238E27FC236}">
                    <a16:creationId xmlns:a16="http://schemas.microsoft.com/office/drawing/2014/main" id="{FACB3B42-D683-4A86-A1F9-F6FCEFBBEE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3" y="2432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打印机</a:t>
                </a:r>
              </a:p>
            </p:txBody>
          </p:sp>
        </p:grpSp>
        <p:sp>
          <p:nvSpPr>
            <p:cNvPr id="68661" name="Text Box 58">
              <a:extLst>
                <a:ext uri="{FF2B5EF4-FFF2-40B4-BE49-F238E27FC236}">
                  <a16:creationId xmlns:a16="http://schemas.microsoft.com/office/drawing/2014/main" id="{84F2CC6F-D492-49E9-9D16-4178094E6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2400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</p:grpSp>
      <p:grpSp>
        <p:nvGrpSpPr>
          <p:cNvPr id="17" name="Group 59">
            <a:extLst>
              <a:ext uri="{FF2B5EF4-FFF2-40B4-BE49-F238E27FC236}">
                <a16:creationId xmlns:a16="http://schemas.microsoft.com/office/drawing/2014/main" id="{FD275068-527C-43FB-B602-7A38FA3234B3}"/>
              </a:ext>
            </a:extLst>
          </p:cNvPr>
          <p:cNvGrpSpPr>
            <a:grpSpLocks/>
          </p:cNvGrpSpPr>
          <p:nvPr/>
        </p:nvGrpSpPr>
        <p:grpSpPr bwMode="auto">
          <a:xfrm>
            <a:off x="0" y="2346325"/>
            <a:ext cx="8636000" cy="946150"/>
            <a:chOff x="0" y="1478"/>
            <a:chExt cx="5440" cy="596"/>
          </a:xfrm>
        </p:grpSpPr>
        <p:grpSp>
          <p:nvGrpSpPr>
            <p:cNvPr id="68647" name="Group 60">
              <a:extLst>
                <a:ext uri="{FF2B5EF4-FFF2-40B4-BE49-F238E27FC236}">
                  <a16:creationId xmlns:a16="http://schemas.microsoft.com/office/drawing/2014/main" id="{3F58F528-6AD5-445E-8904-FA5AD47CB3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478"/>
              <a:ext cx="5280" cy="594"/>
              <a:chOff x="0" y="1475"/>
              <a:chExt cx="5280" cy="594"/>
            </a:xfrm>
          </p:grpSpPr>
          <p:grpSp>
            <p:nvGrpSpPr>
              <p:cNvPr id="68649" name="Group 61">
                <a:extLst>
                  <a:ext uri="{FF2B5EF4-FFF2-40B4-BE49-F238E27FC236}">
                    <a16:creationId xmlns:a16="http://schemas.microsoft.com/office/drawing/2014/main" id="{A12B2387-810E-4315-A799-5565256DFA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1475"/>
                <a:ext cx="4752" cy="490"/>
                <a:chOff x="528" y="1475"/>
                <a:chExt cx="4752" cy="490"/>
              </a:xfrm>
            </p:grpSpPr>
            <p:sp>
              <p:nvSpPr>
                <p:cNvPr id="68651" name="Line 62">
                  <a:extLst>
                    <a:ext uri="{FF2B5EF4-FFF2-40B4-BE49-F238E27FC236}">
                      <a16:creationId xmlns:a16="http://schemas.microsoft.com/office/drawing/2014/main" id="{CA84FE25-09DC-4039-88D0-8A6A624054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1965"/>
                  <a:ext cx="475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652" name="Line 63">
                  <a:extLst>
                    <a:ext uri="{FF2B5EF4-FFF2-40B4-BE49-F238E27FC236}">
                      <a16:creationId xmlns:a16="http://schemas.microsoft.com/office/drawing/2014/main" id="{CF21CE43-3D5F-4520-AF70-C36A5EE718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1725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653" name="Line 64">
                  <a:extLst>
                    <a:ext uri="{FF2B5EF4-FFF2-40B4-BE49-F238E27FC236}">
                      <a16:creationId xmlns:a16="http://schemas.microsoft.com/office/drawing/2014/main" id="{02780192-14E3-4174-90F2-E197841F7E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1725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654" name="Line 65">
                  <a:extLst>
                    <a:ext uri="{FF2B5EF4-FFF2-40B4-BE49-F238E27FC236}">
                      <a16:creationId xmlns:a16="http://schemas.microsoft.com/office/drawing/2014/main" id="{E9B89C82-58CA-42A8-9FE8-B13FE4A5E1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4" y="1725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655" name="Text Box 66">
                  <a:extLst>
                    <a:ext uri="{FF2B5EF4-FFF2-40B4-BE49-F238E27FC236}">
                      <a16:creationId xmlns:a16="http://schemas.microsoft.com/office/drawing/2014/main" id="{5E17D575-6B54-4D40-8583-70813F4F11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7" y="1475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DMA 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请求</a:t>
                  </a:r>
                </a:p>
              </p:txBody>
            </p:sp>
            <p:sp>
              <p:nvSpPr>
                <p:cNvPr id="68656" name="Text Box 67">
                  <a:extLst>
                    <a:ext uri="{FF2B5EF4-FFF2-40B4-BE49-F238E27FC236}">
                      <a16:creationId xmlns:a16="http://schemas.microsoft.com/office/drawing/2014/main" id="{C4F2DC74-9754-4A66-985F-2140DCBA8F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95" y="1475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DMA 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请求</a:t>
                  </a:r>
                </a:p>
              </p:txBody>
            </p:sp>
            <p:sp>
              <p:nvSpPr>
                <p:cNvPr id="68657" name="Text Box 68">
                  <a:extLst>
                    <a:ext uri="{FF2B5EF4-FFF2-40B4-BE49-F238E27FC236}">
                      <a16:creationId xmlns:a16="http://schemas.microsoft.com/office/drawing/2014/main" id="{279B1373-3B8E-4E71-8047-8952102896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3" y="1475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DMA 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请求</a:t>
                  </a:r>
                </a:p>
              </p:txBody>
            </p:sp>
            <p:sp>
              <p:nvSpPr>
                <p:cNvPr id="68658" name="Line 69">
                  <a:extLst>
                    <a:ext uri="{FF2B5EF4-FFF2-40B4-BE49-F238E27FC236}">
                      <a16:creationId xmlns:a16="http://schemas.microsoft.com/office/drawing/2014/main" id="{E471CC5F-A9D5-42EB-A782-3B4B62A7FD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1869"/>
                  <a:ext cx="172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stealth" w="med" len="med"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659" name="Text Box 70">
                  <a:extLst>
                    <a:ext uri="{FF2B5EF4-FFF2-40B4-BE49-F238E27FC236}">
                      <a16:creationId xmlns:a16="http://schemas.microsoft.com/office/drawing/2014/main" id="{60388FE3-4BEF-45AF-9CB5-4D43CCA722B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36" y="1663"/>
                  <a:ext cx="521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45 </a:t>
                  </a: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  <a:sym typeface="Symbol" panose="05050102010706020507" pitchFamily="18" charset="2"/>
                    </a:rPr>
                    <a:t></a:t>
                  </a: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s</a:t>
                  </a:r>
                  <a:r>
                    <a:rPr kumimoji="1" lang="en-US" altLang="zh-CN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 </a:t>
                  </a:r>
                </a:p>
              </p:txBody>
            </p:sp>
          </p:grpSp>
          <p:sp>
            <p:nvSpPr>
              <p:cNvPr id="68650" name="Text Box 71">
                <a:extLst>
                  <a:ext uri="{FF2B5EF4-FFF2-40B4-BE49-F238E27FC236}">
                    <a16:creationId xmlns:a16="http://schemas.microsoft.com/office/drawing/2014/main" id="{D24D0067-3B38-4AE0-85BD-26577C922D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819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磁带</a:t>
                </a:r>
              </a:p>
            </p:txBody>
          </p:sp>
        </p:grpSp>
        <p:sp>
          <p:nvSpPr>
            <p:cNvPr id="68648" name="Text Box 72">
              <a:extLst>
                <a:ext uri="{FF2B5EF4-FFF2-40B4-BE49-F238E27FC236}">
                  <a16:creationId xmlns:a16="http://schemas.microsoft.com/office/drawing/2014/main" id="{7CCDDEEC-3626-46A7-B4E6-1DB1AF346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824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</p:grpSp>
      <p:grpSp>
        <p:nvGrpSpPr>
          <p:cNvPr id="20" name="Group 73">
            <a:extLst>
              <a:ext uri="{FF2B5EF4-FFF2-40B4-BE49-F238E27FC236}">
                <a16:creationId xmlns:a16="http://schemas.microsoft.com/office/drawing/2014/main" id="{A4388F49-AA86-40E9-8CA0-DCD833D13CC6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8636000" cy="1006475"/>
            <a:chOff x="0" y="816"/>
            <a:chExt cx="5440" cy="634"/>
          </a:xfrm>
        </p:grpSpPr>
        <p:grpSp>
          <p:nvGrpSpPr>
            <p:cNvPr id="68632" name="Group 74">
              <a:extLst>
                <a:ext uri="{FF2B5EF4-FFF2-40B4-BE49-F238E27FC236}">
                  <a16:creationId xmlns:a16="http://schemas.microsoft.com/office/drawing/2014/main" id="{3DF5F304-9F58-4133-BD93-B89E96D467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816"/>
              <a:ext cx="5280" cy="584"/>
              <a:chOff x="0" y="816"/>
              <a:chExt cx="5280" cy="584"/>
            </a:xfrm>
          </p:grpSpPr>
          <p:grpSp>
            <p:nvGrpSpPr>
              <p:cNvPr id="68634" name="Group 75">
                <a:extLst>
                  <a:ext uri="{FF2B5EF4-FFF2-40B4-BE49-F238E27FC236}">
                    <a16:creationId xmlns:a16="http://schemas.microsoft.com/office/drawing/2014/main" id="{9CC337A9-DB29-4E89-AD72-82472B2298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816"/>
                <a:ext cx="4752" cy="528"/>
                <a:chOff x="528" y="816"/>
                <a:chExt cx="4752" cy="528"/>
              </a:xfrm>
            </p:grpSpPr>
            <p:sp>
              <p:nvSpPr>
                <p:cNvPr id="68636" name="Line 76">
                  <a:extLst>
                    <a:ext uri="{FF2B5EF4-FFF2-40B4-BE49-F238E27FC236}">
                      <a16:creationId xmlns:a16="http://schemas.microsoft.com/office/drawing/2014/main" id="{3C4688C0-2023-4B6E-BA07-4301C6E2D7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1344"/>
                  <a:ext cx="475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637" name="Line 77">
                  <a:extLst>
                    <a:ext uri="{FF2B5EF4-FFF2-40B4-BE49-F238E27FC236}">
                      <a16:creationId xmlns:a16="http://schemas.microsoft.com/office/drawing/2014/main" id="{D1D76E97-1754-44B2-A513-07363FA92C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1104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638" name="Line 78">
                  <a:extLst>
                    <a:ext uri="{FF2B5EF4-FFF2-40B4-BE49-F238E27FC236}">
                      <a16:creationId xmlns:a16="http://schemas.microsoft.com/office/drawing/2014/main" id="{B14DE6BB-E51B-43CA-92B5-134A630427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1104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639" name="Line 79">
                  <a:extLst>
                    <a:ext uri="{FF2B5EF4-FFF2-40B4-BE49-F238E27FC236}">
                      <a16:creationId xmlns:a16="http://schemas.microsoft.com/office/drawing/2014/main" id="{B73D0B05-B1B5-4174-AE2F-468073867B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2" y="1104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640" name="Line 80">
                  <a:extLst>
                    <a:ext uri="{FF2B5EF4-FFF2-40B4-BE49-F238E27FC236}">
                      <a16:creationId xmlns:a16="http://schemas.microsoft.com/office/drawing/2014/main" id="{B7EF95EF-ADA6-4804-9C4E-E6523DE5A2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4" y="1104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641" name="Text Box 81">
                  <a:extLst>
                    <a:ext uri="{FF2B5EF4-FFF2-40B4-BE49-F238E27FC236}">
                      <a16:creationId xmlns:a16="http://schemas.microsoft.com/office/drawing/2014/main" id="{807E229D-9AC3-4436-B6F0-A58859D78B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7" y="825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DMA 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请求</a:t>
                  </a:r>
                </a:p>
              </p:txBody>
            </p:sp>
            <p:sp>
              <p:nvSpPr>
                <p:cNvPr id="68642" name="Text Box 82">
                  <a:extLst>
                    <a:ext uri="{FF2B5EF4-FFF2-40B4-BE49-F238E27FC236}">
                      <a16:creationId xmlns:a16="http://schemas.microsoft.com/office/drawing/2014/main" id="{D7628BE0-7E15-45E9-A4F1-E1A603209D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6" y="816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DMA 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请求</a:t>
                  </a:r>
                </a:p>
              </p:txBody>
            </p:sp>
            <p:sp>
              <p:nvSpPr>
                <p:cNvPr id="68643" name="Text Box 83">
                  <a:extLst>
                    <a:ext uri="{FF2B5EF4-FFF2-40B4-BE49-F238E27FC236}">
                      <a16:creationId xmlns:a16="http://schemas.microsoft.com/office/drawing/2014/main" id="{37204D96-BD5A-4510-9BEF-FF116D1E32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1" y="816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DMA 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请求</a:t>
                  </a:r>
                </a:p>
              </p:txBody>
            </p:sp>
            <p:sp>
              <p:nvSpPr>
                <p:cNvPr id="68644" name="Text Box 84">
                  <a:extLst>
                    <a:ext uri="{FF2B5EF4-FFF2-40B4-BE49-F238E27FC236}">
                      <a16:creationId xmlns:a16="http://schemas.microsoft.com/office/drawing/2014/main" id="{D26B5599-BA24-4275-B808-9E249E507DE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3" y="816"/>
                  <a:ext cx="861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DMA </a:t>
                  </a:r>
                  <a:r>
                    <a:rPr kumimoji="1" lang="zh-CN" altLang="en-US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请求</a:t>
                  </a:r>
                </a:p>
              </p:txBody>
            </p:sp>
            <p:sp>
              <p:nvSpPr>
                <p:cNvPr id="68645" name="Line 85">
                  <a:extLst>
                    <a:ext uri="{FF2B5EF4-FFF2-40B4-BE49-F238E27FC236}">
                      <a16:creationId xmlns:a16="http://schemas.microsoft.com/office/drawing/2014/main" id="{5FACF7EE-50B5-400B-8DB6-C5E1F68DC8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1248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stealth" w="med" len="med"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646" name="Text Box 86">
                  <a:extLst>
                    <a:ext uri="{FF2B5EF4-FFF2-40B4-BE49-F238E27FC236}">
                      <a16:creationId xmlns:a16="http://schemas.microsoft.com/office/drawing/2014/main" id="{3C22F9C4-EC75-4992-83F5-B8D88F96F0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36" y="1042"/>
                  <a:ext cx="521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30 </a:t>
                  </a: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  <a:sym typeface="Symbol" panose="05050102010706020507" pitchFamily="18" charset="2"/>
                    </a:rPr>
                    <a:t></a:t>
                  </a:r>
                  <a:r>
                    <a:rPr kumimoji="1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s</a:t>
                  </a:r>
                  <a:r>
                    <a:rPr kumimoji="1" lang="en-US" altLang="zh-CN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 </a:t>
                  </a:r>
                </a:p>
              </p:txBody>
            </p:sp>
          </p:grpSp>
          <p:sp>
            <p:nvSpPr>
              <p:cNvPr id="68635" name="Text Box 87">
                <a:extLst>
                  <a:ext uri="{FF2B5EF4-FFF2-40B4-BE49-F238E27FC236}">
                    <a16:creationId xmlns:a16="http://schemas.microsoft.com/office/drawing/2014/main" id="{B3E37338-BC1C-49FF-8CC5-AB0A39982F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150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磁盘</a:t>
                </a:r>
              </a:p>
            </p:txBody>
          </p:sp>
        </p:grpSp>
        <p:sp>
          <p:nvSpPr>
            <p:cNvPr id="68633" name="Text Box 88">
              <a:extLst>
                <a:ext uri="{FF2B5EF4-FFF2-40B4-BE49-F238E27FC236}">
                  <a16:creationId xmlns:a16="http://schemas.microsoft.com/office/drawing/2014/main" id="{B6C84FAD-4335-4C4F-9A61-3C9925BCD7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200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56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56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56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5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2" dur="500"/>
                                        <p:tgtEl>
                                          <p:spTgt spid="5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500"/>
                                        <p:tgtEl>
                                          <p:spTgt spid="56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2" dur="500"/>
                                        <p:tgtEl>
                                          <p:spTgt spid="5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2" dur="500"/>
                                        <p:tgtEl>
                                          <p:spTgt spid="56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回顾与小结：</a:t>
            </a:r>
            <a:r>
              <a:rPr lang="en-US" altLang="zh-CN" dirty="0"/>
              <a:t>DMA</a:t>
            </a:r>
            <a:r>
              <a:rPr lang="zh-CN" altLang="en-US" dirty="0"/>
              <a:t>与程序中断的区别</a:t>
            </a:r>
          </a:p>
        </p:txBody>
      </p:sp>
      <p:sp>
        <p:nvSpPr>
          <p:cNvPr id="92164" name="矩形 3"/>
          <p:cNvSpPr>
            <a:spLocks noGrp="1" noChangeArrowheads="1"/>
          </p:cNvSpPr>
          <p:nvPr>
            <p:ph type="body" idx="1"/>
          </p:nvPr>
        </p:nvSpPr>
        <p:spPr>
          <a:xfrm>
            <a:off x="365866" y="942764"/>
            <a:ext cx="8273309" cy="450246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1800" dirty="0"/>
              <a:t>中断通过</a:t>
            </a:r>
            <a:r>
              <a:rPr lang="zh-CN" altLang="en-US" sz="1800" dirty="0">
                <a:solidFill>
                  <a:srgbClr val="FF0000"/>
                </a:solidFill>
              </a:rPr>
              <a:t>程序传送数据</a:t>
            </a:r>
            <a:r>
              <a:rPr lang="zh-CN" altLang="en-US" sz="1800" dirty="0"/>
              <a:t>，</a:t>
            </a:r>
            <a:r>
              <a:rPr lang="en-US" altLang="zh-CN" sz="1800" dirty="0"/>
              <a:t>DMA</a:t>
            </a:r>
            <a:r>
              <a:rPr lang="zh-CN" altLang="en-US" sz="1800" dirty="0"/>
              <a:t>靠</a:t>
            </a:r>
            <a:r>
              <a:rPr lang="zh-CN" altLang="en-US" sz="1800" dirty="0">
                <a:solidFill>
                  <a:srgbClr val="FF0000"/>
                </a:solidFill>
              </a:rPr>
              <a:t>硬件来实现</a:t>
            </a:r>
            <a:r>
              <a:rPr lang="zh-CN" altLang="en-US" sz="1800" dirty="0"/>
              <a:t>。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1800" dirty="0"/>
              <a:t>中断时机为</a:t>
            </a:r>
            <a:r>
              <a:rPr lang="zh-CN" altLang="en-US" sz="1800" dirty="0">
                <a:solidFill>
                  <a:srgbClr val="FF0000"/>
                </a:solidFill>
              </a:rPr>
              <a:t>两条指令之间</a:t>
            </a:r>
            <a:r>
              <a:rPr lang="zh-CN" altLang="en-US" sz="1800" dirty="0"/>
              <a:t>，</a:t>
            </a:r>
            <a:r>
              <a:rPr lang="en-US" altLang="zh-CN" sz="1800" dirty="0"/>
              <a:t>DMA</a:t>
            </a:r>
            <a:r>
              <a:rPr lang="zh-CN" altLang="en-US" sz="1800" dirty="0"/>
              <a:t>响应时机为</a:t>
            </a:r>
            <a:r>
              <a:rPr lang="zh-CN" altLang="en-US" sz="1800" dirty="0">
                <a:solidFill>
                  <a:srgbClr val="FF0000"/>
                </a:solidFill>
              </a:rPr>
              <a:t>两存储周期之间</a:t>
            </a:r>
            <a:r>
              <a:rPr lang="zh-CN" altLang="en-US" sz="1800" dirty="0"/>
              <a:t>。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1800" dirty="0"/>
              <a:t>中断不仅具有数据传送能力，还能处理异常事件。</a:t>
            </a:r>
            <a:r>
              <a:rPr lang="en-US" altLang="zh-CN" sz="1800" dirty="0"/>
              <a:t>DMA</a:t>
            </a:r>
            <a:r>
              <a:rPr lang="zh-CN" altLang="en-US" sz="1800" dirty="0"/>
              <a:t>只能进行数据传送。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1800" dirty="0"/>
              <a:t>DMA</a:t>
            </a:r>
            <a:r>
              <a:rPr lang="zh-CN" altLang="en-US" sz="1800" dirty="0"/>
              <a:t>仅挪用了一个存储周期，不改变</a:t>
            </a:r>
            <a:r>
              <a:rPr lang="en-US" altLang="zh-CN" sz="1800" dirty="0"/>
              <a:t>CPU</a:t>
            </a:r>
            <a:r>
              <a:rPr lang="zh-CN" altLang="en-US" sz="1800" dirty="0"/>
              <a:t>现场。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1800" dirty="0"/>
              <a:t>DMA</a:t>
            </a:r>
            <a:r>
              <a:rPr lang="zh-CN" altLang="en-US" sz="1800" dirty="0"/>
              <a:t>请求的优先权比中断请求高。</a:t>
            </a:r>
            <a:r>
              <a:rPr lang="en-US" altLang="zh-CN" sz="1800" dirty="0"/>
              <a:t>CPU</a:t>
            </a:r>
            <a:r>
              <a:rPr lang="zh-CN" altLang="en-US" sz="1800" dirty="0"/>
              <a:t>优先响应</a:t>
            </a:r>
            <a:r>
              <a:rPr lang="en-US" altLang="zh-CN" sz="1800" dirty="0"/>
              <a:t>DMA</a:t>
            </a:r>
            <a:r>
              <a:rPr lang="zh-CN" altLang="en-US" sz="1800" dirty="0"/>
              <a:t>请求，是为了避免</a:t>
            </a:r>
            <a:r>
              <a:rPr lang="en-US" altLang="zh-CN" sz="1800" dirty="0"/>
              <a:t>DMA</a:t>
            </a:r>
            <a:r>
              <a:rPr lang="zh-CN" altLang="en-US" sz="1800" dirty="0"/>
              <a:t>所连接的高速外设丢失数据。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1800" dirty="0"/>
              <a:t>DMA</a:t>
            </a:r>
            <a:r>
              <a:rPr lang="zh-CN" altLang="en-US" sz="1800" dirty="0"/>
              <a:t>利用了中断技术</a:t>
            </a:r>
          </a:p>
        </p:txBody>
      </p:sp>
    </p:spTree>
    <p:extLst>
      <p:ext uri="{BB962C8B-B14F-4D97-AF65-F5344CB8AC3E}">
        <p14:creationId xmlns:p14="http://schemas.microsoft.com/office/powerpoint/2010/main" val="18242366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D4FBB3E-ED7A-45CF-9EDF-D6F6BC61E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/>
            <a:r>
              <a:rPr lang="zh-CN" altLang="en-US" b="1" dirty="0"/>
              <a:t>第 </a:t>
            </a:r>
            <a:r>
              <a:rPr lang="en-US" altLang="zh-CN" b="1" dirty="0"/>
              <a:t>7 </a:t>
            </a:r>
            <a:r>
              <a:rPr lang="zh-CN" altLang="en-US" b="1" dirty="0"/>
              <a:t>章 输入</a:t>
            </a:r>
            <a:r>
              <a:rPr lang="en-US" altLang="zh-CN" b="1" dirty="0"/>
              <a:t>/</a:t>
            </a:r>
            <a:r>
              <a:rPr lang="zh-CN" altLang="en-US" b="1" dirty="0"/>
              <a:t>输出系统</a:t>
            </a:r>
          </a:p>
        </p:txBody>
      </p:sp>
      <p:sp>
        <p:nvSpPr>
          <p:cNvPr id="4099" name="内容占位符 1">
            <a:extLst>
              <a:ext uri="{FF2B5EF4-FFF2-40B4-BE49-F238E27FC236}">
                <a16:creationId xmlns:a16="http://schemas.microsoft.com/office/drawing/2014/main" id="{4C1ACEFE-A55B-48FB-91A9-3906A3E66A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600" y="1268760"/>
            <a:ext cx="7450138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7. 1  </a:t>
            </a:r>
            <a:r>
              <a:rPr lang="zh-CN" altLang="en-US" dirty="0"/>
              <a:t>概 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2 I / O  </a:t>
            </a:r>
            <a:r>
              <a:rPr lang="zh-CN" altLang="en-US" dirty="0"/>
              <a:t>接 口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7. 3  </a:t>
            </a:r>
            <a:r>
              <a:rPr lang="zh-CN" altLang="en-US" dirty="0"/>
              <a:t>直接程序控制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7. 4  </a:t>
            </a:r>
            <a:r>
              <a:rPr lang="zh-CN" altLang="en-US" dirty="0"/>
              <a:t>程序中断控制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5 DMA</a:t>
            </a:r>
            <a:r>
              <a:rPr lang="zh-CN" altLang="en-US"/>
              <a:t>技术</a:t>
            </a:r>
            <a:endParaRPr lang="zh-CN" alt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7. 6  </a:t>
            </a:r>
            <a:r>
              <a:rPr lang="zh-CN" altLang="en-US" dirty="0"/>
              <a:t>通 道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67CA4-03D2-4867-8379-5DE67C6D1C43}"/>
              </a:ext>
            </a:extLst>
          </p:cNvPr>
          <p:cNvSpPr/>
          <p:nvPr/>
        </p:nvSpPr>
        <p:spPr>
          <a:xfrm>
            <a:off x="971600" y="4221088"/>
            <a:ext cx="2355132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altLang="zh-CN" sz="3200" dirty="0">
                <a:solidFill>
                  <a:srgbClr val="000000"/>
                </a:solidFill>
              </a:rPr>
              <a:t>7. 6  </a:t>
            </a:r>
            <a:r>
              <a:rPr lang="zh-CN" altLang="en-US" sz="3200" dirty="0">
                <a:solidFill>
                  <a:srgbClr val="000000"/>
                </a:solidFill>
              </a:rPr>
              <a:t>通 道</a:t>
            </a:r>
          </a:p>
        </p:txBody>
      </p:sp>
    </p:spTree>
    <p:extLst>
      <p:ext uri="{BB962C8B-B14F-4D97-AF65-F5344CB8AC3E}">
        <p14:creationId xmlns:p14="http://schemas.microsoft.com/office/powerpoint/2010/main" val="348650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CC52647-1384-4B78-9360-C4997BD2E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7. 6  </a:t>
            </a:r>
            <a:r>
              <a:rPr lang="zh-CN" altLang="en-US" dirty="0"/>
              <a:t>通 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21AE-8FE4-4E72-8FEB-81EE75A6E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28801"/>
            <a:ext cx="8388424" cy="38164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7.6.1 </a:t>
            </a:r>
            <a:r>
              <a:rPr lang="zh-CN" altLang="en-US" sz="2800" dirty="0"/>
              <a:t>通道概述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7.6.2 </a:t>
            </a:r>
            <a:r>
              <a:rPr lang="zh-CN" altLang="en-US" sz="2800" dirty="0"/>
              <a:t>通道基本结构和工作过程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/>
              <a:t>7.6.3</a:t>
            </a:r>
            <a:r>
              <a:rPr lang="zh-CN" altLang="en-US" sz="2800" dirty="0"/>
              <a:t>通道的类型</a:t>
            </a:r>
            <a:endParaRPr lang="en-US" altLang="zh-CN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4009A7-808A-444D-8F86-716C47410EE7}"/>
              </a:ext>
            </a:extLst>
          </p:cNvPr>
          <p:cNvSpPr/>
          <p:nvPr/>
        </p:nvSpPr>
        <p:spPr>
          <a:xfrm>
            <a:off x="683568" y="1700808"/>
            <a:ext cx="2736304" cy="6549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7.6.1 </a:t>
            </a:r>
            <a:r>
              <a:rPr lang="zh-CN" altLang="en-US" sz="2800" dirty="0">
                <a:solidFill>
                  <a:srgbClr val="000000"/>
                </a:solidFill>
              </a:rPr>
              <a:t>通道概述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945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60" y="19666"/>
            <a:ext cx="7812360" cy="731837"/>
          </a:xfrm>
        </p:spPr>
        <p:txBody>
          <a:bodyPr/>
          <a:lstStyle/>
          <a:p>
            <a:r>
              <a:rPr lang="en-US" altLang="zh-CN" dirty="0"/>
              <a:t>7.6  </a:t>
            </a:r>
            <a:r>
              <a:rPr lang="zh-CN" altLang="en-US" dirty="0"/>
              <a:t>通道 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2DF7B442-CAFF-4B73-B012-DC30111A7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16" y="751503"/>
            <a:ext cx="8712968" cy="51845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通道概述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DMA</a:t>
            </a:r>
            <a:r>
              <a:rPr lang="zh-CN" altLang="en-US" dirty="0"/>
              <a:t>方式分析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DMA</a:t>
            </a:r>
            <a:r>
              <a:rPr lang="zh-CN" altLang="en-US" sz="2400" dirty="0"/>
              <a:t>方式依赖硬件逻辑支持，随着设备数量的增加，</a:t>
            </a:r>
            <a:r>
              <a:rPr lang="en-US" altLang="zh-CN" sz="2400" dirty="0"/>
              <a:t>DMA</a:t>
            </a:r>
            <a:r>
              <a:rPr lang="zh-CN" altLang="en-US" sz="2400" dirty="0"/>
              <a:t>控制器增加，成本也相应增加。必须找出一种方法使</a:t>
            </a:r>
            <a:r>
              <a:rPr lang="en-US" altLang="zh-CN" sz="2400" dirty="0"/>
              <a:t>DMA</a:t>
            </a:r>
            <a:r>
              <a:rPr lang="zh-CN" altLang="en-US" sz="2400" dirty="0"/>
              <a:t>技术被更多的设备共享。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DMA</a:t>
            </a:r>
            <a:r>
              <a:rPr lang="zh-CN" altLang="en-US" sz="2400" dirty="0"/>
              <a:t>接口的起始准备仍需</a:t>
            </a:r>
            <a:r>
              <a:rPr lang="en-US" altLang="zh-CN" sz="2400" dirty="0"/>
              <a:t>CPU</a:t>
            </a:r>
            <a:r>
              <a:rPr lang="zh-CN" altLang="en-US" sz="2400" dirty="0"/>
              <a:t>执行一段程序完成。高速设备的信息是成批传送的，一批数据包含了相当多的数据块，每一数据块都要使</a:t>
            </a:r>
            <a:r>
              <a:rPr lang="en-US" altLang="zh-CN" sz="2400" dirty="0"/>
              <a:t>DMA</a:t>
            </a:r>
            <a:r>
              <a:rPr lang="zh-CN" altLang="en-US" sz="2400" dirty="0"/>
              <a:t>接口初始化。数据块连续频繁地传送，其占用</a:t>
            </a:r>
            <a:r>
              <a:rPr lang="en-US" altLang="zh-CN" sz="2400" dirty="0"/>
              <a:t>CPU</a:t>
            </a:r>
            <a:r>
              <a:rPr lang="zh-CN" altLang="en-US" sz="2400" dirty="0"/>
              <a:t>的时间就不可忽视了</a:t>
            </a: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5ABE13A9-EC06-46CD-A19E-911B6AA8823E}"/>
              </a:ext>
            </a:extLst>
          </p:cNvPr>
          <p:cNvSpPr txBox="1">
            <a:spLocks/>
          </p:cNvSpPr>
          <p:nvPr/>
        </p:nvSpPr>
        <p:spPr>
          <a:xfrm>
            <a:off x="323528" y="1240004"/>
            <a:ext cx="10515599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517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28" grpId="0" uiExpand="1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27" y="0"/>
            <a:ext cx="7812360" cy="731837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通道概述</a:t>
            </a: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5ABE13A9-EC06-46CD-A19E-911B6AA8823E}"/>
              </a:ext>
            </a:extLst>
          </p:cNvPr>
          <p:cNvSpPr txBox="1">
            <a:spLocks/>
          </p:cNvSpPr>
          <p:nvPr/>
        </p:nvSpPr>
        <p:spPr>
          <a:xfrm>
            <a:off x="323528" y="1240004"/>
            <a:ext cx="10515599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29F8FD9-17AD-4DAE-A70D-9B7265CA49C9}"/>
              </a:ext>
            </a:extLst>
          </p:cNvPr>
          <p:cNvSpPr txBox="1">
            <a:spLocks/>
          </p:cNvSpPr>
          <p:nvPr/>
        </p:nvSpPr>
        <p:spPr>
          <a:xfrm>
            <a:off x="107504" y="945798"/>
            <a:ext cx="8784976" cy="56370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2060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DMA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方式的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进一步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发展，数据的传送方向、内存起始地址及传送的数据块长度等都由独立于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通道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来进行控制，可进一步减少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的干预。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通道是一个具有特殊功能的处理器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IOP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分担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I/O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处理的功能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可实现外设的统一管理和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DMA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操作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大大提高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效率，更多的硬件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通道执行通道程序来完成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指定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I/O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任务，通道程序是由一系列通道指令组成的。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当通道执行完通道程序后，就发出中断请求表示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I/O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结束，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响应中断请求，执行相应的中断处理程序实现与通道之间的数据传输。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248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27" y="0"/>
            <a:ext cx="7812360" cy="731837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通道概述</a:t>
            </a: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5ABE13A9-EC06-46CD-A19E-911B6AA8823E}"/>
              </a:ext>
            </a:extLst>
          </p:cNvPr>
          <p:cNvSpPr txBox="1">
            <a:spLocks/>
          </p:cNvSpPr>
          <p:nvPr/>
        </p:nvSpPr>
        <p:spPr>
          <a:xfrm>
            <a:off x="323528" y="1240004"/>
            <a:ext cx="10515599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EB148562-65A9-4326-9C73-662912345F2A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692696"/>
            <a:ext cx="8237171" cy="61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FF0000"/>
                </a:solidFill>
                <a:effectLst/>
                <a:latin typeface="+mj-lt"/>
                <a:ea typeface="宋体" panose="02010600030101010101" pitchFamily="2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通道方式</a:t>
            </a: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25C92953-96B8-4FF2-9F57-726301DC6965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1377846"/>
            <a:ext cx="8640960" cy="4859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2060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设置专用的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输入输出处理机（通道）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，分担输入输出管理的全部或大部分工作。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吸取了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DMA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技术，增加了软件管理，设有专用通道指令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层次性的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I/O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</a:t>
            </a: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一个主机可以连接多个通道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一个通道可以管理多个设备控制器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一个设备控制器又可以控制多台设备。</a:t>
            </a:r>
          </a:p>
        </p:txBody>
      </p:sp>
    </p:spTree>
    <p:extLst>
      <p:ext uri="{BB962C8B-B14F-4D97-AF65-F5344CB8AC3E}">
        <p14:creationId xmlns:p14="http://schemas.microsoft.com/office/powerpoint/2010/main" val="388127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27" y="0"/>
            <a:ext cx="7812360" cy="731837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通道概述</a:t>
            </a: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5ABE13A9-EC06-46CD-A19E-911B6AA8823E}"/>
              </a:ext>
            </a:extLst>
          </p:cNvPr>
          <p:cNvSpPr txBox="1">
            <a:spLocks/>
          </p:cNvSpPr>
          <p:nvPr/>
        </p:nvSpPr>
        <p:spPr>
          <a:xfrm>
            <a:off x="323528" y="1240004"/>
            <a:ext cx="10515599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21BD55ED-4B21-438E-993A-47BD18758441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692696"/>
            <a:ext cx="8237171" cy="61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FF0000"/>
                </a:solidFill>
                <a:effectLst/>
                <a:latin typeface="+mj-lt"/>
                <a:ea typeface="宋体" panose="02010600030101010101" pitchFamily="2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通道方式与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CPU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和外设的连接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8D4A135-D4B2-478E-B9B9-A52B39A3F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48478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E5BE416-39E2-442A-B91C-D60A0B9933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348254"/>
              </p:ext>
            </p:extLst>
          </p:nvPr>
        </p:nvGraphicFramePr>
        <p:xfrm>
          <a:off x="611560" y="1412776"/>
          <a:ext cx="7762887" cy="4968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1" name="Visio" r:id="rId3" imgW="4870813" imgH="3117733" progId="Visio.Drawing.11">
                  <p:embed/>
                </p:oleObj>
              </mc:Choice>
              <mc:Fallback>
                <p:oleObj name="Visio" r:id="rId3" imgW="4870813" imgH="311773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412776"/>
                        <a:ext cx="7762887" cy="49685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877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27" y="0"/>
            <a:ext cx="7812360" cy="731837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通道概述</a:t>
            </a: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5ABE13A9-EC06-46CD-A19E-911B6AA8823E}"/>
              </a:ext>
            </a:extLst>
          </p:cNvPr>
          <p:cNvSpPr txBox="1">
            <a:spLocks/>
          </p:cNvSpPr>
          <p:nvPr/>
        </p:nvSpPr>
        <p:spPr>
          <a:xfrm>
            <a:off x="323528" y="1240004"/>
            <a:ext cx="10515599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22AD7574-8960-421A-AB8B-FFEF06EC44F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92696"/>
            <a:ext cx="8622637" cy="585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FF0000"/>
                </a:solidFill>
                <a:effectLst/>
                <a:latin typeface="+mj-lt"/>
                <a:ea typeface="宋体" panose="02010600030101010101" pitchFamily="2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通道功能</a:t>
            </a: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1699C90D-853E-4404-9D71-83BB10113820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1268760"/>
            <a:ext cx="8820472" cy="49314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2060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根据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要求，组织设备与系统连接和通信；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选取通道指令，向设备发出操作命令；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指出数据在设备中的位置和主存缓冲区内的位置，组织设备与主存间的数据传输。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反映设备、设备控制器及通道本身的状态信息。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将外设和通道本身的中断请求，按次序及时报告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设备控制器介于通道与设备之间，是通道对外部设备实行具体控制的机构。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7100" marR="0" lvl="1" indent="-4572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将通道发送的命令转换为设备能接受的控制信号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7100" marR="0" lvl="1" indent="-4572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向通道反映设备的状态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7100" marR="0" lvl="1" indent="-4572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将设备的各种电平信号转换成通道能识别的标准逻辑信号。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65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27" y="0"/>
            <a:ext cx="7812360" cy="731837"/>
          </a:xfrm>
        </p:spPr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通道基本结构和工作过程</a:t>
            </a: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5ABE13A9-EC06-46CD-A19E-911B6AA8823E}"/>
              </a:ext>
            </a:extLst>
          </p:cNvPr>
          <p:cNvSpPr txBox="1">
            <a:spLocks/>
          </p:cNvSpPr>
          <p:nvPr/>
        </p:nvSpPr>
        <p:spPr>
          <a:xfrm>
            <a:off x="323528" y="1240004"/>
            <a:ext cx="10515599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B549602D-95A6-47C9-B609-8A068B22219F}"/>
              </a:ext>
            </a:extLst>
          </p:cNvPr>
          <p:cNvSpPr txBox="1">
            <a:spLocks noChangeArrowheads="1"/>
          </p:cNvSpPr>
          <p:nvPr/>
        </p:nvSpPr>
        <p:spPr>
          <a:xfrm>
            <a:off x="-19397" y="692696"/>
            <a:ext cx="8622637" cy="585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FF0000"/>
                </a:solidFill>
                <a:effectLst/>
                <a:latin typeface="+mj-lt"/>
                <a:ea typeface="宋体" panose="02010600030101010101" pitchFamily="2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）基本结构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19D2E14-A4C9-4D03-855B-088360F36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41277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180D5DC-CE9F-4955-BDF2-D2F866E5D3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564568"/>
              </p:ext>
            </p:extLst>
          </p:nvPr>
        </p:nvGraphicFramePr>
        <p:xfrm>
          <a:off x="683568" y="1196752"/>
          <a:ext cx="7200800" cy="5399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6" name="Visio" r:id="rId3" imgW="6106872" imgH="4577264" progId="Visio.Drawing.11">
                  <p:embed/>
                </p:oleObj>
              </mc:Choice>
              <mc:Fallback>
                <p:oleObj name="Visio" r:id="rId3" imgW="6106872" imgH="4577264" progId="Visio.Drawing.11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B00F055-2A7B-47E6-A155-F22369E118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196752"/>
                        <a:ext cx="7200800" cy="53995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81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27" y="0"/>
            <a:ext cx="7812360" cy="731837"/>
          </a:xfrm>
        </p:spPr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通道基本结构和工作过程</a:t>
            </a: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5ABE13A9-EC06-46CD-A19E-911B6AA8823E}"/>
              </a:ext>
            </a:extLst>
          </p:cNvPr>
          <p:cNvSpPr txBox="1">
            <a:spLocks/>
          </p:cNvSpPr>
          <p:nvPr/>
        </p:nvSpPr>
        <p:spPr>
          <a:xfrm>
            <a:off x="323528" y="1240004"/>
            <a:ext cx="10515599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B549602D-95A6-47C9-B609-8A068B22219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92696"/>
            <a:ext cx="8622637" cy="585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FF0000"/>
                </a:solidFill>
                <a:effectLst/>
                <a:latin typeface="+mj-lt"/>
                <a:ea typeface="宋体" panose="02010600030101010101" pitchFamily="2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）工作过程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19D2E14-A4C9-4D03-855B-088360F36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41277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FAA92BF6-C9C9-48C6-B55F-DBF404614F6D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1268760"/>
            <a:ext cx="8820472" cy="4931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2060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>
              <a:spcAft>
                <a:spcPts val="0"/>
              </a:spcAft>
            </a:pPr>
            <a:r>
              <a:rPr lang="zh-CN" altLang="zh-CN" sz="2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启动通道工作</a:t>
            </a:r>
          </a:p>
          <a:p>
            <a:pPr indent="266700">
              <a:spcAft>
                <a:spcPts val="0"/>
              </a:spcAft>
            </a:pPr>
            <a:r>
              <a:rPr lang="zh-CN" altLang="zh-CN" sz="2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）数据传输</a:t>
            </a:r>
            <a:endParaRPr lang="en-US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spcAft>
                <a:spcPts val="0"/>
              </a:spcAft>
            </a:pPr>
            <a:r>
              <a:rPr lang="zh-CN" altLang="en-US" sz="2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）传送后的处理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FC4B876C-C422-4744-8933-5F138F3F7DEA}"/>
              </a:ext>
            </a:extLst>
          </p:cNvPr>
          <p:cNvGrpSpPr>
            <a:grpSpLocks/>
          </p:cNvGrpSpPr>
          <p:nvPr/>
        </p:nvGrpSpPr>
        <p:grpSpPr bwMode="auto">
          <a:xfrm>
            <a:off x="5004048" y="2132856"/>
            <a:ext cx="3048000" cy="760413"/>
            <a:chOff x="1455" y="1746"/>
            <a:chExt cx="1920" cy="479"/>
          </a:xfrm>
        </p:grpSpPr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9AF6843B-A90D-4EFF-AB17-F199EFC6F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756"/>
              <a:ext cx="1920" cy="469"/>
            </a:xfrm>
            <a:prstGeom prst="rect">
              <a:avLst/>
            </a:prstGeom>
            <a:solidFill>
              <a:srgbClr val="990033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800" b="1">
                <a:solidFill>
                  <a:srgbClr val="FFCC2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endParaRPr>
            </a:p>
          </p:txBody>
        </p:sp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A1FB8C69-4CEE-45A1-ABD6-A4D1FB5BB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9" y="1746"/>
              <a:ext cx="1326" cy="4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zh-CN" altLang="en-US" sz="3200" b="1" dirty="0">
                  <a:solidFill>
                    <a:srgbClr val="F7F727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传送准备</a:t>
              </a:r>
              <a:endParaRPr kumimoji="1" lang="zh-CN" altLang="en-US" sz="3200" b="1" dirty="0">
                <a:solidFill>
                  <a:srgbClr val="F7F727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" name="Group 6">
            <a:extLst>
              <a:ext uri="{FF2B5EF4-FFF2-40B4-BE49-F238E27FC236}">
                <a16:creationId xmlns:a16="http://schemas.microsoft.com/office/drawing/2014/main" id="{33910291-8E71-478D-A6C4-3A0005A4AA34}"/>
              </a:ext>
            </a:extLst>
          </p:cNvPr>
          <p:cNvGrpSpPr>
            <a:grpSpLocks/>
          </p:cNvGrpSpPr>
          <p:nvPr/>
        </p:nvGrpSpPr>
        <p:grpSpPr bwMode="auto">
          <a:xfrm>
            <a:off x="5035798" y="3385394"/>
            <a:ext cx="3048000" cy="1190625"/>
            <a:chOff x="1475" y="2535"/>
            <a:chExt cx="1920" cy="750"/>
          </a:xfrm>
        </p:grpSpPr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E4ABA5E0-81F6-47CC-9C55-676F315A9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5" y="2565"/>
              <a:ext cx="1920" cy="720"/>
            </a:xfrm>
            <a:prstGeom prst="rect">
              <a:avLst/>
            </a:prstGeom>
            <a:solidFill>
              <a:srgbClr val="FFCC29"/>
            </a:solidFill>
            <a:ln w="28575">
              <a:solidFill>
                <a:srgbClr val="FFCC2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C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华文新魏" panose="02010800040101010101" pitchFamily="2" charset="-122"/>
              </a:endParaRPr>
            </a:p>
          </p:txBody>
        </p:sp>
        <p:sp>
          <p:nvSpPr>
            <p:cNvPr id="14" name="Text Box 8">
              <a:extLst>
                <a:ext uri="{FF2B5EF4-FFF2-40B4-BE49-F238E27FC236}">
                  <a16:creationId xmlns:a16="http://schemas.microsoft.com/office/drawing/2014/main" id="{0485BA89-3536-4A7A-9083-BBFE16DF2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" y="2535"/>
              <a:ext cx="1315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360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</a:rPr>
                <a:t>数据传输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15" name="Group 9">
            <a:extLst>
              <a:ext uri="{FF2B5EF4-FFF2-40B4-BE49-F238E27FC236}">
                <a16:creationId xmlns:a16="http://schemas.microsoft.com/office/drawing/2014/main" id="{97B8340D-E4CF-4D42-ACC6-86F27DFAA6F1}"/>
              </a:ext>
            </a:extLst>
          </p:cNvPr>
          <p:cNvGrpSpPr>
            <a:grpSpLocks/>
          </p:cNvGrpSpPr>
          <p:nvPr/>
        </p:nvGrpSpPr>
        <p:grpSpPr bwMode="auto">
          <a:xfrm>
            <a:off x="5051673" y="5099894"/>
            <a:ext cx="3048000" cy="733425"/>
            <a:chOff x="1485" y="3595"/>
            <a:chExt cx="1920" cy="462"/>
          </a:xfrm>
        </p:grpSpPr>
        <p:sp>
          <p:nvSpPr>
            <p:cNvPr id="16" name="Rectangle 10">
              <a:extLst>
                <a:ext uri="{FF2B5EF4-FFF2-40B4-BE49-F238E27FC236}">
                  <a16:creationId xmlns:a16="http://schemas.microsoft.com/office/drawing/2014/main" id="{1971E339-7978-4EDA-A049-3F445A134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5" y="3595"/>
              <a:ext cx="1920" cy="462"/>
            </a:xfrm>
            <a:prstGeom prst="rect">
              <a:avLst/>
            </a:prstGeom>
            <a:solidFill>
              <a:srgbClr val="33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 b="1">
                <a:solidFill>
                  <a:srgbClr val="FFCC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新魏" panose="02010800040101010101" pitchFamily="2" charset="-122"/>
              </a:endParaRPr>
            </a:p>
          </p:txBody>
        </p:sp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F3B73694-EDE4-40DF-A714-8FBE6225AA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2" y="3631"/>
              <a:ext cx="1521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3200" b="1" dirty="0">
                  <a:solidFill>
                    <a:srgbClr val="00FFFF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传送后处理</a:t>
              </a:r>
            </a:p>
          </p:txBody>
        </p:sp>
      </p:grpSp>
      <p:sp>
        <p:nvSpPr>
          <p:cNvPr id="18" name="AutoShape 13">
            <a:extLst>
              <a:ext uri="{FF2B5EF4-FFF2-40B4-BE49-F238E27FC236}">
                <a16:creationId xmlns:a16="http://schemas.microsoft.com/office/drawing/2014/main" id="{3BB2655F-80B7-44E1-9A30-DC033C2EE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1048" y="4587131"/>
            <a:ext cx="338137" cy="512763"/>
          </a:xfrm>
          <a:prstGeom prst="downArrow">
            <a:avLst>
              <a:gd name="adj1" fmla="val 50000"/>
              <a:gd name="adj2" fmla="val 37911"/>
            </a:avLst>
          </a:prstGeom>
          <a:solidFill>
            <a:srgbClr val="ED906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CC2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华文新魏" panose="02010800040101010101" pitchFamily="2" charset="-122"/>
            </a:endParaRPr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75EDDB28-78AE-4B66-9176-30D658D8A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948" y="2913906"/>
            <a:ext cx="338137" cy="512763"/>
          </a:xfrm>
          <a:prstGeom prst="downArrow">
            <a:avLst>
              <a:gd name="adj1" fmla="val 50000"/>
              <a:gd name="adj2" fmla="val 37911"/>
            </a:avLst>
          </a:prstGeom>
          <a:solidFill>
            <a:srgbClr val="ED906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CC2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691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29807-B5DA-48DC-B381-62B48E4F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）传送准备工作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05BCD-478B-4B39-AFFE-C6737D989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用户使用通道的外设传送应做两项工作</a:t>
            </a:r>
          </a:p>
          <a:p>
            <a:pPr lvl="1"/>
            <a:r>
              <a:rPr lang="zh-CN" altLang="en-US" dirty="0"/>
              <a:t>通过</a:t>
            </a:r>
            <a:r>
              <a:rPr lang="zh-CN" altLang="en-US" dirty="0">
                <a:solidFill>
                  <a:srgbClr val="FF0000"/>
                </a:solidFill>
              </a:rPr>
              <a:t>访存指令</a:t>
            </a:r>
            <a:r>
              <a:rPr lang="zh-CN" altLang="en-US" dirty="0"/>
              <a:t>提供传送时所需参数</a:t>
            </a:r>
            <a:r>
              <a:rPr lang="en-US" altLang="zh-CN" dirty="0"/>
              <a:t>(</a:t>
            </a:r>
            <a:r>
              <a:rPr lang="zh-CN" altLang="en-US" dirty="0"/>
              <a:t>即</a:t>
            </a:r>
            <a:r>
              <a:rPr lang="zh-CN" altLang="en-US" dirty="0">
                <a:solidFill>
                  <a:srgbClr val="FF0000"/>
                </a:solidFill>
              </a:rPr>
              <a:t>软控制字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通过</a:t>
            </a:r>
            <a:r>
              <a:rPr lang="zh-CN" altLang="en-US" dirty="0">
                <a:solidFill>
                  <a:srgbClr val="FF0000"/>
                </a:solidFill>
              </a:rPr>
              <a:t>自愿进管指令</a:t>
            </a:r>
            <a:r>
              <a:rPr lang="zh-CN" altLang="en-US" dirty="0"/>
              <a:t>以系统调用的方式向</a:t>
            </a:r>
            <a:r>
              <a:rPr lang="en-US" altLang="zh-CN" dirty="0"/>
              <a:t>CPU</a:t>
            </a:r>
            <a:r>
              <a:rPr lang="zh-CN" altLang="en-US" dirty="0"/>
              <a:t>提出通道</a:t>
            </a:r>
            <a:r>
              <a:rPr lang="en-US" altLang="zh-CN" dirty="0"/>
              <a:t>I/O</a:t>
            </a:r>
            <a:r>
              <a:rPr lang="zh-CN" altLang="en-US" dirty="0"/>
              <a:t>请求，进入</a:t>
            </a:r>
            <a:r>
              <a:rPr lang="en-US" altLang="zh-CN" dirty="0">
                <a:solidFill>
                  <a:srgbClr val="FF0000"/>
                </a:solidFill>
              </a:rPr>
              <a:t>OS</a:t>
            </a:r>
            <a:r>
              <a:rPr lang="zh-CN" altLang="en-US" dirty="0">
                <a:solidFill>
                  <a:srgbClr val="FF0000"/>
                </a:solidFill>
              </a:rPr>
              <a:t>的设备管理程序</a:t>
            </a:r>
          </a:p>
          <a:p>
            <a:r>
              <a:rPr lang="zh-CN" altLang="en-US" dirty="0"/>
              <a:t>操作系统的设备管理程序要做三项工作</a:t>
            </a:r>
          </a:p>
          <a:p>
            <a:pPr lvl="1"/>
            <a:r>
              <a:rPr lang="zh-CN" altLang="en-US" dirty="0"/>
              <a:t>根据用户提供的软控制字</a:t>
            </a:r>
            <a:r>
              <a:rPr lang="zh-CN" altLang="en-US" dirty="0">
                <a:solidFill>
                  <a:srgbClr val="FF0000"/>
                </a:solidFill>
              </a:rPr>
              <a:t>编制通道程序</a:t>
            </a:r>
            <a:r>
              <a:rPr lang="en-US" altLang="zh-CN" dirty="0">
                <a:solidFill>
                  <a:srgbClr val="FF0000"/>
                </a:solidFill>
              </a:rPr>
              <a:t>CHP</a:t>
            </a:r>
            <a:r>
              <a:rPr lang="zh-CN" altLang="en-US" dirty="0"/>
              <a:t>，并存到</a:t>
            </a:r>
            <a:r>
              <a:rPr lang="zh-CN" altLang="en-US" dirty="0">
                <a:solidFill>
                  <a:srgbClr val="FF0000"/>
                </a:solidFill>
              </a:rPr>
              <a:t>主存指定区域</a:t>
            </a:r>
          </a:p>
          <a:p>
            <a:pPr lvl="1"/>
            <a:r>
              <a:rPr lang="zh-CN" altLang="en-US" dirty="0"/>
              <a:t>在主存中</a:t>
            </a:r>
            <a:r>
              <a:rPr lang="zh-CN" altLang="en-US" dirty="0">
                <a:solidFill>
                  <a:srgbClr val="FF0000"/>
                </a:solidFill>
              </a:rPr>
              <a:t>安排数据缓冲区</a:t>
            </a:r>
          </a:p>
          <a:p>
            <a:pPr lvl="1"/>
            <a:r>
              <a:rPr lang="zh-CN" altLang="en-US" dirty="0"/>
              <a:t>通过</a:t>
            </a:r>
            <a:r>
              <a:rPr lang="zh-CN" altLang="en-US" dirty="0">
                <a:solidFill>
                  <a:srgbClr val="FF0000"/>
                </a:solidFill>
              </a:rPr>
              <a:t>了解外设的</a:t>
            </a:r>
            <a:r>
              <a:rPr lang="en-US" altLang="zh-CN" dirty="0">
                <a:solidFill>
                  <a:srgbClr val="FF0000"/>
                </a:solidFill>
              </a:rPr>
              <a:t>I/O</a:t>
            </a:r>
            <a:r>
              <a:rPr lang="zh-CN" altLang="en-US" dirty="0">
                <a:solidFill>
                  <a:srgbClr val="FF0000"/>
                </a:solidFill>
              </a:rPr>
              <a:t>指令</a:t>
            </a:r>
            <a:r>
              <a:rPr lang="zh-CN" altLang="en-US" dirty="0"/>
              <a:t>，取出</a:t>
            </a:r>
            <a:r>
              <a:rPr lang="en-US" altLang="zh-CN" dirty="0"/>
              <a:t>CSW</a:t>
            </a:r>
            <a:r>
              <a:rPr lang="zh-CN" altLang="en-US" dirty="0"/>
              <a:t>，依</a:t>
            </a:r>
            <a:r>
              <a:rPr lang="en-US" altLang="zh-CN" dirty="0"/>
              <a:t>CSW</a:t>
            </a:r>
            <a:r>
              <a:rPr lang="zh-CN" altLang="en-US" dirty="0"/>
              <a:t>的内容判用户所需外设是否空闲？</a:t>
            </a:r>
            <a:r>
              <a:rPr lang="zh-CN" altLang="en-US" dirty="0">
                <a:solidFill>
                  <a:srgbClr val="FF0000"/>
                </a:solidFill>
              </a:rPr>
              <a:t>若空闲，则执行启动通道和外设</a:t>
            </a:r>
            <a:r>
              <a:rPr lang="en-US" altLang="zh-CN" dirty="0">
                <a:solidFill>
                  <a:srgbClr val="FF0000"/>
                </a:solidFill>
              </a:rPr>
              <a:t>I/O</a:t>
            </a:r>
            <a:r>
              <a:rPr lang="zh-CN" altLang="en-US" dirty="0">
                <a:solidFill>
                  <a:srgbClr val="FF0000"/>
                </a:solidFill>
              </a:rPr>
              <a:t>指令</a:t>
            </a:r>
            <a:r>
              <a:rPr lang="zh-CN" altLang="en-US" dirty="0"/>
              <a:t>，进入数据传送阶段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96195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82FA8-77C1-4F76-A393-80C3576EF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）数据传送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62520E-5252-4F20-AEE9-5D4D2F13B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30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①通道从内存指定位置取出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，执行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，进行数据传送</a:t>
            </a:r>
          </a:p>
          <a:p>
            <a:pPr marL="0" indent="0">
              <a:lnSpc>
                <a:spcPct val="30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②数据传送正常结束，或传输中出现错误，通道向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发中断请求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，等待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响应处理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885736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82FA8-77C1-4F76-A393-80C3576EF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）结束处理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62520E-5252-4F20-AEE9-5D4D2F13B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响应中断，取出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CSW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并判断，若正常结束，执行正常结束服务程序，否则执行错误处理中断服务程序。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156778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60" y="19666"/>
            <a:ext cx="7812360" cy="731837"/>
          </a:xfrm>
        </p:spPr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通道的类型</a:t>
            </a: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5ABE13A9-EC06-46CD-A19E-911B6AA8823E}"/>
              </a:ext>
            </a:extLst>
          </p:cNvPr>
          <p:cNvSpPr txBox="1">
            <a:spLocks/>
          </p:cNvSpPr>
          <p:nvPr/>
        </p:nvSpPr>
        <p:spPr>
          <a:xfrm>
            <a:off x="323528" y="1240004"/>
            <a:ext cx="10515599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F12529-D5A1-42FA-AE34-3BE30D662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6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根据设备共享通道的情况及信息传送速度的要求分为</a:t>
            </a:r>
            <a:r>
              <a:rPr lang="en-US" altLang="zh-CN" sz="26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600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</a:pPr>
            <a:r>
              <a:rPr lang="zh-CN" altLang="en-US" sz="24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字节多路通道</a:t>
            </a: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</a:pPr>
            <a:r>
              <a:rPr lang="zh-CN" altLang="en-US" sz="24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选择通道</a:t>
            </a:r>
          </a:p>
          <a:p>
            <a:pPr marL="812800" lvl="1" indent="-355600" algn="just" eaLnBrk="1" fontAlgn="auto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</a:pPr>
            <a:r>
              <a:rPr lang="zh-CN" altLang="en-US" sz="24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数组多路通道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809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60" y="19666"/>
            <a:ext cx="7812360" cy="731837"/>
          </a:xfrm>
        </p:spPr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通道的类型</a:t>
            </a: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5ABE13A9-EC06-46CD-A19E-911B6AA8823E}"/>
              </a:ext>
            </a:extLst>
          </p:cNvPr>
          <p:cNvSpPr txBox="1">
            <a:spLocks/>
          </p:cNvSpPr>
          <p:nvPr/>
        </p:nvSpPr>
        <p:spPr>
          <a:xfrm>
            <a:off x="323528" y="1240004"/>
            <a:ext cx="10515599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B2C7FD16-9687-4D6D-8F78-FA9EF30EA496}"/>
              </a:ext>
            </a:extLst>
          </p:cNvPr>
          <p:cNvSpPr txBox="1">
            <a:spLocks noChangeArrowheads="1"/>
          </p:cNvSpPr>
          <p:nvPr/>
        </p:nvSpPr>
        <p:spPr>
          <a:xfrm>
            <a:off x="1116" y="620688"/>
            <a:ext cx="10515600" cy="61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FF0000"/>
                </a:solidFill>
                <a:effectLst/>
                <a:latin typeface="+mj-lt"/>
                <a:ea typeface="宋体" panose="02010600030101010101" pitchFamily="2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）字节多路通道</a:t>
            </a:r>
          </a:p>
        </p:txBody>
      </p:sp>
      <p:sp>
        <p:nvSpPr>
          <p:cNvPr id="8" name="矩形 4">
            <a:extLst>
              <a:ext uri="{FF2B5EF4-FFF2-40B4-BE49-F238E27FC236}">
                <a16:creationId xmlns:a16="http://schemas.microsoft.com/office/drawing/2014/main" id="{764B5E11-1A0C-4F5E-8897-48F372001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4725144"/>
            <a:ext cx="7772400" cy="143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69900" indent="-46990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ED7D31"/>
              </a:buClr>
              <a:buFont typeface="Wingdings" panose="05000000000000000000" pitchFamily="2" charset="2"/>
              <a:buChar char="n"/>
            </a:pPr>
            <a:r>
              <a:rPr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包括若干子通道，每个子通道服务于一个慢速设备</a:t>
            </a:r>
            <a:endParaRPr lang="en-US" altLang="zh-CN" sz="2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69900" indent="-46990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ED7D31"/>
              </a:buClr>
              <a:buFont typeface="Wingdings" panose="05000000000000000000" pitchFamily="2" charset="2"/>
              <a:buChar char="n"/>
            </a:pPr>
            <a:r>
              <a:rPr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在一段时间内交替执行多个设备的通道子程序</a:t>
            </a:r>
            <a:endParaRPr lang="en-US" altLang="zh-CN" sz="2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69900" indent="-46990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ED7D31"/>
              </a:buClr>
              <a:buFont typeface="Wingdings" panose="05000000000000000000" pitchFamily="2" charset="2"/>
              <a:buChar char="n"/>
            </a:pPr>
            <a:r>
              <a:rPr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传输单位是字节</a:t>
            </a:r>
            <a:endParaRPr lang="en-US" altLang="zh-CN" sz="2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69900" indent="-46990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ED7D31"/>
              </a:buClr>
              <a:buFont typeface="Wingdings" panose="05000000000000000000" pitchFamily="2" charset="2"/>
              <a:buChar char="n"/>
            </a:pPr>
            <a:r>
              <a:rPr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宏观上这些设备并行工作</a:t>
            </a:r>
          </a:p>
        </p:txBody>
      </p:sp>
      <p:graphicFrame>
        <p:nvGraphicFramePr>
          <p:cNvPr id="10" name="对象 5">
            <a:extLst>
              <a:ext uri="{FF2B5EF4-FFF2-40B4-BE49-F238E27FC236}">
                <a16:creationId xmlns:a16="http://schemas.microsoft.com/office/drawing/2014/main" id="{476A2A51-A759-414B-A459-88D9E3D58F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202018"/>
              </p:ext>
            </p:extLst>
          </p:nvPr>
        </p:nvGraphicFramePr>
        <p:xfrm>
          <a:off x="683568" y="1412776"/>
          <a:ext cx="7178674" cy="2844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2" name="图片" r:id="rId3" imgW="3677285" imgH="1456690" progId="Word.Picture.8">
                  <p:embed/>
                </p:oleObj>
              </mc:Choice>
              <mc:Fallback>
                <p:oleObj name="图片" r:id="rId3" imgW="3677285" imgH="1456690" progId="Word.Picture.8">
                  <p:embed/>
                  <p:pic>
                    <p:nvPicPr>
                      <p:cNvPr id="98309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412776"/>
                        <a:ext cx="7178674" cy="28444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925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60" y="19666"/>
            <a:ext cx="7812360" cy="731837"/>
          </a:xfrm>
        </p:spPr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通道的类型</a:t>
            </a: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5ABE13A9-EC06-46CD-A19E-911B6AA8823E}"/>
              </a:ext>
            </a:extLst>
          </p:cNvPr>
          <p:cNvSpPr txBox="1">
            <a:spLocks/>
          </p:cNvSpPr>
          <p:nvPr/>
        </p:nvSpPr>
        <p:spPr>
          <a:xfrm>
            <a:off x="323528" y="1240004"/>
            <a:ext cx="10515599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922FA155-B524-44E0-A26E-33E7FAD6919B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692696"/>
            <a:ext cx="8496944" cy="61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FF0000"/>
                </a:solidFill>
                <a:effectLst/>
                <a:latin typeface="+mj-lt"/>
                <a:ea typeface="宋体" panose="02010600030101010101" pitchFamily="2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）选择通道</a:t>
            </a:r>
          </a:p>
        </p:txBody>
      </p:sp>
      <p:sp>
        <p:nvSpPr>
          <p:cNvPr id="8" name="矩形 3">
            <a:extLst>
              <a:ext uri="{FF2B5EF4-FFF2-40B4-BE49-F238E27FC236}">
                <a16:creationId xmlns:a16="http://schemas.microsoft.com/office/drawing/2014/main" id="{01541B0B-9E52-4CF6-89D1-6A0C3541368F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1235258"/>
            <a:ext cx="8424936" cy="56370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FF0000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2060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字节多路通道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适合慢速设备，不适合高速设备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高速设备传送两个字节间的空闲很短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选择通道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设备以成批数据连续传送方式占用通道，直到指定数量的数据全部传送完毕，通道才转为其它设备服务。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选择通道在物理上可以连接多个设备，但设备不能同时工作。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12800" marR="0" lvl="1" indent="-355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选择通道只有一个子通道，它适用于大批量数据的高速传送。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923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F1714AB-FC53-4732-BB23-046E8B9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60" y="19666"/>
            <a:ext cx="7812360" cy="731837"/>
          </a:xfrm>
        </p:spPr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通道的类型</a:t>
            </a: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5ABE13A9-EC06-46CD-A19E-911B6AA8823E}"/>
              </a:ext>
            </a:extLst>
          </p:cNvPr>
          <p:cNvSpPr txBox="1">
            <a:spLocks/>
          </p:cNvSpPr>
          <p:nvPr/>
        </p:nvSpPr>
        <p:spPr>
          <a:xfrm>
            <a:off x="323528" y="1240004"/>
            <a:ext cx="10515599" cy="5637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812800" indent="-355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sz="240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 sz="2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7F19F766-6CE0-489E-A7DE-6C1B55C7F796}"/>
              </a:ext>
            </a:extLst>
          </p:cNvPr>
          <p:cNvSpPr txBox="1">
            <a:spLocks/>
          </p:cNvSpPr>
          <p:nvPr/>
        </p:nvSpPr>
        <p:spPr>
          <a:xfrm>
            <a:off x="107504" y="620688"/>
            <a:ext cx="8640960" cy="61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FF0000"/>
                </a:solidFill>
                <a:effectLst/>
                <a:latin typeface="+mj-lt"/>
                <a:ea typeface="宋体" panose="02010600030101010101" pitchFamily="2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宋体" panose="02010600030101010101" pitchFamily="2" charset="-122"/>
                <a:cs typeface="+mj-cs"/>
              </a:rPr>
              <a:t>选择通道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0" name="矩形 3">
            <a:extLst>
              <a:ext uri="{FF2B5EF4-FFF2-40B4-BE49-F238E27FC236}">
                <a16:creationId xmlns:a16="http://schemas.microsoft.com/office/drawing/2014/main" id="{A6E2914F-3330-44AD-9729-D7714EFD8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683" y="2697771"/>
            <a:ext cx="1733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1" name="矩形 5">
            <a:extLst>
              <a:ext uri="{FF2B5EF4-FFF2-40B4-BE49-F238E27FC236}">
                <a16:creationId xmlns:a16="http://schemas.microsoft.com/office/drawing/2014/main" id="{ABC61CB4-7A53-41C5-9717-796396E0A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683" y="3021621"/>
            <a:ext cx="1733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12" name="对象 6">
            <a:extLst>
              <a:ext uri="{FF2B5EF4-FFF2-40B4-BE49-F238E27FC236}">
                <a16:creationId xmlns:a16="http://schemas.microsoft.com/office/drawing/2014/main" id="{72660F9D-DD4C-41BD-A524-1459650F13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35422"/>
              </p:ext>
            </p:extLst>
          </p:nvPr>
        </p:nvGraphicFramePr>
        <p:xfrm>
          <a:off x="899592" y="4365104"/>
          <a:ext cx="7160673" cy="207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6" name="图片" r:id="rId3" imgW="4305300" imgH="1172210" progId="Word.Picture.8">
                  <p:embed/>
                </p:oleObj>
              </mc:Choice>
              <mc:Fallback>
                <p:oleObj name="图片" r:id="rId3" imgW="4305300" imgH="1172210" progId="Word.Picture.8">
                  <p:embed/>
                  <p:pic>
                    <p:nvPicPr>
                      <p:cNvPr id="100359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365104"/>
                        <a:ext cx="7160673" cy="2077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5">
            <a:extLst>
              <a:ext uri="{FF2B5EF4-FFF2-40B4-BE49-F238E27FC236}">
                <a16:creationId xmlns:a16="http://schemas.microsoft.com/office/drawing/2014/main" id="{BA669A2D-3BC1-4472-855F-76D4C56A30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853660"/>
              </p:ext>
            </p:extLst>
          </p:nvPr>
        </p:nvGraphicFramePr>
        <p:xfrm>
          <a:off x="1475656" y="1556792"/>
          <a:ext cx="5666560" cy="2393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7" name="图片" r:id="rId5" imgW="3677285" imgH="1456690" progId="Word.Picture.8">
                  <p:embed/>
                </p:oleObj>
              </mc:Choice>
              <mc:Fallback>
                <p:oleObj name="图片" r:id="rId5" imgW="3677285" imgH="1456690" progId="Word.Picture.8">
                  <p:embed/>
                  <p:pic>
                    <p:nvPicPr>
                      <p:cNvPr id="8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556792"/>
                        <a:ext cx="5666560" cy="23933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363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矩形 2"/>
          <p:cNvSpPr>
            <a:spLocks noGrp="1" noChangeArrowheads="1"/>
          </p:cNvSpPr>
          <p:nvPr>
            <p:ph type="title"/>
          </p:nvPr>
        </p:nvSpPr>
        <p:spPr>
          <a:xfrm>
            <a:off x="107504" y="620688"/>
            <a:ext cx="7886700" cy="617641"/>
          </a:xfrm>
        </p:spPr>
        <p:txBody>
          <a:bodyPr>
            <a:normAutofit/>
          </a:bodyPr>
          <a:lstStyle/>
          <a:p>
            <a:pPr algn="l"/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）数组多路通道</a:t>
            </a:r>
          </a:p>
        </p:txBody>
      </p:sp>
      <p:sp>
        <p:nvSpPr>
          <p:cNvPr id="101380" name="矩形 3"/>
          <p:cNvSpPr>
            <a:spLocks noGrp="1" noChangeArrowheads="1"/>
          </p:cNvSpPr>
          <p:nvPr>
            <p:ph type="body" idx="1"/>
          </p:nvPr>
        </p:nvSpPr>
        <p:spPr>
          <a:xfrm>
            <a:off x="107503" y="1305837"/>
            <a:ext cx="8784977" cy="4787459"/>
          </a:xfrm>
        </p:spPr>
        <p:txBody>
          <a:bodyPr/>
          <a:lstStyle/>
          <a:p>
            <a:r>
              <a:rPr lang="zh-CN" altLang="en-US" sz="2400" dirty="0"/>
              <a:t>通道能高速传送数据，但设备辅助操作时间不能有效利用</a:t>
            </a:r>
          </a:p>
          <a:p>
            <a:pPr lvl="1"/>
            <a:r>
              <a:rPr lang="zh-CN" altLang="en-US" sz="2000" dirty="0"/>
              <a:t>如硬盘启动后，平均定位时间较长，磁带机磁头定位时间更长，可达几分钟。导致通道处于等待状态</a:t>
            </a:r>
          </a:p>
          <a:p>
            <a:r>
              <a:rPr lang="zh-CN" altLang="en-US" sz="2400" dirty="0"/>
              <a:t>为利用这段时间，将字节多路和选择通道折中，称为</a:t>
            </a:r>
            <a:r>
              <a:rPr lang="zh-CN" altLang="en-US" sz="2400" u="sng" dirty="0">
                <a:solidFill>
                  <a:srgbClr val="FF0000"/>
                </a:solidFill>
              </a:rPr>
              <a:t>数组多路通道</a:t>
            </a:r>
            <a:r>
              <a:rPr lang="zh-CN" altLang="en-US" sz="2400" dirty="0"/>
              <a:t>。</a:t>
            </a:r>
          </a:p>
          <a:p>
            <a:pPr lvl="1"/>
            <a:r>
              <a:rPr lang="zh-CN" altLang="en-US" sz="2000" dirty="0"/>
              <a:t>多个设备以数据组（块）为单位交叉使用通道。</a:t>
            </a:r>
            <a:endParaRPr lang="en-US" altLang="zh-CN" sz="2000" dirty="0"/>
          </a:p>
          <a:p>
            <a:pPr lvl="1"/>
            <a:r>
              <a:rPr lang="zh-CN" altLang="en-US" sz="2000" dirty="0"/>
              <a:t>设备占用通道时，连续传送一组数据，然后将出让通道使用权</a:t>
            </a:r>
            <a:endParaRPr lang="en-US" altLang="zh-CN" sz="2000" dirty="0"/>
          </a:p>
          <a:p>
            <a:pPr lvl="1"/>
            <a:r>
              <a:rPr lang="zh-CN" altLang="en-US" sz="2000" dirty="0"/>
              <a:t>数据组的大小因设备而异，有</a:t>
            </a:r>
            <a:r>
              <a:rPr lang="en-US" altLang="zh-CN" sz="2000" dirty="0"/>
              <a:t>256B</a:t>
            </a:r>
            <a:r>
              <a:rPr lang="zh-CN" altLang="en-US" sz="2000" dirty="0"/>
              <a:t>、</a:t>
            </a:r>
            <a:r>
              <a:rPr lang="en-US" altLang="zh-CN" sz="2000" dirty="0"/>
              <a:t>512B</a:t>
            </a:r>
            <a:r>
              <a:rPr lang="zh-CN" altLang="en-US" sz="2000" dirty="0"/>
              <a:t>或</a:t>
            </a:r>
            <a:r>
              <a:rPr lang="en-US" altLang="zh-CN" sz="2000" dirty="0"/>
              <a:t>1KB</a:t>
            </a:r>
            <a:r>
              <a:rPr lang="zh-CN" altLang="en-US" sz="2000" dirty="0"/>
              <a:t>等。 </a:t>
            </a:r>
          </a:p>
          <a:p>
            <a:endParaRPr lang="en-US" altLang="zh-CN" sz="2400" dirty="0"/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17AF80D1-8E69-401C-9C11-20F352451B2F}"/>
              </a:ext>
            </a:extLst>
          </p:cNvPr>
          <p:cNvSpPr txBox="1">
            <a:spLocks/>
          </p:cNvSpPr>
          <p:nvPr/>
        </p:nvSpPr>
        <p:spPr bwMode="auto">
          <a:xfrm>
            <a:off x="125760" y="19666"/>
            <a:ext cx="7812360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F0000"/>
                </a:solidFill>
                <a:effectLst/>
                <a:latin typeface="+mj-lt"/>
                <a:ea typeface="宋体" panose="02010600030101010101" pitchFamily="2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algn="l"/>
            <a:r>
              <a:rPr lang="en-US" altLang="zh-CN" kern="0"/>
              <a:t>3. </a:t>
            </a:r>
            <a:r>
              <a:rPr lang="zh-CN" altLang="en-US" kern="0"/>
              <a:t>通道的类型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21501717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51520" y="764704"/>
            <a:ext cx="7886700" cy="617641"/>
          </a:xfrm>
        </p:spPr>
        <p:txBody>
          <a:bodyPr>
            <a:normAutofit/>
          </a:bodyPr>
          <a:lstStyle/>
          <a:p>
            <a:pPr algn="l"/>
            <a:r>
              <a:rPr lang="zh-CN" altLang="en-US" sz="2400" dirty="0"/>
              <a:t>数组多路通道</a:t>
            </a:r>
          </a:p>
        </p:txBody>
      </p:sp>
      <p:sp>
        <p:nvSpPr>
          <p:cNvPr id="102404" name="矩形 3"/>
          <p:cNvSpPr>
            <a:spLocks noGrp="1" noChangeArrowheads="1"/>
          </p:cNvSpPr>
          <p:nvPr>
            <p:ph type="body" idx="1"/>
          </p:nvPr>
        </p:nvSpPr>
        <p:spPr>
          <a:xfrm>
            <a:off x="251520" y="1556792"/>
            <a:ext cx="8273309" cy="4358444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2400" dirty="0"/>
              <a:t>数组多路通道也包含若干个子通道。</a:t>
            </a:r>
            <a:endParaRPr lang="en-US" altLang="zh-CN" sz="2400" dirty="0"/>
          </a:p>
          <a:p>
            <a:pPr lvl="1"/>
            <a:r>
              <a:rPr lang="zh-CN" altLang="en-US" sz="2200" dirty="0"/>
              <a:t>数组多路通道适用于中、高速设备，如磁带机、磁盘等。</a:t>
            </a:r>
            <a:endParaRPr lang="en-US" altLang="zh-CN" sz="2200" dirty="0"/>
          </a:p>
          <a:p>
            <a:pPr lvl="1"/>
            <a:r>
              <a:rPr lang="zh-CN" altLang="en-US" sz="2200" dirty="0"/>
              <a:t>传送的基本数据数据单位与字节通道不同。</a:t>
            </a:r>
            <a:endParaRPr lang="en-US" altLang="zh-CN" sz="2200" dirty="0"/>
          </a:p>
          <a:p>
            <a:pPr lvl="1"/>
            <a:r>
              <a:rPr lang="zh-CN" altLang="en-US" sz="2200" dirty="0"/>
              <a:t>同一时刻只允许一个设备进行传输型的工作</a:t>
            </a:r>
          </a:p>
          <a:p>
            <a:pPr>
              <a:lnSpc>
                <a:spcPct val="160000"/>
              </a:lnSpc>
            </a:pPr>
            <a:r>
              <a:rPr lang="zh-CN" altLang="en-US" sz="2400" dirty="0"/>
              <a:t>某设备执行辅助操作时</a:t>
            </a:r>
            <a:endParaRPr lang="en-US" altLang="zh-CN" sz="2400" dirty="0"/>
          </a:p>
          <a:p>
            <a:pPr lvl="1"/>
            <a:r>
              <a:rPr lang="zh-CN" altLang="en-US" sz="2200" dirty="0"/>
              <a:t>通道暂时断开与该设备的连接，挂起与该设备对应的通道程序</a:t>
            </a:r>
            <a:endParaRPr lang="en-US" altLang="zh-CN" sz="2200" dirty="0"/>
          </a:p>
          <a:p>
            <a:pPr lvl="1"/>
            <a:r>
              <a:rPr lang="zh-CN" altLang="en-US" sz="2200" dirty="0"/>
              <a:t>转为其它设备服务，当设备完成了辅助操作，且通道空闲时，通道才重新转为该设备服务。</a:t>
            </a:r>
            <a:endParaRPr lang="en-US" altLang="zh-CN" sz="2200" dirty="0"/>
          </a:p>
          <a:p>
            <a:pPr>
              <a:lnSpc>
                <a:spcPct val="170000"/>
              </a:lnSpc>
            </a:pPr>
            <a:r>
              <a:rPr lang="zh-CN" altLang="en-US" sz="2400" dirty="0"/>
              <a:t>传送效率高，硬件复杂度高</a:t>
            </a:r>
            <a:endParaRPr lang="en-US" altLang="zh-CN" sz="2400" dirty="0"/>
          </a:p>
          <a:p>
            <a:endParaRPr lang="en-US" altLang="zh-CN" dirty="0"/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666288F2-68DD-4B81-8A66-F9D64104D3B9}"/>
              </a:ext>
            </a:extLst>
          </p:cNvPr>
          <p:cNvSpPr txBox="1">
            <a:spLocks/>
          </p:cNvSpPr>
          <p:nvPr/>
        </p:nvSpPr>
        <p:spPr bwMode="auto">
          <a:xfrm>
            <a:off x="125760" y="19666"/>
            <a:ext cx="7812360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100" b="1">
                <a:solidFill>
                  <a:srgbClr val="FF0000"/>
                </a:solidFill>
                <a:effectLst/>
                <a:latin typeface="+mj-lt"/>
                <a:ea typeface="宋体" panose="02010600030101010101" pitchFamily="2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algn="l"/>
            <a:r>
              <a:rPr lang="en-US" altLang="zh-CN" kern="0" dirty="0"/>
              <a:t>3. </a:t>
            </a:r>
            <a:r>
              <a:rPr lang="zh-CN" altLang="en-US" kern="0" dirty="0"/>
              <a:t>通道的类型</a:t>
            </a:r>
          </a:p>
        </p:txBody>
      </p:sp>
    </p:spTree>
    <p:extLst>
      <p:ext uri="{BB962C8B-B14F-4D97-AF65-F5344CB8AC3E}">
        <p14:creationId xmlns:p14="http://schemas.microsoft.com/office/powerpoint/2010/main" val="2266236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5|13.2|6.2|30.1|23.8|24.4|29.1|1.3|37.6|1.6|13.3|54.6|1.4|48.7|11.9|0.8|1.2|0.3|0.3|0.2|0.9|0.7|1.2|0.4|0.3|0.7|3.9|30.9|10.9|24.8|1.3|0.8|1.1|1|1.2"/>
</p:tagLst>
</file>

<file path=ppt/theme/theme1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9966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5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6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FF00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FF00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3_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FF00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1881</TotalTime>
  <Words>6619</Words>
  <Application>Microsoft Office PowerPoint</Application>
  <PresentationFormat>全屏显示(4:3)</PresentationFormat>
  <Paragraphs>1570</Paragraphs>
  <Slides>111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111</vt:i4>
      </vt:variant>
    </vt:vector>
  </HeadingPairs>
  <TitlesOfParts>
    <vt:vector size="140" baseType="lpstr">
      <vt:lpstr>等线</vt:lpstr>
      <vt:lpstr>黑体</vt:lpstr>
      <vt:lpstr>华文楷体</vt:lpstr>
      <vt:lpstr>华文新魏</vt:lpstr>
      <vt:lpstr>华文中宋</vt:lpstr>
      <vt:lpstr>楷体_GB2312</vt:lpstr>
      <vt:lpstr>宋体</vt:lpstr>
      <vt:lpstr>微软雅黑</vt:lpstr>
      <vt:lpstr>Arial</vt:lpstr>
      <vt:lpstr>Calibri</vt:lpstr>
      <vt:lpstr>Cambria</vt:lpstr>
      <vt:lpstr>Segoe UI</vt:lpstr>
      <vt:lpstr>Segoe UI Black</vt:lpstr>
      <vt:lpstr>Symbol</vt:lpstr>
      <vt:lpstr>Tahoma</vt:lpstr>
      <vt:lpstr>Times New Roman</vt:lpstr>
      <vt:lpstr>Verdana</vt:lpstr>
      <vt:lpstr>Wingdings</vt:lpstr>
      <vt:lpstr>1_默认设计模板</vt:lpstr>
      <vt:lpstr>默认设计模板</vt:lpstr>
      <vt:lpstr>Office 主题​​</vt:lpstr>
      <vt:lpstr>1_Office 主题​​</vt:lpstr>
      <vt:lpstr>2_Office 主题​​</vt:lpstr>
      <vt:lpstr>3_Office 主题​​</vt:lpstr>
      <vt:lpstr>2_默认设计模板</vt:lpstr>
      <vt:lpstr>3_默认设计模板</vt:lpstr>
      <vt:lpstr>Visio</vt:lpstr>
      <vt:lpstr>图片</vt:lpstr>
      <vt:lpstr>Picture</vt:lpstr>
      <vt:lpstr>第 7 章 输入/输出系统</vt:lpstr>
      <vt:lpstr>7. 1  概述</vt:lpstr>
      <vt:lpstr>7. 1. 1  输入/输出系统的功能</vt:lpstr>
      <vt:lpstr>7. 1. 1  输入/输出系统的功能</vt:lpstr>
      <vt:lpstr>7. 1  概述</vt:lpstr>
      <vt:lpstr>7. 1. 2  输入/输出系统的组成</vt:lpstr>
      <vt:lpstr>7. 1. 2  输入/输出系统的组成</vt:lpstr>
      <vt:lpstr>7. 1  概述</vt:lpstr>
      <vt:lpstr>7. 1. 3  外围设备与主机的连接方式</vt:lpstr>
      <vt:lpstr>7. 1  概述</vt:lpstr>
      <vt:lpstr>7. 1. 4  主机与 I / O 设备间信息传送的控制方式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 7 章 输入/输出系统</vt:lpstr>
      <vt:lpstr>7. 2 I / O  接 口</vt:lpstr>
      <vt:lpstr>7.2.1  I / O 接口的功能</vt:lpstr>
      <vt:lpstr>7.2.2  I/O接口的基本结构</vt:lpstr>
      <vt:lpstr>7.2.3  接口的编址方式</vt:lpstr>
      <vt:lpstr>不同编址方式程序实例</vt:lpstr>
      <vt:lpstr>PowerPoint 演示文稿</vt:lpstr>
      <vt:lpstr>7.2.5 MIPS机中I/O编址与访问</vt:lpstr>
      <vt:lpstr>第 7 章 输入/输出系统</vt:lpstr>
      <vt:lpstr>7. 3  直接程序控制</vt:lpstr>
      <vt:lpstr>PowerPoint 演示文稿</vt:lpstr>
      <vt:lpstr>3.程序查询方式的接口电路</vt:lpstr>
      <vt:lpstr>4.直接程序控制方式特点</vt:lpstr>
      <vt:lpstr>第 7 章 输入/输出系统</vt:lpstr>
      <vt:lpstr>7. 4  程序中断控制</vt:lpstr>
      <vt:lpstr>7.4.1  中断的基本概念</vt:lpstr>
      <vt:lpstr>7.4.1  中断的基本概念</vt:lpstr>
      <vt:lpstr>7.4.1  中断的基本概念</vt:lpstr>
      <vt:lpstr>2. 引起中断的原因</vt:lpstr>
      <vt:lpstr>3.中断的分类</vt:lpstr>
      <vt:lpstr>4.中断系统需要解决的问题</vt:lpstr>
      <vt:lpstr>7.4.2 中断的完整过程</vt:lpstr>
      <vt:lpstr>1.中断请求</vt:lpstr>
      <vt:lpstr>7. 4  程序中断控制</vt:lpstr>
      <vt:lpstr>1.中断请求</vt:lpstr>
      <vt:lpstr>1.中断请求</vt:lpstr>
      <vt:lpstr>2.中断判优</vt:lpstr>
      <vt:lpstr>2.中断判优</vt:lpstr>
      <vt:lpstr>2.中断判优</vt:lpstr>
      <vt:lpstr>3.中断响应</vt:lpstr>
      <vt:lpstr>PowerPoint 演示文稿</vt:lpstr>
      <vt:lpstr>（4）寻找中断服务程序入口地址的方法</vt:lpstr>
      <vt:lpstr>（4）寻找中断服务程序入口地址的方法</vt:lpstr>
      <vt:lpstr>4.中断服务</vt:lpstr>
      <vt:lpstr>PowerPoint 演示文稿</vt:lpstr>
      <vt:lpstr>5.中断返回</vt:lpstr>
      <vt:lpstr>回顾和总结：指令执行一般流程</vt:lpstr>
      <vt:lpstr>7. 4  程序中断控制</vt:lpstr>
      <vt:lpstr>PowerPoint 演示文稿</vt:lpstr>
      <vt:lpstr>PowerPoint 演示文稿</vt:lpstr>
      <vt:lpstr>7.4.3 中断方式接口</vt:lpstr>
      <vt:lpstr>7. 4  程序中断控制</vt:lpstr>
      <vt:lpstr>7.4.4 多级中断技术</vt:lpstr>
      <vt:lpstr>PowerPoint 演示文稿</vt:lpstr>
      <vt:lpstr>7.4.4 多级中断技术</vt:lpstr>
      <vt:lpstr>例子</vt:lpstr>
      <vt:lpstr>7.4.4 多级中断技术</vt:lpstr>
      <vt:lpstr>7.4.4 多级中断技术</vt:lpstr>
      <vt:lpstr>7.4.4 多级中断技术</vt:lpstr>
      <vt:lpstr>7.4.4 多级中断技术</vt:lpstr>
      <vt:lpstr>7.4.4 多级中断技术</vt:lpstr>
      <vt:lpstr>7.4.4 多级中断技术</vt:lpstr>
      <vt:lpstr>7. 4  程序中断控制</vt:lpstr>
      <vt:lpstr>7.4.5 MIPS机中的中断机制</vt:lpstr>
      <vt:lpstr>7.4.5 MIPS机中的中断机制</vt:lpstr>
      <vt:lpstr>2. MIPS为实现中断在结构上的变化</vt:lpstr>
      <vt:lpstr>2. MIPS为实现中断在结构上的变化</vt:lpstr>
      <vt:lpstr>3.MIPS中断中断处理完整过程</vt:lpstr>
      <vt:lpstr>3.MIPS中断中断处理完整过程</vt:lpstr>
      <vt:lpstr>4.CP0与CPU的协同工作</vt:lpstr>
      <vt:lpstr>第 7 章 输入/输出系统</vt:lpstr>
      <vt:lpstr>7. 5 DMA技 术</vt:lpstr>
      <vt:lpstr>1. DMA方式概述</vt:lpstr>
      <vt:lpstr>PowerPoint 演示文稿</vt:lpstr>
      <vt:lpstr>PowerPoint 演示文稿</vt:lpstr>
      <vt:lpstr>PowerPoint 演示文稿</vt:lpstr>
      <vt:lpstr>2.DMA控制器的基本结构</vt:lpstr>
      <vt:lpstr>2.DMA控制器的基本结构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回顾与小结：DMA与程序中断的区别</vt:lpstr>
      <vt:lpstr>第 7 章 输入/输出系统</vt:lpstr>
      <vt:lpstr>7. 6  通 道</vt:lpstr>
      <vt:lpstr>7.6  通道 </vt:lpstr>
      <vt:lpstr>1.通道概述</vt:lpstr>
      <vt:lpstr>1.通道概述</vt:lpstr>
      <vt:lpstr>1.通道概述</vt:lpstr>
      <vt:lpstr>1.通道概述</vt:lpstr>
      <vt:lpstr>2.通道基本结构和工作过程</vt:lpstr>
      <vt:lpstr>2.通道基本结构和工作过程</vt:lpstr>
      <vt:lpstr>（1）传送准备工作</vt:lpstr>
      <vt:lpstr>（2）数据传送</vt:lpstr>
      <vt:lpstr>（3）结束处理</vt:lpstr>
      <vt:lpstr>3. 通道的类型</vt:lpstr>
      <vt:lpstr>3. 通道的类型</vt:lpstr>
      <vt:lpstr>3. 通道的类型</vt:lpstr>
      <vt:lpstr>3. 通道的类型</vt:lpstr>
      <vt:lpstr>（3）数组多路通道</vt:lpstr>
      <vt:lpstr>数组多路通道</vt:lpstr>
    </vt:vector>
  </TitlesOfParts>
  <Company>www.xunchi.com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第８章   CPU 的结构和功能</dc:title>
  <dc:creator>kanglei</dc:creator>
  <cp:lastModifiedBy>kanglei</cp:lastModifiedBy>
  <cp:revision>231</cp:revision>
  <dcterms:created xsi:type="dcterms:W3CDTF">2011-08-26T08:01:04Z</dcterms:created>
  <dcterms:modified xsi:type="dcterms:W3CDTF">2021-09-22T13:11:20Z</dcterms:modified>
</cp:coreProperties>
</file>